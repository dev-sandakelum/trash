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22" r:id="rId10"/>
    <p:sldId id="323" r:id="rId11"/>
    <p:sldId id="265" r:id="rId12"/>
    <p:sldId id="324" r:id="rId13"/>
    <p:sldId id="340" r:id="rId14"/>
    <p:sldId id="344" r:id="rId15"/>
    <p:sldId id="341" r:id="rId16"/>
    <p:sldId id="345" r:id="rId17"/>
    <p:sldId id="342" r:id="rId18"/>
    <p:sldId id="346" r:id="rId19"/>
    <p:sldId id="325" r:id="rId20"/>
    <p:sldId id="270" r:id="rId21"/>
    <p:sldId id="271" r:id="rId22"/>
    <p:sldId id="326" r:id="rId23"/>
    <p:sldId id="272" r:id="rId24"/>
    <p:sldId id="327" r:id="rId25"/>
    <p:sldId id="328" r:id="rId26"/>
    <p:sldId id="329" r:id="rId27"/>
    <p:sldId id="310" r:id="rId28"/>
    <p:sldId id="311" r:id="rId29"/>
    <p:sldId id="275" r:id="rId30"/>
    <p:sldId id="277" r:id="rId31"/>
    <p:sldId id="278" r:id="rId32"/>
    <p:sldId id="279" r:id="rId33"/>
    <p:sldId id="316" r:id="rId34"/>
    <p:sldId id="330" r:id="rId35"/>
    <p:sldId id="331" r:id="rId36"/>
    <p:sldId id="312" r:id="rId37"/>
    <p:sldId id="287" r:id="rId38"/>
    <p:sldId id="285" r:id="rId39"/>
    <p:sldId id="338" r:id="rId40"/>
    <p:sldId id="333" r:id="rId41"/>
    <p:sldId id="313" r:id="rId42"/>
    <p:sldId id="314" r:id="rId43"/>
    <p:sldId id="315" r:id="rId44"/>
    <p:sldId id="293" r:id="rId45"/>
    <p:sldId id="294" r:id="rId46"/>
    <p:sldId id="296" r:id="rId47"/>
    <p:sldId id="298" r:id="rId48"/>
    <p:sldId id="300" r:id="rId49"/>
    <p:sldId id="334" r:id="rId50"/>
    <p:sldId id="317" r:id="rId51"/>
    <p:sldId id="318" r:id="rId52"/>
    <p:sldId id="335" r:id="rId53"/>
    <p:sldId id="336" r:id="rId54"/>
    <p:sldId id="339" r:id="rId55"/>
    <p:sldId id="337" r:id="rId56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9"/>
    <p:restoredTop sz="94753"/>
  </p:normalViewPr>
  <p:slideViewPr>
    <p:cSldViewPr snapToGrid="0">
      <p:cViewPr varScale="1">
        <p:scale>
          <a:sx n="106" d="100"/>
          <a:sy n="106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3FFE4-FC22-B648-A946-5F2151256173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3622B-DF29-4D42-9731-E543E777C0EB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10157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D329B032-E7A8-D23F-ED10-445E79EC81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FF5B9F-2AD0-B54E-B625-BBCC1777B234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1DBFF072-0B18-BEC3-D348-3E4AA989B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1192CF5-BADC-7B84-A7CB-619F37AA9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3EBBC1A6-08E9-8D82-77E3-DAFD140D17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47E4C7-1C60-B04C-BAEC-39B6F74001BD}" type="slidenum">
              <a:rPr lang="en-US" altLang="en-US" sz="1200" smtClean="0"/>
              <a:pPr/>
              <a:t>20</a:t>
            </a:fld>
            <a:endParaRPr lang="en-US" altLang="en-US" sz="12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DDB3AFEE-0468-2436-F3E2-6536962263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DD9F477-5E77-B8C5-1EAE-B3C37C90D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5AB2A9F3-0625-5F39-BF7D-93AA9E0E94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7C5987F-D193-8041-844F-9235E1381690}" type="slidenum">
              <a:rPr lang="en-US" altLang="en-US" sz="1200" smtClean="0"/>
              <a:pPr/>
              <a:t>21</a:t>
            </a:fld>
            <a:endParaRPr lang="en-US" altLang="en-US" sz="12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90204F3-955D-C176-72BA-4426D47965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67D9357-5797-9A3B-9714-1A6548FBC5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7172E6AA-53BD-2D2F-016D-B3FB0B59DC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14D96B-ED06-B84C-85D9-397D28ECBA3B}" type="slidenum">
              <a:rPr lang="en-US" altLang="en-US" sz="1200" smtClean="0"/>
              <a:pPr/>
              <a:t>23</a:t>
            </a:fld>
            <a:endParaRPr lang="en-US" altLang="en-US" sz="12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C50B0640-6F61-D2BE-5921-8DA5D79535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1B16D47-12D6-AC98-43A5-E604C965D7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15DAF1BA-6BB8-5D1E-154E-471CC210DB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9A13D4-B58D-5549-BB87-BA824F813E08}" type="slidenum">
              <a:rPr lang="en-US" altLang="en-US" sz="1200" smtClean="0"/>
              <a:pPr/>
              <a:t>29</a:t>
            </a:fld>
            <a:endParaRPr lang="en-US" altLang="en-US" sz="12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4D45ED1-B658-A356-9E65-1B1965E49D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6C79AA3-BF67-9535-02D0-04E9C07D3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9ED3D856-5BE2-7C24-921D-5727BF3685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1CC589-4598-A14C-87FF-E886DC1CA48D}" type="slidenum">
              <a:rPr lang="en-US" altLang="en-US" sz="1200" smtClean="0"/>
              <a:pPr/>
              <a:t>30</a:t>
            </a:fld>
            <a:endParaRPr lang="en-US" altLang="en-US" sz="1200"/>
          </a:p>
        </p:txBody>
      </p:sp>
      <p:sp>
        <p:nvSpPr>
          <p:cNvPr id="38914" name="Rectangle 1026">
            <a:extLst>
              <a:ext uri="{FF2B5EF4-FFF2-40B4-BE49-F238E27FC236}">
                <a16:creationId xmlns:a16="http://schemas.microsoft.com/office/drawing/2014/main" id="{AC68E829-17B5-1208-546D-C8AB8C2379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38915" name="Rectangle 1027">
            <a:extLst>
              <a:ext uri="{FF2B5EF4-FFF2-40B4-BE49-F238E27FC236}">
                <a16:creationId xmlns:a16="http://schemas.microsoft.com/office/drawing/2014/main" id="{8842EA28-7C10-A195-5743-7F738F1CBF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84AA8AD0-48C5-F666-6DDC-EA490DCE41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931BF64-B88A-3B4F-8B15-5DD2B8CFCB79}" type="slidenum">
              <a:rPr lang="en-US" altLang="en-US" sz="1200" smtClean="0"/>
              <a:pPr/>
              <a:t>31</a:t>
            </a:fld>
            <a:endParaRPr lang="en-US" altLang="en-US" sz="120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6463C572-0A03-73E5-22A9-5ACBC9756C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487B395-7792-BD7C-4BC1-42CC970E1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37BAD2BB-A9DB-51F4-D43E-EE107BDF43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E2D3D7C-44F7-134E-A36C-34CF7579A687}" type="slidenum">
              <a:rPr lang="en-US" altLang="en-US" sz="1200" smtClean="0"/>
              <a:pPr/>
              <a:t>32</a:t>
            </a:fld>
            <a:endParaRPr lang="en-US" altLang="en-US" sz="12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A27748E5-FC36-6FED-17B7-D06F73B206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8344B9D-41F0-6C5E-9E18-18502517C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9007B971-D598-6023-67BF-DE96DE11A3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D0AB1D4-2040-9D4B-BC59-B18136C309A2}" type="slidenum">
              <a:rPr lang="en-US" altLang="en-US" sz="1200" smtClean="0"/>
              <a:pPr/>
              <a:t>33</a:t>
            </a:fld>
            <a:endParaRPr lang="en-US" altLang="en-US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DAFEF8-809F-1BD6-2346-4C98961E98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B5BEADA-BDC5-5470-E2F4-7C2C9E87A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40474DF8-AE7D-E87D-9565-79E8C8B2ED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7AE56DE-6B07-5840-BA93-5C79F5A79E59}" type="slidenum">
              <a:rPr lang="en-US" altLang="en-US" sz="1200" smtClean="0"/>
              <a:pPr/>
              <a:t>36</a:t>
            </a:fld>
            <a:endParaRPr lang="en-US" altLang="en-US" sz="1200"/>
          </a:p>
        </p:txBody>
      </p:sp>
      <p:sp>
        <p:nvSpPr>
          <p:cNvPr id="48130" name="Rectangle 2050">
            <a:extLst>
              <a:ext uri="{FF2B5EF4-FFF2-40B4-BE49-F238E27FC236}">
                <a16:creationId xmlns:a16="http://schemas.microsoft.com/office/drawing/2014/main" id="{00CEB3CE-49A6-7E1D-18CA-65CA078689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48131" name="Rectangle 2051">
            <a:extLst>
              <a:ext uri="{FF2B5EF4-FFF2-40B4-BE49-F238E27FC236}">
                <a16:creationId xmlns:a16="http://schemas.microsoft.com/office/drawing/2014/main" id="{3E617047-A7A7-E8DA-DFEF-BB9566295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D71A3349-B532-0DC2-4F76-457CAF9A56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25D0243-F768-AC4E-814A-51B5602E5ECD}" type="slidenum">
              <a:rPr lang="en-US" altLang="en-US" sz="1200" smtClean="0"/>
              <a:pPr/>
              <a:t>37</a:t>
            </a:fld>
            <a:endParaRPr lang="en-US" altLang="en-US" sz="120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0E271997-6079-B663-FF53-777D1254A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D78A12C-CF3F-58AA-94B1-9C45C3AC7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56A07D19-746A-9B94-6416-9AC89FC75D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94314CA-4767-FA4F-855B-E4BEFFA38633}" type="slidenum">
              <a:rPr lang="en-US" altLang="en-US" sz="1200" smtClean="0"/>
              <a:pPr/>
              <a:t>38</a:t>
            </a:fld>
            <a:endParaRPr lang="en-US" altLang="en-US" sz="12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8DE2EB17-BBD9-67ED-1FF7-0A80AD4553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8EAC7DF-958E-FD45-0452-867F00836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C57AD835-4311-F073-CCE1-A9A2856B2B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E44808-B011-344E-9D9F-0F0AD1A94082}" type="slidenum">
              <a:rPr lang="en-US" altLang="en-US" sz="1200" smtClean="0"/>
              <a:pPr/>
              <a:t>43</a:t>
            </a:fld>
            <a:endParaRPr lang="en-US" altLang="en-US" sz="1200"/>
          </a:p>
        </p:txBody>
      </p:sp>
      <p:sp>
        <p:nvSpPr>
          <p:cNvPr id="58370" name="Rectangle 2050">
            <a:extLst>
              <a:ext uri="{FF2B5EF4-FFF2-40B4-BE49-F238E27FC236}">
                <a16:creationId xmlns:a16="http://schemas.microsoft.com/office/drawing/2014/main" id="{7A8EF74C-FAA3-4759-3DB8-3A9D9AA92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58371" name="Rectangle 2051">
            <a:extLst>
              <a:ext uri="{FF2B5EF4-FFF2-40B4-BE49-F238E27FC236}">
                <a16:creationId xmlns:a16="http://schemas.microsoft.com/office/drawing/2014/main" id="{A11FEDA6-D067-7758-B05B-A5F2948D4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9B8256BC-A7F1-D0E1-468D-F3DA123781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02A9067-AA3D-7D4D-821F-82F055B22CAB}" type="slidenum">
              <a:rPr lang="en-US" altLang="en-US" sz="1200" smtClean="0"/>
              <a:pPr/>
              <a:t>44</a:t>
            </a:fld>
            <a:endParaRPr lang="en-US" altLang="en-US" sz="12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991A1442-8AF7-F285-A21A-FE7ADBC15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03124C3-28B5-F484-18F7-6130ECEB3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B81D2754-A6CE-A49D-6A4A-238A210863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F1C0CC-DE6A-FE40-815F-2DB8DC0EA906}" type="slidenum">
              <a:rPr lang="en-US" altLang="en-US" sz="1200" smtClean="0"/>
              <a:pPr/>
              <a:t>45</a:t>
            </a:fld>
            <a:endParaRPr lang="en-US" altLang="en-US" sz="12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81A58B04-F2A1-55C1-B94B-077419446A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9E78A08A-868F-92D1-F0F0-FDEA4A518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CF42DEE2-E594-C3BE-9709-D3001D78E8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157E33-A022-E64B-9AEC-312535CFB25D}" type="slidenum">
              <a:rPr lang="en-US" altLang="en-US" sz="1200" smtClean="0"/>
              <a:pPr/>
              <a:t>46</a:t>
            </a:fld>
            <a:endParaRPr lang="en-US" altLang="en-US" sz="1200"/>
          </a:p>
        </p:txBody>
      </p:sp>
      <p:sp>
        <p:nvSpPr>
          <p:cNvPr id="64514" name="Rectangle 1026">
            <a:extLst>
              <a:ext uri="{FF2B5EF4-FFF2-40B4-BE49-F238E27FC236}">
                <a16:creationId xmlns:a16="http://schemas.microsoft.com/office/drawing/2014/main" id="{8641FD4E-9904-46EC-43DE-5A8711CBF8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64515" name="Rectangle 1027">
            <a:extLst>
              <a:ext uri="{FF2B5EF4-FFF2-40B4-BE49-F238E27FC236}">
                <a16:creationId xmlns:a16="http://schemas.microsoft.com/office/drawing/2014/main" id="{F882AF14-B8C6-9F80-D85C-AF52F3A21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CD402669-FCDF-884D-059C-D22D7AB62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1C9AC20-879C-CF4F-9E9C-9838E8AC45C4}" type="slidenum">
              <a:rPr lang="en-US" altLang="en-US" sz="1200" smtClean="0"/>
              <a:pPr/>
              <a:t>47</a:t>
            </a:fld>
            <a:endParaRPr lang="en-US" altLang="en-US" sz="12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7BEF8088-4196-C22C-B6D6-CF0EF1CA8F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FD1A6C5-8811-B833-0A14-6C5113392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404C1131-7020-0656-8061-AB2B915378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5F6363-22A4-6A4A-AF67-C0186B2C28D7}" type="slidenum">
              <a:rPr lang="en-US" altLang="en-US" sz="1200" smtClean="0"/>
              <a:pPr/>
              <a:t>48</a:t>
            </a:fld>
            <a:endParaRPr lang="en-US" altLang="en-US" sz="120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2676A19E-D044-7291-970D-AC8BF7110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8B6F783-B76C-A54D-68CC-DB3A630F1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F6764216-9FC2-430B-BCB7-4510A8C81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33665E-AD21-A644-8958-10DE34E5AF8E}" type="slidenum">
              <a:rPr lang="en-US" altLang="en-US" sz="1200" smtClean="0"/>
              <a:pPr/>
              <a:t>49</a:t>
            </a:fld>
            <a:endParaRPr lang="en-US" altLang="en-US" sz="12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07034E34-2DAF-B6E3-DAFC-C721542942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 w="12700" cap="flat"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4A970E98-8B69-9ACE-5294-DE63072AF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7D890-6CED-4EB3-7389-2178BBD17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901BF-F0EC-9293-85AF-4BDB1E119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D5AA9-4009-90BF-3074-D63244FA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92879-51E6-96DC-B546-245080A5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7D5FA-5A50-E9B1-EBC0-6CEA83EE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11710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953B-64E0-A558-942A-F148AAA1C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F034B-9EED-2438-19D4-64494B505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9EEE5-0D0A-2C25-FFB1-AE301DB3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0FD00-F4D7-A503-D94F-AF379C24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8A73E-AD7A-4CE7-950A-F9D912B5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25477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629E8-1FD1-916A-2BB7-5F3F379E0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6992E-241A-452A-01F2-35325C42B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98AC1-A41A-7BCF-55BD-3718A033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1D695-F6D0-62B1-BD1C-40EDCFDC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6FA07-E7C3-329D-EC8F-CE1B05F6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59018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0BAB-50BD-B08B-47A2-C183F7F3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6C262-69C9-1B93-4D8F-2A61A7EF9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4A750-FC9D-0826-B16D-FE72D1C6D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9BD34-5083-BA10-715F-8054D5188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A5BFB-76C2-8571-07F4-135A1CC2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53FF6-887E-6203-9A7C-16B16E2F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16778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3C1A-24C1-5606-A34F-37940B4B9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E3DB7-01B6-FAC9-1D79-1E1A65677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3F1CE-91D6-44C9-A713-6AC1E2149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0A0A3-4605-D3BC-BD55-9EC86F5AC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381080-4B4C-E64B-9A2A-4233B8A5E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E3E5A0-BF38-F9F0-D389-FFC92F12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176F6-5AE8-8FB6-20D6-CB436A39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7AD4C-1706-2943-6863-9007A63D5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545556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DCD7-474B-014E-6ACB-3AADB721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08139-1668-9AFD-57C6-42433C14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6E327-511E-7DEE-A148-827A436C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4EA1B-2BDA-97D6-20B8-A418F41F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71895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57A9F-1C06-6C74-CF84-A1EE30264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DE2C5A-204A-2764-9766-248596BD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B1FAF-242B-391F-2FC1-B41E2B35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487128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DE6D-9BF3-5925-3988-1D32276D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5A83-EA4D-5B95-5A8D-A272146EC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897F8-F90C-2874-5553-8901A96D0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DEF2E-38D9-6CB9-0207-21733568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B3E22-D054-3F52-BBD4-76108326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E5F77-A73E-414C-8E3E-9B983422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11139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CC0F-540A-1BF0-B4FB-8B27D562A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6A723B-89FD-0590-C3D2-3353C8E30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FEA22-4CF3-4EB6-E147-4FA52B486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FCB4E-F52E-B06C-4A7C-EE2861A95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78175-E87F-F8ED-43DA-E470C9DC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A6F8E-2FBC-6A8F-FF39-8835E727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173563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1534A-DAFD-2344-FC20-6C8259A8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73FED-D8D7-3AA2-E92D-3573FF234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784A6-2B79-C255-307C-587119995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0460A-24D8-0487-151C-6F9376E6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78384-3531-E94A-9402-9712A555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53789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95656-9B6C-1B1E-4CDB-5F66D63DCF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93F48-33B2-77C9-B7C2-495267B57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CD202-4693-7ADE-BCB3-7FAE7D2C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7764E-F922-D614-7D25-5D7A14D5B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121B8-A0E5-F2A3-5A75-5D5D3978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80735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1A9D2-86D1-451B-BC08-A31A51158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191DF-51D4-C666-167C-F1D2AC40C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8739C-C8EC-3CEF-6DA1-F56886E16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B4B4D-2FBA-1E42-A96C-CAB88F07CAC4}" type="datetimeFigureOut">
              <a:rPr lang="en-LK" smtClean="0"/>
              <a:t>2025-02-15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2D6DE-5F51-327A-F03D-31BD49728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D271E-8D5E-C1EE-95A5-D133597FC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7D1EF-0B07-8F45-A0BB-7393487CD8FD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870366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89B8F-CE9A-7CC0-2EBD-66A94D2FB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785124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LK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Demand, Supply, and Market Equilibrium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C9059-DEAD-432B-7036-1C29D4B99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815838"/>
            <a:ext cx="8258176" cy="631825"/>
          </a:xfrm>
        </p:spPr>
        <p:txBody>
          <a:bodyPr anchor="ctr">
            <a:normAutofit fontScale="62500" lnSpcReduction="20000"/>
          </a:bodyPr>
          <a:lstStyle/>
          <a:p>
            <a:r>
              <a:rPr lang="en-L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Chathuranga Adhikari</a:t>
            </a:r>
          </a:p>
          <a:p>
            <a:r>
              <a:rPr lang="en-L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LK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B.com (Sp)(Hons), M.com</a:t>
            </a:r>
            <a:endParaRPr lang="en-LK" sz="2800" i="1" dirty="0"/>
          </a:p>
          <a:p>
            <a:endParaRPr lang="en-L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25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71EF10-5EB8-F4E8-10B4-BC74AC40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LK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1BF13-8453-00A2-FB43-366C70D55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598" y="2490949"/>
            <a:ext cx="5566813" cy="3613149"/>
          </a:xfrm>
        </p:spPr>
        <p:txBody>
          <a:bodyPr anchor="ctr">
            <a:normAutofit lnSpcReduction="10000"/>
          </a:bodyPr>
          <a:lstStyle/>
          <a:p>
            <a:r>
              <a:rPr lang="en-LK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circular flow of economic activities</a:t>
            </a:r>
          </a:p>
          <a:p>
            <a:r>
              <a:rPr lang="en-LK">
                <a:latin typeface="Times New Roman" panose="02020603050405020304" pitchFamily="18" charset="0"/>
                <a:cs typeface="Times New Roman" panose="02020603050405020304" pitchFamily="18" charset="0"/>
              </a:rPr>
              <a:t>Define demand and supply</a:t>
            </a:r>
          </a:p>
          <a:p>
            <a:r>
              <a:rPr lang="en-LK">
                <a:latin typeface="Times New Roman" panose="02020603050405020304" pitchFamily="18" charset="0"/>
                <a:cs typeface="Times New Roman" panose="02020603050405020304" pitchFamily="18" charset="0"/>
              </a:rPr>
              <a:t>Define market equilibrium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LK">
                <a:latin typeface="Times New Roman" panose="02020603050405020304" pitchFamily="18" charset="0"/>
                <a:cs typeface="Times New Roman" panose="02020603050405020304" pitchFamily="18" charset="0"/>
              </a:rPr>
              <a:t>dentify the graphical illustration of demand, supply, and equilibrium</a:t>
            </a:r>
          </a:p>
          <a:p>
            <a:r>
              <a:rPr lang="en-LK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changes in demand, supply, and equilibrium</a:t>
            </a:r>
          </a:p>
          <a:p>
            <a:endParaRPr lang="en-LK"/>
          </a:p>
        </p:txBody>
      </p:sp>
      <p:pic>
        <p:nvPicPr>
          <p:cNvPr id="15" name="Picture 14" descr="Multi-coloured push pins connected by a black wire">
            <a:extLst>
              <a:ext uri="{FF2B5EF4-FFF2-40B4-BE49-F238E27FC236}">
                <a16:creationId xmlns:a16="http://schemas.microsoft.com/office/drawing/2014/main" id="{BB616514-3F4E-8CD1-601A-36E9B0E99B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599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60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722C2-9F1A-4C4E-84CA-7EF8159EA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basic decision-making units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78475-A791-9736-9D4E-D9788F001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firm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organization that transforms resources (inputs) into products (outputs).  Firms are the primary producing units in a market economy.</a:t>
            </a:r>
          </a:p>
          <a:p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entrepreneur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person who organizes, manages, and assumes the risks of a firm, taking a new idea or a new product and turning it into a successful business.</a:t>
            </a:r>
          </a:p>
          <a:p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Households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consuming units in an economy.</a:t>
            </a:r>
          </a:p>
          <a:p>
            <a:endParaRPr lang="en-GB" sz="2200" dirty="0"/>
          </a:p>
          <a:p>
            <a:pPr marL="0" indent="0">
              <a:buNone/>
            </a:pPr>
            <a:endParaRPr lang="en-LK" sz="2200" dirty="0"/>
          </a:p>
        </p:txBody>
      </p:sp>
    </p:spTree>
    <p:extLst>
      <p:ext uri="{BB962C8B-B14F-4D97-AF65-F5344CB8AC3E}">
        <p14:creationId xmlns:p14="http://schemas.microsoft.com/office/powerpoint/2010/main" val="228616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7B8DE-1886-44D7-6580-6B8CBED3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circular flow of economic activity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9840B-F81E-B2A4-EA8D-281A2305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circular flow of economic activity shows the connections between firms and households in input and output markets</a:t>
            </a:r>
            <a:endParaRPr lang="en-LK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811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FE69-10C9-A53B-D949-E872A18E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044"/>
            <a:ext cx="10515600" cy="1325563"/>
          </a:xfrm>
        </p:spPr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market and output market</a:t>
            </a:r>
          </a:p>
        </p:txBody>
      </p:sp>
      <p:pic>
        <p:nvPicPr>
          <p:cNvPr id="4" name="Picture 28">
            <a:extLst>
              <a:ext uri="{FF2B5EF4-FFF2-40B4-BE49-F238E27FC236}">
                <a16:creationId xmlns:a16="http://schemas.microsoft.com/office/drawing/2014/main" id="{D73C9E62-5296-6B07-D905-AB9697E5CF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32" y="1361078"/>
            <a:ext cx="4114800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8B91D9-81AD-F350-0F7E-570527AE7BAF}"/>
              </a:ext>
            </a:extLst>
          </p:cNvPr>
          <p:cNvSpPr txBox="1">
            <a:spLocks noChangeArrowheads="1"/>
          </p:cNvSpPr>
          <p:nvPr/>
        </p:nvSpPr>
        <p:spPr>
          <a:xfrm>
            <a:off x="6455877" y="1775781"/>
            <a:ext cx="4724400" cy="3710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Output, or product, markets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markets in which goods and services are exchanged.</a:t>
            </a:r>
          </a:p>
          <a:p>
            <a:pPr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markets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markets in which resources- labor, capital, and land used to produce products, are exchanged.</a:t>
            </a:r>
          </a:p>
        </p:txBody>
      </p:sp>
      <p:sp>
        <p:nvSpPr>
          <p:cNvPr id="6" name="Text Box 29">
            <a:extLst>
              <a:ext uri="{FF2B5EF4-FFF2-40B4-BE49-F238E27FC236}">
                <a16:creationId xmlns:a16="http://schemas.microsoft.com/office/drawing/2014/main" id="{92084284-BD61-E986-D7DC-1FBBC0FC4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65" y="5326914"/>
            <a:ext cx="4114800" cy="13112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Payments flow in the opposite direction as the physical flow of resources, goods, and services (counterclockwise).</a:t>
            </a:r>
          </a:p>
        </p:txBody>
      </p:sp>
    </p:spTree>
    <p:extLst>
      <p:ext uri="{BB962C8B-B14F-4D97-AF65-F5344CB8AC3E}">
        <p14:creationId xmlns:p14="http://schemas.microsoft.com/office/powerpoint/2010/main" val="353819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 autoUpdateAnimBg="0"/>
      <p:bldP spid="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B4241-3508-0AE9-D64F-70E134BD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Market (Factor Market)</a:t>
            </a:r>
            <a:endParaRPr lang="en-LK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DC4969-8E85-3210-1CA6-D616E50EB6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eaLnBrk="1" hangingPunct="1">
              <a:spcAft>
                <a:spcPct val="30000"/>
              </a:spcAft>
              <a:buFontTx/>
              <a:buNone/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markets include:</a:t>
            </a:r>
          </a:p>
          <a:p>
            <a:pPr eaLnBrk="1" hangingPunct="1">
              <a:spcAft>
                <a:spcPct val="30000"/>
              </a:spcAft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 market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which households supply work for wages to firms that demand labor.</a:t>
            </a:r>
          </a:p>
          <a:p>
            <a:pPr eaLnBrk="1" hangingPunct="1">
              <a:spcAft>
                <a:spcPct val="30000"/>
              </a:spcAft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capital market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which households supply their savings, for interest or for claims to future profits, to firms that demand funds to buy capital goods.</a:t>
            </a:r>
          </a:p>
          <a:p>
            <a:pPr eaLnBrk="1" hangingPunct="1">
              <a:spcAft>
                <a:spcPct val="30000"/>
              </a:spcAft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 market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which households supply land or other real property in exchange for rent.</a:t>
            </a:r>
          </a:p>
        </p:txBody>
      </p:sp>
    </p:spTree>
    <p:extLst>
      <p:ext uri="{BB962C8B-B14F-4D97-AF65-F5344CB8AC3E}">
        <p14:creationId xmlns:p14="http://schemas.microsoft.com/office/powerpoint/2010/main" val="124083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D2511-C2E8-A9E7-EF83-27BA9DB9F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Determinants of Household Demand</a:t>
            </a:r>
            <a:endParaRPr lang="en-US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18820EF-25D0-700C-7D00-64D8D28F2BF8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488240" y="2177456"/>
            <a:ext cx="560776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5000"/>
              </a:spcBef>
              <a:spcAft>
                <a:spcPct val="45000"/>
              </a:spcAft>
              <a:defRPr/>
            </a:pPr>
            <a:r>
              <a:rPr lang="en-US" altLang="en-US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household’s decision about the quantity of a particular output to demand depends on: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97297F-6FA8-94B9-BD0C-B6A5B810A695}"/>
              </a:ext>
            </a:extLst>
          </p:cNvPr>
          <p:cNvSpPr txBox="1">
            <a:spLocks noChangeArrowheads="1"/>
          </p:cNvSpPr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of the product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question.</a:t>
            </a:r>
          </a:p>
          <a:p>
            <a:pPr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to the household.</a:t>
            </a:r>
          </a:p>
          <a:p>
            <a:pPr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household’s amount of </a:t>
            </a:r>
            <a:r>
              <a:rPr lang="en-US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accumulated wealth</a:t>
            </a:r>
            <a:r>
              <a:rPr lang="en-US" altLang="en-US" sz="2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prices of related products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to the household.</a:t>
            </a:r>
          </a:p>
          <a:p>
            <a:pPr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household’s </a:t>
            </a:r>
            <a:r>
              <a:rPr lang="en-US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tastes and preferences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household’s </a:t>
            </a:r>
            <a:r>
              <a:rPr lang="en-US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expectations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future income, wealth, and prices.</a:t>
            </a:r>
          </a:p>
        </p:txBody>
      </p:sp>
    </p:spTree>
    <p:extLst>
      <p:ext uri="{BB962C8B-B14F-4D97-AF65-F5344CB8AC3E}">
        <p14:creationId xmlns:p14="http://schemas.microsoft.com/office/powerpoint/2010/main" val="399754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Rows of shopping trolleys">
            <a:extLst>
              <a:ext uri="{FF2B5EF4-FFF2-40B4-BE49-F238E27FC236}">
                <a16:creationId xmlns:a16="http://schemas.microsoft.com/office/drawing/2014/main" id="{439D8837-1527-5ECE-FE1E-D907F3D3BB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18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9487C-E1D4-F9A2-78A6-085CC4DA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25946246-8D47-386C-7322-2A798EAFDA25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various amounts of a product (goods or services) that consumers are willing and able to purchase at various prices during some specific period</a:t>
            </a:r>
          </a:p>
          <a:p>
            <a:pPr>
              <a:defRPr/>
            </a:pPr>
            <a:r>
              <a:rPr lang="en-A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by </a:t>
            </a:r>
            <a:r>
              <a:rPr lang="en-AU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low of demand, the demand schedule and demand curve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2575" indent="-282575" eaLnBrk="1" hangingPunct="1"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endParaRPr lang="en-US" altLang="en-US" dirty="0"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24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050">
            <a:extLst>
              <a:ext uri="{FF2B5EF4-FFF2-40B4-BE49-F238E27FC236}">
                <a16:creationId xmlns:a16="http://schemas.microsoft.com/office/drawing/2014/main" id="{99D89F65-D79F-97C6-DA1D-EC10FBCE5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Law of Demand</a:t>
            </a:r>
          </a:p>
        </p:txBody>
      </p:sp>
      <p:sp>
        <p:nvSpPr>
          <p:cNvPr id="169987" name="Rectangle 2051">
            <a:extLst>
              <a:ext uri="{FF2B5EF4-FFF2-40B4-BE49-F238E27FC236}">
                <a16:creationId xmlns:a16="http://schemas.microsoft.com/office/drawing/2014/main" id="{E1FECAB8-8973-B183-56CC-7FDE0B8E2C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78603" y="1600200"/>
            <a:ext cx="4114800" cy="2667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 of demand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that there is a negative, or inverse, the relationship between price and the quantity of a good demanded and its price.</a:t>
            </a:r>
          </a:p>
        </p:txBody>
      </p:sp>
      <p:sp>
        <p:nvSpPr>
          <p:cNvPr id="169999" name="Rectangle 2063">
            <a:extLst>
              <a:ext uri="{FF2B5EF4-FFF2-40B4-BE49-F238E27FC236}">
                <a16:creationId xmlns:a16="http://schemas.microsoft.com/office/drawing/2014/main" id="{11178BB7-03AD-14BE-8B8B-E21A87075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2" y="4419600"/>
            <a:ext cx="4648199" cy="1447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45000"/>
              </a:spcAft>
              <a:buFontTx/>
              <a:buChar char="•"/>
              <a:defRPr/>
            </a:pP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This means that demand curves slope downward.</a:t>
            </a:r>
          </a:p>
        </p:txBody>
      </p:sp>
      <p:pic>
        <p:nvPicPr>
          <p:cNvPr id="170000" name="Picture 2064">
            <a:extLst>
              <a:ext uri="{FF2B5EF4-FFF2-40B4-BE49-F238E27FC236}">
                <a16:creationId xmlns:a16="http://schemas.microsoft.com/office/drawing/2014/main" id="{A05DCDA9-66A2-93C4-1A4B-8128832D4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438400"/>
            <a:ext cx="2514600" cy="141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2065">
            <a:extLst>
              <a:ext uri="{FF2B5EF4-FFF2-40B4-BE49-F238E27FC236}">
                <a16:creationId xmlns:a16="http://schemas.microsoft.com/office/drawing/2014/main" id="{4D83E7F6-206A-0B43-35F4-4BA513E58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05000"/>
            <a:ext cx="4648200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003" name="Picture 2067">
            <a:extLst>
              <a:ext uri="{FF2B5EF4-FFF2-40B4-BE49-F238E27FC236}">
                <a16:creationId xmlns:a16="http://schemas.microsoft.com/office/drawing/2014/main" id="{9A8BF931-2C9F-EA20-B098-5C92C0FD6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05000"/>
            <a:ext cx="4648200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005" name="Picture 2069">
            <a:extLst>
              <a:ext uri="{FF2B5EF4-FFF2-40B4-BE49-F238E27FC236}">
                <a16:creationId xmlns:a16="http://schemas.microsoft.com/office/drawing/2014/main" id="{EC2C883C-E7B2-D83E-08ED-4F4F8C944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05000"/>
            <a:ext cx="4648200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9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7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7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uild="p" bldLvl="2" autoUpdateAnimBg="0"/>
      <p:bldP spid="169999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D7AA6-DF67-5BDD-7193-CB82247C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GB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LK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demand schedule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7F9BCA4-4C84-BD36-4FA4-A31ABA7ABB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0935" y="2807208"/>
            <a:ext cx="4114485" cy="3410712"/>
          </a:xfrm>
        </p:spPr>
        <p:txBody>
          <a:bodyPr anchor="t">
            <a:normAutofit/>
          </a:bodyPr>
          <a:lstStyle/>
          <a:p>
            <a:pPr eaLnBrk="1" hangingPunct="1"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schedule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table showing how much of a given product a household would be willing to buy at different prices.</a:t>
            </a:r>
          </a:p>
          <a:p>
            <a:pPr eaLnBrk="1" hangingPunct="1"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curves are usually derived from demand schedules.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8D78E773-2A83-1C9F-D971-E654D4D1B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622408"/>
              </p:ext>
            </p:extLst>
          </p:nvPr>
        </p:nvGraphicFramePr>
        <p:xfrm>
          <a:off x="4938079" y="1349875"/>
          <a:ext cx="6903721" cy="415825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926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6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3042">
                <a:tc>
                  <a:txBody>
                    <a:bodyPr/>
                    <a:lstStyle/>
                    <a:p>
                      <a:pPr algn="ctr"/>
                      <a:r>
                        <a:rPr lang="en-US" sz="3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per Unit</a:t>
                      </a:r>
                    </a:p>
                  </a:txBody>
                  <a:tcPr marL="157499" marR="157499" marT="78772" marB="787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 demanded</a:t>
                      </a:r>
                    </a:p>
                  </a:txBody>
                  <a:tcPr marL="157499" marR="157499" marT="78772" marB="7877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042">
                <a:tc>
                  <a:txBody>
                    <a:bodyPr/>
                    <a:lstStyle/>
                    <a:p>
                      <a:pPr algn="ctr"/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57499" marR="157499" marT="78772" marB="787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157499" marR="157499" marT="78772" marB="7877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042">
                <a:tc>
                  <a:txBody>
                    <a:bodyPr/>
                    <a:lstStyle/>
                    <a:p>
                      <a:pPr algn="ctr"/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57499" marR="157499" marT="78772" marB="787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157499" marR="157499" marT="78772" marB="7877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042">
                <a:tc>
                  <a:txBody>
                    <a:bodyPr/>
                    <a:lstStyle/>
                    <a:p>
                      <a:pPr algn="ctr"/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57499" marR="157499" marT="78772" marB="787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marL="157499" marR="157499" marT="78772" marB="7877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042">
                <a:tc>
                  <a:txBody>
                    <a:bodyPr/>
                    <a:lstStyle/>
                    <a:p>
                      <a:pPr algn="ctr"/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57499" marR="157499" marT="78772" marB="787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marL="157499" marR="157499" marT="78772" marB="7877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042">
                <a:tc>
                  <a:txBody>
                    <a:bodyPr/>
                    <a:lstStyle/>
                    <a:p>
                      <a:pPr algn="ctr"/>
                      <a:r>
                        <a:rPr lang="en-US" sz="3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57499" marR="157499" marT="78772" marB="787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157499" marR="157499" marT="78772" marB="7877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30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DE1B0FE-BA56-5443-5EA5-DC8A7A4AC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515"/>
            <a:ext cx="10515600" cy="1325563"/>
          </a:xfrm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Demand Curve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15F5080-A397-75C9-3C2C-E5BC5DB6D0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62804" y="1600200"/>
            <a:ext cx="4746974" cy="2590800"/>
          </a:xfrm>
        </p:spPr>
        <p:txBody>
          <a:bodyPr vert="horz" lIns="92075" tIns="46038" rIns="92075" bIns="46038" rtlCol="0">
            <a:normAutofit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curve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graph illustrating how much of a given product a household would be willing to buy at different prices.</a:t>
            </a:r>
          </a:p>
        </p:txBody>
      </p:sp>
      <p:grpSp>
        <p:nvGrpSpPr>
          <p:cNvPr id="7" name="Group 46">
            <a:extLst>
              <a:ext uri="{FF2B5EF4-FFF2-40B4-BE49-F238E27FC236}">
                <a16:creationId xmlns:a16="http://schemas.microsoft.com/office/drawing/2014/main" id="{5BC1EA7B-111E-01B8-8029-6E2FB507FE1A}"/>
              </a:ext>
            </a:extLst>
          </p:cNvPr>
          <p:cNvGrpSpPr>
            <a:grpSpLocks/>
          </p:cNvGrpSpPr>
          <p:nvPr/>
        </p:nvGrpSpPr>
        <p:grpSpPr bwMode="auto">
          <a:xfrm>
            <a:off x="2592389" y="1295400"/>
            <a:ext cx="4492523" cy="4792540"/>
            <a:chOff x="1680" y="384"/>
            <a:chExt cx="2981" cy="2839"/>
          </a:xfrm>
        </p:grpSpPr>
        <p:sp>
          <p:nvSpPr>
            <p:cNvPr id="23580" name="Freeform 17">
              <a:extLst>
                <a:ext uri="{FF2B5EF4-FFF2-40B4-BE49-F238E27FC236}">
                  <a16:creationId xmlns:a16="http://schemas.microsoft.com/office/drawing/2014/main" id="{B7453BE2-D107-FBED-DA4C-C77C21A02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696"/>
              <a:ext cx="2602" cy="2386"/>
            </a:xfrm>
            <a:custGeom>
              <a:avLst/>
              <a:gdLst>
                <a:gd name="T0" fmla="*/ 0 w 4986"/>
                <a:gd name="T1" fmla="*/ 0 h 4361"/>
                <a:gd name="T2" fmla="*/ 1 w 4986"/>
                <a:gd name="T3" fmla="*/ 1 h 4361"/>
                <a:gd name="T4" fmla="*/ 1 w 4986"/>
                <a:gd name="T5" fmla="*/ 1 h 4361"/>
                <a:gd name="T6" fmla="*/ 1 w 4986"/>
                <a:gd name="T7" fmla="*/ 1 h 4361"/>
                <a:gd name="T8" fmla="*/ 1 w 4986"/>
                <a:gd name="T9" fmla="*/ 1 h 4361"/>
                <a:gd name="T10" fmla="*/ 1 w 4986"/>
                <a:gd name="T11" fmla="*/ 1 h 4361"/>
                <a:gd name="T12" fmla="*/ 1 w 4986"/>
                <a:gd name="T13" fmla="*/ 1 h 4361"/>
                <a:gd name="T14" fmla="*/ 1 w 4986"/>
                <a:gd name="T15" fmla="*/ 1 h 4361"/>
                <a:gd name="T16" fmla="*/ 1 w 4986"/>
                <a:gd name="T17" fmla="*/ 1 h 4361"/>
                <a:gd name="T18" fmla="*/ 1 w 4986"/>
                <a:gd name="T19" fmla="*/ 1 h 4361"/>
                <a:gd name="T20" fmla="*/ 1 w 4986"/>
                <a:gd name="T21" fmla="*/ 1 h 4361"/>
                <a:gd name="T22" fmla="*/ 1 w 4986"/>
                <a:gd name="T23" fmla="*/ 1 h 4361"/>
                <a:gd name="T24" fmla="*/ 1 w 4986"/>
                <a:gd name="T25" fmla="*/ 2 h 4361"/>
                <a:gd name="T26" fmla="*/ 1 w 4986"/>
                <a:gd name="T27" fmla="*/ 2 h 4361"/>
                <a:gd name="T28" fmla="*/ 1 w 4986"/>
                <a:gd name="T29" fmla="*/ 2 h 4361"/>
                <a:gd name="T30" fmla="*/ 1 w 4986"/>
                <a:gd name="T31" fmla="*/ 2 h 4361"/>
                <a:gd name="T32" fmla="*/ 1 w 4986"/>
                <a:gd name="T33" fmla="*/ 2 h 436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986"/>
                <a:gd name="T52" fmla="*/ 0 h 4361"/>
                <a:gd name="T53" fmla="*/ 4986 w 4986"/>
                <a:gd name="T54" fmla="*/ 4361 h 436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986" h="4361">
                  <a:moveTo>
                    <a:pt x="0" y="0"/>
                  </a:moveTo>
                  <a:lnTo>
                    <a:pt x="217" y="351"/>
                  </a:lnTo>
                  <a:lnTo>
                    <a:pt x="452" y="696"/>
                  </a:lnTo>
                  <a:lnTo>
                    <a:pt x="699" y="1031"/>
                  </a:lnTo>
                  <a:lnTo>
                    <a:pt x="961" y="1357"/>
                  </a:lnTo>
                  <a:lnTo>
                    <a:pt x="1232" y="1670"/>
                  </a:lnTo>
                  <a:lnTo>
                    <a:pt x="1520" y="1975"/>
                  </a:lnTo>
                  <a:lnTo>
                    <a:pt x="1818" y="2268"/>
                  </a:lnTo>
                  <a:lnTo>
                    <a:pt x="2128" y="2551"/>
                  </a:lnTo>
                  <a:lnTo>
                    <a:pt x="2449" y="2820"/>
                  </a:lnTo>
                  <a:lnTo>
                    <a:pt x="2781" y="3078"/>
                  </a:lnTo>
                  <a:lnTo>
                    <a:pt x="3123" y="3325"/>
                  </a:lnTo>
                  <a:lnTo>
                    <a:pt x="3477" y="3558"/>
                  </a:lnTo>
                  <a:lnTo>
                    <a:pt x="3839" y="3777"/>
                  </a:lnTo>
                  <a:lnTo>
                    <a:pt x="4212" y="3985"/>
                  </a:lnTo>
                  <a:lnTo>
                    <a:pt x="4595" y="4180"/>
                  </a:lnTo>
                  <a:lnTo>
                    <a:pt x="4986" y="4361"/>
                  </a:lnTo>
                </a:path>
              </a:pathLst>
            </a:custGeom>
            <a:noFill/>
            <a:ln w="38100">
              <a:solidFill>
                <a:srgbClr val="DA003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LK"/>
            </a:p>
          </p:txBody>
        </p:sp>
        <p:sp>
          <p:nvSpPr>
            <p:cNvPr id="23581" name="Rectangle 18">
              <a:extLst>
                <a:ext uri="{FF2B5EF4-FFF2-40B4-BE49-F238E27FC236}">
                  <a16:creationId xmlns:a16="http://schemas.microsoft.com/office/drawing/2014/main" id="{DC79CC6C-C094-F017-133F-393E1911C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2915"/>
              <a:ext cx="38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b="1" i="1"/>
                <a:t>D</a:t>
              </a:r>
              <a:r>
                <a:rPr lang="en-US" altLang="en-US" b="1" baseline="-25000"/>
                <a:t>1</a:t>
              </a:r>
              <a:endParaRPr lang="en-US" altLang="en-US" b="1"/>
            </a:p>
          </p:txBody>
        </p:sp>
        <p:sp>
          <p:nvSpPr>
            <p:cNvPr id="23582" name="Rectangle 39">
              <a:extLst>
                <a:ext uri="{FF2B5EF4-FFF2-40B4-BE49-F238E27FC236}">
                  <a16:creationId xmlns:a16="http://schemas.microsoft.com/office/drawing/2014/main" id="{6C84CD64-4E86-47D9-AFAD-4CDF0F58F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84"/>
              <a:ext cx="38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b="1" i="1"/>
                <a:t>D</a:t>
              </a:r>
              <a:r>
                <a:rPr lang="en-US" altLang="en-US" b="1" baseline="-25000"/>
                <a:t>1</a:t>
              </a:r>
              <a:endParaRPr lang="en-US" altLang="en-US" b="1"/>
            </a:p>
          </p:txBody>
        </p:sp>
      </p:grpSp>
      <p:sp>
        <p:nvSpPr>
          <p:cNvPr id="23556" name="Rectangle 22">
            <a:extLst>
              <a:ext uri="{FF2B5EF4-FFF2-40B4-BE49-F238E27FC236}">
                <a16:creationId xmlns:a16="http://schemas.microsoft.com/office/drawing/2014/main" id="{5C3F633C-AB7A-BBCB-D502-21C8B739B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151" y="1287463"/>
            <a:ext cx="422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 i="1"/>
              <a:t>P</a:t>
            </a:r>
          </a:p>
        </p:txBody>
      </p:sp>
      <p:sp>
        <p:nvSpPr>
          <p:cNvPr id="23557" name="Rectangle 23">
            <a:extLst>
              <a:ext uri="{FF2B5EF4-FFF2-40B4-BE49-F238E27FC236}">
                <a16:creationId xmlns:a16="http://schemas.microsoft.com/office/drawing/2014/main" id="{98F2FCD0-5DBD-613E-7C9F-8EE5E5079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6011863"/>
            <a:ext cx="46196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 i="1"/>
              <a:t>Q</a:t>
            </a:r>
          </a:p>
        </p:txBody>
      </p:sp>
      <p:sp>
        <p:nvSpPr>
          <p:cNvPr id="23558" name="Rectangle 24">
            <a:extLst>
              <a:ext uri="{FF2B5EF4-FFF2-40B4-BE49-F238E27FC236}">
                <a16:creationId xmlns:a16="http://schemas.microsoft.com/office/drawing/2014/main" id="{878E1BA8-439B-28C9-33F2-736FB1F96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01" y="6111875"/>
            <a:ext cx="3841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/>
              <a:t>0</a:t>
            </a:r>
          </a:p>
        </p:txBody>
      </p:sp>
      <p:sp>
        <p:nvSpPr>
          <p:cNvPr id="23559" name="Rectangle 25">
            <a:extLst>
              <a:ext uri="{FF2B5EF4-FFF2-40B4-BE49-F238E27FC236}">
                <a16:creationId xmlns:a16="http://schemas.microsoft.com/office/drawing/2014/main" id="{890F47B5-1B68-FBF3-2030-F6A36CE41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850" y="1828800"/>
            <a:ext cx="311150" cy="369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5</a:t>
            </a:r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4</a:t>
            </a:r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3</a:t>
            </a:r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2</a:t>
            </a:r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1</a:t>
            </a:r>
          </a:p>
        </p:txBody>
      </p:sp>
      <p:sp>
        <p:nvSpPr>
          <p:cNvPr id="23560" name="Rectangle 26">
            <a:extLst>
              <a:ext uri="{FF2B5EF4-FFF2-40B4-BE49-F238E27FC236}">
                <a16:creationId xmlns:a16="http://schemas.microsoft.com/office/drawing/2014/main" id="{D1253B72-6DBA-2EC3-0552-040A4C7E0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726" y="6324601"/>
            <a:ext cx="4575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10    20    30    40    50    60    70    80</a:t>
            </a:r>
          </a:p>
        </p:txBody>
      </p:sp>
      <p:grpSp>
        <p:nvGrpSpPr>
          <p:cNvPr id="16" name="Group 40">
            <a:extLst>
              <a:ext uri="{FF2B5EF4-FFF2-40B4-BE49-F238E27FC236}">
                <a16:creationId xmlns:a16="http://schemas.microsoft.com/office/drawing/2014/main" id="{AB9DBABE-CEB4-AF60-8BDF-DE832661C974}"/>
              </a:ext>
            </a:extLst>
          </p:cNvPr>
          <p:cNvGrpSpPr>
            <a:grpSpLocks/>
          </p:cNvGrpSpPr>
          <p:nvPr/>
        </p:nvGrpSpPr>
        <p:grpSpPr bwMode="auto">
          <a:xfrm>
            <a:off x="2627314" y="1600201"/>
            <a:ext cx="649287" cy="544513"/>
            <a:chOff x="1724" y="601"/>
            <a:chExt cx="409" cy="343"/>
          </a:xfrm>
        </p:grpSpPr>
        <p:sp>
          <p:nvSpPr>
            <p:cNvPr id="23578" name="Oval 27">
              <a:extLst>
                <a:ext uri="{FF2B5EF4-FFF2-40B4-BE49-F238E27FC236}">
                  <a16:creationId xmlns:a16="http://schemas.microsoft.com/office/drawing/2014/main" id="{6AEE6AB6-A38F-62D5-1B68-5A0EDD383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801"/>
              <a:ext cx="123" cy="14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AU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3579" name="Text Box 34">
              <a:extLst>
                <a:ext uri="{FF2B5EF4-FFF2-40B4-BE49-F238E27FC236}">
                  <a16:creationId xmlns:a16="http://schemas.microsoft.com/office/drawing/2014/main" id="{C9C22B3B-30BA-C1B7-82E9-2CE87E8C2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" y="601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i="1"/>
                <a:t>a</a:t>
              </a:r>
            </a:p>
          </p:txBody>
        </p:sp>
      </p:grpSp>
      <p:grpSp>
        <p:nvGrpSpPr>
          <p:cNvPr id="19" name="Group 42">
            <a:extLst>
              <a:ext uri="{FF2B5EF4-FFF2-40B4-BE49-F238E27FC236}">
                <a16:creationId xmlns:a16="http://schemas.microsoft.com/office/drawing/2014/main" id="{78BD2C76-CFBA-6B91-BC55-A5BC8AE997F6}"/>
              </a:ext>
            </a:extLst>
          </p:cNvPr>
          <p:cNvGrpSpPr>
            <a:grpSpLocks/>
          </p:cNvGrpSpPr>
          <p:nvPr/>
        </p:nvGrpSpPr>
        <p:grpSpPr bwMode="auto">
          <a:xfrm>
            <a:off x="3033713" y="2190750"/>
            <a:ext cx="552450" cy="615950"/>
            <a:chOff x="2073" y="1081"/>
            <a:chExt cx="348" cy="388"/>
          </a:xfrm>
        </p:grpSpPr>
        <p:sp>
          <p:nvSpPr>
            <p:cNvPr id="23576" name="Oval 28">
              <a:extLst>
                <a:ext uri="{FF2B5EF4-FFF2-40B4-BE49-F238E27FC236}">
                  <a16:creationId xmlns:a16="http://schemas.microsoft.com/office/drawing/2014/main" id="{6D07D2B9-2C91-FCAC-ACD7-D65385B35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" y="1326"/>
              <a:ext cx="123" cy="14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AU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3577" name="Text Box 35">
              <a:extLst>
                <a:ext uri="{FF2B5EF4-FFF2-40B4-BE49-F238E27FC236}">
                  <a16:creationId xmlns:a16="http://schemas.microsoft.com/office/drawing/2014/main" id="{59994AEE-01D5-BD48-C169-48FACC611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1081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i="1"/>
                <a:t>b</a:t>
              </a:r>
            </a:p>
          </p:txBody>
        </p:sp>
      </p:grpSp>
      <p:grpSp>
        <p:nvGrpSpPr>
          <p:cNvPr id="22" name="Group 43">
            <a:extLst>
              <a:ext uri="{FF2B5EF4-FFF2-40B4-BE49-F238E27FC236}">
                <a16:creationId xmlns:a16="http://schemas.microsoft.com/office/drawing/2014/main" id="{607C8E3A-1586-451D-0953-A4396F50BAF2}"/>
              </a:ext>
            </a:extLst>
          </p:cNvPr>
          <p:cNvGrpSpPr>
            <a:grpSpLocks/>
          </p:cNvGrpSpPr>
          <p:nvPr/>
        </p:nvGrpSpPr>
        <p:grpSpPr bwMode="auto">
          <a:xfrm>
            <a:off x="3457576" y="2974975"/>
            <a:ext cx="550863" cy="552450"/>
            <a:chOff x="2543" y="1657"/>
            <a:chExt cx="347" cy="348"/>
          </a:xfrm>
        </p:grpSpPr>
        <p:sp>
          <p:nvSpPr>
            <p:cNvPr id="23574" name="Oval 29">
              <a:extLst>
                <a:ext uri="{FF2B5EF4-FFF2-40B4-BE49-F238E27FC236}">
                  <a16:creationId xmlns:a16="http://schemas.microsoft.com/office/drawing/2014/main" id="{7B71A14D-FDCC-0FD8-05AE-F4E93EA66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" y="1862"/>
              <a:ext cx="123" cy="14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AU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3575" name="Text Box 36">
              <a:extLst>
                <a:ext uri="{FF2B5EF4-FFF2-40B4-BE49-F238E27FC236}">
                  <a16:creationId xmlns:a16="http://schemas.microsoft.com/office/drawing/2014/main" id="{293CFFDF-F6F2-5F58-98A7-2C11D6EC2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" y="1657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i="1"/>
                <a:t>c</a:t>
              </a:r>
            </a:p>
          </p:txBody>
        </p:sp>
      </p:grpSp>
      <p:grpSp>
        <p:nvGrpSpPr>
          <p:cNvPr id="25" name="Group 44">
            <a:extLst>
              <a:ext uri="{FF2B5EF4-FFF2-40B4-BE49-F238E27FC236}">
                <a16:creationId xmlns:a16="http://schemas.microsoft.com/office/drawing/2014/main" id="{3F9B83F2-CFFE-91BE-C1D3-D26463AED551}"/>
              </a:ext>
            </a:extLst>
          </p:cNvPr>
          <p:cNvGrpSpPr>
            <a:grpSpLocks/>
          </p:cNvGrpSpPr>
          <p:nvPr/>
        </p:nvGrpSpPr>
        <p:grpSpPr bwMode="auto">
          <a:xfrm>
            <a:off x="4352925" y="3773489"/>
            <a:ext cx="585788" cy="623887"/>
            <a:chOff x="3156" y="2137"/>
            <a:chExt cx="369" cy="393"/>
          </a:xfrm>
        </p:grpSpPr>
        <p:sp>
          <p:nvSpPr>
            <p:cNvPr id="23572" name="Oval 30">
              <a:extLst>
                <a:ext uri="{FF2B5EF4-FFF2-40B4-BE49-F238E27FC236}">
                  <a16:creationId xmlns:a16="http://schemas.microsoft.com/office/drawing/2014/main" id="{735D3FA4-85FE-F0F1-0BF1-D5A16EAD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" y="2387"/>
              <a:ext cx="123" cy="14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AU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3573" name="Text Box 37">
              <a:extLst>
                <a:ext uri="{FF2B5EF4-FFF2-40B4-BE49-F238E27FC236}">
                  <a16:creationId xmlns:a16="http://schemas.microsoft.com/office/drawing/2014/main" id="{85298BC4-6470-045B-25C1-9BF9EE6E1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2" y="2137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i="1"/>
                <a:t>d</a:t>
              </a:r>
            </a:p>
          </p:txBody>
        </p:sp>
      </p:grpSp>
      <p:grpSp>
        <p:nvGrpSpPr>
          <p:cNvPr id="28" name="Group 45">
            <a:extLst>
              <a:ext uri="{FF2B5EF4-FFF2-40B4-BE49-F238E27FC236}">
                <a16:creationId xmlns:a16="http://schemas.microsoft.com/office/drawing/2014/main" id="{6C2FBBF2-0ACD-0EA0-D317-E53861E0E6F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651375"/>
            <a:ext cx="534988" cy="566738"/>
            <a:chOff x="3956" y="2665"/>
            <a:chExt cx="337" cy="357"/>
          </a:xfrm>
        </p:grpSpPr>
        <p:sp>
          <p:nvSpPr>
            <p:cNvPr id="23570" name="Oval 31">
              <a:extLst>
                <a:ext uri="{FF2B5EF4-FFF2-40B4-BE49-F238E27FC236}">
                  <a16:creationId xmlns:a16="http://schemas.microsoft.com/office/drawing/2014/main" id="{71DC7809-3D8B-A365-25FD-1D02EA1FC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" y="2879"/>
              <a:ext cx="123" cy="14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AU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3571" name="Text Box 38">
              <a:extLst>
                <a:ext uri="{FF2B5EF4-FFF2-40B4-BE49-F238E27FC236}">
                  <a16:creationId xmlns:a16="http://schemas.microsoft.com/office/drawing/2014/main" id="{56419B60-3BF4-AF30-B41C-F15062293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0" y="2665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i="1"/>
                <a:t>e</a:t>
              </a:r>
            </a:p>
          </p:txBody>
        </p:sp>
      </p:grpSp>
      <p:grpSp>
        <p:nvGrpSpPr>
          <p:cNvPr id="23566" name="Group 19">
            <a:extLst>
              <a:ext uri="{FF2B5EF4-FFF2-40B4-BE49-F238E27FC236}">
                <a16:creationId xmlns:a16="http://schemas.microsoft.com/office/drawing/2014/main" id="{CDA4A39B-05AE-B500-D221-E0544A2DA4B7}"/>
              </a:ext>
            </a:extLst>
          </p:cNvPr>
          <p:cNvGrpSpPr>
            <a:grpSpLocks/>
          </p:cNvGrpSpPr>
          <p:nvPr/>
        </p:nvGrpSpPr>
        <p:grpSpPr bwMode="auto">
          <a:xfrm>
            <a:off x="2343151" y="1368425"/>
            <a:ext cx="4525963" cy="4959350"/>
            <a:chOff x="1489" y="965"/>
            <a:chExt cx="2957" cy="2691"/>
          </a:xfrm>
        </p:grpSpPr>
        <p:sp>
          <p:nvSpPr>
            <p:cNvPr id="23568" name="Line 20">
              <a:extLst>
                <a:ext uri="{FF2B5EF4-FFF2-40B4-BE49-F238E27FC236}">
                  <a16:creationId xmlns:a16="http://schemas.microsoft.com/office/drawing/2014/main" id="{A3924219-43C9-7762-D026-25BE270C7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9" y="965"/>
              <a:ext cx="0" cy="2691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LK"/>
            </a:p>
          </p:txBody>
        </p:sp>
        <p:sp>
          <p:nvSpPr>
            <p:cNvPr id="23569" name="Line 21">
              <a:extLst>
                <a:ext uri="{FF2B5EF4-FFF2-40B4-BE49-F238E27FC236}">
                  <a16:creationId xmlns:a16="http://schemas.microsoft.com/office/drawing/2014/main" id="{2FD8EF49-7110-2E78-F20F-150D4DF09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" y="3655"/>
              <a:ext cx="295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LK"/>
            </a:p>
          </p:txBody>
        </p:sp>
      </p:grpSp>
      <p:sp>
        <p:nvSpPr>
          <p:cNvPr id="23567" name="Rectangle 32">
            <a:extLst>
              <a:ext uri="{FF2B5EF4-FFF2-40B4-BE49-F238E27FC236}">
                <a16:creationId xmlns:a16="http://schemas.microsoft.com/office/drawing/2014/main" id="{B70718B5-7B14-ACD2-67FA-3189D21E04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9745" y="3428207"/>
            <a:ext cx="2536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Price ($ per unit)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1DBCD-9126-29BF-2C9E-E84291B0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emand Equation</a:t>
            </a:r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FEF65780-E71D-5AB8-5D54-590F197261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529" r="4537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012EC-54B9-9617-30FC-20E2B3FA0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 </a:t>
            </a:r>
            <a:r>
              <a:rPr lang="en-US" sz="5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Q d = a - b P</a:t>
            </a:r>
            <a:endParaRPr lang="en-LK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088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9424-D4BD-118B-9324-AC4E02AA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23B38C-6CE5-C088-88D1-131A5971E6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563039"/>
              </p:ext>
            </p:extLst>
          </p:nvPr>
        </p:nvGraphicFramePr>
        <p:xfrm>
          <a:off x="838200" y="1825625"/>
          <a:ext cx="10515600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2471828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74817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of Pizza 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Pizza Slice Demanded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459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803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74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589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416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436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72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85624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5F6E8C-78D4-192B-C81C-0D2B4F7BEB4F}"/>
              </a:ext>
            </a:extLst>
          </p:cNvPr>
          <p:cNvSpPr txBox="1"/>
          <p:nvPr/>
        </p:nvSpPr>
        <p:spPr>
          <a:xfrm>
            <a:off x="1058779" y="5354053"/>
            <a:ext cx="3658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demand equation</a:t>
            </a:r>
          </a:p>
        </p:txBody>
      </p:sp>
    </p:spTree>
    <p:extLst>
      <p:ext uri="{BB962C8B-B14F-4D97-AF65-F5344CB8AC3E}">
        <p14:creationId xmlns:p14="http://schemas.microsoft.com/office/powerpoint/2010/main" val="2016433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364A7-DE1D-5524-3CA5-D90D61246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470C-BD91-37BB-25D5-AD9A4EB9E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84820A-ABC5-4F44-88F8-2DF468E3FF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7909468"/>
              </p:ext>
            </p:extLst>
          </p:nvPr>
        </p:nvGraphicFramePr>
        <p:xfrm>
          <a:off x="838200" y="1825625"/>
          <a:ext cx="1051560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2471828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74817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459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803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74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589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416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L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4366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542E8-5C7F-0A7A-F8B8-7670CB77B5EB}"/>
              </a:ext>
            </a:extLst>
          </p:cNvPr>
          <p:cNvSpPr txBox="1"/>
          <p:nvPr/>
        </p:nvSpPr>
        <p:spPr>
          <a:xfrm>
            <a:off x="1022683" y="4572000"/>
            <a:ext cx="3658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demand equation</a:t>
            </a:r>
          </a:p>
        </p:txBody>
      </p:sp>
    </p:spTree>
    <p:extLst>
      <p:ext uri="{BB962C8B-B14F-4D97-AF65-F5344CB8AC3E}">
        <p14:creationId xmlns:p14="http://schemas.microsoft.com/office/powerpoint/2010/main" val="3934925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ADA2-DCCE-1581-7EA3-551AF6B1E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B53FE-50ED-04EF-A7C4-749443E96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2" indent="0">
              <a:buNone/>
            </a:pPr>
            <a:r>
              <a:rPr lang="en-LK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Qd = 100-5P</a:t>
            </a:r>
          </a:p>
          <a:p>
            <a:pPr marL="0" indent="0">
              <a:buNone/>
            </a:pPr>
            <a:endParaRPr lang="en-L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demand schedule and draw the graph</a:t>
            </a:r>
          </a:p>
        </p:txBody>
      </p:sp>
    </p:spTree>
    <p:extLst>
      <p:ext uri="{BB962C8B-B14F-4D97-AF65-F5344CB8AC3E}">
        <p14:creationId xmlns:p14="http://schemas.microsoft.com/office/powerpoint/2010/main" val="1332648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58CEF-91AB-DC84-5C2F-547F55F6C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1803-7637-5737-E0D8-7B448585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1DC36-157D-A9F8-8F03-3EFD4D99D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2" indent="0">
              <a:buNone/>
            </a:pPr>
            <a:r>
              <a:rPr lang="en-LK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Qd = 2200-200P</a:t>
            </a:r>
          </a:p>
          <a:p>
            <a:pPr marL="0" indent="0">
              <a:buNone/>
            </a:pPr>
            <a:endParaRPr lang="en-L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demand schedule and draw the graph</a:t>
            </a:r>
          </a:p>
        </p:txBody>
      </p:sp>
    </p:spTree>
    <p:extLst>
      <p:ext uri="{BB962C8B-B14F-4D97-AF65-F5344CB8AC3E}">
        <p14:creationId xmlns:p14="http://schemas.microsoft.com/office/powerpoint/2010/main" val="2499736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57DE-D0B8-38E4-5A08-6BC23FBB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D07FBE-9654-ADBE-416D-151461D8E295}"/>
              </a:ext>
            </a:extLst>
          </p:cNvPr>
          <p:cNvCxnSpPr/>
          <p:nvPr/>
        </p:nvCxnSpPr>
        <p:spPr>
          <a:xfrm flipV="1">
            <a:off x="2093495" y="1684417"/>
            <a:ext cx="0" cy="34891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44BC61-B22C-D4E0-3907-7410DEBA9253}"/>
              </a:ext>
            </a:extLst>
          </p:cNvPr>
          <p:cNvCxnSpPr/>
          <p:nvPr/>
        </p:nvCxnSpPr>
        <p:spPr>
          <a:xfrm flipV="1">
            <a:off x="1816768" y="4848722"/>
            <a:ext cx="6906127" cy="962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EBA66B3-350B-8BCB-2D39-D318F0E723F0}"/>
              </a:ext>
            </a:extLst>
          </p:cNvPr>
          <p:cNvSpPr txBox="1"/>
          <p:nvPr/>
        </p:nvSpPr>
        <p:spPr>
          <a:xfrm>
            <a:off x="1491916" y="1528011"/>
            <a:ext cx="60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25FB26-90F3-1735-635B-DF975EF59207}"/>
              </a:ext>
            </a:extLst>
          </p:cNvPr>
          <p:cNvSpPr txBox="1"/>
          <p:nvPr/>
        </p:nvSpPr>
        <p:spPr>
          <a:xfrm>
            <a:off x="8722895" y="5017165"/>
            <a:ext cx="1179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689E05-C62E-AFFA-B29D-12E983851334}"/>
              </a:ext>
            </a:extLst>
          </p:cNvPr>
          <p:cNvCxnSpPr>
            <a:cxnSpLocks/>
          </p:cNvCxnSpPr>
          <p:nvPr/>
        </p:nvCxnSpPr>
        <p:spPr>
          <a:xfrm>
            <a:off x="1973175" y="1973179"/>
            <a:ext cx="24063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D7EF54-A6FC-5CE0-C4C6-9AAFFB02E891}"/>
              </a:ext>
            </a:extLst>
          </p:cNvPr>
          <p:cNvCxnSpPr/>
          <p:nvPr/>
        </p:nvCxnSpPr>
        <p:spPr>
          <a:xfrm>
            <a:off x="8193505" y="4668253"/>
            <a:ext cx="0" cy="348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616DBFE-39CE-8FD8-9114-4F141357C148}"/>
              </a:ext>
            </a:extLst>
          </p:cNvPr>
          <p:cNvSpPr txBox="1"/>
          <p:nvPr/>
        </p:nvSpPr>
        <p:spPr>
          <a:xfrm>
            <a:off x="1475878" y="1840829"/>
            <a:ext cx="497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E53AB8-0AC4-2365-DCF1-065F5C8512B4}"/>
              </a:ext>
            </a:extLst>
          </p:cNvPr>
          <p:cNvSpPr txBox="1"/>
          <p:nvPr/>
        </p:nvSpPr>
        <p:spPr>
          <a:xfrm>
            <a:off x="8025067" y="5017162"/>
            <a:ext cx="457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en-L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0B46A5-9BD2-351D-B7A8-3994B93E668F}"/>
              </a:ext>
            </a:extLst>
          </p:cNvPr>
          <p:cNvCxnSpPr/>
          <p:nvPr/>
        </p:nvCxnSpPr>
        <p:spPr>
          <a:xfrm>
            <a:off x="2093495" y="1973179"/>
            <a:ext cx="6100010" cy="286351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29C435-6AD9-9F33-FF90-9ADB47E25589}"/>
              </a:ext>
            </a:extLst>
          </p:cNvPr>
          <p:cNvSpPr txBox="1"/>
          <p:nvPr/>
        </p:nvSpPr>
        <p:spPr>
          <a:xfrm>
            <a:off x="1720518" y="4981067"/>
            <a:ext cx="33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55905A-9922-84FF-3478-F244638F54AB}"/>
              </a:ext>
            </a:extLst>
          </p:cNvPr>
          <p:cNvSpPr txBox="1"/>
          <p:nvPr/>
        </p:nvSpPr>
        <p:spPr>
          <a:xfrm>
            <a:off x="838200" y="5666874"/>
            <a:ext cx="706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demand equation and schedule</a:t>
            </a:r>
          </a:p>
        </p:txBody>
      </p:sp>
    </p:spTree>
    <p:extLst>
      <p:ext uri="{BB962C8B-B14F-4D97-AF65-F5344CB8AC3E}">
        <p14:creationId xmlns:p14="http://schemas.microsoft.com/office/powerpoint/2010/main" val="3935646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6620-13C1-D2B8-148D-0039B165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76B-51DF-6799-AD42-5DBC5933B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06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FA6BA4-DA3C-328D-45AB-32347C09324E}"/>
              </a:ext>
            </a:extLst>
          </p:cNvPr>
          <p:cNvCxnSpPr/>
          <p:nvPr/>
        </p:nvCxnSpPr>
        <p:spPr>
          <a:xfrm flipV="1">
            <a:off x="2093495" y="1684417"/>
            <a:ext cx="0" cy="34891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6E0C11-7841-3D89-876B-D7401C8947D5}"/>
              </a:ext>
            </a:extLst>
          </p:cNvPr>
          <p:cNvCxnSpPr/>
          <p:nvPr/>
        </p:nvCxnSpPr>
        <p:spPr>
          <a:xfrm flipV="1">
            <a:off x="1816768" y="4848722"/>
            <a:ext cx="6906127" cy="962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B90F19-7BF1-AC05-138A-B8CE4D482A81}"/>
              </a:ext>
            </a:extLst>
          </p:cNvPr>
          <p:cNvSpPr txBox="1"/>
          <p:nvPr/>
        </p:nvSpPr>
        <p:spPr>
          <a:xfrm>
            <a:off x="1491916" y="1528011"/>
            <a:ext cx="601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2901C8-6B3A-FF44-8CA1-47DB927E72FD}"/>
              </a:ext>
            </a:extLst>
          </p:cNvPr>
          <p:cNvSpPr txBox="1"/>
          <p:nvPr/>
        </p:nvSpPr>
        <p:spPr>
          <a:xfrm>
            <a:off x="8722895" y="5017165"/>
            <a:ext cx="1179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D1E294-9841-0F0A-24C3-C68203A46736}"/>
              </a:ext>
            </a:extLst>
          </p:cNvPr>
          <p:cNvCxnSpPr>
            <a:cxnSpLocks/>
          </p:cNvCxnSpPr>
          <p:nvPr/>
        </p:nvCxnSpPr>
        <p:spPr>
          <a:xfrm>
            <a:off x="1973175" y="1973179"/>
            <a:ext cx="24063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E04BC0-403C-9C6C-7F49-8E0A08F42EC5}"/>
              </a:ext>
            </a:extLst>
          </p:cNvPr>
          <p:cNvCxnSpPr/>
          <p:nvPr/>
        </p:nvCxnSpPr>
        <p:spPr>
          <a:xfrm>
            <a:off x="8193505" y="4668253"/>
            <a:ext cx="0" cy="348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8CC02DC-F26D-94B9-BE4D-82CDDADDE7D7}"/>
              </a:ext>
            </a:extLst>
          </p:cNvPr>
          <p:cNvSpPr txBox="1"/>
          <p:nvPr/>
        </p:nvSpPr>
        <p:spPr>
          <a:xfrm>
            <a:off x="1475878" y="1840829"/>
            <a:ext cx="497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A7CC3-88B4-035D-63D0-60EAFCD1FD82}"/>
              </a:ext>
            </a:extLst>
          </p:cNvPr>
          <p:cNvSpPr txBox="1"/>
          <p:nvPr/>
        </p:nvSpPr>
        <p:spPr>
          <a:xfrm>
            <a:off x="8025067" y="5017162"/>
            <a:ext cx="457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endParaRPr lang="en-L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997A96-5133-D7A7-1C33-F20641DC3BD4}"/>
              </a:ext>
            </a:extLst>
          </p:cNvPr>
          <p:cNvCxnSpPr/>
          <p:nvPr/>
        </p:nvCxnSpPr>
        <p:spPr>
          <a:xfrm>
            <a:off x="2093495" y="1973179"/>
            <a:ext cx="6100010" cy="286351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41112EF-20C0-14E4-68D6-C5EB1DD674D9}"/>
              </a:ext>
            </a:extLst>
          </p:cNvPr>
          <p:cNvSpPr txBox="1"/>
          <p:nvPr/>
        </p:nvSpPr>
        <p:spPr>
          <a:xfrm>
            <a:off x="1720518" y="4981067"/>
            <a:ext cx="33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03B6C7-A25A-04FB-CFAF-D0CDABA3054B}"/>
              </a:ext>
            </a:extLst>
          </p:cNvPr>
          <p:cNvSpPr txBox="1"/>
          <p:nvPr/>
        </p:nvSpPr>
        <p:spPr>
          <a:xfrm>
            <a:off x="838200" y="5666874"/>
            <a:ext cx="706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demand equation and schedule</a:t>
            </a:r>
          </a:p>
        </p:txBody>
      </p:sp>
    </p:spTree>
    <p:extLst>
      <p:ext uri="{BB962C8B-B14F-4D97-AF65-F5344CB8AC3E}">
        <p14:creationId xmlns:p14="http://schemas.microsoft.com/office/powerpoint/2010/main" val="580241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008B0-D83A-60E0-8935-42978727F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emand function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498E6-C02D-BECB-5F27-82A3B1DB6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LK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A demand function is a causal relationship between a dependent variable (i.e., quantity demanded) and various independent variables (i.e., factors that are believed to influence quantity demanded)</a:t>
            </a:r>
            <a:endParaRPr lang="en-LK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LK" sz="1700" dirty="0"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   </a:t>
            </a:r>
            <a:endParaRPr lang="en-LK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17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       </a:t>
            </a:r>
            <a:r>
              <a:rPr lang="en-US" sz="33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Qd</a:t>
            </a:r>
            <a:r>
              <a:rPr lang="en-US" sz="33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 = 𝑓 (</a:t>
            </a:r>
            <a:r>
              <a:rPr lang="en-US" sz="33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Px</a:t>
            </a:r>
            <a:r>
              <a:rPr lang="en-US" sz="33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Y, P 1 …. P n − 1, T, Pe, S) </a:t>
            </a:r>
            <a:endParaRPr lang="en-LK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LK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 </a:t>
            </a:r>
            <a:endParaRPr lang="en-LK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 panose="020B0604020202020204" pitchFamily="34" charset="-128"/>
            </a:endParaRPr>
          </a:p>
          <a:p>
            <a:pPr lvl="0">
              <a:tabLst>
                <a:tab pos="4572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Price of the commodity (P x) </a:t>
            </a:r>
            <a:endParaRPr lang="en-LK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Income (Y) </a:t>
            </a:r>
            <a:endParaRPr lang="en-LK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Price of Related Goods (P 1 ….  P n-1) </a:t>
            </a:r>
            <a:endParaRPr lang="en-LK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Tastes and Preferences (T) </a:t>
            </a:r>
            <a:endParaRPr lang="en-LK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Expectations (Pe) </a:t>
            </a:r>
            <a:endParaRPr lang="en-LK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factors (S)</a:t>
            </a:r>
            <a:endParaRPr lang="en-LK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LK" sz="1700" dirty="0"/>
          </a:p>
        </p:txBody>
      </p:sp>
    </p:spTree>
    <p:extLst>
      <p:ext uri="{BB962C8B-B14F-4D97-AF65-F5344CB8AC3E}">
        <p14:creationId xmlns:p14="http://schemas.microsoft.com/office/powerpoint/2010/main" val="227920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944" name="Rectangle 3994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E32BC20A-B1F0-E5FA-CA66-0A931EB2C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defRPr/>
            </a:pPr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and Wealth</a:t>
            </a:r>
          </a:p>
        </p:txBody>
      </p:sp>
      <p:sp>
        <p:nvSpPr>
          <p:cNvPr id="3994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11B5483-665D-E078-DFF9-52974A6B1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2075" tIns="46038" rIns="92075" bIns="46038" rtlCol="0">
            <a:normAutofit/>
          </a:bodyPr>
          <a:lstStyle/>
          <a:p>
            <a:pPr algn="just" eaLnBrk="1" hangingPunct="1">
              <a:defRPr/>
            </a:pPr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sum of all households’ wages, salaries, profits, interest payments, rents, and other forms of earnings in a given period of time.  It is a </a:t>
            </a:r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measure.</a:t>
            </a:r>
          </a:p>
          <a:p>
            <a:pPr algn="just" eaLnBrk="1" hangingPunct="1">
              <a:defRPr/>
            </a:pPr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Wealth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worth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 total value of what a household owns minus what it owes</a:t>
            </a:r>
            <a:r>
              <a:rPr lang="en-US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is a </a:t>
            </a:r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000" name="Rectangle 4199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88829D37-58DD-DE9C-9686-4620094B1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>
              <a:defRPr/>
            </a:pPr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Goods and Services</a:t>
            </a:r>
          </a:p>
        </p:txBody>
      </p:sp>
      <p:pic>
        <p:nvPicPr>
          <p:cNvPr id="41989" name="Picture 41988" descr="Shopping cart with boxes">
            <a:extLst>
              <a:ext uri="{FF2B5EF4-FFF2-40B4-BE49-F238E27FC236}">
                <a16:creationId xmlns:a16="http://schemas.microsoft.com/office/drawing/2014/main" id="{AB8EDC17-8BC3-62F2-AE59-3AE69C4AA6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613" r="16055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200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48566B8-F118-8C00-80FA-B0983F174A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2075" tIns="46038" rIns="92075" bIns="46038" rtlCol="0">
            <a:normAutofit lnSpcReduction="10000"/>
          </a:bodyPr>
          <a:lstStyle/>
          <a:p>
            <a:pPr eaLnBrk="1" hangingPunct="1">
              <a:defRPr/>
            </a:pPr>
            <a:r>
              <a:rPr lang="en-US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Goods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goods for which demand goes up when income is higher and for which demand goes down when income is lower.</a:t>
            </a:r>
          </a:p>
          <a:p>
            <a:pPr marL="0" indent="0" eaLnBrk="1" hangingPunct="1">
              <a:buNone/>
              <a:defRPr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Inferior Goods</a:t>
            </a:r>
            <a:r>
              <a:rPr lang="en-US" alt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goods for which demand falls when income rises.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>
            <a:extLst>
              <a:ext uri="{FF2B5EF4-FFF2-40B4-BE49-F238E27FC236}">
                <a16:creationId xmlns:a16="http://schemas.microsoft.com/office/drawing/2014/main" id="{4F105CA4-F5B1-DB3B-D621-9450540B24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E2AE1-6848-89FC-2B3E-49AD3131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of the following goods are likely to be classified as normal goods or services? Inferior? Defined your answer.</a:t>
            </a:r>
            <a:br>
              <a:rPr lang="en-LK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L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3E2AB-DCCE-E987-4AFE-7520F997B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Chocolate 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 Transportation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cars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phone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Computers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Bicycle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Movie theaters 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Dog shows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Organic food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Pizza 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Legal services</a:t>
            </a:r>
            <a:endParaRPr lang="en-LK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LK" sz="1800" dirty="0"/>
          </a:p>
        </p:txBody>
      </p:sp>
    </p:spTree>
    <p:extLst>
      <p:ext uri="{BB962C8B-B14F-4D97-AF65-F5344CB8AC3E}">
        <p14:creationId xmlns:p14="http://schemas.microsoft.com/office/powerpoint/2010/main" val="1070689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041" name="Rectangle 4404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8601317C-657A-DE09-1BCA-25CB41C61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>
              <a:defRPr/>
            </a:pPr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Goods and Services</a:t>
            </a:r>
          </a:p>
        </p:txBody>
      </p:sp>
      <p:pic>
        <p:nvPicPr>
          <p:cNvPr id="44037" name="Picture 44036" descr="A row of samples for medical testing">
            <a:extLst>
              <a:ext uri="{FF2B5EF4-FFF2-40B4-BE49-F238E27FC236}">
                <a16:creationId xmlns:a16="http://schemas.microsoft.com/office/drawing/2014/main" id="{C3177605-76A2-65A2-F0FE-813CE6EE49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033" r="1034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04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0B901B3-D687-511B-A7B9-65BC12BECA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97762" y="2706624"/>
            <a:ext cx="6251110" cy="3822192"/>
          </a:xfrm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goods that can serve as replacements for one another; when the price of one increases, demand for the other goes up.  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substitutes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identical products.</a:t>
            </a:r>
          </a:p>
          <a:p>
            <a:pPr eaLnBrk="1" hangingPunct="1">
              <a:defRPr/>
            </a:pPr>
            <a:r>
              <a:rPr lang="en-US" altLang="en-US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Complements</a:t>
            </a:r>
            <a:r>
              <a:rPr lang="en-US" alt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goods that “go together”; a decrease in the price of one results in an increase in demand for the other, and vice versa.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scheduled pillbox">
            <a:extLst>
              <a:ext uri="{FF2B5EF4-FFF2-40B4-BE49-F238E27FC236}">
                <a16:creationId xmlns:a16="http://schemas.microsoft.com/office/drawing/2014/main" id="{0D2A0A63-CDB8-3117-6CCD-56A5449361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939" b="379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1F272-0CEA-01A9-A348-C6E24F61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of the following pairs of goods are likely to be classified as substitutes? Complements? Defined your answer.</a:t>
            </a:r>
            <a:br>
              <a:rPr lang="en-LK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L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2210B-5122-7A15-B0F7-12E3FDF06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28600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Bread and Butter</a:t>
            </a:r>
            <a:endParaRPr lang="en-LK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PlayStation and Games</a:t>
            </a:r>
            <a:endParaRPr lang="en-LK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Nike brand and Reebok brand sneakers</a:t>
            </a:r>
            <a:endParaRPr lang="en-LK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IBM and Apple brand computers</a:t>
            </a:r>
            <a:endParaRPr lang="en-LK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Dress shirts and ties</a:t>
            </a:r>
            <a:endParaRPr lang="en-LK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Dominos and Pizza hut</a:t>
            </a:r>
            <a:endParaRPr lang="en-LK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Vehicle and fuel</a:t>
            </a:r>
            <a:endParaRPr lang="en-LK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Beer and wine</a:t>
            </a:r>
            <a:endParaRPr lang="en-LK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Faxes and e-mail</a:t>
            </a:r>
            <a:endParaRPr lang="en-LK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/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Cereal and milk</a:t>
            </a:r>
            <a:endParaRPr lang="en-LK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LK" sz="2200" dirty="0"/>
          </a:p>
        </p:txBody>
      </p:sp>
    </p:spTree>
    <p:extLst>
      <p:ext uri="{BB962C8B-B14F-4D97-AF65-F5344CB8AC3E}">
        <p14:creationId xmlns:p14="http://schemas.microsoft.com/office/powerpoint/2010/main" val="2002015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7D8AC-7541-8476-8A8E-ACB31BBD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il-PH" sz="34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Shift of Demand VS Movement along a Demand Curve</a:t>
            </a:r>
            <a:br>
              <a:rPr lang="en-LK" sz="34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 Unicode MS" panose="020B0604020202020204" pitchFamily="34" charset="-128"/>
              </a:rPr>
            </a:br>
            <a:endParaRPr lang="en-LK" sz="3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B102E-A8CB-10C2-65EA-39DC2AD61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il-PH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 </a:t>
            </a:r>
            <a:endParaRPr lang="en-LK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 panose="020B0604020202020204" pitchFamily="34" charset="-128"/>
            </a:endParaRPr>
          </a:p>
          <a:p>
            <a:pPr marL="228600"/>
            <a:r>
              <a:rPr lang="en-LK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change in the price of a good or service leads to a </a:t>
            </a:r>
            <a:r>
              <a:rPr lang="en-LK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 in quantity demanded</a:t>
            </a:r>
            <a:r>
              <a:rPr lang="en-LK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(movement along the demand curve).</a:t>
            </a:r>
          </a:p>
          <a:p>
            <a:pPr marL="0" indent="0">
              <a:buNone/>
            </a:pPr>
            <a:r>
              <a:rPr lang="en-LK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28600"/>
            <a:r>
              <a:rPr lang="en-LK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 in income, preferences, or prices of other goods or services leads to </a:t>
            </a:r>
            <a:r>
              <a:rPr lang="en-LK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 in demand</a:t>
            </a:r>
            <a:r>
              <a:rPr lang="en-LK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(shift of the demand curve).</a:t>
            </a:r>
          </a:p>
          <a:p>
            <a:endParaRPr lang="en-LK" sz="2200" dirty="0"/>
          </a:p>
        </p:txBody>
      </p:sp>
    </p:spTree>
    <p:extLst>
      <p:ext uri="{BB962C8B-B14F-4D97-AF65-F5344CB8AC3E}">
        <p14:creationId xmlns:p14="http://schemas.microsoft.com/office/powerpoint/2010/main" val="1754652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8791-1494-E833-E867-02510BDB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in Demand and Change in quantity Demand</a:t>
            </a:r>
          </a:p>
        </p:txBody>
      </p:sp>
      <p:sp>
        <p:nvSpPr>
          <p:cNvPr id="32770" name="TextBox 3">
            <a:extLst>
              <a:ext uri="{FF2B5EF4-FFF2-40B4-BE49-F238E27FC236}">
                <a16:creationId xmlns:a16="http://schemas.microsoft.com/office/drawing/2014/main" id="{02093646-0EE9-F294-0BD6-6B6F6F51F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444" y="1735139"/>
            <a:ext cx="1098857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3600" dirty="0">
                <a:latin typeface="Times New Roman" panose="02020603050405020304" pitchFamily="18" charset="0"/>
              </a:rPr>
              <a:t>Caused by changes in one or other  of the </a:t>
            </a:r>
            <a:r>
              <a:rPr lang="en-AU" altLang="en-US" sz="3600" dirty="0">
                <a:solidFill>
                  <a:srgbClr val="FF0000"/>
                </a:solidFill>
                <a:latin typeface="Times New Roman" panose="02020603050405020304" pitchFamily="18" charset="0"/>
              </a:rPr>
              <a:t>non-price determinants </a:t>
            </a:r>
            <a:r>
              <a:rPr lang="en-AU" altLang="en-US" sz="3600" dirty="0">
                <a:latin typeface="Times New Roman" panose="02020603050405020304" pitchFamily="18" charset="0"/>
              </a:rPr>
              <a:t>of demand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3600" dirty="0">
                <a:latin typeface="Times New Roman" panose="02020603050405020304" pitchFamily="18" charset="0"/>
              </a:rPr>
              <a:t>Represented as a </a:t>
            </a:r>
            <a:r>
              <a:rPr lang="en-AU" altLang="en-US" sz="3600" dirty="0">
                <a:solidFill>
                  <a:srgbClr val="FF0000"/>
                </a:solidFill>
                <a:latin typeface="Times New Roman" panose="02020603050405020304" pitchFamily="18" charset="0"/>
              </a:rPr>
              <a:t>shift of the demand </a:t>
            </a:r>
            <a:r>
              <a:rPr lang="en-AU" altLang="en-US" sz="3600" dirty="0">
                <a:latin typeface="Times New Roman" panose="02020603050405020304" pitchFamily="18" charset="0"/>
              </a:rPr>
              <a:t>curve either to the right or left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3600" dirty="0">
                <a:latin typeface="Times New Roman" panose="02020603050405020304" pitchFamily="18" charset="0"/>
              </a:rPr>
              <a:t>Represents a change in the quantity demand at every price, so cannot be related to a change in price</a:t>
            </a:r>
            <a:endParaRPr lang="en-US" altLang="en-US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1026">
            <a:extLst>
              <a:ext uri="{FF2B5EF4-FFF2-40B4-BE49-F238E27FC236}">
                <a16:creationId xmlns:a16="http://schemas.microsoft.com/office/drawing/2014/main" id="{BDFA67C7-6AF7-8226-57EF-353B04289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7402" y="304800"/>
            <a:ext cx="9848198" cy="99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shift of Demand Versus Movement Along a Demand Curve</a:t>
            </a:r>
          </a:p>
        </p:txBody>
      </p:sp>
      <p:sp>
        <p:nvSpPr>
          <p:cNvPr id="145411" name="Text Box 1027">
            <a:extLst>
              <a:ext uri="{FF2B5EF4-FFF2-40B4-BE49-F238E27FC236}">
                <a16:creationId xmlns:a16="http://schemas.microsoft.com/office/drawing/2014/main" id="{81D313D7-5DB9-293B-74A8-46A17A88C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5290" y="1631951"/>
            <a:ext cx="4921953" cy="138499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59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A change in </a:t>
            </a:r>
            <a:r>
              <a:rPr lang="en-US" altLang="en-US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demand</a:t>
            </a: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is not the same as a change in </a:t>
            </a:r>
            <a:r>
              <a:rPr lang="en-US" altLang="en-US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quantity demanded</a:t>
            </a: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5412" name="Text Box 1028">
            <a:extLst>
              <a:ext uri="{FF2B5EF4-FFF2-40B4-BE49-F238E27FC236}">
                <a16:creationId xmlns:a16="http://schemas.microsoft.com/office/drawing/2014/main" id="{7AF3763C-8E3E-868C-54E0-17E646B84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446" y="2895601"/>
            <a:ext cx="5023553" cy="138499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  <a:defRPr/>
            </a:pP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In this example, a higher price causes a lower </a:t>
            </a:r>
            <a:r>
              <a:rPr lang="en-US" altLang="en-US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quantity demanded</a:t>
            </a: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5413" name="Text Box 1029">
            <a:extLst>
              <a:ext uri="{FF2B5EF4-FFF2-40B4-BE49-F238E27FC236}">
                <a16:creationId xmlns:a16="http://schemas.microsoft.com/office/drawing/2014/main" id="{C95767A8-FE20-50F8-145A-803E4B57D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2" y="4191000"/>
            <a:ext cx="5125153" cy="224676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  <a:defRPr/>
            </a:pP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Changes in determinants of demand, other than price, cause a change in </a:t>
            </a:r>
            <a:r>
              <a:rPr lang="en-US" altLang="en-US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demand</a:t>
            </a: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 or a </a:t>
            </a:r>
            <a:r>
              <a:rPr lang="en-US" altLang="en-US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shift</a:t>
            </a: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of the entire demand curve, from </a:t>
            </a:r>
            <a:r>
              <a:rPr lang="en-US" altLang="en-US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D</a:t>
            </a:r>
            <a:r>
              <a:rPr lang="en-US" altLang="en-US" sz="280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to </a:t>
            </a:r>
            <a:r>
              <a:rPr lang="en-US" altLang="en-US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D</a:t>
            </a:r>
            <a:r>
              <a:rPr lang="en-US" altLang="en-US" sz="2800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B</a:t>
            </a: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3797" name="Picture 1045">
            <a:extLst>
              <a:ext uri="{FF2B5EF4-FFF2-40B4-BE49-F238E27FC236}">
                <a16:creationId xmlns:a16="http://schemas.microsoft.com/office/drawing/2014/main" id="{A7772BAD-7308-B842-9D09-F78C090CE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1752601"/>
            <a:ext cx="47212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5432" name="Picture 1048">
            <a:extLst>
              <a:ext uri="{FF2B5EF4-FFF2-40B4-BE49-F238E27FC236}">
                <a16:creationId xmlns:a16="http://schemas.microsoft.com/office/drawing/2014/main" id="{D4E3F5E0-4A85-6BA7-3C61-C7B929C26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1752601"/>
            <a:ext cx="47212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5433" name="Picture 1049">
            <a:extLst>
              <a:ext uri="{FF2B5EF4-FFF2-40B4-BE49-F238E27FC236}">
                <a16:creationId xmlns:a16="http://schemas.microsoft.com/office/drawing/2014/main" id="{BC9DEFB9-2CBA-9C01-D5F2-1CB20F4A5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1752601"/>
            <a:ext cx="47212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4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autoUpdateAnimBg="0"/>
      <p:bldP spid="145412" grpId="0" autoUpdateAnimBg="0"/>
      <p:bldP spid="14541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Text Box 3">
            <a:extLst>
              <a:ext uri="{FF2B5EF4-FFF2-40B4-BE49-F238E27FC236}">
                <a16:creationId xmlns:a16="http://schemas.microsoft.com/office/drawing/2014/main" id="{F512D153-DB41-6C5C-98D7-BA8338485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1" y="1752600"/>
            <a:ext cx="541866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2575" indent="-282575"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altLang="en-US" sz="3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shifts</a:t>
            </a: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the right, demand increases. This causes the </a:t>
            </a:r>
            <a:r>
              <a:rPr lang="en-US" altLang="en-US" sz="3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 demanded</a:t>
            </a: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be greater than it was prior to the shift, </a:t>
            </a:r>
            <a:r>
              <a:rPr lang="en-US" altLang="en-US" sz="3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and every price level.</a:t>
            </a:r>
            <a:endParaRPr lang="en-US" altLang="en-US" sz="3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436" name="Rectangle 4">
            <a:extLst>
              <a:ext uri="{FF2B5EF4-FFF2-40B4-BE49-F238E27FC236}">
                <a16:creationId xmlns:a16="http://schemas.microsoft.com/office/drawing/2014/main" id="{E80B33FA-2006-FF86-A27B-7A16FE364B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9911" y="304800"/>
            <a:ext cx="8229600" cy="99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Change in Demand Versus a Change in Quantity Demanded</a:t>
            </a:r>
          </a:p>
        </p:txBody>
      </p:sp>
      <p:pic>
        <p:nvPicPr>
          <p:cNvPr id="34819" name="Picture 22">
            <a:extLst>
              <a:ext uri="{FF2B5EF4-FFF2-40B4-BE49-F238E27FC236}">
                <a16:creationId xmlns:a16="http://schemas.microsoft.com/office/drawing/2014/main" id="{CE83BD42-AC02-F985-318B-42A4F163D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6" y="1752601"/>
            <a:ext cx="47212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55" name="Picture 23">
            <a:extLst>
              <a:ext uri="{FF2B5EF4-FFF2-40B4-BE49-F238E27FC236}">
                <a16:creationId xmlns:a16="http://schemas.microsoft.com/office/drawing/2014/main" id="{36714AB0-5722-87F3-869C-5113A4E43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6" y="1752601"/>
            <a:ext cx="47212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56" name="Picture 24">
            <a:extLst>
              <a:ext uri="{FF2B5EF4-FFF2-40B4-BE49-F238E27FC236}">
                <a16:creationId xmlns:a16="http://schemas.microsoft.com/office/drawing/2014/main" id="{478AD219-7E85-8D87-C57B-E1F4E6E16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6" y="1752601"/>
            <a:ext cx="47212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>
            <a:extLst>
              <a:ext uri="{FF2B5EF4-FFF2-40B4-BE49-F238E27FC236}">
                <a16:creationId xmlns:a16="http://schemas.microsoft.com/office/drawing/2014/main" id="{4E69AA93-596A-4622-5E03-8C4961BFD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8" y="228600"/>
            <a:ext cx="10114845" cy="1143000"/>
          </a:xfrm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Change in Demand Versus a Change in Quantity Demanded</a:t>
            </a:r>
          </a:p>
        </p:txBody>
      </p:sp>
      <p:sp>
        <p:nvSpPr>
          <p:cNvPr id="35842" name="Text Box 1061">
            <a:extLst>
              <a:ext uri="{FF2B5EF4-FFF2-40B4-BE49-F238E27FC236}">
                <a16:creationId xmlns:a16="http://schemas.microsoft.com/office/drawing/2014/main" id="{08A28BE5-48E2-F713-7BD7-7660DB32E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1" y="1524000"/>
            <a:ext cx="20146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summarize:</a:t>
            </a:r>
          </a:p>
        </p:txBody>
      </p:sp>
      <p:grpSp>
        <p:nvGrpSpPr>
          <p:cNvPr id="50229" name="Group 1077">
            <a:extLst>
              <a:ext uri="{FF2B5EF4-FFF2-40B4-BE49-F238E27FC236}">
                <a16:creationId xmlns:a16="http://schemas.microsoft.com/office/drawing/2014/main" id="{2B098A94-4FEB-64D8-F4A7-57409B529276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057402"/>
            <a:ext cx="7772400" cy="1938545"/>
            <a:chOff x="432" y="1296"/>
            <a:chExt cx="4800" cy="1023"/>
          </a:xfrm>
        </p:grpSpPr>
        <p:sp>
          <p:nvSpPr>
            <p:cNvPr id="35849" name="Text Box 1058">
              <a:extLst>
                <a:ext uri="{FF2B5EF4-FFF2-40B4-BE49-F238E27FC236}">
                  <a16:creationId xmlns:a16="http://schemas.microsoft.com/office/drawing/2014/main" id="{ED8375FA-2F5C-C066-E77D-6876DDDB4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96"/>
              <a:ext cx="4800" cy="102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82575" indent="-282575"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 in price of a good or service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leads to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Change in </a:t>
              </a:r>
              <a:r>
                <a:rPr lang="en-US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quantity demanded</a:t>
              </a:r>
              <a:br>
                <a:rPr lang="en-US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Movement along the curve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</p:txBody>
        </p:sp>
        <p:sp>
          <p:nvSpPr>
            <p:cNvPr id="35850" name="Freeform 1063">
              <a:extLst>
                <a:ext uri="{FF2B5EF4-FFF2-40B4-BE49-F238E27FC236}">
                  <a16:creationId xmlns:a16="http://schemas.microsoft.com/office/drawing/2014/main" id="{E0AF1C9E-D8B1-BA00-3ABF-AEDE9AA52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" y="1678"/>
              <a:ext cx="372" cy="508"/>
            </a:xfrm>
            <a:custGeom>
              <a:avLst/>
              <a:gdLst>
                <a:gd name="T0" fmla="*/ 0 w 349"/>
                <a:gd name="T1" fmla="*/ 0 h 604"/>
                <a:gd name="T2" fmla="*/ 0 w 349"/>
                <a:gd name="T3" fmla="*/ 302 h 604"/>
                <a:gd name="T4" fmla="*/ 451 w 349"/>
                <a:gd name="T5" fmla="*/ 302 h 6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9" h="604">
                  <a:moveTo>
                    <a:pt x="0" y="0"/>
                  </a:moveTo>
                  <a:lnTo>
                    <a:pt x="0" y="604"/>
                  </a:lnTo>
                  <a:lnTo>
                    <a:pt x="349" y="604"/>
                  </a:lnTo>
                </a:path>
              </a:pathLst>
            </a:custGeom>
            <a:solidFill>
              <a:srgbClr val="C0C0C0">
                <a:alpha val="50195"/>
              </a:srgbClr>
            </a:solidFill>
            <a:ln w="25400">
              <a:solidFill>
                <a:srgbClr val="FF9900"/>
              </a:solidFill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LK"/>
            </a:p>
          </p:txBody>
        </p:sp>
      </p:grpSp>
      <p:grpSp>
        <p:nvGrpSpPr>
          <p:cNvPr id="50230" name="Group 1078">
            <a:extLst>
              <a:ext uri="{FF2B5EF4-FFF2-40B4-BE49-F238E27FC236}">
                <a16:creationId xmlns:a16="http://schemas.microsoft.com/office/drawing/2014/main" id="{2FBA782A-04DE-5B22-1B0D-7CDEACC8D0E0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191001"/>
            <a:ext cx="7772400" cy="2308225"/>
            <a:chOff x="432" y="2640"/>
            <a:chExt cx="4800" cy="1454"/>
          </a:xfrm>
        </p:grpSpPr>
        <p:sp>
          <p:nvSpPr>
            <p:cNvPr id="35847" name="Text Box 1059">
              <a:extLst>
                <a:ext uri="{FF2B5EF4-FFF2-40B4-BE49-F238E27FC236}">
                  <a16:creationId xmlns:a16="http://schemas.microsoft.com/office/drawing/2014/main" id="{69C8E010-239B-D4CE-86BC-1A78A179B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640"/>
              <a:ext cx="4800" cy="1454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82575" indent="-282575"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 in income, preferences, or</a:t>
              </a:r>
              <a:b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prices of other goods or services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leads to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Change in demand</a:t>
              </a:r>
              <a:b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(</a:t>
              </a:r>
              <a:r>
                <a:rPr lang="en-US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Shift of curve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</p:txBody>
        </p:sp>
        <p:sp>
          <p:nvSpPr>
            <p:cNvPr id="35848" name="Freeform 1064">
              <a:extLst>
                <a:ext uri="{FF2B5EF4-FFF2-40B4-BE49-F238E27FC236}">
                  <a16:creationId xmlns:a16="http://schemas.microsoft.com/office/drawing/2014/main" id="{2965422B-CB67-B804-1E2D-DA2313CD1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3214"/>
              <a:ext cx="349" cy="508"/>
            </a:xfrm>
            <a:custGeom>
              <a:avLst/>
              <a:gdLst>
                <a:gd name="T0" fmla="*/ 0 w 349"/>
                <a:gd name="T1" fmla="*/ 0 h 604"/>
                <a:gd name="T2" fmla="*/ 0 w 349"/>
                <a:gd name="T3" fmla="*/ 302 h 604"/>
                <a:gd name="T4" fmla="*/ 349 w 349"/>
                <a:gd name="T5" fmla="*/ 302 h 6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9" h="604">
                  <a:moveTo>
                    <a:pt x="0" y="0"/>
                  </a:moveTo>
                  <a:lnTo>
                    <a:pt x="0" y="604"/>
                  </a:lnTo>
                  <a:lnTo>
                    <a:pt x="349" y="604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LK"/>
            </a:p>
          </p:txBody>
        </p:sp>
      </p:grpSp>
      <p:pic>
        <p:nvPicPr>
          <p:cNvPr id="50233" name="Picture 1081">
            <a:extLst>
              <a:ext uri="{FF2B5EF4-FFF2-40B4-BE49-F238E27FC236}">
                <a16:creationId xmlns:a16="http://schemas.microsoft.com/office/drawing/2014/main" id="{59627783-7A98-E262-D129-5089ED2A1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043114"/>
            <a:ext cx="2514600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234" name="Picture 1082">
            <a:extLst>
              <a:ext uri="{FF2B5EF4-FFF2-40B4-BE49-F238E27FC236}">
                <a16:creationId xmlns:a16="http://schemas.microsoft.com/office/drawing/2014/main" id="{ADA383F7-D030-0847-CFD1-1575332C3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4321176"/>
            <a:ext cx="2587625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8427D1C9-EA75-6294-B33D-95B7B0A5A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422" y="228600"/>
            <a:ext cx="8229600" cy="1143000"/>
          </a:xfrm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Impact of a Change in Income</a:t>
            </a:r>
          </a:p>
        </p:txBody>
      </p:sp>
      <p:sp>
        <p:nvSpPr>
          <p:cNvPr id="54292" name="Rectangle 20">
            <a:extLst>
              <a:ext uri="{FF2B5EF4-FFF2-40B4-BE49-F238E27FC236}">
                <a16:creationId xmlns:a16="http://schemas.microsoft.com/office/drawing/2014/main" id="{FDE5A141-7DCD-7274-CF30-53EBC0FB3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605844"/>
            <a:ext cx="3886200" cy="138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282575" indent="-282575"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Higher-income decreases the demand for an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inferior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</a:p>
        </p:txBody>
      </p:sp>
      <p:sp>
        <p:nvSpPr>
          <p:cNvPr id="54293" name="Rectangle 21">
            <a:extLst>
              <a:ext uri="{FF2B5EF4-FFF2-40B4-BE49-F238E27FC236}">
                <a16:creationId xmlns:a16="http://schemas.microsoft.com/office/drawing/2014/main" id="{91878067-5A59-25BC-776B-603B3A562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628422"/>
            <a:ext cx="3581400" cy="138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282575" indent="-282575"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Higher-income increases the demand for a 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</a:t>
            </a:r>
          </a:p>
        </p:txBody>
      </p:sp>
      <p:pic>
        <p:nvPicPr>
          <p:cNvPr id="54305" name="Picture 33">
            <a:extLst>
              <a:ext uri="{FF2B5EF4-FFF2-40B4-BE49-F238E27FC236}">
                <a16:creationId xmlns:a16="http://schemas.microsoft.com/office/drawing/2014/main" id="{121E6E39-0190-C0E9-DE73-DFD7A0D59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959100"/>
            <a:ext cx="418782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306" name="Picture 34">
            <a:extLst>
              <a:ext uri="{FF2B5EF4-FFF2-40B4-BE49-F238E27FC236}">
                <a16:creationId xmlns:a16="http://schemas.microsoft.com/office/drawing/2014/main" id="{9AAE018D-B25C-BDFD-B92B-64F47FEB3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76" y="2971800"/>
            <a:ext cx="418782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2" grpId="0" autoUpdateAnimBg="0"/>
      <p:bldP spid="5429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35BC6DA4-CE3C-2DC4-BE40-CA44B9EE2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4066" y="152400"/>
            <a:ext cx="10227734" cy="1143000"/>
          </a:xfrm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Impact of a Change in the Price of Related Goods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588AAFC-E721-92E1-6C04-6159B11DB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421137"/>
            <a:ext cx="3886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282575" indent="-282575"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price of hamburgers rises</a:t>
            </a:r>
          </a:p>
        </p:txBody>
      </p:sp>
      <p:sp>
        <p:nvSpPr>
          <p:cNvPr id="56359" name="Rectangle 39">
            <a:extLst>
              <a:ext uri="{FF2B5EF4-FFF2-40B4-BE49-F238E27FC236}">
                <a16:creationId xmlns:a16="http://schemas.microsoft.com/office/drawing/2014/main" id="{7E395933-9F88-4B09-9127-CC0E5146D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295400"/>
            <a:ext cx="5334000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282575" indent="-282575"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 complement good (ketchup) shifts left</a:t>
            </a:r>
          </a:p>
        </p:txBody>
      </p:sp>
      <p:sp>
        <p:nvSpPr>
          <p:cNvPr id="56360" name="Rectangle 40">
            <a:extLst>
              <a:ext uri="{FF2B5EF4-FFF2-40B4-BE49-F238E27FC236}">
                <a16:creationId xmlns:a16="http://schemas.microsoft.com/office/drawing/2014/main" id="{8B635F86-51A7-092A-A9A8-8A90D2A9E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038600"/>
            <a:ext cx="5105400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282575" indent="-282575"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 a substitute good (chicken) shifts right</a:t>
            </a:r>
          </a:p>
        </p:txBody>
      </p:sp>
      <p:sp>
        <p:nvSpPr>
          <p:cNvPr id="56358" name="Rectangle 38">
            <a:extLst>
              <a:ext uri="{FF2B5EF4-FFF2-40B4-BE49-F238E27FC236}">
                <a16:creationId xmlns:a16="http://schemas.microsoft.com/office/drawing/2014/main" id="{2C3BACA0-7538-582D-60CE-D9D9889F2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785557"/>
            <a:ext cx="3657600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282575" indent="-282575"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quantity of hamburgers demanded falls</a:t>
            </a:r>
          </a:p>
        </p:txBody>
      </p:sp>
      <p:pic>
        <p:nvPicPr>
          <p:cNvPr id="56380" name="Picture 60">
            <a:extLst>
              <a:ext uri="{FF2B5EF4-FFF2-40B4-BE49-F238E27FC236}">
                <a16:creationId xmlns:a16="http://schemas.microsoft.com/office/drawing/2014/main" id="{58C27043-80CB-F897-E190-3B69C301F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47801"/>
            <a:ext cx="3429000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81" name="Picture 61">
            <a:extLst>
              <a:ext uri="{FF2B5EF4-FFF2-40B4-BE49-F238E27FC236}">
                <a16:creationId xmlns:a16="http://schemas.microsoft.com/office/drawing/2014/main" id="{6990F8CA-090A-F7E5-FFE0-702021F6E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47801"/>
            <a:ext cx="3429000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82" name="Picture 62">
            <a:extLst>
              <a:ext uri="{FF2B5EF4-FFF2-40B4-BE49-F238E27FC236}">
                <a16:creationId xmlns:a16="http://schemas.microsoft.com/office/drawing/2014/main" id="{E3878CA1-15D7-FE4F-B33C-B6A0D20EE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26" y="1920876"/>
            <a:ext cx="260667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83" name="Picture 63">
            <a:extLst>
              <a:ext uri="{FF2B5EF4-FFF2-40B4-BE49-F238E27FC236}">
                <a16:creationId xmlns:a16="http://schemas.microsoft.com/office/drawing/2014/main" id="{C37C74A6-F9C4-2302-546C-13BB577E4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26" y="1920876"/>
            <a:ext cx="260667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84" name="Picture 64">
            <a:extLst>
              <a:ext uri="{FF2B5EF4-FFF2-40B4-BE49-F238E27FC236}">
                <a16:creationId xmlns:a16="http://schemas.microsoft.com/office/drawing/2014/main" id="{322BAC71-95D9-553A-5D58-EC532C6DA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26" y="4343401"/>
            <a:ext cx="260667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85" name="Picture 65">
            <a:extLst>
              <a:ext uri="{FF2B5EF4-FFF2-40B4-BE49-F238E27FC236}">
                <a16:creationId xmlns:a16="http://schemas.microsoft.com/office/drawing/2014/main" id="{1D49D984-E6B9-8C53-845D-9256455A7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26" y="4343401"/>
            <a:ext cx="260667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6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6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56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5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utoUpdateAnimBg="0"/>
      <p:bldP spid="56359" grpId="0" autoUpdateAnimBg="0"/>
      <p:bldP spid="56360" grpId="0" autoUpdateAnimBg="0"/>
      <p:bldP spid="5635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376" name="Rectangle 5837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EE1FC4DF-4469-4E43-C4AB-6DD3B94CC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2075" tIns="46038" rIns="92075" bIns="46038" rtlCol="0">
            <a:normAutofit fontScale="90000"/>
          </a:bodyPr>
          <a:lstStyle/>
          <a:p>
            <a:pPr eaLnBrk="1" hangingPunct="1">
              <a:defRPr/>
            </a:pPr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Household to Market Demand</a:t>
            </a:r>
          </a:p>
        </p:txBody>
      </p:sp>
      <p:sp>
        <p:nvSpPr>
          <p:cNvPr id="5837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01C8001B-0F78-FCAD-2714-362CBBA3B4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defRPr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 a good or service can be defined for an </a:t>
            </a:r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household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for a group of households that make up a </a:t>
            </a:r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demand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sum of all the quantities of a good or service demanded per period by all the households buying in the market for that good or service.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70380DD1-9293-C9BF-1D9F-152D78853D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Household Demand to Market Demand</a:t>
            </a:r>
          </a:p>
        </p:txBody>
      </p:sp>
      <p:sp>
        <p:nvSpPr>
          <p:cNvPr id="155663" name="Rectangle 15">
            <a:extLst>
              <a:ext uri="{FF2B5EF4-FFF2-40B4-BE49-F238E27FC236}">
                <a16:creationId xmlns:a16="http://schemas.microsoft.com/office/drawing/2014/main" id="{335F84B8-FDCB-4567-950F-F666AE3139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24100" y="1828800"/>
            <a:ext cx="81534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Assuming there are only two households in the market, market demand is derived as follows:</a:t>
            </a:r>
          </a:p>
        </p:txBody>
      </p:sp>
      <p:pic>
        <p:nvPicPr>
          <p:cNvPr id="155664" name="Picture 16">
            <a:extLst>
              <a:ext uri="{FF2B5EF4-FFF2-40B4-BE49-F238E27FC236}">
                <a16:creationId xmlns:a16="http://schemas.microsoft.com/office/drawing/2014/main" id="{8495DC8D-95C0-7FA1-998A-BBFF0612C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6" y="2933700"/>
            <a:ext cx="8543925" cy="287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65" name="Picture 17">
            <a:extLst>
              <a:ext uri="{FF2B5EF4-FFF2-40B4-BE49-F238E27FC236}">
                <a16:creationId xmlns:a16="http://schemas.microsoft.com/office/drawing/2014/main" id="{3576E3BE-0059-2580-A9A9-4E21D8245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6" y="2933700"/>
            <a:ext cx="8543925" cy="287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66" name="Picture 18">
            <a:extLst>
              <a:ext uri="{FF2B5EF4-FFF2-40B4-BE49-F238E27FC236}">
                <a16:creationId xmlns:a16="http://schemas.microsoft.com/office/drawing/2014/main" id="{693DD67C-2D74-0ED9-D4DD-861CA9EEB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6" y="2933700"/>
            <a:ext cx="8543925" cy="287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5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5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5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3A025-9502-8342-ECEC-10C20B64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17E31-B761-132F-03A3-2A729720E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what will happen to pizza demand in each scenario using graphs.</a:t>
            </a:r>
          </a:p>
          <a:p>
            <a:pP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households</a:t>
            </a:r>
          </a:p>
          <a:p>
            <a:pP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pizza</a:t>
            </a:r>
          </a:p>
          <a:p>
            <a:pP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the price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cheese</a:t>
            </a:r>
          </a:p>
          <a:p>
            <a:pP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 in price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burgers</a:t>
            </a:r>
          </a:p>
          <a:p>
            <a:pP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Customers’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preference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pizza reduced</a:t>
            </a:r>
          </a:p>
          <a:p>
            <a:pPr>
              <a:defRPr/>
            </a:pP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ackages on conveyor belt">
            <a:extLst>
              <a:ext uri="{FF2B5EF4-FFF2-40B4-BE49-F238E27FC236}">
                <a16:creationId xmlns:a16="http://schemas.microsoft.com/office/drawing/2014/main" id="{812B274B-DBF9-E22F-F386-1D7D2CDB21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E7C1B-3539-0BD6-CA40-763E5225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ABA6D-AE68-A4CD-F669-D72991DF1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Amount of goods or services that sellers are willing and able to sell at the price level.</a:t>
            </a:r>
            <a:endParaRPr lang="en-LK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0215923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4A9BDC76-20E4-BA0D-D277-4A36B83D4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7264" y="161923"/>
            <a:ext cx="10515600" cy="1325563"/>
          </a:xfrm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in Output Markets</a:t>
            </a:r>
          </a:p>
        </p:txBody>
      </p:sp>
      <p:sp>
        <p:nvSpPr>
          <p:cNvPr id="148485" name="Rectangle 5">
            <a:extLst>
              <a:ext uri="{FF2B5EF4-FFF2-40B4-BE49-F238E27FC236}">
                <a16:creationId xmlns:a16="http://schemas.microsoft.com/office/drawing/2014/main" id="{EFD79DD6-406E-3108-C318-4CA8FBAC8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22" y="1531938"/>
            <a:ext cx="8229600" cy="28241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45000"/>
              </a:spcAft>
              <a:buFontTx/>
              <a:buChar char="•"/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A </a:t>
            </a:r>
            <a:r>
              <a:rPr lang="en-US" alt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supply schedule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is a table showing how much of product firms will supply at different prices.</a:t>
            </a:r>
          </a:p>
          <a:p>
            <a:pPr eaLnBrk="1" hangingPunct="1">
              <a:spcBef>
                <a:spcPct val="25000"/>
              </a:spcBef>
              <a:spcAft>
                <a:spcPct val="45000"/>
              </a:spcAft>
              <a:buFontTx/>
              <a:buChar char="•"/>
              <a:defRPr/>
            </a:pPr>
            <a:r>
              <a:rPr lang="en-US" alt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Quantity supplied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represents the number of units of a product that a firm would be willing and able to offer for sale at a particular price during a given time period.</a:t>
            </a:r>
          </a:p>
          <a:p>
            <a:pPr eaLnBrk="1" hangingPunct="1">
              <a:spcBef>
                <a:spcPct val="25000"/>
              </a:spcBef>
              <a:spcAft>
                <a:spcPct val="45000"/>
              </a:spcAft>
              <a:buFontTx/>
              <a:buChar char="•"/>
              <a:defRPr/>
            </a:pP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8674765-C34E-1A60-785C-378B34B8A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026537"/>
              </p:ext>
            </p:extLst>
          </p:nvPr>
        </p:nvGraphicFramePr>
        <p:xfrm>
          <a:off x="2819400" y="4143023"/>
          <a:ext cx="6096000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per Unit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 Supplied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12,000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7,000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4,000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5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E063B67A-D6DE-9FE6-C777-A0511DC3C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5589" y="81341"/>
            <a:ext cx="11837279" cy="1325563"/>
          </a:xfrm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Supply Curve and the Supply Schedule</a:t>
            </a:r>
          </a:p>
        </p:txBody>
      </p:sp>
      <p:sp>
        <p:nvSpPr>
          <p:cNvPr id="74761" name="Rectangle 9">
            <a:extLst>
              <a:ext uri="{FF2B5EF4-FFF2-40B4-BE49-F238E27FC236}">
                <a16:creationId xmlns:a16="http://schemas.microsoft.com/office/drawing/2014/main" id="{4403042C-156A-1F8C-3C24-683AD10C1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752601"/>
            <a:ext cx="5283200" cy="23083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  <a:defRPr/>
            </a:pPr>
            <a:r>
              <a:rPr lang="en-US" altLang="en-US" sz="36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A </a:t>
            </a:r>
            <a:r>
              <a:rPr lang="en-US" altLang="en-US" sz="36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supply curve</a:t>
            </a:r>
            <a:r>
              <a:rPr lang="en-US" alt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is a graph illustrating how much of a product a firm will supply at different prices.</a:t>
            </a:r>
          </a:p>
        </p:txBody>
      </p:sp>
      <p:sp>
        <p:nvSpPr>
          <p:cNvPr id="49155" name="Rectangle 23">
            <a:extLst>
              <a:ext uri="{FF2B5EF4-FFF2-40B4-BE49-F238E27FC236}">
                <a16:creationId xmlns:a16="http://schemas.microsoft.com/office/drawing/2014/main" id="{11F14A99-55EE-160D-0768-C492E9D9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476" y="1384301"/>
            <a:ext cx="421591" cy="52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 i="1"/>
              <a:t>P</a:t>
            </a:r>
          </a:p>
        </p:txBody>
      </p:sp>
      <p:sp>
        <p:nvSpPr>
          <p:cNvPr id="49156" name="Rectangle 24">
            <a:extLst>
              <a:ext uri="{FF2B5EF4-FFF2-40B4-BE49-F238E27FC236}">
                <a16:creationId xmlns:a16="http://schemas.microsoft.com/office/drawing/2014/main" id="{6711DE03-1BA7-5DC5-496D-EDA7BB742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550" y="5626101"/>
            <a:ext cx="461666" cy="52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 i="1"/>
              <a:t>Q</a:t>
            </a:r>
          </a:p>
        </p:txBody>
      </p:sp>
      <p:sp>
        <p:nvSpPr>
          <p:cNvPr id="49157" name="Rectangle 25">
            <a:extLst>
              <a:ext uri="{FF2B5EF4-FFF2-40B4-BE49-F238E27FC236}">
                <a16:creationId xmlns:a16="http://schemas.microsoft.com/office/drawing/2014/main" id="{A1F77D4E-C73E-BAB6-5D3E-897837D9C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4" y="5786439"/>
            <a:ext cx="383119" cy="52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/>
              <a:t>0</a:t>
            </a:r>
          </a:p>
        </p:txBody>
      </p:sp>
      <p:sp>
        <p:nvSpPr>
          <p:cNvPr id="49158" name="Rectangle 27">
            <a:extLst>
              <a:ext uri="{FF2B5EF4-FFF2-40B4-BE49-F238E27FC236}">
                <a16:creationId xmlns:a16="http://schemas.microsoft.com/office/drawing/2014/main" id="{4B749149-5D41-2F44-7692-7EA96AC00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4488" y="5961064"/>
            <a:ext cx="452120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 2       4      6      8    10    12    14    16</a:t>
            </a:r>
          </a:p>
        </p:txBody>
      </p:sp>
      <p:sp>
        <p:nvSpPr>
          <p:cNvPr id="49159" name="Rectangle 34">
            <a:extLst>
              <a:ext uri="{FF2B5EF4-FFF2-40B4-BE49-F238E27FC236}">
                <a16:creationId xmlns:a16="http://schemas.microsoft.com/office/drawing/2014/main" id="{F84A97F4-37E1-D6D6-1075-9077953C4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1" y="6234087"/>
            <a:ext cx="3363101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Quantity supplied (000/week)</a:t>
            </a:r>
          </a:p>
        </p:txBody>
      </p:sp>
      <p:grpSp>
        <p:nvGrpSpPr>
          <p:cNvPr id="11" name="Group 41">
            <a:extLst>
              <a:ext uri="{FF2B5EF4-FFF2-40B4-BE49-F238E27FC236}">
                <a16:creationId xmlns:a16="http://schemas.microsoft.com/office/drawing/2014/main" id="{E28F6AC1-742C-8442-71EF-B7E9E3E2FEBB}"/>
              </a:ext>
            </a:extLst>
          </p:cNvPr>
          <p:cNvGrpSpPr>
            <a:grpSpLocks/>
          </p:cNvGrpSpPr>
          <p:nvPr/>
        </p:nvGrpSpPr>
        <p:grpSpPr bwMode="auto">
          <a:xfrm>
            <a:off x="5197475" y="1474789"/>
            <a:ext cx="520700" cy="498475"/>
            <a:chOff x="3062" y="553"/>
            <a:chExt cx="328" cy="314"/>
          </a:xfrm>
        </p:grpSpPr>
        <p:sp>
          <p:nvSpPr>
            <p:cNvPr id="49182" name="Oval 32">
              <a:extLst>
                <a:ext uri="{FF2B5EF4-FFF2-40B4-BE49-F238E27FC236}">
                  <a16:creationId xmlns:a16="http://schemas.microsoft.com/office/drawing/2014/main" id="{FBD3A275-4F3E-4513-F27F-60FD1193E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" y="724"/>
              <a:ext cx="123" cy="14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AU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49183" name="Text Box 35">
              <a:extLst>
                <a:ext uri="{FF2B5EF4-FFF2-40B4-BE49-F238E27FC236}">
                  <a16:creationId xmlns:a16="http://schemas.microsoft.com/office/drawing/2014/main" id="{6C2D3044-52F8-09A8-0557-FAFE09684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2" y="553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AU" altLang="en-US" sz="2400" i="1"/>
                <a:t>a</a:t>
              </a:r>
            </a:p>
          </p:txBody>
        </p:sp>
      </p:grpSp>
      <p:grpSp>
        <p:nvGrpSpPr>
          <p:cNvPr id="14" name="Group 42">
            <a:extLst>
              <a:ext uri="{FF2B5EF4-FFF2-40B4-BE49-F238E27FC236}">
                <a16:creationId xmlns:a16="http://schemas.microsoft.com/office/drawing/2014/main" id="{B4896CB6-E982-C8E9-857E-51CACD4779C0}"/>
              </a:ext>
            </a:extLst>
          </p:cNvPr>
          <p:cNvGrpSpPr>
            <a:grpSpLocks/>
          </p:cNvGrpSpPr>
          <p:nvPr/>
        </p:nvGrpSpPr>
        <p:grpSpPr bwMode="auto">
          <a:xfrm>
            <a:off x="4740275" y="2236788"/>
            <a:ext cx="458788" cy="527050"/>
            <a:chOff x="2774" y="1033"/>
            <a:chExt cx="289" cy="332"/>
          </a:xfrm>
        </p:grpSpPr>
        <p:sp>
          <p:nvSpPr>
            <p:cNvPr id="49180" name="Oval 31">
              <a:extLst>
                <a:ext uri="{FF2B5EF4-FFF2-40B4-BE49-F238E27FC236}">
                  <a16:creationId xmlns:a16="http://schemas.microsoft.com/office/drawing/2014/main" id="{B8B703AD-3F2E-87A6-C827-3B0E63602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0" y="1222"/>
              <a:ext cx="123" cy="14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AU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49181" name="Text Box 36">
              <a:extLst>
                <a:ext uri="{FF2B5EF4-FFF2-40B4-BE49-F238E27FC236}">
                  <a16:creationId xmlns:a16="http://schemas.microsoft.com/office/drawing/2014/main" id="{90F38B37-2ECA-A35D-9162-83FFD1C39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" y="1033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AU" altLang="en-US" sz="2400" i="1"/>
                <a:t>b</a:t>
              </a:r>
            </a:p>
          </p:txBody>
        </p:sp>
      </p:grpSp>
      <p:grpSp>
        <p:nvGrpSpPr>
          <p:cNvPr id="17" name="Group 43">
            <a:extLst>
              <a:ext uri="{FF2B5EF4-FFF2-40B4-BE49-F238E27FC236}">
                <a16:creationId xmlns:a16="http://schemas.microsoft.com/office/drawing/2014/main" id="{C279D083-D82E-DCFE-4648-4E1BF118E998}"/>
              </a:ext>
            </a:extLst>
          </p:cNvPr>
          <p:cNvGrpSpPr>
            <a:grpSpLocks/>
          </p:cNvGrpSpPr>
          <p:nvPr/>
        </p:nvGrpSpPr>
        <p:grpSpPr bwMode="auto">
          <a:xfrm>
            <a:off x="4054475" y="2998789"/>
            <a:ext cx="463550" cy="655637"/>
            <a:chOff x="2342" y="1513"/>
            <a:chExt cx="292" cy="413"/>
          </a:xfrm>
        </p:grpSpPr>
        <p:sp>
          <p:nvSpPr>
            <p:cNvPr id="49178" name="Oval 28">
              <a:extLst>
                <a:ext uri="{FF2B5EF4-FFF2-40B4-BE49-F238E27FC236}">
                  <a16:creationId xmlns:a16="http://schemas.microsoft.com/office/drawing/2014/main" id="{9C52E3C9-619C-EC0C-C6FB-90604339D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1" y="1783"/>
              <a:ext cx="123" cy="14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AU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49179" name="Text Box 37">
              <a:extLst>
                <a:ext uri="{FF2B5EF4-FFF2-40B4-BE49-F238E27FC236}">
                  <a16:creationId xmlns:a16="http://schemas.microsoft.com/office/drawing/2014/main" id="{0B3D1779-2102-5C36-B370-27316C800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2" y="151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AU" altLang="en-US" sz="2400" i="1"/>
                <a:t>c</a:t>
              </a:r>
            </a:p>
          </p:txBody>
        </p:sp>
      </p:grpSp>
      <p:grpSp>
        <p:nvGrpSpPr>
          <p:cNvPr id="20" name="Group 44">
            <a:extLst>
              <a:ext uri="{FF2B5EF4-FFF2-40B4-BE49-F238E27FC236}">
                <a16:creationId xmlns:a16="http://schemas.microsoft.com/office/drawing/2014/main" id="{440E113D-4D32-47B2-8AC2-8415493225E4}"/>
              </a:ext>
            </a:extLst>
          </p:cNvPr>
          <p:cNvGrpSpPr>
            <a:grpSpLocks/>
          </p:cNvGrpSpPr>
          <p:nvPr/>
        </p:nvGrpSpPr>
        <p:grpSpPr bwMode="auto">
          <a:xfrm>
            <a:off x="3368676" y="3836989"/>
            <a:ext cx="398463" cy="655637"/>
            <a:chOff x="1910" y="2041"/>
            <a:chExt cx="251" cy="413"/>
          </a:xfrm>
        </p:grpSpPr>
        <p:sp>
          <p:nvSpPr>
            <p:cNvPr id="49176" name="Oval 30">
              <a:extLst>
                <a:ext uri="{FF2B5EF4-FFF2-40B4-BE49-F238E27FC236}">
                  <a16:creationId xmlns:a16="http://schemas.microsoft.com/office/drawing/2014/main" id="{450519CB-8A2D-7114-B604-43C8943FE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2311"/>
              <a:ext cx="123" cy="14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AU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49177" name="Text Box 38">
              <a:extLst>
                <a:ext uri="{FF2B5EF4-FFF2-40B4-BE49-F238E27FC236}">
                  <a16:creationId xmlns:a16="http://schemas.microsoft.com/office/drawing/2014/main" id="{BC7A1BFC-38E7-5E84-5BF3-AB86D62C6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" y="2041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AU" altLang="en-US" sz="2400" i="1"/>
                <a:t>d</a:t>
              </a:r>
            </a:p>
          </p:txBody>
        </p:sp>
      </p:grpSp>
      <p:grpSp>
        <p:nvGrpSpPr>
          <p:cNvPr id="23" name="Group 45">
            <a:extLst>
              <a:ext uri="{FF2B5EF4-FFF2-40B4-BE49-F238E27FC236}">
                <a16:creationId xmlns:a16="http://schemas.microsoft.com/office/drawing/2014/main" id="{CCAB2D8C-B298-208A-D99B-2F39C778478D}"/>
              </a:ext>
            </a:extLst>
          </p:cNvPr>
          <p:cNvGrpSpPr>
            <a:grpSpLocks/>
          </p:cNvGrpSpPr>
          <p:nvPr/>
        </p:nvGrpSpPr>
        <p:grpSpPr bwMode="auto">
          <a:xfrm>
            <a:off x="2759076" y="4598988"/>
            <a:ext cx="354013" cy="684212"/>
            <a:chOff x="1526" y="2521"/>
            <a:chExt cx="223" cy="431"/>
          </a:xfrm>
        </p:grpSpPr>
        <p:sp>
          <p:nvSpPr>
            <p:cNvPr id="49174" name="Oval 29">
              <a:extLst>
                <a:ext uri="{FF2B5EF4-FFF2-40B4-BE49-F238E27FC236}">
                  <a16:creationId xmlns:a16="http://schemas.microsoft.com/office/drawing/2014/main" id="{B14EBA21-9C19-EBE3-ACD1-AFE14D14E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2809"/>
              <a:ext cx="123" cy="14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AU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49175" name="Text Box 39">
              <a:extLst>
                <a:ext uri="{FF2B5EF4-FFF2-40B4-BE49-F238E27FC236}">
                  <a16:creationId xmlns:a16="http://schemas.microsoft.com/office/drawing/2014/main" id="{B2795558-14D4-C5F8-D5EB-737ABA2FB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2521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AU" altLang="en-US" sz="2400" i="1"/>
                <a:t>e</a:t>
              </a:r>
            </a:p>
          </p:txBody>
        </p:sp>
      </p:grpSp>
      <p:grpSp>
        <p:nvGrpSpPr>
          <p:cNvPr id="26" name="Group 46">
            <a:extLst>
              <a:ext uri="{FF2B5EF4-FFF2-40B4-BE49-F238E27FC236}">
                <a16:creationId xmlns:a16="http://schemas.microsoft.com/office/drawing/2014/main" id="{7764AEE7-38B3-3BD4-51A9-5DE721BE8897}"/>
              </a:ext>
            </a:extLst>
          </p:cNvPr>
          <p:cNvGrpSpPr>
            <a:grpSpLocks/>
          </p:cNvGrpSpPr>
          <p:nvPr/>
        </p:nvGrpSpPr>
        <p:grpSpPr bwMode="auto">
          <a:xfrm>
            <a:off x="2901951" y="1454150"/>
            <a:ext cx="3648075" cy="4230688"/>
            <a:chOff x="1616" y="540"/>
            <a:chExt cx="2298" cy="2665"/>
          </a:xfrm>
        </p:grpSpPr>
        <p:sp>
          <p:nvSpPr>
            <p:cNvPr id="49171" name="Freeform 18">
              <a:extLst>
                <a:ext uri="{FF2B5EF4-FFF2-40B4-BE49-F238E27FC236}">
                  <a16:creationId xmlns:a16="http://schemas.microsoft.com/office/drawing/2014/main" id="{10FA3E75-AE68-07E2-8696-B878B4DAF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540"/>
              <a:ext cx="1888" cy="2327"/>
            </a:xfrm>
            <a:custGeom>
              <a:avLst/>
              <a:gdLst>
                <a:gd name="T0" fmla="*/ 0 w 3453"/>
                <a:gd name="T1" fmla="*/ 2 h 4205"/>
                <a:gd name="T2" fmla="*/ 1 w 3453"/>
                <a:gd name="T3" fmla="*/ 2 h 4205"/>
                <a:gd name="T4" fmla="*/ 1 w 3453"/>
                <a:gd name="T5" fmla="*/ 2 h 4205"/>
                <a:gd name="T6" fmla="*/ 1 w 3453"/>
                <a:gd name="T7" fmla="*/ 1 h 4205"/>
                <a:gd name="T8" fmla="*/ 1 w 3453"/>
                <a:gd name="T9" fmla="*/ 1 h 4205"/>
                <a:gd name="T10" fmla="*/ 1 w 3453"/>
                <a:gd name="T11" fmla="*/ 1 h 4205"/>
                <a:gd name="T12" fmla="*/ 1 w 3453"/>
                <a:gd name="T13" fmla="*/ 1 h 4205"/>
                <a:gd name="T14" fmla="*/ 1 w 3453"/>
                <a:gd name="T15" fmla="*/ 1 h 4205"/>
                <a:gd name="T16" fmla="*/ 1 w 3453"/>
                <a:gd name="T17" fmla="*/ 0 h 42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453"/>
                <a:gd name="T28" fmla="*/ 0 h 4205"/>
                <a:gd name="T29" fmla="*/ 3453 w 3453"/>
                <a:gd name="T30" fmla="*/ 4205 h 420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453" h="4205">
                  <a:moveTo>
                    <a:pt x="0" y="4205"/>
                  </a:moveTo>
                  <a:lnTo>
                    <a:pt x="498" y="3738"/>
                  </a:lnTo>
                  <a:lnTo>
                    <a:pt x="977" y="3253"/>
                  </a:lnTo>
                  <a:lnTo>
                    <a:pt x="1438" y="2751"/>
                  </a:lnTo>
                  <a:lnTo>
                    <a:pt x="1881" y="2232"/>
                  </a:lnTo>
                  <a:lnTo>
                    <a:pt x="2303" y="1697"/>
                  </a:lnTo>
                  <a:lnTo>
                    <a:pt x="2707" y="1148"/>
                  </a:lnTo>
                  <a:lnTo>
                    <a:pt x="3089" y="583"/>
                  </a:lnTo>
                  <a:lnTo>
                    <a:pt x="3453" y="0"/>
                  </a:ln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LK"/>
            </a:p>
          </p:txBody>
        </p:sp>
        <p:sp>
          <p:nvSpPr>
            <p:cNvPr id="49172" name="Rectangle 19">
              <a:extLst>
                <a:ext uri="{FF2B5EF4-FFF2-40B4-BE49-F238E27FC236}">
                  <a16:creationId xmlns:a16="http://schemas.microsoft.com/office/drawing/2014/main" id="{BC45DCB9-E4B5-28D7-0A62-D891BD4FC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" y="735"/>
              <a:ext cx="34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b="1" i="1"/>
                <a:t>S</a:t>
              </a:r>
              <a:r>
                <a:rPr lang="en-US" altLang="en-US" b="1" baseline="-25000"/>
                <a:t>1</a:t>
              </a:r>
              <a:endParaRPr lang="en-US" altLang="en-US" b="1"/>
            </a:p>
          </p:txBody>
        </p:sp>
        <p:sp>
          <p:nvSpPr>
            <p:cNvPr id="49173" name="Rectangle 40">
              <a:extLst>
                <a:ext uri="{FF2B5EF4-FFF2-40B4-BE49-F238E27FC236}">
                  <a16:creationId xmlns:a16="http://schemas.microsoft.com/office/drawing/2014/main" id="{2046F82F-B69A-8B47-EB97-D1EE7CA39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880"/>
              <a:ext cx="34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b="1" i="1"/>
                <a:t>S</a:t>
              </a:r>
              <a:r>
                <a:rPr lang="en-US" altLang="en-US" b="1" baseline="-25000"/>
                <a:t>1</a:t>
              </a:r>
              <a:endParaRPr lang="en-US" altLang="en-US" b="1"/>
            </a:p>
          </p:txBody>
        </p:sp>
      </p:grpSp>
      <p:grpSp>
        <p:nvGrpSpPr>
          <p:cNvPr id="49166" name="Group 20">
            <a:extLst>
              <a:ext uri="{FF2B5EF4-FFF2-40B4-BE49-F238E27FC236}">
                <a16:creationId xmlns:a16="http://schemas.microsoft.com/office/drawing/2014/main" id="{1CAA7539-344E-CBAD-A963-8D7C5AE29949}"/>
              </a:ext>
            </a:extLst>
          </p:cNvPr>
          <p:cNvGrpSpPr>
            <a:grpSpLocks/>
          </p:cNvGrpSpPr>
          <p:nvPr/>
        </p:nvGrpSpPr>
        <p:grpSpPr bwMode="auto">
          <a:xfrm>
            <a:off x="2728914" y="1673226"/>
            <a:ext cx="4694237" cy="4271963"/>
            <a:chOff x="1489" y="965"/>
            <a:chExt cx="2957" cy="2691"/>
          </a:xfrm>
        </p:grpSpPr>
        <p:sp>
          <p:nvSpPr>
            <p:cNvPr id="49169" name="Line 21">
              <a:extLst>
                <a:ext uri="{FF2B5EF4-FFF2-40B4-BE49-F238E27FC236}">
                  <a16:creationId xmlns:a16="http://schemas.microsoft.com/office/drawing/2014/main" id="{0F285FD3-968C-FEE3-72FF-5D3E4A7D3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9" y="965"/>
              <a:ext cx="0" cy="2691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LK"/>
            </a:p>
          </p:txBody>
        </p:sp>
        <p:sp>
          <p:nvSpPr>
            <p:cNvPr id="49170" name="Line 22">
              <a:extLst>
                <a:ext uri="{FF2B5EF4-FFF2-40B4-BE49-F238E27FC236}">
                  <a16:creationId xmlns:a16="http://schemas.microsoft.com/office/drawing/2014/main" id="{B06EA8DF-642C-B19B-C3C1-67208634B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" y="3655"/>
              <a:ext cx="295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LK"/>
            </a:p>
          </p:txBody>
        </p:sp>
      </p:grpSp>
      <p:sp>
        <p:nvSpPr>
          <p:cNvPr id="49167" name="Rectangle 26">
            <a:extLst>
              <a:ext uri="{FF2B5EF4-FFF2-40B4-BE49-F238E27FC236}">
                <a16:creationId xmlns:a16="http://schemas.microsoft.com/office/drawing/2014/main" id="{5013CBBD-8F5B-6AF6-EE71-DE3CAEA87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6427" y="1692275"/>
            <a:ext cx="311048" cy="3690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5</a:t>
            </a:r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4</a:t>
            </a:r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3</a:t>
            </a:r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2</a:t>
            </a:r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1"/>
          </a:p>
          <a:p>
            <a:pPr algn="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1</a:t>
            </a:r>
          </a:p>
        </p:txBody>
      </p:sp>
      <p:sp>
        <p:nvSpPr>
          <p:cNvPr id="49168" name="Rectangle 33">
            <a:extLst>
              <a:ext uri="{FF2B5EF4-FFF2-40B4-BE49-F238E27FC236}">
                <a16:creationId xmlns:a16="http://schemas.microsoft.com/office/drawing/2014/main" id="{4B4722E6-53BC-473F-F42F-16D16EA7A2B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88042" y="3702819"/>
            <a:ext cx="2003755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altLang="en-US" sz="1800" b="1"/>
              <a:t>Price ($ per unit)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62D20811-D106-D84F-451E-7033EBD02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Law of Supply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BB0C9F3-E867-45F6-5E70-5DC73AF349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91112" y="1752600"/>
            <a:ext cx="5475110" cy="2785533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 of supply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 that there is a positive relationship between the price and quantity of a good supplied.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supply curves typically have a positive slope.</a:t>
            </a:r>
          </a:p>
        </p:txBody>
      </p:sp>
      <p:graphicFrame>
        <p:nvGraphicFramePr>
          <p:cNvPr id="70664" name="Object 8">
            <a:extLst>
              <a:ext uri="{FF2B5EF4-FFF2-40B4-BE49-F238E27FC236}">
                <a16:creationId xmlns:a16="http://schemas.microsoft.com/office/drawing/2014/main" id="{5B0508A5-A95C-9DF8-94B9-F0D6D85849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1752600"/>
          <a:ext cx="4419600" cy="358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495800" imgH="3657600" progId="Excel.Chart.8">
                  <p:embed/>
                </p:oleObj>
              </mc:Choice>
              <mc:Fallback>
                <p:oleObj name="Chart" r:id="rId3" imgW="4495800" imgH="3657600" progId="Excel.Chart.8">
                  <p:embed/>
                  <p:pic>
                    <p:nvPicPr>
                      <p:cNvPr id="70664" name="Object 8">
                        <a:extLst>
                          <a:ext uri="{FF2B5EF4-FFF2-40B4-BE49-F238E27FC236}">
                            <a16:creationId xmlns:a16="http://schemas.microsoft.com/office/drawing/2014/main" id="{5B0508A5-A95C-9DF8-94B9-F0D6D85849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52600"/>
                        <a:ext cx="4419600" cy="358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665" name="Picture 9">
            <a:extLst>
              <a:ext uri="{FF2B5EF4-FFF2-40B4-BE49-F238E27FC236}">
                <a16:creationId xmlns:a16="http://schemas.microsoft.com/office/drawing/2014/main" id="{EF6F7865-CD41-CF97-15F3-F401448BD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1" y="1752600"/>
            <a:ext cx="2049463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own Arrow 1">
            <a:extLst>
              <a:ext uri="{FF2B5EF4-FFF2-40B4-BE49-F238E27FC236}">
                <a16:creationId xmlns:a16="http://schemas.microsoft.com/office/drawing/2014/main" id="{3790F0A8-A681-A2E3-BC29-B630A1991090}"/>
              </a:ext>
            </a:extLst>
          </p:cNvPr>
          <p:cNvSpPr/>
          <p:nvPr/>
        </p:nvSpPr>
        <p:spPr>
          <a:xfrm>
            <a:off x="3465689" y="2460978"/>
            <a:ext cx="101600" cy="327378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22E1314F-74D1-2100-DAD3-2BDEB1F66A2B}"/>
              </a:ext>
            </a:extLst>
          </p:cNvPr>
          <p:cNvSpPr/>
          <p:nvPr/>
        </p:nvSpPr>
        <p:spPr>
          <a:xfrm>
            <a:off x="4701824" y="2477910"/>
            <a:ext cx="101600" cy="327378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0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bldLvl="2" autoUpdateAnimBg="0"/>
      <p:bldOleChart spid="7066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DBCD-9126-29BF-2C9E-E84291B0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Equation</a:t>
            </a:r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FEF65780-E71D-5AB8-5D54-590F197261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529" r="4537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012EC-54B9-9617-30FC-20E2B3FA0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 </a:t>
            </a:r>
            <a:endParaRPr lang="en-LK" sz="5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B6337-CCEA-FA41-B0CE-54A54C8622C9}"/>
              </a:ext>
            </a:extLst>
          </p:cNvPr>
          <p:cNvSpPr txBox="1"/>
          <p:nvPr/>
        </p:nvSpPr>
        <p:spPr>
          <a:xfrm>
            <a:off x="4978403" y="270528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rPr>
              <a:t>Q s = a + b P</a:t>
            </a:r>
          </a:p>
        </p:txBody>
      </p:sp>
    </p:spTree>
    <p:extLst>
      <p:ext uri="{BB962C8B-B14F-4D97-AF65-F5344CB8AC3E}">
        <p14:creationId xmlns:p14="http://schemas.microsoft.com/office/powerpoint/2010/main" val="7907685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20F11-EFDD-7CB1-A733-73717F280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upply function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D6682-90FF-827F-C82F-534184B43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LK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supply</a:t>
            </a:r>
            <a:r>
              <a:rPr lang="en-LK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is a causal relationship between a dependent variable (i.e., quantity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supplied</a:t>
            </a:r>
            <a:r>
              <a:rPr lang="en-LK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and various independent variables (i.e., factors that are believed to influence quantity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supplied</a:t>
            </a:r>
            <a:r>
              <a:rPr lang="en-LK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LK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LK" sz="19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             </a:t>
            </a:r>
            <a:r>
              <a:rPr lang="en-LK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Qd x = 𝑓 (Px, </a:t>
            </a:r>
            <a:r>
              <a:rPr lang="en-US" sz="26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Pf</a:t>
            </a:r>
            <a:r>
              <a:rPr lang="en-LK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 1 …. P n − 1, T, </a:t>
            </a:r>
            <a:r>
              <a:rPr lang="en-US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LK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LK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en-LK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 </a:t>
            </a:r>
            <a:endParaRPr lang="en-LK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 panose="020B0604020202020204" pitchFamily="34" charset="-128"/>
            </a:endParaRPr>
          </a:p>
          <a:p>
            <a:pPr lvl="1"/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Price of the commodity (P x) </a:t>
            </a:r>
          </a:p>
          <a:p>
            <a:pPr lvl="1"/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Price of factors of production or inputs</a:t>
            </a:r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Pf</a:t>
            </a:r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lvl="1"/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Price of Related Goods (P 1 ….  P n-1) </a:t>
            </a:r>
          </a:p>
          <a:p>
            <a:pPr lvl="1"/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echnology</a:t>
            </a:r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(T) </a:t>
            </a:r>
          </a:p>
          <a:p>
            <a:pPr lvl="1"/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Expectations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the supplier</a:t>
            </a:r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lvl="1"/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Government Policies</a:t>
            </a:r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LK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 Unicode MS" panose="020B0604020202020204" pitchFamily="34" charset="-128"/>
              </a:rPr>
              <a:t> </a:t>
            </a:r>
            <a:endParaRPr lang="en-LK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 Unicode MS" panose="020B0604020202020204" pitchFamily="34" charset="-128"/>
            </a:endParaRPr>
          </a:p>
          <a:p>
            <a:endParaRPr lang="en-LK" sz="1900" dirty="0"/>
          </a:p>
        </p:txBody>
      </p:sp>
    </p:spTree>
    <p:extLst>
      <p:ext uri="{BB962C8B-B14F-4D97-AF65-F5344CB8AC3E}">
        <p14:creationId xmlns:p14="http://schemas.microsoft.com/office/powerpoint/2010/main" val="9119520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26">
            <a:extLst>
              <a:ext uri="{FF2B5EF4-FFF2-40B4-BE49-F238E27FC236}">
                <a16:creationId xmlns:a16="http://schemas.microsoft.com/office/drawing/2014/main" id="{CAF8DCF1-1A1A-8327-E31E-2D0D434B2A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8621" y="304800"/>
            <a:ext cx="10555111" cy="990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Change in Supply Versus a Change in Quantity Supplied</a:t>
            </a:r>
          </a:p>
        </p:txBody>
      </p:sp>
      <p:sp>
        <p:nvSpPr>
          <p:cNvPr id="150531" name="Text Box 1027">
            <a:extLst>
              <a:ext uri="{FF2B5EF4-FFF2-40B4-BE49-F238E27FC236}">
                <a16:creationId xmlns:a16="http://schemas.microsoft.com/office/drawing/2014/main" id="{947F79E7-2989-8E0A-6B2B-327F8CC4E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6536" y="1752600"/>
            <a:ext cx="4120444" cy="138499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59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A change in </a:t>
            </a:r>
            <a:r>
              <a:rPr lang="en-US" altLang="en-US" sz="2800" b="1" i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supply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is not the same as a change in </a:t>
            </a:r>
            <a:r>
              <a:rPr lang="en-US" altLang="en-US" sz="2800" b="1" i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quantity supplied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0532" name="Text Box 1028">
            <a:extLst>
              <a:ext uri="{FF2B5EF4-FFF2-40B4-BE49-F238E27FC236}">
                <a16:creationId xmlns:a16="http://schemas.microsoft.com/office/drawing/2014/main" id="{BDBF4427-8073-9E18-3896-205FBC4D3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958" y="3276600"/>
            <a:ext cx="5305778" cy="181588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In this example, a higher price causes </a:t>
            </a:r>
            <a:r>
              <a:rPr lang="en-US" altLang="en-US" sz="2800" b="1" i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higher quantity supplied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 and a </a:t>
            </a:r>
            <a:r>
              <a:rPr lang="en-US" altLang="en-US" sz="2800" b="1" i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move along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the demand curve.</a:t>
            </a:r>
          </a:p>
        </p:txBody>
      </p:sp>
      <p:sp>
        <p:nvSpPr>
          <p:cNvPr id="150533" name="Text Box 1029">
            <a:extLst>
              <a:ext uri="{FF2B5EF4-FFF2-40B4-BE49-F238E27FC236}">
                <a16:creationId xmlns:a16="http://schemas.microsoft.com/office/drawing/2014/main" id="{28F1AC75-C5E5-16FC-19C1-72D5D0B1D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952" y="5472292"/>
            <a:ext cx="9708448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In this example, changes in determinants of supply, other than price, cause an </a:t>
            </a:r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increase in supply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 or a </a:t>
            </a:r>
            <a:r>
              <a:rPr lang="en-US" alt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shift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of the entire supply curve, from </a:t>
            </a:r>
            <a:r>
              <a:rPr lang="en-US" altLang="en-US" i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S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A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to </a:t>
            </a:r>
            <a:r>
              <a:rPr lang="en-US" altLang="en-US" i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S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B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50547" name="Picture 1043">
            <a:extLst>
              <a:ext uri="{FF2B5EF4-FFF2-40B4-BE49-F238E27FC236}">
                <a16:creationId xmlns:a16="http://schemas.microsoft.com/office/drawing/2014/main" id="{14F606EF-B0CD-973D-CB44-2EDF9AB65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6" y="1524001"/>
            <a:ext cx="48355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548" name="Picture 1044">
            <a:extLst>
              <a:ext uri="{FF2B5EF4-FFF2-40B4-BE49-F238E27FC236}">
                <a16:creationId xmlns:a16="http://schemas.microsoft.com/office/drawing/2014/main" id="{6864498C-7714-C349-E4D4-740BC9DC0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6" y="1524001"/>
            <a:ext cx="48355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549" name="Picture 1045">
            <a:extLst>
              <a:ext uri="{FF2B5EF4-FFF2-40B4-BE49-F238E27FC236}">
                <a16:creationId xmlns:a16="http://schemas.microsoft.com/office/drawing/2014/main" id="{1B4FA0CA-5ECD-C530-5C68-57517F3C3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6" y="1524001"/>
            <a:ext cx="48355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0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5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autoUpdateAnimBg="0"/>
      <p:bldP spid="150532" grpId="0" autoUpdateAnimBg="0"/>
      <p:bldP spid="15053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 Box 2">
            <a:extLst>
              <a:ext uri="{FF2B5EF4-FFF2-40B4-BE49-F238E27FC236}">
                <a16:creationId xmlns:a16="http://schemas.microsoft.com/office/drawing/2014/main" id="{C018C78C-4B04-08E7-33AE-95CAAC817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7267" y="1752600"/>
            <a:ext cx="498122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2575" indent="-282575"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shifts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right, supply increases. This causes the 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supplied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greater than it was prior to the shift, 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and every price level.</a:t>
            </a: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2A9C549A-39B8-E535-B343-F4FCE38D6C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243" y="304800"/>
            <a:ext cx="10476089" cy="990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Change in Supply Versus a Change in Quantity Supplied</a:t>
            </a:r>
          </a:p>
        </p:txBody>
      </p:sp>
      <p:pic>
        <p:nvPicPr>
          <p:cNvPr id="56323" name="Picture 13">
            <a:extLst>
              <a:ext uri="{FF2B5EF4-FFF2-40B4-BE49-F238E27FC236}">
                <a16:creationId xmlns:a16="http://schemas.microsoft.com/office/drawing/2014/main" id="{DF5AE680-10FE-B2BA-B9AB-D4343BC25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6" y="1524001"/>
            <a:ext cx="48355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566" name="Picture 14">
            <a:extLst>
              <a:ext uri="{FF2B5EF4-FFF2-40B4-BE49-F238E27FC236}">
                <a16:creationId xmlns:a16="http://schemas.microsoft.com/office/drawing/2014/main" id="{93F687D5-B3F8-F2CE-B9C1-1F7540347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6" y="1524001"/>
            <a:ext cx="48355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567" name="Picture 15">
            <a:extLst>
              <a:ext uri="{FF2B5EF4-FFF2-40B4-BE49-F238E27FC236}">
                <a16:creationId xmlns:a16="http://schemas.microsoft.com/office/drawing/2014/main" id="{CD22215E-58DF-6929-3A60-82D3FC547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6" y="1524001"/>
            <a:ext cx="4835525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3074">
            <a:extLst>
              <a:ext uri="{FF2B5EF4-FFF2-40B4-BE49-F238E27FC236}">
                <a16:creationId xmlns:a16="http://schemas.microsoft.com/office/drawing/2014/main" id="{367811CE-637C-BFF9-F3EF-3C7B67E8C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644" y="228600"/>
            <a:ext cx="10588978" cy="1143000"/>
          </a:xfrm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Change in Supply Versus a Change in Quantity Supplied</a:t>
            </a:r>
          </a:p>
        </p:txBody>
      </p:sp>
      <p:sp>
        <p:nvSpPr>
          <p:cNvPr id="57346" name="Text Box 3075">
            <a:extLst>
              <a:ext uri="{FF2B5EF4-FFF2-40B4-BE49-F238E27FC236}">
                <a16:creationId xmlns:a16="http://schemas.microsoft.com/office/drawing/2014/main" id="{C5647303-86CE-3BF4-E306-55C9362FC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1" y="1524000"/>
            <a:ext cx="20146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5000"/>
              </a:spcBef>
              <a:spcAft>
                <a:spcPct val="45000"/>
              </a:spcAft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5000"/>
              </a:spcBef>
              <a:spcAft>
                <a:spcPct val="25000"/>
              </a:spcAft>
              <a:buSzPct val="9000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9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summarize:</a:t>
            </a:r>
          </a:p>
        </p:txBody>
      </p:sp>
      <p:grpSp>
        <p:nvGrpSpPr>
          <p:cNvPr id="152593" name="Group 3089">
            <a:extLst>
              <a:ext uri="{FF2B5EF4-FFF2-40B4-BE49-F238E27FC236}">
                <a16:creationId xmlns:a16="http://schemas.microsoft.com/office/drawing/2014/main" id="{6E81B7EF-F196-FB61-B181-69A9EEC1DFCC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057401"/>
            <a:ext cx="7620000" cy="1938338"/>
            <a:chOff x="432" y="1296"/>
            <a:chExt cx="4800" cy="1221"/>
          </a:xfrm>
        </p:grpSpPr>
        <p:sp>
          <p:nvSpPr>
            <p:cNvPr id="57353" name="Text Box 3077">
              <a:extLst>
                <a:ext uri="{FF2B5EF4-FFF2-40B4-BE49-F238E27FC236}">
                  <a16:creationId xmlns:a16="http://schemas.microsoft.com/office/drawing/2014/main" id="{8EEF9811-02B3-AE25-87C2-EF3C280E1B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96"/>
              <a:ext cx="4800" cy="1221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82575" indent="-282575"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 in price of a good or service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leads to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Change in </a:t>
              </a:r>
              <a:r>
                <a:rPr lang="en-US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quantity supplied</a:t>
              </a:r>
              <a:br>
                <a:rPr lang="en-US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Movement along the curve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</p:txBody>
        </p:sp>
        <p:sp>
          <p:nvSpPr>
            <p:cNvPr id="57354" name="Freeform 3078">
              <a:extLst>
                <a:ext uri="{FF2B5EF4-FFF2-40B4-BE49-F238E27FC236}">
                  <a16:creationId xmlns:a16="http://schemas.microsoft.com/office/drawing/2014/main" id="{224690F4-7B94-848F-A716-BCF86A43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" y="1678"/>
              <a:ext cx="372" cy="508"/>
            </a:xfrm>
            <a:custGeom>
              <a:avLst/>
              <a:gdLst>
                <a:gd name="T0" fmla="*/ 0 w 349"/>
                <a:gd name="T1" fmla="*/ 0 h 604"/>
                <a:gd name="T2" fmla="*/ 0 w 349"/>
                <a:gd name="T3" fmla="*/ 302 h 604"/>
                <a:gd name="T4" fmla="*/ 451 w 349"/>
                <a:gd name="T5" fmla="*/ 302 h 6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9" h="604">
                  <a:moveTo>
                    <a:pt x="0" y="0"/>
                  </a:moveTo>
                  <a:lnTo>
                    <a:pt x="0" y="604"/>
                  </a:lnTo>
                  <a:lnTo>
                    <a:pt x="349" y="604"/>
                  </a:lnTo>
                </a:path>
              </a:pathLst>
            </a:custGeom>
            <a:solidFill>
              <a:srgbClr val="C0C0C0">
                <a:alpha val="50195"/>
              </a:srgbClr>
            </a:solidFill>
            <a:ln w="25400">
              <a:solidFill>
                <a:srgbClr val="FF9900"/>
              </a:solidFill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LK"/>
            </a:p>
          </p:txBody>
        </p:sp>
      </p:grpSp>
      <p:grpSp>
        <p:nvGrpSpPr>
          <p:cNvPr id="152592" name="Group 3088">
            <a:extLst>
              <a:ext uri="{FF2B5EF4-FFF2-40B4-BE49-F238E27FC236}">
                <a16:creationId xmlns:a16="http://schemas.microsoft.com/office/drawing/2014/main" id="{2188136F-F47C-4765-B2FB-4BED1A489652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191001"/>
            <a:ext cx="7620000" cy="2308225"/>
            <a:chOff x="432" y="2640"/>
            <a:chExt cx="4800" cy="1454"/>
          </a:xfrm>
        </p:grpSpPr>
        <p:sp>
          <p:nvSpPr>
            <p:cNvPr id="57351" name="Text Box 3080">
              <a:extLst>
                <a:ext uri="{FF2B5EF4-FFF2-40B4-BE49-F238E27FC236}">
                  <a16:creationId xmlns:a16="http://schemas.microsoft.com/office/drawing/2014/main" id="{E775CB0A-A4A3-175D-F46F-7E3AFB923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640"/>
              <a:ext cx="4800" cy="1454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82575" indent="-282575">
                <a:spcBef>
                  <a:spcPct val="25000"/>
                </a:spcBef>
                <a:spcAft>
                  <a:spcPct val="45000"/>
                </a:spcAft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5000"/>
                </a:spcBef>
                <a:spcAft>
                  <a:spcPct val="25000"/>
                </a:spcAft>
                <a:buSzPct val="9000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9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 in costs, input prices, technology, or prices of related goods and services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leads to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Change in supply</a:t>
              </a:r>
              <a:b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(</a:t>
              </a:r>
              <a:r>
                <a:rPr lang="en-US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Shift of curve</a:t>
              </a: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</p:txBody>
        </p:sp>
        <p:sp>
          <p:nvSpPr>
            <p:cNvPr id="57352" name="Freeform 3081">
              <a:extLst>
                <a:ext uri="{FF2B5EF4-FFF2-40B4-BE49-F238E27FC236}">
                  <a16:creationId xmlns:a16="http://schemas.microsoft.com/office/drawing/2014/main" id="{6A648581-BB9C-C183-85C3-ABBFDAB18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3234"/>
              <a:ext cx="349" cy="525"/>
            </a:xfrm>
            <a:custGeom>
              <a:avLst/>
              <a:gdLst>
                <a:gd name="T0" fmla="*/ 0 w 349"/>
                <a:gd name="T1" fmla="*/ 0 h 604"/>
                <a:gd name="T2" fmla="*/ 0 w 349"/>
                <a:gd name="T3" fmla="*/ 344 h 604"/>
                <a:gd name="T4" fmla="*/ 349 w 349"/>
                <a:gd name="T5" fmla="*/ 344 h 6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9" h="604">
                  <a:moveTo>
                    <a:pt x="0" y="0"/>
                  </a:moveTo>
                  <a:lnTo>
                    <a:pt x="0" y="604"/>
                  </a:lnTo>
                  <a:lnTo>
                    <a:pt x="349" y="604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LK"/>
            </a:p>
          </p:txBody>
        </p:sp>
      </p:grpSp>
      <p:pic>
        <p:nvPicPr>
          <p:cNvPr id="152594" name="Picture 3090">
            <a:extLst>
              <a:ext uri="{FF2B5EF4-FFF2-40B4-BE49-F238E27FC236}">
                <a16:creationId xmlns:a16="http://schemas.microsoft.com/office/drawing/2014/main" id="{A8B3697B-FF89-4FEC-4EEA-2A75B544E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2100264"/>
            <a:ext cx="2341563" cy="183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2595" name="Picture 3091">
            <a:extLst>
              <a:ext uri="{FF2B5EF4-FFF2-40B4-BE49-F238E27FC236}">
                <a16:creationId xmlns:a16="http://schemas.microsoft.com/office/drawing/2014/main" id="{3612CC78-202B-DA26-A63E-3E1479147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638" y="4597400"/>
            <a:ext cx="2493962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048" name="Rectangle 8704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F9C79F35-C72C-070B-EF17-DD6F17EBE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defRPr/>
            </a:pPr>
            <a:r>
              <a:rPr lang="en-US" alt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Individual Supply to Market Supply</a:t>
            </a:r>
          </a:p>
        </p:txBody>
      </p:sp>
      <p:sp>
        <p:nvSpPr>
          <p:cNvPr id="8705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B442E6DC-B8A7-D477-BDD6-89E13A7A9D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2075" tIns="46038" rIns="92075" bIns="46038" rtlCol="0">
            <a:normAutofit/>
          </a:bodyPr>
          <a:lstStyle/>
          <a:p>
            <a:pPr algn="just" eaLnBrk="1" hangingPunct="1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supply of a good or service can be defined for an individual firm, or for a group of firms that make up a market or an industry.</a:t>
            </a:r>
          </a:p>
          <a:p>
            <a:pPr algn="just" eaLnBrk="1" hangingPunct="1">
              <a:defRPr/>
            </a:pPr>
            <a:r>
              <a:rPr lang="en-US" altLang="en-US" sz="4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supply</a:t>
            </a:r>
            <a:r>
              <a:rPr lang="en-US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sum of all the quantities of a good or service supplied per period by all the firms selling in the market for that good or service.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026">
            <a:extLst>
              <a:ext uri="{FF2B5EF4-FFF2-40B4-BE49-F238E27FC236}">
                <a16:creationId xmlns:a16="http://schemas.microsoft.com/office/drawing/2014/main" id="{CE8DB0B7-0FF8-1D9C-49A6-8DEDC363B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Supply</a:t>
            </a:r>
          </a:p>
        </p:txBody>
      </p:sp>
      <p:sp>
        <p:nvSpPr>
          <p:cNvPr id="89091" name="Rectangle 1027">
            <a:extLst>
              <a:ext uri="{FF2B5EF4-FFF2-40B4-BE49-F238E27FC236}">
                <a16:creationId xmlns:a16="http://schemas.microsoft.com/office/drawing/2014/main" id="{7AD9E664-323C-A6AD-8A73-FB56759965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83733" y="1752600"/>
            <a:ext cx="9393767" cy="1524000"/>
          </a:xfrm>
        </p:spPr>
        <p:txBody>
          <a:bodyPr vert="horz" lIns="92075" tIns="46038" rIns="92075" bIns="46038" rtlCol="0">
            <a:normAutofit/>
          </a:bodyPr>
          <a:lstStyle/>
          <a:p>
            <a:pPr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with market demand, </a:t>
            </a:r>
            <a:r>
              <a:rPr lang="en-US" altLang="en-US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supply</a:t>
            </a:r>
            <a:r>
              <a:rPr lang="en-US" altLang="en-US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horizontal summation of individual firms’ supply curves.</a:t>
            </a:r>
            <a:endParaRPr lang="en-US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110" name="Picture 1046">
            <a:extLst>
              <a:ext uri="{FF2B5EF4-FFF2-40B4-BE49-F238E27FC236}">
                <a16:creationId xmlns:a16="http://schemas.microsoft.com/office/drawing/2014/main" id="{469A7789-FEBE-BA9F-F6E9-4F6D42209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352801"/>
            <a:ext cx="8439150" cy="248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111" name="Picture 1047">
            <a:extLst>
              <a:ext uri="{FF2B5EF4-FFF2-40B4-BE49-F238E27FC236}">
                <a16:creationId xmlns:a16="http://schemas.microsoft.com/office/drawing/2014/main" id="{43FF98C1-BAA4-85EA-870F-B9D4B0739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352801"/>
            <a:ext cx="8439150" cy="248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112" name="Picture 1048">
            <a:extLst>
              <a:ext uri="{FF2B5EF4-FFF2-40B4-BE49-F238E27FC236}">
                <a16:creationId xmlns:a16="http://schemas.microsoft.com/office/drawing/2014/main" id="{4998DCA7-8CE6-EF13-02AF-11AE0B00B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352801"/>
            <a:ext cx="8439150" cy="248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113" name="Picture 1049">
            <a:extLst>
              <a:ext uri="{FF2B5EF4-FFF2-40B4-BE49-F238E27FC236}">
                <a16:creationId xmlns:a16="http://schemas.microsoft.com/office/drawing/2014/main" id="{0C846DDF-AFEA-17CD-EE86-AAE1F5176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352801"/>
            <a:ext cx="8439150" cy="248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8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8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89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8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192" name="Rectangle 9319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7B56FE27-CB9B-CF3F-30E5-0DA990887B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defRPr/>
            </a:pPr>
            <a:r>
              <a:rPr lang="en-US" alt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Market Equilibrium</a:t>
            </a:r>
          </a:p>
        </p:txBody>
      </p:sp>
      <p:sp>
        <p:nvSpPr>
          <p:cNvPr id="9319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AE127D1D-17C6-CBD9-DFC3-100A21662F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of the market depends on the interaction between buyers and sellers.</a:t>
            </a:r>
          </a:p>
          <a:p>
            <a:pPr eaLnBrk="1" hangingPunct="1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4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equilibrium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condition that exists when the quantity supplied and quantity demanded are equal.</a:t>
            </a:r>
          </a:p>
          <a:p>
            <a:pPr eaLnBrk="1" hangingPunct="1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equilibrium, there is no tendency for the market price to change.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bldLvl="2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F669EE1-3037-026D-1C5B-F3191C0FB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Equilibrium</a:t>
            </a:r>
          </a:p>
        </p:txBody>
      </p:sp>
      <p:sp>
        <p:nvSpPr>
          <p:cNvPr id="97301" name="Rectangle 21">
            <a:extLst>
              <a:ext uri="{FF2B5EF4-FFF2-40B4-BE49-F238E27FC236}">
                <a16:creationId xmlns:a16="http://schemas.microsoft.com/office/drawing/2014/main" id="{8F623F81-D837-1926-A417-F4DBFF5AF9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13690" y="1402641"/>
            <a:ext cx="3886200" cy="2438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in equilibrium is the quantity supplied equal to the quantity demanded.</a:t>
            </a:r>
          </a:p>
        </p:txBody>
      </p:sp>
      <p:sp>
        <p:nvSpPr>
          <p:cNvPr id="97302" name="Rectangle 22">
            <a:extLst>
              <a:ext uri="{FF2B5EF4-FFF2-40B4-BE49-F238E27FC236}">
                <a16:creationId xmlns:a16="http://schemas.microsoft.com/office/drawing/2014/main" id="{38C880C3-B28C-1BA8-B93C-4CDDCC95F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6268" y="3581400"/>
            <a:ext cx="4413956" cy="24384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45000"/>
              </a:spcAft>
              <a:buFontTx/>
              <a:buChar char="•"/>
              <a:defRPr/>
            </a:pP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At any price level other than </a:t>
            </a:r>
            <a:r>
              <a:rPr lang="en-US" altLang="en-US" sz="3200" i="1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P</a:t>
            </a:r>
            <a:r>
              <a:rPr lang="en-US" altLang="en-US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0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 the wishes of buyers and sellers do not coincide.</a:t>
            </a:r>
          </a:p>
        </p:txBody>
      </p:sp>
      <p:pic>
        <p:nvPicPr>
          <p:cNvPr id="97314" name="Picture 34">
            <a:extLst>
              <a:ext uri="{FF2B5EF4-FFF2-40B4-BE49-F238E27FC236}">
                <a16:creationId xmlns:a16="http://schemas.microsoft.com/office/drawing/2014/main" id="{69345523-D84E-F47E-FDE9-FED2D2D12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315" name="Picture 35">
            <a:extLst>
              <a:ext uri="{FF2B5EF4-FFF2-40B4-BE49-F238E27FC236}">
                <a16:creationId xmlns:a16="http://schemas.microsoft.com/office/drawing/2014/main" id="{02DB64F5-475F-75AE-AAAD-A909E8FB7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316" name="Picture 36">
            <a:extLst>
              <a:ext uri="{FF2B5EF4-FFF2-40B4-BE49-F238E27FC236}">
                <a16:creationId xmlns:a16="http://schemas.microsoft.com/office/drawing/2014/main" id="{8BF6D2FC-AC7A-F3E3-0B6E-875DE0DC3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317" name="Picture 37">
            <a:extLst>
              <a:ext uri="{FF2B5EF4-FFF2-40B4-BE49-F238E27FC236}">
                <a16:creationId xmlns:a16="http://schemas.microsoft.com/office/drawing/2014/main" id="{A2FABE71-5893-5E81-9700-7959FF7FB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01" grpId="0" build="p" bldLvl="2" autoUpdateAnimBg="0"/>
      <p:bldP spid="9730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CF1EC41B-408D-1D86-769F-F3BF8CD70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420" y="365125"/>
            <a:ext cx="10515600" cy="1325563"/>
          </a:xfrm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Disequilibrium</a:t>
            </a:r>
          </a:p>
        </p:txBody>
      </p:sp>
      <p:sp>
        <p:nvSpPr>
          <p:cNvPr id="101390" name="Rectangle 14">
            <a:extLst>
              <a:ext uri="{FF2B5EF4-FFF2-40B4-BE49-F238E27FC236}">
                <a16:creationId xmlns:a16="http://schemas.microsoft.com/office/drawing/2014/main" id="{45029274-E312-45B2-0A0B-F28FDF9860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00799" y="1752600"/>
            <a:ext cx="4583289" cy="2971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Excess demand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shortage, is the condition that exists when the quantity demanded exceeds the quantity supplied at the current price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397" name="Rectangle 21">
            <a:extLst>
              <a:ext uri="{FF2B5EF4-FFF2-40B4-BE49-F238E27FC236}">
                <a16:creationId xmlns:a16="http://schemas.microsoft.com/office/drawing/2014/main" id="{CA321CE4-6452-E0C0-9F57-7F1D43D9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038600"/>
            <a:ext cx="4727220" cy="2590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45000"/>
              </a:spcAft>
              <a:buFontTx/>
              <a:buChar char="•"/>
              <a:defRPr/>
            </a:pP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When the quantity demanded exceeds the quantity supplied, the price tends to rise until equilibrium is restored.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  <a:cs typeface="Times New Roman" panose="02020603050405020304" pitchFamily="18" charset="0"/>
            </a:endParaRPr>
          </a:p>
        </p:txBody>
      </p:sp>
      <p:pic>
        <p:nvPicPr>
          <p:cNvPr id="67588" name="Picture 22">
            <a:extLst>
              <a:ext uri="{FF2B5EF4-FFF2-40B4-BE49-F238E27FC236}">
                <a16:creationId xmlns:a16="http://schemas.microsoft.com/office/drawing/2014/main" id="{B007AF75-64C3-B170-50A2-5E473914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4040188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99" name="Picture 23">
            <a:extLst>
              <a:ext uri="{FF2B5EF4-FFF2-40B4-BE49-F238E27FC236}">
                <a16:creationId xmlns:a16="http://schemas.microsoft.com/office/drawing/2014/main" id="{7B9077EE-9CBE-83DC-66CD-5D2D1B02F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4040188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400" name="Picture 24">
            <a:extLst>
              <a:ext uri="{FF2B5EF4-FFF2-40B4-BE49-F238E27FC236}">
                <a16:creationId xmlns:a16="http://schemas.microsoft.com/office/drawing/2014/main" id="{FAEA6BEA-A26E-BDF0-16DA-A02E1635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4040188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401" name="Picture 25">
            <a:extLst>
              <a:ext uri="{FF2B5EF4-FFF2-40B4-BE49-F238E27FC236}">
                <a16:creationId xmlns:a16="http://schemas.microsoft.com/office/drawing/2014/main" id="{10C866F7-8E56-8A8D-73E8-497937FD6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4038600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90" grpId="0" build="p" bldLvl="2" autoUpdateAnimBg="0"/>
      <p:bldP spid="101397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F4326013-159D-05D1-8908-DEB346E64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5975" y="365125"/>
            <a:ext cx="10515600" cy="1325563"/>
          </a:xfrm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Disequilibrium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2DFBA6F9-8B09-4E7E-13BE-5C22448F6B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00800" y="1752600"/>
            <a:ext cx="4854222" cy="1981200"/>
          </a:xfrm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Excess supply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surplus, is the condition that exists when quantity supplied exceeds quantity demanded at the current price.</a:t>
            </a:r>
          </a:p>
        </p:txBody>
      </p:sp>
      <p:sp>
        <p:nvSpPr>
          <p:cNvPr id="177159" name="Rectangle 7">
            <a:extLst>
              <a:ext uri="{FF2B5EF4-FFF2-40B4-BE49-F238E27FC236}">
                <a16:creationId xmlns:a16="http://schemas.microsoft.com/office/drawing/2014/main" id="{31C9B758-8716-14B9-9670-1B45AC2A8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799" y="3886200"/>
            <a:ext cx="4854221" cy="2590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45000"/>
              </a:spcAft>
              <a:buFontTx/>
              <a:buChar char="•"/>
              <a:defRPr/>
            </a:pPr>
            <a:r>
              <a:rPr lang="en-US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When the quantity supplied exceeds the quantity demanded, the price tends to fall until equilibrium is restored.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  <a:cs typeface="Times New Roman" panose="02020603050405020304" pitchFamily="18" charset="0"/>
            </a:endParaRPr>
          </a:p>
        </p:txBody>
      </p:sp>
      <p:pic>
        <p:nvPicPr>
          <p:cNvPr id="177165" name="Picture 13">
            <a:extLst>
              <a:ext uri="{FF2B5EF4-FFF2-40B4-BE49-F238E27FC236}">
                <a16:creationId xmlns:a16="http://schemas.microsoft.com/office/drawing/2014/main" id="{F46EBEA7-317B-6270-C670-4133AA772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7166" name="Picture 14">
            <a:extLst>
              <a:ext uri="{FF2B5EF4-FFF2-40B4-BE49-F238E27FC236}">
                <a16:creationId xmlns:a16="http://schemas.microsoft.com/office/drawing/2014/main" id="{E248E199-E193-51E7-D059-FBB5D1515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7167" name="Picture 15">
            <a:extLst>
              <a:ext uri="{FF2B5EF4-FFF2-40B4-BE49-F238E27FC236}">
                <a16:creationId xmlns:a16="http://schemas.microsoft.com/office/drawing/2014/main" id="{8804A4DB-A241-A63D-78E2-A4908796E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1"/>
            <a:ext cx="5189538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 bldLvl="2" autoUpdateAnimBg="0"/>
      <p:bldP spid="177159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34429749-1D09-EF1B-FF5E-EF85B7205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9842" y="365125"/>
            <a:ext cx="10515600" cy="13255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in Demand and Supply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69B5FC79-0267-A602-BC32-6509BC8B860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250242" y="5257800"/>
            <a:ext cx="4766735" cy="14478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demand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higher equilibrium prices and higher equilibrium quantity.</a:t>
            </a:r>
          </a:p>
        </p:txBody>
      </p:sp>
      <p:sp>
        <p:nvSpPr>
          <p:cNvPr id="159754" name="Rectangle 10">
            <a:extLst>
              <a:ext uri="{FF2B5EF4-FFF2-40B4-BE49-F238E27FC236}">
                <a16:creationId xmlns:a16="http://schemas.microsoft.com/office/drawing/2014/main" id="{0AB40612-15F8-940C-3CF0-DA316865FE6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400800" y="5257800"/>
            <a:ext cx="4540958" cy="15240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supply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lower equilibrium prices and higher equilibrium quantity.</a:t>
            </a:r>
          </a:p>
        </p:txBody>
      </p:sp>
      <p:pic>
        <p:nvPicPr>
          <p:cNvPr id="71684" name="Picture 29">
            <a:extLst>
              <a:ext uri="{FF2B5EF4-FFF2-40B4-BE49-F238E27FC236}">
                <a16:creationId xmlns:a16="http://schemas.microsoft.com/office/drawing/2014/main" id="{39BAD8ED-92D1-4A54-83CF-D3133A72F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774" name="Picture 30">
            <a:extLst>
              <a:ext uri="{FF2B5EF4-FFF2-40B4-BE49-F238E27FC236}">
                <a16:creationId xmlns:a16="http://schemas.microsoft.com/office/drawing/2014/main" id="{CAF07C83-B75E-E126-95CD-FDC846C9B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775" name="Picture 31">
            <a:extLst>
              <a:ext uri="{FF2B5EF4-FFF2-40B4-BE49-F238E27FC236}">
                <a16:creationId xmlns:a16="http://schemas.microsoft.com/office/drawing/2014/main" id="{A5385A72-DA1E-15DF-B9A7-DDD189344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7" name="Picture 32">
            <a:extLst>
              <a:ext uri="{FF2B5EF4-FFF2-40B4-BE49-F238E27FC236}">
                <a16:creationId xmlns:a16="http://schemas.microsoft.com/office/drawing/2014/main" id="{F15324BF-6A4F-9747-7703-1511C6425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777" name="Picture 33">
            <a:extLst>
              <a:ext uri="{FF2B5EF4-FFF2-40B4-BE49-F238E27FC236}">
                <a16:creationId xmlns:a16="http://schemas.microsoft.com/office/drawing/2014/main" id="{12204FD5-C396-E550-F930-15732548E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779" name="Picture 35">
            <a:extLst>
              <a:ext uri="{FF2B5EF4-FFF2-40B4-BE49-F238E27FC236}">
                <a16:creationId xmlns:a16="http://schemas.microsoft.com/office/drawing/2014/main" id="{A9B8D569-AF07-A990-BB0E-0EA684F8F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59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 bldLvl="2" autoUpdateAnimBg="0"/>
      <p:bldP spid="159754" grpId="0" build="p" bldLvl="2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080FEE6D-4BA6-17C3-0B1C-A790354149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in Demand and Supply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4BB5F0FE-1321-80B1-3443-8E96E0AE363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677810" y="5257800"/>
            <a:ext cx="4000500" cy="1295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demand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lower prices and lower quantity exchanged.</a:t>
            </a:r>
          </a:p>
        </p:txBody>
      </p:sp>
      <p:sp>
        <p:nvSpPr>
          <p:cNvPr id="160772" name="Rectangle 4">
            <a:extLst>
              <a:ext uri="{FF2B5EF4-FFF2-40B4-BE49-F238E27FC236}">
                <a16:creationId xmlns:a16="http://schemas.microsoft.com/office/drawing/2014/main" id="{078C82E5-BA31-1008-86BA-38CD906ABAE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400799" y="5257800"/>
            <a:ext cx="4560711" cy="12192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supply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higher prices and lower quantity exchanged.</a:t>
            </a:r>
          </a:p>
        </p:txBody>
      </p:sp>
      <p:pic>
        <p:nvPicPr>
          <p:cNvPr id="72708" name="Picture 24">
            <a:extLst>
              <a:ext uri="{FF2B5EF4-FFF2-40B4-BE49-F238E27FC236}">
                <a16:creationId xmlns:a16="http://schemas.microsoft.com/office/drawing/2014/main" id="{A71FE5E3-B721-8440-1E73-21845C753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793" name="Picture 25">
            <a:extLst>
              <a:ext uri="{FF2B5EF4-FFF2-40B4-BE49-F238E27FC236}">
                <a16:creationId xmlns:a16="http://schemas.microsoft.com/office/drawing/2014/main" id="{BB3AEA5D-2403-B7E3-38B9-6C6A24393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794" name="Picture 26">
            <a:extLst>
              <a:ext uri="{FF2B5EF4-FFF2-40B4-BE49-F238E27FC236}">
                <a16:creationId xmlns:a16="http://schemas.microsoft.com/office/drawing/2014/main" id="{3E181658-1642-CFFE-E346-6ED48E0C5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1" name="Picture 27">
            <a:extLst>
              <a:ext uri="{FF2B5EF4-FFF2-40B4-BE49-F238E27FC236}">
                <a16:creationId xmlns:a16="http://schemas.microsoft.com/office/drawing/2014/main" id="{23EDCE48-57D5-506A-6F2C-0628EC64F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796" name="Picture 28">
            <a:extLst>
              <a:ext uri="{FF2B5EF4-FFF2-40B4-BE49-F238E27FC236}">
                <a16:creationId xmlns:a16="http://schemas.microsoft.com/office/drawing/2014/main" id="{37D58E29-15D7-9031-B167-8DA390BF4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797" name="Picture 29">
            <a:extLst>
              <a:ext uri="{FF2B5EF4-FFF2-40B4-BE49-F238E27FC236}">
                <a16:creationId xmlns:a16="http://schemas.microsoft.com/office/drawing/2014/main" id="{CB431193-C7D0-959C-3A38-69983632C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1752601"/>
            <a:ext cx="3749675" cy="344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0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60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bldLvl="2" autoUpdateAnimBg="0"/>
      <p:bldP spid="160772" grpId="0" build="p" bldLvl="2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E101D0-E58E-59F8-4BE9-BA90395E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55" y="639520"/>
            <a:ext cx="6627823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xercise 01 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056F3D1-2A93-8468-0AC0-656210991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33" y="2807208"/>
            <a:ext cx="6999111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LK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Demand and Supply schedule of product X is given below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LK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LK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the equations for Quantity demanded and quantity supplied.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LK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equilibrium price?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LK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equilibrium quantity?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LK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Equilibrium price and quantity through a graphical format.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LK" sz="17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2F4BC60-5C01-F95D-778C-13FF3A082C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561952"/>
              </p:ext>
            </p:extLst>
          </p:nvPr>
        </p:nvGraphicFramePr>
        <p:xfrm>
          <a:off x="7337779" y="853869"/>
          <a:ext cx="4368800" cy="51502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8893">
                  <a:extLst>
                    <a:ext uri="{9D8B030D-6E8A-4147-A177-3AD203B41FA5}">
                      <a16:colId xmlns:a16="http://schemas.microsoft.com/office/drawing/2014/main" val="1006244087"/>
                    </a:ext>
                  </a:extLst>
                </a:gridCol>
                <a:gridCol w="1678227">
                  <a:extLst>
                    <a:ext uri="{9D8B030D-6E8A-4147-A177-3AD203B41FA5}">
                      <a16:colId xmlns:a16="http://schemas.microsoft.com/office/drawing/2014/main" val="2126876363"/>
                    </a:ext>
                  </a:extLst>
                </a:gridCol>
                <a:gridCol w="1481680">
                  <a:extLst>
                    <a:ext uri="{9D8B030D-6E8A-4147-A177-3AD203B41FA5}">
                      <a16:colId xmlns:a16="http://schemas.microsoft.com/office/drawing/2014/main" val="3122627820"/>
                    </a:ext>
                  </a:extLst>
                </a:gridCol>
              </a:tblGrid>
              <a:tr h="468206">
                <a:tc>
                  <a:txBody>
                    <a:bodyPr/>
                    <a:lstStyle/>
                    <a:p>
                      <a:r>
                        <a:rPr lang="en-US" sz="2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LK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2546801785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4040534645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3892111226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284541197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LK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3548115465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1094439609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r>
                        <a:rPr lang="en-US" sz="2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LK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271068558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3694681678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700539069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528879215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r>
                        <a:rPr lang="en-US" sz="2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LK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LK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LK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6314" marR="146314" marT="0" marB="0"/>
                </a:tc>
                <a:extLst>
                  <a:ext uri="{0D108BD9-81ED-4DB2-BD59-A6C34878D82A}">
                    <a16:rowId xmlns:a16="http://schemas.microsoft.com/office/drawing/2014/main" val="3945463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7601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DA7F2-A1B0-C9E0-C4E7-7E209B718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02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00280-910D-EF64-4E45-B536E0335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 are the equations for the demand and supply curves: </a:t>
            </a:r>
            <a:endParaRPr lang="en-LK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Demand curve: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Qd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=3300-2P</a:t>
            </a:r>
            <a:endParaRPr lang="en-LK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Supply curve: Qs =500+8P</a:t>
            </a:r>
            <a:endParaRPr lang="en-LK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 the equilibrium price and quantity.</a:t>
            </a:r>
            <a:endParaRPr lang="en-LK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Graphically illustrate and find the equilibrium values.</a:t>
            </a:r>
            <a:endParaRPr lang="en-LK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LK" sz="2200" dirty="0"/>
          </a:p>
        </p:txBody>
      </p:sp>
    </p:spTree>
    <p:extLst>
      <p:ext uri="{BB962C8B-B14F-4D97-AF65-F5344CB8AC3E}">
        <p14:creationId xmlns:p14="http://schemas.microsoft.com/office/powerpoint/2010/main" val="2255043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4CA2D4-24C8-A5C4-2CE3-C99D1757F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Exercise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FD1D4-C3ED-04D0-83A8-CDAFCA38AE53}"/>
              </a:ext>
            </a:extLst>
          </p:cNvPr>
          <p:cNvSpPr txBox="1"/>
          <p:nvPr/>
        </p:nvSpPr>
        <p:spPr>
          <a:xfrm>
            <a:off x="572493" y="2071316"/>
            <a:ext cx="6713552" cy="463068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equilibrium levels by using equations.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market equilibrium, what is the consumer surplus </a:t>
            </a:r>
            <a:r>
              <a:rPr lang="en-US" sz="26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  <a:r>
              <a:rPr lang="en-US" sz="26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surplus?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market for soft drinks efficient? Why?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government restricted producers to 10 cans of soft drinks a day, would the market for soft drinks be efficient? Why?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situation described in part 4, what is the deadweight loss?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government passed a law requiring producers of soft drinks to sell 20 cans a day, would the market for soft drinks be efficient? Why or why not?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situation described in part 6, what is the deadweight loss?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effectLst/>
            </a:endParaRPr>
          </a:p>
        </p:txBody>
      </p:sp>
      <p:pic>
        <p:nvPicPr>
          <p:cNvPr id="4" name="Content Placeholder 3" descr="Chart, line chart&#10;&#10;Description automatically generated">
            <a:extLst>
              <a:ext uri="{FF2B5EF4-FFF2-40B4-BE49-F238E27FC236}">
                <a16:creationId xmlns:a16="http://schemas.microsoft.com/office/drawing/2014/main" id="{04174ABF-7E55-8583-4B9E-29D442940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2" r="4" b="4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029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E0E0-E5B3-84A0-780A-7C35730E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LK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80C72-6C24-3C61-BBE3-42365E7A7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LK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Question?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060B2DC7-4A6C-4F8B-888A-50A337C4BB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4" r="52727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FE1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251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2606</Words>
  <Application>Microsoft Macintosh PowerPoint</Application>
  <PresentationFormat>Widescreen</PresentationFormat>
  <Paragraphs>405</Paragraphs>
  <Slides>55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Calibri Light</vt:lpstr>
      <vt:lpstr>Times New Roman</vt:lpstr>
      <vt:lpstr>Office Theme 2013 - 2022</vt:lpstr>
      <vt:lpstr>Chart</vt:lpstr>
      <vt:lpstr>Demand, Supply, and Market Equilibrium </vt:lpstr>
      <vt:lpstr>Learning Outcomes</vt:lpstr>
      <vt:lpstr>The basic decision-making units</vt:lpstr>
      <vt:lpstr>The circular flow of economic activity</vt:lpstr>
      <vt:lpstr>Input market and output market</vt:lpstr>
      <vt:lpstr>Input Market (Factor Market)</vt:lpstr>
      <vt:lpstr>Determinants of Household Demand</vt:lpstr>
      <vt:lpstr>Demand</vt:lpstr>
      <vt:lpstr>The Law of Demand</vt:lpstr>
      <vt:lpstr>The demand schedule</vt:lpstr>
      <vt:lpstr>The Demand Curve</vt:lpstr>
      <vt:lpstr>Demand Equation</vt:lpstr>
      <vt:lpstr>Question 01</vt:lpstr>
      <vt:lpstr>Question 02</vt:lpstr>
      <vt:lpstr>Question 03</vt:lpstr>
      <vt:lpstr>Question 04</vt:lpstr>
      <vt:lpstr>Question 05</vt:lpstr>
      <vt:lpstr>Question 06</vt:lpstr>
      <vt:lpstr>Demand function</vt:lpstr>
      <vt:lpstr>Income and Wealth</vt:lpstr>
      <vt:lpstr>Related Goods and Services</vt:lpstr>
      <vt:lpstr>Which of the following goods are likely to be classified as normal goods or services? Inferior? Defined your answer. </vt:lpstr>
      <vt:lpstr>Related Goods and Services</vt:lpstr>
      <vt:lpstr>Which of the following pairs of goods are likely to be classified as substitutes? Complements? Defined your answer. </vt:lpstr>
      <vt:lpstr>Shift of Demand VS Movement along a Demand Curve </vt:lpstr>
      <vt:lpstr>Change in Demand and Change in quantity Demand</vt:lpstr>
      <vt:lpstr>The shift of Demand Versus Movement Along a Demand Curve</vt:lpstr>
      <vt:lpstr>A Change in Demand Versus a Change in Quantity Demanded</vt:lpstr>
      <vt:lpstr>A Change in Demand Versus a Change in Quantity Demanded</vt:lpstr>
      <vt:lpstr>The Impact of a Change in Income</vt:lpstr>
      <vt:lpstr>The Impact of a Change in the Price of Related Goods</vt:lpstr>
      <vt:lpstr>From Household to Market Demand</vt:lpstr>
      <vt:lpstr>From Household Demand to Market Demand</vt:lpstr>
      <vt:lpstr>EXERCISE</vt:lpstr>
      <vt:lpstr>Supply</vt:lpstr>
      <vt:lpstr>Supply in Output Markets</vt:lpstr>
      <vt:lpstr>The Supply Curve and the Supply Schedule</vt:lpstr>
      <vt:lpstr>The Law of Supply</vt:lpstr>
      <vt:lpstr>Supply Equation</vt:lpstr>
      <vt:lpstr>Supply function</vt:lpstr>
      <vt:lpstr>A Change in Supply Versus a Change in Quantity Supplied</vt:lpstr>
      <vt:lpstr>A Change in Supply Versus a Change in Quantity Supplied</vt:lpstr>
      <vt:lpstr>A Change in Supply Versus a Change in Quantity Supplied</vt:lpstr>
      <vt:lpstr>From Individual Supply to Market Supply</vt:lpstr>
      <vt:lpstr>Market Supply</vt:lpstr>
      <vt:lpstr>Market Equilibrium</vt:lpstr>
      <vt:lpstr>Market Equilibrium</vt:lpstr>
      <vt:lpstr>Market Disequilibrium</vt:lpstr>
      <vt:lpstr>Market Disequilibrium</vt:lpstr>
      <vt:lpstr>Increases in Demand and Supply</vt:lpstr>
      <vt:lpstr>Decreases in Demand and Supply</vt:lpstr>
      <vt:lpstr>Exercise 01 </vt:lpstr>
      <vt:lpstr>Exercise 02</vt:lpstr>
      <vt:lpstr>Exercise 03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Demand, Supply, and Market Equilibrium </dc:title>
  <dc:creator>Chathuranga Adhikari</dc:creator>
  <cp:lastModifiedBy>Mr. Chathuranga Adhikari</cp:lastModifiedBy>
  <cp:revision>15</cp:revision>
  <dcterms:created xsi:type="dcterms:W3CDTF">2023-01-16T12:02:32Z</dcterms:created>
  <dcterms:modified xsi:type="dcterms:W3CDTF">2025-02-15T12:49:19Z</dcterms:modified>
</cp:coreProperties>
</file>