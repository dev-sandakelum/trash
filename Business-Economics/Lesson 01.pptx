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99" r:id="rId4"/>
    <p:sldId id="259" r:id="rId5"/>
    <p:sldId id="258" r:id="rId6"/>
    <p:sldId id="260" r:id="rId7"/>
    <p:sldId id="261" r:id="rId8"/>
    <p:sldId id="293" r:id="rId9"/>
    <p:sldId id="263" r:id="rId10"/>
    <p:sldId id="265" r:id="rId11"/>
    <p:sldId id="264" r:id="rId12"/>
    <p:sldId id="266" r:id="rId13"/>
    <p:sldId id="267" r:id="rId14"/>
    <p:sldId id="268" r:id="rId15"/>
    <p:sldId id="300" r:id="rId16"/>
    <p:sldId id="269" r:id="rId17"/>
    <p:sldId id="262" r:id="rId18"/>
    <p:sldId id="298" r:id="rId19"/>
    <p:sldId id="295" r:id="rId20"/>
    <p:sldId id="296" r:id="rId21"/>
    <p:sldId id="297" r:id="rId22"/>
    <p:sldId id="270" r:id="rId23"/>
    <p:sldId id="271" r:id="rId24"/>
    <p:sldId id="273" r:id="rId25"/>
    <p:sldId id="274" r:id="rId26"/>
    <p:sldId id="301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854950-25D6-4DB1-8B10-61509EFE98A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177AC8-9E05-4913-8B2F-AD2CD0DE658C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Scarcity</a:t>
          </a:r>
        </a:p>
      </dgm:t>
    </dgm:pt>
    <dgm:pt modelId="{01C50CE6-9CEC-439B-8755-F3F81203CD40}" type="parTrans" cxnId="{BCE75B36-6A13-4AFD-BFCB-022259284759}">
      <dgm:prSet/>
      <dgm:spPr/>
      <dgm:t>
        <a:bodyPr/>
        <a:lstStyle/>
        <a:p>
          <a:endParaRPr lang="en-US"/>
        </a:p>
      </dgm:t>
    </dgm:pt>
    <dgm:pt modelId="{5ADA465C-0EB2-4669-89A0-2449D23E2D5A}" type="sibTrans" cxnId="{BCE75B36-6A13-4AFD-BFCB-022259284759}">
      <dgm:prSet/>
      <dgm:spPr/>
      <dgm:t>
        <a:bodyPr/>
        <a:lstStyle/>
        <a:p>
          <a:endParaRPr lang="en-US"/>
        </a:p>
      </dgm:t>
    </dgm:pt>
    <dgm:pt modelId="{0C7E6397-D652-45DA-A17D-08DF641D2491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Choice</a:t>
          </a:r>
        </a:p>
      </dgm:t>
    </dgm:pt>
    <dgm:pt modelId="{61834476-D0C6-4EE4-9F8C-1DE2D722B4DD}" type="parTrans" cxnId="{DA128FB7-E043-405D-8C08-66675336CB8A}">
      <dgm:prSet/>
      <dgm:spPr/>
      <dgm:t>
        <a:bodyPr/>
        <a:lstStyle/>
        <a:p>
          <a:endParaRPr lang="en-US"/>
        </a:p>
      </dgm:t>
    </dgm:pt>
    <dgm:pt modelId="{9335191D-2736-49A3-B226-E7EEA8D82BA5}" type="sibTrans" cxnId="{DA128FB7-E043-405D-8C08-66675336CB8A}">
      <dgm:prSet/>
      <dgm:spPr/>
      <dgm:t>
        <a:bodyPr/>
        <a:lstStyle/>
        <a:p>
          <a:endParaRPr lang="en-US"/>
        </a:p>
      </dgm:t>
    </dgm:pt>
    <dgm:pt modelId="{27EB39F7-BCE2-47EE-988B-EB870AF13CEF}">
      <dgm:prSet phldrT="[Text]" phldr="0"/>
      <dgm:spPr>
        <a:solidFill>
          <a:srgbClr val="00B0F0"/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Opportunity Cost</a:t>
          </a:r>
        </a:p>
      </dgm:t>
    </dgm:pt>
    <dgm:pt modelId="{41E99C8C-4EF7-4B37-B478-96845B9D8CD9}" type="parTrans" cxnId="{646079ED-707E-4E7F-9AFE-A7E4C21A1862}">
      <dgm:prSet/>
      <dgm:spPr/>
      <dgm:t>
        <a:bodyPr/>
        <a:lstStyle/>
        <a:p>
          <a:endParaRPr lang="en-US"/>
        </a:p>
      </dgm:t>
    </dgm:pt>
    <dgm:pt modelId="{66FF1E1A-ACD9-4F85-B6D4-A82037F2C042}" type="sibTrans" cxnId="{646079ED-707E-4E7F-9AFE-A7E4C21A1862}">
      <dgm:prSet/>
      <dgm:spPr/>
      <dgm:t>
        <a:bodyPr/>
        <a:lstStyle/>
        <a:p>
          <a:endParaRPr lang="en-US"/>
        </a:p>
      </dgm:t>
    </dgm:pt>
    <dgm:pt modelId="{F1CFD844-749E-41D6-A42A-BED2F30F6233}" type="pres">
      <dgm:prSet presAssocID="{E4854950-25D6-4DB1-8B10-61509EFE98A8}" presName="rootnode" presStyleCnt="0">
        <dgm:presLayoutVars>
          <dgm:chMax/>
          <dgm:chPref/>
          <dgm:dir/>
          <dgm:animLvl val="lvl"/>
        </dgm:presLayoutVars>
      </dgm:prSet>
      <dgm:spPr/>
    </dgm:pt>
    <dgm:pt modelId="{D1DBE042-B9B0-4BE7-B3A7-1CF6143E9B5B}" type="pres">
      <dgm:prSet presAssocID="{A4177AC8-9E05-4913-8B2F-AD2CD0DE658C}" presName="composite" presStyleCnt="0"/>
      <dgm:spPr/>
    </dgm:pt>
    <dgm:pt modelId="{47A81F97-FF6D-4129-A54B-83AAFB7C81E8}" type="pres">
      <dgm:prSet presAssocID="{A4177AC8-9E05-4913-8B2F-AD2CD0DE658C}" presName="bentUpArrow1" presStyleLbl="alignImgPlace1" presStyleIdx="0" presStyleCnt="2"/>
      <dgm:spPr>
        <a:solidFill>
          <a:srgbClr val="FF0000"/>
        </a:solidFill>
      </dgm:spPr>
    </dgm:pt>
    <dgm:pt modelId="{A9E85D1C-02A2-498F-89E6-C13C9286446B}" type="pres">
      <dgm:prSet presAssocID="{A4177AC8-9E05-4913-8B2F-AD2CD0DE658C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F10EF8D3-6996-4F9D-AE99-090B46F5262E}" type="pres">
      <dgm:prSet presAssocID="{A4177AC8-9E05-4913-8B2F-AD2CD0DE658C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407BFB7-500C-479E-9DD8-FF6B23D92BBB}" type="pres">
      <dgm:prSet presAssocID="{5ADA465C-0EB2-4669-89A0-2449D23E2D5A}" presName="sibTrans" presStyleCnt="0"/>
      <dgm:spPr/>
    </dgm:pt>
    <dgm:pt modelId="{FEE17722-F397-4AB9-A181-69162ED91232}" type="pres">
      <dgm:prSet presAssocID="{0C7E6397-D652-45DA-A17D-08DF641D2491}" presName="composite" presStyleCnt="0"/>
      <dgm:spPr/>
    </dgm:pt>
    <dgm:pt modelId="{A07A4E14-FADE-4973-A3A9-2A842AE32355}" type="pres">
      <dgm:prSet presAssocID="{0C7E6397-D652-45DA-A17D-08DF641D2491}" presName="bentUpArrow1" presStyleLbl="alignImgPlace1" presStyleIdx="1" presStyleCnt="2"/>
      <dgm:spPr>
        <a:solidFill>
          <a:srgbClr val="FF0000"/>
        </a:solidFill>
      </dgm:spPr>
    </dgm:pt>
    <dgm:pt modelId="{7BFEBA83-74E9-4C61-9E8B-E0878C53B8ED}" type="pres">
      <dgm:prSet presAssocID="{0C7E6397-D652-45DA-A17D-08DF641D2491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7F132A1C-FCA6-44A0-B333-3A84035F3066}" type="pres">
      <dgm:prSet presAssocID="{0C7E6397-D652-45DA-A17D-08DF641D2491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D76D515-C5D3-49CD-BC10-B4AB72897A8F}" type="pres">
      <dgm:prSet presAssocID="{9335191D-2736-49A3-B226-E7EEA8D82BA5}" presName="sibTrans" presStyleCnt="0"/>
      <dgm:spPr/>
    </dgm:pt>
    <dgm:pt modelId="{B99C70AC-A1A4-4C9F-A03A-A1C8988D44D8}" type="pres">
      <dgm:prSet presAssocID="{27EB39F7-BCE2-47EE-988B-EB870AF13CEF}" presName="composite" presStyleCnt="0"/>
      <dgm:spPr/>
    </dgm:pt>
    <dgm:pt modelId="{4882E469-5F57-4E00-BCB8-841E9C478624}" type="pres">
      <dgm:prSet presAssocID="{27EB39F7-BCE2-47EE-988B-EB870AF13CE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BCE75B36-6A13-4AFD-BFCB-022259284759}" srcId="{E4854950-25D6-4DB1-8B10-61509EFE98A8}" destId="{A4177AC8-9E05-4913-8B2F-AD2CD0DE658C}" srcOrd="0" destOrd="0" parTransId="{01C50CE6-9CEC-439B-8755-F3F81203CD40}" sibTransId="{5ADA465C-0EB2-4669-89A0-2449D23E2D5A}"/>
    <dgm:cxn modelId="{43F1939C-1CBF-468F-B47A-BB84E0C7D54A}" type="presOf" srcId="{27EB39F7-BCE2-47EE-988B-EB870AF13CEF}" destId="{4882E469-5F57-4E00-BCB8-841E9C478624}" srcOrd="0" destOrd="0" presId="urn:microsoft.com/office/officeart/2005/8/layout/StepDownProcess"/>
    <dgm:cxn modelId="{176329B1-B421-490F-ACA4-D06A60175ED2}" type="presOf" srcId="{A4177AC8-9E05-4913-8B2F-AD2CD0DE658C}" destId="{A9E85D1C-02A2-498F-89E6-C13C9286446B}" srcOrd="0" destOrd="0" presId="urn:microsoft.com/office/officeart/2005/8/layout/StepDownProcess"/>
    <dgm:cxn modelId="{DA128FB7-E043-405D-8C08-66675336CB8A}" srcId="{E4854950-25D6-4DB1-8B10-61509EFE98A8}" destId="{0C7E6397-D652-45DA-A17D-08DF641D2491}" srcOrd="1" destOrd="0" parTransId="{61834476-D0C6-4EE4-9F8C-1DE2D722B4DD}" sibTransId="{9335191D-2736-49A3-B226-E7EEA8D82BA5}"/>
    <dgm:cxn modelId="{2878C9C6-D844-4F42-845D-68BF0E317FA4}" type="presOf" srcId="{E4854950-25D6-4DB1-8B10-61509EFE98A8}" destId="{F1CFD844-749E-41D6-A42A-BED2F30F6233}" srcOrd="0" destOrd="0" presId="urn:microsoft.com/office/officeart/2005/8/layout/StepDownProcess"/>
    <dgm:cxn modelId="{646079ED-707E-4E7F-9AFE-A7E4C21A1862}" srcId="{E4854950-25D6-4DB1-8B10-61509EFE98A8}" destId="{27EB39F7-BCE2-47EE-988B-EB870AF13CEF}" srcOrd="2" destOrd="0" parTransId="{41E99C8C-4EF7-4B37-B478-96845B9D8CD9}" sibTransId="{66FF1E1A-ACD9-4F85-B6D4-A82037F2C042}"/>
    <dgm:cxn modelId="{8215DCF9-E721-4111-B7E7-10FB0085285F}" type="presOf" srcId="{0C7E6397-D652-45DA-A17D-08DF641D2491}" destId="{7BFEBA83-74E9-4C61-9E8B-E0878C53B8ED}" srcOrd="0" destOrd="0" presId="urn:microsoft.com/office/officeart/2005/8/layout/StepDownProcess"/>
    <dgm:cxn modelId="{650172C8-557C-4797-B045-33891B308CCB}" type="presParOf" srcId="{F1CFD844-749E-41D6-A42A-BED2F30F6233}" destId="{D1DBE042-B9B0-4BE7-B3A7-1CF6143E9B5B}" srcOrd="0" destOrd="0" presId="urn:microsoft.com/office/officeart/2005/8/layout/StepDownProcess"/>
    <dgm:cxn modelId="{809CC0ED-8572-4649-82E9-2E0A766D0F2B}" type="presParOf" srcId="{D1DBE042-B9B0-4BE7-B3A7-1CF6143E9B5B}" destId="{47A81F97-FF6D-4129-A54B-83AAFB7C81E8}" srcOrd="0" destOrd="0" presId="urn:microsoft.com/office/officeart/2005/8/layout/StepDownProcess"/>
    <dgm:cxn modelId="{87857AE8-1834-47B1-B675-75BC9000C989}" type="presParOf" srcId="{D1DBE042-B9B0-4BE7-B3A7-1CF6143E9B5B}" destId="{A9E85D1C-02A2-498F-89E6-C13C9286446B}" srcOrd="1" destOrd="0" presId="urn:microsoft.com/office/officeart/2005/8/layout/StepDownProcess"/>
    <dgm:cxn modelId="{8D80F1EB-1A4A-4310-A12D-3A66A8013AB5}" type="presParOf" srcId="{D1DBE042-B9B0-4BE7-B3A7-1CF6143E9B5B}" destId="{F10EF8D3-6996-4F9D-AE99-090B46F5262E}" srcOrd="2" destOrd="0" presId="urn:microsoft.com/office/officeart/2005/8/layout/StepDownProcess"/>
    <dgm:cxn modelId="{92BBC537-EC9B-4B0E-8608-6E34F764FF35}" type="presParOf" srcId="{F1CFD844-749E-41D6-A42A-BED2F30F6233}" destId="{2407BFB7-500C-479E-9DD8-FF6B23D92BBB}" srcOrd="1" destOrd="0" presId="urn:microsoft.com/office/officeart/2005/8/layout/StepDownProcess"/>
    <dgm:cxn modelId="{B0BC4BA5-E637-4C3F-8AB0-18A4AB5299D8}" type="presParOf" srcId="{F1CFD844-749E-41D6-A42A-BED2F30F6233}" destId="{FEE17722-F397-4AB9-A181-69162ED91232}" srcOrd="2" destOrd="0" presId="urn:microsoft.com/office/officeart/2005/8/layout/StepDownProcess"/>
    <dgm:cxn modelId="{A521B524-209A-4C9C-8A5B-032F488AB028}" type="presParOf" srcId="{FEE17722-F397-4AB9-A181-69162ED91232}" destId="{A07A4E14-FADE-4973-A3A9-2A842AE32355}" srcOrd="0" destOrd="0" presId="urn:microsoft.com/office/officeart/2005/8/layout/StepDownProcess"/>
    <dgm:cxn modelId="{3823735E-5F56-4D53-97F7-6D8CB57BEE31}" type="presParOf" srcId="{FEE17722-F397-4AB9-A181-69162ED91232}" destId="{7BFEBA83-74E9-4C61-9E8B-E0878C53B8ED}" srcOrd="1" destOrd="0" presId="urn:microsoft.com/office/officeart/2005/8/layout/StepDownProcess"/>
    <dgm:cxn modelId="{04767AD7-9928-4E54-AEB7-278B1AB7CAA5}" type="presParOf" srcId="{FEE17722-F397-4AB9-A181-69162ED91232}" destId="{7F132A1C-FCA6-44A0-B333-3A84035F3066}" srcOrd="2" destOrd="0" presId="urn:microsoft.com/office/officeart/2005/8/layout/StepDownProcess"/>
    <dgm:cxn modelId="{8A4F4EE1-FF34-4D67-A03C-01EE3DE35B5D}" type="presParOf" srcId="{F1CFD844-749E-41D6-A42A-BED2F30F6233}" destId="{8D76D515-C5D3-49CD-BC10-B4AB72897A8F}" srcOrd="3" destOrd="0" presId="urn:microsoft.com/office/officeart/2005/8/layout/StepDownProcess"/>
    <dgm:cxn modelId="{4ADAACD9-E773-44C4-974E-F991E407E000}" type="presParOf" srcId="{F1CFD844-749E-41D6-A42A-BED2F30F6233}" destId="{B99C70AC-A1A4-4C9F-A03A-A1C8988D44D8}" srcOrd="4" destOrd="0" presId="urn:microsoft.com/office/officeart/2005/8/layout/StepDownProcess"/>
    <dgm:cxn modelId="{61D24781-70C2-4820-A0C7-41C1773D672D}" type="presParOf" srcId="{B99C70AC-A1A4-4C9F-A03A-A1C8988D44D8}" destId="{4882E469-5F57-4E00-BCB8-841E9C478624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81F97-FF6D-4129-A54B-83AAFB7C81E8}">
      <dsp:nvSpPr>
        <dsp:cNvPr id="0" name=""/>
        <dsp:cNvSpPr/>
      </dsp:nvSpPr>
      <dsp:spPr>
        <a:xfrm rot="5400000">
          <a:off x="1209055" y="969689"/>
          <a:ext cx="857607" cy="97635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85D1C-02A2-498F-89E6-C13C9286446B}">
      <dsp:nvSpPr>
        <dsp:cNvPr id="0" name=""/>
        <dsp:cNvSpPr/>
      </dsp:nvSpPr>
      <dsp:spPr>
        <a:xfrm>
          <a:off x="981841" y="19015"/>
          <a:ext cx="1443705" cy="1010547"/>
        </a:xfrm>
        <a:prstGeom prst="roundRect">
          <a:avLst>
            <a:gd name="adj" fmla="val 1667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eorgia" panose="02040502050405020303" pitchFamily="18" charset="0"/>
            </a:rPr>
            <a:t>Scarcity</a:t>
          </a:r>
        </a:p>
      </dsp:txBody>
      <dsp:txXfrm>
        <a:off x="1031181" y="68355"/>
        <a:ext cx="1345025" cy="911867"/>
      </dsp:txXfrm>
    </dsp:sp>
    <dsp:sp modelId="{F10EF8D3-6996-4F9D-AE99-090B46F5262E}">
      <dsp:nvSpPr>
        <dsp:cNvPr id="0" name=""/>
        <dsp:cNvSpPr/>
      </dsp:nvSpPr>
      <dsp:spPr>
        <a:xfrm>
          <a:off x="2425547" y="115393"/>
          <a:ext cx="1050013" cy="81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A4E14-FADE-4973-A3A9-2A842AE32355}">
      <dsp:nvSpPr>
        <dsp:cNvPr id="0" name=""/>
        <dsp:cNvSpPr/>
      </dsp:nvSpPr>
      <dsp:spPr>
        <a:xfrm rot="5400000">
          <a:off x="2406041" y="2104867"/>
          <a:ext cx="857607" cy="97635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EBA83-74E9-4C61-9E8B-E0878C53B8ED}">
      <dsp:nvSpPr>
        <dsp:cNvPr id="0" name=""/>
        <dsp:cNvSpPr/>
      </dsp:nvSpPr>
      <dsp:spPr>
        <a:xfrm>
          <a:off x="2178827" y="1154192"/>
          <a:ext cx="1443705" cy="1010547"/>
        </a:xfrm>
        <a:prstGeom prst="roundRect">
          <a:avLst>
            <a:gd name="adj" fmla="val 1667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eorgia" panose="02040502050405020303" pitchFamily="18" charset="0"/>
            </a:rPr>
            <a:t>Choice</a:t>
          </a:r>
        </a:p>
      </dsp:txBody>
      <dsp:txXfrm>
        <a:off x="2228167" y="1203532"/>
        <a:ext cx="1345025" cy="911867"/>
      </dsp:txXfrm>
    </dsp:sp>
    <dsp:sp modelId="{7F132A1C-FCA6-44A0-B333-3A84035F3066}">
      <dsp:nvSpPr>
        <dsp:cNvPr id="0" name=""/>
        <dsp:cNvSpPr/>
      </dsp:nvSpPr>
      <dsp:spPr>
        <a:xfrm>
          <a:off x="3622532" y="1250571"/>
          <a:ext cx="1050013" cy="81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82E469-5F57-4E00-BCB8-841E9C478624}">
      <dsp:nvSpPr>
        <dsp:cNvPr id="0" name=""/>
        <dsp:cNvSpPr/>
      </dsp:nvSpPr>
      <dsp:spPr>
        <a:xfrm>
          <a:off x="3375812" y="2289370"/>
          <a:ext cx="1443705" cy="1010547"/>
        </a:xfrm>
        <a:prstGeom prst="roundRect">
          <a:avLst>
            <a:gd name="adj" fmla="val 16670"/>
          </a:avLst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Georgia" panose="02040502050405020303" pitchFamily="18" charset="0"/>
            </a:rPr>
            <a:t>Opportunity Cost</a:t>
          </a:r>
        </a:p>
      </dsp:txBody>
      <dsp:txXfrm>
        <a:off x="3425152" y="2338710"/>
        <a:ext cx="1345025" cy="9118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92E8A-371E-4FB7-B041-7AE6251937E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8191A-5713-439E-9D6F-41BD53B11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5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8191A-5713-439E-9D6F-41BD53B111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44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8191A-5713-439E-9D6F-41BD53B111D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1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F062-F91C-EA9E-66E4-7D66B5693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E9CBB-A08D-8078-8C71-6360A0A3A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98830-C4A6-51C3-134C-8C1DB8F57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2A8A-F5CD-461C-85C9-02D0524AD594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E98A7-B2BF-EA5A-A344-1B64C13F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F40DD-A66C-600F-0493-E5552039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1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A750-C002-D9D6-4B5C-4EE0AAA1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8E06E-7587-D6DD-A673-96BE2E7C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320A6-75D9-48A5-4C55-C41DF0A1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5B2E-48AC-4D32-8311-596B6A8E420F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B398-BB38-0A01-0F5C-0B12004B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1E4CA-0344-8C1F-32F2-75F13784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9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3263-F709-D7D8-51B8-2C7625E9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00AF-4287-3FD8-DC02-9A2A5CAF3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99BF9-72AA-1EF6-8E09-B2B88C0C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76582-1111-4366-9150-38EC11CE41B4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49518-7D6A-E84F-C8A6-0F965771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F67DF-6786-2432-D999-E33FE0DA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3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1355-4183-9046-0583-FAEA50A3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4558-0258-EFCD-09A9-546822D06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B8D05-E67C-6C45-0E78-7A5D0D215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85F21-108B-31D5-2C73-8C184CB3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B7A4-ADC3-4F02-86B1-D55ABF06C869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59C2E-69BF-C556-45CD-CD1BB957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03F3D-4B75-7D39-A921-4E8F501B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3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0E4A-F9F3-A515-59D1-3A57EE93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5D466-02DA-74AC-BFC6-551BFDFB5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EF2B7-C124-82BA-E335-9711CC6F2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ED227-6541-6883-A7D7-4F831B73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0A339-BDB4-8AA9-F61D-745854D31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B4F2-43EF-DD7F-0C41-A782DB6C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6B2F-7A7F-4397-9B7C-9CB18CED3A09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3BE7D-1498-09CC-19C4-70281B7A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F7543-3263-414C-EEB1-4580187C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3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7E4B-C7C4-DC34-7532-18C24166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735A7-E344-DAD3-2038-7C98A7C6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E056-27AB-4B2D-9BA4-4E8390BB7A94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18C38-59BF-F8B1-5C91-AA19F451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F5A3F-66A0-AEDF-DA4E-D4E49D51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C97E5-4B83-4F7E-0971-1354411B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1C1A4-FFFD-4BDF-98B1-1F5F2AE02F49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A8AF7-8F86-C6D5-B009-14F9CFB3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AA6DB-A1D8-7302-6918-C3793FF5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EDE0-6F36-3EDC-55E6-5736344D4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8557-A306-65B5-100E-8CAA177D6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FA88B-20F3-B237-1C9F-05537FAB5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3E516-E218-29EE-C571-1B827500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8C2D-E8D9-4295-A652-628B6C15E94C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B4DDD-E1C2-58FB-2659-30936DBE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4BD09-EDFE-843F-4EAF-13420E80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6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F612-D33F-5A4A-7A9E-C50379823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5C0A1-AB20-A0E7-769F-16C0E7EDE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90B7B-84CE-42DE-495D-931DD0BFA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59FD3-CF21-731C-40F9-DE16707F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5B045-2BFD-4559-8014-97AC36616624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42847-0758-B4E9-5C45-3E7391E0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72095-E72A-0046-B6BA-AC38B9C1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1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FD3-F26C-355E-2F13-5A42C3FF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AD293-3342-C510-0860-214563D4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926A-5C41-FF18-6CE9-F0B367B0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3DCE-C87F-445C-92F1-2BD90B571647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64AA-358E-1880-D3C9-9925AF24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4D838-C456-4B00-1F4F-BA1EA22C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6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43343-45B1-EA65-EB75-15D14615B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C1DC6-35CB-8698-9D84-10CA50408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32E91-09C0-BB5E-7B9F-47EBA9C4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179E-530D-4A04-8B2C-3EE55657260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47DE-6A85-BBD7-29C2-40D67DC6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973DD-7E31-CDCC-C3F8-046A74C9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1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BA31D-2D53-4313-B1E1-FBBA0172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DA7C0-F11D-13D6-A9D8-FEA4692FA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7CAC1-1AEA-F428-1CF4-0291864E9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DAFCB-3C32-40DA-B26C-0B82E20DC4F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32C43-1A9A-FC43-96A2-CEB7763CF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53D86-8CEA-6CCC-DAEF-335D832B2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CC7BC-FA6D-448C-A9DE-F744CEBC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usiness &amp; Economics Archives - Page 6 of 14 - Public Discourse">
            <a:extLst>
              <a:ext uri="{FF2B5EF4-FFF2-40B4-BE49-F238E27FC236}">
                <a16:creationId xmlns:a16="http://schemas.microsoft.com/office/drawing/2014/main" id="{46C8877C-BEA1-4DBE-3C4C-CB505D18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" t="9091" r="2130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68749-C1A0-D356-E5A6-CA79833CD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79" y="1122363"/>
            <a:ext cx="9629581" cy="3204134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TCS </a:t>
            </a:r>
            <a: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2112</a:t>
            </a:r>
            <a:b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01. Business Economics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EAF03-39E9-3D74-05C3-7381DB9D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V.P.V. </a:t>
            </a:r>
            <a:r>
              <a:rPr lang="en-US" sz="2000" dirty="0" err="1">
                <a:latin typeface="Georgia" panose="02040502050405020303" pitchFamily="18" charset="0"/>
                <a:cs typeface="Times New Roman" panose="02020603050405020304" pitchFamily="18" charset="0"/>
              </a:rPr>
              <a:t>Audarika</a:t>
            </a:r>
            <a:endParaRPr lang="en-US" sz="20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Department of Multidisciplinary Studies</a:t>
            </a:r>
          </a:p>
          <a:p>
            <a:pPr algn="l"/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algn="l"/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University of Ruhuna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C9279-509A-EE22-37B2-99C0DDDC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7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FAD76-4A0A-10E1-E5F2-CCCD6ED5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84127"/>
            <a:ext cx="5420360" cy="133083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4220-6539-879D-F864-97027BD55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68" y="2444926"/>
            <a:ext cx="5792434" cy="390858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Define Economics and Business Economics</a:t>
            </a:r>
          </a:p>
          <a:p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Understand the Need for Economics</a:t>
            </a:r>
          </a:p>
          <a:p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Explain Basic Economic Problems</a:t>
            </a:r>
          </a:p>
          <a:p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Understand the Basic Problems of an Economy</a:t>
            </a:r>
          </a:p>
          <a:p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D45F8351-9644-0E8D-2350-A6D41FCE4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35" r="5412" b="-1"/>
          <a:stretch>
            <a:fillRect/>
          </a:stretch>
        </p:blipFill>
        <p:spPr>
          <a:xfrm>
            <a:off x="6260570" y="1258188"/>
            <a:ext cx="5340028" cy="43653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6ED53-3ACD-F220-66CD-108A42B9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3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ACB7-0384-4974-96C6-67B1AC99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Before Invent Money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8F35E-2940-79CB-9375-20B7CE3CA8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82"/>
          <a:stretch>
            <a:fillRect/>
          </a:stretch>
        </p:blipFill>
        <p:spPr>
          <a:xfrm>
            <a:off x="89408" y="1845394"/>
            <a:ext cx="4565045" cy="4218901"/>
          </a:xfrm>
          <a:prstGeom prst="rect">
            <a:avLst/>
          </a:prstGeom>
        </p:spPr>
      </p:pic>
      <p:pic>
        <p:nvPicPr>
          <p:cNvPr id="10" name="Picture 9" descr="Trade | Baamboozle - Baamboozle | The Most Fun Classroom Games!">
            <a:extLst>
              <a:ext uri="{FF2B5EF4-FFF2-40B4-BE49-F238E27FC236}">
                <a16:creationId xmlns:a16="http://schemas.microsoft.com/office/drawing/2014/main" id="{BECB5074-6476-B515-38C8-C907375A9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80" y="3549597"/>
            <a:ext cx="3596952" cy="2731245"/>
          </a:xfrm>
          <a:prstGeom prst="rect">
            <a:avLst/>
          </a:prstGeom>
        </p:spPr>
      </p:pic>
      <p:pic>
        <p:nvPicPr>
          <p:cNvPr id="11" name="Picture 10" descr="Discover 12 Barti and barter system illustration ideas | barter system, barter  system drawing, barter agreement and more">
            <a:extLst>
              <a:ext uri="{FF2B5EF4-FFF2-40B4-BE49-F238E27FC236}">
                <a16:creationId xmlns:a16="http://schemas.microsoft.com/office/drawing/2014/main" id="{9FDBD3A3-28D8-5991-9264-1E5042314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232" y="1451769"/>
            <a:ext cx="3327881" cy="51435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C2014CD-6052-7088-9436-567F7EB7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6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24B3-C770-2A60-BE74-98192325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History of Economics</a:t>
            </a:r>
          </a:p>
        </p:txBody>
      </p:sp>
      <p:pic>
        <p:nvPicPr>
          <p:cNvPr id="4" name="Content Placeholder 4" descr="A diagram of a person working in different jobs&#10;&#10;Description automatically generated with medium confidence">
            <a:extLst>
              <a:ext uri="{FF2B5EF4-FFF2-40B4-BE49-F238E27FC236}">
                <a16:creationId xmlns:a16="http://schemas.microsoft.com/office/drawing/2014/main" id="{686169C1-8B85-32B8-D840-99865543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6" y="1563330"/>
            <a:ext cx="10824364" cy="49748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83C19-5A0A-6185-2F1E-FC9A03B5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8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1C24-D4D7-1349-503D-A7CA2770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What is 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E614-A2F7-AF38-1D12-F5DFFF676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065" marR="5080" indent="0">
              <a:spcBef>
                <a:spcPts val="105"/>
              </a:spcBef>
              <a:buNone/>
            </a:pPr>
            <a:r>
              <a:rPr lang="en-GB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The </a:t>
            </a:r>
            <a:r>
              <a:rPr lang="en-GB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word </a:t>
            </a:r>
            <a:r>
              <a:rPr lang="en-GB" spc="-5" dirty="0">
                <a:latin typeface="Georgia" panose="02040502050405020303" pitchFamily="18" charset="0"/>
                <a:cs typeface="Times New Roman" panose="02020603050405020304" pitchFamily="18" charset="0"/>
              </a:rPr>
              <a:t>‘</a:t>
            </a:r>
            <a:r>
              <a:rPr lang="en-GB" b="1" i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Economics</a:t>
            </a:r>
            <a:r>
              <a:rPr lang="en-GB" spc="-5" dirty="0">
                <a:latin typeface="Georgia" panose="02040502050405020303" pitchFamily="18" charset="0"/>
                <a:cs typeface="Times New Roman" panose="02020603050405020304" pitchFamily="18" charset="0"/>
              </a:rPr>
              <a:t>’ </a:t>
            </a:r>
            <a:r>
              <a:rPr lang="en-GB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originates </a:t>
            </a:r>
            <a:r>
              <a:rPr lang="en-GB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from </a:t>
            </a:r>
            <a:r>
              <a:rPr lang="en-GB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the </a:t>
            </a:r>
            <a:r>
              <a:rPr lang="en-GB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Greek word  </a:t>
            </a:r>
            <a:r>
              <a:rPr lang="en-GB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‘</a:t>
            </a:r>
            <a:r>
              <a:rPr lang="en-GB" b="1" i="1" spc="-15" dirty="0" err="1">
                <a:latin typeface="Georgia" panose="02040502050405020303" pitchFamily="18" charset="0"/>
                <a:cs typeface="Times New Roman" panose="02020603050405020304" pitchFamily="18" charset="0"/>
              </a:rPr>
              <a:t>Oikonomikos</a:t>
            </a:r>
            <a:r>
              <a:rPr lang="en-GB" i="1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’ </a:t>
            </a:r>
            <a:r>
              <a:rPr lang="en-GB" i="1" dirty="0">
                <a:latin typeface="Georgia" panose="02040502050405020303" pitchFamily="18" charset="0"/>
                <a:cs typeface="Times New Roman" panose="02020603050405020304" pitchFamily="18" charset="0"/>
              </a:rPr>
              <a:t>which </a:t>
            </a:r>
            <a:r>
              <a:rPr lang="en-GB" i="1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can </a:t>
            </a:r>
            <a:r>
              <a:rPr lang="en-GB" i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be divided </a:t>
            </a:r>
            <a:r>
              <a:rPr lang="en-GB" i="1" spc="-25" dirty="0">
                <a:latin typeface="Georgia" panose="02040502050405020303" pitchFamily="18" charset="0"/>
                <a:cs typeface="Times New Roman" panose="02020603050405020304" pitchFamily="18" charset="0"/>
              </a:rPr>
              <a:t>into </a:t>
            </a:r>
            <a:r>
              <a:rPr lang="en-GB" i="1" dirty="0">
                <a:latin typeface="Georgia" panose="02040502050405020303" pitchFamily="18" charset="0"/>
                <a:cs typeface="Times New Roman" panose="02020603050405020304" pitchFamily="18" charset="0"/>
              </a:rPr>
              <a:t>two</a:t>
            </a:r>
            <a:r>
              <a:rPr lang="en-GB" i="1" spc="75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i="1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parts:</a:t>
            </a:r>
          </a:p>
          <a:p>
            <a:pPr marL="12065" marR="5080" indent="0">
              <a:spcBef>
                <a:spcPts val="105"/>
              </a:spcBef>
              <a:buNone/>
            </a:pPr>
            <a:endParaRPr lang="en-GB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560705" indent="-548640">
              <a:spcBef>
                <a:spcPts val="765"/>
              </a:spcBef>
              <a:buFont typeface="Carlito"/>
              <a:buAutoNum type="alphaLcParenBoth"/>
              <a:tabLst>
                <a:tab pos="561340" algn="l"/>
              </a:tabLst>
            </a:pPr>
            <a:r>
              <a:rPr lang="en-GB" i="1" spc="-50" dirty="0">
                <a:latin typeface="Georgia" panose="02040502050405020303" pitchFamily="18" charset="0"/>
                <a:cs typeface="Times New Roman" panose="02020603050405020304" pitchFamily="18" charset="0"/>
              </a:rPr>
              <a:t>‘</a:t>
            </a:r>
            <a:r>
              <a:rPr lang="en-GB" b="1" i="1" spc="-50" dirty="0">
                <a:latin typeface="Georgia" panose="02040502050405020303" pitchFamily="18" charset="0"/>
                <a:cs typeface="Times New Roman" panose="02020603050405020304" pitchFamily="18" charset="0"/>
              </a:rPr>
              <a:t>Oikos</a:t>
            </a:r>
            <a:r>
              <a:rPr lang="en-GB" i="1" spc="-50" dirty="0">
                <a:latin typeface="Georgia" panose="02040502050405020303" pitchFamily="18" charset="0"/>
                <a:cs typeface="Times New Roman" panose="02020603050405020304" pitchFamily="18" charset="0"/>
              </a:rPr>
              <a:t>’, </a:t>
            </a:r>
            <a:r>
              <a:rPr lang="en-GB" i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which means </a:t>
            </a:r>
            <a:r>
              <a:rPr lang="en-GB" i="1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‘House’,</a:t>
            </a:r>
            <a:r>
              <a:rPr lang="en-GB" i="1" spc="55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i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and</a:t>
            </a:r>
            <a:endParaRPr lang="en-GB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560070" indent="-548005">
              <a:spcBef>
                <a:spcPts val="770"/>
              </a:spcBef>
              <a:buFont typeface="Carlito"/>
              <a:buAutoNum type="alphaLcParenBoth"/>
              <a:tabLst>
                <a:tab pos="560705" algn="l"/>
              </a:tabLst>
            </a:pPr>
            <a:r>
              <a:rPr lang="en-GB" i="1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‘</a:t>
            </a:r>
            <a:r>
              <a:rPr lang="en-GB" b="1" i="1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Nomos</a:t>
            </a:r>
            <a:r>
              <a:rPr lang="en-GB" i="1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’, </a:t>
            </a:r>
            <a:r>
              <a:rPr lang="en-GB" i="1" dirty="0">
                <a:latin typeface="Georgia" panose="02040502050405020303" pitchFamily="18" charset="0"/>
                <a:cs typeface="Times New Roman" panose="02020603050405020304" pitchFamily="18" charset="0"/>
              </a:rPr>
              <a:t>which </a:t>
            </a:r>
            <a:r>
              <a:rPr lang="en-GB" i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means</a:t>
            </a:r>
            <a:r>
              <a:rPr lang="en-GB" i="1" spc="3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i="1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‘Management’.</a:t>
            </a:r>
            <a:endParaRPr lang="en-GB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Economics is known as the queen of social sciences.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F1ADF-5997-2EE1-C2A1-22EDC6A8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5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1516CB1-E8C8-4751-B6A6-46B2D1E72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C8713-C326-8E63-FCE5-8FC1C81C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Georgia" panose="02040502050405020303" pitchFamily="18" charset="0"/>
              </a:rPr>
              <a:t>Definitions for Economics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C0C0D1-E79A-41FF-8322-256F6DD1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An Inquiry into the Nature and Causes of the Wealth of Nations by Adam Smith  | Goodreads">
            <a:extLst>
              <a:ext uri="{FF2B5EF4-FFF2-40B4-BE49-F238E27FC236}">
                <a16:creationId xmlns:a16="http://schemas.microsoft.com/office/drawing/2014/main" id="{02C6486F-07D8-578C-32EE-593741A8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45" r="-2" b="6541"/>
          <a:stretch>
            <a:fillRect/>
          </a:stretch>
        </p:blipFill>
        <p:spPr>
          <a:xfrm>
            <a:off x="429767" y="1721922"/>
            <a:ext cx="3419856" cy="4520560"/>
          </a:xfrm>
          <a:prstGeom prst="rect">
            <a:avLst/>
          </a:prstGeom>
        </p:spPr>
      </p:pic>
      <p:pic>
        <p:nvPicPr>
          <p:cNvPr id="4" name="Picture 3" descr="Adam Smith Portrait As He Writes The Invisible Hand On White Background,  King George Iii Clipart, James Oglethorpe Clipart, Adam PNG Transparent  Image and Clipart for Free Download">
            <a:extLst>
              <a:ext uri="{FF2B5EF4-FFF2-40B4-BE49-F238E27FC236}">
                <a16:creationId xmlns:a16="http://schemas.microsoft.com/office/drawing/2014/main" id="{74536BBB-6B09-4B3C-EBDC-E22A28C018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2" r="16038" b="-4"/>
          <a:stretch>
            <a:fillRect/>
          </a:stretch>
        </p:blipFill>
        <p:spPr>
          <a:xfrm>
            <a:off x="4226837" y="1721922"/>
            <a:ext cx="3420596" cy="4520560"/>
          </a:xfrm>
          <a:prstGeom prst="rect">
            <a:avLst/>
          </a:prstGeom>
        </p:spPr>
      </p:pic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95FA420-5595-49D1-9D5F-79EC43B5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4648" y="1721922"/>
            <a:ext cx="3609143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D169-963F-8CAB-C2E1-85021E823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348" y="2020824"/>
            <a:ext cx="2956060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eorgia" panose="02040502050405020303" pitchFamily="18" charset="0"/>
              </a:rPr>
              <a:t>Adam Smith</a:t>
            </a:r>
          </a:p>
          <a:p>
            <a:r>
              <a:rPr lang="en-US" sz="1800" dirty="0">
                <a:latin typeface="Georgia" panose="02040502050405020303" pitchFamily="18" charset="0"/>
              </a:rPr>
              <a:t>Father of Economics</a:t>
            </a:r>
          </a:p>
          <a:p>
            <a:r>
              <a:rPr lang="en-US" sz="1800" dirty="0">
                <a:latin typeface="Georgia" panose="02040502050405020303" pitchFamily="18" charset="0"/>
              </a:rPr>
              <a:t>The study of nature and uses of national wealth</a:t>
            </a:r>
          </a:p>
          <a:p>
            <a:r>
              <a:rPr lang="en-US" sz="1800" dirty="0">
                <a:latin typeface="Georgia" panose="02040502050405020303" pitchFamily="18" charset="0"/>
              </a:rPr>
              <a:t>Economics is the “</a:t>
            </a:r>
            <a:r>
              <a:rPr lang="en-US" sz="1800" b="1" dirty="0">
                <a:latin typeface="Georgia" panose="02040502050405020303" pitchFamily="18" charset="0"/>
              </a:rPr>
              <a:t>science of the wealth</a:t>
            </a:r>
            <a:r>
              <a:rPr lang="en-US" sz="1800" dirty="0">
                <a:latin typeface="Georgia" panose="02040502050405020303" pitchFamily="18" charset="0"/>
              </a:rPr>
              <a:t>”</a:t>
            </a:r>
          </a:p>
          <a:p>
            <a:endParaRPr lang="en-US" sz="1800" dirty="0">
              <a:latin typeface="Georgia" panose="02040502050405020303" pitchFamily="18" charset="0"/>
            </a:endParaRPr>
          </a:p>
          <a:p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8AF79-B13A-E04B-1433-A416C190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2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57E8-38E1-05C7-BF4E-77C8FFE3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Definitions for Economics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1FAC-9689-6288-1AED-59F714ED6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“Economics is a study of man’s actions in the ordinary business of life ; it enquires how he gets his income and how he uses it .”- </a:t>
            </a:r>
            <a:r>
              <a:rPr lang="en-US" b="1" i="1" dirty="0">
                <a:latin typeface="Georgia" panose="02040502050405020303" pitchFamily="18" charset="0"/>
              </a:rPr>
              <a:t>Dr. Alfred </a:t>
            </a:r>
            <a:r>
              <a:rPr lang="en-US" b="1" i="1" dirty="0" err="1">
                <a:latin typeface="Georgia" panose="02040502050405020303" pitchFamily="18" charset="0"/>
              </a:rPr>
              <a:t>marshall</a:t>
            </a:r>
            <a:endParaRPr lang="en-US" b="1" i="1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“the science which studies human behavior as a relationship between ends and scarce means which have alternative uses”- </a:t>
            </a:r>
            <a:r>
              <a:rPr lang="en-US" b="1" i="1" dirty="0">
                <a:latin typeface="Georgia" panose="02040502050405020303" pitchFamily="18" charset="0"/>
              </a:rPr>
              <a:t>Prof Lionel Robbins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8EAB1-7F0E-F588-AAC0-AF52E77A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1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9F7EB-8002-1EF5-C55A-09A554AF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Needs and Wants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29CA1E-38E9-FDB8-EC19-B83F8B2DA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412" b="4840"/>
          <a:stretch>
            <a:fillRect/>
          </a:stretch>
        </p:blipFill>
        <p:spPr>
          <a:xfrm>
            <a:off x="1697736" y="1459109"/>
            <a:ext cx="7608824" cy="5220913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59D45F0-7482-5500-65D9-96A82AB8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9825214" y="1141507"/>
            <a:ext cx="1845084" cy="205727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EBFD537-C7B5-9003-108A-A9B795B7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9987917" y="3883084"/>
            <a:ext cx="1845084" cy="20572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9389E-BCF6-60C8-9A3F-F15A9C09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5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031-F85D-8817-BAEF-D208BADC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Foundation Concept of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C02B-8A5C-7FDB-4E40-780C9590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latin typeface="Georgia" panose="02040502050405020303" pitchFamily="18" charset="0"/>
              </a:rPr>
              <a:t>Scarcity</a:t>
            </a:r>
            <a:r>
              <a:rPr lang="en-US" dirty="0">
                <a:latin typeface="Georgia" panose="02040502050405020303" pitchFamily="18" charset="0"/>
              </a:rPr>
              <a:t> is the foundation concept of economics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Georgia" panose="02040502050405020303" pitchFamily="18" charset="0"/>
              </a:rPr>
              <a:t>What is Scarcity? </a:t>
            </a:r>
          </a:p>
          <a:p>
            <a:pPr lvl="1">
              <a:lnSpc>
                <a:spcPct val="170000"/>
              </a:lnSpc>
            </a:pPr>
            <a:r>
              <a:rPr lang="en-US" b="1" u="sng" dirty="0">
                <a:latin typeface="Georgia" panose="02040502050405020303" pitchFamily="18" charset="0"/>
              </a:rPr>
              <a:t>Resources are very limited </a:t>
            </a:r>
            <a:r>
              <a:rPr lang="en-US" dirty="0">
                <a:latin typeface="Georgia" panose="02040502050405020303" pitchFamily="18" charset="0"/>
              </a:rPr>
              <a:t>compared to the </a:t>
            </a:r>
            <a:r>
              <a:rPr lang="en-US" b="1" u="sng" dirty="0">
                <a:latin typeface="Georgia" panose="02040502050405020303" pitchFamily="18" charset="0"/>
              </a:rPr>
              <a:t>unlimited human needs and wants. 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dirty="0">
                <a:latin typeface="Georgia" panose="02040502050405020303" pitchFamily="18" charset="0"/>
              </a:rPr>
              <a:t>For an individual, resources include time, money, and skill. 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Georgia" panose="02040502050405020303" pitchFamily="18" charset="0"/>
              </a:rPr>
              <a:t>For a business resources may enable production of goods and services. 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Georgia" panose="02040502050405020303" pitchFamily="18" charset="0"/>
              </a:rPr>
              <a:t>For a country, limited resources include natural resources, capital, </a:t>
            </a:r>
            <a:r>
              <a:rPr lang="en-US" dirty="0" err="1">
                <a:latin typeface="Georgia" panose="02040502050405020303" pitchFamily="18" charset="0"/>
              </a:rPr>
              <a:t>labour</a:t>
            </a:r>
            <a:r>
              <a:rPr lang="en-US" dirty="0">
                <a:latin typeface="Georgia" panose="02040502050405020303" pitchFamily="18" charset="0"/>
              </a:rPr>
              <a:t> force, technology, etc.</a:t>
            </a:r>
            <a:endParaRPr lang="en-US" b="1" u="sng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  <a:p>
            <a:pPr lvl="1"/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5EE97-8B93-78A5-1B78-B969A2D3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0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ECEF-605B-D499-11B2-46DD0FC0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614" y="290052"/>
            <a:ext cx="5441386" cy="16002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Georgia" panose="02040502050405020303" pitchFamily="18" charset="0"/>
              </a:rPr>
              <a:t>Scarcity</a:t>
            </a:r>
          </a:p>
        </p:txBody>
      </p:sp>
      <p:pic>
        <p:nvPicPr>
          <p:cNvPr id="4" name="Content Placeholder 3" descr="Scarcity is the Reason for Economic Problems – The Bell">
            <a:extLst>
              <a:ext uri="{FF2B5EF4-FFF2-40B4-BE49-F238E27FC236}">
                <a16:creationId xmlns:a16="http://schemas.microsoft.com/office/drawing/2014/main" id="{F5045EA5-8330-EE64-75F7-B542F6846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2796" y="2184400"/>
            <a:ext cx="4814527" cy="438912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DA6C94-F5E4-8953-0C8F-5B820615B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7471092" cy="381158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Georgia" panose="02040502050405020303" pitchFamily="18" charset="0"/>
              </a:rPr>
              <a:t>Points that emphasize about scarcity;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Scarcity is a common concept for every society.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Scarcity is a relative concept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Not reflect inefficiencies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Does not mean the poverty</a:t>
            </a:r>
          </a:p>
          <a:p>
            <a:pPr>
              <a:lnSpc>
                <a:spcPct val="150000"/>
              </a:lnSpc>
            </a:pP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5E4AF4-958E-76EC-F12D-A83BD5C8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9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CE5F-E0C1-BA9C-A30A-7F306843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ACC94-A1B6-1DBE-FF6F-DF1A6A08B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5776644" cy="4348163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Georgia" panose="02040502050405020303" pitchFamily="18" charset="0"/>
              </a:rPr>
              <a:t>Choice is the process of deciding which needs of people in society will be met using the scare resources available in an economy.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Georgia" panose="02040502050405020303" pitchFamily="18" charset="0"/>
              </a:rPr>
              <a:t>The question of choice arises for two reasons;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</a:rPr>
              <a:t>Lack of resources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</a:rPr>
              <a:t>The existence of alternative uses for resources</a:t>
            </a:r>
          </a:p>
        </p:txBody>
      </p:sp>
      <p:pic>
        <p:nvPicPr>
          <p:cNvPr id="4" name="Picture 3" descr="Chapter 1 Scarcity and Decision Making - Economics Scrapbook">
            <a:extLst>
              <a:ext uri="{FF2B5EF4-FFF2-40B4-BE49-F238E27FC236}">
                <a16:creationId xmlns:a16="http://schemas.microsoft.com/office/drawing/2014/main" id="{9918F974-5010-B915-69E6-BB332FC74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36"/>
          <a:stretch>
            <a:fillRect/>
          </a:stretch>
        </p:blipFill>
        <p:spPr>
          <a:xfrm>
            <a:off x="6614844" y="91440"/>
            <a:ext cx="5574108" cy="641096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05FAA-7889-9897-7D17-79054F30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7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22B8-F91C-64B5-B68F-7015F693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7104E-0D23-B152-3059-30C732B9A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can’t have it all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SCARCITY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remember?), so you have to choose how to spend your money, time, and energy.  These decisions involve picking one thing over all the other possibilities –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TRADE-OFF!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40414-986B-63E8-224C-62CB7FE9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2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3796-5BA6-44DB-456F-87411076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Opportunity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6BB7-4240-5147-5FE8-5EACA6748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Opportunity cost refers to the value of the next best option that must be sacrificed when making a choice among alternative choices regarding an economy activity.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Things to consider when evaluating the concept of opportunity cost;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Opportunity cost is a concrete concept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Opportunity cost is a subjective concept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Not limited to a person making the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5B951-A7D4-3F8A-D4D9-4E0A9197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9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6CDE-30CB-6E0D-386D-0F009746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Opportunity Cost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E7EE-1DAF-C34D-1787-F4AC72731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Situations where the opportunity cost can be zero;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opportunity cost is zero for free goods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opportunity cost is zero when there are no alternatives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In the situation of general unemployment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07F0C-9FDE-B029-F87D-D94779C7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1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EDACC8-5734-C4E6-7C78-B7AE2DBF2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61" y="346075"/>
            <a:ext cx="11342476" cy="61868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7A0DB-D8E6-64C9-A49D-59591821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19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266D-80A9-C175-DF1E-88D11E5B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Basic Economics concepts in Nutshell</a:t>
            </a:r>
          </a:p>
        </p:txBody>
      </p:sp>
      <p:pic>
        <p:nvPicPr>
          <p:cNvPr id="4" name="Content Placeholder 3" descr="Scarcity &amp; Opportunity Cost: Interactive Editorial Cartoon | AI Art  Generator | Easy-Peasy.AI">
            <a:extLst>
              <a:ext uri="{FF2B5EF4-FFF2-40B4-BE49-F238E27FC236}">
                <a16:creationId xmlns:a16="http://schemas.microsoft.com/office/drawing/2014/main" id="{C9A0AE72-4724-1865-C159-8A1FBE2E9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9371" y="1528286"/>
            <a:ext cx="4964589" cy="4964589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0BEF858-4CF8-A14E-5D2F-B66785855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081553"/>
              </p:ext>
            </p:extLst>
          </p:nvPr>
        </p:nvGraphicFramePr>
        <p:xfrm>
          <a:off x="598011" y="2115450"/>
          <a:ext cx="5801360" cy="3318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1626F9-20D0-D158-4611-0B71088B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8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6BEC6B-5C77-412D-B45A-5B0F46F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1CA62-9D15-AD6F-4B9F-DC7BA800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4"/>
            <a:ext cx="10515600" cy="14811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Factors of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70CCF-ABAF-A100-140C-8A6B2AB5F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402"/>
            <a:ext cx="3990968" cy="446240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Georgia" panose="02040502050405020303" pitchFamily="18" charset="0"/>
                <a:cs typeface="Times New Roman" panose="02020603050405020304" pitchFamily="18" charset="0"/>
              </a:rPr>
              <a:t>Production factors refer to the factors that are used for produce goods and service to produce income.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Georgia" panose="02040502050405020303" pitchFamily="18" charset="0"/>
              </a:rPr>
              <a:t>Land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Georgia" panose="02040502050405020303" pitchFamily="18" charset="0"/>
              </a:rPr>
              <a:t>Labor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Georgia" panose="02040502050405020303" pitchFamily="18" charset="0"/>
              </a:rPr>
              <a:t>Capital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Georgia" panose="02040502050405020303" pitchFamily="18" charset="0"/>
              </a:rPr>
              <a:t>Entrepreneurship </a:t>
            </a:r>
          </a:p>
        </p:txBody>
      </p:sp>
      <p:pic>
        <p:nvPicPr>
          <p:cNvPr id="5" name="Picture 2" descr="What Are the Factors of Production?">
            <a:extLst>
              <a:ext uri="{FF2B5EF4-FFF2-40B4-BE49-F238E27FC236}">
                <a16:creationId xmlns:a16="http://schemas.microsoft.com/office/drawing/2014/main" id="{9D9F7B84-1542-1786-0A22-35D1E2BCC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" r="3512" b="3"/>
          <a:stretch>
            <a:fillRect/>
          </a:stretch>
        </p:blipFill>
        <p:spPr bwMode="auto">
          <a:xfrm>
            <a:off x="5191128" y="1847129"/>
            <a:ext cx="6162670" cy="427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DEFC2-FC4E-DFA3-77F1-3CE9CA28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5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5972-9260-8A7C-C32B-3198F370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latin typeface="Georgia" panose="02040502050405020303" pitchFamily="18" charset="0"/>
                <a:cs typeface="Times New Roman" panose="02020603050405020304" pitchFamily="18" charset="0"/>
              </a:rPr>
              <a:t>Land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15F5-09B4-CEDB-5BF8-C1736E6A6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includes the natural resources utilize to create goods or service.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F7F75-45CC-A159-1B43-4B22E0498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r="9000"/>
          <a:stretch>
            <a:fillRect/>
          </a:stretch>
        </p:blipFill>
        <p:spPr>
          <a:xfrm>
            <a:off x="2875280" y="2480452"/>
            <a:ext cx="6756400" cy="36965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3D2C0-DB0D-EAA5-3F28-5265B8D7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5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7C99-FCAF-027B-DDB9-750BCDAD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Georgia" panose="02040502050405020303" pitchFamily="18" charset="0"/>
              </a:rPr>
              <a:t>Labour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D4002-8198-9063-1652-875EBB20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Labour is the work done by the people in a work force.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Labour is heterogeneous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Perishable in nature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associate with human effort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skilled and unskilled workers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improves productivity and quality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BB38D-02E4-0E58-82A9-D172808E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77C70-8F32-4698-DBCC-870489DF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211" y="2618505"/>
            <a:ext cx="3874370" cy="387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5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5D03-5D81-DBDC-F212-497FD2C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Capital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05262-62DC-41DE-EDB2-E14AC4B2F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refers to capital goods or man-made resources.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goods are distinguished from consumer goods.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capital: ponds, cages, aerators, boats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capital: feed, fuel, medicines, fingerlings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increases efficiency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Machinery, Buildings, Raw materials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4899-2141-EC51-539A-43BB04D1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49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7D14-F733-0B1B-E539-D8B8A813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Entrepreneurship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A915-B1F2-949F-EFEC-EA83DB8EF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combines, control and manage all the factors of production to produce products or service.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 who undertake this process called as entrepreneur.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Organizing and risk management are the two main functions of the entrepreneur.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91AE-9703-9E03-EBAC-1738A3A0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06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C8F3D-360C-25CC-0E12-2136CB5A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Georgia" panose="02040502050405020303" pitchFamily="18" charset="0"/>
              </a:rPr>
              <a:t>What is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53552-E7A7-6997-ADE2-D0D9C31F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Economics is the study of how people allocate their limited resources to produce goods and services to satisfy their endless wants and to maximize their gains.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Economics Currency Stock Illustrations – 21,522 Economics Currency Stock  Illustrations, Vectors &amp; Clipart - Dreamstime">
            <a:extLst>
              <a:ext uri="{FF2B5EF4-FFF2-40B4-BE49-F238E27FC236}">
                <a16:creationId xmlns:a16="http://schemas.microsoft.com/office/drawing/2014/main" id="{14D34918-72A1-FE1B-850F-1B4DF0711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03A35-CD36-20A7-9E21-9B29DFB8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9FDB5-A7FB-DDFE-E948-A28419C5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Business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D1150-73AC-F471-541D-654B1692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257800" cy="384366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Business economics is the application of economic theory and methodology to solving business problems. </a:t>
            </a:r>
          </a:p>
        </p:txBody>
      </p:sp>
      <p:pic>
        <p:nvPicPr>
          <p:cNvPr id="4" name="Picture 3" descr="Business &amp; Economics">
            <a:extLst>
              <a:ext uri="{FF2B5EF4-FFF2-40B4-BE49-F238E27FC236}">
                <a16:creationId xmlns:a16="http://schemas.microsoft.com/office/drawing/2014/main" id="{4D07F4F2-CFB4-6B75-C190-BA737BE1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302" r="11789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E589D-A173-0187-6620-AD659B8A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01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3059-3131-2124-A678-D889925C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Philosophy of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5563-5424-15F2-5978-4C82B2FD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5" y="1619608"/>
            <a:ext cx="10382865" cy="491930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Positive Economics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Answers the questions, </a:t>
            </a:r>
            <a:r>
              <a:rPr lang="en-US" b="1" u="sng" dirty="0">
                <a:latin typeface="Georgia" panose="02040502050405020303" pitchFamily="18" charset="0"/>
              </a:rPr>
              <a:t>what is? What happened? What will happen?.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A statement of fact is used to </a:t>
            </a:r>
            <a:r>
              <a:rPr lang="en-US" b="1" u="sng" dirty="0">
                <a:latin typeface="Georgia" panose="02040502050405020303" pitchFamily="18" charset="0"/>
              </a:rPr>
              <a:t>show the relationship </a:t>
            </a:r>
            <a:r>
              <a:rPr lang="en-US" dirty="0">
                <a:latin typeface="Georgia" panose="02040502050405020303" pitchFamily="18" charset="0"/>
              </a:rPr>
              <a:t>between several variables or to explain phenomenon.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The accuracy of such statement can be </a:t>
            </a:r>
            <a:r>
              <a:rPr lang="en-US" b="1" u="sng" dirty="0">
                <a:latin typeface="Georgia" panose="02040502050405020303" pitchFamily="18" charset="0"/>
              </a:rPr>
              <a:t>tested by empirical evidence </a:t>
            </a:r>
            <a:r>
              <a:rPr lang="en-US" dirty="0">
                <a:latin typeface="Georgia" panose="02040502050405020303" pitchFamily="18" charset="0"/>
              </a:rPr>
              <a:t>(information gathered from real world). When the positive statement does not match the empirical evidence, then that statement is rejected.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Ex: There is an inverse relationship between money supply and price level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36EDA-91A3-EC81-08E3-2BD0D1B1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6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F286-959E-D5DC-4992-ECD9D6C7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Philosophy of Economics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BEB0-6898-BD31-446E-F8334888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Normative Economics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A factual statement can be true or false. Focuses on </a:t>
            </a:r>
            <a:r>
              <a:rPr lang="en-US" b="1" u="sng" dirty="0">
                <a:latin typeface="Georgia" panose="02040502050405020303" pitchFamily="18" charset="0"/>
              </a:rPr>
              <a:t>what ought to be.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These statements are subjective.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Ex: Income should be distributed equally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>
                <a:latin typeface="Georgia" panose="02040502050405020303" pitchFamily="18" charset="0"/>
              </a:rPr>
              <a:t>	Minimum </a:t>
            </a:r>
            <a:r>
              <a:rPr lang="en-US" dirty="0">
                <a:latin typeface="Georgia" panose="02040502050405020303" pitchFamily="18" charset="0"/>
              </a:rPr>
              <a:t>wages should </a:t>
            </a:r>
            <a:r>
              <a:rPr lang="en-US">
                <a:latin typeface="Georgia" panose="02040502050405020303" pitchFamily="18" charset="0"/>
              </a:rPr>
              <a:t>be increased</a:t>
            </a: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4DE9A-D7D9-1590-BA67-083DFC1F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84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5878-4F8D-7D34-3F91-DBE35B616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775A-B806-8761-4348-48F2581B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Philosophy of Economics</a:t>
            </a:r>
          </a:p>
        </p:txBody>
      </p:sp>
      <p:pic>
        <p:nvPicPr>
          <p:cNvPr id="4" name="Picture 3" descr="Positive VS Normative Economics ************************************** Plz  support us on YouTube https://youtu.be/bIKC2ReVPa4?si=W_P3gczXpisB1WEM 1. Positive  Economics describes economic phenomena .It gives no opinion and Normative  Economics gives ...">
            <a:extLst>
              <a:ext uri="{FF2B5EF4-FFF2-40B4-BE49-F238E27FC236}">
                <a16:creationId xmlns:a16="http://schemas.microsoft.com/office/drawing/2014/main" id="{C45A50F1-6608-27CE-E4B5-637D1A160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84" y="1690687"/>
            <a:ext cx="5153332" cy="48620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CE1C-369E-F256-F120-5CC1BADC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20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D9040-415E-2487-52D9-ED0D1FDA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6600" dirty="0">
                <a:latin typeface="Georgia" panose="02040502050405020303" pitchFamily="18" charset="0"/>
              </a:rPr>
              <a:t>Economics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What is the Difference Between Microeconomics and Macroeconomics?">
            <a:extLst>
              <a:ext uri="{FF2B5EF4-FFF2-40B4-BE49-F238E27FC236}">
                <a16:creationId xmlns:a16="http://schemas.microsoft.com/office/drawing/2014/main" id="{EFD062F7-51A2-54F7-1F59-8FF6B3240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2" t="30115" r="50755"/>
          <a:stretch>
            <a:fillRect/>
          </a:stretch>
        </p:blipFill>
        <p:spPr>
          <a:xfrm>
            <a:off x="728347" y="2724144"/>
            <a:ext cx="1789465" cy="188294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FD2608A-9CAE-D168-6B5C-4659E62DB04F}"/>
              </a:ext>
            </a:extLst>
          </p:cNvPr>
          <p:cNvGrpSpPr/>
          <p:nvPr/>
        </p:nvGrpSpPr>
        <p:grpSpPr>
          <a:xfrm>
            <a:off x="1890365" y="2283014"/>
            <a:ext cx="8240809" cy="3548527"/>
            <a:chOff x="1465006" y="2064773"/>
            <a:chExt cx="8200104" cy="244779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FA1FDA-4C8C-5A96-CD33-1B1077A35F3D}"/>
                </a:ext>
              </a:extLst>
            </p:cNvPr>
            <p:cNvSpPr/>
            <p:nvPr/>
          </p:nvSpPr>
          <p:spPr>
            <a:xfrm>
              <a:off x="4198374" y="2064773"/>
              <a:ext cx="2733368" cy="747252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1792">
                <a:spcAft>
                  <a:spcPts val="600"/>
                </a:spcAft>
              </a:pPr>
              <a:r>
                <a:rPr lang="en-US" sz="2400" kern="1200">
                  <a:solidFill>
                    <a:schemeClr val="tx1"/>
                  </a:solidFill>
                  <a:latin typeface="Georgia" panose="02040502050405020303" pitchFamily="18" charset="0"/>
                </a:rPr>
                <a:t>Economics</a:t>
              </a:r>
              <a:endParaRPr lang="en-US" sz="240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17FDE8-3255-CDF7-A41A-C2CFB9A1F0EF}"/>
                </a:ext>
              </a:extLst>
            </p:cNvPr>
            <p:cNvSpPr/>
            <p:nvPr/>
          </p:nvSpPr>
          <p:spPr>
            <a:xfrm>
              <a:off x="6931742" y="3765319"/>
              <a:ext cx="2733368" cy="747252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1792">
                <a:spcAft>
                  <a:spcPts val="600"/>
                </a:spcAft>
              </a:pPr>
              <a:r>
                <a:rPr lang="en-US" sz="2400" kern="1200">
                  <a:solidFill>
                    <a:schemeClr val="tx1"/>
                  </a:solidFill>
                  <a:latin typeface="Georgia" panose="02040502050405020303" pitchFamily="18" charset="0"/>
                </a:rPr>
                <a:t>Macroeconomics</a:t>
              </a:r>
              <a:endParaRPr lang="en-US" sz="240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20D0E3-A80B-A0FC-AA66-225321DB2B63}"/>
                </a:ext>
              </a:extLst>
            </p:cNvPr>
            <p:cNvSpPr/>
            <p:nvPr/>
          </p:nvSpPr>
          <p:spPr>
            <a:xfrm>
              <a:off x="1465006" y="3765319"/>
              <a:ext cx="2733368" cy="747252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21792">
                <a:spcAft>
                  <a:spcPts val="6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Georgia" panose="02040502050405020303" pitchFamily="18" charset="0"/>
                </a:rPr>
                <a:t>Microeconomics</a:t>
              </a:r>
              <a:endParaRPr lang="en-US" sz="24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98C726-1757-4139-8ACF-1DCB569C4303}"/>
                </a:ext>
              </a:extLst>
            </p:cNvPr>
            <p:cNvCxnSpPr/>
            <p:nvPr/>
          </p:nvCxnSpPr>
          <p:spPr>
            <a:xfrm>
              <a:off x="2831690" y="3234813"/>
              <a:ext cx="5584723" cy="0"/>
            </a:xfrm>
            <a:prstGeom prst="line">
              <a:avLst/>
            </a:prstGeom>
            <a:grp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27EB9F-64B8-BB4F-8FF4-DE78BD18138C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2831690" y="3224981"/>
              <a:ext cx="0" cy="540338"/>
            </a:xfrm>
            <a:prstGeom prst="straightConnector1">
              <a:avLst/>
            </a:prstGeom>
            <a:grpFill/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E72039F-1841-B289-D835-A4F123162B8A}"/>
                </a:ext>
              </a:extLst>
            </p:cNvPr>
            <p:cNvCxnSpPr/>
            <p:nvPr/>
          </p:nvCxnSpPr>
          <p:spPr>
            <a:xfrm>
              <a:off x="8416413" y="3234813"/>
              <a:ext cx="0" cy="530506"/>
            </a:xfrm>
            <a:prstGeom prst="straightConnector1">
              <a:avLst/>
            </a:prstGeom>
            <a:grpFill/>
            <a:ln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CBDC56-234E-9785-96ED-16CC2A5E5DC1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5565058" y="2812025"/>
              <a:ext cx="0" cy="412956"/>
            </a:xfrm>
            <a:prstGeom prst="line">
              <a:avLst/>
            </a:prstGeom>
            <a:grp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 descr="What is the Difference Between Microeconomics and Macroeconomics?">
            <a:extLst>
              <a:ext uri="{FF2B5EF4-FFF2-40B4-BE49-F238E27FC236}">
                <a16:creationId xmlns:a16="http://schemas.microsoft.com/office/drawing/2014/main" id="{059CC67C-98E2-88FF-0E49-3EC10703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56" t="30115" r="4466" b="3868"/>
          <a:stretch>
            <a:fillRect/>
          </a:stretch>
        </p:blipFill>
        <p:spPr>
          <a:xfrm>
            <a:off x="9470640" y="2776251"/>
            <a:ext cx="1795357" cy="17787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E0C48-A69F-BDEA-31E3-8BBB360F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31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D18BF-6EF6-908D-5224-FCFEDD3BD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12653" cy="18073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</a:rPr>
              <a:t>Microeconomics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E9317-52E8-704E-0CC2-A95ADEA08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641258" cy="384366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Microeconomics focuses on analyzing the behavior of various units in an economic system including consumers, workers, production institutions and government.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Ex: </a:t>
            </a:r>
            <a:r>
              <a:rPr lang="en-US" sz="2000" b="1" dirty="0">
                <a:latin typeface="Georgia" panose="02040502050405020303" pitchFamily="18" charset="0"/>
              </a:rPr>
              <a:t>A customer deciding to buy a smartphone</a:t>
            </a:r>
            <a:r>
              <a:rPr lang="en-US" sz="2000" dirty="0">
                <a:latin typeface="Georgia" panose="02040502050405020303" pitchFamily="18" charset="0"/>
              </a:rPr>
              <a:t> based on its price, features, and budget. 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latin typeface="Georgia" panose="02040502050405020303" pitchFamily="18" charset="0"/>
              </a:rPr>
              <a:t>A farmer deciding how much wheat to produce</a:t>
            </a:r>
            <a:r>
              <a:rPr lang="en-US" sz="2000" dirty="0">
                <a:latin typeface="Georgia" panose="02040502050405020303" pitchFamily="18" charset="0"/>
              </a:rPr>
              <a:t> based on market prices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4" name="Picture 3" descr="Sutori">
            <a:extLst>
              <a:ext uri="{FF2B5EF4-FFF2-40B4-BE49-F238E27FC236}">
                <a16:creationId xmlns:a16="http://schemas.microsoft.com/office/drawing/2014/main" id="{35F20CF9-52FB-2F17-7BE6-AC439233C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1" r="9683"/>
          <a:stretch>
            <a:fillRect/>
          </a:stretch>
        </p:blipFill>
        <p:spPr>
          <a:xfrm>
            <a:off x="6229215" y="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3CCCD-2624-3337-37B9-0A46753F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48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076B2-A60C-E56D-3F53-8A9976998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166" y="316647"/>
            <a:ext cx="6125964" cy="1217558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Macroeconomics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EE93-F529-2C33-BDF5-2ADAE0394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1971040"/>
            <a:ext cx="4114801" cy="420592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Macroeconomics is analysis of the structure, performance and behavior of an economic system as a whole.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Georgia" panose="02040502050405020303" pitchFamily="18" charset="0"/>
              </a:rPr>
              <a:t>EX: 	Inflation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Georgia" panose="02040502050405020303" pitchFamily="18" charset="0"/>
              </a:rPr>
              <a:t>	Unemployment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Georgia" panose="02040502050405020303" pitchFamily="18" charset="0"/>
              </a:rPr>
              <a:t>	Balance payment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Georgia" panose="02040502050405020303" pitchFamily="18" charset="0"/>
              </a:rPr>
              <a:t>	Exchange rate </a:t>
            </a:r>
          </a:p>
        </p:txBody>
      </p:sp>
      <p:pic>
        <p:nvPicPr>
          <p:cNvPr id="5" name="Picture 4" descr="Imaduddin Educare | National Income Notes Class 12 Maharashtra Board">
            <a:extLst>
              <a:ext uri="{FF2B5EF4-FFF2-40B4-BE49-F238E27FC236}">
                <a16:creationId xmlns:a16="http://schemas.microsoft.com/office/drawing/2014/main" id="{D7B063E4-AB09-5CC8-64A1-23EC188EC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7" r="2" b="2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6" name="Picture 5" descr="Impact Of The Poverty's On Education">
            <a:extLst>
              <a:ext uri="{FF2B5EF4-FFF2-40B4-BE49-F238E27FC236}">
                <a16:creationId xmlns:a16="http://schemas.microsoft.com/office/drawing/2014/main" id="{6BB8ED5C-B29F-C840-D562-CD2DC25D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" r="4" b="4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4" name="Picture 3" descr="Happy businessman presenting gdp growth | Premium Vector">
            <a:extLst>
              <a:ext uri="{FF2B5EF4-FFF2-40B4-BE49-F238E27FC236}">
                <a16:creationId xmlns:a16="http://schemas.microsoft.com/office/drawing/2014/main" id="{08DD8C95-EF30-89D7-1F73-2B83350E0C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85" r="6475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1CB1C-E0CF-A53A-35F8-70F5FB62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7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A81B6-83ED-2E7A-CA06-E0BD03CB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>
                <a:latin typeface="Georgia" panose="02040502050405020303" pitchFamily="18" charset="0"/>
              </a:rPr>
              <a:t>Fundamental Economic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6BB90-769D-2093-3B81-4339B023E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There are three basic economic problems that every developed and developing society faces in common. These problem arise from the central economic problem of scarcity. They are;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What to produce?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How to produce?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For whom are the goods produced?</a:t>
            </a:r>
            <a:endParaRPr lang="en-LK" b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4" name="Picture 3" descr="Abdalla - 📈 𝐄𝐜𝐨𝐧𝐨𝐦𝐢𝐜𝐬 𝐂𝐨𝐮𝐫𝐬𝐞-: 𝐔𝐧𝐝𝐞𝐫𝐬𝐭𝐚𝐧𝐝𝐢𝐧𝐠  𝐭𝐡𝐞 𝐁𝐚𝐬𝐢𝐜 𝐄𝐜𝐨𝐧𝐨𝐦𝐢𝐜 𝐐𝐮𝐞𝐬𝐭𝐢𝐨𝐧𝐬 Welcome to Lesson 4 of  our educational journey in economics! Today, we're delving into the  fundamental questions that every ...">
            <a:extLst>
              <a:ext uri="{FF2B5EF4-FFF2-40B4-BE49-F238E27FC236}">
                <a16:creationId xmlns:a16="http://schemas.microsoft.com/office/drawing/2014/main" id="{3DEE105B-8E7B-7ED3-0E7D-7BC527A5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12" r="16488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7C38C-819D-33C6-10B2-B923E5FC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63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54439-C4C7-25B3-39B1-A0F070EB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3400" b="1" spc="-5"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Times New Roman" panose="02020603050405020304" pitchFamily="18" charset="0"/>
              </a:rPr>
              <a:t>What Goods Should </a:t>
            </a:r>
            <a:r>
              <a:rPr lang="en-GB" sz="3400" b="1">
                <a:uFill>
                  <a:solidFill>
                    <a:srgbClr val="FFFFFF"/>
                  </a:solidFill>
                </a:uFill>
                <a:latin typeface="Georgia" panose="02040502050405020303" pitchFamily="18" charset="0"/>
                <a:cs typeface="Times New Roman" panose="02020603050405020304" pitchFamily="18" charset="0"/>
              </a:rPr>
              <a:t>Be Produced?</a:t>
            </a:r>
            <a:endParaRPr lang="en-US" sz="3400">
              <a:latin typeface="Georgia" panose="02040502050405020303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9ED4-F49A-257A-6045-7A9182B59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6542024" cy="3664712"/>
          </a:xfrm>
        </p:spPr>
        <p:txBody>
          <a:bodyPr anchor="t">
            <a:normAutofit/>
          </a:bodyPr>
          <a:lstStyle/>
          <a:p>
            <a:pPr marL="0" indent="0">
              <a:spcBef>
                <a:spcPts val="550"/>
              </a:spcBef>
              <a:buNone/>
              <a:tabLst>
                <a:tab pos="469265" algn="l"/>
              </a:tabLst>
            </a:pPr>
            <a:r>
              <a:rPr lang="en-GB" sz="22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A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n econ</a:t>
            </a:r>
            <a:r>
              <a:rPr lang="en-GB" sz="2200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o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my 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wa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nts many </a:t>
            </a:r>
            <a:r>
              <a:rPr lang="en-GB" sz="2200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things,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b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ut 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a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ll t</a:t>
            </a:r>
            <a:r>
              <a:rPr lang="en-GB" sz="2200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h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e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s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e </a:t>
            </a:r>
            <a:r>
              <a:rPr lang="en-GB" sz="2200" spc="-15" dirty="0">
                <a:latin typeface="Georgia" panose="02040502050405020303" pitchFamily="18" charset="0"/>
                <a:cs typeface="Times New Roman" panose="02020603050405020304" pitchFamily="18" charset="0"/>
              </a:rPr>
              <a:t>c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an</a:t>
            </a:r>
            <a:r>
              <a:rPr lang="en-GB" sz="2200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n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ot 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b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e 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r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od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u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ce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d w</a:t>
            </a:r>
            <a:r>
              <a:rPr lang="en-GB" sz="2200" spc="5" dirty="0">
                <a:latin typeface="Georgia" panose="02040502050405020303" pitchFamily="18" charset="0"/>
                <a:cs typeface="Times New Roman" panose="02020603050405020304" pitchFamily="18" charset="0"/>
              </a:rPr>
              <a:t>i</a:t>
            </a:r>
            <a:r>
              <a:rPr lang="en-GB" sz="2200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t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h </a:t>
            </a:r>
            <a:r>
              <a:rPr lang="en-GB" sz="2200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t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he a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v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ai</a:t>
            </a:r>
            <a:r>
              <a:rPr lang="en-GB" sz="22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la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ble resources.</a:t>
            </a:r>
          </a:p>
          <a:p>
            <a:pPr marL="0" indent="0">
              <a:spcBef>
                <a:spcPts val="550"/>
              </a:spcBef>
              <a:buNone/>
              <a:tabLst>
                <a:tab pos="469265" algn="l"/>
              </a:tabLst>
            </a:pPr>
            <a:endParaRPr lang="en-GB" sz="22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12065" marR="5080" indent="0">
              <a:spcBef>
                <a:spcPts val="555"/>
              </a:spcBef>
              <a:buNone/>
            </a:pPr>
            <a:r>
              <a:rPr lang="en-GB" sz="22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Therefore, an economy 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has </a:t>
            </a:r>
            <a:r>
              <a:rPr lang="en-GB" sz="22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to choose 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what </a:t>
            </a:r>
            <a:r>
              <a:rPr lang="en-GB" sz="22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goods should be produced and what goods 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should not</a:t>
            </a:r>
            <a:r>
              <a:rPr lang="en-GB" sz="2200" spc="-7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be.</a:t>
            </a:r>
          </a:p>
          <a:p>
            <a:endParaRPr lang="en-US" sz="2200" dirty="0">
              <a:latin typeface="Georgia" panose="02040502050405020303" pitchFamily="18" charset="0"/>
            </a:endParaRPr>
          </a:p>
        </p:txBody>
      </p:sp>
      <p:pic>
        <p:nvPicPr>
          <p:cNvPr id="4" name="Picture 3" descr="Microeconomics Intro: Understanding Scarcity and Resource Allocation -  Studocu">
            <a:extLst>
              <a:ext uri="{FF2B5EF4-FFF2-40B4-BE49-F238E27FC236}">
                <a16:creationId xmlns:a16="http://schemas.microsoft.com/office/drawing/2014/main" id="{F0E0D8CD-70A4-7B2F-41B9-7AB33327A0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84" t="56960" r="17064" b="3804"/>
          <a:stretch>
            <a:fillRect/>
          </a:stretch>
        </p:blipFill>
        <p:spPr>
          <a:xfrm>
            <a:off x="7641853" y="1953463"/>
            <a:ext cx="3677920" cy="31163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EFEC8-3C10-5BC7-7003-FCC630CD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10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358C2-5E8C-6564-FD24-B87555C5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LK" b="1">
                <a:latin typeface="Times New Roman" panose="02020603050405020304" pitchFamily="18" charset="0"/>
                <a:cs typeface="Times New Roman" panose="02020603050405020304" pitchFamily="18" charset="0"/>
              </a:rPr>
              <a:t>How to produce?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578C-628D-B682-B07E-D12313AF5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6" y="2064774"/>
            <a:ext cx="6430297" cy="4112189"/>
          </a:xfrm>
        </p:spPr>
        <p:txBody>
          <a:bodyPr>
            <a:normAutofit fontScale="70000" lnSpcReduction="20000"/>
          </a:bodyPr>
          <a:lstStyle/>
          <a:p>
            <a:pPr marL="12065" marR="8255" indent="0">
              <a:lnSpc>
                <a:spcPct val="200000"/>
              </a:lnSpc>
              <a:spcBef>
                <a:spcPts val="105"/>
              </a:spcBef>
              <a:buNone/>
              <a:tabLst>
                <a:tab pos="356235" algn="l"/>
              </a:tabLst>
            </a:pPr>
            <a:r>
              <a:rPr lang="en-GB" sz="2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GB" sz="2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</a:t>
            </a: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lang="en-GB" sz="29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GB" sz="29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commodities?</a:t>
            </a:r>
            <a:endParaRPr lang="en-GB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6350" indent="0">
              <a:lnSpc>
                <a:spcPct val="200000"/>
              </a:lnSpc>
              <a:spcBef>
                <a:spcPts val="770"/>
              </a:spcBef>
              <a:buNone/>
              <a:tabLst>
                <a:tab pos="356235" algn="l"/>
              </a:tabLst>
            </a:pP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arises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there </a:t>
            </a:r>
            <a:r>
              <a:rPr lang="en-GB" sz="29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techniques  available </a:t>
            </a:r>
            <a:r>
              <a:rPr lang="en-GB" sz="29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lang="en-GB" sz="29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commodity</a:t>
            </a:r>
            <a:endParaRPr lang="en-GB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indent="0">
              <a:lnSpc>
                <a:spcPct val="200000"/>
              </a:lnSpc>
              <a:spcBef>
                <a:spcPts val="765"/>
              </a:spcBef>
              <a:buNone/>
              <a:tabLst>
                <a:tab pos="356235" algn="l"/>
              </a:tabLst>
            </a:pP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as, </a:t>
            </a:r>
            <a:r>
              <a:rPr lang="en-GB" sz="29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wheat,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GB" sz="29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GB" sz="29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either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less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less of </a:t>
            </a:r>
            <a:r>
              <a:rPr lang="en-GB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GB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9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capital.</a:t>
            </a:r>
            <a:endParaRPr lang="en-GB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6" name="Picture 5" descr="Cartoon Factory Worker Overseeing Production Line with Machinery Stock  Illustration - Illustration of cartoon, concept: 413813097">
            <a:extLst>
              <a:ext uri="{FF2B5EF4-FFF2-40B4-BE49-F238E27FC236}">
                <a16:creationId xmlns:a16="http://schemas.microsoft.com/office/drawing/2014/main" id="{6F04E66B-B2E2-FCCC-07D0-16E82F38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19" r="18919" b="1"/>
          <a:stretch>
            <a:fillRect/>
          </a:stretch>
        </p:blipFill>
        <p:spPr>
          <a:xfrm>
            <a:off x="6927718" y="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B745F-AE89-4632-BC2F-9439DD07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4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6AAE2-B027-5C86-7B6D-8F0CF436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b="1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For </a:t>
            </a:r>
            <a:r>
              <a:rPr lang="en-GB" b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whom </a:t>
            </a:r>
            <a:r>
              <a:rPr lang="en-GB" b="1" spc="-30" dirty="0">
                <a:latin typeface="Georgia" panose="02040502050405020303" pitchFamily="18" charset="0"/>
                <a:cs typeface="Times New Roman" panose="02020603050405020304" pitchFamily="18" charset="0"/>
              </a:rPr>
              <a:t>to</a:t>
            </a:r>
            <a:r>
              <a:rPr lang="en-GB" b="1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b="1" spc="-5" dirty="0">
                <a:latin typeface="Georgia" panose="02040502050405020303" pitchFamily="18" charset="0"/>
                <a:cs typeface="Times New Roman" panose="02020603050405020304" pitchFamily="18" charset="0"/>
              </a:rPr>
              <a:t>produce?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06B9-3406-775C-2F1A-9D6445F99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5257800" cy="3843666"/>
          </a:xfrm>
        </p:spPr>
        <p:txBody>
          <a:bodyPr>
            <a:normAutofit fontScale="92500" lnSpcReduction="20000"/>
          </a:bodyPr>
          <a:lstStyle/>
          <a:p>
            <a:pPr marL="12065" marR="5080" indent="0" algn="just">
              <a:lnSpc>
                <a:spcPct val="150000"/>
              </a:lnSpc>
              <a:spcBef>
                <a:spcPts val="105"/>
              </a:spcBef>
              <a:buNone/>
              <a:tabLst>
                <a:tab pos="356235" algn="l"/>
              </a:tabLst>
            </a:pP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The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main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objective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of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producing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a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commodity is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its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consumption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in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the</a:t>
            </a:r>
            <a:r>
              <a:rPr lang="en-GB" sz="2000" spc="45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40" dirty="0">
                <a:latin typeface="Georgia" panose="02040502050405020303" pitchFamily="18" charset="0"/>
                <a:cs typeface="Times New Roman" panose="02020603050405020304" pitchFamily="18" charset="0"/>
              </a:rPr>
              <a:t>economy.</a:t>
            </a:r>
            <a:endParaRPr lang="en-GB" sz="20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12065" marR="5080" indent="0" algn="just">
              <a:lnSpc>
                <a:spcPct val="150000"/>
              </a:lnSpc>
              <a:spcBef>
                <a:spcPts val="770"/>
              </a:spcBef>
              <a:buNone/>
              <a:tabLst>
                <a:tab pos="356235" algn="l"/>
              </a:tabLst>
            </a:pP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An </a:t>
            </a:r>
            <a:r>
              <a:rPr lang="en-GB" sz="2000" spc="-20" dirty="0">
                <a:latin typeface="Georgia" panose="02040502050405020303" pitchFamily="18" charset="0"/>
                <a:cs typeface="Times New Roman" panose="02020603050405020304" pitchFamily="18" charset="0"/>
              </a:rPr>
              <a:t>Economy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has </a:t>
            </a:r>
            <a:r>
              <a:rPr lang="en-GB" sz="2000" spc="-25" dirty="0">
                <a:latin typeface="Georgia" panose="02040502050405020303" pitchFamily="18" charset="0"/>
                <a:cs typeface="Times New Roman" panose="02020603050405020304" pitchFamily="18" charset="0"/>
              </a:rPr>
              <a:t>to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decide </a:t>
            </a:r>
            <a:r>
              <a:rPr lang="en-GB" sz="2000" spc="-25" dirty="0">
                <a:latin typeface="Georgia" panose="02040502050405020303" pitchFamily="18" charset="0"/>
                <a:cs typeface="Times New Roman" panose="02020603050405020304" pitchFamily="18" charset="0"/>
              </a:rPr>
              <a:t>for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whom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goods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should </a:t>
            </a:r>
            <a:r>
              <a:rPr lang="en-GB" sz="2000" spc="5" dirty="0">
                <a:latin typeface="Georgia" panose="02040502050405020303" pitchFamily="18" charset="0"/>
                <a:cs typeface="Times New Roman" panose="02020603050405020304" pitchFamily="18" charset="0"/>
              </a:rPr>
              <a:t>be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produced.</a:t>
            </a:r>
            <a:endParaRPr lang="en-GB" sz="20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12065" marR="5080" indent="0" algn="just">
              <a:lnSpc>
                <a:spcPct val="150000"/>
              </a:lnSpc>
              <a:spcBef>
                <a:spcPts val="765"/>
              </a:spcBef>
              <a:buNone/>
              <a:tabLst>
                <a:tab pos="356235" algn="l"/>
              </a:tabLst>
            </a:pP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This is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the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problem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of the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distribution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of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produced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goods and services. </a:t>
            </a:r>
            <a:r>
              <a:rPr lang="en-GB" sz="2000" spc="-25" dirty="0">
                <a:latin typeface="Georgia" panose="02040502050405020303" pitchFamily="18" charset="0"/>
                <a:cs typeface="Times New Roman" panose="02020603050405020304" pitchFamily="18" charset="0"/>
              </a:rPr>
              <a:t>Therefore,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what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goods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should be consumed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and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by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whom </a:t>
            </a:r>
            <a:r>
              <a:rPr lang="en-GB" sz="2000" spc="-5" dirty="0">
                <a:latin typeface="Georgia" panose="02040502050405020303" pitchFamily="18" charset="0"/>
                <a:cs typeface="Times New Roman" panose="02020603050405020304" pitchFamily="18" charset="0"/>
              </a:rPr>
              <a:t>depends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on the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distribution </a:t>
            </a:r>
            <a:r>
              <a:rPr lang="en-GB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of the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National</a:t>
            </a:r>
            <a:r>
              <a:rPr lang="en-GB" sz="2000" spc="10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10" dirty="0">
                <a:latin typeface="Georgia" panose="02040502050405020303" pitchFamily="18" charset="0"/>
                <a:cs typeface="Times New Roman" panose="02020603050405020304" pitchFamily="18" charset="0"/>
              </a:rPr>
              <a:t>Product.</a:t>
            </a:r>
            <a:endParaRPr lang="en-GB" sz="20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5" name="Picture 4" descr="Page 2 - 3,000+ Free Grocery Cart &amp; Supermarket Images - Pixabay">
            <a:extLst>
              <a:ext uri="{FF2B5EF4-FFF2-40B4-BE49-F238E27FC236}">
                <a16:creationId xmlns:a16="http://schemas.microsoft.com/office/drawing/2014/main" id="{3009115C-4A83-8BDB-503C-5EC6DEF77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9" r="6455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91A9-132E-6BF4-C349-070A4DAE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5CC7BC-FA6D-448C-A9DE-F744CEBCE89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237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B348-4B8A-1322-D842-32E9DFB4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Types of Economics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15A81A-D34E-D65A-AA6F-C4CFF8578D89}"/>
              </a:ext>
            </a:extLst>
          </p:cNvPr>
          <p:cNvGrpSpPr/>
          <p:nvPr/>
        </p:nvGrpSpPr>
        <p:grpSpPr>
          <a:xfrm>
            <a:off x="1238865" y="2192594"/>
            <a:ext cx="9829184" cy="2759100"/>
            <a:chOff x="1238865" y="2192594"/>
            <a:chExt cx="9829184" cy="2759100"/>
          </a:xfrm>
          <a:solidFill>
            <a:schemeClr val="accent5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BE49CC-6228-A0F5-936B-3DC8FDC6E7A9}"/>
                </a:ext>
              </a:extLst>
            </p:cNvPr>
            <p:cNvSpPr/>
            <p:nvPr/>
          </p:nvSpPr>
          <p:spPr>
            <a:xfrm>
              <a:off x="4159045" y="2192594"/>
              <a:ext cx="3549445" cy="796412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Types of Economics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212FA4-9D86-36EC-57B9-2B3D547963B3}"/>
                </a:ext>
              </a:extLst>
            </p:cNvPr>
            <p:cNvSpPr/>
            <p:nvPr/>
          </p:nvSpPr>
          <p:spPr>
            <a:xfrm>
              <a:off x="1238865" y="4214274"/>
              <a:ext cx="2271252" cy="737419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Market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4AFB48-53B8-EE47-8195-F94457EC4C7C}"/>
                </a:ext>
              </a:extLst>
            </p:cNvPr>
            <p:cNvSpPr/>
            <p:nvPr/>
          </p:nvSpPr>
          <p:spPr>
            <a:xfrm>
              <a:off x="5111545" y="4214275"/>
              <a:ext cx="2271252" cy="737419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Command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D04B50-AEC0-958A-2D09-5B7E95BD131C}"/>
                </a:ext>
              </a:extLst>
            </p:cNvPr>
            <p:cNvSpPr/>
            <p:nvPr/>
          </p:nvSpPr>
          <p:spPr>
            <a:xfrm>
              <a:off x="8796797" y="4214275"/>
              <a:ext cx="2271252" cy="737419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Mixed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9242C4-D5DE-3BA5-C973-9E388A8DD7C0}"/>
                </a:ext>
              </a:extLst>
            </p:cNvPr>
            <p:cNvCxnSpPr/>
            <p:nvPr/>
          </p:nvCxnSpPr>
          <p:spPr>
            <a:xfrm>
              <a:off x="2369574" y="3529781"/>
              <a:ext cx="7826478" cy="0"/>
            </a:xfrm>
            <a:prstGeom prst="line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2E8D332-CB46-0A03-2AC0-17EB8B29CC24}"/>
                </a:ext>
              </a:extLst>
            </p:cNvPr>
            <p:cNvCxnSpPr>
              <a:cxnSpLocks/>
            </p:cNvCxnSpPr>
            <p:nvPr/>
          </p:nvCxnSpPr>
          <p:spPr>
            <a:xfrm>
              <a:off x="6105832" y="3529781"/>
              <a:ext cx="0" cy="684492"/>
            </a:xfrm>
            <a:prstGeom prst="straightConnector1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F6E6A3B-F86E-18D0-CC94-E49CDECE1949}"/>
                </a:ext>
              </a:extLst>
            </p:cNvPr>
            <p:cNvCxnSpPr/>
            <p:nvPr/>
          </p:nvCxnSpPr>
          <p:spPr>
            <a:xfrm>
              <a:off x="2369574" y="3529781"/>
              <a:ext cx="0" cy="684492"/>
            </a:xfrm>
            <a:prstGeom prst="straightConnector1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EB9F7EF-BFF0-9DA8-0138-C17D092F0264}"/>
                </a:ext>
              </a:extLst>
            </p:cNvPr>
            <p:cNvCxnSpPr/>
            <p:nvPr/>
          </p:nvCxnSpPr>
          <p:spPr>
            <a:xfrm>
              <a:off x="10196052" y="3529781"/>
              <a:ext cx="0" cy="684492"/>
            </a:xfrm>
            <a:prstGeom prst="straightConnector1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0B6779-546A-C866-8F5C-685790086A19}"/>
                </a:ext>
              </a:extLst>
            </p:cNvPr>
            <p:cNvCxnSpPr/>
            <p:nvPr/>
          </p:nvCxnSpPr>
          <p:spPr>
            <a:xfrm>
              <a:off x="5933767" y="2989006"/>
              <a:ext cx="0" cy="540775"/>
            </a:xfrm>
            <a:prstGeom prst="line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16F7B-E6E9-F809-60C7-2BB48EA1D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84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C509D2-0C1A-47B8-89C1-D3AB17D45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031E6-BB94-1B73-A054-E51646DE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7373" y="556995"/>
            <a:ext cx="4753535" cy="167249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Market Economy</a:t>
            </a:r>
          </a:p>
        </p:txBody>
      </p:sp>
      <p:pic>
        <p:nvPicPr>
          <p:cNvPr id="5" name="Picture 4" descr="History of the Singapore Flag: What it Could Have Looked Like">
            <a:extLst>
              <a:ext uri="{FF2B5EF4-FFF2-40B4-BE49-F238E27FC236}">
                <a16:creationId xmlns:a16="http://schemas.microsoft.com/office/drawing/2014/main" id="{170EEA64-30A9-342D-DCF5-681FCDCA4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9" r="17139"/>
          <a:stretch>
            <a:fillRect/>
          </a:stretch>
        </p:blipFill>
        <p:spPr>
          <a:xfrm>
            <a:off x="88517" y="178712"/>
            <a:ext cx="2210984" cy="2456333"/>
          </a:xfrm>
          <a:prstGeom prst="rect">
            <a:avLst/>
          </a:prstGeom>
        </p:spPr>
      </p:pic>
      <p:pic>
        <p:nvPicPr>
          <p:cNvPr id="6" name="Picture 5" descr="Taiwan Flag for Sale - Buy online at Royal-Flags">
            <a:extLst>
              <a:ext uri="{FF2B5EF4-FFF2-40B4-BE49-F238E27FC236}">
                <a16:creationId xmlns:a16="http://schemas.microsoft.com/office/drawing/2014/main" id="{F196E886-B5AD-F9B6-7546-FB1AD599F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39" r="13688" b="-1"/>
          <a:stretch>
            <a:fillRect/>
          </a:stretch>
        </p:blipFill>
        <p:spPr>
          <a:xfrm>
            <a:off x="2743199" y="238524"/>
            <a:ext cx="2341235" cy="2614059"/>
          </a:xfrm>
          <a:prstGeom prst="rect">
            <a:avLst/>
          </a:prstGeom>
        </p:spPr>
      </p:pic>
      <p:pic>
        <p:nvPicPr>
          <p:cNvPr id="4" name="Picture 3" descr="Switzerland Flag - Hampshire Flag Company">
            <a:extLst>
              <a:ext uri="{FF2B5EF4-FFF2-40B4-BE49-F238E27FC236}">
                <a16:creationId xmlns:a16="http://schemas.microsoft.com/office/drawing/2014/main" id="{D51D12E0-B349-8233-1B2D-8A8C537D2E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" r="1" b="3591"/>
          <a:stretch>
            <a:fillRect/>
          </a:stretch>
        </p:blipFill>
        <p:spPr>
          <a:xfrm>
            <a:off x="513737" y="3196807"/>
            <a:ext cx="3829468" cy="20663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7A604-5794-7BDC-476B-F3D4178E3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8916" y="1956618"/>
            <a:ext cx="6014883" cy="43443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In a pure market economy, there is no government involvement in economic decisions</a:t>
            </a:r>
            <a:r>
              <a:rPr lang="en-US" sz="2400" dirty="0">
                <a:latin typeface="Georgia" panose="02040502050405020303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Georgia" panose="02040502050405020303" pitchFamily="18" charset="0"/>
              </a:rPr>
              <a:t>In a free market economy, economic decisions are primarily made by private individuals and firms.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Georgia" panose="02040502050405020303" pitchFamily="18" charset="0"/>
              </a:rPr>
              <a:t>Economic questions answered by producers and consumers Wide variety of choices and product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latin typeface="Georgia" panose="02040502050405020303" pitchFamily="18" charset="0"/>
              </a:rPr>
              <a:t>Ex: Singapore, Switzerland, Taiwan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FEF29-227F-5DB5-9BFB-BBB5F90E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93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C418-F5B0-C222-6831-64EDD758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How the free-market answers basic economic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BF69-3073-6AC7-D0EE-D45A29561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Georgia" panose="02040502050405020303" pitchFamily="18" charset="0"/>
              </a:rPr>
              <a:t>1. What? </a:t>
            </a:r>
            <a:r>
              <a:rPr lang="en-US" dirty="0">
                <a:latin typeface="Georgia" panose="02040502050405020303" pitchFamily="18" charset="0"/>
              </a:rPr>
              <a:t>consumers decide what should be produced in a market economy through the purchases they make.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Georgia" panose="02040502050405020303" pitchFamily="18" charset="0"/>
              </a:rPr>
              <a:t>2. How? </a:t>
            </a:r>
            <a:r>
              <a:rPr lang="en-US" dirty="0">
                <a:latin typeface="Georgia" panose="02040502050405020303" pitchFamily="18" charset="0"/>
              </a:rPr>
              <a:t>production is left entirely up to businesses. businesses must be competitive in such an economy and produce quality products at lower prices than their competitors.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Georgia" panose="02040502050405020303" pitchFamily="18" charset="0"/>
              </a:rPr>
              <a:t>3. For whom? </a:t>
            </a:r>
            <a:r>
              <a:rPr lang="en-US" dirty="0">
                <a:latin typeface="Georgia" panose="02040502050405020303" pitchFamily="18" charset="0"/>
              </a:rPr>
              <a:t>in a market economy, the people who have more money are able to buy more goods and services.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3575B-E3A3-18D5-2068-7FB207C0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25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44D32-763D-6BB3-0B60-96BB24B9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Command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D7E6-AD1E-CCF3-520A-FEB257D7F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821" y="1887794"/>
            <a:ext cx="6623708" cy="469406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A command economy is an economic system where the central government plans and controls all major aspects of production and distribution of goods and services.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Economic questions answered by the government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Very little choice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No private ownership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Communism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Ex: Old Soviet union, Cuba, Communist </a:t>
            </a:r>
            <a:r>
              <a:rPr lang="en-US" dirty="0" err="1">
                <a:latin typeface="Georgia" panose="02040502050405020303" pitchFamily="18" charset="0"/>
              </a:rPr>
              <a:t>china</a:t>
            </a:r>
            <a:r>
              <a:rPr lang="en-US" dirty="0">
                <a:latin typeface="Georgia" panose="02040502050405020303" pitchFamily="18" charset="0"/>
              </a:rPr>
              <a:t>,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Noeth Korea</a:t>
            </a:r>
          </a:p>
        </p:txBody>
      </p:sp>
      <p:pic>
        <p:nvPicPr>
          <p:cNvPr id="5" name="Picture 4" descr="Command Economy: (Definition, 4 Examples, Pros &amp; Cons)">
            <a:extLst>
              <a:ext uri="{FF2B5EF4-FFF2-40B4-BE49-F238E27FC236}">
                <a16:creationId xmlns:a16="http://schemas.microsoft.com/office/drawing/2014/main" id="{19ED1819-7859-B9F5-24F1-3EC30B00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98" y="3900958"/>
            <a:ext cx="4810874" cy="2417464"/>
          </a:xfrm>
          <a:prstGeom prst="rect">
            <a:avLst/>
          </a:prstGeom>
        </p:spPr>
      </p:pic>
      <p:pic>
        <p:nvPicPr>
          <p:cNvPr id="4" name="Picture 3" descr="Command Economy Stock Illustrations – 414 Command Economy Stock  Illustrations, Vectors &amp; Clipart - Dreamstime">
            <a:extLst>
              <a:ext uri="{FF2B5EF4-FFF2-40B4-BE49-F238E27FC236}">
                <a16:creationId xmlns:a16="http://schemas.microsoft.com/office/drawing/2014/main" id="{61A0C6A5-4784-30F2-4381-274D8E58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516" y="539578"/>
            <a:ext cx="3736447" cy="31386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D819-1C21-62CF-5809-B740F37B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94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D1C5-0C11-EABB-E914-F4785C93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How the command economy answers basic economic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7423-F490-E2D5-3C94-08E75455C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1.</a:t>
            </a:r>
            <a:r>
              <a:rPr lang="en-US" b="1" dirty="0">
                <a:latin typeface="Georgia" panose="02040502050405020303" pitchFamily="18" charset="0"/>
              </a:rPr>
              <a:t>What? </a:t>
            </a:r>
            <a:r>
              <a:rPr lang="en-US" dirty="0">
                <a:latin typeface="Georgia" panose="02040502050405020303" pitchFamily="18" charset="0"/>
              </a:rPr>
              <a:t>A central planning committee decides what products are needed.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2</a:t>
            </a:r>
            <a:r>
              <a:rPr lang="en-US" b="1" dirty="0">
                <a:latin typeface="Georgia" panose="02040502050405020303" pitchFamily="18" charset="0"/>
              </a:rPr>
              <a:t>. How? </a:t>
            </a:r>
            <a:r>
              <a:rPr lang="en-US" dirty="0">
                <a:latin typeface="Georgia" panose="02040502050405020303" pitchFamily="18" charset="0"/>
              </a:rPr>
              <a:t>Since the Government owns all means of production in a command economy, it decides how goods and services will be produced.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3. </a:t>
            </a:r>
            <a:r>
              <a:rPr lang="en-US" b="1" dirty="0">
                <a:latin typeface="Georgia" panose="02040502050405020303" pitchFamily="18" charset="0"/>
              </a:rPr>
              <a:t>For Whom? </a:t>
            </a:r>
            <a:r>
              <a:rPr lang="en-US" dirty="0">
                <a:latin typeface="Georgia" panose="02040502050405020303" pitchFamily="18" charset="0"/>
              </a:rPr>
              <a:t>The Government decides who will get what is produced in a command economy.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6A8C-3C21-7F71-02D2-4A339849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12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0C2F-152B-51A6-5C22-687B595C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Georgia" panose="02040502050405020303" pitchFamily="18" charset="0"/>
              </a:rPr>
              <a:t>Mixed Economy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8250-F220-AA00-0D31-8363DDD3F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In the Mixed economies, the Government and the Market work together in decision making 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Government involvement and ownership in control of property, decision-making, and companies.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Government control of businesses through regulations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Social “safety net” for people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Socialism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Georgia" panose="02040502050405020303" pitchFamily="18" charset="0"/>
              </a:rPr>
              <a:t>EX: Common in Europe, Latin America, Asia, and Africa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9D598-2738-1D3C-E735-31AE7116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46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8CD5-8EDC-266C-33B8-5EFA7B5B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Georgia" panose="02040502050405020303" pitchFamily="18" charset="0"/>
              </a:rPr>
              <a:t>How the command economy answers basic economic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BD77-5881-A444-C978-E89F70345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-457200">
              <a:lnSpc>
                <a:spcPct val="150000"/>
              </a:lnSpc>
              <a:spcAft>
                <a:spcPct val="4000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sz="2800" b="1" dirty="0">
                <a:latin typeface="Georgia" panose="02040502050405020303" pitchFamily="18" charset="0"/>
                <a:cs typeface="Times New Roman" panose="02020603050405020304" pitchFamily="18" charset="0"/>
              </a:rPr>
              <a:t>What?  </a:t>
            </a:r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Determined partly by consumer preferences and partly by government.</a:t>
            </a:r>
          </a:p>
          <a:p>
            <a:pPr marL="457200" lvl="1" indent="-457200">
              <a:lnSpc>
                <a:spcPct val="150000"/>
              </a:lnSpc>
              <a:spcAft>
                <a:spcPct val="4000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sz="2800" b="1" dirty="0">
                <a:latin typeface="Georgia" panose="02040502050405020303" pitchFamily="18" charset="0"/>
                <a:cs typeface="Times New Roman" panose="02020603050405020304" pitchFamily="18" charset="0"/>
              </a:rPr>
              <a:t>How? </a:t>
            </a:r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Determined partly by producers seeking profit and partly by government.</a:t>
            </a:r>
          </a:p>
          <a:p>
            <a:pPr marL="457200" lvl="1" indent="-457200">
              <a:lnSpc>
                <a:spcPct val="150000"/>
              </a:lnSpc>
              <a:spcAft>
                <a:spcPct val="4000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sz="2800" b="1" dirty="0">
                <a:latin typeface="Georgia" panose="02040502050405020303" pitchFamily="18" charset="0"/>
                <a:cs typeface="Times New Roman" panose="02020603050405020304" pitchFamily="18" charset="0"/>
              </a:rPr>
              <a:t>For Whom? </a:t>
            </a:r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Determined partly by purchasing power and partly by government preference.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5AC8-5A2E-7203-1598-043690F8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71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2BE3-A71C-6540-7343-BECF6B960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What do you think about type of Sri Lankan Economy?</a:t>
            </a:r>
          </a:p>
        </p:txBody>
      </p:sp>
      <p:pic>
        <p:nvPicPr>
          <p:cNvPr id="5" name="Content Placeholder 4" descr="Sri Lanka Map Flag Clip Arts - Flag Of Sri Lanka, HD Png Download ,  Transparent Png Image - PNGitem">
            <a:extLst>
              <a:ext uri="{FF2B5EF4-FFF2-40B4-BE49-F238E27FC236}">
                <a16:creationId xmlns:a16="http://schemas.microsoft.com/office/drawing/2014/main" id="{0AD7348E-0943-33CB-482A-B88BE9690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492" y="2079676"/>
            <a:ext cx="2360978" cy="4351338"/>
          </a:xfrm>
          <a:prstGeom prst="rect">
            <a:avLst/>
          </a:prstGeom>
        </p:spPr>
      </p:pic>
      <p:pic>
        <p:nvPicPr>
          <p:cNvPr id="4" name="Picture 3" descr="Question Emoji: Over 4,747 Royalty-Free Licensable Stock Illustrations &amp;  Drawings | Shutterstock">
            <a:extLst>
              <a:ext uri="{FF2B5EF4-FFF2-40B4-BE49-F238E27FC236}">
                <a16:creationId xmlns:a16="http://schemas.microsoft.com/office/drawing/2014/main" id="{05ACA303-2844-B9F5-6436-AB54A7F2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50" t="18063" r="14062" b="11078"/>
          <a:stretch>
            <a:fillRect/>
          </a:stretch>
        </p:blipFill>
        <p:spPr>
          <a:xfrm>
            <a:off x="6204166" y="1690688"/>
            <a:ext cx="4608859" cy="4483970"/>
          </a:xfrm>
          <a:prstGeom prst="ellipse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DA9170-39E6-DCDC-DD52-87A9F02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3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9AF1-10AC-0FFB-240A-0D272883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Market Types in Brief…</a:t>
            </a:r>
          </a:p>
        </p:txBody>
      </p:sp>
      <p:pic>
        <p:nvPicPr>
          <p:cNvPr id="5" name="Picture 2" descr="Mixed Economic System - Overview, How It Works, Pros and Cons">
            <a:extLst>
              <a:ext uri="{FF2B5EF4-FFF2-40B4-BE49-F238E27FC236}">
                <a16:creationId xmlns:a16="http://schemas.microsoft.com/office/drawing/2014/main" id="{48E2E650-5520-DB36-65AB-77634EDA5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74" y="1808956"/>
            <a:ext cx="10990526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99949-BAB4-4442-745F-54AE90F90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21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49FC7-FEA6-DD49-9E73-E5C204BA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62039" cy="1807305"/>
          </a:xfrm>
        </p:spPr>
        <p:txBody>
          <a:bodyPr>
            <a:norm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Why do we learn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5AC2-CDE2-E40A-6D16-B985A0BE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6"/>
            <a:ext cx="5788742" cy="39354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To understand the world around us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 To make better personal decisions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To understand how governments and businesses work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To Understand Markets and Predict Changes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To improve society </a:t>
            </a:r>
          </a:p>
        </p:txBody>
      </p:sp>
      <p:pic>
        <p:nvPicPr>
          <p:cNvPr id="4" name="Picture 3" descr="Ph.D. in Economics: Evolve as an Economic Trailblazer">
            <a:extLst>
              <a:ext uri="{FF2B5EF4-FFF2-40B4-BE49-F238E27FC236}">
                <a16:creationId xmlns:a16="http://schemas.microsoft.com/office/drawing/2014/main" id="{4D171DE7-1805-5242-6AAB-33C9B9CC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53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53BB2-BBE7-2776-D585-F3F5AFD0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6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International Childrens Day Presentation Google Slides Theme And Powerpoint  Template - Slidesdocs">
            <a:extLst>
              <a:ext uri="{FF2B5EF4-FFF2-40B4-BE49-F238E27FC236}">
                <a16:creationId xmlns:a16="http://schemas.microsoft.com/office/drawing/2014/main" id="{B9075C8C-6F38-9EFE-2153-9F8F97599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4" r="470"/>
          <a:stretch>
            <a:fillRect/>
          </a:stretch>
        </p:blipFill>
        <p:spPr>
          <a:xfrm>
            <a:off x="819144" y="457200"/>
            <a:ext cx="10553712" cy="59436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220A00-EAA7-1A23-CDD2-84A10046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CC7BC-FA6D-448C-A9DE-F744CEBCE89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1599</Words>
  <Application>Microsoft Office PowerPoint</Application>
  <PresentationFormat>Widescreen</PresentationFormat>
  <Paragraphs>229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Carlito</vt:lpstr>
      <vt:lpstr>Georgia</vt:lpstr>
      <vt:lpstr>Times New Roman</vt:lpstr>
      <vt:lpstr>Office Theme</vt:lpstr>
      <vt:lpstr>TCS 2112 01. Business Economics </vt:lpstr>
      <vt:lpstr>Learning Outcomes</vt:lpstr>
      <vt:lpstr>Before Invent Money</vt:lpstr>
      <vt:lpstr>History of Economics</vt:lpstr>
      <vt:lpstr>What is economics?</vt:lpstr>
      <vt:lpstr>Definitions for Economics</vt:lpstr>
      <vt:lpstr>Definitions for Economics (Cont.)</vt:lpstr>
      <vt:lpstr>Needs and Wants</vt:lpstr>
      <vt:lpstr>Foundation Concept of Economics</vt:lpstr>
      <vt:lpstr>Scarcity</vt:lpstr>
      <vt:lpstr>Choice</vt:lpstr>
      <vt:lpstr>Tradeoff</vt:lpstr>
      <vt:lpstr>Opportunity Cost</vt:lpstr>
      <vt:lpstr>Opportunity Cost (Cont.)</vt:lpstr>
      <vt:lpstr>PowerPoint Presentation</vt:lpstr>
      <vt:lpstr>Basic Economics concepts in Nutshell</vt:lpstr>
      <vt:lpstr>Factors of Production</vt:lpstr>
      <vt:lpstr>Land</vt:lpstr>
      <vt:lpstr>Labour</vt:lpstr>
      <vt:lpstr>Capital</vt:lpstr>
      <vt:lpstr>Entrepreneurship </vt:lpstr>
      <vt:lpstr>What is Economics</vt:lpstr>
      <vt:lpstr>Business Economics</vt:lpstr>
      <vt:lpstr>Philosophy of Economics</vt:lpstr>
      <vt:lpstr>Philosophy of Economics (Cont.)</vt:lpstr>
      <vt:lpstr>Philosophy of Economics</vt:lpstr>
      <vt:lpstr>Economics</vt:lpstr>
      <vt:lpstr>Microeconomics</vt:lpstr>
      <vt:lpstr>Macroeconomics</vt:lpstr>
      <vt:lpstr>Fundamental Economic Questions</vt:lpstr>
      <vt:lpstr>What Goods Should Be Produced?</vt:lpstr>
      <vt:lpstr>How to produce?</vt:lpstr>
      <vt:lpstr>For whom to produce?</vt:lpstr>
      <vt:lpstr>Types of Economics</vt:lpstr>
      <vt:lpstr>Market Economy</vt:lpstr>
      <vt:lpstr>How the free-market answers basic economic questions</vt:lpstr>
      <vt:lpstr>Command Economy</vt:lpstr>
      <vt:lpstr>How the command economy answers basic economic questions</vt:lpstr>
      <vt:lpstr>Mixed Economy</vt:lpstr>
      <vt:lpstr>How the command economy answers basic economic questions</vt:lpstr>
      <vt:lpstr>What do you think about type of Sri Lankan Economy?</vt:lpstr>
      <vt:lpstr>Market Types in Brief…</vt:lpstr>
      <vt:lpstr>Why do we learn economics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vimansi pathirana</dc:creator>
  <cp:lastModifiedBy>Ms. Vimansi Pathirana</cp:lastModifiedBy>
  <cp:revision>53</cp:revision>
  <dcterms:created xsi:type="dcterms:W3CDTF">2026-08-03T06:28:39Z</dcterms:created>
  <dcterms:modified xsi:type="dcterms:W3CDTF">2026-08-10T04:27:33Z</dcterms:modified>
</cp:coreProperties>
</file>