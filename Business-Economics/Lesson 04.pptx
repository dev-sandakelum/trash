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307" r:id="rId2"/>
    <p:sldId id="361" r:id="rId3"/>
    <p:sldId id="296" r:id="rId4"/>
    <p:sldId id="298" r:id="rId5"/>
    <p:sldId id="300" r:id="rId6"/>
    <p:sldId id="327" r:id="rId7"/>
    <p:sldId id="362" r:id="rId8"/>
    <p:sldId id="309" r:id="rId9"/>
    <p:sldId id="310" r:id="rId10"/>
    <p:sldId id="312" r:id="rId11"/>
    <p:sldId id="314" r:id="rId12"/>
    <p:sldId id="386" r:id="rId13"/>
    <p:sldId id="315" r:id="rId14"/>
    <p:sldId id="369" r:id="rId15"/>
    <p:sldId id="370" r:id="rId16"/>
    <p:sldId id="391" r:id="rId17"/>
    <p:sldId id="376" r:id="rId18"/>
    <p:sldId id="387" r:id="rId19"/>
    <p:sldId id="316" r:id="rId20"/>
    <p:sldId id="392" r:id="rId21"/>
    <p:sldId id="372" r:id="rId22"/>
    <p:sldId id="371" r:id="rId23"/>
    <p:sldId id="383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60" r:id="rId35"/>
    <p:sldId id="393" r:id="rId36"/>
    <p:sldId id="340" r:id="rId37"/>
    <p:sldId id="341" r:id="rId38"/>
    <p:sldId id="343" r:id="rId39"/>
    <p:sldId id="344" r:id="rId40"/>
    <p:sldId id="345" r:id="rId41"/>
    <p:sldId id="346" r:id="rId42"/>
    <p:sldId id="347" r:id="rId43"/>
    <p:sldId id="348" r:id="rId44"/>
    <p:sldId id="379" r:id="rId45"/>
    <p:sldId id="365" r:id="rId46"/>
    <p:sldId id="357" r:id="rId47"/>
    <p:sldId id="373" r:id="rId48"/>
    <p:sldId id="374" r:id="rId49"/>
    <p:sldId id="384" r:id="rId50"/>
    <p:sldId id="380" r:id="rId51"/>
    <p:sldId id="367" r:id="rId52"/>
    <p:sldId id="359" r:id="rId53"/>
    <p:sldId id="375" r:id="rId54"/>
    <p:sldId id="385" r:id="rId55"/>
    <p:sldId id="364" r:id="rId56"/>
    <p:sldId id="381" r:id="rId57"/>
    <p:sldId id="368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F75AB6-D88B-4934-926C-134AE300AA03}" type="doc">
      <dgm:prSet loTypeId="urn:microsoft.com/office/officeart/2008/layout/LinedList" loCatId="list" qsTypeId="urn:microsoft.com/office/officeart/2005/8/quickstyle/simple1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EDE35759-E0B6-40B7-BC58-F5E96EE95626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Qd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= a -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CD184C-3389-4FDC-B03B-FFAD7993E62E}" type="parTrans" cxnId="{A03D2105-2A66-47B3-996F-3850187D4C6A}">
      <dgm:prSet/>
      <dgm:spPr/>
      <dgm:t>
        <a:bodyPr/>
        <a:lstStyle/>
        <a:p>
          <a:endParaRPr lang="en-US"/>
        </a:p>
      </dgm:t>
    </dgm:pt>
    <dgm:pt modelId="{105D0F74-5136-4168-BA67-F57466C6B573}" type="sibTrans" cxnId="{A03D2105-2A66-47B3-996F-3850187D4C6A}">
      <dgm:prSet/>
      <dgm:spPr/>
      <dgm:t>
        <a:bodyPr/>
        <a:lstStyle/>
        <a:p>
          <a:endParaRPr lang="en-US"/>
        </a:p>
      </dgm:t>
    </dgm:pt>
    <dgm:pt modelId="{3E897D03-387D-49DC-A2E5-860D530B842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Qs = a +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F31EB4-32F3-4463-8E63-95DC53AA1CD3}" type="parTrans" cxnId="{7E5358BA-5694-4386-835C-765D7E7FF817}">
      <dgm:prSet/>
      <dgm:spPr/>
      <dgm:t>
        <a:bodyPr/>
        <a:lstStyle/>
        <a:p>
          <a:endParaRPr lang="en-US"/>
        </a:p>
      </dgm:t>
    </dgm:pt>
    <dgm:pt modelId="{8F446170-BEFE-4066-96AC-A7E501687B6E}" type="sibTrans" cxnId="{7E5358BA-5694-4386-835C-765D7E7FF817}">
      <dgm:prSet/>
      <dgm:spPr/>
      <dgm:t>
        <a:bodyPr/>
        <a:lstStyle/>
        <a:p>
          <a:endParaRPr lang="en-US"/>
        </a:p>
      </dgm:t>
    </dgm:pt>
    <dgm:pt modelId="{86F627F2-4D8A-41B9-8433-A51C2D3366BE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Qst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= a + b(P-t)</a:t>
          </a:r>
        </a:p>
      </dgm:t>
    </dgm:pt>
    <dgm:pt modelId="{4E8405BF-8F44-41FD-BDF3-BDC87F712147}" type="parTrans" cxnId="{5A8702BD-D5B4-4B88-A6D4-E9B999AAE65E}">
      <dgm:prSet/>
      <dgm:spPr/>
      <dgm:t>
        <a:bodyPr/>
        <a:lstStyle/>
        <a:p>
          <a:endParaRPr lang="en-US"/>
        </a:p>
      </dgm:t>
    </dgm:pt>
    <dgm:pt modelId="{8F3BB394-687B-4453-8B48-C8A9BBE08701}" type="sibTrans" cxnId="{5A8702BD-D5B4-4B88-A6D4-E9B999AAE65E}">
      <dgm:prSet/>
      <dgm:spPr/>
      <dgm:t>
        <a:bodyPr/>
        <a:lstStyle/>
        <a:p>
          <a:endParaRPr lang="en-US"/>
        </a:p>
      </dgm:t>
    </dgm:pt>
    <dgm:pt modelId="{F9E8CF7E-9BD4-C94C-B5CF-6A8A2A47F373}" type="pres">
      <dgm:prSet presAssocID="{81F75AB6-D88B-4934-926C-134AE300AA03}" presName="vert0" presStyleCnt="0">
        <dgm:presLayoutVars>
          <dgm:dir/>
          <dgm:animOne val="branch"/>
          <dgm:animLvl val="lvl"/>
        </dgm:presLayoutVars>
      </dgm:prSet>
      <dgm:spPr/>
    </dgm:pt>
    <dgm:pt modelId="{93CEA58F-AF8A-F041-9F6C-EEADFEE87535}" type="pres">
      <dgm:prSet presAssocID="{EDE35759-E0B6-40B7-BC58-F5E96EE95626}" presName="thickLine" presStyleLbl="alignNode1" presStyleIdx="0" presStyleCnt="3"/>
      <dgm:spPr/>
    </dgm:pt>
    <dgm:pt modelId="{3EDF92BE-B9AA-8540-ACF4-3376CB76913C}" type="pres">
      <dgm:prSet presAssocID="{EDE35759-E0B6-40B7-BC58-F5E96EE95626}" presName="horz1" presStyleCnt="0"/>
      <dgm:spPr/>
    </dgm:pt>
    <dgm:pt modelId="{34671198-F4D3-EC40-8005-DB0DCD799953}" type="pres">
      <dgm:prSet presAssocID="{EDE35759-E0B6-40B7-BC58-F5E96EE95626}" presName="tx1" presStyleLbl="revTx" presStyleIdx="0" presStyleCnt="3"/>
      <dgm:spPr/>
    </dgm:pt>
    <dgm:pt modelId="{221BE0FE-A6E4-C441-832F-3504A59786C4}" type="pres">
      <dgm:prSet presAssocID="{EDE35759-E0B6-40B7-BC58-F5E96EE95626}" presName="vert1" presStyleCnt="0"/>
      <dgm:spPr/>
    </dgm:pt>
    <dgm:pt modelId="{0B928C6A-8BC0-B148-84CC-618A250FF1FD}" type="pres">
      <dgm:prSet presAssocID="{3E897D03-387D-49DC-A2E5-860D530B8424}" presName="thickLine" presStyleLbl="alignNode1" presStyleIdx="1" presStyleCnt="3"/>
      <dgm:spPr/>
    </dgm:pt>
    <dgm:pt modelId="{AFE7F0CC-A445-9341-B9F0-D941DAA759D5}" type="pres">
      <dgm:prSet presAssocID="{3E897D03-387D-49DC-A2E5-860D530B8424}" presName="horz1" presStyleCnt="0"/>
      <dgm:spPr/>
    </dgm:pt>
    <dgm:pt modelId="{13BA1609-7C44-D644-B336-8EA4751AC870}" type="pres">
      <dgm:prSet presAssocID="{3E897D03-387D-49DC-A2E5-860D530B8424}" presName="tx1" presStyleLbl="revTx" presStyleIdx="1" presStyleCnt="3"/>
      <dgm:spPr/>
    </dgm:pt>
    <dgm:pt modelId="{D1DC65B9-A0DD-ED47-8B01-A5091F668CA4}" type="pres">
      <dgm:prSet presAssocID="{3E897D03-387D-49DC-A2E5-860D530B8424}" presName="vert1" presStyleCnt="0"/>
      <dgm:spPr/>
    </dgm:pt>
    <dgm:pt modelId="{4E1D7B4F-DBBD-E240-943E-92BE12BBC951}" type="pres">
      <dgm:prSet presAssocID="{86F627F2-4D8A-41B9-8433-A51C2D3366BE}" presName="thickLine" presStyleLbl="alignNode1" presStyleIdx="2" presStyleCnt="3"/>
      <dgm:spPr/>
    </dgm:pt>
    <dgm:pt modelId="{5926F266-F0D6-B04B-B429-49AA83699B9A}" type="pres">
      <dgm:prSet presAssocID="{86F627F2-4D8A-41B9-8433-A51C2D3366BE}" presName="horz1" presStyleCnt="0"/>
      <dgm:spPr/>
    </dgm:pt>
    <dgm:pt modelId="{2949E7D7-6D06-B242-A0C2-2AFD97D2DAA3}" type="pres">
      <dgm:prSet presAssocID="{86F627F2-4D8A-41B9-8433-A51C2D3366BE}" presName="tx1" presStyleLbl="revTx" presStyleIdx="2" presStyleCnt="3"/>
      <dgm:spPr/>
    </dgm:pt>
    <dgm:pt modelId="{29C44888-9B8E-AA4A-A019-4944284D23F4}" type="pres">
      <dgm:prSet presAssocID="{86F627F2-4D8A-41B9-8433-A51C2D3366BE}" presName="vert1" presStyleCnt="0"/>
      <dgm:spPr/>
    </dgm:pt>
  </dgm:ptLst>
  <dgm:cxnLst>
    <dgm:cxn modelId="{A03D2105-2A66-47B3-996F-3850187D4C6A}" srcId="{81F75AB6-D88B-4934-926C-134AE300AA03}" destId="{EDE35759-E0B6-40B7-BC58-F5E96EE95626}" srcOrd="0" destOrd="0" parTransId="{A0CD184C-3389-4FDC-B03B-FFAD7993E62E}" sibTransId="{105D0F74-5136-4168-BA67-F57466C6B573}"/>
    <dgm:cxn modelId="{37CEB386-E0E0-E847-B17F-08F9C487E23F}" type="presOf" srcId="{81F75AB6-D88B-4934-926C-134AE300AA03}" destId="{F9E8CF7E-9BD4-C94C-B5CF-6A8A2A47F373}" srcOrd="0" destOrd="0" presId="urn:microsoft.com/office/officeart/2008/layout/LinedList"/>
    <dgm:cxn modelId="{A5647999-22AB-5946-B91E-C8002FF63CDC}" type="presOf" srcId="{EDE35759-E0B6-40B7-BC58-F5E96EE95626}" destId="{34671198-F4D3-EC40-8005-DB0DCD799953}" srcOrd="0" destOrd="0" presId="urn:microsoft.com/office/officeart/2008/layout/LinedList"/>
    <dgm:cxn modelId="{7E5358BA-5694-4386-835C-765D7E7FF817}" srcId="{81F75AB6-D88B-4934-926C-134AE300AA03}" destId="{3E897D03-387D-49DC-A2E5-860D530B8424}" srcOrd="1" destOrd="0" parTransId="{ADF31EB4-32F3-4463-8E63-95DC53AA1CD3}" sibTransId="{8F446170-BEFE-4066-96AC-A7E501687B6E}"/>
    <dgm:cxn modelId="{5A8702BD-D5B4-4B88-A6D4-E9B999AAE65E}" srcId="{81F75AB6-D88B-4934-926C-134AE300AA03}" destId="{86F627F2-4D8A-41B9-8433-A51C2D3366BE}" srcOrd="2" destOrd="0" parTransId="{4E8405BF-8F44-41FD-BDF3-BDC87F712147}" sibTransId="{8F3BB394-687B-4453-8B48-C8A9BBE08701}"/>
    <dgm:cxn modelId="{7A6348BE-1FFD-0E46-85CD-B5EB95F6F684}" type="presOf" srcId="{86F627F2-4D8A-41B9-8433-A51C2D3366BE}" destId="{2949E7D7-6D06-B242-A0C2-2AFD97D2DAA3}" srcOrd="0" destOrd="0" presId="urn:microsoft.com/office/officeart/2008/layout/LinedList"/>
    <dgm:cxn modelId="{F811D3E4-284D-8C43-892C-39B680B7B13C}" type="presOf" srcId="{3E897D03-387D-49DC-A2E5-860D530B8424}" destId="{13BA1609-7C44-D644-B336-8EA4751AC870}" srcOrd="0" destOrd="0" presId="urn:microsoft.com/office/officeart/2008/layout/LinedList"/>
    <dgm:cxn modelId="{BA9BE5D4-8552-9643-8E58-104528A60911}" type="presParOf" srcId="{F9E8CF7E-9BD4-C94C-B5CF-6A8A2A47F373}" destId="{93CEA58F-AF8A-F041-9F6C-EEADFEE87535}" srcOrd="0" destOrd="0" presId="urn:microsoft.com/office/officeart/2008/layout/LinedList"/>
    <dgm:cxn modelId="{BB5DF05B-875E-3648-9264-4C0AE0FA31AC}" type="presParOf" srcId="{F9E8CF7E-9BD4-C94C-B5CF-6A8A2A47F373}" destId="{3EDF92BE-B9AA-8540-ACF4-3376CB76913C}" srcOrd="1" destOrd="0" presId="urn:microsoft.com/office/officeart/2008/layout/LinedList"/>
    <dgm:cxn modelId="{E91CEC8C-91A2-2040-9F15-99C04A0ED516}" type="presParOf" srcId="{3EDF92BE-B9AA-8540-ACF4-3376CB76913C}" destId="{34671198-F4D3-EC40-8005-DB0DCD799953}" srcOrd="0" destOrd="0" presId="urn:microsoft.com/office/officeart/2008/layout/LinedList"/>
    <dgm:cxn modelId="{0EB1BF32-2C53-9543-9F5A-5ACC15A13A60}" type="presParOf" srcId="{3EDF92BE-B9AA-8540-ACF4-3376CB76913C}" destId="{221BE0FE-A6E4-C441-832F-3504A59786C4}" srcOrd="1" destOrd="0" presId="urn:microsoft.com/office/officeart/2008/layout/LinedList"/>
    <dgm:cxn modelId="{3463539E-24FF-3240-A95D-AEDF26CD2A0D}" type="presParOf" srcId="{F9E8CF7E-9BD4-C94C-B5CF-6A8A2A47F373}" destId="{0B928C6A-8BC0-B148-84CC-618A250FF1FD}" srcOrd="2" destOrd="0" presId="urn:microsoft.com/office/officeart/2008/layout/LinedList"/>
    <dgm:cxn modelId="{ADE75139-5DE7-7B46-8F8C-EA3D6921EB8F}" type="presParOf" srcId="{F9E8CF7E-9BD4-C94C-B5CF-6A8A2A47F373}" destId="{AFE7F0CC-A445-9341-B9F0-D941DAA759D5}" srcOrd="3" destOrd="0" presId="urn:microsoft.com/office/officeart/2008/layout/LinedList"/>
    <dgm:cxn modelId="{8826F92C-1B12-314A-A9EC-17DC3BE16466}" type="presParOf" srcId="{AFE7F0CC-A445-9341-B9F0-D941DAA759D5}" destId="{13BA1609-7C44-D644-B336-8EA4751AC870}" srcOrd="0" destOrd="0" presId="urn:microsoft.com/office/officeart/2008/layout/LinedList"/>
    <dgm:cxn modelId="{610089FB-52AE-8F4B-AC5B-30776DB729F3}" type="presParOf" srcId="{AFE7F0CC-A445-9341-B9F0-D941DAA759D5}" destId="{D1DC65B9-A0DD-ED47-8B01-A5091F668CA4}" srcOrd="1" destOrd="0" presId="urn:microsoft.com/office/officeart/2008/layout/LinedList"/>
    <dgm:cxn modelId="{251624ED-C1E1-2F4A-B517-C01B5D258833}" type="presParOf" srcId="{F9E8CF7E-9BD4-C94C-B5CF-6A8A2A47F373}" destId="{4E1D7B4F-DBBD-E240-943E-92BE12BBC951}" srcOrd="4" destOrd="0" presId="urn:microsoft.com/office/officeart/2008/layout/LinedList"/>
    <dgm:cxn modelId="{C3F6BDB6-7027-484A-A55D-05406E8DE40F}" type="presParOf" srcId="{F9E8CF7E-9BD4-C94C-B5CF-6A8A2A47F373}" destId="{5926F266-F0D6-B04B-B429-49AA83699B9A}" srcOrd="5" destOrd="0" presId="urn:microsoft.com/office/officeart/2008/layout/LinedList"/>
    <dgm:cxn modelId="{9EA38898-3055-8949-A5CE-19609AD7FC84}" type="presParOf" srcId="{5926F266-F0D6-B04B-B429-49AA83699B9A}" destId="{2949E7D7-6D06-B242-A0C2-2AFD97D2DAA3}" srcOrd="0" destOrd="0" presId="urn:microsoft.com/office/officeart/2008/layout/LinedList"/>
    <dgm:cxn modelId="{F61F1909-37CB-B745-B852-279721694B86}" type="presParOf" srcId="{5926F266-F0D6-B04B-B429-49AA83699B9A}" destId="{29C44888-9B8E-AA4A-A019-4944284D23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F75AB6-D88B-4934-926C-134AE300AA03}" type="doc">
      <dgm:prSet loTypeId="urn:microsoft.com/office/officeart/2008/layout/LinedList" loCatId="list" qsTypeId="urn:microsoft.com/office/officeart/2005/8/quickstyle/simple1#2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EDE35759-E0B6-40B7-BC58-F5E96EE95626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Qd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= a -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CD184C-3389-4FDC-B03B-FFAD7993E62E}" type="parTrans" cxnId="{A03D2105-2A66-47B3-996F-3850187D4C6A}">
      <dgm:prSet/>
      <dgm:spPr/>
      <dgm:t>
        <a:bodyPr/>
        <a:lstStyle/>
        <a:p>
          <a:endParaRPr lang="en-US"/>
        </a:p>
      </dgm:t>
    </dgm:pt>
    <dgm:pt modelId="{105D0F74-5136-4168-BA67-F57466C6B573}" type="sibTrans" cxnId="{A03D2105-2A66-47B3-996F-3850187D4C6A}">
      <dgm:prSet/>
      <dgm:spPr/>
      <dgm:t>
        <a:bodyPr/>
        <a:lstStyle/>
        <a:p>
          <a:endParaRPr lang="en-US"/>
        </a:p>
      </dgm:t>
    </dgm:pt>
    <dgm:pt modelId="{3E897D03-387D-49DC-A2E5-860D530B842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Qs = a +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F31EB4-32F3-4463-8E63-95DC53AA1CD3}" type="parTrans" cxnId="{7E5358BA-5694-4386-835C-765D7E7FF817}">
      <dgm:prSet/>
      <dgm:spPr/>
      <dgm:t>
        <a:bodyPr/>
        <a:lstStyle/>
        <a:p>
          <a:endParaRPr lang="en-US"/>
        </a:p>
      </dgm:t>
    </dgm:pt>
    <dgm:pt modelId="{8F446170-BEFE-4066-96AC-A7E501687B6E}" type="sibTrans" cxnId="{7E5358BA-5694-4386-835C-765D7E7FF817}">
      <dgm:prSet/>
      <dgm:spPr/>
      <dgm:t>
        <a:bodyPr/>
        <a:lstStyle/>
        <a:p>
          <a:endParaRPr lang="en-US"/>
        </a:p>
      </dgm:t>
    </dgm:pt>
    <dgm:pt modelId="{86F627F2-4D8A-41B9-8433-A51C2D3366BE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Qss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= a + b(P+s)</a:t>
          </a:r>
        </a:p>
      </dgm:t>
    </dgm:pt>
    <dgm:pt modelId="{4E8405BF-8F44-41FD-BDF3-BDC87F712147}" type="parTrans" cxnId="{5A8702BD-D5B4-4B88-A6D4-E9B999AAE65E}">
      <dgm:prSet/>
      <dgm:spPr/>
      <dgm:t>
        <a:bodyPr/>
        <a:lstStyle/>
        <a:p>
          <a:endParaRPr lang="en-US"/>
        </a:p>
      </dgm:t>
    </dgm:pt>
    <dgm:pt modelId="{8F3BB394-687B-4453-8B48-C8A9BBE08701}" type="sibTrans" cxnId="{5A8702BD-D5B4-4B88-A6D4-E9B999AAE65E}">
      <dgm:prSet/>
      <dgm:spPr/>
      <dgm:t>
        <a:bodyPr/>
        <a:lstStyle/>
        <a:p>
          <a:endParaRPr lang="en-US"/>
        </a:p>
      </dgm:t>
    </dgm:pt>
    <dgm:pt modelId="{F9E8CF7E-9BD4-C94C-B5CF-6A8A2A47F373}" type="pres">
      <dgm:prSet presAssocID="{81F75AB6-D88B-4934-926C-134AE300AA03}" presName="vert0" presStyleCnt="0">
        <dgm:presLayoutVars>
          <dgm:dir/>
          <dgm:animOne val="branch"/>
          <dgm:animLvl val="lvl"/>
        </dgm:presLayoutVars>
      </dgm:prSet>
      <dgm:spPr/>
    </dgm:pt>
    <dgm:pt modelId="{93CEA58F-AF8A-F041-9F6C-EEADFEE87535}" type="pres">
      <dgm:prSet presAssocID="{EDE35759-E0B6-40B7-BC58-F5E96EE95626}" presName="thickLine" presStyleLbl="alignNode1" presStyleIdx="0" presStyleCnt="3"/>
      <dgm:spPr/>
    </dgm:pt>
    <dgm:pt modelId="{3EDF92BE-B9AA-8540-ACF4-3376CB76913C}" type="pres">
      <dgm:prSet presAssocID="{EDE35759-E0B6-40B7-BC58-F5E96EE95626}" presName="horz1" presStyleCnt="0"/>
      <dgm:spPr/>
    </dgm:pt>
    <dgm:pt modelId="{34671198-F4D3-EC40-8005-DB0DCD799953}" type="pres">
      <dgm:prSet presAssocID="{EDE35759-E0B6-40B7-BC58-F5E96EE95626}" presName="tx1" presStyleLbl="revTx" presStyleIdx="0" presStyleCnt="3"/>
      <dgm:spPr/>
    </dgm:pt>
    <dgm:pt modelId="{221BE0FE-A6E4-C441-832F-3504A59786C4}" type="pres">
      <dgm:prSet presAssocID="{EDE35759-E0B6-40B7-BC58-F5E96EE95626}" presName="vert1" presStyleCnt="0"/>
      <dgm:spPr/>
    </dgm:pt>
    <dgm:pt modelId="{0B928C6A-8BC0-B148-84CC-618A250FF1FD}" type="pres">
      <dgm:prSet presAssocID="{3E897D03-387D-49DC-A2E5-860D530B8424}" presName="thickLine" presStyleLbl="alignNode1" presStyleIdx="1" presStyleCnt="3"/>
      <dgm:spPr/>
    </dgm:pt>
    <dgm:pt modelId="{AFE7F0CC-A445-9341-B9F0-D941DAA759D5}" type="pres">
      <dgm:prSet presAssocID="{3E897D03-387D-49DC-A2E5-860D530B8424}" presName="horz1" presStyleCnt="0"/>
      <dgm:spPr/>
    </dgm:pt>
    <dgm:pt modelId="{13BA1609-7C44-D644-B336-8EA4751AC870}" type="pres">
      <dgm:prSet presAssocID="{3E897D03-387D-49DC-A2E5-860D530B8424}" presName="tx1" presStyleLbl="revTx" presStyleIdx="1" presStyleCnt="3"/>
      <dgm:spPr/>
    </dgm:pt>
    <dgm:pt modelId="{D1DC65B9-A0DD-ED47-8B01-A5091F668CA4}" type="pres">
      <dgm:prSet presAssocID="{3E897D03-387D-49DC-A2E5-860D530B8424}" presName="vert1" presStyleCnt="0"/>
      <dgm:spPr/>
    </dgm:pt>
    <dgm:pt modelId="{4E1D7B4F-DBBD-E240-943E-92BE12BBC951}" type="pres">
      <dgm:prSet presAssocID="{86F627F2-4D8A-41B9-8433-A51C2D3366BE}" presName="thickLine" presStyleLbl="alignNode1" presStyleIdx="2" presStyleCnt="3"/>
      <dgm:spPr/>
    </dgm:pt>
    <dgm:pt modelId="{5926F266-F0D6-B04B-B429-49AA83699B9A}" type="pres">
      <dgm:prSet presAssocID="{86F627F2-4D8A-41B9-8433-A51C2D3366BE}" presName="horz1" presStyleCnt="0"/>
      <dgm:spPr/>
    </dgm:pt>
    <dgm:pt modelId="{2949E7D7-6D06-B242-A0C2-2AFD97D2DAA3}" type="pres">
      <dgm:prSet presAssocID="{86F627F2-4D8A-41B9-8433-A51C2D3366BE}" presName="tx1" presStyleLbl="revTx" presStyleIdx="2" presStyleCnt="3"/>
      <dgm:spPr/>
    </dgm:pt>
    <dgm:pt modelId="{29C44888-9B8E-AA4A-A019-4944284D23F4}" type="pres">
      <dgm:prSet presAssocID="{86F627F2-4D8A-41B9-8433-A51C2D3366BE}" presName="vert1" presStyleCnt="0"/>
      <dgm:spPr/>
    </dgm:pt>
  </dgm:ptLst>
  <dgm:cxnLst>
    <dgm:cxn modelId="{A03D2105-2A66-47B3-996F-3850187D4C6A}" srcId="{81F75AB6-D88B-4934-926C-134AE300AA03}" destId="{EDE35759-E0B6-40B7-BC58-F5E96EE95626}" srcOrd="0" destOrd="0" parTransId="{A0CD184C-3389-4FDC-B03B-FFAD7993E62E}" sibTransId="{105D0F74-5136-4168-BA67-F57466C6B573}"/>
    <dgm:cxn modelId="{37CEB386-E0E0-E847-B17F-08F9C487E23F}" type="presOf" srcId="{81F75AB6-D88B-4934-926C-134AE300AA03}" destId="{F9E8CF7E-9BD4-C94C-B5CF-6A8A2A47F373}" srcOrd="0" destOrd="0" presId="urn:microsoft.com/office/officeart/2008/layout/LinedList"/>
    <dgm:cxn modelId="{A5647999-22AB-5946-B91E-C8002FF63CDC}" type="presOf" srcId="{EDE35759-E0B6-40B7-BC58-F5E96EE95626}" destId="{34671198-F4D3-EC40-8005-DB0DCD799953}" srcOrd="0" destOrd="0" presId="urn:microsoft.com/office/officeart/2008/layout/LinedList"/>
    <dgm:cxn modelId="{7E5358BA-5694-4386-835C-765D7E7FF817}" srcId="{81F75AB6-D88B-4934-926C-134AE300AA03}" destId="{3E897D03-387D-49DC-A2E5-860D530B8424}" srcOrd="1" destOrd="0" parTransId="{ADF31EB4-32F3-4463-8E63-95DC53AA1CD3}" sibTransId="{8F446170-BEFE-4066-96AC-A7E501687B6E}"/>
    <dgm:cxn modelId="{5A8702BD-D5B4-4B88-A6D4-E9B999AAE65E}" srcId="{81F75AB6-D88B-4934-926C-134AE300AA03}" destId="{86F627F2-4D8A-41B9-8433-A51C2D3366BE}" srcOrd="2" destOrd="0" parTransId="{4E8405BF-8F44-41FD-BDF3-BDC87F712147}" sibTransId="{8F3BB394-687B-4453-8B48-C8A9BBE08701}"/>
    <dgm:cxn modelId="{7A6348BE-1FFD-0E46-85CD-B5EB95F6F684}" type="presOf" srcId="{86F627F2-4D8A-41B9-8433-A51C2D3366BE}" destId="{2949E7D7-6D06-B242-A0C2-2AFD97D2DAA3}" srcOrd="0" destOrd="0" presId="urn:microsoft.com/office/officeart/2008/layout/LinedList"/>
    <dgm:cxn modelId="{F811D3E4-284D-8C43-892C-39B680B7B13C}" type="presOf" srcId="{3E897D03-387D-49DC-A2E5-860D530B8424}" destId="{13BA1609-7C44-D644-B336-8EA4751AC870}" srcOrd="0" destOrd="0" presId="urn:microsoft.com/office/officeart/2008/layout/LinedList"/>
    <dgm:cxn modelId="{BA9BE5D4-8552-9643-8E58-104528A60911}" type="presParOf" srcId="{F9E8CF7E-9BD4-C94C-B5CF-6A8A2A47F373}" destId="{93CEA58F-AF8A-F041-9F6C-EEADFEE87535}" srcOrd="0" destOrd="0" presId="urn:microsoft.com/office/officeart/2008/layout/LinedList"/>
    <dgm:cxn modelId="{BB5DF05B-875E-3648-9264-4C0AE0FA31AC}" type="presParOf" srcId="{F9E8CF7E-9BD4-C94C-B5CF-6A8A2A47F373}" destId="{3EDF92BE-B9AA-8540-ACF4-3376CB76913C}" srcOrd="1" destOrd="0" presId="urn:microsoft.com/office/officeart/2008/layout/LinedList"/>
    <dgm:cxn modelId="{E91CEC8C-91A2-2040-9F15-99C04A0ED516}" type="presParOf" srcId="{3EDF92BE-B9AA-8540-ACF4-3376CB76913C}" destId="{34671198-F4D3-EC40-8005-DB0DCD799953}" srcOrd="0" destOrd="0" presId="urn:microsoft.com/office/officeart/2008/layout/LinedList"/>
    <dgm:cxn modelId="{0EB1BF32-2C53-9543-9F5A-5ACC15A13A60}" type="presParOf" srcId="{3EDF92BE-B9AA-8540-ACF4-3376CB76913C}" destId="{221BE0FE-A6E4-C441-832F-3504A59786C4}" srcOrd="1" destOrd="0" presId="urn:microsoft.com/office/officeart/2008/layout/LinedList"/>
    <dgm:cxn modelId="{3463539E-24FF-3240-A95D-AEDF26CD2A0D}" type="presParOf" srcId="{F9E8CF7E-9BD4-C94C-B5CF-6A8A2A47F373}" destId="{0B928C6A-8BC0-B148-84CC-618A250FF1FD}" srcOrd="2" destOrd="0" presId="urn:microsoft.com/office/officeart/2008/layout/LinedList"/>
    <dgm:cxn modelId="{ADE75139-5DE7-7B46-8F8C-EA3D6921EB8F}" type="presParOf" srcId="{F9E8CF7E-9BD4-C94C-B5CF-6A8A2A47F373}" destId="{AFE7F0CC-A445-9341-B9F0-D941DAA759D5}" srcOrd="3" destOrd="0" presId="urn:microsoft.com/office/officeart/2008/layout/LinedList"/>
    <dgm:cxn modelId="{8826F92C-1B12-314A-A9EC-17DC3BE16466}" type="presParOf" srcId="{AFE7F0CC-A445-9341-B9F0-D941DAA759D5}" destId="{13BA1609-7C44-D644-B336-8EA4751AC870}" srcOrd="0" destOrd="0" presId="urn:microsoft.com/office/officeart/2008/layout/LinedList"/>
    <dgm:cxn modelId="{610089FB-52AE-8F4B-AC5B-30776DB729F3}" type="presParOf" srcId="{AFE7F0CC-A445-9341-B9F0-D941DAA759D5}" destId="{D1DC65B9-A0DD-ED47-8B01-A5091F668CA4}" srcOrd="1" destOrd="0" presId="urn:microsoft.com/office/officeart/2008/layout/LinedList"/>
    <dgm:cxn modelId="{251624ED-C1E1-2F4A-B517-C01B5D258833}" type="presParOf" srcId="{F9E8CF7E-9BD4-C94C-B5CF-6A8A2A47F373}" destId="{4E1D7B4F-DBBD-E240-943E-92BE12BBC951}" srcOrd="4" destOrd="0" presId="urn:microsoft.com/office/officeart/2008/layout/LinedList"/>
    <dgm:cxn modelId="{C3F6BDB6-7027-484A-A55D-05406E8DE40F}" type="presParOf" srcId="{F9E8CF7E-9BD4-C94C-B5CF-6A8A2A47F373}" destId="{5926F266-F0D6-B04B-B429-49AA83699B9A}" srcOrd="5" destOrd="0" presId="urn:microsoft.com/office/officeart/2008/layout/LinedList"/>
    <dgm:cxn modelId="{9EA38898-3055-8949-A5CE-19609AD7FC84}" type="presParOf" srcId="{5926F266-F0D6-B04B-B429-49AA83699B9A}" destId="{2949E7D7-6D06-B242-A0C2-2AFD97D2DAA3}" srcOrd="0" destOrd="0" presId="urn:microsoft.com/office/officeart/2008/layout/LinedList"/>
    <dgm:cxn modelId="{F61F1909-37CB-B745-B852-279721694B86}" type="presParOf" srcId="{5926F266-F0D6-B04B-B429-49AA83699B9A}" destId="{29C44888-9B8E-AA4A-A019-4944284D23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EA58F-AF8A-F041-9F6C-EEADFEE87535}">
      <dsp:nvSpPr>
        <dsp:cNvPr id="0" name=""/>
        <dsp:cNvSpPr/>
      </dsp:nvSpPr>
      <dsp:spPr>
        <a:xfrm>
          <a:off x="0" y="2562"/>
          <a:ext cx="6132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71198-F4D3-EC40-8005-DB0DCD799953}">
      <dsp:nvSpPr>
        <dsp:cNvPr id="0" name=""/>
        <dsp:cNvSpPr/>
      </dsp:nvSpPr>
      <dsp:spPr>
        <a:xfrm>
          <a:off x="0" y="2562"/>
          <a:ext cx="6132416" cy="1747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Qd</a:t>
          </a:r>
          <a:r>
            <a:rPr lang="en-US" sz="6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= a - </a:t>
          </a:r>
          <a:r>
            <a:rPr lang="en-US" sz="6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bP</a:t>
          </a:r>
          <a:endParaRPr lang="en-US" sz="6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562"/>
        <a:ext cx="6132416" cy="1747789"/>
      </dsp:txXfrm>
    </dsp:sp>
    <dsp:sp modelId="{0B928C6A-8BC0-B148-84CC-618A250FF1FD}">
      <dsp:nvSpPr>
        <dsp:cNvPr id="0" name=""/>
        <dsp:cNvSpPr/>
      </dsp:nvSpPr>
      <dsp:spPr>
        <a:xfrm>
          <a:off x="0" y="1750352"/>
          <a:ext cx="613241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A1609-7C44-D644-B336-8EA4751AC870}">
      <dsp:nvSpPr>
        <dsp:cNvPr id="0" name=""/>
        <dsp:cNvSpPr/>
      </dsp:nvSpPr>
      <dsp:spPr>
        <a:xfrm>
          <a:off x="0" y="1750352"/>
          <a:ext cx="6132416" cy="1747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Qs = a + </a:t>
          </a:r>
          <a:r>
            <a:rPr lang="en-US" sz="6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bP</a:t>
          </a:r>
          <a:endParaRPr lang="en-US" sz="6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750352"/>
        <a:ext cx="6132416" cy="1747789"/>
      </dsp:txXfrm>
    </dsp:sp>
    <dsp:sp modelId="{4E1D7B4F-DBBD-E240-943E-92BE12BBC951}">
      <dsp:nvSpPr>
        <dsp:cNvPr id="0" name=""/>
        <dsp:cNvSpPr/>
      </dsp:nvSpPr>
      <dsp:spPr>
        <a:xfrm>
          <a:off x="0" y="3498142"/>
          <a:ext cx="613241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9E7D7-6D06-B242-A0C2-2AFD97D2DAA3}">
      <dsp:nvSpPr>
        <dsp:cNvPr id="0" name=""/>
        <dsp:cNvSpPr/>
      </dsp:nvSpPr>
      <dsp:spPr>
        <a:xfrm>
          <a:off x="0" y="3498142"/>
          <a:ext cx="6132416" cy="1747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Qst</a:t>
          </a:r>
          <a:r>
            <a:rPr lang="en-US" sz="6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= a + b(P-t)</a:t>
          </a:r>
        </a:p>
      </dsp:txBody>
      <dsp:txXfrm>
        <a:off x="0" y="3498142"/>
        <a:ext cx="6132416" cy="17477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EA58F-AF8A-F041-9F6C-EEADFEE87535}">
      <dsp:nvSpPr>
        <dsp:cNvPr id="0" name=""/>
        <dsp:cNvSpPr/>
      </dsp:nvSpPr>
      <dsp:spPr>
        <a:xfrm>
          <a:off x="0" y="2562"/>
          <a:ext cx="6132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71198-F4D3-EC40-8005-DB0DCD799953}">
      <dsp:nvSpPr>
        <dsp:cNvPr id="0" name=""/>
        <dsp:cNvSpPr/>
      </dsp:nvSpPr>
      <dsp:spPr>
        <a:xfrm>
          <a:off x="0" y="2562"/>
          <a:ext cx="6132416" cy="1747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Qd</a:t>
          </a:r>
          <a:r>
            <a:rPr lang="en-US" sz="6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= a - </a:t>
          </a:r>
          <a:r>
            <a:rPr lang="en-US" sz="6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bP</a:t>
          </a:r>
          <a:endParaRPr lang="en-US" sz="6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562"/>
        <a:ext cx="6132416" cy="1747789"/>
      </dsp:txXfrm>
    </dsp:sp>
    <dsp:sp modelId="{0B928C6A-8BC0-B148-84CC-618A250FF1FD}">
      <dsp:nvSpPr>
        <dsp:cNvPr id="0" name=""/>
        <dsp:cNvSpPr/>
      </dsp:nvSpPr>
      <dsp:spPr>
        <a:xfrm>
          <a:off x="0" y="1750352"/>
          <a:ext cx="613241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A1609-7C44-D644-B336-8EA4751AC870}">
      <dsp:nvSpPr>
        <dsp:cNvPr id="0" name=""/>
        <dsp:cNvSpPr/>
      </dsp:nvSpPr>
      <dsp:spPr>
        <a:xfrm>
          <a:off x="0" y="1750352"/>
          <a:ext cx="6132416" cy="1747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Qs = a + </a:t>
          </a:r>
          <a:r>
            <a:rPr lang="en-US" sz="6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bP</a:t>
          </a:r>
          <a:endParaRPr lang="en-US" sz="6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750352"/>
        <a:ext cx="6132416" cy="1747789"/>
      </dsp:txXfrm>
    </dsp:sp>
    <dsp:sp modelId="{4E1D7B4F-DBBD-E240-943E-92BE12BBC951}">
      <dsp:nvSpPr>
        <dsp:cNvPr id="0" name=""/>
        <dsp:cNvSpPr/>
      </dsp:nvSpPr>
      <dsp:spPr>
        <a:xfrm>
          <a:off x="0" y="3498142"/>
          <a:ext cx="613241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9E7D7-6D06-B242-A0C2-2AFD97D2DAA3}">
      <dsp:nvSpPr>
        <dsp:cNvPr id="0" name=""/>
        <dsp:cNvSpPr/>
      </dsp:nvSpPr>
      <dsp:spPr>
        <a:xfrm>
          <a:off x="0" y="3498142"/>
          <a:ext cx="6132416" cy="1747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Qss</a:t>
          </a:r>
          <a:r>
            <a:rPr lang="en-US" sz="6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= a + b(P+s)</a:t>
          </a:r>
        </a:p>
      </dsp:txBody>
      <dsp:txXfrm>
        <a:off x="0" y="3498142"/>
        <a:ext cx="6132416" cy="1747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A9FD3-32FC-4C6B-8DE8-9E6E90F81D49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0989C-55F5-4B99-B26D-B8138238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4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847F136-F450-4897-9BF7-02660C4EF4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D6BE5B-3985-4B82-88A4-C4191DA717C7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54275" name="Rectangle 1026">
            <a:extLst>
              <a:ext uri="{FF2B5EF4-FFF2-40B4-BE49-F238E27FC236}">
                <a16:creationId xmlns:a16="http://schemas.microsoft.com/office/drawing/2014/main" id="{D78FAB9E-2B3E-482D-B249-93EA530D4C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solidFill>
            <a:srgbClr val="FFFFFF"/>
          </a:solidFill>
          <a:ln w="12700" cap="flat"/>
        </p:spPr>
      </p:sp>
      <p:sp>
        <p:nvSpPr>
          <p:cNvPr id="54276" name="Rectangle 1027">
            <a:extLst>
              <a:ext uri="{FF2B5EF4-FFF2-40B4-BE49-F238E27FC236}">
                <a16:creationId xmlns:a16="http://schemas.microsoft.com/office/drawing/2014/main" id="{A53A9EBF-92FA-4C06-8674-93AD21D2C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8EE4227C-AD7B-4851-9DE1-7663BB3884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1F82DB0-5DD5-4C18-A452-7551511EEA94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EAB4CD91-7ACB-4B10-A1EA-A253B41AA5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solidFill>
            <a:srgbClr val="FFFFFF"/>
          </a:solidFill>
          <a:ln w="12700" cap="flat"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17E15FB6-B1BD-4467-9CAF-9BBCE3567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1556ACD-F3CE-4176-9381-0F7705768B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01775A1-7108-43E5-A11D-51E24BE43768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26004410-05EE-4821-982B-75922CEB72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solidFill>
            <a:srgbClr val="FFFFFF"/>
          </a:solidFill>
          <a:ln w="12700" cap="flat"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2F9BF94-178B-444B-B4FB-AA7836D34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D283F1B9-A8BB-41C3-B5AE-1D2EEDF1AF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7CD6EB-7B74-4057-9A7A-C6E713C2A995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2D394437-A1AA-4678-A352-148913D5E6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solidFill>
            <a:srgbClr val="FFFFFF"/>
          </a:solidFill>
          <a:ln w="12700" cap="flat"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9AF3082F-FB29-48BD-9DC1-0ABA2FAB1E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E29C9AE2-033B-4C70-BCE5-FBC01CAC3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6AED9DC0-3A6B-4065-AEE6-9F5B8B18C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2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92A266BF-D30A-4246-AC65-D9040AF09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2D918B6F-830C-4CE7-8E4F-6C2D0BB8D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47F4F3F9-D7DC-4175-9724-94566A4EEF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EEAD77B2-7F01-4C00-9A53-C123C3243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F183D6BE-09AD-49CB-8C0D-D5431B070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FF9BB7D3-D009-419A-9513-EC191FE8E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2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9FB2883F-E01F-4A40-BEB3-D2BBC87D4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CE34DD04-BB9F-4F03-8AA0-AC2CBF0E6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E9D76294-3198-4F91-B5EF-75476FEFDF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43B7ADC3-732A-40EF-8ABD-2281D740F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9BA32C4A-7D13-4035-98CD-5EDC210154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BEC8EA-6DF3-4D32-8EC8-0B81AD1426BE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D0623E47-7C1D-429B-8B0F-27E4FF8327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5E3BD83F-5C51-4F84-8F30-284F907D4B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2F49ED95-0DB3-4BB5-8656-F808B501A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924810B-3533-4C39-9378-D591830B5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200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0CF217FB-E377-424E-B65C-5965F8FD6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48483F17-3083-49F6-9E61-61051BDED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0118" name="Rectangle 6">
            <a:extLst>
              <a:ext uri="{FF2B5EF4-FFF2-40B4-BE49-F238E27FC236}">
                <a16:creationId xmlns:a16="http://schemas.microsoft.com/office/drawing/2014/main" id="{4D6EB366-01C2-4F20-8E9E-5970B178F1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90119" name="Rectangle 7">
            <a:extLst>
              <a:ext uri="{FF2B5EF4-FFF2-40B4-BE49-F238E27FC236}">
                <a16:creationId xmlns:a16="http://schemas.microsoft.com/office/drawing/2014/main" id="{412B2752-8BB4-431B-823F-7D0C86F2B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9E0F75A8-2973-477B-BC55-27FE7770B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B2519B23-2684-4705-A4C5-93995824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200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B0576AA7-55E3-4FD3-B74D-E5CDB28DD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EC637D9E-1A35-474C-BC17-833F75C1F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8070407-996A-43A2-A9D1-1B7D9E0E09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67BD2118-95E8-4957-859B-3B26C5064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2B83481A-72D7-4B3E-B1A8-4F739B73F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32A49CC3-AF69-4BFB-923C-1748C7B7C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200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3F350C2F-616B-449F-855D-B1511FD8D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4FBD50B7-7C23-4AA2-973E-8E9EB1A93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BE03C1EA-F3C5-4BED-AB88-068EDB5452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72B1AE58-A201-429D-9D30-FDD7BCAC5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7A08550D-C932-426F-BE42-C951A8729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28C9D37C-5A20-4821-A2FE-D7FBFF645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200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9AB2144E-BCD7-41E0-A804-E69831EE2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A6D4C012-4118-432D-BDA0-B7A662692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34" name="Rectangle 6">
            <a:extLst>
              <a:ext uri="{FF2B5EF4-FFF2-40B4-BE49-F238E27FC236}">
                <a16:creationId xmlns:a16="http://schemas.microsoft.com/office/drawing/2014/main" id="{C40A50A3-11D5-4678-84D5-72938A5210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99335" name="Rectangle 7">
            <a:extLst>
              <a:ext uri="{FF2B5EF4-FFF2-40B4-BE49-F238E27FC236}">
                <a16:creationId xmlns:a16="http://schemas.microsoft.com/office/drawing/2014/main" id="{55877AC4-4329-4BE1-8200-F4E12CD57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24A40359-6817-47D8-9A35-20AAFA57F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88418908-F10F-4F5A-9E8B-2CAC70B57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200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102404" name="Rectangle 4">
            <a:extLst>
              <a:ext uri="{FF2B5EF4-FFF2-40B4-BE49-F238E27FC236}">
                <a16:creationId xmlns:a16="http://schemas.microsoft.com/office/drawing/2014/main" id="{B571B267-B928-4D84-A20D-52A615B9E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05" name="Rectangle 5">
            <a:extLst>
              <a:ext uri="{FF2B5EF4-FFF2-40B4-BE49-F238E27FC236}">
                <a16:creationId xmlns:a16="http://schemas.microsoft.com/office/drawing/2014/main" id="{8876CEB0-6468-4F3F-97C2-3E5F3164A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B8AE69E7-3BB6-4657-8BA0-891AC1412F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solidFill>
            <a:srgbClr val="FFFFFF"/>
          </a:solidFill>
          <a:ln w="12700" cap="flat"/>
        </p:spPr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4A38AF35-A0F4-4B4B-ABAC-6D7435E50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Influence</a:t>
            </a:r>
            <a:r>
              <a:rPr lang="en-GB" baseline="0" dirty="0"/>
              <a:t> – change spending pattern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093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2914ECE4-943E-4259-A2BD-E8F957E7A6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B64149-E994-4B37-BF69-F91C7F7EBC65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FD858923-EA22-49B7-ABB2-44CEFBC9C2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3D9AB071-BA6E-4D79-8FC0-9D452E727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5BD89-BCB7-D06F-21FB-3262C03A5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78BC6-8072-029E-E625-72D1FC1C6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7F060-2A66-A012-F296-E0CD61ADE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2E15C-90C2-3695-4D6E-2D4CAEAFC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0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A74C09D7-3A5E-4C35-8341-AF02FFA306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21F76F-4F71-4713-8C01-57F7825586B8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8BB7D08-2530-4B3D-AB39-D48E2C92AD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0FCF858-FC0E-4348-B812-6380918F3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09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1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59668-099C-4117-87EC-624378287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64E9A-6465-4F5F-AA73-6F523EA11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F3B05-9B7E-47CF-ADDA-842CD780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6BDA-0843-4F39-8F45-9E033BEB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C9AD9-3A6B-4B3A-8BDE-63F75732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3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C11B-78E5-4C8E-A70C-67BCFD91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4009-85ED-4072-B12E-E1B5DF1BF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AD9E7-2CBD-4918-B5FB-5D01AD27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FCEE5-B5C8-4B7F-8711-D98FBB76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20F0E-3FAE-4F3F-9CEA-B6596859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2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DA2A-4BBC-4F3B-B3B9-F55AE396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1D5A0-BE29-4EE8-AF7A-90220DF6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93030-C93E-4ACD-B560-E344B0C1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269E2-D259-447C-9B17-1D2780B6E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00AEA-577C-47D2-8BC6-35FBDEA1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23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4E978-5DBE-4B6A-9822-A0542CAA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8D16E-07DF-447D-B868-283C7707F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7E17E-6CA3-495A-B3D9-DC2067425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E29A8-4D60-416F-AD93-579C1011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F3FA6-E632-4290-95C7-6451AC3A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EA667-862E-4BD6-A78F-A5EFF46F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30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DE5A-0190-4260-989E-5651062CF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4B9AB-2CB3-4A07-B1A2-664DBE069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CAA39-91F5-4F7F-9355-F36758E74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88394-B2D0-44DD-9A7F-DF1562F1E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E4E80-BEEF-4050-87C9-D51E05E5B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C7B00-4D47-40D0-9B3C-B06E1DB5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82DEB-6CE4-4875-960B-D0DDBDD9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845305-C656-440C-ACBD-48AFC074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5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E741-2192-444B-A4A0-3F12BC3F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DAF43-C78A-4B3B-A5AB-7A57C3D2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2A959-62E5-48B7-9199-A8C45AE5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D6522-5F3F-4582-9D15-861B97C5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63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402E-A2FB-43F8-8A8B-7F1257329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3A9E8-A35C-4C77-83B0-C90D8558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5A3FA-6FE9-4546-B50D-17BF41E5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0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FEEC-20A9-4B1F-B3BC-64F0B6DD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9C90C-24B5-4484-8B1C-93CE66AC0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55408-12E1-43ED-9D6A-3D562BA51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BAFA0-AEA2-45FA-91D8-3376AB6A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27ED8-5C4F-4366-8E60-1EFD441BC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4AAC9-866F-42FF-A02F-DE10CF57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7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F5C9-F14A-4604-86A7-15E88FFDA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30FB55-529B-4828-95C0-28C0E2B49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B1419-C08F-438A-91EF-A7FEB92B0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090B-DF76-4B66-A6B8-E78988BCA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A165A-5EC4-45F7-A0CE-60AA9CF6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3E176-B3C9-4F57-8178-154B4B89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8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B0E4-8352-4C1E-8F8C-17F03AC0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73F71-3555-4893-92C9-44D6BFFD3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F7169-278C-4946-91CE-9580E8989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7F1C-AC9E-4253-A9C4-19E8A528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60D83-8EA3-44B4-A017-0D09378E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1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37452-574B-4B86-B59D-D94F0A250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23158-F057-4539-8C42-E51C883D9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65055-C244-4D57-BA1F-2B8A116D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3EB46-3213-4C9D-86C3-95FE30D1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70836-737D-48DE-ADC4-54769A42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38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E3F380-52AE-466A-B21E-6CD63F367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896B-873E-4A3F-B2BC-CDC8F215C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7EA00-3A1A-437E-AD2A-1478139D3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ECEA8-7661-4D1D-BDD2-62E1381CF8C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C4295-9FC8-4794-BBB7-C1E9F99E0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ABB0A-8CE1-4D82-A4DE-CB9EADE46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C3F74-467D-4849-A568-EE70DF25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3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592" name="Rectangle 6759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7594" name="Freeform: Shape 6759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7596" name="Freeform: Shape 6759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0415AB89-2D76-47FC-B74C-0CD817EF08D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altLang="en-US" sz="6700" b="1"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Intervention in Markets</a:t>
            </a:r>
            <a:endParaRPr lang="en-US" altLang="en-US" sz="6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3100AAD4-54EA-401D-8A5A-457438D741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66912" y="5729558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LK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Chathuranga Adhikari</a:t>
            </a:r>
          </a:p>
          <a:p>
            <a:r>
              <a:rPr lang="en-LK" sz="1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B.com (Sp)(Hons), M.com</a:t>
            </a:r>
            <a:endParaRPr lang="en-LK" sz="1500" i="1" dirty="0"/>
          </a:p>
          <a:p>
            <a:pPr eaLnBrk="1" hangingPunct="1"/>
            <a:endParaRPr lang="en-US" altLang="en-US" sz="1500" dirty="0"/>
          </a:p>
        </p:txBody>
      </p:sp>
      <p:sp>
        <p:nvSpPr>
          <p:cNvPr id="67598" name="Rectangle 6759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66E8E-7556-4FDB-9430-9E03D0AA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the successful completion of this lecture, you’ll be able to,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265C7-496A-41BC-A2E7-6B32D4864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607040" cy="369502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Market equilibrium and disequilibria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ypes of Government Intervention</a:t>
            </a:r>
          </a:p>
          <a:p>
            <a:pPr algn="just" eaLnBrk="1" hangingPunct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types of Goods, </a:t>
            </a: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Stocks Income Guarantee Schemes and Price Controls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Market failures</a:t>
            </a:r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02373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9" name="Picture 5">
            <a:extLst>
              <a:ext uri="{FF2B5EF4-FFF2-40B4-BE49-F238E27FC236}">
                <a16:creationId xmlns:a16="http://schemas.microsoft.com/office/drawing/2014/main" id="{CD0BFC3B-F94A-4C09-8BC6-D361DBB0C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52000"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203" y="1752601"/>
            <a:ext cx="6024563" cy="440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6" name="Rectangle 2">
            <a:extLst>
              <a:ext uri="{FF2B5EF4-FFF2-40B4-BE49-F238E27FC236}">
                <a16:creationId xmlns:a16="http://schemas.microsoft.com/office/drawing/2014/main" id="{0EC9EADB-EFAD-4021-92BA-914AB13D3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Equilibrium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5AC6E5F-7A75-4565-BD14-D88D110BB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3381" y="1752600"/>
            <a:ext cx="6096000" cy="464820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of the market depends on the interaction between buyers and sellers.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equilibrium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condition that exists when the quantity supplied and quantity demanded are equal.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equilibrium, there is no tendency for the market price to change.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AF3CFE4D-9F3C-481E-A394-E8FE5956C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Equilibrium</a:t>
            </a:r>
          </a:p>
        </p:txBody>
      </p:sp>
      <p:sp>
        <p:nvSpPr>
          <p:cNvPr id="97301" name="Rectangle 21">
            <a:extLst>
              <a:ext uri="{FF2B5EF4-FFF2-40B4-BE49-F238E27FC236}">
                <a16:creationId xmlns:a16="http://schemas.microsoft.com/office/drawing/2014/main" id="{03F782D8-4917-414D-9EDA-4F5B39756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2602" y="1752600"/>
            <a:ext cx="3886200" cy="2438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in equilibrium is the quantity supplied equal to the quantity demanded.</a:t>
            </a:r>
          </a:p>
        </p:txBody>
      </p:sp>
      <p:sp>
        <p:nvSpPr>
          <p:cNvPr id="97302" name="Rectangle 22">
            <a:extLst>
              <a:ext uri="{FF2B5EF4-FFF2-40B4-BE49-F238E27FC236}">
                <a16:creationId xmlns:a16="http://schemas.microsoft.com/office/drawing/2014/main" id="{10904344-2674-435C-A718-1E7860AB2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581400"/>
            <a:ext cx="3810000" cy="24384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At any price level other than </a:t>
            </a:r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P</a:t>
            </a:r>
            <a:r>
              <a:rPr lang="en-US" altLang="en-US" sz="2800" baseline="-250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0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 the wishes of buyers and sellers do not coincide.</a:t>
            </a:r>
          </a:p>
        </p:txBody>
      </p:sp>
      <p:pic>
        <p:nvPicPr>
          <p:cNvPr id="97314" name="Picture 34">
            <a:extLst>
              <a:ext uri="{FF2B5EF4-FFF2-40B4-BE49-F238E27FC236}">
                <a16:creationId xmlns:a16="http://schemas.microsoft.com/office/drawing/2014/main" id="{622C91D8-4A60-444A-A794-66DCA0989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315" name="Picture 35">
            <a:extLst>
              <a:ext uri="{FF2B5EF4-FFF2-40B4-BE49-F238E27FC236}">
                <a16:creationId xmlns:a16="http://schemas.microsoft.com/office/drawing/2014/main" id="{40E47683-91B1-4F03-9962-AB78AD3FB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316" name="Picture 36">
            <a:extLst>
              <a:ext uri="{FF2B5EF4-FFF2-40B4-BE49-F238E27FC236}">
                <a16:creationId xmlns:a16="http://schemas.microsoft.com/office/drawing/2014/main" id="{7C1BE922-3CED-4120-A8CB-BB93C05E2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317" name="Picture 37">
            <a:extLst>
              <a:ext uri="{FF2B5EF4-FFF2-40B4-BE49-F238E27FC236}">
                <a16:creationId xmlns:a16="http://schemas.microsoft.com/office/drawing/2014/main" id="{D2754182-92B0-4F72-987A-4F7DDCD57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01" grpId="0" build="p" bldLvl="2" autoUpdateAnimBg="0"/>
      <p:bldP spid="9730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39C9FCCE-CF9C-46C9-93A5-DA8797C69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Disequilibria</a:t>
            </a:r>
          </a:p>
        </p:txBody>
      </p:sp>
      <p:sp>
        <p:nvSpPr>
          <p:cNvPr id="101390" name="Rectangle 14">
            <a:extLst>
              <a:ext uri="{FF2B5EF4-FFF2-40B4-BE49-F238E27FC236}">
                <a16:creationId xmlns:a16="http://schemas.microsoft.com/office/drawing/2014/main" id="{B6A2AE75-BC77-43B4-A00E-0376016A7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1351" y="1752600"/>
            <a:ext cx="5860649" cy="2971800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Excess demand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shortage, is the condition that exists when the quantity demanded exceeds the quantity supplied at the current price.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397" name="Rectangle 21">
            <a:extLst>
              <a:ext uri="{FF2B5EF4-FFF2-40B4-BE49-F238E27FC236}">
                <a16:creationId xmlns:a16="http://schemas.microsoft.com/office/drawing/2014/main" id="{A76E9596-E2B6-4E2F-ACC8-D0616A13B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154350"/>
            <a:ext cx="5791200" cy="2590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When the quantity demanded exceeds the quantity supplied, the price tends to rise until equilibrium is restored.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57349" name="Picture 22">
            <a:extLst>
              <a:ext uri="{FF2B5EF4-FFF2-40B4-BE49-F238E27FC236}">
                <a16:creationId xmlns:a16="http://schemas.microsoft.com/office/drawing/2014/main" id="{F23A7432-4ED3-49E4-BCB8-07D28FCA9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040188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99" name="Picture 23">
            <a:extLst>
              <a:ext uri="{FF2B5EF4-FFF2-40B4-BE49-F238E27FC236}">
                <a16:creationId xmlns:a16="http://schemas.microsoft.com/office/drawing/2014/main" id="{14799845-C4D7-4558-8334-E7503C9CD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040188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400" name="Picture 24">
            <a:extLst>
              <a:ext uri="{FF2B5EF4-FFF2-40B4-BE49-F238E27FC236}">
                <a16:creationId xmlns:a16="http://schemas.microsoft.com/office/drawing/2014/main" id="{B58CB078-EF95-434E-823B-9B5E0931D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040188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401" name="Picture 25">
            <a:extLst>
              <a:ext uri="{FF2B5EF4-FFF2-40B4-BE49-F238E27FC236}">
                <a16:creationId xmlns:a16="http://schemas.microsoft.com/office/drawing/2014/main" id="{9B22B232-82E4-4CDB-9D2F-A66CCE852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038600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90" grpId="0" build="p" bldLvl="2" autoUpdateAnimBg="0"/>
      <p:bldP spid="10139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ABAC0636-345D-45F4-9B40-E0D4091C0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Disequilibria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FCC3D7C7-92B1-4B28-B1F6-F0F698B5A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00799" y="1752600"/>
            <a:ext cx="5791201" cy="1981200"/>
          </a:xfrm>
        </p:spPr>
        <p:txBody>
          <a:bodyPr vert="horz" lIns="92075" tIns="46038" rIns="92075" bIns="46038" rtlCol="0">
            <a:noAutofit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Excess supply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surplus, is the condition that exists when the quantity supplied exceeds the quantity demanded at the current price.</a:t>
            </a:r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B2DA2BC8-F66B-4B45-B022-4078DE703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886200"/>
            <a:ext cx="5791200" cy="2590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When the quantity supplied exceeds the quantity demanded, the price tends to fall until equilibrium is restored.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177165" name="Picture 13">
            <a:extLst>
              <a:ext uri="{FF2B5EF4-FFF2-40B4-BE49-F238E27FC236}">
                <a16:creationId xmlns:a16="http://schemas.microsoft.com/office/drawing/2014/main" id="{623BB439-6DF1-4D9B-B59B-B34D7F16D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7166" name="Picture 14">
            <a:extLst>
              <a:ext uri="{FF2B5EF4-FFF2-40B4-BE49-F238E27FC236}">
                <a16:creationId xmlns:a16="http://schemas.microsoft.com/office/drawing/2014/main" id="{2D1E78E7-F7DC-4A58-96C3-FCB3CC789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7167" name="Picture 15">
            <a:extLst>
              <a:ext uri="{FF2B5EF4-FFF2-40B4-BE49-F238E27FC236}">
                <a16:creationId xmlns:a16="http://schemas.microsoft.com/office/drawing/2014/main" id="{C4C1922F-8E03-4E75-84AE-B5C9947D3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 bldLvl="2" autoUpdateAnimBg="0"/>
      <p:bldP spid="17715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121FC-7860-4269-9A38-DCE6B8E58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Government Intervention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30EAE-464B-4C34-AB4E-0CA80C62A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29384"/>
            <a:ext cx="11164747" cy="4251960"/>
          </a:xfrm>
        </p:spPr>
        <p:txBody>
          <a:bodyPr>
            <a:normAutofit/>
          </a:bodyPr>
          <a:lstStyle/>
          <a:p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Stocks</a:t>
            </a:r>
          </a:p>
          <a:p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  <a:r>
              <a:rPr lang="en-GB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Controllings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(Maximum price and Minimum Price)</a:t>
            </a:r>
          </a:p>
          <a:p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Taxations</a:t>
            </a:r>
          </a:p>
          <a:p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Subsidies</a:t>
            </a:r>
          </a:p>
          <a:p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provision</a:t>
            </a:r>
          </a:p>
          <a:p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</a:t>
            </a:r>
            <a:endParaRPr lang="en-GB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35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616" name="Rectangle 6861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1762F4F8-196D-445D-B1E7-C27BFD542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Intervention in Markets</a:t>
            </a:r>
            <a:endParaRPr lang="en-US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ADA3F4A-3A54-48B9-B1D9-9F8371532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Stocks</a:t>
            </a:r>
          </a:p>
          <a:p>
            <a:pPr marL="0" indent="0" eaLnBrk="1" hangingPunct="1">
              <a:buNone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buffer stock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system; </a:t>
            </a:r>
          </a:p>
          <a:p>
            <a:pPr marL="457200" lvl="1" indent="0">
              <a:buNone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-buys and stores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at times of good harvests to prevent prices from falling below a price level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releases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during bad harvests to prevent prices from rising above a price level</a:t>
            </a: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Influencing market supply through holding or releasing stocks to stabilize prices or incomes</a:t>
            </a: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term measure </a:t>
            </a: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agriculture where supply can be volatile</a:t>
            </a: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Assumption: supply is perfectly inelastic in the short run</a:t>
            </a: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useful where goods can be stored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GB" altLang="en-US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C6DDFC6-C3A2-4544-BAF4-EBB2DA063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Intervention in Markets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635" name="Text Box 4">
            <a:extLst>
              <a:ext uri="{FF2B5EF4-FFF2-40B4-BE49-F238E27FC236}">
                <a16:creationId xmlns:a16="http://schemas.microsoft.com/office/drawing/2014/main" id="{62115B06-44F1-4B40-99DB-8B33D0DB5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5" y="1624013"/>
            <a:ext cx="2171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Buffer Stock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to stabilise price: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173" name="Line 5">
            <a:extLst>
              <a:ext uri="{FF2B5EF4-FFF2-40B4-BE49-F238E27FC236}">
                <a16:creationId xmlns:a16="http://schemas.microsoft.com/office/drawing/2014/main" id="{5B809D8D-6D9D-4FDE-9CF2-475BE0163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5913" y="2133601"/>
            <a:ext cx="0" cy="37433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A3C121FA-6C7F-4019-939D-953323E89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4" y="2003426"/>
            <a:ext cx="7381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Price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175" name="Line 7">
            <a:extLst>
              <a:ext uri="{FF2B5EF4-FFF2-40B4-BE49-F238E27FC236}">
                <a16:creationId xmlns:a16="http://schemas.microsoft.com/office/drawing/2014/main" id="{2BF6A877-55C6-4C55-91B9-40BA85B1E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5914" y="5876925"/>
            <a:ext cx="51847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8CB8A0AA-1AEA-4C64-B473-DFEC1F548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1" y="5894388"/>
            <a:ext cx="3152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Quantity Bought and Sold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177" name="Line 9">
            <a:extLst>
              <a:ext uri="{FF2B5EF4-FFF2-40B4-BE49-F238E27FC236}">
                <a16:creationId xmlns:a16="http://schemas.microsoft.com/office/drawing/2014/main" id="{714A8593-AB04-450C-ADCB-E392F9624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2175" y="2205039"/>
            <a:ext cx="3455988" cy="3455987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5BAE225B-ED20-4B71-943B-81485FB3F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551" y="5461001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D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180" name="Line 12">
            <a:extLst>
              <a:ext uri="{FF2B5EF4-FFF2-40B4-BE49-F238E27FC236}">
                <a16:creationId xmlns:a16="http://schemas.microsoft.com/office/drawing/2014/main" id="{24D8AC6B-7784-48A6-AC0E-98DFE250B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5914" y="3573463"/>
            <a:ext cx="4535487" cy="0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Text Box 14">
            <a:extLst>
              <a:ext uri="{FF2B5EF4-FFF2-40B4-BE49-F238E27FC236}">
                <a16:creationId xmlns:a16="http://schemas.microsoft.com/office/drawing/2014/main" id="{7050296C-AEEE-44AC-B407-97C7E2B8D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376613"/>
            <a:ext cx="1409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Target Price</a:t>
            </a:r>
            <a:endParaRPr lang="en-US" altLang="en-US" sz="1600">
              <a:latin typeface="Verdana" panose="020B0604030504040204" pitchFamily="34" charset="0"/>
            </a:endParaRP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6957FAB8-6F26-486D-9599-776246A04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350" y="3371851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TP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185" name="Text Box 17">
            <a:extLst>
              <a:ext uri="{FF2B5EF4-FFF2-40B4-BE49-F238E27FC236}">
                <a16:creationId xmlns:a16="http://schemas.microsoft.com/office/drawing/2014/main" id="{72601742-23C8-4FAB-8AEB-DFD5298B6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4076700"/>
            <a:ext cx="1943100" cy="9159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Government sets a target price (TP)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186" name="Line 18">
            <a:extLst>
              <a:ext uri="{FF2B5EF4-FFF2-40B4-BE49-F238E27FC236}">
                <a16:creationId xmlns:a16="http://schemas.microsoft.com/office/drawing/2014/main" id="{A13FBAA5-5972-4C3C-823B-A12BBDABF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075" y="1828800"/>
            <a:ext cx="0" cy="403225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7" name="Text Box 19">
            <a:extLst>
              <a:ext uri="{FF2B5EF4-FFF2-40B4-BE49-F238E27FC236}">
                <a16:creationId xmlns:a16="http://schemas.microsoft.com/office/drawing/2014/main" id="{1BDBA4F7-0F82-4633-B6C6-6CB3D6EC0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1550988"/>
            <a:ext cx="2003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S (Bad harvest)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188" name="Line 20">
            <a:extLst>
              <a:ext uri="{FF2B5EF4-FFF2-40B4-BE49-F238E27FC236}">
                <a16:creationId xmlns:a16="http://schemas.microsoft.com/office/drawing/2014/main" id="{C9EA01D3-6001-4E15-A752-6AD934988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573463"/>
            <a:ext cx="0" cy="2303462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9" name="Text Box 21">
            <a:extLst>
              <a:ext uri="{FF2B5EF4-FFF2-40B4-BE49-F238E27FC236}">
                <a16:creationId xmlns:a16="http://schemas.microsoft.com/office/drawing/2014/main" id="{AED7A105-D0B6-4BE9-80C4-3BB7E8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6" y="5919788"/>
            <a:ext cx="569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100</a:t>
            </a:r>
            <a:endParaRPr lang="en-US" altLang="en-US" sz="1600">
              <a:latin typeface="Verdana" panose="020B0604030504040204" pitchFamily="34" charset="0"/>
            </a:endParaRPr>
          </a:p>
        </p:txBody>
      </p:sp>
      <p:sp>
        <p:nvSpPr>
          <p:cNvPr id="7190" name="Text Box 22">
            <a:extLst>
              <a:ext uri="{FF2B5EF4-FFF2-40B4-BE49-F238E27FC236}">
                <a16:creationId xmlns:a16="http://schemas.microsoft.com/office/drawing/2014/main" id="{44208CE6-E463-48BC-86A1-470F4E0A5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1539" y="5918200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50</a:t>
            </a:r>
            <a:endParaRPr lang="en-US" altLang="en-US" sz="1600">
              <a:latin typeface="Verdana" panose="020B0604030504040204" pitchFamily="34" charset="0"/>
            </a:endParaRPr>
          </a:p>
        </p:txBody>
      </p:sp>
      <p:sp>
        <p:nvSpPr>
          <p:cNvPr id="7191" name="Text Box 23">
            <a:extLst>
              <a:ext uri="{FF2B5EF4-FFF2-40B4-BE49-F238E27FC236}">
                <a16:creationId xmlns:a16="http://schemas.microsoft.com/office/drawing/2014/main" id="{389A303B-520E-44CB-89CE-E0125B67A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3716338"/>
            <a:ext cx="2160587" cy="1465262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After a bad harvest, government releases 50 onto market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193" name="Freeform 25">
            <a:extLst>
              <a:ext uri="{FF2B5EF4-FFF2-40B4-BE49-F238E27FC236}">
                <a16:creationId xmlns:a16="http://schemas.microsoft.com/office/drawing/2014/main" id="{670E94C5-01CA-4D2A-9841-7C78CA080BCD}"/>
              </a:ext>
            </a:extLst>
          </p:cNvPr>
          <p:cNvSpPr>
            <a:spLocks/>
          </p:cNvSpPr>
          <p:nvPr/>
        </p:nvSpPr>
        <p:spPr bwMode="auto">
          <a:xfrm>
            <a:off x="4800600" y="1854200"/>
            <a:ext cx="1588" cy="4013200"/>
          </a:xfrm>
          <a:custGeom>
            <a:avLst/>
            <a:gdLst>
              <a:gd name="T0" fmla="*/ 0 w 1"/>
              <a:gd name="T1" fmla="*/ 0 h 2528"/>
              <a:gd name="T2" fmla="*/ 0 w 1"/>
              <a:gd name="T3" fmla="*/ 2147483646 h 2528"/>
              <a:gd name="T4" fmla="*/ 0 60000 65536"/>
              <a:gd name="T5" fmla="*/ 0 60000 65536"/>
              <a:gd name="T6" fmla="*/ 0 w 1"/>
              <a:gd name="T7" fmla="*/ 0 h 2528"/>
              <a:gd name="T8" fmla="*/ 1 w 1"/>
              <a:gd name="T9" fmla="*/ 2528 h 25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528">
                <a:moveTo>
                  <a:pt x="0" y="0"/>
                </a:moveTo>
                <a:lnTo>
                  <a:pt x="0" y="2528"/>
                </a:lnTo>
              </a:path>
            </a:pathLst>
          </a:custGeom>
          <a:noFill/>
          <a:ln w="3810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4" name="Line 26">
            <a:extLst>
              <a:ext uri="{FF2B5EF4-FFF2-40B4-BE49-F238E27FC236}">
                <a16:creationId xmlns:a16="http://schemas.microsoft.com/office/drawing/2014/main" id="{70C1417F-AAA0-462E-911F-F8694B5F0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2538" y="609282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5" name="Line 27">
            <a:extLst>
              <a:ext uri="{FF2B5EF4-FFF2-40B4-BE49-F238E27FC236}">
                <a16:creationId xmlns:a16="http://schemas.microsoft.com/office/drawing/2014/main" id="{FC7DAD8A-9C78-4E26-9857-B7601348F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1828800"/>
            <a:ext cx="0" cy="403225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6" name="Text Box 28">
            <a:extLst>
              <a:ext uri="{FF2B5EF4-FFF2-40B4-BE49-F238E27FC236}">
                <a16:creationId xmlns:a16="http://schemas.microsoft.com/office/drawing/2014/main" id="{C7A382A4-1D28-4166-9084-BA18AC5F9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1571626"/>
            <a:ext cx="219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S (Good Harvest)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197" name="Text Box 29">
            <a:extLst>
              <a:ext uri="{FF2B5EF4-FFF2-40B4-BE49-F238E27FC236}">
                <a16:creationId xmlns:a16="http://schemas.microsoft.com/office/drawing/2014/main" id="{51C6DBB3-EB9D-434B-8A5F-E0776285A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638" y="5919788"/>
            <a:ext cx="569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160</a:t>
            </a:r>
            <a:endParaRPr lang="en-US" altLang="en-US" sz="1600">
              <a:latin typeface="Verdana" panose="020B0604030504040204" pitchFamily="34" charset="0"/>
            </a:endParaRPr>
          </a:p>
        </p:txBody>
      </p:sp>
      <p:sp>
        <p:nvSpPr>
          <p:cNvPr id="7198" name="Freeform 30">
            <a:extLst>
              <a:ext uri="{FF2B5EF4-FFF2-40B4-BE49-F238E27FC236}">
                <a16:creationId xmlns:a16="http://schemas.microsoft.com/office/drawing/2014/main" id="{948DEB6A-D83C-4B47-A103-2302D42F1BCA}"/>
              </a:ext>
            </a:extLst>
          </p:cNvPr>
          <p:cNvSpPr>
            <a:spLocks/>
          </p:cNvSpPr>
          <p:nvPr/>
        </p:nvSpPr>
        <p:spPr bwMode="auto">
          <a:xfrm>
            <a:off x="4800600" y="1866900"/>
            <a:ext cx="1588" cy="3956050"/>
          </a:xfrm>
          <a:custGeom>
            <a:avLst/>
            <a:gdLst>
              <a:gd name="T0" fmla="*/ 0 w 1"/>
              <a:gd name="T1" fmla="*/ 0 h 2492"/>
              <a:gd name="T2" fmla="*/ 0 w 1"/>
              <a:gd name="T3" fmla="*/ 2147483646 h 2492"/>
              <a:gd name="T4" fmla="*/ 0 60000 65536"/>
              <a:gd name="T5" fmla="*/ 0 60000 65536"/>
              <a:gd name="T6" fmla="*/ 0 w 1"/>
              <a:gd name="T7" fmla="*/ 0 h 2492"/>
              <a:gd name="T8" fmla="*/ 1 w 1"/>
              <a:gd name="T9" fmla="*/ 2492 h 249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492">
                <a:moveTo>
                  <a:pt x="0" y="0"/>
                </a:moveTo>
                <a:lnTo>
                  <a:pt x="0" y="2492"/>
                </a:lnTo>
              </a:path>
            </a:pathLst>
          </a:custGeom>
          <a:noFill/>
          <a:ln w="3810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Line 31">
            <a:extLst>
              <a:ext uri="{FF2B5EF4-FFF2-40B4-BE49-F238E27FC236}">
                <a16:creationId xmlns:a16="http://schemas.microsoft.com/office/drawing/2014/main" id="{23544138-11CB-4328-B003-537688A175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7939" y="6092825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Text Box 32">
            <a:extLst>
              <a:ext uri="{FF2B5EF4-FFF2-40B4-BE49-F238E27FC236}">
                <a16:creationId xmlns:a16="http://schemas.microsoft.com/office/drawing/2014/main" id="{827F2A23-181C-4BD0-B2F8-DC8F87D6B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3" y="3429001"/>
            <a:ext cx="2303462" cy="146526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After a good harvest the government ‘buys up’ 60 units and puts it into store</a:t>
            </a:r>
            <a:endParaRPr lang="en-US" altLang="en-US" sz="18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0" fill="hold"/>
                                        <p:tgtEl>
                                          <p:spTgt spid="7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0" fill="hold"/>
                                        <p:tgtEl>
                                          <p:spTgt spid="7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0" fill="hold"/>
                                        <p:tgtEl>
                                          <p:spTgt spid="7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0" fill="hold"/>
                                        <p:tgtEl>
                                          <p:spTgt spid="7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0" fill="hold"/>
                                        <p:tgtEl>
                                          <p:spTgt spid="7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0" fill="hold"/>
                                        <p:tgtEl>
                                          <p:spTgt spid="7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0" fill="hold"/>
                                        <p:tgtEl>
                                          <p:spTgt spid="7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0" fill="hold"/>
                                        <p:tgtEl>
                                          <p:spTgt spid="7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0" fill="hold"/>
                                        <p:tgtEl>
                                          <p:spTgt spid="7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0" fill="hold"/>
                                        <p:tgtEl>
                                          <p:spTgt spid="7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  <p:bldP spid="7176" grpId="0"/>
      <p:bldP spid="7178" grpId="0"/>
      <p:bldP spid="7182" grpId="0"/>
      <p:bldP spid="7183" grpId="0"/>
      <p:bldP spid="7185" grpId="0" animBg="1"/>
      <p:bldP spid="7189" grpId="0"/>
      <p:bldP spid="7190" grpId="0"/>
      <p:bldP spid="7191" grpId="0" animBg="1"/>
      <p:bldP spid="7196" grpId="0"/>
      <p:bldP spid="7197" grpId="0"/>
      <p:bldP spid="720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664" name="Rectangle 7066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1BCA2C25-D4CC-4DE0-9BAD-BD72718C5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Intervention in Markets</a:t>
            </a:r>
            <a:endParaRPr lang="en-US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6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33F6F599-E1D1-4614-BD41-D198EF6D4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GB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stabilization Schemes:</a:t>
            </a:r>
          </a:p>
          <a:p>
            <a:pPr eaLnBrk="1" hangingPunct="1"/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stocks do not guard against volatile incomes </a:t>
            </a:r>
          </a:p>
          <a:p>
            <a:pPr eaLnBrk="1" hangingPunct="1"/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to ensure farm incomes remain relatively constant – manipulate price through releasing stocks or adding to stores</a:t>
            </a:r>
          </a:p>
          <a:p>
            <a:pPr eaLnBrk="1" hangingPunct="1"/>
            <a:endParaRPr lang="en-US" alt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688" name="Rectangle 7168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C7FC4DE4-C650-428E-BA73-E490203169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Intervention in Markets</a:t>
            </a:r>
            <a:endParaRPr lang="en-US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24D13145-C976-4C77-BB21-3963D143B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GB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of such schemes:</a:t>
            </a:r>
          </a:p>
          <a:p>
            <a:pPr lvl="1" eaLnBrk="1" hangingPunct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do not respond to market signals – the market becomes distorted</a:t>
            </a:r>
          </a:p>
          <a:p>
            <a:pPr lvl="1" eaLnBrk="1" hangingPunct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Overproduction if incomes guaranteed</a:t>
            </a:r>
          </a:p>
          <a:p>
            <a:pPr lvl="1" eaLnBrk="1" hangingPunct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 storing food</a:t>
            </a:r>
          </a:p>
          <a:p>
            <a:pPr lvl="1" eaLnBrk="1" hangingPunct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storage</a:t>
            </a:r>
          </a:p>
          <a:p>
            <a:pPr lvl="1" eaLnBrk="1" hangingPunct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Farmers’ moral issues – constant income</a:t>
            </a:r>
          </a:p>
          <a:p>
            <a:pPr lvl="1" eaLnBrk="1" hangingPunct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sustainability, international effects – LDCs, World Trade Organisation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C3DE9-4EB0-37C6-7B51-D86F5196E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 Price Ceilings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4FA3F-C5BF-1FD2-E5DA-4344F717C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price ceiling occurs when a government sets a legal limit on the price of a good or service – with the aim of reducing prices below the market equilibrium price. (it is the highest price that can be set by a producer, group of producers or a whole industry).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also called maximum price.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maximum price might be considered as providing a benefit to consumer. (Protect consumers)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effective a maximum price need to be set below the free market price.</a:t>
            </a:r>
          </a:p>
        </p:txBody>
      </p:sp>
    </p:spTree>
    <p:extLst>
      <p:ext uri="{BB962C8B-B14F-4D97-AF65-F5344CB8AC3E}">
        <p14:creationId xmlns:p14="http://schemas.microsoft.com/office/powerpoint/2010/main" val="3263353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2802490C-3EDD-48D2-AA2F-9213D006B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Ceilings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BDA20D30-DBC7-4143-AD70-2670D205A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590675"/>
            <a:ext cx="310038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Price Controls: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Maximum Prices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below normal equilibrium</a:t>
            </a:r>
          </a:p>
        </p:txBody>
      </p:sp>
      <p:sp>
        <p:nvSpPr>
          <p:cNvPr id="13317" name="Line 5">
            <a:extLst>
              <a:ext uri="{FF2B5EF4-FFF2-40B4-BE49-F238E27FC236}">
                <a16:creationId xmlns:a16="http://schemas.microsoft.com/office/drawing/2014/main" id="{999E7CF5-6867-451E-BE78-8F23FF7587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133600"/>
            <a:ext cx="0" cy="3657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D3CCF59A-8907-4235-8AB3-D7E56CBEE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1784351"/>
            <a:ext cx="738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Price</a:t>
            </a:r>
          </a:p>
        </p:txBody>
      </p:sp>
      <p:sp>
        <p:nvSpPr>
          <p:cNvPr id="13319" name="Line 7">
            <a:extLst>
              <a:ext uri="{FF2B5EF4-FFF2-40B4-BE49-F238E27FC236}">
                <a16:creationId xmlns:a16="http://schemas.microsoft.com/office/drawing/2014/main" id="{9A4277EE-5024-4226-9E9F-D66EF2B69C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791200"/>
            <a:ext cx="502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Text Box 8">
            <a:extLst>
              <a:ext uri="{FF2B5EF4-FFF2-40B4-BE49-F238E27FC236}">
                <a16:creationId xmlns:a16="http://schemas.microsoft.com/office/drawing/2014/main" id="{A805259B-DE1D-4DE3-82E4-FB305FCC8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6" y="5822951"/>
            <a:ext cx="3152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Quantity Bought and Sold</a:t>
            </a:r>
          </a:p>
        </p:txBody>
      </p:sp>
      <p:sp>
        <p:nvSpPr>
          <p:cNvPr id="13321" name="Line 9">
            <a:extLst>
              <a:ext uri="{FF2B5EF4-FFF2-40B4-BE49-F238E27FC236}">
                <a16:creationId xmlns:a16="http://schemas.microsoft.com/office/drawing/2014/main" id="{A7340B90-396E-4EF3-A32E-36FBC66C5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209800"/>
            <a:ext cx="3429000" cy="3429000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Text Box 10">
            <a:extLst>
              <a:ext uri="{FF2B5EF4-FFF2-40B4-BE49-F238E27FC236}">
                <a16:creationId xmlns:a16="http://schemas.microsoft.com/office/drawing/2014/main" id="{3FD4544E-ED16-4C02-8AA9-73844BCC8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1" y="5400676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D</a:t>
            </a:r>
          </a:p>
        </p:txBody>
      </p:sp>
      <p:sp>
        <p:nvSpPr>
          <p:cNvPr id="13323" name="Line 11">
            <a:extLst>
              <a:ext uri="{FF2B5EF4-FFF2-40B4-BE49-F238E27FC236}">
                <a16:creationId xmlns:a16="http://schemas.microsoft.com/office/drawing/2014/main" id="{5780AEEB-CF6F-4AB0-BBDC-4D513E7544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133600"/>
            <a:ext cx="3429000" cy="32766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Text Box 12">
            <a:extLst>
              <a:ext uri="{FF2B5EF4-FFF2-40B4-BE49-F238E27FC236}">
                <a16:creationId xmlns:a16="http://schemas.microsoft.com/office/drawing/2014/main" id="{2F78E137-54FD-4AD5-9799-E18382A3A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726" y="1936751"/>
            <a:ext cx="33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S</a:t>
            </a:r>
          </a:p>
        </p:txBody>
      </p:sp>
      <p:sp>
        <p:nvSpPr>
          <p:cNvPr id="13325" name="Line 13">
            <a:extLst>
              <a:ext uri="{FF2B5EF4-FFF2-40B4-BE49-F238E27FC236}">
                <a16:creationId xmlns:a16="http://schemas.microsoft.com/office/drawing/2014/main" id="{3DCA4459-CAF5-4716-A0A0-10B2EF247A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3810000"/>
            <a:ext cx="1905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Text Box 15">
            <a:extLst>
              <a:ext uri="{FF2B5EF4-FFF2-40B4-BE49-F238E27FC236}">
                <a16:creationId xmlns:a16="http://schemas.microsoft.com/office/drawing/2014/main" id="{0FC952A4-2916-472A-8503-5D9AA3F2F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3624263"/>
            <a:ext cx="569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£10</a:t>
            </a:r>
          </a:p>
        </p:txBody>
      </p:sp>
      <p:sp>
        <p:nvSpPr>
          <p:cNvPr id="13328" name="Line 16">
            <a:extLst>
              <a:ext uri="{FF2B5EF4-FFF2-40B4-BE49-F238E27FC236}">
                <a16:creationId xmlns:a16="http://schemas.microsoft.com/office/drawing/2014/main" id="{65E0B010-1AFF-4B2D-8F55-FBDECB1E19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8100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Text Box 17">
            <a:extLst>
              <a:ext uri="{FF2B5EF4-FFF2-40B4-BE49-F238E27FC236}">
                <a16:creationId xmlns:a16="http://schemas.microsoft.com/office/drawing/2014/main" id="{73E43183-CBBC-4822-84BF-CCA52B24A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1" y="5834063"/>
            <a:ext cx="569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100</a:t>
            </a:r>
          </a:p>
        </p:txBody>
      </p:sp>
      <p:sp>
        <p:nvSpPr>
          <p:cNvPr id="13330" name="Text Box 18">
            <a:extLst>
              <a:ext uri="{FF2B5EF4-FFF2-40B4-BE49-F238E27FC236}">
                <a16:creationId xmlns:a16="http://schemas.microsoft.com/office/drawing/2014/main" id="{0EFAD21A-4922-49B1-8A4C-24045BC90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1" y="3352800"/>
            <a:ext cx="3857625" cy="915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Assume the equilibrium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price is £10 and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amount bought and sold is 100 </a:t>
            </a:r>
          </a:p>
        </p:txBody>
      </p:sp>
      <p:sp>
        <p:nvSpPr>
          <p:cNvPr id="13331" name="Line 19">
            <a:extLst>
              <a:ext uri="{FF2B5EF4-FFF2-40B4-BE49-F238E27FC236}">
                <a16:creationId xmlns:a16="http://schemas.microsoft.com/office/drawing/2014/main" id="{57851647-F743-4249-8452-7DF0DBF6E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648200"/>
            <a:ext cx="3505200" cy="0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2" name="Text Box 20">
            <a:extLst>
              <a:ext uri="{FF2B5EF4-FFF2-40B4-BE49-F238E27FC236}">
                <a16:creationId xmlns:a16="http://schemas.microsoft.com/office/drawing/2014/main" id="{A12AD3F8-629F-45EC-9B1A-71203CC6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4462463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£6</a:t>
            </a:r>
          </a:p>
        </p:txBody>
      </p:sp>
      <p:sp>
        <p:nvSpPr>
          <p:cNvPr id="13333" name="Text Box 21">
            <a:extLst>
              <a:ext uri="{FF2B5EF4-FFF2-40B4-BE49-F238E27FC236}">
                <a16:creationId xmlns:a16="http://schemas.microsoft.com/office/drawing/2014/main" id="{432239AE-7186-4D50-9A98-2740CB14A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6" y="4451351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P Max</a:t>
            </a:r>
          </a:p>
        </p:txBody>
      </p:sp>
      <p:sp>
        <p:nvSpPr>
          <p:cNvPr id="13334" name="Text Box 22">
            <a:extLst>
              <a:ext uri="{FF2B5EF4-FFF2-40B4-BE49-F238E27FC236}">
                <a16:creationId xmlns:a16="http://schemas.microsoft.com/office/drawing/2014/main" id="{CEE0238F-145F-49AA-8E4D-379DB4278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200400"/>
            <a:ext cx="3276600" cy="915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The government imposes a maximum price of £6 (P Max)</a:t>
            </a:r>
          </a:p>
        </p:txBody>
      </p:sp>
      <p:sp>
        <p:nvSpPr>
          <p:cNvPr id="13335" name="Line 23">
            <a:extLst>
              <a:ext uri="{FF2B5EF4-FFF2-40B4-BE49-F238E27FC236}">
                <a16:creationId xmlns:a16="http://schemas.microsoft.com/office/drawing/2014/main" id="{AA70BD73-A947-4CE8-94CF-34C727678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648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Text Box 24">
            <a:extLst>
              <a:ext uri="{FF2B5EF4-FFF2-40B4-BE49-F238E27FC236}">
                <a16:creationId xmlns:a16="http://schemas.microsoft.com/office/drawing/2014/main" id="{5FC1B725-24AA-40AB-BA9A-78C4C44A7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1" y="5834063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60</a:t>
            </a:r>
          </a:p>
        </p:txBody>
      </p:sp>
      <p:sp>
        <p:nvSpPr>
          <p:cNvPr id="13337" name="Line 25">
            <a:extLst>
              <a:ext uri="{FF2B5EF4-FFF2-40B4-BE49-F238E27FC236}">
                <a16:creationId xmlns:a16="http://schemas.microsoft.com/office/drawing/2014/main" id="{3A2A3FCC-F8B0-42EC-9758-E7E3047E2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648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8" name="Line 26">
            <a:extLst>
              <a:ext uri="{FF2B5EF4-FFF2-40B4-BE49-F238E27FC236}">
                <a16:creationId xmlns:a16="http://schemas.microsoft.com/office/drawing/2014/main" id="{D478633D-0B8A-487A-9302-9145ED6BB2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60198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9" name="Line 27">
            <a:extLst>
              <a:ext uri="{FF2B5EF4-FFF2-40B4-BE49-F238E27FC236}">
                <a16:creationId xmlns:a16="http://schemas.microsoft.com/office/drawing/2014/main" id="{0596F37E-3925-4F14-AC39-AE80E16E8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60198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0" name="Text Box 28">
            <a:extLst>
              <a:ext uri="{FF2B5EF4-FFF2-40B4-BE49-F238E27FC236}">
                <a16:creationId xmlns:a16="http://schemas.microsoft.com/office/drawing/2014/main" id="{337573CC-ACE1-4A00-99DD-8ACF9561F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5848350"/>
            <a:ext cx="569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140</a:t>
            </a:r>
          </a:p>
        </p:txBody>
      </p:sp>
      <p:sp>
        <p:nvSpPr>
          <p:cNvPr id="13341" name="Text Box 29">
            <a:extLst>
              <a:ext uri="{FF2B5EF4-FFF2-40B4-BE49-F238E27FC236}">
                <a16:creationId xmlns:a16="http://schemas.microsoft.com/office/drawing/2014/main" id="{C2C23DC4-68A7-4DDF-BE01-AF171436F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048000"/>
            <a:ext cx="3276600" cy="17399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Suppliers reduce the amount offered to 60 but demand would rise to 140 creating a shortage of 80 – rationing might have to be introduced</a:t>
            </a:r>
          </a:p>
        </p:txBody>
      </p:sp>
      <p:sp>
        <p:nvSpPr>
          <p:cNvPr id="13342" name="Line 30">
            <a:extLst>
              <a:ext uri="{FF2B5EF4-FFF2-40B4-BE49-F238E27FC236}">
                <a16:creationId xmlns:a16="http://schemas.microsoft.com/office/drawing/2014/main" id="{31128D68-CCFC-4887-8F95-0539B8C4B7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2895600"/>
            <a:ext cx="0" cy="175260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3" name="Line 31">
            <a:extLst>
              <a:ext uri="{FF2B5EF4-FFF2-40B4-BE49-F238E27FC236}">
                <a16:creationId xmlns:a16="http://schemas.microsoft.com/office/drawing/2014/main" id="{AD45DD78-8C56-4EC7-BDDD-C128B66034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28956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4" name="Text Box 32">
            <a:extLst>
              <a:ext uri="{FF2B5EF4-FFF2-40B4-BE49-F238E27FC236}">
                <a16:creationId xmlns:a16="http://schemas.microsoft.com/office/drawing/2014/main" id="{F5817E43-0F02-4BB4-9824-D619094EE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1" y="2281239"/>
            <a:ext cx="15732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Black Market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Price</a:t>
            </a:r>
          </a:p>
        </p:txBody>
      </p:sp>
      <p:sp>
        <p:nvSpPr>
          <p:cNvPr id="13345" name="Text Box 33">
            <a:extLst>
              <a:ext uri="{FF2B5EF4-FFF2-40B4-BE49-F238E27FC236}">
                <a16:creationId xmlns:a16="http://schemas.microsoft.com/office/drawing/2014/main" id="{3F3906A8-696F-40AB-8EEF-F9F247A71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2709863"/>
            <a:ext cx="569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£18</a:t>
            </a:r>
          </a:p>
        </p:txBody>
      </p:sp>
      <p:sp>
        <p:nvSpPr>
          <p:cNvPr id="13346" name="Text Box 34">
            <a:extLst>
              <a:ext uri="{FF2B5EF4-FFF2-40B4-BE49-F238E27FC236}">
                <a16:creationId xmlns:a16="http://schemas.microsoft.com/office/drawing/2014/main" id="{3C366455-FDC6-44CB-8CE0-6055595D2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102317"/>
            <a:ext cx="3200400" cy="16160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Verdana" panose="020B0604030504040204" pitchFamily="34" charset="0"/>
              </a:rPr>
              <a:t>Shortages may lead to black market prices way above the equilibrium free market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0" fill="hold"/>
                                        <p:tgtEl>
                                          <p:spTgt spid="13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0" fill="hold"/>
                                        <p:tgtEl>
                                          <p:spTgt spid="13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0" fill="hold"/>
                                        <p:tgtEl>
                                          <p:spTgt spid="13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0" fill="hold"/>
                                        <p:tgtEl>
                                          <p:spTgt spid="13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autoUpdateAnimBg="0"/>
      <p:bldP spid="13320" grpId="0" autoUpdateAnimBg="0"/>
      <p:bldP spid="13322" grpId="0" autoUpdateAnimBg="0"/>
      <p:bldP spid="13324" grpId="0" autoUpdateAnimBg="0"/>
      <p:bldP spid="13327" grpId="0" autoUpdateAnimBg="0"/>
      <p:bldP spid="13329" grpId="0" autoUpdateAnimBg="0"/>
      <p:bldP spid="13330" grpId="0" animBg="1" autoUpdateAnimBg="0"/>
      <p:bldP spid="13332" grpId="0" autoUpdateAnimBg="0"/>
      <p:bldP spid="13333" grpId="0" autoUpdateAnimBg="0"/>
      <p:bldP spid="13334" grpId="0" animBg="1" autoUpdateAnimBg="0"/>
      <p:bldP spid="13336" grpId="0" autoUpdateAnimBg="0"/>
      <p:bldP spid="13340" grpId="0" autoUpdateAnimBg="0"/>
      <p:bldP spid="13341" grpId="0" animBg="1" autoUpdateAnimBg="0"/>
      <p:bldP spid="13344" grpId="0" autoUpdateAnimBg="0"/>
      <p:bldP spid="13345" grpId="0" autoUpdateAnimBg="0"/>
      <p:bldP spid="13346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9F4CE-A8BE-E707-2B15-0A1B90E9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01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A771-F57D-A099-CA04-17F0DD8B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LK" sz="3600">
                <a:latin typeface="Times New Roman" panose="02020603050405020304" pitchFamily="18" charset="0"/>
                <a:cs typeface="Times New Roman" panose="02020603050405020304" pitchFamily="18" charset="0"/>
              </a:rPr>
              <a:t>Qd = 100 – 5P</a:t>
            </a:r>
          </a:p>
          <a:p>
            <a:r>
              <a:rPr lang="en-LK" sz="3600">
                <a:latin typeface="Times New Roman" panose="02020603050405020304" pitchFamily="18" charset="0"/>
                <a:cs typeface="Times New Roman" panose="02020603050405020304" pitchFamily="18" charset="0"/>
              </a:rPr>
              <a:t>Qs = 5P</a:t>
            </a:r>
          </a:p>
          <a:p>
            <a:r>
              <a:rPr lang="en-LK" sz="3600">
                <a:latin typeface="Times New Roman" panose="02020603050405020304" pitchFamily="18" charset="0"/>
                <a:cs typeface="Times New Roman" panose="02020603050405020304" pitchFamily="18" charset="0"/>
              </a:rPr>
              <a:t>Maximum Price Rs. 8</a:t>
            </a:r>
          </a:p>
        </p:txBody>
      </p:sp>
    </p:spTree>
    <p:extLst>
      <p:ext uri="{BB962C8B-B14F-4D97-AF65-F5344CB8AC3E}">
        <p14:creationId xmlns:p14="http://schemas.microsoft.com/office/powerpoint/2010/main" val="235649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EB36A8-F7C7-C654-8154-118ECD4580D7}"/>
              </a:ext>
            </a:extLst>
          </p:cNvPr>
          <p:cNvCxnSpPr/>
          <p:nvPr/>
        </p:nvCxnSpPr>
        <p:spPr>
          <a:xfrm flipV="1">
            <a:off x="2118167" y="775504"/>
            <a:ext cx="0" cy="43173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391D33-4EC4-8544-E6AC-8FBE45EC545D}"/>
              </a:ext>
            </a:extLst>
          </p:cNvPr>
          <p:cNvCxnSpPr/>
          <p:nvPr/>
        </p:nvCxnSpPr>
        <p:spPr>
          <a:xfrm>
            <a:off x="1909823" y="4838218"/>
            <a:ext cx="72920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D9855CA-CFA1-CBF7-2722-7B339BF259D0}"/>
              </a:ext>
            </a:extLst>
          </p:cNvPr>
          <p:cNvSpPr txBox="1"/>
          <p:nvPr/>
        </p:nvSpPr>
        <p:spPr>
          <a:xfrm>
            <a:off x="1794082" y="648181"/>
            <a:ext cx="42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1BEA8C-75D8-D880-4208-16FDD15AE449}"/>
              </a:ext>
            </a:extLst>
          </p:cNvPr>
          <p:cNvSpPr txBox="1"/>
          <p:nvPr/>
        </p:nvSpPr>
        <p:spPr>
          <a:xfrm>
            <a:off x="9201873" y="4861363"/>
            <a:ext cx="497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3BFC95-CDF4-727F-B272-4AA574F3B77D}"/>
              </a:ext>
            </a:extLst>
          </p:cNvPr>
          <p:cNvCxnSpPr/>
          <p:nvPr/>
        </p:nvCxnSpPr>
        <p:spPr>
          <a:xfrm>
            <a:off x="2118167" y="1238491"/>
            <a:ext cx="6180881" cy="3599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E627DD-01E9-5396-6C3E-9625B8636D55}"/>
              </a:ext>
            </a:extLst>
          </p:cNvPr>
          <p:cNvSpPr txBox="1"/>
          <p:nvPr/>
        </p:nvSpPr>
        <p:spPr>
          <a:xfrm>
            <a:off x="8206448" y="4363656"/>
            <a:ext cx="50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015E20-262B-F6F0-BD5A-E3A146DEEAB9}"/>
              </a:ext>
            </a:extLst>
          </p:cNvPr>
          <p:cNvSpPr txBox="1"/>
          <p:nvPr/>
        </p:nvSpPr>
        <p:spPr>
          <a:xfrm>
            <a:off x="1747780" y="1122741"/>
            <a:ext cx="50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15E84A-11D8-3FF0-2CCD-C02DF1076DD9}"/>
              </a:ext>
            </a:extLst>
          </p:cNvPr>
          <p:cNvSpPr txBox="1"/>
          <p:nvPr/>
        </p:nvSpPr>
        <p:spPr>
          <a:xfrm>
            <a:off x="8009680" y="4861364"/>
            <a:ext cx="706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51110-E242-1207-8E97-5B7591A2A94B}"/>
              </a:ext>
            </a:extLst>
          </p:cNvPr>
          <p:cNvCxnSpPr/>
          <p:nvPr/>
        </p:nvCxnSpPr>
        <p:spPr>
          <a:xfrm flipV="1">
            <a:off x="2118167" y="1238491"/>
            <a:ext cx="5775767" cy="3599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1E2CC32-E120-89FA-09F9-14896BB1C936}"/>
              </a:ext>
            </a:extLst>
          </p:cNvPr>
          <p:cNvSpPr txBox="1"/>
          <p:nvPr/>
        </p:nvSpPr>
        <p:spPr>
          <a:xfrm>
            <a:off x="7893933" y="1295298"/>
            <a:ext cx="40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7692C2-92F6-23E6-A909-830F6EC43F03}"/>
              </a:ext>
            </a:extLst>
          </p:cNvPr>
          <p:cNvCxnSpPr/>
          <p:nvPr/>
        </p:nvCxnSpPr>
        <p:spPr>
          <a:xfrm flipH="1">
            <a:off x="2118167" y="2974428"/>
            <a:ext cx="29898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5850C9-ABE6-7283-7717-DA4F849BBCEC}"/>
              </a:ext>
            </a:extLst>
          </p:cNvPr>
          <p:cNvCxnSpPr/>
          <p:nvPr/>
        </p:nvCxnSpPr>
        <p:spPr>
          <a:xfrm>
            <a:off x="5118538" y="2974428"/>
            <a:ext cx="0" cy="188693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513E42F-1439-1F6F-28EF-D8728644CAA9}"/>
              </a:ext>
            </a:extLst>
          </p:cNvPr>
          <p:cNvSpPr txBox="1"/>
          <p:nvPr/>
        </p:nvSpPr>
        <p:spPr>
          <a:xfrm>
            <a:off x="1694823" y="2806268"/>
            <a:ext cx="50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78E28B-32B7-066D-B4FF-10425E4C9C2A}"/>
              </a:ext>
            </a:extLst>
          </p:cNvPr>
          <p:cNvSpPr txBox="1"/>
          <p:nvPr/>
        </p:nvSpPr>
        <p:spPr>
          <a:xfrm>
            <a:off x="4874193" y="4808485"/>
            <a:ext cx="50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4640949C-96B0-0F12-BC3F-3BEC1D490A61}"/>
              </a:ext>
            </a:extLst>
          </p:cNvPr>
          <p:cNvSpPr/>
          <p:nvPr/>
        </p:nvSpPr>
        <p:spPr>
          <a:xfrm>
            <a:off x="2118167" y="1238491"/>
            <a:ext cx="2989861" cy="1735937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5D80E0EC-7461-B0EF-A73C-ADE767EF5FF5}"/>
              </a:ext>
            </a:extLst>
          </p:cNvPr>
          <p:cNvSpPr/>
          <p:nvPr/>
        </p:nvSpPr>
        <p:spPr>
          <a:xfrm flipV="1">
            <a:off x="2116302" y="2983134"/>
            <a:ext cx="2989861" cy="1867709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3E9EFF-0DBE-5EFA-FFB3-9BA2C9AE5DC7}"/>
              </a:ext>
            </a:extLst>
          </p:cNvPr>
          <p:cNvCxnSpPr/>
          <p:nvPr/>
        </p:nvCxnSpPr>
        <p:spPr>
          <a:xfrm>
            <a:off x="1794082" y="1954925"/>
            <a:ext cx="7284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A8D40E-A13C-F93D-7F4F-F7FA226E00B5}"/>
              </a:ext>
            </a:extLst>
          </p:cNvPr>
          <p:cNvCxnSpPr/>
          <p:nvPr/>
        </p:nvCxnSpPr>
        <p:spPr>
          <a:xfrm>
            <a:off x="1841382" y="4198876"/>
            <a:ext cx="7284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F597EC5-AD63-7FAB-5A79-A9889A1E689B}"/>
              </a:ext>
            </a:extLst>
          </p:cNvPr>
          <p:cNvSpPr txBox="1"/>
          <p:nvPr/>
        </p:nvSpPr>
        <p:spPr>
          <a:xfrm>
            <a:off x="1282259" y="1755229"/>
            <a:ext cx="110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A274B8-E461-9BEB-1FE5-875F5E553B9D}"/>
              </a:ext>
            </a:extLst>
          </p:cNvPr>
          <p:cNvSpPr txBox="1"/>
          <p:nvPr/>
        </p:nvSpPr>
        <p:spPr>
          <a:xfrm>
            <a:off x="1340065" y="3999185"/>
            <a:ext cx="110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P/S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38C5B-899F-3CAA-F770-4E4F060E91C2}"/>
              </a:ext>
            </a:extLst>
          </p:cNvPr>
          <p:cNvCxnSpPr/>
          <p:nvPr/>
        </p:nvCxnSpPr>
        <p:spPr>
          <a:xfrm>
            <a:off x="2116302" y="3531476"/>
            <a:ext cx="618274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7958A7-9760-9CBA-1456-7766ED517F6C}"/>
              </a:ext>
            </a:extLst>
          </p:cNvPr>
          <p:cNvSpPr txBox="1"/>
          <p:nvPr/>
        </p:nvSpPr>
        <p:spPr>
          <a:xfrm>
            <a:off x="8364040" y="3316277"/>
            <a:ext cx="98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Max/P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FD448F4-3913-DB47-3EBD-7FB94D523669}"/>
              </a:ext>
            </a:extLst>
          </p:cNvPr>
          <p:cNvCxnSpPr/>
          <p:nvPr/>
        </p:nvCxnSpPr>
        <p:spPr>
          <a:xfrm>
            <a:off x="4234375" y="3531476"/>
            <a:ext cx="0" cy="1277009"/>
          </a:xfrm>
          <a:prstGeom prst="line">
            <a:avLst/>
          </a:prstGeom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130A5-CD6B-66AA-85F1-C9F5A855E66E}"/>
              </a:ext>
            </a:extLst>
          </p:cNvPr>
          <p:cNvCxnSpPr/>
          <p:nvPr/>
        </p:nvCxnSpPr>
        <p:spPr>
          <a:xfrm>
            <a:off x="6074896" y="3557264"/>
            <a:ext cx="0" cy="1277009"/>
          </a:xfrm>
          <a:prstGeom prst="line">
            <a:avLst/>
          </a:prstGeom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986A11A-F601-1D2D-8668-84925B4B6579}"/>
              </a:ext>
            </a:extLst>
          </p:cNvPr>
          <p:cNvSpPr txBox="1"/>
          <p:nvPr/>
        </p:nvSpPr>
        <p:spPr>
          <a:xfrm>
            <a:off x="4009294" y="4861363"/>
            <a:ext cx="53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E4B8C5-D526-B8FB-6340-9355F62564BB}"/>
              </a:ext>
            </a:extLst>
          </p:cNvPr>
          <p:cNvSpPr txBox="1"/>
          <p:nvPr/>
        </p:nvSpPr>
        <p:spPr>
          <a:xfrm>
            <a:off x="5849819" y="4859017"/>
            <a:ext cx="53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BC72DBB-DE52-B29B-118B-2ED850E0FF38}"/>
              </a:ext>
            </a:extLst>
          </p:cNvPr>
          <p:cNvCxnSpPr/>
          <p:nvPr/>
        </p:nvCxnSpPr>
        <p:spPr>
          <a:xfrm flipV="1">
            <a:off x="4234375" y="2489982"/>
            <a:ext cx="0" cy="1041494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9445035-063C-9099-4919-CF93466824E6}"/>
              </a:ext>
            </a:extLst>
          </p:cNvPr>
          <p:cNvCxnSpPr/>
          <p:nvPr/>
        </p:nvCxnSpPr>
        <p:spPr>
          <a:xfrm flipH="1">
            <a:off x="2116302" y="2489982"/>
            <a:ext cx="2118073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D86AAA-D9E4-AB45-6E99-AD64C703781F}"/>
              </a:ext>
            </a:extLst>
          </p:cNvPr>
          <p:cNvSpPr txBox="1"/>
          <p:nvPr/>
        </p:nvSpPr>
        <p:spPr>
          <a:xfrm>
            <a:off x="1733961" y="2278966"/>
            <a:ext cx="56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DC576F-E280-1812-F003-3C4C146CA928}"/>
              </a:ext>
            </a:extLst>
          </p:cNvPr>
          <p:cNvSpPr txBox="1"/>
          <p:nvPr/>
        </p:nvSpPr>
        <p:spPr>
          <a:xfrm>
            <a:off x="2743200" y="1870519"/>
            <a:ext cx="422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02DC4A-40A9-E322-7360-342481DB490C}"/>
              </a:ext>
            </a:extLst>
          </p:cNvPr>
          <p:cNvSpPr txBox="1"/>
          <p:nvPr/>
        </p:nvSpPr>
        <p:spPr>
          <a:xfrm>
            <a:off x="2754920" y="2543865"/>
            <a:ext cx="422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0275C0-6284-E21D-B17B-0C0367189B0B}"/>
              </a:ext>
            </a:extLst>
          </p:cNvPr>
          <p:cNvSpPr txBox="1"/>
          <p:nvPr/>
        </p:nvSpPr>
        <p:spPr>
          <a:xfrm>
            <a:off x="2740856" y="3049860"/>
            <a:ext cx="422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5CB040-E0B4-8CC8-08C7-5BC63735F6FA}"/>
              </a:ext>
            </a:extLst>
          </p:cNvPr>
          <p:cNvSpPr txBox="1"/>
          <p:nvPr/>
        </p:nvSpPr>
        <p:spPr>
          <a:xfrm>
            <a:off x="2713157" y="3640703"/>
            <a:ext cx="422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2FD1A6-BBAC-8C99-65F7-791015A6985A}"/>
              </a:ext>
            </a:extLst>
          </p:cNvPr>
          <p:cNvSpPr txBox="1"/>
          <p:nvPr/>
        </p:nvSpPr>
        <p:spPr>
          <a:xfrm>
            <a:off x="4295789" y="2608711"/>
            <a:ext cx="422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1328D9-2409-6A65-5B6D-9E33F50E96BC}"/>
              </a:ext>
            </a:extLst>
          </p:cNvPr>
          <p:cNvSpPr txBox="1"/>
          <p:nvPr/>
        </p:nvSpPr>
        <p:spPr>
          <a:xfrm>
            <a:off x="4319599" y="2975427"/>
            <a:ext cx="422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D7C4F8-857B-E8F0-1494-A8822F806FFF}"/>
              </a:ext>
            </a:extLst>
          </p:cNvPr>
          <p:cNvSpPr txBox="1"/>
          <p:nvPr/>
        </p:nvSpPr>
        <p:spPr>
          <a:xfrm>
            <a:off x="1814518" y="3359838"/>
            <a:ext cx="3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4670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4" grpId="0"/>
      <p:bldP spid="17" grpId="0"/>
      <p:bldP spid="22" grpId="0"/>
      <p:bldP spid="23" grpId="0"/>
      <p:bldP spid="24" grpId="0" animBg="1"/>
      <p:bldP spid="26" grpId="0" animBg="1"/>
      <p:bldP spid="30" grpId="0"/>
      <p:bldP spid="31" grpId="0"/>
      <p:bldP spid="34" grpId="0"/>
      <p:bldP spid="38" grpId="0"/>
      <p:bldP spid="39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A64A4-B7C3-F7C2-7DDF-AAEE257C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E9F00-6750-4DA4-B6CF-B653DE46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price ceiling</a:t>
            </a:r>
            <a:endParaRPr lang="en-US" sz="40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8C5F5-8B0C-A029-1F0A-7755E209C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813"/>
            <a:ext cx="10515600" cy="425291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affordable price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stability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Grater demand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75B3E6-2E18-25B7-9612-E841F5D4F4F3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</a:p>
          <a:p>
            <a:pPr>
              <a:lnSpc>
                <a:spcPct val="150000"/>
              </a:lnSpc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Shortages</a:t>
            </a:r>
          </a:p>
          <a:p>
            <a:pPr>
              <a:lnSpc>
                <a:spcPct val="150000"/>
              </a:lnSpc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Lack of incentives</a:t>
            </a:r>
          </a:p>
          <a:p>
            <a:pPr>
              <a:lnSpc>
                <a:spcPct val="150000"/>
              </a:lnSpc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Black market</a:t>
            </a:r>
          </a:p>
          <a:p>
            <a:pPr>
              <a:lnSpc>
                <a:spcPct val="150000"/>
              </a:lnSpc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More unemployment</a:t>
            </a:r>
          </a:p>
          <a:p>
            <a:pPr>
              <a:lnSpc>
                <a:spcPct val="150000"/>
              </a:lnSpc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Less choice </a:t>
            </a:r>
          </a:p>
          <a:p>
            <a:pPr>
              <a:lnSpc>
                <a:spcPct val="150000"/>
              </a:lnSpc>
            </a:pP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772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04BF9-A8D8-7A96-FEB2-B1E705750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GB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erc</a:t>
            </a:r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815D-D149-1693-4465-FEB2DC27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developing country decides to set a maximum price on product “X” to make sure that product “X” is affordable to everyone. The demand, supply, and the maximum price are given below.</a:t>
            </a:r>
            <a:endParaRPr lang="en-LK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/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Qd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100-5P</a:t>
            </a:r>
            <a:endParaRPr lang="en-LK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Qs = -20+5P</a:t>
            </a:r>
          </a:p>
          <a:p>
            <a:pPr marL="457200"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Maximum Price = Rs. 10</a:t>
            </a:r>
            <a:endParaRPr lang="en-LK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L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417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9A9C7-3A71-86A4-8EE9-69138AF7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 Price Floor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DA25A-5428-4AC9-4665-79FAA4925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government-imposed price controls that set the lowest legal price at which a good or service can be sold.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also called minimum price.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price is usually set above the equilibrium price (the point where supply meets demand in a free market).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often to protect producers from prices that are deemed too low and ensure that they can cover their costs of production, thus earning a reasonable income.</a:t>
            </a:r>
          </a:p>
        </p:txBody>
      </p:sp>
    </p:spTree>
    <p:extLst>
      <p:ext uri="{BB962C8B-B14F-4D97-AF65-F5344CB8AC3E}">
        <p14:creationId xmlns:p14="http://schemas.microsoft.com/office/powerpoint/2010/main" val="1505076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AA47BB0D-EC83-4DB1-BE5A-63E841F10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Floor</a:t>
            </a:r>
            <a:endParaRPr lang="en-GB" altLang="en-US" dirty="0"/>
          </a:p>
        </p:txBody>
      </p:sp>
      <p:sp>
        <p:nvSpPr>
          <p:cNvPr id="73731" name="Text Box 3">
            <a:extLst>
              <a:ext uri="{FF2B5EF4-FFF2-40B4-BE49-F238E27FC236}">
                <a16:creationId xmlns:a16="http://schemas.microsoft.com/office/drawing/2014/main" id="{C5C2E851-C900-42C4-B2DC-96410FE84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2326" y="179387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D633B507-D2DC-4398-9447-6AC2A331E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6" y="1555750"/>
            <a:ext cx="31210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Price Controls: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Minimum Prices set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above normal equilibrium</a:t>
            </a:r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1E0BA335-15BC-4E4E-9983-0CB70C41A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209800"/>
            <a:ext cx="0" cy="3505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Text Box 6">
            <a:extLst>
              <a:ext uri="{FF2B5EF4-FFF2-40B4-BE49-F238E27FC236}">
                <a16:creationId xmlns:a16="http://schemas.microsoft.com/office/drawing/2014/main" id="{DEC935D3-690D-4A0D-A0B4-7C472760B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1784351"/>
            <a:ext cx="738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Price</a:t>
            </a:r>
          </a:p>
        </p:txBody>
      </p:sp>
      <p:sp>
        <p:nvSpPr>
          <p:cNvPr id="15367" name="Line 7">
            <a:extLst>
              <a:ext uri="{FF2B5EF4-FFF2-40B4-BE49-F238E27FC236}">
                <a16:creationId xmlns:a16="http://schemas.microsoft.com/office/drawing/2014/main" id="{0167227B-70CB-4107-9656-212AD2CA3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715000"/>
            <a:ext cx="472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Text Box 8">
            <a:extLst>
              <a:ext uri="{FF2B5EF4-FFF2-40B4-BE49-F238E27FC236}">
                <a16:creationId xmlns:a16="http://schemas.microsoft.com/office/drawing/2014/main" id="{E0B40C9A-DB1B-4E97-B2E1-398214DCA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6" y="5746751"/>
            <a:ext cx="3152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Quantity Bought and Sold</a:t>
            </a:r>
          </a:p>
        </p:txBody>
      </p:sp>
      <p:sp>
        <p:nvSpPr>
          <p:cNvPr id="15369" name="Line 9">
            <a:extLst>
              <a:ext uri="{FF2B5EF4-FFF2-40B4-BE49-F238E27FC236}">
                <a16:creationId xmlns:a16="http://schemas.microsoft.com/office/drawing/2014/main" id="{FC365468-396A-42D1-BD10-E40C636A9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209800"/>
            <a:ext cx="3581400" cy="3352800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Text Box 10">
            <a:extLst>
              <a:ext uri="{FF2B5EF4-FFF2-40B4-BE49-F238E27FC236}">
                <a16:creationId xmlns:a16="http://schemas.microsoft.com/office/drawing/2014/main" id="{227CCBC4-7ECC-481D-978C-530F1C776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26" y="5289551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D</a:t>
            </a:r>
          </a:p>
        </p:txBody>
      </p:sp>
      <p:sp>
        <p:nvSpPr>
          <p:cNvPr id="15371" name="Line 11">
            <a:extLst>
              <a:ext uri="{FF2B5EF4-FFF2-40B4-BE49-F238E27FC236}">
                <a16:creationId xmlns:a16="http://schemas.microsoft.com/office/drawing/2014/main" id="{A60C96B1-F64E-4E0C-B07B-88456E0063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800" y="2133600"/>
            <a:ext cx="3124200" cy="32766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Text Box 12">
            <a:extLst>
              <a:ext uri="{FF2B5EF4-FFF2-40B4-BE49-F238E27FC236}">
                <a16:creationId xmlns:a16="http://schemas.microsoft.com/office/drawing/2014/main" id="{E6543A25-A5C8-435E-862E-09DA9F518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1895476"/>
            <a:ext cx="33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S</a:t>
            </a:r>
          </a:p>
        </p:txBody>
      </p:sp>
      <p:sp>
        <p:nvSpPr>
          <p:cNvPr id="15373" name="Line 13">
            <a:extLst>
              <a:ext uri="{FF2B5EF4-FFF2-40B4-BE49-F238E27FC236}">
                <a16:creationId xmlns:a16="http://schemas.microsoft.com/office/drawing/2014/main" id="{6AD9BE91-9EF7-4A3B-8995-8C502FEA9A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733800"/>
            <a:ext cx="1828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" name="Text Box 14">
            <a:extLst>
              <a:ext uri="{FF2B5EF4-FFF2-40B4-BE49-F238E27FC236}">
                <a16:creationId xmlns:a16="http://schemas.microsoft.com/office/drawing/2014/main" id="{149AC994-C393-46B9-B426-489C5F923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3548063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£5</a:t>
            </a:r>
          </a:p>
        </p:txBody>
      </p:sp>
      <p:sp>
        <p:nvSpPr>
          <p:cNvPr id="15375" name="Line 15">
            <a:extLst>
              <a:ext uri="{FF2B5EF4-FFF2-40B4-BE49-F238E27FC236}">
                <a16:creationId xmlns:a16="http://schemas.microsoft.com/office/drawing/2014/main" id="{E8C0CB9E-F06B-4C1E-84BF-0C5DC274C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733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6" name="Text Box 16">
            <a:extLst>
              <a:ext uri="{FF2B5EF4-FFF2-40B4-BE49-F238E27FC236}">
                <a16:creationId xmlns:a16="http://schemas.microsoft.com/office/drawing/2014/main" id="{81C08375-BD59-46EE-9B22-640C34DA8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1" y="5757863"/>
            <a:ext cx="569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200</a:t>
            </a:r>
          </a:p>
        </p:txBody>
      </p:sp>
      <p:sp>
        <p:nvSpPr>
          <p:cNvPr id="15377" name="Text Box 17">
            <a:extLst>
              <a:ext uri="{FF2B5EF4-FFF2-40B4-BE49-F238E27FC236}">
                <a16:creationId xmlns:a16="http://schemas.microsoft.com/office/drawing/2014/main" id="{A3E1DDF4-DF24-4130-9748-4C72A1443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895601"/>
            <a:ext cx="3035300" cy="119062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Assume initial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equilibrium price = £5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and amount bought and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sold = 200</a:t>
            </a:r>
          </a:p>
        </p:txBody>
      </p:sp>
      <p:sp>
        <p:nvSpPr>
          <p:cNvPr id="15378" name="Line 18">
            <a:extLst>
              <a:ext uri="{FF2B5EF4-FFF2-40B4-BE49-F238E27FC236}">
                <a16:creationId xmlns:a16="http://schemas.microsoft.com/office/drawing/2014/main" id="{7AE1A467-81DD-45AE-B320-2382547E7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819400"/>
            <a:ext cx="4038600" cy="0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9" name="Text Box 19">
            <a:extLst>
              <a:ext uri="{FF2B5EF4-FFF2-40B4-BE49-F238E27FC236}">
                <a16:creationId xmlns:a16="http://schemas.microsoft.com/office/drawing/2014/main" id="{0EF6EDF5-4E29-464A-8C3D-D7C218254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682875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£9</a:t>
            </a:r>
          </a:p>
        </p:txBody>
      </p:sp>
      <p:sp>
        <p:nvSpPr>
          <p:cNvPr id="15380" name="Text Box 20">
            <a:extLst>
              <a:ext uri="{FF2B5EF4-FFF2-40B4-BE49-F238E27FC236}">
                <a16:creationId xmlns:a16="http://schemas.microsoft.com/office/drawing/2014/main" id="{8E78DE23-576F-478F-8CAD-398DD5B5E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6" y="2622551"/>
            <a:ext cx="803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Min P</a:t>
            </a:r>
          </a:p>
        </p:txBody>
      </p:sp>
      <p:sp>
        <p:nvSpPr>
          <p:cNvPr id="15381" name="Text Box 21">
            <a:extLst>
              <a:ext uri="{FF2B5EF4-FFF2-40B4-BE49-F238E27FC236}">
                <a16:creationId xmlns:a16="http://schemas.microsoft.com/office/drawing/2014/main" id="{0227FC23-8046-4004-B79F-1E2EB1149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2971800"/>
            <a:ext cx="2438400" cy="915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Government imposes minimum price of £9 (Min P)</a:t>
            </a:r>
          </a:p>
        </p:txBody>
      </p:sp>
      <p:sp>
        <p:nvSpPr>
          <p:cNvPr id="15382" name="Line 22">
            <a:extLst>
              <a:ext uri="{FF2B5EF4-FFF2-40B4-BE49-F238E27FC236}">
                <a16:creationId xmlns:a16="http://schemas.microsoft.com/office/drawing/2014/main" id="{37C64C30-79EE-46DF-8B35-6078E597C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819400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3" name="Line 23">
            <a:extLst>
              <a:ext uri="{FF2B5EF4-FFF2-40B4-BE49-F238E27FC236}">
                <a16:creationId xmlns:a16="http://schemas.microsoft.com/office/drawing/2014/main" id="{D42A8B4A-9D08-418B-AE92-9FB62CB2F2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59436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4" name="Text Box 24">
            <a:extLst>
              <a:ext uri="{FF2B5EF4-FFF2-40B4-BE49-F238E27FC236}">
                <a16:creationId xmlns:a16="http://schemas.microsoft.com/office/drawing/2014/main" id="{41F09560-AA53-463F-B787-D1B0B0AE6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1" y="5757863"/>
            <a:ext cx="569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170</a:t>
            </a:r>
          </a:p>
        </p:txBody>
      </p:sp>
      <p:sp>
        <p:nvSpPr>
          <p:cNvPr id="15385" name="Line 25">
            <a:extLst>
              <a:ext uri="{FF2B5EF4-FFF2-40B4-BE49-F238E27FC236}">
                <a16:creationId xmlns:a16="http://schemas.microsoft.com/office/drawing/2014/main" id="{2EFCBBA2-A49D-41DE-B911-F288B50A3B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819400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6" name="Line 26">
            <a:extLst>
              <a:ext uri="{FF2B5EF4-FFF2-40B4-BE49-F238E27FC236}">
                <a16:creationId xmlns:a16="http://schemas.microsoft.com/office/drawing/2014/main" id="{39409A50-5EB4-4409-9AEF-A2CA96550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943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7" name="Text Box 27">
            <a:extLst>
              <a:ext uri="{FF2B5EF4-FFF2-40B4-BE49-F238E27FC236}">
                <a16:creationId xmlns:a16="http://schemas.microsoft.com/office/drawing/2014/main" id="{85E7CECB-2318-4E26-817D-5306E7024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5757863"/>
            <a:ext cx="569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Verdana" panose="020B0604030504040204" pitchFamily="34" charset="0"/>
              </a:rPr>
              <a:t>240</a:t>
            </a:r>
          </a:p>
        </p:txBody>
      </p:sp>
      <p:sp>
        <p:nvSpPr>
          <p:cNvPr id="15388" name="Text Box 28">
            <a:extLst>
              <a:ext uri="{FF2B5EF4-FFF2-40B4-BE49-F238E27FC236}">
                <a16:creationId xmlns:a16="http://schemas.microsoft.com/office/drawing/2014/main" id="{4231E042-C696-49B7-AE50-38ADCC021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2743200"/>
            <a:ext cx="2438400" cy="17399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Verdana" panose="020B0604030504040204" pitchFamily="34" charset="0"/>
              </a:rPr>
              <a:t>At the higher price, demand would fall whereas supply would rise – a surplus would exist.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0" fill="hold"/>
                                        <p:tgtEl>
                                          <p:spTgt spid="15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0" fill="hold"/>
                                        <p:tgtEl>
                                          <p:spTgt spid="15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utoUpdateAnimBg="0"/>
      <p:bldP spid="15366" grpId="0" autoUpdateAnimBg="0"/>
      <p:bldP spid="15368" grpId="0" autoUpdateAnimBg="0"/>
      <p:bldP spid="15370" grpId="0" autoUpdateAnimBg="0"/>
      <p:bldP spid="15372" grpId="0" autoUpdateAnimBg="0"/>
      <p:bldP spid="15374" grpId="0" autoUpdateAnimBg="0"/>
      <p:bldP spid="15376" grpId="0" autoUpdateAnimBg="0"/>
      <p:bldP spid="15377" grpId="0" animBg="1" autoUpdateAnimBg="0"/>
      <p:bldP spid="15379" grpId="0" autoUpdateAnimBg="0"/>
      <p:bldP spid="15380" grpId="0" autoUpdateAnimBg="0"/>
      <p:bldP spid="15381" grpId="0" animBg="1" autoUpdateAnimBg="0"/>
      <p:bldP spid="15384" grpId="0" autoUpdateAnimBg="0"/>
      <p:bldP spid="15387" grpId="0" autoUpdateAnimBg="0"/>
      <p:bldP spid="15388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52142-0A78-7124-393D-94253C9D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DCBCFA-8AE6-A362-A5E7-5B668618B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BE644D-D4FF-CFBF-E341-4E3255668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Minimum Price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1EB763C-9DA6-44BF-77ED-24BE469BD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8445D1-F7D3-B626-7C0E-90D106F5C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813"/>
            <a:ext cx="10515600" cy="425291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producers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production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Correcting market failure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consumption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CB5576E-4007-36E3-6608-7EE44C0F5D7E}"/>
              </a:ext>
            </a:extLst>
          </p:cNvPr>
          <p:cNvSpPr txBox="1">
            <a:spLocks/>
          </p:cNvSpPr>
          <p:nvPr/>
        </p:nvSpPr>
        <p:spPr>
          <a:xfrm>
            <a:off x="5741043" y="1825625"/>
            <a:ext cx="5878975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>
              <a:lnSpc>
                <a:spcPct val="150000"/>
              </a:lnSpc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resource allocation</a:t>
            </a:r>
          </a:p>
          <a:p>
            <a:pPr>
              <a:lnSpc>
                <a:spcPct val="150000"/>
              </a:lnSpc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Customers have to spend higher price</a:t>
            </a:r>
          </a:p>
          <a:p>
            <a:pPr>
              <a:lnSpc>
                <a:spcPct val="150000"/>
              </a:lnSpc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Surplus production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610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9F4CE-A8BE-E707-2B15-0A1B90E9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LK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Question 02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A771-F57D-A099-CA04-17F0DD8B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LK" sz="3600">
                <a:latin typeface="Times New Roman" panose="02020603050405020304" pitchFamily="18" charset="0"/>
                <a:cs typeface="Times New Roman" panose="02020603050405020304" pitchFamily="18" charset="0"/>
              </a:rPr>
              <a:t>Qd = 100 – 5P</a:t>
            </a:r>
          </a:p>
          <a:p>
            <a:r>
              <a:rPr lang="en-LK" sz="3600">
                <a:latin typeface="Times New Roman" panose="02020603050405020304" pitchFamily="18" charset="0"/>
                <a:cs typeface="Times New Roman" panose="02020603050405020304" pitchFamily="18" charset="0"/>
              </a:rPr>
              <a:t>Qs = 5P</a:t>
            </a:r>
          </a:p>
          <a:p>
            <a:r>
              <a:rPr lang="en-LK" sz="3600">
                <a:latin typeface="Times New Roman" panose="02020603050405020304" pitchFamily="18" charset="0"/>
                <a:cs typeface="Times New Roman" panose="02020603050405020304" pitchFamily="18" charset="0"/>
              </a:rPr>
              <a:t>Minimum Price Rs. 12</a:t>
            </a:r>
          </a:p>
        </p:txBody>
      </p:sp>
    </p:spTree>
    <p:extLst>
      <p:ext uri="{BB962C8B-B14F-4D97-AF65-F5344CB8AC3E}">
        <p14:creationId xmlns:p14="http://schemas.microsoft.com/office/powerpoint/2010/main" val="1735945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EB36A8-F7C7-C654-8154-118ECD4580D7}"/>
              </a:ext>
            </a:extLst>
          </p:cNvPr>
          <p:cNvCxnSpPr/>
          <p:nvPr/>
        </p:nvCxnSpPr>
        <p:spPr>
          <a:xfrm flipV="1">
            <a:off x="2118167" y="775504"/>
            <a:ext cx="0" cy="43173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391D33-4EC4-8544-E6AC-8FBE45EC545D}"/>
              </a:ext>
            </a:extLst>
          </p:cNvPr>
          <p:cNvCxnSpPr/>
          <p:nvPr/>
        </p:nvCxnSpPr>
        <p:spPr>
          <a:xfrm>
            <a:off x="1909823" y="4838218"/>
            <a:ext cx="72920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D9855CA-CFA1-CBF7-2722-7B339BF259D0}"/>
              </a:ext>
            </a:extLst>
          </p:cNvPr>
          <p:cNvSpPr txBox="1"/>
          <p:nvPr/>
        </p:nvSpPr>
        <p:spPr>
          <a:xfrm>
            <a:off x="1794082" y="648181"/>
            <a:ext cx="42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1BEA8C-75D8-D880-4208-16FDD15AE449}"/>
              </a:ext>
            </a:extLst>
          </p:cNvPr>
          <p:cNvSpPr txBox="1"/>
          <p:nvPr/>
        </p:nvSpPr>
        <p:spPr>
          <a:xfrm>
            <a:off x="9201873" y="4861363"/>
            <a:ext cx="497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3BFC95-CDF4-727F-B272-4AA574F3B77D}"/>
              </a:ext>
            </a:extLst>
          </p:cNvPr>
          <p:cNvCxnSpPr/>
          <p:nvPr/>
        </p:nvCxnSpPr>
        <p:spPr>
          <a:xfrm>
            <a:off x="2118167" y="1238491"/>
            <a:ext cx="6180881" cy="3599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E627DD-01E9-5396-6C3E-9625B8636D55}"/>
              </a:ext>
            </a:extLst>
          </p:cNvPr>
          <p:cNvSpPr txBox="1"/>
          <p:nvPr/>
        </p:nvSpPr>
        <p:spPr>
          <a:xfrm>
            <a:off x="8206448" y="4363656"/>
            <a:ext cx="50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015E20-262B-F6F0-BD5A-E3A146DEEAB9}"/>
              </a:ext>
            </a:extLst>
          </p:cNvPr>
          <p:cNvSpPr txBox="1"/>
          <p:nvPr/>
        </p:nvSpPr>
        <p:spPr>
          <a:xfrm>
            <a:off x="1747780" y="1122741"/>
            <a:ext cx="50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15E84A-11D8-3FF0-2CCD-C02DF1076DD9}"/>
              </a:ext>
            </a:extLst>
          </p:cNvPr>
          <p:cNvSpPr txBox="1"/>
          <p:nvPr/>
        </p:nvSpPr>
        <p:spPr>
          <a:xfrm>
            <a:off x="8009680" y="4861364"/>
            <a:ext cx="706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51110-E242-1207-8E97-5B7591A2A94B}"/>
              </a:ext>
            </a:extLst>
          </p:cNvPr>
          <p:cNvCxnSpPr/>
          <p:nvPr/>
        </p:nvCxnSpPr>
        <p:spPr>
          <a:xfrm flipV="1">
            <a:off x="2118167" y="1238491"/>
            <a:ext cx="5775767" cy="3599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1E2CC32-E120-89FA-09F9-14896BB1C936}"/>
              </a:ext>
            </a:extLst>
          </p:cNvPr>
          <p:cNvSpPr txBox="1"/>
          <p:nvPr/>
        </p:nvSpPr>
        <p:spPr>
          <a:xfrm>
            <a:off x="7893933" y="1295298"/>
            <a:ext cx="40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7692C2-92F6-23E6-A909-830F6EC43F03}"/>
              </a:ext>
            </a:extLst>
          </p:cNvPr>
          <p:cNvCxnSpPr/>
          <p:nvPr/>
        </p:nvCxnSpPr>
        <p:spPr>
          <a:xfrm flipH="1">
            <a:off x="2118167" y="2974428"/>
            <a:ext cx="29898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5850C9-ABE6-7283-7717-DA4F849BBCEC}"/>
              </a:ext>
            </a:extLst>
          </p:cNvPr>
          <p:cNvCxnSpPr/>
          <p:nvPr/>
        </p:nvCxnSpPr>
        <p:spPr>
          <a:xfrm>
            <a:off x="5118538" y="2974428"/>
            <a:ext cx="0" cy="188693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513E42F-1439-1F6F-28EF-D8728644CAA9}"/>
              </a:ext>
            </a:extLst>
          </p:cNvPr>
          <p:cNvSpPr txBox="1"/>
          <p:nvPr/>
        </p:nvSpPr>
        <p:spPr>
          <a:xfrm>
            <a:off x="1694823" y="2806268"/>
            <a:ext cx="50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78E28B-32B7-066D-B4FF-10425E4C9C2A}"/>
              </a:ext>
            </a:extLst>
          </p:cNvPr>
          <p:cNvSpPr txBox="1"/>
          <p:nvPr/>
        </p:nvSpPr>
        <p:spPr>
          <a:xfrm>
            <a:off x="4874193" y="4808485"/>
            <a:ext cx="50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4640949C-96B0-0F12-BC3F-3BEC1D490A61}"/>
              </a:ext>
            </a:extLst>
          </p:cNvPr>
          <p:cNvSpPr/>
          <p:nvPr/>
        </p:nvSpPr>
        <p:spPr>
          <a:xfrm>
            <a:off x="2118167" y="1238491"/>
            <a:ext cx="2989861" cy="1735937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5D80E0EC-7461-B0EF-A73C-ADE767EF5FF5}"/>
              </a:ext>
            </a:extLst>
          </p:cNvPr>
          <p:cNvSpPr/>
          <p:nvPr/>
        </p:nvSpPr>
        <p:spPr>
          <a:xfrm flipV="1">
            <a:off x="2116302" y="2983134"/>
            <a:ext cx="2989861" cy="1867709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3E9EFF-0DBE-5EFA-FFB3-9BA2C9AE5DC7}"/>
              </a:ext>
            </a:extLst>
          </p:cNvPr>
          <p:cNvCxnSpPr/>
          <p:nvPr/>
        </p:nvCxnSpPr>
        <p:spPr>
          <a:xfrm>
            <a:off x="1794082" y="1954925"/>
            <a:ext cx="7284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A8D40E-A13C-F93D-7F4F-F7FA226E00B5}"/>
              </a:ext>
            </a:extLst>
          </p:cNvPr>
          <p:cNvCxnSpPr/>
          <p:nvPr/>
        </p:nvCxnSpPr>
        <p:spPr>
          <a:xfrm>
            <a:off x="1841382" y="4198876"/>
            <a:ext cx="7284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F597EC5-AD63-7FAB-5A79-A9889A1E689B}"/>
              </a:ext>
            </a:extLst>
          </p:cNvPr>
          <p:cNvSpPr txBox="1"/>
          <p:nvPr/>
        </p:nvSpPr>
        <p:spPr>
          <a:xfrm>
            <a:off x="1282259" y="1755229"/>
            <a:ext cx="110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A274B8-E461-9BEB-1FE5-875F5E553B9D}"/>
              </a:ext>
            </a:extLst>
          </p:cNvPr>
          <p:cNvSpPr txBox="1"/>
          <p:nvPr/>
        </p:nvSpPr>
        <p:spPr>
          <a:xfrm>
            <a:off x="1340065" y="3999185"/>
            <a:ext cx="110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P/S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38C5B-899F-3CAA-F770-4E4F060E91C2}"/>
              </a:ext>
            </a:extLst>
          </p:cNvPr>
          <p:cNvCxnSpPr/>
          <p:nvPr/>
        </p:nvCxnSpPr>
        <p:spPr>
          <a:xfrm>
            <a:off x="2116302" y="2517058"/>
            <a:ext cx="618274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7958A7-9760-9CBA-1456-7766ED517F6C}"/>
              </a:ext>
            </a:extLst>
          </p:cNvPr>
          <p:cNvSpPr txBox="1"/>
          <p:nvPr/>
        </p:nvSpPr>
        <p:spPr>
          <a:xfrm>
            <a:off x="8364040" y="2330432"/>
            <a:ext cx="98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Min/P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FD448F4-3913-DB47-3EBD-7FB94D523669}"/>
              </a:ext>
            </a:extLst>
          </p:cNvPr>
          <p:cNvCxnSpPr>
            <a:cxnSpLocks/>
          </p:cNvCxnSpPr>
          <p:nvPr/>
        </p:nvCxnSpPr>
        <p:spPr>
          <a:xfrm>
            <a:off x="4291527" y="2517058"/>
            <a:ext cx="0" cy="2291427"/>
          </a:xfrm>
          <a:prstGeom prst="line">
            <a:avLst/>
          </a:prstGeom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130A5-CD6B-66AA-85F1-C9F5A855E66E}"/>
              </a:ext>
            </a:extLst>
          </p:cNvPr>
          <p:cNvCxnSpPr>
            <a:cxnSpLocks/>
          </p:cNvCxnSpPr>
          <p:nvPr/>
        </p:nvCxnSpPr>
        <p:spPr>
          <a:xfrm>
            <a:off x="5835531" y="2517058"/>
            <a:ext cx="0" cy="2341959"/>
          </a:xfrm>
          <a:prstGeom prst="line">
            <a:avLst/>
          </a:prstGeom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986A11A-F601-1D2D-8668-84925B4B6579}"/>
              </a:ext>
            </a:extLst>
          </p:cNvPr>
          <p:cNvSpPr txBox="1"/>
          <p:nvPr/>
        </p:nvSpPr>
        <p:spPr>
          <a:xfrm>
            <a:off x="4009294" y="4861363"/>
            <a:ext cx="53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E4B8C5-D526-B8FB-6340-9355F62564BB}"/>
              </a:ext>
            </a:extLst>
          </p:cNvPr>
          <p:cNvSpPr txBox="1"/>
          <p:nvPr/>
        </p:nvSpPr>
        <p:spPr>
          <a:xfrm>
            <a:off x="5678363" y="4859017"/>
            <a:ext cx="53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43024E-5766-E0BF-7222-C161771050A9}"/>
              </a:ext>
            </a:extLst>
          </p:cNvPr>
          <p:cNvSpPr txBox="1"/>
          <p:nvPr/>
        </p:nvSpPr>
        <p:spPr>
          <a:xfrm>
            <a:off x="1728793" y="2330432"/>
            <a:ext cx="44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E638A5-8F5A-27F5-1860-A89351178AAF}"/>
              </a:ext>
            </a:extLst>
          </p:cNvPr>
          <p:cNvCxnSpPr>
            <a:cxnSpLocks/>
          </p:cNvCxnSpPr>
          <p:nvPr/>
        </p:nvCxnSpPr>
        <p:spPr>
          <a:xfrm flipH="1">
            <a:off x="2116302" y="3457576"/>
            <a:ext cx="3719229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F34C70C-91C6-166B-548F-45523DEB3DDE}"/>
              </a:ext>
            </a:extLst>
          </p:cNvPr>
          <p:cNvSpPr txBox="1"/>
          <p:nvPr/>
        </p:nvSpPr>
        <p:spPr>
          <a:xfrm>
            <a:off x="1824042" y="3311512"/>
            <a:ext cx="44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06D43A-7FB4-7F8C-9476-4EBFF1D9EE44}"/>
              </a:ext>
            </a:extLst>
          </p:cNvPr>
          <p:cNvSpPr txBox="1"/>
          <p:nvPr/>
        </p:nvSpPr>
        <p:spPr>
          <a:xfrm>
            <a:off x="2786066" y="1954925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9E0E45-00FE-F97B-3A13-F065FEAFA9A9}"/>
              </a:ext>
            </a:extLst>
          </p:cNvPr>
          <p:cNvSpPr txBox="1"/>
          <p:nvPr/>
        </p:nvSpPr>
        <p:spPr>
          <a:xfrm>
            <a:off x="4324358" y="2607391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DCFF35-FFA7-D682-10CF-D10480A3C88F}"/>
              </a:ext>
            </a:extLst>
          </p:cNvPr>
          <p:cNvSpPr txBox="1"/>
          <p:nvPr/>
        </p:nvSpPr>
        <p:spPr>
          <a:xfrm>
            <a:off x="5391162" y="2759797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22D315-E4C7-7166-BB27-D6B24FD59732}"/>
              </a:ext>
            </a:extLst>
          </p:cNvPr>
          <p:cNvSpPr txBox="1"/>
          <p:nvPr/>
        </p:nvSpPr>
        <p:spPr>
          <a:xfrm>
            <a:off x="4886334" y="2469277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9FED83-0EEC-08E5-3D78-71EEC8EBBF21}"/>
              </a:ext>
            </a:extLst>
          </p:cNvPr>
          <p:cNvSpPr txBox="1"/>
          <p:nvPr/>
        </p:nvSpPr>
        <p:spPr>
          <a:xfrm>
            <a:off x="2809868" y="2564525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EBB8F2-0589-3DC6-ECD5-D4147714627A}"/>
              </a:ext>
            </a:extLst>
          </p:cNvPr>
          <p:cNvSpPr txBox="1"/>
          <p:nvPr/>
        </p:nvSpPr>
        <p:spPr>
          <a:xfrm>
            <a:off x="2819399" y="2974104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89BBE2-856E-87D5-5E10-E6D5139028D2}"/>
              </a:ext>
            </a:extLst>
          </p:cNvPr>
          <p:cNvSpPr txBox="1"/>
          <p:nvPr/>
        </p:nvSpPr>
        <p:spPr>
          <a:xfrm>
            <a:off x="2814631" y="3698007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311789-649F-1748-E9AB-DB664D11D989}"/>
              </a:ext>
            </a:extLst>
          </p:cNvPr>
          <p:cNvSpPr txBox="1"/>
          <p:nvPr/>
        </p:nvSpPr>
        <p:spPr>
          <a:xfrm>
            <a:off x="4319588" y="2974105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78C207-1E77-34D2-6F3A-B5ECE805C077}"/>
              </a:ext>
            </a:extLst>
          </p:cNvPr>
          <p:cNvSpPr txBox="1"/>
          <p:nvPr/>
        </p:nvSpPr>
        <p:spPr>
          <a:xfrm>
            <a:off x="5186372" y="3097931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5C6BEC-6E91-DDFB-4621-77A56B1ACFF3}"/>
              </a:ext>
            </a:extLst>
          </p:cNvPr>
          <p:cNvSpPr txBox="1"/>
          <p:nvPr/>
        </p:nvSpPr>
        <p:spPr>
          <a:xfrm>
            <a:off x="4748208" y="3116977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AE32BB-6476-F790-0D3F-8C98934F55CF}"/>
              </a:ext>
            </a:extLst>
          </p:cNvPr>
          <p:cNvSpPr txBox="1"/>
          <p:nvPr/>
        </p:nvSpPr>
        <p:spPr>
          <a:xfrm>
            <a:off x="4629140" y="3698009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EB24A6-E736-5A14-710B-D211B89043A9}"/>
              </a:ext>
            </a:extLst>
          </p:cNvPr>
          <p:cNvSpPr txBox="1"/>
          <p:nvPr/>
        </p:nvSpPr>
        <p:spPr>
          <a:xfrm>
            <a:off x="5224461" y="3707532"/>
            <a:ext cx="400050" cy="37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7194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4" grpId="0"/>
      <p:bldP spid="17" grpId="0"/>
      <p:bldP spid="22" grpId="0"/>
      <p:bldP spid="23" grpId="0"/>
      <p:bldP spid="24" grpId="0" animBg="1"/>
      <p:bldP spid="26" grpId="0" animBg="1"/>
      <p:bldP spid="30" grpId="0"/>
      <p:bldP spid="31" grpId="0"/>
      <p:bldP spid="34" grpId="0"/>
      <p:bldP spid="38" grpId="0"/>
      <p:bldP spid="39" grpId="0"/>
      <p:bldP spid="15" grpId="0"/>
      <p:bldP spid="25" grpId="0"/>
      <p:bldP spid="32" grpId="0"/>
      <p:bldP spid="35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1E582-98F4-D142-D71C-AF20CAB0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EA0DC-D80B-E88B-F301-EC9CBB8EA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GB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erc</a:t>
            </a:r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A0B99-2AC2-0876-1928-F7AA3C25C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government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decides to set a minimum price on product “Y” to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motivate the producers of the product “Y.”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The demand, supply, and minimum price are given below.</a:t>
            </a:r>
            <a:endParaRPr lang="en-LK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/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Qd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9000-10P</a:t>
            </a:r>
            <a:endParaRPr lang="en-LK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Qs = -1000+10P</a:t>
            </a:r>
          </a:p>
          <a:p>
            <a:pPr marL="457200"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Minimum Price = Rs. 700</a:t>
            </a:r>
            <a:endParaRPr lang="en-LK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L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415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759" name="Rectangle 7475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CE578A19-1125-4556-9A0B-E4F6757D3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7476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0D4EA0-A1EF-4DAB-B2A5-921F47BD6F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government controls price, some people are better off.  </a:t>
            </a:r>
          </a:p>
          <a:p>
            <a:pPr lvl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able to buy a good at a lower price</a:t>
            </a:r>
          </a:p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what is the effect on society as a whole?</a:t>
            </a:r>
          </a:p>
          <a:p>
            <a:pPr lvl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total welfare higher or lower and by how much?</a:t>
            </a:r>
          </a:p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way to measure gains and losses from government policies is needed.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bldLvl="2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980" name="Rectangle 8397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0" name="Rectangle 6">
            <a:extLst>
              <a:ext uri="{FF2B5EF4-FFF2-40B4-BE49-F238E27FC236}">
                <a16:creationId xmlns:a16="http://schemas.microsoft.com/office/drawing/2014/main" id="{F29FAD94-E29F-4083-B36B-18653A7AC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8398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25FE86B1-6F7B-4516-98F5-FE60E06BC0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surplus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total benefit or value that consumers receive beyond what they pay for the good.</a:t>
            </a:r>
          </a:p>
          <a:p>
            <a:pPr marL="933450" lvl="1" indent="-476250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 market price for a good is $5</a:t>
            </a:r>
          </a:p>
          <a:p>
            <a:pPr marL="933450" lvl="1" indent="-476250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consumers would be willing to pay more than $5 for the good</a:t>
            </a:r>
          </a:p>
          <a:p>
            <a:pPr marL="933450" lvl="1" indent="-476250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were willing to pay $9 for the good and pay $5, you gain $4 in consumer surplus</a:t>
            </a: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8DB83FBE-8047-424E-AC9C-5311BB00C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98F1F003-F342-4B18-8B4F-5D4B840AC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9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9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5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6600" name="Rectangle 36659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826" name="Rectangle 1026">
            <a:extLst>
              <a:ext uri="{FF2B5EF4-FFF2-40B4-BE49-F238E27FC236}">
                <a16:creationId xmlns:a16="http://schemas.microsoft.com/office/drawing/2014/main" id="{607B0E6D-C8A7-42AD-8F50-CA7CCD0F2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36660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595" name="Rectangle 1027">
            <a:extLst>
              <a:ext uri="{FF2B5EF4-FFF2-40B4-BE49-F238E27FC236}">
                <a16:creationId xmlns:a16="http://schemas.microsoft.com/office/drawing/2014/main" id="{830D01C6-5C97-4934-AA06-57C6FA0C7B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demand curve shows the willingness to pay for all consumers in the market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surplus can be measured by 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area between the demand curve and the market price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surplus measures the total net benefit to consumers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5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5576" name="Rectangle 36557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024337E9-91E4-403D-A786-C973179D2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36557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571" name="Rectangle 3">
            <a:extLst>
              <a:ext uri="{FF2B5EF4-FFF2-40B4-BE49-F238E27FC236}">
                <a16:creationId xmlns:a16="http://schemas.microsoft.com/office/drawing/2014/main" id="{DD5A1658-898D-497C-A2C1-4ED7794157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Producer surplus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total benefit or revenue that producers receive beyond what it cost to produce a good.</a:t>
            </a:r>
          </a:p>
          <a:p>
            <a:pPr marL="933450" lvl="1" indent="-476250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producers produce for less than the market price and would still produce at a lower price</a:t>
            </a:r>
          </a:p>
          <a:p>
            <a:pPr marL="933450" lvl="1" indent="-476250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producer might be willing to accept $3 for the good but get a $5 market price</a:t>
            </a:r>
          </a:p>
          <a:p>
            <a:pPr marL="933450" lvl="1" indent="-476250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gains a surplus of $2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 build="p" bldLvl="2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7624" name="Rectangle 36762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A8549CAB-A822-4868-B889-E88E8DCBF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36762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619" name="Rectangle 3">
            <a:extLst>
              <a:ext uri="{FF2B5EF4-FFF2-40B4-BE49-F238E27FC236}">
                <a16:creationId xmlns:a16="http://schemas.microsoft.com/office/drawing/2014/main" id="{6582A8D5-701B-4601-8EBA-C604956A3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supply curve shows the amount that a producer is willing to take for a certain amount of a good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surplus can be measured by 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area between the supply curve and the market price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surplus measures the total net benefit to producers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9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70BD939-3D24-4520-BCA2-55B63C7E8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364549" name="AutoShape 5">
            <a:extLst>
              <a:ext uri="{FF2B5EF4-FFF2-40B4-BE49-F238E27FC236}">
                <a16:creationId xmlns:a16="http://schemas.microsoft.com/office/drawing/2014/main" id="{A7BE5899-8780-45EA-928C-84A6672BF27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91000" y="3657600"/>
            <a:ext cx="1295400" cy="2209800"/>
          </a:xfrm>
          <a:prstGeom prst="rtTriangle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4552" name="Rectangle 8">
            <a:extLst>
              <a:ext uri="{FF2B5EF4-FFF2-40B4-BE49-F238E27FC236}">
                <a16:creationId xmlns:a16="http://schemas.microsoft.com/office/drawing/2014/main" id="{BC6D123E-35E5-4E8C-AC80-E2D25F541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9515" y="4624388"/>
            <a:ext cx="1893147" cy="1166986"/>
          </a:xfrm>
          <a:prstGeom prst="rect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Between 0 and </a:t>
            </a:r>
            <a:r>
              <a:rPr lang="en-US" altLang="en-US" sz="1400" i="1"/>
              <a:t>Q</a:t>
            </a:r>
            <a:r>
              <a:rPr lang="en-US" altLang="en-US" sz="1400" i="1" baseline="-25000"/>
              <a:t>0</a:t>
            </a:r>
            <a:r>
              <a:rPr lang="en-US" altLang="en-US" sz="1400"/>
              <a:t>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producers receive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a net gain from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selling each product--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producer surplus.</a:t>
            </a:r>
          </a:p>
        </p:txBody>
      </p:sp>
      <p:sp>
        <p:nvSpPr>
          <p:cNvPr id="364554" name="AutoShape 10">
            <a:extLst>
              <a:ext uri="{FF2B5EF4-FFF2-40B4-BE49-F238E27FC236}">
                <a16:creationId xmlns:a16="http://schemas.microsoft.com/office/drawing/2014/main" id="{510DD834-EC3A-420E-91F1-A05ADB6E6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828800"/>
            <a:ext cx="2286000" cy="2286000"/>
          </a:xfrm>
          <a:prstGeom prst="rtTriangle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364599" name="Group 55">
            <a:extLst>
              <a:ext uri="{FF2B5EF4-FFF2-40B4-BE49-F238E27FC236}">
                <a16:creationId xmlns:a16="http://schemas.microsoft.com/office/drawing/2014/main" id="{FC59E7F9-36E2-4321-8B2B-823392BE7105}"/>
              </a:ext>
            </a:extLst>
          </p:cNvPr>
          <p:cNvGrpSpPr>
            <a:grpSpLocks/>
          </p:cNvGrpSpPr>
          <p:nvPr/>
        </p:nvGrpSpPr>
        <p:grpSpPr bwMode="auto">
          <a:xfrm>
            <a:off x="4537077" y="2006600"/>
            <a:ext cx="1808163" cy="1085850"/>
            <a:chOff x="1898" y="1264"/>
            <a:chExt cx="1139" cy="684"/>
          </a:xfrm>
        </p:grpSpPr>
        <p:sp>
          <p:nvSpPr>
            <p:cNvPr id="80938" name="Rectangle 11">
              <a:extLst>
                <a:ext uri="{FF2B5EF4-FFF2-40B4-BE49-F238E27FC236}">
                  <a16:creationId xmlns:a16="http://schemas.microsoft.com/office/drawing/2014/main" id="{256F4E8F-BB3B-468A-A3C7-A09058573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6" y="1264"/>
              <a:ext cx="711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Consumer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Surplus</a:t>
              </a:r>
            </a:p>
          </p:txBody>
        </p:sp>
        <p:sp>
          <p:nvSpPr>
            <p:cNvPr id="80939" name="Line 12">
              <a:extLst>
                <a:ext uri="{FF2B5EF4-FFF2-40B4-BE49-F238E27FC236}">
                  <a16:creationId xmlns:a16="http://schemas.microsoft.com/office/drawing/2014/main" id="{6D5AF120-0D24-4166-96AE-D258C9F973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8" y="1677"/>
              <a:ext cx="303" cy="2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0903" name="Rectangle 13">
            <a:extLst>
              <a:ext uri="{FF2B5EF4-FFF2-40B4-BE49-F238E27FC236}">
                <a16:creationId xmlns:a16="http://schemas.microsoft.com/office/drawing/2014/main" id="{7A33CC87-6911-4306-AAB2-13895C8BC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0904" name="Rectangle 14">
            <a:extLst>
              <a:ext uri="{FF2B5EF4-FFF2-40B4-BE49-F238E27FC236}">
                <a16:creationId xmlns:a16="http://schemas.microsoft.com/office/drawing/2014/main" id="{F9CFD2F6-8380-4DFD-BD5A-491D85FE3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0905" name="Rectangle 15">
            <a:extLst>
              <a:ext uri="{FF2B5EF4-FFF2-40B4-BE49-F238E27FC236}">
                <a16:creationId xmlns:a16="http://schemas.microsoft.com/office/drawing/2014/main" id="{49C3740D-73CF-41D9-B43A-3D22033B0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357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0906" name="Line 16">
            <a:extLst>
              <a:ext uri="{FF2B5EF4-FFF2-40B4-BE49-F238E27FC236}">
                <a16:creationId xmlns:a16="http://schemas.microsoft.com/office/drawing/2014/main" id="{F473E1E7-739E-4280-B710-4769C0355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716088"/>
            <a:ext cx="0" cy="42656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7" name="Line 17">
            <a:extLst>
              <a:ext uri="{FF2B5EF4-FFF2-40B4-BE49-F238E27FC236}">
                <a16:creationId xmlns:a16="http://schemas.microsoft.com/office/drawing/2014/main" id="{BD8EAC13-A126-457B-9BF9-193E2238A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7451" y="5972175"/>
            <a:ext cx="4276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8" name="Rectangle 18">
            <a:extLst>
              <a:ext uri="{FF2B5EF4-FFF2-40B4-BE49-F238E27FC236}">
                <a16:creationId xmlns:a16="http://schemas.microsoft.com/office/drawing/2014/main" id="{0E3C03E9-D7E3-4AD7-A111-19BAF7861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450" y="6067426"/>
            <a:ext cx="947376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Quantity</a:t>
            </a:r>
          </a:p>
        </p:txBody>
      </p:sp>
      <p:sp>
        <p:nvSpPr>
          <p:cNvPr id="80909" name="Rectangle 20">
            <a:extLst>
              <a:ext uri="{FF2B5EF4-FFF2-40B4-BE49-F238E27FC236}">
                <a16:creationId xmlns:a16="http://schemas.microsoft.com/office/drawing/2014/main" id="{B7AECD64-5631-447A-ABBD-DEB4F6682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1628776"/>
            <a:ext cx="649218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Price</a:t>
            </a:r>
          </a:p>
        </p:txBody>
      </p:sp>
      <p:grpSp>
        <p:nvGrpSpPr>
          <p:cNvPr id="364600" name="Group 56">
            <a:extLst>
              <a:ext uri="{FF2B5EF4-FFF2-40B4-BE49-F238E27FC236}">
                <a16:creationId xmlns:a16="http://schemas.microsoft.com/office/drawing/2014/main" id="{6AE14B45-8A33-4B4A-A2C8-A8C7E619AA2A}"/>
              </a:ext>
            </a:extLst>
          </p:cNvPr>
          <p:cNvGrpSpPr>
            <a:grpSpLocks/>
          </p:cNvGrpSpPr>
          <p:nvPr/>
        </p:nvGrpSpPr>
        <p:grpSpPr bwMode="auto">
          <a:xfrm>
            <a:off x="3703639" y="2479675"/>
            <a:ext cx="4772025" cy="2965450"/>
            <a:chOff x="689" y="-310"/>
            <a:chExt cx="3006" cy="1868"/>
          </a:xfrm>
        </p:grpSpPr>
        <p:sp>
          <p:nvSpPr>
            <p:cNvPr id="80936" name="Line 22">
              <a:extLst>
                <a:ext uri="{FF2B5EF4-FFF2-40B4-BE49-F238E27FC236}">
                  <a16:creationId xmlns:a16="http://schemas.microsoft.com/office/drawing/2014/main" id="{AD55A3F2-2DCE-46E6-A0F8-29F411CF61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9" y="-81"/>
              <a:ext cx="2751" cy="1639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7" name="Rectangle 23">
              <a:extLst>
                <a:ext uri="{FF2B5EF4-FFF2-40B4-BE49-F238E27FC236}">
                  <a16:creationId xmlns:a16="http://schemas.microsoft.com/office/drawing/2014/main" id="{8CB10AB5-4983-4EF7-8B5D-5229AF0EC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-310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S</a:t>
              </a:r>
            </a:p>
          </p:txBody>
        </p:sp>
      </p:grpSp>
      <p:grpSp>
        <p:nvGrpSpPr>
          <p:cNvPr id="364568" name="Group 24">
            <a:extLst>
              <a:ext uri="{FF2B5EF4-FFF2-40B4-BE49-F238E27FC236}">
                <a16:creationId xmlns:a16="http://schemas.microsoft.com/office/drawing/2014/main" id="{490B6ED3-F06A-4276-9694-C5838F27EA94}"/>
              </a:ext>
            </a:extLst>
          </p:cNvPr>
          <p:cNvGrpSpPr>
            <a:grpSpLocks/>
          </p:cNvGrpSpPr>
          <p:nvPr/>
        </p:nvGrpSpPr>
        <p:grpSpPr bwMode="auto">
          <a:xfrm>
            <a:off x="3760788" y="1855788"/>
            <a:ext cx="4133850" cy="3846512"/>
            <a:chOff x="1409" y="1169"/>
            <a:chExt cx="2604" cy="2423"/>
          </a:xfrm>
        </p:grpSpPr>
        <p:sp>
          <p:nvSpPr>
            <p:cNvPr id="80934" name="Line 25">
              <a:extLst>
                <a:ext uri="{FF2B5EF4-FFF2-40B4-BE49-F238E27FC236}">
                  <a16:creationId xmlns:a16="http://schemas.microsoft.com/office/drawing/2014/main" id="{921455F6-6916-4BB2-A307-EB7D2C9BB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9" y="1169"/>
              <a:ext cx="2319" cy="2319"/>
            </a:xfrm>
            <a:prstGeom prst="line">
              <a:avLst/>
            </a:prstGeom>
            <a:noFill/>
            <a:ln w="508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5" name="Rectangle 26">
              <a:extLst>
                <a:ext uri="{FF2B5EF4-FFF2-40B4-BE49-F238E27FC236}">
                  <a16:creationId xmlns:a16="http://schemas.microsoft.com/office/drawing/2014/main" id="{FCDCA2F5-94C6-417B-A21C-FD54EAD2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3" y="336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D</a:t>
              </a:r>
            </a:p>
          </p:txBody>
        </p:sp>
      </p:grpSp>
      <p:sp>
        <p:nvSpPr>
          <p:cNvPr id="364573" name="Line 29">
            <a:extLst>
              <a:ext uri="{FF2B5EF4-FFF2-40B4-BE49-F238E27FC236}">
                <a16:creationId xmlns:a16="http://schemas.microsoft.com/office/drawing/2014/main" id="{5C204A34-DB71-47B1-880A-C398D75FD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8088" y="4114800"/>
            <a:ext cx="225901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3" name="Rectangle 31">
            <a:extLst>
              <a:ext uri="{FF2B5EF4-FFF2-40B4-BE49-F238E27FC236}">
                <a16:creationId xmlns:a16="http://schemas.microsoft.com/office/drawing/2014/main" id="{0393DB94-5CE7-4A82-958E-7BFC5986B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6035676"/>
            <a:ext cx="4175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/>
              <a:t>Q</a:t>
            </a:r>
            <a:r>
              <a:rPr lang="en-US" altLang="en-US" sz="1600" i="1" baseline="-25000"/>
              <a:t>0</a:t>
            </a:r>
          </a:p>
        </p:txBody>
      </p:sp>
      <p:grpSp>
        <p:nvGrpSpPr>
          <p:cNvPr id="364603" name="Group 59">
            <a:extLst>
              <a:ext uri="{FF2B5EF4-FFF2-40B4-BE49-F238E27FC236}">
                <a16:creationId xmlns:a16="http://schemas.microsoft.com/office/drawing/2014/main" id="{65C3AEBE-182F-4E7F-B48E-002F10D1B5FC}"/>
              </a:ext>
            </a:extLst>
          </p:cNvPr>
          <p:cNvGrpSpPr>
            <a:grpSpLocks/>
          </p:cNvGrpSpPr>
          <p:nvPr/>
        </p:nvGrpSpPr>
        <p:grpSpPr bwMode="auto">
          <a:xfrm>
            <a:off x="5902325" y="4021138"/>
            <a:ext cx="152400" cy="1909762"/>
            <a:chOff x="2758" y="2533"/>
            <a:chExt cx="96" cy="1203"/>
          </a:xfrm>
        </p:grpSpPr>
        <p:sp>
          <p:nvSpPr>
            <p:cNvPr id="80932" name="Line 30">
              <a:extLst>
                <a:ext uri="{FF2B5EF4-FFF2-40B4-BE49-F238E27FC236}">
                  <a16:creationId xmlns:a16="http://schemas.microsoft.com/office/drawing/2014/main" id="{60B0805A-4A1E-4D72-B4DA-705F29FD4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601"/>
              <a:ext cx="0" cy="11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3" name="Oval 34">
              <a:extLst>
                <a:ext uri="{FF2B5EF4-FFF2-40B4-BE49-F238E27FC236}">
                  <a16:creationId xmlns:a16="http://schemas.microsoft.com/office/drawing/2014/main" id="{77185F39-935D-44BA-B6E2-D5B5C36AA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8" y="2533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64598" name="Group 54">
            <a:extLst>
              <a:ext uri="{FF2B5EF4-FFF2-40B4-BE49-F238E27FC236}">
                <a16:creationId xmlns:a16="http://schemas.microsoft.com/office/drawing/2014/main" id="{D9C4E622-8718-43EA-8302-5B0B4F05C138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981201"/>
            <a:ext cx="914400" cy="3935413"/>
            <a:chOff x="1104" y="1248"/>
            <a:chExt cx="576" cy="2479"/>
          </a:xfrm>
        </p:grpSpPr>
        <p:sp>
          <p:nvSpPr>
            <p:cNvPr id="80927" name="Rectangle 28">
              <a:extLst>
                <a:ext uri="{FF2B5EF4-FFF2-40B4-BE49-F238E27FC236}">
                  <a16:creationId xmlns:a16="http://schemas.microsoft.com/office/drawing/2014/main" id="{4C92B922-83A6-4D01-8F27-F68B617D2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47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80928" name="Rectangle 36">
              <a:extLst>
                <a:ext uri="{FF2B5EF4-FFF2-40B4-BE49-F238E27FC236}">
                  <a16:creationId xmlns:a16="http://schemas.microsoft.com/office/drawing/2014/main" id="{CBDED4CA-A09C-43E8-9DD1-15E130B36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2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9</a:t>
              </a:r>
            </a:p>
          </p:txBody>
        </p:sp>
        <p:sp>
          <p:nvSpPr>
            <p:cNvPr id="80929" name="Line 44">
              <a:extLst>
                <a:ext uri="{FF2B5EF4-FFF2-40B4-BE49-F238E27FC236}">
                  <a16:creationId xmlns:a16="http://schemas.microsoft.com/office/drawing/2014/main" id="{1C458BA7-9244-4BDD-AF30-961B1B4A10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439"/>
              <a:ext cx="36" cy="2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0" name="Line 45">
              <a:extLst>
                <a:ext uri="{FF2B5EF4-FFF2-40B4-BE49-F238E27FC236}">
                  <a16:creationId xmlns:a16="http://schemas.microsoft.com/office/drawing/2014/main" id="{924427D8-A2BD-4D8B-A55F-8FDCDA4C0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1" y="1392"/>
              <a:ext cx="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1" name="Oval 46">
              <a:extLst>
                <a:ext uri="{FF2B5EF4-FFF2-40B4-BE49-F238E27FC236}">
                  <a16:creationId xmlns:a16="http://schemas.microsoft.com/office/drawing/2014/main" id="{0D303BE4-67F9-49D5-9551-8E5B780AC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344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64592" name="Rectangle 48">
            <a:extLst>
              <a:ext uri="{FF2B5EF4-FFF2-40B4-BE49-F238E27FC236}">
                <a16:creationId xmlns:a16="http://schemas.microsoft.com/office/drawing/2014/main" id="{B495E785-6F87-428D-935D-9A72A10B4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100" y="3092451"/>
            <a:ext cx="2097088" cy="1165225"/>
          </a:xfrm>
          <a:prstGeom prst="rect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Between 0 and </a:t>
            </a:r>
            <a:r>
              <a:rPr lang="en-US" altLang="en-US" sz="1400" i="1"/>
              <a:t>Q</a:t>
            </a:r>
            <a:r>
              <a:rPr lang="en-US" altLang="en-US" sz="1400" i="1" baseline="-25000"/>
              <a:t>0 </a:t>
            </a:r>
            <a:r>
              <a:rPr lang="en-US" altLang="en-US" sz="1400"/>
              <a:t>consumer A receives a net gain from buying the product-- consumer surplus</a:t>
            </a:r>
          </a:p>
        </p:txBody>
      </p:sp>
      <p:grpSp>
        <p:nvGrpSpPr>
          <p:cNvPr id="364594" name="Group 50">
            <a:extLst>
              <a:ext uri="{FF2B5EF4-FFF2-40B4-BE49-F238E27FC236}">
                <a16:creationId xmlns:a16="http://schemas.microsoft.com/office/drawing/2014/main" id="{28478A77-44EC-431B-9DBF-AB2EE8D9F687}"/>
              </a:ext>
            </a:extLst>
          </p:cNvPr>
          <p:cNvGrpSpPr>
            <a:grpSpLocks/>
          </p:cNvGrpSpPr>
          <p:nvPr/>
        </p:nvGrpSpPr>
        <p:grpSpPr bwMode="auto">
          <a:xfrm>
            <a:off x="2259013" y="4202118"/>
            <a:ext cx="1651000" cy="582613"/>
            <a:chOff x="463" y="2647"/>
            <a:chExt cx="1040" cy="367"/>
          </a:xfrm>
        </p:grpSpPr>
        <p:sp>
          <p:nvSpPr>
            <p:cNvPr id="80925" name="Rectangle 6">
              <a:extLst>
                <a:ext uri="{FF2B5EF4-FFF2-40B4-BE49-F238E27FC236}">
                  <a16:creationId xmlns:a16="http://schemas.microsoft.com/office/drawing/2014/main" id="{9B225254-FFD4-41A8-927C-883AD89BC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" y="2647"/>
              <a:ext cx="639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Producer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Surplus</a:t>
              </a:r>
            </a:p>
          </p:txBody>
        </p:sp>
        <p:sp>
          <p:nvSpPr>
            <p:cNvPr id="80926" name="Line 49">
              <a:extLst>
                <a:ext uri="{FF2B5EF4-FFF2-40B4-BE49-F238E27FC236}">
                  <a16:creationId xmlns:a16="http://schemas.microsoft.com/office/drawing/2014/main" id="{17D9FFE8-51A0-4585-8797-AA971FB8C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2790"/>
              <a:ext cx="378" cy="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64597" name="Group 53">
            <a:extLst>
              <a:ext uri="{FF2B5EF4-FFF2-40B4-BE49-F238E27FC236}">
                <a16:creationId xmlns:a16="http://schemas.microsoft.com/office/drawing/2014/main" id="{A5127879-B0EA-43D4-B687-39DFF8550ED9}"/>
              </a:ext>
            </a:extLst>
          </p:cNvPr>
          <p:cNvGrpSpPr>
            <a:grpSpLocks/>
          </p:cNvGrpSpPr>
          <p:nvPr/>
        </p:nvGrpSpPr>
        <p:grpSpPr bwMode="auto">
          <a:xfrm>
            <a:off x="3429001" y="4114801"/>
            <a:ext cx="1457325" cy="1814513"/>
            <a:chOff x="1200" y="2592"/>
            <a:chExt cx="918" cy="1143"/>
          </a:xfrm>
        </p:grpSpPr>
        <p:sp>
          <p:nvSpPr>
            <p:cNvPr id="80921" name="Rectangle 37">
              <a:extLst>
                <a:ext uri="{FF2B5EF4-FFF2-40B4-BE49-F238E27FC236}">
                  <a16:creationId xmlns:a16="http://schemas.microsoft.com/office/drawing/2014/main" id="{CF2A4A17-1BF2-4311-8390-71981BF4E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91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3</a:t>
              </a:r>
            </a:p>
          </p:txBody>
        </p:sp>
        <p:sp>
          <p:nvSpPr>
            <p:cNvPr id="80922" name="Oval 42">
              <a:extLst>
                <a:ext uri="{FF2B5EF4-FFF2-40B4-BE49-F238E27FC236}">
                  <a16:creationId xmlns:a16="http://schemas.microsoft.com/office/drawing/2014/main" id="{AAB70C7C-368D-4241-95CD-AEFB36954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2979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80923" name="Line 51">
              <a:extLst>
                <a:ext uri="{FF2B5EF4-FFF2-40B4-BE49-F238E27FC236}">
                  <a16:creationId xmlns:a16="http://schemas.microsoft.com/office/drawing/2014/main" id="{D3A61879-FDC5-4FD5-8FDA-050087099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4" y="3033"/>
              <a:ext cx="6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0924" name="Line 52">
              <a:extLst>
                <a:ext uri="{FF2B5EF4-FFF2-40B4-BE49-F238E27FC236}">
                  <a16:creationId xmlns:a16="http://schemas.microsoft.com/office/drawing/2014/main" id="{116AF33C-B45B-45DB-ABD3-FCFF9395B2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70" y="2592"/>
              <a:ext cx="9" cy="11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0919" name="Rectangle 57">
            <a:extLst>
              <a:ext uri="{FF2B5EF4-FFF2-40B4-BE49-F238E27FC236}">
                <a16:creationId xmlns:a16="http://schemas.microsoft.com/office/drawing/2014/main" id="{36275A1A-B2CD-4421-B96D-1688E885B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6045201"/>
            <a:ext cx="4413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/>
              <a:t>Q</a:t>
            </a:r>
            <a:r>
              <a:rPr lang="en-US" altLang="en-US" sz="1600" i="1" baseline="-25000"/>
              <a:t>D</a:t>
            </a:r>
          </a:p>
        </p:txBody>
      </p:sp>
      <p:sp>
        <p:nvSpPr>
          <p:cNvPr id="80920" name="Rectangle 58">
            <a:extLst>
              <a:ext uri="{FF2B5EF4-FFF2-40B4-BE49-F238E27FC236}">
                <a16:creationId xmlns:a16="http://schemas.microsoft.com/office/drawing/2014/main" id="{EDD9B002-7F6B-4A08-A171-8C6F2B177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4" y="6040439"/>
            <a:ext cx="43338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/>
              <a:t>Q</a:t>
            </a:r>
            <a:r>
              <a:rPr lang="en-US" altLang="en-US" sz="1600" i="1" baseline="-25000"/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6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6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6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6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3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9" grpId="0" animBg="1"/>
      <p:bldP spid="364552" grpId="0" animBg="1" autoUpdateAnimBg="0"/>
      <p:bldP spid="364554" grpId="0" animBg="1"/>
      <p:bldP spid="364592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222" name="Rectangle 942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22" name="Rectangle 8">
            <a:extLst>
              <a:ext uri="{FF2B5EF4-FFF2-40B4-BE49-F238E27FC236}">
                <a16:creationId xmlns:a16="http://schemas.microsoft.com/office/drawing/2014/main" id="{146A91FC-B012-4FC4-BC7B-DA2EC6609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942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217" name="Rectangle 9">
            <a:extLst>
              <a:ext uri="{FF2B5EF4-FFF2-40B4-BE49-F238E27FC236}">
                <a16:creationId xmlns:a16="http://schemas.microsoft.com/office/drawing/2014/main" id="{1E2BF8E1-C196-43DB-A944-A3D067C52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welfare effect of a governmental policy we can measure the gain or loss in consumer and producer surplus.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Welfare Effects</a:t>
            </a:r>
          </a:p>
          <a:p>
            <a:pPr lvl="1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Gains and losses to producers and consumers.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7" grpId="0" build="p" bldLvl="2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648" name="Rectangle 36864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4926BD20-3332-4690-8E2F-DF02F96C0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36865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643" name="Rectangle 3">
            <a:extLst>
              <a:ext uri="{FF2B5EF4-FFF2-40B4-BE49-F238E27FC236}">
                <a16:creationId xmlns:a16="http://schemas.microsoft.com/office/drawing/2014/main" id="{5851D8A4-092A-4CA6-9AF1-E23E7B2C6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government institutes a price ceiling, the price of a good can’t to go above that price.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binding price ceiling, producers and consumers are affected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they are affected can be determined by measuring changes in consumer and producer surplus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3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9672" name="Rectangle 36967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1E5F4366-1992-46B6-A2B4-D8B5BF36A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36967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5F88253D-AD2E-46D7-97FD-D450EC8334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price is held too low, the quantity demanded increases and quantity supplied decreases</a:t>
            </a:r>
          </a:p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consumers are worse off because can no longer buy the good.</a:t>
            </a:r>
          </a:p>
          <a:p>
            <a:pPr lvl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 in consumer surplus</a:t>
            </a:r>
          </a:p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consumers better off because can buy it at a lower price.</a:t>
            </a:r>
          </a:p>
          <a:p>
            <a:pPr lvl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consumer surplus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9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9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7" grpId="0" build="p" bldLvl="2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0696" name="Rectangle 37069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532EC51F-795D-45CC-A735-5199CFCEF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sp>
        <p:nvSpPr>
          <p:cNvPr id="37069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691" name="Rectangle 3">
            <a:extLst>
              <a:ext uri="{FF2B5EF4-FFF2-40B4-BE49-F238E27FC236}">
                <a16:creationId xmlns:a16="http://schemas.microsoft.com/office/drawing/2014/main" id="{CD343950-6DE8-41FC-A048-F27894849B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Producers sell less at a lower price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producers are no longer in the market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of these producer groups lose and producer surplus decreases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economy as a whole is worse off since the surplus that used to belong to producers or consumers are simply gone.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0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0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1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reeform 23">
            <a:extLst>
              <a:ext uri="{FF2B5EF4-FFF2-40B4-BE49-F238E27FC236}">
                <a16:creationId xmlns:a16="http://schemas.microsoft.com/office/drawing/2014/main" id="{48970603-4EB0-40B1-9521-A0787BFCCF09}"/>
              </a:ext>
            </a:extLst>
          </p:cNvPr>
          <p:cNvSpPr>
            <a:spLocks/>
          </p:cNvSpPr>
          <p:nvPr/>
        </p:nvSpPr>
        <p:spPr bwMode="auto">
          <a:xfrm>
            <a:off x="3886200" y="4267200"/>
            <a:ext cx="2133600" cy="1066800"/>
          </a:xfrm>
          <a:custGeom>
            <a:avLst/>
            <a:gdLst>
              <a:gd name="T0" fmla="*/ 0 w 1344"/>
              <a:gd name="T1" fmla="*/ 2147483646 h 672"/>
              <a:gd name="T2" fmla="*/ 0 w 1344"/>
              <a:gd name="T3" fmla="*/ 0 h 672"/>
              <a:gd name="T4" fmla="*/ 2147483646 w 1344"/>
              <a:gd name="T5" fmla="*/ 0 h 672"/>
              <a:gd name="T6" fmla="*/ 0 w 1344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44" h="672">
                <a:moveTo>
                  <a:pt x="0" y="672"/>
                </a:moveTo>
                <a:lnTo>
                  <a:pt x="0" y="0"/>
                </a:lnTo>
                <a:lnTo>
                  <a:pt x="1344" y="0"/>
                </a:lnTo>
                <a:lnTo>
                  <a:pt x="0" y="67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3" name="Freeform 28">
            <a:extLst>
              <a:ext uri="{FF2B5EF4-FFF2-40B4-BE49-F238E27FC236}">
                <a16:creationId xmlns:a16="http://schemas.microsoft.com/office/drawing/2014/main" id="{B7B3DDF4-C87D-49DC-9206-9BF96F24EE7E}"/>
              </a:ext>
            </a:extLst>
          </p:cNvPr>
          <p:cNvSpPr>
            <a:spLocks/>
          </p:cNvSpPr>
          <p:nvPr/>
        </p:nvSpPr>
        <p:spPr bwMode="auto">
          <a:xfrm>
            <a:off x="3886200" y="3124200"/>
            <a:ext cx="2133600" cy="1143000"/>
          </a:xfrm>
          <a:custGeom>
            <a:avLst/>
            <a:gdLst>
              <a:gd name="T0" fmla="*/ 0 w 1344"/>
              <a:gd name="T1" fmla="*/ 0 h 720"/>
              <a:gd name="T2" fmla="*/ 0 w 1344"/>
              <a:gd name="T3" fmla="*/ 2147483646 h 720"/>
              <a:gd name="T4" fmla="*/ 2147483646 w 1344"/>
              <a:gd name="T5" fmla="*/ 2147483646 h 720"/>
              <a:gd name="T6" fmla="*/ 0 w 1344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44" h="720">
                <a:moveTo>
                  <a:pt x="0" y="0"/>
                </a:moveTo>
                <a:lnTo>
                  <a:pt x="0" y="720"/>
                </a:lnTo>
                <a:lnTo>
                  <a:pt x="1344" y="720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C07514FB-3C87-433D-A1EF-3B49258F4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and Producer Surplus</a:t>
            </a:r>
          </a:p>
        </p:txBody>
      </p:sp>
      <p:grpSp>
        <p:nvGrpSpPr>
          <p:cNvPr id="87045" name="Group 7">
            <a:extLst>
              <a:ext uri="{FF2B5EF4-FFF2-40B4-BE49-F238E27FC236}">
                <a16:creationId xmlns:a16="http://schemas.microsoft.com/office/drawing/2014/main" id="{1789B03C-13F3-4191-A8AB-9CFE9E2DE2B7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286000"/>
            <a:ext cx="6705600" cy="3994150"/>
            <a:chOff x="864" y="1440"/>
            <a:chExt cx="4224" cy="2516"/>
          </a:xfrm>
        </p:grpSpPr>
        <p:sp>
          <p:nvSpPr>
            <p:cNvPr id="87058" name="Line 8">
              <a:extLst>
                <a:ext uri="{FF2B5EF4-FFF2-40B4-BE49-F238E27FC236}">
                  <a16:creationId xmlns:a16="http://schemas.microsoft.com/office/drawing/2014/main" id="{DB64C8A9-0220-4E53-BE35-9B72629C7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536"/>
              <a:ext cx="0" cy="2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059" name="Line 9">
              <a:extLst>
                <a:ext uri="{FF2B5EF4-FFF2-40B4-BE49-F238E27FC236}">
                  <a16:creationId xmlns:a16="http://schemas.microsoft.com/office/drawing/2014/main" id="{B83B4FB9-601C-4953-AF48-805AB90D3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648"/>
              <a:ext cx="28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060" name="Text Box 10">
              <a:extLst>
                <a:ext uri="{FF2B5EF4-FFF2-40B4-BE49-F238E27FC236}">
                  <a16:creationId xmlns:a16="http://schemas.microsoft.com/office/drawing/2014/main" id="{2AAE9953-4CA4-4A33-B939-D0B1044BAA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440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/>
                <a:t>Price</a:t>
              </a:r>
            </a:p>
          </p:txBody>
        </p:sp>
        <p:sp>
          <p:nvSpPr>
            <p:cNvPr id="87061" name="Text Box 11">
              <a:extLst>
                <a:ext uri="{FF2B5EF4-FFF2-40B4-BE49-F238E27FC236}">
                  <a16:creationId xmlns:a16="http://schemas.microsoft.com/office/drawing/2014/main" id="{588BDF3A-04A1-4ECE-B98B-6466BC787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744"/>
              <a:ext cx="10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/>
                <a:t>Quantity</a:t>
              </a:r>
            </a:p>
          </p:txBody>
        </p:sp>
      </p:grpSp>
      <p:sp>
        <p:nvSpPr>
          <p:cNvPr id="87046" name="Line 12">
            <a:extLst>
              <a:ext uri="{FF2B5EF4-FFF2-40B4-BE49-F238E27FC236}">
                <a16:creationId xmlns:a16="http://schemas.microsoft.com/office/drawing/2014/main" id="{479F5A1F-4700-4C1B-8D75-D40153100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267200"/>
            <a:ext cx="2133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7" name="Line 13">
            <a:extLst>
              <a:ext uri="{FF2B5EF4-FFF2-40B4-BE49-F238E27FC236}">
                <a16:creationId xmlns:a16="http://schemas.microsoft.com/office/drawing/2014/main" id="{24604184-3386-4C45-B07B-805E981E3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267200"/>
            <a:ext cx="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8" name="Text Box 14">
            <a:extLst>
              <a:ext uri="{FF2B5EF4-FFF2-40B4-BE49-F238E27FC236}">
                <a16:creationId xmlns:a16="http://schemas.microsoft.com/office/drawing/2014/main" id="{2BAF5770-7DD4-470E-A2A9-0C507C40A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114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P</a:t>
            </a:r>
            <a:r>
              <a:rPr lang="en-US" altLang="en-US" sz="1400" baseline="-25000"/>
              <a:t>o</a:t>
            </a:r>
            <a:endParaRPr lang="en-US" altLang="en-US" sz="1400"/>
          </a:p>
        </p:txBody>
      </p:sp>
      <p:sp>
        <p:nvSpPr>
          <p:cNvPr id="87049" name="Text Box 15">
            <a:extLst>
              <a:ext uri="{FF2B5EF4-FFF2-40B4-BE49-F238E27FC236}">
                <a16:creationId xmlns:a16="http://schemas.microsoft.com/office/drawing/2014/main" id="{88D130E6-B02E-411F-BABD-80893BA0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867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Q</a:t>
            </a:r>
            <a:r>
              <a:rPr lang="en-US" altLang="en-US" sz="1400" baseline="-25000"/>
              <a:t>o</a:t>
            </a:r>
            <a:endParaRPr lang="en-US" altLang="en-US" sz="1400"/>
          </a:p>
        </p:txBody>
      </p:sp>
      <p:sp>
        <p:nvSpPr>
          <p:cNvPr id="87050" name="Line 20">
            <a:extLst>
              <a:ext uri="{FF2B5EF4-FFF2-40B4-BE49-F238E27FC236}">
                <a16:creationId xmlns:a16="http://schemas.microsoft.com/office/drawing/2014/main" id="{922B4353-17D4-4E10-8533-0D3B5CFC78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3048000"/>
            <a:ext cx="4419600" cy="2286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1" name="Text Box 21">
            <a:extLst>
              <a:ext uri="{FF2B5EF4-FFF2-40B4-BE49-F238E27FC236}">
                <a16:creationId xmlns:a16="http://schemas.microsoft.com/office/drawing/2014/main" id="{8016B137-59E0-45FB-A6E7-A74C2AD05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27432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S</a:t>
            </a:r>
          </a:p>
        </p:txBody>
      </p:sp>
      <p:sp>
        <p:nvSpPr>
          <p:cNvPr id="87052" name="Text Box 24">
            <a:extLst>
              <a:ext uri="{FF2B5EF4-FFF2-40B4-BE49-F238E27FC236}">
                <a16:creationId xmlns:a16="http://schemas.microsoft.com/office/drawing/2014/main" id="{1B7474AA-73C5-432B-81DB-09452DC76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191000"/>
            <a:ext cx="251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Producer Surplus</a:t>
            </a:r>
          </a:p>
        </p:txBody>
      </p:sp>
      <p:sp>
        <p:nvSpPr>
          <p:cNvPr id="87053" name="Line 25">
            <a:extLst>
              <a:ext uri="{FF2B5EF4-FFF2-40B4-BE49-F238E27FC236}">
                <a16:creationId xmlns:a16="http://schemas.microsoft.com/office/drawing/2014/main" id="{C0C0A23F-56D9-43CD-9880-FAA4110DF4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4343400"/>
            <a:ext cx="2743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4" name="Line 26">
            <a:extLst>
              <a:ext uri="{FF2B5EF4-FFF2-40B4-BE49-F238E27FC236}">
                <a16:creationId xmlns:a16="http://schemas.microsoft.com/office/drawing/2014/main" id="{EA4CBEA4-3E0D-4398-901F-315FD96F2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124200"/>
            <a:ext cx="4267200" cy="2286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5" name="Text Box 29">
            <a:extLst>
              <a:ext uri="{FF2B5EF4-FFF2-40B4-BE49-F238E27FC236}">
                <a16:creationId xmlns:a16="http://schemas.microsoft.com/office/drawing/2014/main" id="{2E0D1C37-658A-4C59-BE97-DDE9574A8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819400"/>
            <a:ext cx="121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Consumer Surplus</a:t>
            </a:r>
          </a:p>
        </p:txBody>
      </p:sp>
      <p:sp>
        <p:nvSpPr>
          <p:cNvPr id="87056" name="Line 30">
            <a:extLst>
              <a:ext uri="{FF2B5EF4-FFF2-40B4-BE49-F238E27FC236}">
                <a16:creationId xmlns:a16="http://schemas.microsoft.com/office/drawing/2014/main" id="{BC12E074-92CE-43C1-9F5F-930217DFFD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3124200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7" name="Text Box 31">
            <a:extLst>
              <a:ext uri="{FF2B5EF4-FFF2-40B4-BE49-F238E27FC236}">
                <a16:creationId xmlns:a16="http://schemas.microsoft.com/office/drawing/2014/main" id="{BD330D67-86F0-4022-B103-85C37128B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2578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/>
              <a:t>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93005-E035-396F-0401-4739CEC13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0696" name="Rectangle 370695">
            <a:extLst>
              <a:ext uri="{FF2B5EF4-FFF2-40B4-BE49-F238E27FC236}">
                <a16:creationId xmlns:a16="http://schemas.microsoft.com/office/drawing/2014/main" id="{9ECE85B9-AB91-9112-42EB-B6263D2DF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A68CE7D9-40B1-BAC3-AECF-5855E9C07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 to calculate consumer surplus and producer surplus at the equilibrium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0698" name="sketch line">
            <a:extLst>
              <a:ext uri="{FF2B5EF4-FFF2-40B4-BE49-F238E27FC236}">
                <a16:creationId xmlns:a16="http://schemas.microsoft.com/office/drawing/2014/main" id="{B11932D0-FAB1-2CB6-7B53-A890891B1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">
                <a:extLst>
                  <a:ext uri="{FF2B5EF4-FFF2-40B4-BE49-F238E27FC236}">
                    <a16:creationId xmlns:a16="http://schemas.microsoft.com/office/drawing/2014/main" id="{DAAD1945-B1C6-1CC7-E1C9-FF03F6E4F7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8813"/>
                <a:ext cx="10515600" cy="4252912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Consumer surplus=</a:t>
                </a:r>
              </a:p>
              <a:p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𝑚𝑎𝑥𝑖𝑚𝑢𝑚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𝑝𝑟𝑖𝑐𝑒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𝑤𝑖𝑙𝑙𝑖𝑔𝑛𝑒𝑠𝑠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𝑡𝑜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𝑝𝑎𝑦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𝑒𝑞𝑢𝑖𝑙𝑖𝑏𝑟𝑖𝑢𝑚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>
                                <a:latin typeface="Cambria Math" panose="02040503050406030204" pitchFamily="18" charset="0"/>
                              </a:rPr>
                              <m:t>𝑝𝑟𝑖𝑐𝑒</m:t>
                            </m:r>
                          </m:e>
                        </m:d>
                        <m:r>
                          <a:rPr lang="en-GB" b="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𝑞𝑢𝑛𝑎𝑡𝑖𝑡𝑦</m:t>
                        </m:r>
                        <m:r>
                          <a:rPr lang="en-GB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GB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𝑡ℎ𝑒</m:t>
                        </m:r>
                        <m:r>
                          <a:rPr lang="en-GB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𝑒𝑞𝑢𝑖𝑙𝑖𝑏𝑟𝑖𝑢𝑚</m:t>
                        </m:r>
                      </m:num>
                      <m:den>
                        <m:r>
                          <a:rPr lang="en-GB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Supplier surplus=</a:t>
                </a:r>
              </a:p>
              <a:p>
                <a:pPr marL="0" indent="0">
                  <a:buNone/>
                </a:pP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𝑒𝑞𝑢𝑖𝑙𝑖𝑏𝑟𝑖𝑢𝑚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𝑝𝑟𝑖𝑐𝑒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𝑚𝑖𝑛𝑖𝑚𝑢𝑚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𝑝𝑟𝑖𝑐𝑒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𝑤𝑖𝑙𝑙𝑖𝑔𝑛𝑒𝑠𝑠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𝑡𝑜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𝑟𝑒𝑐𝑒𝑖𝑣𝑒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𝑞𝑢𝑛𝑎𝑡𝑖𝑡𝑦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𝑒𝑞𝑢𝑖𝑙𝑖𝑏𝑟𝑖𝑢𝑚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Content Placeholder 3">
                <a:extLst>
                  <a:ext uri="{FF2B5EF4-FFF2-40B4-BE49-F238E27FC236}">
                    <a16:creationId xmlns:a16="http://schemas.microsoft.com/office/drawing/2014/main" id="{DAAD1945-B1C6-1CC7-E1C9-FF03F6E4F7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8813"/>
                <a:ext cx="10515600" cy="4252912"/>
              </a:xfrm>
              <a:blipFill>
                <a:blip r:embed="rId2"/>
                <a:stretch>
                  <a:fillRect l="-965" t="-208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667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69" name="Rectangle 17">
            <a:extLst>
              <a:ext uri="{FF2B5EF4-FFF2-40B4-BE49-F238E27FC236}">
                <a16:creationId xmlns:a16="http://schemas.microsoft.com/office/drawing/2014/main" id="{CC54F994-0259-4A0B-9173-9E4A3D20A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7688" y="3068639"/>
            <a:ext cx="2076450" cy="736099"/>
          </a:xfrm>
          <a:prstGeom prst="rect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The loss to producers is the sum of rectangle </a:t>
            </a:r>
            <a:r>
              <a:rPr lang="en-US" altLang="en-US" sz="1400" i="1"/>
              <a:t>A</a:t>
            </a:r>
            <a:r>
              <a:rPr lang="en-US" altLang="en-US" sz="1400"/>
              <a:t> and triangle </a:t>
            </a:r>
            <a:r>
              <a:rPr lang="en-US" altLang="en-US" sz="1400" i="1"/>
              <a:t>C.  </a:t>
            </a:r>
            <a:endParaRPr lang="en-US" altLang="en-US" sz="1400"/>
          </a:p>
        </p:txBody>
      </p:sp>
      <p:grpSp>
        <p:nvGrpSpPr>
          <p:cNvPr id="100412" name="Group 60">
            <a:extLst>
              <a:ext uri="{FF2B5EF4-FFF2-40B4-BE49-F238E27FC236}">
                <a16:creationId xmlns:a16="http://schemas.microsoft.com/office/drawing/2014/main" id="{1D0B28CA-C76D-4D7F-BBB9-7CDA991ADC59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048000"/>
            <a:ext cx="1066800" cy="1066800"/>
            <a:chOff x="2160" y="1920"/>
            <a:chExt cx="672" cy="672"/>
          </a:xfrm>
        </p:grpSpPr>
        <p:sp>
          <p:nvSpPr>
            <p:cNvPr id="89130" name="AutoShape 5">
              <a:extLst>
                <a:ext uri="{FF2B5EF4-FFF2-40B4-BE49-F238E27FC236}">
                  <a16:creationId xmlns:a16="http://schemas.microsoft.com/office/drawing/2014/main" id="{25659A1F-1959-41E1-83A8-A212430C3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20"/>
              <a:ext cx="672" cy="672"/>
            </a:xfrm>
            <a:prstGeom prst="rtTriangle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89131" name="Rectangle 32">
              <a:extLst>
                <a:ext uri="{FF2B5EF4-FFF2-40B4-BE49-F238E27FC236}">
                  <a16:creationId xmlns:a16="http://schemas.microsoft.com/office/drawing/2014/main" id="{363CA9FC-3983-481D-AE2D-FC87F9928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2209"/>
              <a:ext cx="21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B</a:t>
              </a:r>
            </a:p>
          </p:txBody>
        </p:sp>
      </p:grpSp>
      <p:grpSp>
        <p:nvGrpSpPr>
          <p:cNvPr id="100413" name="Group 61">
            <a:extLst>
              <a:ext uri="{FF2B5EF4-FFF2-40B4-BE49-F238E27FC236}">
                <a16:creationId xmlns:a16="http://schemas.microsoft.com/office/drawing/2014/main" id="{37DFCDA5-7FF7-4DB4-9443-C52BB5794E46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4114800"/>
            <a:ext cx="1219200" cy="838200"/>
            <a:chOff x="1392" y="2592"/>
            <a:chExt cx="768" cy="528"/>
          </a:xfrm>
        </p:grpSpPr>
        <p:sp>
          <p:nvSpPr>
            <p:cNvPr id="89128" name="Rectangle 6">
              <a:extLst>
                <a:ext uri="{FF2B5EF4-FFF2-40B4-BE49-F238E27FC236}">
                  <a16:creationId xmlns:a16="http://schemas.microsoft.com/office/drawing/2014/main" id="{4C88AF4E-1150-4A23-97F6-3E026DB78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592"/>
              <a:ext cx="768" cy="528"/>
            </a:xfrm>
            <a:prstGeom prst="rect">
              <a:avLst/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89129" name="Rectangle 31">
              <a:extLst>
                <a:ext uri="{FF2B5EF4-FFF2-40B4-BE49-F238E27FC236}">
                  <a16:creationId xmlns:a16="http://schemas.microsoft.com/office/drawing/2014/main" id="{B8DEAB90-5FD1-43D7-A916-F3EA6DE17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2619"/>
              <a:ext cx="21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A</a:t>
              </a:r>
            </a:p>
          </p:txBody>
        </p:sp>
      </p:grpSp>
      <p:grpSp>
        <p:nvGrpSpPr>
          <p:cNvPr id="100416" name="Group 64">
            <a:extLst>
              <a:ext uri="{FF2B5EF4-FFF2-40B4-BE49-F238E27FC236}">
                <a16:creationId xmlns:a16="http://schemas.microsoft.com/office/drawing/2014/main" id="{0F76CC9F-C8E0-4C17-BB9A-248495882DF9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114800"/>
            <a:ext cx="1143000" cy="838200"/>
            <a:chOff x="2160" y="2592"/>
            <a:chExt cx="720" cy="528"/>
          </a:xfrm>
        </p:grpSpPr>
        <p:sp>
          <p:nvSpPr>
            <p:cNvPr id="89126" name="AutoShape 4">
              <a:extLst>
                <a:ext uri="{FF2B5EF4-FFF2-40B4-BE49-F238E27FC236}">
                  <a16:creationId xmlns:a16="http://schemas.microsoft.com/office/drawing/2014/main" id="{4DE30FBD-17CA-4909-BB39-46C17F2ABD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56" y="2496"/>
              <a:ext cx="528" cy="720"/>
            </a:xfrm>
            <a:prstGeom prst="rtTriangle">
              <a:avLst/>
            </a:prstGeom>
            <a:solidFill>
              <a:srgbClr val="8D7D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89127" name="Rectangle 33">
              <a:extLst>
                <a:ext uri="{FF2B5EF4-FFF2-40B4-BE49-F238E27FC236}">
                  <a16:creationId xmlns:a16="http://schemas.microsoft.com/office/drawing/2014/main" id="{2220EB72-0FA3-40B1-838F-13ACB8117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" y="2647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C</a:t>
              </a:r>
            </a:p>
          </p:txBody>
        </p:sp>
      </p:grpSp>
      <p:sp>
        <p:nvSpPr>
          <p:cNvPr id="100387" name="Rectangle 35">
            <a:extLst>
              <a:ext uri="{FF2B5EF4-FFF2-40B4-BE49-F238E27FC236}">
                <a16:creationId xmlns:a16="http://schemas.microsoft.com/office/drawing/2014/main" id="{E9843ECC-8171-4F20-B680-5DD071A13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1" y="1924050"/>
            <a:ext cx="2055813" cy="527050"/>
          </a:xfrm>
          <a:prstGeom prst="rect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Consumers that can buy the good gain A</a:t>
            </a:r>
          </a:p>
        </p:txBody>
      </p:sp>
      <p:sp>
        <p:nvSpPr>
          <p:cNvPr id="100400" name="Line 48">
            <a:extLst>
              <a:ext uri="{FF2B5EF4-FFF2-40B4-BE49-F238E27FC236}">
                <a16:creationId xmlns:a16="http://schemas.microsoft.com/office/drawing/2014/main" id="{302B85F1-F06F-4E58-B7DF-FA0D0BF32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009900"/>
            <a:ext cx="0" cy="1938338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6" name="Rectangle 2">
            <a:extLst>
              <a:ext uri="{FF2B5EF4-FFF2-40B4-BE49-F238E27FC236}">
                <a16:creationId xmlns:a16="http://schemas.microsoft.com/office/drawing/2014/main" id="{E888B711-6114-42BE-9E0C-4E7F0B25F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9097" name="Rectangle 3">
            <a:extLst>
              <a:ext uri="{FF2B5EF4-FFF2-40B4-BE49-F238E27FC236}">
                <a16:creationId xmlns:a16="http://schemas.microsoft.com/office/drawing/2014/main" id="{3BE22E82-51C1-4754-869A-D4DDE3D85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9098" name="Rectangle 59">
            <a:extLst>
              <a:ext uri="{FF2B5EF4-FFF2-40B4-BE49-F238E27FC236}">
                <a16:creationId xmlns:a16="http://schemas.microsoft.com/office/drawing/2014/main" id="{62587443-93BE-4277-976C-74732C4C7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Control and Surplus Changes</a:t>
            </a:r>
          </a:p>
        </p:txBody>
      </p:sp>
      <p:sp>
        <p:nvSpPr>
          <p:cNvPr id="89099" name="Rectangle 8">
            <a:extLst>
              <a:ext uri="{FF2B5EF4-FFF2-40B4-BE49-F238E27FC236}">
                <a16:creationId xmlns:a16="http://schemas.microsoft.com/office/drawing/2014/main" id="{0FF366F0-D5F6-4B3A-8053-DAB860008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357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9100" name="Line 9">
            <a:extLst>
              <a:ext uri="{FF2B5EF4-FFF2-40B4-BE49-F238E27FC236}">
                <a16:creationId xmlns:a16="http://schemas.microsoft.com/office/drawing/2014/main" id="{ACBDF879-BD11-4905-8A9D-19D4E7ABD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716088"/>
            <a:ext cx="0" cy="42656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1" name="Line 10">
            <a:extLst>
              <a:ext uri="{FF2B5EF4-FFF2-40B4-BE49-F238E27FC236}">
                <a16:creationId xmlns:a16="http://schemas.microsoft.com/office/drawing/2014/main" id="{D168593B-684B-466F-B459-9294E3650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7451" y="5972175"/>
            <a:ext cx="4276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2" name="Rectangle 11">
            <a:extLst>
              <a:ext uri="{FF2B5EF4-FFF2-40B4-BE49-F238E27FC236}">
                <a16:creationId xmlns:a16="http://schemas.microsoft.com/office/drawing/2014/main" id="{965D8E6D-C85E-4B18-BDB8-3E32302E7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6383339"/>
            <a:ext cx="947376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Quantity</a:t>
            </a:r>
          </a:p>
        </p:txBody>
      </p:sp>
      <p:sp>
        <p:nvSpPr>
          <p:cNvPr id="89103" name="Rectangle 12">
            <a:extLst>
              <a:ext uri="{FF2B5EF4-FFF2-40B4-BE49-F238E27FC236}">
                <a16:creationId xmlns:a16="http://schemas.microsoft.com/office/drawing/2014/main" id="{29A36F5F-875B-44D1-B8A0-92AD8966C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600201"/>
            <a:ext cx="649218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Price</a:t>
            </a:r>
          </a:p>
        </p:txBody>
      </p:sp>
      <p:grpSp>
        <p:nvGrpSpPr>
          <p:cNvPr id="100388" name="Group 36">
            <a:extLst>
              <a:ext uri="{FF2B5EF4-FFF2-40B4-BE49-F238E27FC236}">
                <a16:creationId xmlns:a16="http://schemas.microsoft.com/office/drawing/2014/main" id="{843867AB-5C17-405D-B884-9549C1F5399D}"/>
              </a:ext>
            </a:extLst>
          </p:cNvPr>
          <p:cNvGrpSpPr>
            <a:grpSpLocks/>
          </p:cNvGrpSpPr>
          <p:nvPr/>
        </p:nvGrpSpPr>
        <p:grpSpPr bwMode="auto">
          <a:xfrm>
            <a:off x="3775075" y="1841501"/>
            <a:ext cx="4470400" cy="4075113"/>
            <a:chOff x="1409" y="1169"/>
            <a:chExt cx="2816" cy="2567"/>
          </a:xfrm>
        </p:grpSpPr>
        <p:sp>
          <p:nvSpPr>
            <p:cNvPr id="89122" name="Line 13">
              <a:extLst>
                <a:ext uri="{FF2B5EF4-FFF2-40B4-BE49-F238E27FC236}">
                  <a16:creationId xmlns:a16="http://schemas.microsoft.com/office/drawing/2014/main" id="{F32B9307-B324-443A-A32C-9EAEEF2AD4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9" y="1713"/>
              <a:ext cx="2559" cy="2023"/>
            </a:xfrm>
            <a:prstGeom prst="line">
              <a:avLst/>
            </a:prstGeom>
            <a:noFill/>
            <a:ln w="508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3" name="Rectangle 14">
              <a:extLst>
                <a:ext uri="{FF2B5EF4-FFF2-40B4-BE49-F238E27FC236}">
                  <a16:creationId xmlns:a16="http://schemas.microsoft.com/office/drawing/2014/main" id="{1BA76C30-08DF-498D-BEE3-E18254A1F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1515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S</a:t>
              </a:r>
            </a:p>
          </p:txBody>
        </p:sp>
        <p:sp>
          <p:nvSpPr>
            <p:cNvPr id="89124" name="Line 15">
              <a:extLst>
                <a:ext uri="{FF2B5EF4-FFF2-40B4-BE49-F238E27FC236}">
                  <a16:creationId xmlns:a16="http://schemas.microsoft.com/office/drawing/2014/main" id="{2FC4D0DE-CD0D-410C-8E20-81BE34BD3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9" y="1169"/>
              <a:ext cx="2319" cy="2319"/>
            </a:xfrm>
            <a:prstGeom prst="line">
              <a:avLst/>
            </a:prstGeom>
            <a:noFill/>
            <a:ln w="508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5" name="Rectangle 16">
              <a:extLst>
                <a:ext uri="{FF2B5EF4-FFF2-40B4-BE49-F238E27FC236}">
                  <a16:creationId xmlns:a16="http://schemas.microsoft.com/office/drawing/2014/main" id="{FA126BA7-155A-4899-8168-027ACF417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336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D</a:t>
              </a:r>
            </a:p>
          </p:txBody>
        </p:sp>
      </p:grpSp>
      <p:grpSp>
        <p:nvGrpSpPr>
          <p:cNvPr id="100390" name="Group 38">
            <a:extLst>
              <a:ext uri="{FF2B5EF4-FFF2-40B4-BE49-F238E27FC236}">
                <a16:creationId xmlns:a16="http://schemas.microsoft.com/office/drawing/2014/main" id="{E7B72602-F85E-429D-8055-9118BD592DEC}"/>
              </a:ext>
            </a:extLst>
          </p:cNvPr>
          <p:cNvGrpSpPr>
            <a:grpSpLocks/>
          </p:cNvGrpSpPr>
          <p:nvPr/>
        </p:nvGrpSpPr>
        <p:grpSpPr bwMode="auto">
          <a:xfrm>
            <a:off x="3278188" y="3963988"/>
            <a:ext cx="2962274" cy="2336800"/>
            <a:chOff x="1105" y="2497"/>
            <a:chExt cx="1866" cy="1472"/>
          </a:xfrm>
        </p:grpSpPr>
        <p:sp>
          <p:nvSpPr>
            <p:cNvPr id="89117" name="Rectangle 20">
              <a:extLst>
                <a:ext uri="{FF2B5EF4-FFF2-40B4-BE49-F238E27FC236}">
                  <a16:creationId xmlns:a16="http://schemas.microsoft.com/office/drawing/2014/main" id="{64D8BC38-7058-4BFF-8549-D152E390A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" y="2497"/>
              <a:ext cx="2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P</a:t>
              </a:r>
              <a:r>
                <a:rPr lang="en-US" altLang="en-US" sz="1800" i="1" baseline="-25000"/>
                <a:t>0</a:t>
              </a:r>
            </a:p>
          </p:txBody>
        </p:sp>
        <p:sp>
          <p:nvSpPr>
            <p:cNvPr id="89118" name="Line 21">
              <a:extLst>
                <a:ext uri="{FF2B5EF4-FFF2-40B4-BE49-F238E27FC236}">
                  <a16:creationId xmlns:a16="http://schemas.microsoft.com/office/drawing/2014/main" id="{EF0312E5-500B-4156-8208-21C46601A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1" y="2592"/>
              <a:ext cx="1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19" name="Line 22">
              <a:extLst>
                <a:ext uri="{FF2B5EF4-FFF2-40B4-BE49-F238E27FC236}">
                  <a16:creationId xmlns:a16="http://schemas.microsoft.com/office/drawing/2014/main" id="{97BE5A7D-E1FE-45C7-AF4F-94DC1ACA7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601"/>
              <a:ext cx="0" cy="1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0" name="Oval 23">
              <a:extLst>
                <a:ext uri="{FF2B5EF4-FFF2-40B4-BE49-F238E27FC236}">
                  <a16:creationId xmlns:a16="http://schemas.microsoft.com/office/drawing/2014/main" id="{5148156B-A345-4F94-97C2-FC69C203F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544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89121" name="Rectangle 24">
              <a:extLst>
                <a:ext uri="{FF2B5EF4-FFF2-40B4-BE49-F238E27FC236}">
                  <a16:creationId xmlns:a16="http://schemas.microsoft.com/office/drawing/2014/main" id="{D1CAB712-0174-4760-A614-26B54080A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9" y="3738"/>
              <a:ext cx="2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Q</a:t>
              </a:r>
              <a:r>
                <a:rPr lang="en-US" altLang="en-US" sz="1800" i="1" baseline="-25000"/>
                <a:t>0</a:t>
              </a:r>
            </a:p>
          </p:txBody>
        </p:sp>
      </p:grpSp>
      <p:grpSp>
        <p:nvGrpSpPr>
          <p:cNvPr id="100415" name="Group 63">
            <a:extLst>
              <a:ext uri="{FF2B5EF4-FFF2-40B4-BE49-F238E27FC236}">
                <a16:creationId xmlns:a16="http://schemas.microsoft.com/office/drawing/2014/main" id="{3956D271-4CA2-4634-95B8-7DA0D0EEDCAF}"/>
              </a:ext>
            </a:extLst>
          </p:cNvPr>
          <p:cNvGrpSpPr>
            <a:grpSpLocks/>
          </p:cNvGrpSpPr>
          <p:nvPr/>
        </p:nvGrpSpPr>
        <p:grpSpPr bwMode="auto">
          <a:xfrm>
            <a:off x="3025775" y="4725988"/>
            <a:ext cx="4129088" cy="1574800"/>
            <a:chOff x="946" y="2977"/>
            <a:chExt cx="2601" cy="992"/>
          </a:xfrm>
        </p:grpSpPr>
        <p:sp>
          <p:nvSpPr>
            <p:cNvPr id="89109" name="Line 18">
              <a:extLst>
                <a:ext uri="{FF2B5EF4-FFF2-40B4-BE49-F238E27FC236}">
                  <a16:creationId xmlns:a16="http://schemas.microsoft.com/office/drawing/2014/main" id="{975CDA58-9B60-4228-9964-E96D51D4C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1" y="3120"/>
              <a:ext cx="19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10" name="Rectangle 19">
              <a:extLst>
                <a:ext uri="{FF2B5EF4-FFF2-40B4-BE49-F238E27FC236}">
                  <a16:creationId xmlns:a16="http://schemas.microsoft.com/office/drawing/2014/main" id="{FE733D95-8295-4F85-AADF-6544E9D8B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2977"/>
              <a:ext cx="40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P</a:t>
              </a:r>
              <a:r>
                <a:rPr lang="en-US" altLang="en-US" sz="1800" i="1" baseline="-25000"/>
                <a:t>max</a:t>
              </a:r>
            </a:p>
          </p:txBody>
        </p:sp>
        <p:sp>
          <p:nvSpPr>
            <p:cNvPr id="89111" name="Oval 25">
              <a:extLst>
                <a:ext uri="{FF2B5EF4-FFF2-40B4-BE49-F238E27FC236}">
                  <a16:creationId xmlns:a16="http://schemas.microsoft.com/office/drawing/2014/main" id="{ED71F309-1CD5-43BD-91DE-F9D11BEEC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072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89112" name="Oval 26">
              <a:extLst>
                <a:ext uri="{FF2B5EF4-FFF2-40B4-BE49-F238E27FC236}">
                  <a16:creationId xmlns:a16="http://schemas.microsoft.com/office/drawing/2014/main" id="{22A50DDE-1A06-400D-8784-AB4DBB80B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72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89113" name="Rectangle 27">
              <a:extLst>
                <a:ext uri="{FF2B5EF4-FFF2-40B4-BE49-F238E27FC236}">
                  <a16:creationId xmlns:a16="http://schemas.microsoft.com/office/drawing/2014/main" id="{B1F6C0B8-59D5-4B09-AB20-C7512B246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3738"/>
              <a:ext cx="2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Q</a:t>
              </a:r>
              <a:r>
                <a:rPr lang="en-US" altLang="en-US" sz="1800" i="1" baseline="-25000"/>
                <a:t>1</a:t>
              </a:r>
            </a:p>
          </p:txBody>
        </p:sp>
        <p:sp>
          <p:nvSpPr>
            <p:cNvPr id="89114" name="Rectangle 28">
              <a:extLst>
                <a:ext uri="{FF2B5EF4-FFF2-40B4-BE49-F238E27FC236}">
                  <a16:creationId xmlns:a16="http://schemas.microsoft.com/office/drawing/2014/main" id="{B12C45AF-BBC4-490D-BED1-36FA0D7DF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" y="3738"/>
              <a:ext cx="2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Q</a:t>
              </a:r>
              <a:r>
                <a:rPr lang="en-US" altLang="en-US" sz="1800" i="1" baseline="-25000"/>
                <a:t>2</a:t>
              </a:r>
            </a:p>
          </p:txBody>
        </p:sp>
        <p:sp>
          <p:nvSpPr>
            <p:cNvPr id="89115" name="Line 29">
              <a:extLst>
                <a:ext uri="{FF2B5EF4-FFF2-40B4-BE49-F238E27FC236}">
                  <a16:creationId xmlns:a16="http://schemas.microsoft.com/office/drawing/2014/main" id="{6CDA6223-C99F-42C5-8D98-FE425C9D1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096"/>
              <a:ext cx="0" cy="6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16" name="Line 30">
              <a:extLst>
                <a:ext uri="{FF2B5EF4-FFF2-40B4-BE49-F238E27FC236}">
                  <a16:creationId xmlns:a16="http://schemas.microsoft.com/office/drawing/2014/main" id="{88EBC06F-9704-4AC6-A668-45BE50337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9"/>
              <a:ext cx="0" cy="6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0410" name="Rectangle 58">
            <a:extLst>
              <a:ext uri="{FF2B5EF4-FFF2-40B4-BE49-F238E27FC236}">
                <a16:creationId xmlns:a16="http://schemas.microsoft.com/office/drawing/2014/main" id="{D20C0519-F28A-4C37-82E6-BD7D0C1D3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7401" y="1919288"/>
            <a:ext cx="2055813" cy="527050"/>
          </a:xfrm>
          <a:prstGeom prst="rect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Consumers that cannot buy, lose B</a:t>
            </a:r>
          </a:p>
        </p:txBody>
      </p:sp>
      <p:sp>
        <p:nvSpPr>
          <p:cNvPr id="100414" name="Rectangle 62">
            <a:extLst>
              <a:ext uri="{FF2B5EF4-FFF2-40B4-BE49-F238E27FC236}">
                <a16:creationId xmlns:a16="http://schemas.microsoft.com/office/drawing/2014/main" id="{F376F440-F275-4070-8053-BCBDE15E9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2925" y="4349751"/>
            <a:ext cx="2076450" cy="739775"/>
          </a:xfrm>
          <a:prstGeom prst="rect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Triangles B and C are losses to society – dead weight loss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0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0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0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00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10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10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9" grpId="0" animBg="1" autoUpdateAnimBg="0"/>
      <p:bldP spid="100387" grpId="0" animBg="1" autoUpdateAnimBg="0"/>
      <p:bldP spid="100410" grpId="0" animBg="1" autoUpdateAnimBg="0"/>
      <p:bldP spid="100414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18" name="Rectangle 10241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138" name="Rectangle 12">
            <a:extLst>
              <a:ext uri="{FF2B5EF4-FFF2-40B4-BE49-F238E27FC236}">
                <a16:creationId xmlns:a16="http://schemas.microsoft.com/office/drawing/2014/main" id="{9782EB66-DD37-487C-AD6D-6457AD776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Price controls and Welfare Effects</a:t>
            </a:r>
          </a:p>
        </p:txBody>
      </p:sp>
      <p:sp>
        <p:nvSpPr>
          <p:cNvPr id="10242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13" name="Rectangle 13">
            <a:extLst>
              <a:ext uri="{FF2B5EF4-FFF2-40B4-BE49-F238E27FC236}">
                <a16:creationId xmlns:a16="http://schemas.microsoft.com/office/drawing/2014/main" id="{CDF4EE38-1856-465A-95CC-DD59519786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algn="just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total loss is equal to area B + C.</a:t>
            </a:r>
          </a:p>
          <a:p>
            <a:pPr algn="just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deadweight loss is the inefficiency of the price controls – the total loss in surplus (consumer plus producer)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3" grpId="0" build="p" bldLvl="2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180" name="Rectangle 13517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234" name="Rectangle 6">
            <a:extLst>
              <a:ext uri="{FF2B5EF4-FFF2-40B4-BE49-F238E27FC236}">
                <a16:creationId xmlns:a16="http://schemas.microsoft.com/office/drawing/2014/main" id="{B9007F5C-95AC-4EC8-8BA0-80BFEA040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Efficiency of a Competitive Market</a:t>
            </a:r>
          </a:p>
        </p:txBody>
      </p:sp>
      <p:sp>
        <p:nvSpPr>
          <p:cNvPr id="13518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175" name="Rectangle 7">
            <a:extLst>
              <a:ext uri="{FF2B5EF4-FFF2-40B4-BE49-F238E27FC236}">
                <a16:creationId xmlns:a16="http://schemas.microsoft.com/office/drawing/2014/main" id="{C9BF4C14-D349-47A9-B28D-DED6567F83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evaluation of markets, we often talk about whether it reaches economic efficiency</a:t>
            </a:r>
          </a:p>
          <a:p>
            <a:pPr lvl="1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Maximization of aggregate consumer and producer surplus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such as price controls that cause dead weight losses in society are said to impose an efficiency cost on the economy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5" grpId="0" build="p" bldLvl="2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1720" name="Rectangle 37171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F70A0742-A713-46BA-BAD2-BADC67E5B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Efficiency of a Competitive Market</a:t>
            </a:r>
          </a:p>
        </p:txBody>
      </p:sp>
      <p:sp>
        <p:nvSpPr>
          <p:cNvPr id="37172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715" name="Rectangle 3">
            <a:extLst>
              <a:ext uri="{FF2B5EF4-FFF2-40B4-BE49-F238E27FC236}">
                <a16:creationId xmlns:a16="http://schemas.microsoft.com/office/drawing/2014/main" id="{1DEBBC11-83B3-419B-A740-5C2178F139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efficiency is the goal, then you can argue leaving markets alone is the answer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sometimes 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failures occur</a:t>
            </a:r>
          </a:p>
          <a:p>
            <a:pPr lvl="1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fail to provide proper signals to consumers and producers</a:t>
            </a:r>
          </a:p>
          <a:p>
            <a:pPr lvl="1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inefficient unregulated competitive market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5" grpId="0" build="p" bldLvl="2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1788" name="Rectangle 33178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306" name="Rectangle 1030">
            <a:extLst>
              <a:ext uri="{FF2B5EF4-FFF2-40B4-BE49-F238E27FC236}">
                <a16:creationId xmlns:a16="http://schemas.microsoft.com/office/drawing/2014/main" id="{4F134F7C-C2CA-4F1D-A35B-DE98C7F12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Market Failures</a:t>
            </a:r>
          </a:p>
        </p:txBody>
      </p:sp>
      <p:sp>
        <p:nvSpPr>
          <p:cNvPr id="33179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783" name="Rectangle 1031">
            <a:extLst>
              <a:ext uri="{FF2B5EF4-FFF2-40B4-BE49-F238E27FC236}">
                <a16:creationId xmlns:a16="http://schemas.microsoft.com/office/drawing/2014/main" id="{8A6B86E0-C136-444A-B928-C42AD48073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552450" indent="-552450">
              <a:buFont typeface="Wingdings" panose="05000000000000000000" pitchFamily="2" charset="2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Externalities</a:t>
            </a:r>
          </a:p>
          <a:p>
            <a:pPr marL="933450" lvl="1" indent="-476250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 or benefits that do not show up as part of the market price (e.g. pollution)</a:t>
            </a:r>
          </a:p>
          <a:p>
            <a:pPr marL="933450" lvl="1" indent="-476250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 or benefits are external to the market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Goods- National Defense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Monopolies</a:t>
            </a:r>
          </a:p>
          <a:p>
            <a:pPr marL="552450" indent="-552450">
              <a:buFont typeface="Wingdings" panose="05000000000000000000" pitchFamily="2" charset="2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Information</a:t>
            </a:r>
          </a:p>
          <a:p>
            <a:pPr marL="933450" lvl="1" indent="-476250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Imperfect information prevents consumers from making utility-maximizing decisions.</a:t>
            </a:r>
          </a:p>
          <a:p>
            <a:pPr marL="0" indent="0">
              <a:buNone/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intervention may be desirable in these cases</a:t>
            </a:r>
          </a:p>
          <a:p>
            <a:pPr marL="552450" indent="-552450"/>
            <a:endParaRPr lang="en-US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17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17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17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17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17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17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17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3" grpId="0" build="p" bldLvl="2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2744" name="Rectangle 37274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5E9B83EB-8674-47EA-B558-8FC7B9461D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Efficiency of a Competitive Market</a:t>
            </a:r>
          </a:p>
        </p:txBody>
      </p:sp>
      <p:sp>
        <p:nvSpPr>
          <p:cNvPr id="37274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739" name="Rectangle 3">
            <a:extLst>
              <a:ext uri="{FF2B5EF4-FFF2-40B4-BE49-F238E27FC236}">
                <a16:creationId xmlns:a16="http://schemas.microsoft.com/office/drawing/2014/main" id="{586DA6D0-FDB3-4C12-913D-CF2A37CDE8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than market failures, unregulated competitive markets lead to economic efficiency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the market is constrained to a price higher than the economically efficient equilibrium price?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763" name="Group 3">
            <a:extLst>
              <a:ext uri="{FF2B5EF4-FFF2-40B4-BE49-F238E27FC236}">
                <a16:creationId xmlns:a16="http://schemas.microsoft.com/office/drawing/2014/main" id="{6F0D8AFE-A939-4743-A77E-33770C7A940E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048000"/>
            <a:ext cx="1066800" cy="1066800"/>
            <a:chOff x="2160" y="1920"/>
            <a:chExt cx="672" cy="672"/>
          </a:xfrm>
        </p:grpSpPr>
        <p:sp>
          <p:nvSpPr>
            <p:cNvPr id="101414" name="AutoShape 4">
              <a:extLst>
                <a:ext uri="{FF2B5EF4-FFF2-40B4-BE49-F238E27FC236}">
                  <a16:creationId xmlns:a16="http://schemas.microsoft.com/office/drawing/2014/main" id="{7B12AB12-BB0C-4C23-A449-1B45B0203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20"/>
              <a:ext cx="672" cy="672"/>
            </a:xfrm>
            <a:prstGeom prst="rtTriangle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01415" name="Rectangle 5">
              <a:extLst>
                <a:ext uri="{FF2B5EF4-FFF2-40B4-BE49-F238E27FC236}">
                  <a16:creationId xmlns:a16="http://schemas.microsoft.com/office/drawing/2014/main" id="{51C3FDEE-B2F4-4FCF-9C97-EE41EBBF4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2209"/>
              <a:ext cx="21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B</a:t>
              </a:r>
            </a:p>
          </p:txBody>
        </p:sp>
      </p:grpSp>
      <p:grpSp>
        <p:nvGrpSpPr>
          <p:cNvPr id="373766" name="Group 6">
            <a:extLst>
              <a:ext uri="{FF2B5EF4-FFF2-40B4-BE49-F238E27FC236}">
                <a16:creationId xmlns:a16="http://schemas.microsoft.com/office/drawing/2014/main" id="{4BDC9E9B-AF83-4E09-B7AC-5DFAD98BBD0C}"/>
              </a:ext>
            </a:extLst>
          </p:cNvPr>
          <p:cNvGrpSpPr>
            <a:grpSpLocks/>
          </p:cNvGrpSpPr>
          <p:nvPr/>
        </p:nvGrpSpPr>
        <p:grpSpPr bwMode="auto">
          <a:xfrm>
            <a:off x="3719514" y="3071814"/>
            <a:ext cx="1247775" cy="1023937"/>
            <a:chOff x="1392" y="2592"/>
            <a:chExt cx="768" cy="528"/>
          </a:xfrm>
        </p:grpSpPr>
        <p:sp>
          <p:nvSpPr>
            <p:cNvPr id="101412" name="Rectangle 7">
              <a:extLst>
                <a:ext uri="{FF2B5EF4-FFF2-40B4-BE49-F238E27FC236}">
                  <a16:creationId xmlns:a16="http://schemas.microsoft.com/office/drawing/2014/main" id="{7EDA49E4-3C40-4F89-88F8-2E9DD9BD3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592"/>
              <a:ext cx="768" cy="528"/>
            </a:xfrm>
            <a:prstGeom prst="rect">
              <a:avLst/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01413" name="Rectangle 8">
              <a:extLst>
                <a:ext uri="{FF2B5EF4-FFF2-40B4-BE49-F238E27FC236}">
                  <a16:creationId xmlns:a16="http://schemas.microsoft.com/office/drawing/2014/main" id="{CF40AC2D-EC85-4398-AF3B-ADE7C8DE2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2619"/>
              <a:ext cx="21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i="1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A</a:t>
              </a:r>
            </a:p>
          </p:txBody>
        </p:sp>
      </p:grpSp>
      <p:grpSp>
        <p:nvGrpSpPr>
          <p:cNvPr id="373769" name="Group 9">
            <a:extLst>
              <a:ext uri="{FF2B5EF4-FFF2-40B4-BE49-F238E27FC236}">
                <a16:creationId xmlns:a16="http://schemas.microsoft.com/office/drawing/2014/main" id="{998DDAE8-DF56-4E5A-8979-9E7F66DADD9C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114800"/>
            <a:ext cx="1143000" cy="838200"/>
            <a:chOff x="2160" y="2592"/>
            <a:chExt cx="720" cy="528"/>
          </a:xfrm>
        </p:grpSpPr>
        <p:sp>
          <p:nvSpPr>
            <p:cNvPr id="101410" name="AutoShape 10">
              <a:extLst>
                <a:ext uri="{FF2B5EF4-FFF2-40B4-BE49-F238E27FC236}">
                  <a16:creationId xmlns:a16="http://schemas.microsoft.com/office/drawing/2014/main" id="{7A445CE2-F283-4D8D-A65A-0A74B59636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56" y="2496"/>
              <a:ext cx="528" cy="720"/>
            </a:xfrm>
            <a:prstGeom prst="rtTriangle">
              <a:avLst/>
            </a:prstGeom>
            <a:solidFill>
              <a:srgbClr val="8D7D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01411" name="Rectangle 11">
              <a:extLst>
                <a:ext uri="{FF2B5EF4-FFF2-40B4-BE49-F238E27FC236}">
                  <a16:creationId xmlns:a16="http://schemas.microsoft.com/office/drawing/2014/main" id="{B0CAB462-D4F5-4C6F-A210-D31E8ACEE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" y="2647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C</a:t>
              </a:r>
            </a:p>
          </p:txBody>
        </p:sp>
      </p:grpSp>
      <p:sp>
        <p:nvSpPr>
          <p:cNvPr id="101381" name="Rectangle 15">
            <a:extLst>
              <a:ext uri="{FF2B5EF4-FFF2-40B4-BE49-F238E27FC236}">
                <a16:creationId xmlns:a16="http://schemas.microsoft.com/office/drawing/2014/main" id="{A7DB6E65-6954-41CD-BFBC-376BCF857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1382" name="Rectangle 16">
            <a:extLst>
              <a:ext uri="{FF2B5EF4-FFF2-40B4-BE49-F238E27FC236}">
                <a16:creationId xmlns:a16="http://schemas.microsoft.com/office/drawing/2014/main" id="{73DEA5C5-C783-4E07-B95E-D8275FA71E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Control and Surplus Changes</a:t>
            </a:r>
          </a:p>
        </p:txBody>
      </p:sp>
      <p:sp>
        <p:nvSpPr>
          <p:cNvPr id="101383" name="Line 18">
            <a:extLst>
              <a:ext uri="{FF2B5EF4-FFF2-40B4-BE49-F238E27FC236}">
                <a16:creationId xmlns:a16="http://schemas.microsoft.com/office/drawing/2014/main" id="{FC324B28-DE9B-4C91-835C-3547046B5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716088"/>
            <a:ext cx="0" cy="42656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384" name="Line 19">
            <a:extLst>
              <a:ext uri="{FF2B5EF4-FFF2-40B4-BE49-F238E27FC236}">
                <a16:creationId xmlns:a16="http://schemas.microsoft.com/office/drawing/2014/main" id="{15F33611-5771-45B8-AA8F-1A3723141C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7451" y="5972175"/>
            <a:ext cx="4276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385" name="Rectangle 20">
            <a:extLst>
              <a:ext uri="{FF2B5EF4-FFF2-40B4-BE49-F238E27FC236}">
                <a16:creationId xmlns:a16="http://schemas.microsoft.com/office/drawing/2014/main" id="{BFE769CF-9B9D-44BF-B66F-60B542A6B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8150" y="5868989"/>
            <a:ext cx="947376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Quantity</a:t>
            </a:r>
          </a:p>
        </p:txBody>
      </p:sp>
      <p:sp>
        <p:nvSpPr>
          <p:cNvPr id="101386" name="Rectangle 21">
            <a:extLst>
              <a:ext uri="{FF2B5EF4-FFF2-40B4-BE49-F238E27FC236}">
                <a16:creationId xmlns:a16="http://schemas.microsoft.com/office/drawing/2014/main" id="{95700AAF-5603-49BC-9D54-737EEFFC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1743076"/>
            <a:ext cx="649218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Price</a:t>
            </a:r>
          </a:p>
        </p:txBody>
      </p:sp>
      <p:grpSp>
        <p:nvGrpSpPr>
          <p:cNvPr id="373782" name="Group 22">
            <a:extLst>
              <a:ext uri="{FF2B5EF4-FFF2-40B4-BE49-F238E27FC236}">
                <a16:creationId xmlns:a16="http://schemas.microsoft.com/office/drawing/2014/main" id="{83A98A27-7E97-41E8-B076-CE3980ADD5A0}"/>
              </a:ext>
            </a:extLst>
          </p:cNvPr>
          <p:cNvGrpSpPr>
            <a:grpSpLocks/>
          </p:cNvGrpSpPr>
          <p:nvPr/>
        </p:nvGrpSpPr>
        <p:grpSpPr bwMode="auto">
          <a:xfrm>
            <a:off x="3775075" y="1841501"/>
            <a:ext cx="4470400" cy="4075113"/>
            <a:chOff x="1409" y="1169"/>
            <a:chExt cx="2816" cy="2567"/>
          </a:xfrm>
        </p:grpSpPr>
        <p:sp>
          <p:nvSpPr>
            <p:cNvPr id="101406" name="Line 23">
              <a:extLst>
                <a:ext uri="{FF2B5EF4-FFF2-40B4-BE49-F238E27FC236}">
                  <a16:creationId xmlns:a16="http://schemas.microsoft.com/office/drawing/2014/main" id="{C5A8B2CC-B6BC-4396-937C-AD1E6F6A05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9" y="1713"/>
              <a:ext cx="2559" cy="2023"/>
            </a:xfrm>
            <a:prstGeom prst="line">
              <a:avLst/>
            </a:prstGeom>
            <a:noFill/>
            <a:ln w="508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407" name="Rectangle 24">
              <a:extLst>
                <a:ext uri="{FF2B5EF4-FFF2-40B4-BE49-F238E27FC236}">
                  <a16:creationId xmlns:a16="http://schemas.microsoft.com/office/drawing/2014/main" id="{E1487F16-2C37-4682-9F44-2D923F29A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1515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S</a:t>
              </a:r>
            </a:p>
          </p:txBody>
        </p:sp>
        <p:sp>
          <p:nvSpPr>
            <p:cNvPr id="101408" name="Line 25">
              <a:extLst>
                <a:ext uri="{FF2B5EF4-FFF2-40B4-BE49-F238E27FC236}">
                  <a16:creationId xmlns:a16="http://schemas.microsoft.com/office/drawing/2014/main" id="{21960340-E36F-42BB-8438-84ECCB5F8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9" y="1169"/>
              <a:ext cx="2319" cy="2319"/>
            </a:xfrm>
            <a:prstGeom prst="line">
              <a:avLst/>
            </a:prstGeom>
            <a:noFill/>
            <a:ln w="508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409" name="Rectangle 26">
              <a:extLst>
                <a:ext uri="{FF2B5EF4-FFF2-40B4-BE49-F238E27FC236}">
                  <a16:creationId xmlns:a16="http://schemas.microsoft.com/office/drawing/2014/main" id="{9187C35D-ACA8-42B4-87B2-BDE1B1283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336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D</a:t>
              </a:r>
            </a:p>
          </p:txBody>
        </p:sp>
      </p:grpSp>
      <p:grpSp>
        <p:nvGrpSpPr>
          <p:cNvPr id="373787" name="Group 27">
            <a:extLst>
              <a:ext uri="{FF2B5EF4-FFF2-40B4-BE49-F238E27FC236}">
                <a16:creationId xmlns:a16="http://schemas.microsoft.com/office/drawing/2014/main" id="{0ACC9ED6-2667-47E5-B6E1-B5D16D8918B4}"/>
              </a:ext>
            </a:extLst>
          </p:cNvPr>
          <p:cNvGrpSpPr>
            <a:grpSpLocks/>
          </p:cNvGrpSpPr>
          <p:nvPr/>
        </p:nvGrpSpPr>
        <p:grpSpPr bwMode="auto">
          <a:xfrm>
            <a:off x="3278188" y="3963988"/>
            <a:ext cx="2962274" cy="2336800"/>
            <a:chOff x="1105" y="2497"/>
            <a:chExt cx="1866" cy="1472"/>
          </a:xfrm>
        </p:grpSpPr>
        <p:sp>
          <p:nvSpPr>
            <p:cNvPr id="101401" name="Rectangle 28">
              <a:extLst>
                <a:ext uri="{FF2B5EF4-FFF2-40B4-BE49-F238E27FC236}">
                  <a16:creationId xmlns:a16="http://schemas.microsoft.com/office/drawing/2014/main" id="{F41DDFAF-8AED-4FB1-AC9D-1E7ED3C5B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" y="2497"/>
              <a:ext cx="2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P</a:t>
              </a:r>
              <a:r>
                <a:rPr lang="en-US" altLang="en-US" sz="1800" i="1" baseline="-25000"/>
                <a:t>0</a:t>
              </a:r>
            </a:p>
          </p:txBody>
        </p:sp>
        <p:sp>
          <p:nvSpPr>
            <p:cNvPr id="101402" name="Line 29">
              <a:extLst>
                <a:ext uri="{FF2B5EF4-FFF2-40B4-BE49-F238E27FC236}">
                  <a16:creationId xmlns:a16="http://schemas.microsoft.com/office/drawing/2014/main" id="{17D85B71-3EF9-4605-B8D1-06581A477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1" y="2592"/>
              <a:ext cx="1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403" name="Line 30">
              <a:extLst>
                <a:ext uri="{FF2B5EF4-FFF2-40B4-BE49-F238E27FC236}">
                  <a16:creationId xmlns:a16="http://schemas.microsoft.com/office/drawing/2014/main" id="{9EDD40C6-55A1-453C-BC1F-00EC89ACB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601"/>
              <a:ext cx="0" cy="1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404" name="Oval 31">
              <a:extLst>
                <a:ext uri="{FF2B5EF4-FFF2-40B4-BE49-F238E27FC236}">
                  <a16:creationId xmlns:a16="http://schemas.microsoft.com/office/drawing/2014/main" id="{F4490051-6074-4E7E-94CD-F5C5E6C83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544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01405" name="Rectangle 32">
              <a:extLst>
                <a:ext uri="{FF2B5EF4-FFF2-40B4-BE49-F238E27FC236}">
                  <a16:creationId xmlns:a16="http://schemas.microsoft.com/office/drawing/2014/main" id="{CB086571-08EB-4980-8811-08CC030CF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9" y="3738"/>
              <a:ext cx="2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Q</a:t>
              </a:r>
              <a:r>
                <a:rPr lang="en-US" altLang="en-US" sz="1800" i="1" baseline="-25000"/>
                <a:t>0</a:t>
              </a:r>
            </a:p>
          </p:txBody>
        </p:sp>
      </p:grpSp>
      <p:grpSp>
        <p:nvGrpSpPr>
          <p:cNvPr id="373806" name="Group 46">
            <a:extLst>
              <a:ext uri="{FF2B5EF4-FFF2-40B4-BE49-F238E27FC236}">
                <a16:creationId xmlns:a16="http://schemas.microsoft.com/office/drawing/2014/main" id="{4DA0C632-1CD5-4550-9265-68B690F95168}"/>
              </a:ext>
            </a:extLst>
          </p:cNvPr>
          <p:cNvGrpSpPr>
            <a:grpSpLocks/>
          </p:cNvGrpSpPr>
          <p:nvPr/>
        </p:nvGrpSpPr>
        <p:grpSpPr bwMode="auto">
          <a:xfrm>
            <a:off x="3040063" y="2854325"/>
            <a:ext cx="4379912" cy="363538"/>
            <a:chOff x="955" y="1798"/>
            <a:chExt cx="2759" cy="229"/>
          </a:xfrm>
        </p:grpSpPr>
        <p:sp>
          <p:nvSpPr>
            <p:cNvPr id="101397" name="Line 34">
              <a:extLst>
                <a:ext uri="{FF2B5EF4-FFF2-40B4-BE49-F238E27FC236}">
                  <a16:creationId xmlns:a16="http://schemas.microsoft.com/office/drawing/2014/main" id="{22C578B3-29D8-4A2A-BC02-777CBB92E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" y="1941"/>
              <a:ext cx="2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398" name="Rectangle 35">
              <a:extLst>
                <a:ext uri="{FF2B5EF4-FFF2-40B4-BE49-F238E27FC236}">
                  <a16:creationId xmlns:a16="http://schemas.microsoft.com/office/drawing/2014/main" id="{60DF9643-BC7C-4DA0-B0E8-C249D4FFF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" y="1798"/>
              <a:ext cx="38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P</a:t>
              </a:r>
              <a:r>
                <a:rPr lang="en-US" altLang="en-US" sz="1800" i="1" baseline="-25000"/>
                <a:t>min</a:t>
              </a:r>
            </a:p>
          </p:txBody>
        </p:sp>
        <p:sp>
          <p:nvSpPr>
            <p:cNvPr id="101399" name="Oval 36">
              <a:extLst>
                <a:ext uri="{FF2B5EF4-FFF2-40B4-BE49-F238E27FC236}">
                  <a16:creationId xmlns:a16="http://schemas.microsoft.com/office/drawing/2014/main" id="{09A9408A-2FAA-4545-A883-769355A76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1" y="1893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01400" name="Oval 37">
              <a:extLst>
                <a:ext uri="{FF2B5EF4-FFF2-40B4-BE49-F238E27FC236}">
                  <a16:creationId xmlns:a16="http://schemas.microsoft.com/office/drawing/2014/main" id="{1429F7B7-E66C-4B82-A746-F24B33CF8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8" y="1893"/>
              <a:ext cx="96" cy="9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73807" name="Group 47">
            <a:extLst>
              <a:ext uri="{FF2B5EF4-FFF2-40B4-BE49-F238E27FC236}">
                <a16:creationId xmlns:a16="http://schemas.microsoft.com/office/drawing/2014/main" id="{75DBDEBC-BC51-4AF2-B691-1EA87D03D339}"/>
              </a:ext>
            </a:extLst>
          </p:cNvPr>
          <p:cNvGrpSpPr>
            <a:grpSpLocks/>
          </p:cNvGrpSpPr>
          <p:nvPr/>
        </p:nvGrpSpPr>
        <p:grpSpPr bwMode="auto">
          <a:xfrm>
            <a:off x="4725984" y="3009901"/>
            <a:ext cx="447674" cy="3305175"/>
            <a:chOff x="2017" y="1896"/>
            <a:chExt cx="282" cy="2082"/>
          </a:xfrm>
        </p:grpSpPr>
        <p:sp>
          <p:nvSpPr>
            <p:cNvPr id="101395" name="Line 13">
              <a:extLst>
                <a:ext uri="{FF2B5EF4-FFF2-40B4-BE49-F238E27FC236}">
                  <a16:creationId xmlns:a16="http://schemas.microsoft.com/office/drawing/2014/main" id="{3A99A665-1380-4234-AC78-D725C594F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896"/>
              <a:ext cx="0" cy="18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396" name="Rectangle 38">
              <a:extLst>
                <a:ext uri="{FF2B5EF4-FFF2-40B4-BE49-F238E27FC236}">
                  <a16:creationId xmlns:a16="http://schemas.microsoft.com/office/drawing/2014/main" id="{4C94E625-07F0-44F4-8034-786FAD167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3747"/>
              <a:ext cx="2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Q</a:t>
              </a:r>
              <a:r>
                <a:rPr lang="en-US" altLang="en-US" sz="1800" i="1" baseline="-25000"/>
                <a:t>1</a:t>
              </a:r>
            </a:p>
          </p:txBody>
        </p:sp>
      </p:grpSp>
      <p:grpSp>
        <p:nvGrpSpPr>
          <p:cNvPr id="373808" name="Group 48">
            <a:extLst>
              <a:ext uri="{FF2B5EF4-FFF2-40B4-BE49-F238E27FC236}">
                <a16:creationId xmlns:a16="http://schemas.microsoft.com/office/drawing/2014/main" id="{03EBF935-6500-469E-BAB5-797898D2A72B}"/>
              </a:ext>
            </a:extLst>
          </p:cNvPr>
          <p:cNvGrpSpPr>
            <a:grpSpLocks/>
          </p:cNvGrpSpPr>
          <p:nvPr/>
        </p:nvGrpSpPr>
        <p:grpSpPr bwMode="auto">
          <a:xfrm>
            <a:off x="7121531" y="3081339"/>
            <a:ext cx="447676" cy="3233737"/>
            <a:chOff x="3526" y="1941"/>
            <a:chExt cx="282" cy="2037"/>
          </a:xfrm>
        </p:grpSpPr>
        <p:sp>
          <p:nvSpPr>
            <p:cNvPr id="101393" name="Rectangle 39">
              <a:extLst>
                <a:ext uri="{FF2B5EF4-FFF2-40B4-BE49-F238E27FC236}">
                  <a16:creationId xmlns:a16="http://schemas.microsoft.com/office/drawing/2014/main" id="{107EDF2D-5C89-46AF-BFE2-240CF5752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" y="3747"/>
              <a:ext cx="2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Q</a:t>
              </a:r>
              <a:r>
                <a:rPr lang="en-US" altLang="en-US" sz="1800" i="1" baseline="-25000"/>
                <a:t>2</a:t>
              </a:r>
            </a:p>
          </p:txBody>
        </p:sp>
        <p:sp>
          <p:nvSpPr>
            <p:cNvPr id="101394" name="Line 41">
              <a:extLst>
                <a:ext uri="{FF2B5EF4-FFF2-40B4-BE49-F238E27FC236}">
                  <a16:creationId xmlns:a16="http://schemas.microsoft.com/office/drawing/2014/main" id="{67D98CCD-9A53-4153-ACC1-187F0C1AE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941"/>
              <a:ext cx="27" cy="18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3804" name="Rectangle 44">
            <a:extLst>
              <a:ext uri="{FF2B5EF4-FFF2-40B4-BE49-F238E27FC236}">
                <a16:creationId xmlns:a16="http://schemas.microsoft.com/office/drawing/2014/main" id="{0EEC0C26-B5FE-4908-9B3D-07D03DF54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3051" y="3278188"/>
            <a:ext cx="2392363" cy="1320874"/>
          </a:xfrm>
          <a:prstGeom prst="rect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When price is  regulated to be no  lower than </a:t>
            </a:r>
            <a:r>
              <a:rPr lang="en-US" altLang="en-US" sz="1600" i="1"/>
              <a:t>P</a:t>
            </a:r>
            <a:r>
              <a:rPr lang="en-US" altLang="en-US" sz="1600" i="1" baseline="-25000"/>
              <a:t>min</a:t>
            </a:r>
            <a:r>
              <a:rPr lang="en-US" altLang="en-US" sz="1600"/>
              <a:t>, the deadweight loss given by triangles </a:t>
            </a:r>
            <a:r>
              <a:rPr lang="en-US" altLang="en-US" sz="1600" i="1"/>
              <a:t>B </a:t>
            </a:r>
            <a:r>
              <a:rPr lang="en-US" altLang="en-US" sz="1600"/>
              <a:t>and </a:t>
            </a:r>
            <a:r>
              <a:rPr lang="en-US" altLang="en-US" sz="1600" i="1"/>
              <a:t>C  </a:t>
            </a:r>
            <a:r>
              <a:rPr lang="en-US" altLang="en-US" sz="1600"/>
              <a:t>results.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7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7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7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37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373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804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5816" name="Rectangle 37581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2FF000F7-EA4C-41F0-931E-485703DF4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Efficiency of a Competitive Market</a:t>
            </a:r>
          </a:p>
        </p:txBody>
      </p:sp>
      <p:sp>
        <p:nvSpPr>
          <p:cNvPr id="3758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53DD552D-C28B-451F-A916-09E7CC80DF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Deadweight loss triangles, B and C, give a good estimate of the efficiency cost of policies that force price above or below the market clearing price.</a:t>
            </a:r>
          </a:p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effects of government price controls on the economy can be estimated by measuring these two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1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 fontScale="90000"/>
          </a:bodyPr>
          <a:lstStyle/>
          <a:p>
            <a:r>
              <a:rPr lang="en-GB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Government Intervention</a:t>
            </a:r>
          </a:p>
        </p:txBody>
      </p:sp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EA0A2D9F-EB77-7C20-7C15-1BDF077D7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8" r="46050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fontScale="92500"/>
          </a:bodyPr>
          <a:lstStyle/>
          <a:p>
            <a:pPr marL="61913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intervention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subsidies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42913" indent="-38100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government uses taxes and subsidies as financial tools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goods or services in an economy.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2913" indent="-381000"/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charges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imposed by the government on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incomes, profits,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some types of consumer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goods and services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expenditure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48653" lvl="1" indent="-3810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stamp duty, income tax, GST, service tax, etc.</a:t>
            </a:r>
          </a:p>
          <a:p>
            <a:pPr marL="442913" indent="-38100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3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8162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DFFB3-25DC-7C8E-2E99-4DED77C5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6" y="640823"/>
            <a:ext cx="4118018" cy="5583148"/>
          </a:xfrm>
        </p:spPr>
        <p:txBody>
          <a:bodyPr anchor="ctr">
            <a:normAutofit/>
          </a:bodyPr>
          <a:lstStyle/>
          <a:p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04. Taxations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78622C-FA47-726F-0F80-106E967D4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964569"/>
              </p:ext>
            </p:extLst>
          </p:nvPr>
        </p:nvGraphicFramePr>
        <p:xfrm>
          <a:off x="5416114" y="928468"/>
          <a:ext cx="6132416" cy="5248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65017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reeform 2">
            <a:extLst>
              <a:ext uri="{FF2B5EF4-FFF2-40B4-BE49-F238E27FC236}">
                <a16:creationId xmlns:a16="http://schemas.microsoft.com/office/drawing/2014/main" id="{236D4716-DE06-4E15-AB7A-D0453C8C741E}"/>
              </a:ext>
            </a:extLst>
          </p:cNvPr>
          <p:cNvSpPr>
            <a:spLocks/>
          </p:cNvSpPr>
          <p:nvPr/>
        </p:nvSpPr>
        <p:spPr bwMode="auto">
          <a:xfrm>
            <a:off x="3886200" y="4267200"/>
            <a:ext cx="2133600" cy="1066800"/>
          </a:xfrm>
          <a:custGeom>
            <a:avLst/>
            <a:gdLst>
              <a:gd name="T0" fmla="*/ 0 w 1344"/>
              <a:gd name="T1" fmla="*/ 2147483646 h 672"/>
              <a:gd name="T2" fmla="*/ 0 w 1344"/>
              <a:gd name="T3" fmla="*/ 0 h 672"/>
              <a:gd name="T4" fmla="*/ 2147483646 w 1344"/>
              <a:gd name="T5" fmla="*/ 0 h 672"/>
              <a:gd name="T6" fmla="*/ 0 w 1344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44" h="672">
                <a:moveTo>
                  <a:pt x="0" y="672"/>
                </a:moveTo>
                <a:lnTo>
                  <a:pt x="0" y="0"/>
                </a:lnTo>
                <a:lnTo>
                  <a:pt x="1344" y="0"/>
                </a:lnTo>
                <a:lnTo>
                  <a:pt x="0" y="67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11D3BCCF-51DF-49B6-A1C7-EB11B23BA6AA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724400"/>
            <a:ext cx="2743200" cy="609600"/>
            <a:chOff x="480" y="2976"/>
            <a:chExt cx="1728" cy="384"/>
          </a:xfrm>
        </p:grpSpPr>
        <p:sp>
          <p:nvSpPr>
            <p:cNvPr id="104497" name="Freeform 4">
              <a:extLst>
                <a:ext uri="{FF2B5EF4-FFF2-40B4-BE49-F238E27FC236}">
                  <a16:creationId xmlns:a16="http://schemas.microsoft.com/office/drawing/2014/main" id="{A7F8D504-517A-4483-8A0E-8F74462B0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2976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0 w 720"/>
                <a:gd name="T3" fmla="*/ 384 h 384"/>
                <a:gd name="T4" fmla="*/ 720 w 720"/>
                <a:gd name="T5" fmla="*/ 0 h 384"/>
                <a:gd name="T6" fmla="*/ 0 w 72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384">
                  <a:moveTo>
                    <a:pt x="0" y="0"/>
                  </a:moveTo>
                  <a:lnTo>
                    <a:pt x="0" y="384"/>
                  </a:lnTo>
                  <a:lnTo>
                    <a:pt x="7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98" name="Text Box 5">
              <a:extLst>
                <a:ext uri="{FF2B5EF4-FFF2-40B4-BE49-F238E27FC236}">
                  <a16:creationId xmlns:a16="http://schemas.microsoft.com/office/drawing/2014/main" id="{1F09E970-F0C1-46A5-A9C4-A4B505FB6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072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New Producer Surplus</a:t>
              </a:r>
            </a:p>
          </p:txBody>
        </p:sp>
        <p:sp>
          <p:nvSpPr>
            <p:cNvPr id="104499" name="Line 6">
              <a:extLst>
                <a:ext uri="{FF2B5EF4-FFF2-40B4-BE49-F238E27FC236}">
                  <a16:creationId xmlns:a16="http://schemas.microsoft.com/office/drawing/2014/main" id="{A32AED77-381E-437E-A4CD-17E68BF7A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072"/>
              <a:ext cx="67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452" name="Freeform 7">
            <a:extLst>
              <a:ext uri="{FF2B5EF4-FFF2-40B4-BE49-F238E27FC236}">
                <a16:creationId xmlns:a16="http://schemas.microsoft.com/office/drawing/2014/main" id="{BEA67D0D-B1E6-40F5-912B-75499CB8DE3F}"/>
              </a:ext>
            </a:extLst>
          </p:cNvPr>
          <p:cNvSpPr>
            <a:spLocks/>
          </p:cNvSpPr>
          <p:nvPr/>
        </p:nvSpPr>
        <p:spPr bwMode="auto">
          <a:xfrm>
            <a:off x="3886200" y="3124200"/>
            <a:ext cx="2133600" cy="1143000"/>
          </a:xfrm>
          <a:custGeom>
            <a:avLst/>
            <a:gdLst>
              <a:gd name="T0" fmla="*/ 0 w 1344"/>
              <a:gd name="T1" fmla="*/ 0 h 720"/>
              <a:gd name="T2" fmla="*/ 0 w 1344"/>
              <a:gd name="T3" fmla="*/ 2147483646 h 720"/>
              <a:gd name="T4" fmla="*/ 2147483646 w 1344"/>
              <a:gd name="T5" fmla="*/ 2147483646 h 720"/>
              <a:gd name="T6" fmla="*/ 0 w 1344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44" h="720">
                <a:moveTo>
                  <a:pt x="0" y="0"/>
                </a:moveTo>
                <a:lnTo>
                  <a:pt x="0" y="720"/>
                </a:lnTo>
                <a:lnTo>
                  <a:pt x="1344" y="720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52">
            <a:extLst>
              <a:ext uri="{FF2B5EF4-FFF2-40B4-BE49-F238E27FC236}">
                <a16:creationId xmlns:a16="http://schemas.microsoft.com/office/drawing/2014/main" id="{FD3EEE4C-3D98-4290-9260-489A7F255B34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733800"/>
            <a:ext cx="2819400" cy="990600"/>
            <a:chOff x="432" y="2352"/>
            <a:chExt cx="1776" cy="624"/>
          </a:xfrm>
        </p:grpSpPr>
        <p:sp>
          <p:nvSpPr>
            <p:cNvPr id="104494" name="Rectangle 49">
              <a:extLst>
                <a:ext uri="{FF2B5EF4-FFF2-40B4-BE49-F238E27FC236}">
                  <a16:creationId xmlns:a16="http://schemas.microsoft.com/office/drawing/2014/main" id="{58B60E84-C007-45B4-8F97-E904F5C08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720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04495" name="Text Box 50">
              <a:extLst>
                <a:ext uri="{FF2B5EF4-FFF2-40B4-BE49-F238E27FC236}">
                  <a16:creationId xmlns:a16="http://schemas.microsoft.com/office/drawing/2014/main" id="{BEC9DC37-E978-4C82-96CA-77401F4B9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544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Tax Revenues</a:t>
              </a:r>
            </a:p>
          </p:txBody>
        </p:sp>
        <p:sp>
          <p:nvSpPr>
            <p:cNvPr id="104496" name="Line 51">
              <a:extLst>
                <a:ext uri="{FF2B5EF4-FFF2-40B4-BE49-F238E27FC236}">
                  <a16:creationId xmlns:a16="http://schemas.microsoft.com/office/drawing/2014/main" id="{5ADA6A90-0589-4CA2-BD04-4606E325E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688"/>
              <a:ext cx="91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48">
            <a:extLst>
              <a:ext uri="{FF2B5EF4-FFF2-40B4-BE49-F238E27FC236}">
                <a16:creationId xmlns:a16="http://schemas.microsoft.com/office/drawing/2014/main" id="{CB7DD3C2-0329-4193-B5C6-C7E1CCB6DC3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124200"/>
            <a:ext cx="2895600" cy="609600"/>
            <a:chOff x="384" y="1968"/>
            <a:chExt cx="1824" cy="384"/>
          </a:xfrm>
        </p:grpSpPr>
        <p:sp>
          <p:nvSpPr>
            <p:cNvPr id="104491" name="Freeform 45">
              <a:extLst>
                <a:ext uri="{FF2B5EF4-FFF2-40B4-BE49-F238E27FC236}">
                  <a16:creationId xmlns:a16="http://schemas.microsoft.com/office/drawing/2014/main" id="{30FC39B8-A55A-4BBC-840A-62CD5947A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968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0 w 720"/>
                <a:gd name="T3" fmla="*/ 384 h 384"/>
                <a:gd name="T4" fmla="*/ 720 w 720"/>
                <a:gd name="T5" fmla="*/ 384 h 384"/>
                <a:gd name="T6" fmla="*/ 0 w 72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384">
                  <a:moveTo>
                    <a:pt x="0" y="0"/>
                  </a:moveTo>
                  <a:lnTo>
                    <a:pt x="0" y="384"/>
                  </a:lnTo>
                  <a:lnTo>
                    <a:pt x="720" y="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92" name="Text Box 46">
              <a:extLst>
                <a:ext uri="{FF2B5EF4-FFF2-40B4-BE49-F238E27FC236}">
                  <a16:creationId xmlns:a16="http://schemas.microsoft.com/office/drawing/2014/main" id="{375557D6-56FA-44B5-A7F2-30FC0FF83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968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New Consumer Surplus</a:t>
              </a:r>
            </a:p>
          </p:txBody>
        </p:sp>
        <p:sp>
          <p:nvSpPr>
            <p:cNvPr id="104493" name="Line 47">
              <a:extLst>
                <a:ext uri="{FF2B5EF4-FFF2-40B4-BE49-F238E27FC236}">
                  <a16:creationId xmlns:a16="http://schemas.microsoft.com/office/drawing/2014/main" id="{C02B5E90-218B-40E2-B265-E58F7348B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6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5ABFCB04-602B-4FD8-8B71-7240DFC55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in Efficiency 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Taxation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4456" name="Group 13">
            <a:extLst>
              <a:ext uri="{FF2B5EF4-FFF2-40B4-BE49-F238E27FC236}">
                <a16:creationId xmlns:a16="http://schemas.microsoft.com/office/drawing/2014/main" id="{F04B7A15-5274-4390-AB5E-F06F0BD0096C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286000"/>
            <a:ext cx="6705600" cy="3994150"/>
            <a:chOff x="864" y="1440"/>
            <a:chExt cx="4224" cy="2516"/>
          </a:xfrm>
        </p:grpSpPr>
        <p:sp>
          <p:nvSpPr>
            <p:cNvPr id="104487" name="Line 14">
              <a:extLst>
                <a:ext uri="{FF2B5EF4-FFF2-40B4-BE49-F238E27FC236}">
                  <a16:creationId xmlns:a16="http://schemas.microsoft.com/office/drawing/2014/main" id="{476A23E9-A943-4250-85A9-D07E12412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536"/>
              <a:ext cx="0" cy="2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88" name="Line 15">
              <a:extLst>
                <a:ext uri="{FF2B5EF4-FFF2-40B4-BE49-F238E27FC236}">
                  <a16:creationId xmlns:a16="http://schemas.microsoft.com/office/drawing/2014/main" id="{21471D23-1B4F-4821-873E-2187897DC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648"/>
              <a:ext cx="28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89" name="Text Box 16">
              <a:extLst>
                <a:ext uri="{FF2B5EF4-FFF2-40B4-BE49-F238E27FC236}">
                  <a16:creationId xmlns:a16="http://schemas.microsoft.com/office/drawing/2014/main" id="{2192D0C6-FA04-44EB-B7C9-20F6ACB06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440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/>
                <a:t>Price</a:t>
              </a:r>
            </a:p>
          </p:txBody>
        </p:sp>
        <p:sp>
          <p:nvSpPr>
            <p:cNvPr id="104490" name="Text Box 17">
              <a:extLst>
                <a:ext uri="{FF2B5EF4-FFF2-40B4-BE49-F238E27FC236}">
                  <a16:creationId xmlns:a16="http://schemas.microsoft.com/office/drawing/2014/main" id="{DAD622E2-652D-4361-B4AB-0F2AA6302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744"/>
              <a:ext cx="10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/>
                <a:t>Quantity</a:t>
              </a:r>
            </a:p>
          </p:txBody>
        </p:sp>
      </p:grpSp>
      <p:sp>
        <p:nvSpPr>
          <p:cNvPr id="104457" name="Line 18">
            <a:extLst>
              <a:ext uri="{FF2B5EF4-FFF2-40B4-BE49-F238E27FC236}">
                <a16:creationId xmlns:a16="http://schemas.microsoft.com/office/drawing/2014/main" id="{2333B907-0D7B-4808-AABA-DF3551554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267200"/>
            <a:ext cx="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8" name="Text Box 19">
            <a:extLst>
              <a:ext uri="{FF2B5EF4-FFF2-40B4-BE49-F238E27FC236}">
                <a16:creationId xmlns:a16="http://schemas.microsoft.com/office/drawing/2014/main" id="{EB4C5895-9399-40B2-AABC-57AE02B85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114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P</a:t>
            </a:r>
            <a:r>
              <a:rPr lang="en-US" altLang="en-US" sz="1400" baseline="-25000"/>
              <a:t>o</a:t>
            </a:r>
            <a:endParaRPr lang="en-US" altLang="en-US" sz="1400"/>
          </a:p>
        </p:txBody>
      </p:sp>
      <p:sp>
        <p:nvSpPr>
          <p:cNvPr id="104459" name="Text Box 20">
            <a:extLst>
              <a:ext uri="{FF2B5EF4-FFF2-40B4-BE49-F238E27FC236}">
                <a16:creationId xmlns:a16="http://schemas.microsoft.com/office/drawing/2014/main" id="{0CD7F1EA-C466-4929-9AEE-4269C4B04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867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Q</a:t>
            </a:r>
            <a:r>
              <a:rPr lang="en-US" altLang="en-US" sz="1400" baseline="-25000"/>
              <a:t>o</a:t>
            </a:r>
            <a:endParaRPr lang="en-US" altLang="en-US" sz="1400"/>
          </a:p>
        </p:txBody>
      </p:sp>
      <p:sp>
        <p:nvSpPr>
          <p:cNvPr id="104460" name="Text Box 21">
            <a:extLst>
              <a:ext uri="{FF2B5EF4-FFF2-40B4-BE49-F238E27FC236}">
                <a16:creationId xmlns:a16="http://schemas.microsoft.com/office/drawing/2014/main" id="{799A1C18-B1CA-4CE3-8977-7ABFC539B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27432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S</a:t>
            </a:r>
          </a:p>
        </p:txBody>
      </p:sp>
      <p:sp>
        <p:nvSpPr>
          <p:cNvPr id="104461" name="Text Box 22">
            <a:extLst>
              <a:ext uri="{FF2B5EF4-FFF2-40B4-BE49-F238E27FC236}">
                <a16:creationId xmlns:a16="http://schemas.microsoft.com/office/drawing/2014/main" id="{AC86015C-4F2F-41EB-B55B-107DEFC31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2578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/>
              <a:t>D</a:t>
            </a:r>
          </a:p>
        </p:txBody>
      </p:sp>
      <p:sp>
        <p:nvSpPr>
          <p:cNvPr id="25623" name="Line 23">
            <a:extLst>
              <a:ext uri="{FF2B5EF4-FFF2-40B4-BE49-F238E27FC236}">
                <a16:creationId xmlns:a16="http://schemas.microsoft.com/office/drawing/2014/main" id="{790EAB46-B468-4924-8BD5-2C1DBCF8B5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475615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4" name="Text Box 24">
            <a:extLst>
              <a:ext uri="{FF2B5EF4-FFF2-40B4-BE49-F238E27FC236}">
                <a16:creationId xmlns:a16="http://schemas.microsoft.com/office/drawing/2014/main" id="{49EC8BCF-AD70-4E12-B54E-A651F5563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867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Q</a:t>
            </a:r>
            <a:r>
              <a:rPr lang="en-US" altLang="en-US" sz="1400" baseline="-25000"/>
              <a:t>L</a:t>
            </a:r>
            <a:endParaRPr lang="en-US" altLang="en-US" sz="1400"/>
          </a:p>
        </p:txBody>
      </p:sp>
      <p:sp>
        <p:nvSpPr>
          <p:cNvPr id="25625" name="Text Box 25">
            <a:extLst>
              <a:ext uri="{FF2B5EF4-FFF2-40B4-BE49-F238E27FC236}">
                <a16:creationId xmlns:a16="http://schemas.microsoft.com/office/drawing/2014/main" id="{FA08294F-34BA-4A23-85C7-6A8C2B911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572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P</a:t>
            </a:r>
            <a:r>
              <a:rPr lang="en-US" altLang="en-US" sz="1400" baseline="-25000"/>
              <a:t>S</a:t>
            </a:r>
            <a:endParaRPr lang="en-US" altLang="en-US" sz="1400"/>
          </a:p>
        </p:txBody>
      </p:sp>
      <p:grpSp>
        <p:nvGrpSpPr>
          <p:cNvPr id="6" name="Group 29">
            <a:extLst>
              <a:ext uri="{FF2B5EF4-FFF2-40B4-BE49-F238E27FC236}">
                <a16:creationId xmlns:a16="http://schemas.microsoft.com/office/drawing/2014/main" id="{0051A781-C60A-41BD-9113-6A8AC62FA7F8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191000"/>
            <a:ext cx="4114800" cy="274638"/>
            <a:chOff x="2448" y="2640"/>
            <a:chExt cx="2592" cy="173"/>
          </a:xfrm>
        </p:grpSpPr>
        <p:sp>
          <p:nvSpPr>
            <p:cNvPr id="104485" name="Text Box 30">
              <a:extLst>
                <a:ext uri="{FF2B5EF4-FFF2-40B4-BE49-F238E27FC236}">
                  <a16:creationId xmlns:a16="http://schemas.microsoft.com/office/drawing/2014/main" id="{150A2AFE-9143-4419-AC46-00C1FA115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640"/>
              <a:ext cx="12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Lost Producer Surplus</a:t>
              </a:r>
            </a:p>
          </p:txBody>
        </p:sp>
        <p:sp>
          <p:nvSpPr>
            <p:cNvPr id="104486" name="Line 31">
              <a:extLst>
                <a:ext uri="{FF2B5EF4-FFF2-40B4-BE49-F238E27FC236}">
                  <a16:creationId xmlns:a16="http://schemas.microsoft.com/office/drawing/2014/main" id="{BA839F35-D650-47FF-B711-8BB108F8E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278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466" name="Line 32">
            <a:extLst>
              <a:ext uri="{FF2B5EF4-FFF2-40B4-BE49-F238E27FC236}">
                <a16:creationId xmlns:a16="http://schemas.microsoft.com/office/drawing/2014/main" id="{4FC1C82C-46C0-4898-8A92-B82D629B4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267200"/>
            <a:ext cx="2133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3" name="Line 33">
            <a:extLst>
              <a:ext uri="{FF2B5EF4-FFF2-40B4-BE49-F238E27FC236}">
                <a16:creationId xmlns:a16="http://schemas.microsoft.com/office/drawing/2014/main" id="{6AAE21C3-D399-4069-91AE-3EC178D14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733800"/>
            <a:ext cx="0" cy="2057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68" name="Line 38">
            <a:extLst>
              <a:ext uri="{FF2B5EF4-FFF2-40B4-BE49-F238E27FC236}">
                <a16:creationId xmlns:a16="http://schemas.microsoft.com/office/drawing/2014/main" id="{8DDCC985-EAF0-4B09-8F02-C70D2A8176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3048000"/>
            <a:ext cx="4419600" cy="2286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69" name="Line 39">
            <a:extLst>
              <a:ext uri="{FF2B5EF4-FFF2-40B4-BE49-F238E27FC236}">
                <a16:creationId xmlns:a16="http://schemas.microsoft.com/office/drawing/2014/main" id="{AC746536-9452-466F-B495-34E171FD96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124200"/>
            <a:ext cx="4267200" cy="2286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40" name="Text Box 40">
            <a:extLst>
              <a:ext uri="{FF2B5EF4-FFF2-40B4-BE49-F238E27FC236}">
                <a16:creationId xmlns:a16="http://schemas.microsoft.com/office/drawing/2014/main" id="{84BB2DF1-FF17-4927-8200-41133C4F0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P</a:t>
            </a:r>
            <a:r>
              <a:rPr lang="en-US" altLang="en-US" sz="1400" baseline="-25000"/>
              <a:t>D</a:t>
            </a:r>
            <a:endParaRPr lang="en-US" altLang="en-US" sz="1400"/>
          </a:p>
        </p:txBody>
      </p:sp>
      <p:sp>
        <p:nvSpPr>
          <p:cNvPr id="25641" name="Line 41">
            <a:extLst>
              <a:ext uri="{FF2B5EF4-FFF2-40B4-BE49-F238E27FC236}">
                <a16:creationId xmlns:a16="http://schemas.microsoft.com/office/drawing/2014/main" id="{11B29361-D6D6-49C9-B090-F7016B2754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7338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44">
            <a:extLst>
              <a:ext uri="{FF2B5EF4-FFF2-40B4-BE49-F238E27FC236}">
                <a16:creationId xmlns:a16="http://schemas.microsoft.com/office/drawing/2014/main" id="{265A87F3-020E-4FA6-80FE-901F1E6FC6CC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752600"/>
            <a:ext cx="5257800" cy="2514600"/>
            <a:chOff x="1536" y="1104"/>
            <a:chExt cx="3312" cy="1584"/>
          </a:xfrm>
        </p:grpSpPr>
        <p:sp>
          <p:nvSpPr>
            <p:cNvPr id="104483" name="Line 42">
              <a:extLst>
                <a:ext uri="{FF2B5EF4-FFF2-40B4-BE49-F238E27FC236}">
                  <a16:creationId xmlns:a16="http://schemas.microsoft.com/office/drawing/2014/main" id="{C1E09D41-271D-4AA2-B84F-CF1C82492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1248"/>
              <a:ext cx="2784" cy="14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84" name="Text Box 43">
              <a:extLst>
                <a:ext uri="{FF2B5EF4-FFF2-40B4-BE49-F238E27FC236}">
                  <a16:creationId xmlns:a16="http://schemas.microsoft.com/office/drawing/2014/main" id="{B52C695B-8832-4E28-8E24-E579B101D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104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/>
                <a:t>S</a:t>
              </a:r>
              <a:r>
                <a:rPr lang="en-US" altLang="en-US" sz="1600" baseline="-25000"/>
                <a:t>Tax</a:t>
              </a:r>
              <a:endParaRPr lang="en-US" altLang="en-US" sz="1600"/>
            </a:p>
          </p:txBody>
        </p:sp>
      </p:grpSp>
      <p:grpSp>
        <p:nvGrpSpPr>
          <p:cNvPr id="8" name="Group 59">
            <a:extLst>
              <a:ext uri="{FF2B5EF4-FFF2-40B4-BE49-F238E27FC236}">
                <a16:creationId xmlns:a16="http://schemas.microsoft.com/office/drawing/2014/main" id="{FDE913F3-D83B-40D9-9065-5784A2DE9D39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3276600"/>
            <a:ext cx="2667000" cy="838200"/>
            <a:chOff x="2448" y="2064"/>
            <a:chExt cx="1680" cy="528"/>
          </a:xfrm>
        </p:grpSpPr>
        <p:sp>
          <p:nvSpPr>
            <p:cNvPr id="104481" name="Text Box 53">
              <a:extLst>
                <a:ext uri="{FF2B5EF4-FFF2-40B4-BE49-F238E27FC236}">
                  <a16:creationId xmlns:a16="http://schemas.microsoft.com/office/drawing/2014/main" id="{E002C59F-F1BD-4B0B-897F-59333CBD7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064"/>
              <a:ext cx="1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Lost Consumer Surplus</a:t>
              </a:r>
            </a:p>
          </p:txBody>
        </p:sp>
        <p:sp>
          <p:nvSpPr>
            <p:cNvPr id="104482" name="Line 54">
              <a:extLst>
                <a:ext uri="{FF2B5EF4-FFF2-40B4-BE49-F238E27FC236}">
                  <a16:creationId xmlns:a16="http://schemas.microsoft.com/office/drawing/2014/main" id="{68C21C3B-61B5-4961-8212-A2A28EE5A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2256"/>
              <a:ext cx="6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58">
            <a:extLst>
              <a:ext uri="{FF2B5EF4-FFF2-40B4-BE49-F238E27FC236}">
                <a16:creationId xmlns:a16="http://schemas.microsoft.com/office/drawing/2014/main" id="{B87E58DA-0BDB-418F-910F-854E9AF28272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3429000"/>
            <a:ext cx="3505200" cy="838200"/>
            <a:chOff x="3552" y="2160"/>
            <a:chExt cx="2208" cy="528"/>
          </a:xfrm>
        </p:grpSpPr>
        <p:sp>
          <p:nvSpPr>
            <p:cNvPr id="104478" name="Text Box 55">
              <a:extLst>
                <a:ext uri="{FF2B5EF4-FFF2-40B4-BE49-F238E27FC236}">
                  <a16:creationId xmlns:a16="http://schemas.microsoft.com/office/drawing/2014/main" id="{5246D620-571B-43D6-B0DE-A6CFA29B5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160"/>
              <a:ext cx="11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Deadweight Loss</a:t>
              </a:r>
            </a:p>
          </p:txBody>
        </p:sp>
        <p:sp>
          <p:nvSpPr>
            <p:cNvPr id="104479" name="Line 56">
              <a:extLst>
                <a:ext uri="{FF2B5EF4-FFF2-40B4-BE49-F238E27FC236}">
                  <a16:creationId xmlns:a16="http://schemas.microsoft.com/office/drawing/2014/main" id="{03C5578E-FBC8-4BCF-A27D-63E0991B70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25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80" name="Line 57">
              <a:extLst>
                <a:ext uri="{FF2B5EF4-FFF2-40B4-BE49-F238E27FC236}">
                  <a16:creationId xmlns:a16="http://schemas.microsoft.com/office/drawing/2014/main" id="{4CE27AD6-4346-4B1C-93CA-92747B0748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235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62">
            <a:extLst>
              <a:ext uri="{FF2B5EF4-FFF2-40B4-BE49-F238E27FC236}">
                <a16:creationId xmlns:a16="http://schemas.microsoft.com/office/drawing/2014/main" id="{9FE29C26-06C8-4F29-8E89-EFA05F7591F4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2362200"/>
            <a:ext cx="685800" cy="1066800"/>
            <a:chOff x="3840" y="1488"/>
            <a:chExt cx="432" cy="672"/>
          </a:xfrm>
        </p:grpSpPr>
        <p:sp>
          <p:nvSpPr>
            <p:cNvPr id="104476" name="Text Box 60">
              <a:extLst>
                <a:ext uri="{FF2B5EF4-FFF2-40B4-BE49-F238E27FC236}">
                  <a16:creationId xmlns:a16="http://schemas.microsoft.com/office/drawing/2014/main" id="{EA96951A-971B-4438-9891-532BA0C54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80"/>
              <a:ext cx="4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Tax</a:t>
              </a:r>
            </a:p>
          </p:txBody>
        </p:sp>
        <p:sp>
          <p:nvSpPr>
            <p:cNvPr id="104477" name="Line 61">
              <a:extLst>
                <a:ext uri="{FF2B5EF4-FFF2-40B4-BE49-F238E27FC236}">
                  <a16:creationId xmlns:a16="http://schemas.microsoft.com/office/drawing/2014/main" id="{81C2C917-C22D-4A6A-BE54-01984ECE3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4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" dur="10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3" dur="10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" dur="10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2" grpId="0"/>
      <p:bldP spid="25624" grpId="0"/>
      <p:bldP spid="25625" grpId="0"/>
      <p:bldP spid="2564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ECE9-72E8-C943-E6AA-22FCF658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B03ED-634E-3B70-D43F-6DED1A3C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 = 200 - 10P</a:t>
            </a:r>
          </a:p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 = -100 + 20P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</a:t>
            </a:r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Rs. 3</a:t>
            </a:r>
          </a:p>
        </p:txBody>
      </p:sp>
    </p:spTree>
    <p:extLst>
      <p:ext uri="{BB962C8B-B14F-4D97-AF65-F5344CB8AC3E}">
        <p14:creationId xmlns:p14="http://schemas.microsoft.com/office/powerpoint/2010/main" val="14108179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BB93C13-EE6D-F8C1-31E5-0332F3C8D226}"/>
              </a:ext>
            </a:extLst>
          </p:cNvPr>
          <p:cNvCxnSpPr/>
          <p:nvPr/>
        </p:nvCxnSpPr>
        <p:spPr>
          <a:xfrm flipV="1">
            <a:off x="2650603" y="613458"/>
            <a:ext cx="0" cy="43868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3D20EDC-33F9-F49F-BF66-F8CA100AE07B}"/>
              </a:ext>
            </a:extLst>
          </p:cNvPr>
          <p:cNvCxnSpPr/>
          <p:nvPr/>
        </p:nvCxnSpPr>
        <p:spPr>
          <a:xfrm>
            <a:off x="219919" y="4745620"/>
            <a:ext cx="103477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E72EFCA-3106-B92C-E6F8-1E90C5C2C96D}"/>
              </a:ext>
            </a:extLst>
          </p:cNvPr>
          <p:cNvSpPr txBox="1"/>
          <p:nvPr/>
        </p:nvSpPr>
        <p:spPr>
          <a:xfrm>
            <a:off x="2291788" y="42826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D9D6-8817-7E4B-BC26-CEA0455A0F1A}"/>
              </a:ext>
            </a:extLst>
          </p:cNvPr>
          <p:cNvSpPr txBox="1"/>
          <p:nvPr/>
        </p:nvSpPr>
        <p:spPr>
          <a:xfrm>
            <a:off x="10477025" y="47707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899238-FA78-3FBA-1C1A-C3DCE44F64D5}"/>
              </a:ext>
            </a:extLst>
          </p:cNvPr>
          <p:cNvCxnSpPr/>
          <p:nvPr/>
        </p:nvCxnSpPr>
        <p:spPr>
          <a:xfrm>
            <a:off x="2650603" y="983848"/>
            <a:ext cx="6308202" cy="376177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924B58-8430-2134-2E8C-37B5F700425A}"/>
              </a:ext>
            </a:extLst>
          </p:cNvPr>
          <p:cNvCxnSpPr>
            <a:cxnSpLocks/>
          </p:cNvCxnSpPr>
          <p:nvPr/>
        </p:nvCxnSpPr>
        <p:spPr>
          <a:xfrm flipV="1">
            <a:off x="891251" y="1197889"/>
            <a:ext cx="7904737" cy="35477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427C74-67DD-E905-D367-3E101CE7D761}"/>
              </a:ext>
            </a:extLst>
          </p:cNvPr>
          <p:cNvSpPr txBox="1"/>
          <p:nvPr/>
        </p:nvSpPr>
        <p:spPr>
          <a:xfrm>
            <a:off x="2257068" y="833377"/>
            <a:ext cx="59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A6687-B4A6-970C-E505-52FF63480A42}"/>
              </a:ext>
            </a:extLst>
          </p:cNvPr>
          <p:cNvSpPr txBox="1"/>
          <p:nvPr/>
        </p:nvSpPr>
        <p:spPr>
          <a:xfrm>
            <a:off x="8659800" y="4712824"/>
            <a:ext cx="59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B7902-C15C-868B-98D9-14EA5D745E31}"/>
              </a:ext>
            </a:extLst>
          </p:cNvPr>
          <p:cNvSpPr txBox="1"/>
          <p:nvPr/>
        </p:nvSpPr>
        <p:spPr>
          <a:xfrm>
            <a:off x="638540" y="4724402"/>
            <a:ext cx="79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2B08D-84DF-EB67-9792-5997BFA14DB8}"/>
              </a:ext>
            </a:extLst>
          </p:cNvPr>
          <p:cNvSpPr txBox="1"/>
          <p:nvPr/>
        </p:nvSpPr>
        <p:spPr>
          <a:xfrm>
            <a:off x="2419111" y="3727045"/>
            <a:ext cx="59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C730D4-883F-E281-5872-F9D6B3CCFDD2}"/>
              </a:ext>
            </a:extLst>
          </p:cNvPr>
          <p:cNvCxnSpPr/>
          <p:nvPr/>
        </p:nvCxnSpPr>
        <p:spPr>
          <a:xfrm flipH="1">
            <a:off x="2650603" y="2696901"/>
            <a:ext cx="2870521" cy="0"/>
          </a:xfrm>
          <a:prstGeom prst="line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BDF062-512D-8FEB-4F20-0B7B9BF81D33}"/>
              </a:ext>
            </a:extLst>
          </p:cNvPr>
          <p:cNvCxnSpPr/>
          <p:nvPr/>
        </p:nvCxnSpPr>
        <p:spPr>
          <a:xfrm>
            <a:off x="5528603" y="2743200"/>
            <a:ext cx="0" cy="1969624"/>
          </a:xfrm>
          <a:prstGeom prst="line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14EF12B-45B6-B371-1BE8-EAEC6FE272C0}"/>
              </a:ext>
            </a:extLst>
          </p:cNvPr>
          <p:cNvSpPr txBox="1"/>
          <p:nvPr/>
        </p:nvSpPr>
        <p:spPr>
          <a:xfrm>
            <a:off x="2278969" y="2475912"/>
            <a:ext cx="47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325611-4D10-AF0A-7BFF-04620A5A2475}"/>
              </a:ext>
            </a:extLst>
          </p:cNvPr>
          <p:cNvSpPr txBox="1"/>
          <p:nvPr/>
        </p:nvSpPr>
        <p:spPr>
          <a:xfrm>
            <a:off x="5172934" y="4696266"/>
            <a:ext cx="59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13024B-31E0-550F-F58F-6782FECFFF10}"/>
              </a:ext>
            </a:extLst>
          </p:cNvPr>
          <p:cNvSpPr txBox="1"/>
          <p:nvPr/>
        </p:nvSpPr>
        <p:spPr>
          <a:xfrm>
            <a:off x="8832194" y="1197889"/>
            <a:ext cx="64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A60BDC-A247-D385-96E5-9836CFF6DE4E}"/>
              </a:ext>
            </a:extLst>
          </p:cNvPr>
          <p:cNvSpPr txBox="1"/>
          <p:nvPr/>
        </p:nvSpPr>
        <p:spPr>
          <a:xfrm>
            <a:off x="8900185" y="4290438"/>
            <a:ext cx="64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747BE4-3F49-0AAA-AE50-3D1DD6F3DCB9}"/>
              </a:ext>
            </a:extLst>
          </p:cNvPr>
          <p:cNvCxnSpPr>
            <a:cxnSpLocks/>
          </p:cNvCxnSpPr>
          <p:nvPr/>
        </p:nvCxnSpPr>
        <p:spPr>
          <a:xfrm flipV="1">
            <a:off x="298093" y="768025"/>
            <a:ext cx="8079274" cy="376177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196F48-E97B-B293-E57C-E43D19461AFB}"/>
              </a:ext>
            </a:extLst>
          </p:cNvPr>
          <p:cNvCxnSpPr/>
          <p:nvPr/>
        </p:nvCxnSpPr>
        <p:spPr>
          <a:xfrm flipH="1" flipV="1">
            <a:off x="7498080" y="1366705"/>
            <a:ext cx="145816" cy="2708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26F8D91-49FF-7C9D-E9FC-A44E7FF7662D}"/>
              </a:ext>
            </a:extLst>
          </p:cNvPr>
          <p:cNvSpPr txBox="1"/>
          <p:nvPr/>
        </p:nvSpPr>
        <p:spPr>
          <a:xfrm>
            <a:off x="8565087" y="613458"/>
            <a:ext cx="986876" cy="37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A5B594-D801-087E-DA8A-1480BBA297E5}"/>
              </a:ext>
            </a:extLst>
          </p:cNvPr>
          <p:cNvSpPr txBox="1"/>
          <p:nvPr/>
        </p:nvSpPr>
        <p:spPr>
          <a:xfrm>
            <a:off x="2419646" y="323205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D4245FF-3BB3-2324-4196-83EBB15F380F}"/>
              </a:ext>
            </a:extLst>
          </p:cNvPr>
          <p:cNvCxnSpPr>
            <a:cxnSpLocks/>
          </p:cNvCxnSpPr>
          <p:nvPr/>
        </p:nvCxnSpPr>
        <p:spPr>
          <a:xfrm flipH="1">
            <a:off x="2617518" y="2321169"/>
            <a:ext cx="230617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3BC9C5A-B246-2E38-7F3C-D2203F802ED2}"/>
              </a:ext>
            </a:extLst>
          </p:cNvPr>
          <p:cNvCxnSpPr/>
          <p:nvPr/>
        </p:nvCxnSpPr>
        <p:spPr>
          <a:xfrm>
            <a:off x="4937760" y="2335237"/>
            <a:ext cx="0" cy="241038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B24A521-3BD8-72C0-5619-5684136A7210}"/>
              </a:ext>
            </a:extLst>
          </p:cNvPr>
          <p:cNvSpPr txBox="1"/>
          <p:nvPr/>
        </p:nvSpPr>
        <p:spPr>
          <a:xfrm>
            <a:off x="2293038" y="212422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DEF2E9-6AE8-2B56-7562-6C9D7A931594}"/>
              </a:ext>
            </a:extLst>
          </p:cNvPr>
          <p:cNvSpPr txBox="1"/>
          <p:nvPr/>
        </p:nvSpPr>
        <p:spPr>
          <a:xfrm>
            <a:off x="4739709" y="4742564"/>
            <a:ext cx="591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39F6BEF-0EAB-B531-9A6C-53A976B8F19D}"/>
              </a:ext>
            </a:extLst>
          </p:cNvPr>
          <p:cNvCxnSpPr/>
          <p:nvPr/>
        </p:nvCxnSpPr>
        <p:spPr>
          <a:xfrm flipH="1">
            <a:off x="4994032" y="4290438"/>
            <a:ext cx="39389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CBEC5A7-B485-C487-B93B-156B83913A8E}"/>
              </a:ext>
            </a:extLst>
          </p:cNvPr>
          <p:cNvCxnSpPr>
            <a:cxnSpLocks/>
          </p:cNvCxnSpPr>
          <p:nvPr/>
        </p:nvCxnSpPr>
        <p:spPr>
          <a:xfrm flipH="1">
            <a:off x="2650603" y="2954215"/>
            <a:ext cx="2287157" cy="112542"/>
          </a:xfrm>
          <a:prstGeom prst="line">
            <a:avLst/>
          </a:prstGeom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D09A7EC-AA69-8D17-3345-160E80E46289}"/>
              </a:ext>
            </a:extLst>
          </p:cNvPr>
          <p:cNvSpPr txBox="1"/>
          <p:nvPr/>
        </p:nvSpPr>
        <p:spPr>
          <a:xfrm>
            <a:off x="2405580" y="288387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5" name="Right Triangle 54">
            <a:extLst>
              <a:ext uri="{FF2B5EF4-FFF2-40B4-BE49-F238E27FC236}">
                <a16:creationId xmlns:a16="http://schemas.microsoft.com/office/drawing/2014/main" id="{DC2934CC-4B7A-4E8D-7EE9-4B570C52F183}"/>
              </a:ext>
            </a:extLst>
          </p:cNvPr>
          <p:cNvSpPr/>
          <p:nvPr/>
        </p:nvSpPr>
        <p:spPr>
          <a:xfrm>
            <a:off x="2682888" y="983848"/>
            <a:ext cx="2240804" cy="1337321"/>
          </a:xfrm>
          <a:prstGeom prst="rtTriangl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6AF8E-CAFB-8038-CF9A-0AF1D047CF16}"/>
              </a:ext>
            </a:extLst>
          </p:cNvPr>
          <p:cNvSpPr txBox="1"/>
          <p:nvPr/>
        </p:nvSpPr>
        <p:spPr>
          <a:xfrm>
            <a:off x="3882683" y="983848"/>
            <a:ext cx="1638441" cy="382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C/S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7C71954-CCDC-48BA-5E40-3278CF65EAB0}"/>
              </a:ext>
            </a:extLst>
          </p:cNvPr>
          <p:cNvCxnSpPr/>
          <p:nvPr/>
        </p:nvCxnSpPr>
        <p:spPr>
          <a:xfrm flipV="1">
            <a:off x="3442172" y="1254704"/>
            <a:ext cx="423776" cy="11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Right Triangle 58">
            <a:extLst>
              <a:ext uri="{FF2B5EF4-FFF2-40B4-BE49-F238E27FC236}">
                <a16:creationId xmlns:a16="http://schemas.microsoft.com/office/drawing/2014/main" id="{177185BF-15B8-A81F-3B8B-FFA9943792A0}"/>
              </a:ext>
            </a:extLst>
          </p:cNvPr>
          <p:cNvSpPr/>
          <p:nvPr/>
        </p:nvSpPr>
        <p:spPr>
          <a:xfrm rot="10619570" flipH="1">
            <a:off x="2655771" y="3030650"/>
            <a:ext cx="2278782" cy="822570"/>
          </a:xfrm>
          <a:prstGeom prst="rt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45549C4-114E-A1F2-4F4A-3BD5E6FB9EAD}"/>
              </a:ext>
            </a:extLst>
          </p:cNvPr>
          <p:cNvCxnSpPr/>
          <p:nvPr/>
        </p:nvCxnSpPr>
        <p:spPr>
          <a:xfrm flipH="1">
            <a:off x="1125415" y="3232050"/>
            <a:ext cx="163132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0F5F2B1-8973-13F9-CFCC-F4ACF936A2D2}"/>
              </a:ext>
            </a:extLst>
          </p:cNvPr>
          <p:cNvSpPr txBox="1"/>
          <p:nvPr/>
        </p:nvSpPr>
        <p:spPr>
          <a:xfrm>
            <a:off x="599748" y="3028124"/>
            <a:ext cx="90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P/S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BE6AFB-1F9C-C04D-3F8D-3790F776C4E2}"/>
              </a:ext>
            </a:extLst>
          </p:cNvPr>
          <p:cNvSpPr/>
          <p:nvPr/>
        </p:nvSpPr>
        <p:spPr>
          <a:xfrm>
            <a:off x="2650603" y="2335237"/>
            <a:ext cx="2273089" cy="6928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E922A69-301C-1058-883D-A6A245EB3FF7}"/>
              </a:ext>
            </a:extLst>
          </p:cNvPr>
          <p:cNvCxnSpPr/>
          <p:nvPr/>
        </p:nvCxnSpPr>
        <p:spPr>
          <a:xfrm flipV="1">
            <a:off x="4628271" y="1637561"/>
            <a:ext cx="703384" cy="825213"/>
          </a:xfrm>
          <a:prstGeom prst="straightConnector1">
            <a:avLst/>
          </a:prstGeom>
          <a:ln w="222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F7223E3-A79A-A90E-1A07-889FBF324DDA}"/>
              </a:ext>
            </a:extLst>
          </p:cNvPr>
          <p:cNvSpPr txBox="1"/>
          <p:nvPr/>
        </p:nvSpPr>
        <p:spPr>
          <a:xfrm>
            <a:off x="5345723" y="1156228"/>
            <a:ext cx="1139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Gov. Tax Revenue</a:t>
            </a:r>
          </a:p>
        </p:txBody>
      </p:sp>
      <p:sp>
        <p:nvSpPr>
          <p:cNvPr id="67" name="Triangle 66">
            <a:extLst>
              <a:ext uri="{FF2B5EF4-FFF2-40B4-BE49-F238E27FC236}">
                <a16:creationId xmlns:a16="http://schemas.microsoft.com/office/drawing/2014/main" id="{92BFA8CF-47F6-994C-B669-614B7C832272}"/>
              </a:ext>
            </a:extLst>
          </p:cNvPr>
          <p:cNvSpPr/>
          <p:nvPr/>
        </p:nvSpPr>
        <p:spPr>
          <a:xfrm rot="5400000">
            <a:off x="4916657" y="2398544"/>
            <a:ext cx="594136" cy="517210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C3DD91-E806-4A65-5223-F44F90DA3448}"/>
              </a:ext>
            </a:extLst>
          </p:cNvPr>
          <p:cNvCxnSpPr/>
          <p:nvPr/>
        </p:nvCxnSpPr>
        <p:spPr>
          <a:xfrm>
            <a:off x="5331655" y="2696901"/>
            <a:ext cx="2053883" cy="25731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1FA4823-F9F8-A2BE-D89C-235D2215AA6B}"/>
              </a:ext>
            </a:extLst>
          </p:cNvPr>
          <p:cNvSpPr txBox="1"/>
          <p:nvPr/>
        </p:nvSpPr>
        <p:spPr>
          <a:xfrm>
            <a:off x="7498080" y="2696901"/>
            <a:ext cx="146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D/W/L</a:t>
            </a:r>
          </a:p>
        </p:txBody>
      </p:sp>
    </p:spTree>
    <p:extLst>
      <p:ext uri="{BB962C8B-B14F-4D97-AF65-F5344CB8AC3E}">
        <p14:creationId xmlns:p14="http://schemas.microsoft.com/office/powerpoint/2010/main" val="272226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  <p:bldP spid="14" grpId="0"/>
      <p:bldP spid="15" grpId="0"/>
      <p:bldP spid="20" grpId="0"/>
      <p:bldP spid="21" grpId="0"/>
      <p:bldP spid="22" grpId="0"/>
      <p:bldP spid="25" grpId="0"/>
      <p:bldP spid="30" grpId="0"/>
      <p:bldP spid="33" grpId="0"/>
      <p:bldP spid="41" grpId="0"/>
      <p:bldP spid="42" grpId="0"/>
      <p:bldP spid="54" grpId="0"/>
      <p:bldP spid="55" grpId="0" animBg="1"/>
      <p:bldP spid="56" grpId="0"/>
      <p:bldP spid="59" grpId="0" animBg="1"/>
      <p:bldP spid="62" grpId="0"/>
      <p:bldP spid="63" grpId="0" animBg="1"/>
      <p:bldP spid="66" grpId="0"/>
      <p:bldP spid="67" grpId="0" animBg="1"/>
      <p:bldP spid="7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8DBB-5AE5-ED6A-8DEF-A4529CA9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B1ED6-74B4-30BC-BF22-452AF7029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 = 150 – 10P</a:t>
            </a:r>
          </a:p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 = -90 + 10P</a:t>
            </a:r>
          </a:p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= Rs. 2</a:t>
            </a:r>
          </a:p>
        </p:txBody>
      </p:sp>
    </p:spTree>
    <p:extLst>
      <p:ext uri="{BB962C8B-B14F-4D97-AF65-F5344CB8AC3E}">
        <p14:creationId xmlns:p14="http://schemas.microsoft.com/office/powerpoint/2010/main" val="27427821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CDA0-F7DE-3C52-5F67-6174FF5B2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D7AA59-B633-C8BA-EDDC-DE1472C2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 fontScale="90000"/>
          </a:bodyPr>
          <a:lstStyle/>
          <a:p>
            <a:r>
              <a:rPr lang="en-GB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Government Intervention</a:t>
            </a:r>
          </a:p>
        </p:txBody>
      </p:sp>
      <p:pic>
        <p:nvPicPr>
          <p:cNvPr id="5" name="Picture 4" descr="Vegetables in a tote bag">
            <a:extLst>
              <a:ext uri="{FF2B5EF4-FFF2-40B4-BE49-F238E27FC236}">
                <a16:creationId xmlns:a16="http://schemas.microsoft.com/office/drawing/2014/main" id="{A44572FC-6E9B-E771-AD4D-06A6C169B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71" r="45197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7401E2-1874-DD12-FD64-4FCD9ECF9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fontScale="92500"/>
          </a:bodyPr>
          <a:lstStyle/>
          <a:p>
            <a:pPr marL="61913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intervention: use of taxes and subsidies.</a:t>
            </a:r>
          </a:p>
          <a:p>
            <a:pPr marL="442913" indent="-381000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Subsidies: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direct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or grants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government to producers, making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paid by consumers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it should be.</a:t>
            </a:r>
          </a:p>
          <a:p>
            <a:pPr marL="648653" lvl="1" indent="-3810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Subsidies goods and services that benefit the community and might not be provided under the free market.</a:t>
            </a:r>
          </a:p>
          <a:p>
            <a:pPr marL="648653" lvl="1" indent="-3810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certain food, public transport, free school meals for kids from low-income families.</a:t>
            </a:r>
          </a:p>
          <a:p>
            <a:pPr marL="442913" indent="-38100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3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4288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DFFB3-25DC-7C8E-2E99-4DED77C5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6" y="640823"/>
            <a:ext cx="4118018" cy="5583148"/>
          </a:xfrm>
        </p:spPr>
        <p:txBody>
          <a:bodyPr anchor="ctr">
            <a:normAutofit/>
          </a:bodyPr>
          <a:lstStyle/>
          <a:p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05. Subsidies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78622C-FA47-726F-0F80-106E967D4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042655"/>
              </p:ext>
            </p:extLst>
          </p:nvPr>
        </p:nvGraphicFramePr>
        <p:xfrm>
          <a:off x="5416114" y="928468"/>
          <a:ext cx="6132416" cy="5248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18258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reeform 2">
            <a:extLst>
              <a:ext uri="{FF2B5EF4-FFF2-40B4-BE49-F238E27FC236}">
                <a16:creationId xmlns:a16="http://schemas.microsoft.com/office/drawing/2014/main" id="{CAA17C4C-6DF5-4D06-A7C2-FD8AA759A50D}"/>
              </a:ext>
            </a:extLst>
          </p:cNvPr>
          <p:cNvSpPr>
            <a:spLocks/>
          </p:cNvSpPr>
          <p:nvPr/>
        </p:nvSpPr>
        <p:spPr bwMode="auto">
          <a:xfrm>
            <a:off x="3886200" y="4267200"/>
            <a:ext cx="2133600" cy="1066800"/>
          </a:xfrm>
          <a:custGeom>
            <a:avLst/>
            <a:gdLst>
              <a:gd name="T0" fmla="*/ 0 w 1344"/>
              <a:gd name="T1" fmla="*/ 2147483646 h 672"/>
              <a:gd name="T2" fmla="*/ 0 w 1344"/>
              <a:gd name="T3" fmla="*/ 0 h 672"/>
              <a:gd name="T4" fmla="*/ 2147483646 w 1344"/>
              <a:gd name="T5" fmla="*/ 0 h 672"/>
              <a:gd name="T6" fmla="*/ 0 w 1344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44" h="672">
                <a:moveTo>
                  <a:pt x="0" y="672"/>
                </a:moveTo>
                <a:lnTo>
                  <a:pt x="0" y="0"/>
                </a:lnTo>
                <a:lnTo>
                  <a:pt x="1344" y="0"/>
                </a:lnTo>
                <a:lnTo>
                  <a:pt x="0" y="67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499" name="Freeform 7">
            <a:extLst>
              <a:ext uri="{FF2B5EF4-FFF2-40B4-BE49-F238E27FC236}">
                <a16:creationId xmlns:a16="http://schemas.microsoft.com/office/drawing/2014/main" id="{C4FECFF0-FF42-48D2-B9DC-711CA3D64924}"/>
              </a:ext>
            </a:extLst>
          </p:cNvPr>
          <p:cNvSpPr>
            <a:spLocks/>
          </p:cNvSpPr>
          <p:nvPr/>
        </p:nvSpPr>
        <p:spPr bwMode="auto">
          <a:xfrm>
            <a:off x="3886200" y="3124200"/>
            <a:ext cx="2133600" cy="1143000"/>
          </a:xfrm>
          <a:custGeom>
            <a:avLst/>
            <a:gdLst>
              <a:gd name="T0" fmla="*/ 0 w 1344"/>
              <a:gd name="T1" fmla="*/ 0 h 720"/>
              <a:gd name="T2" fmla="*/ 0 w 1344"/>
              <a:gd name="T3" fmla="*/ 2147483646 h 720"/>
              <a:gd name="T4" fmla="*/ 2147483646 w 1344"/>
              <a:gd name="T5" fmla="*/ 2147483646 h 720"/>
              <a:gd name="T6" fmla="*/ 0 w 1344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44" h="720">
                <a:moveTo>
                  <a:pt x="0" y="0"/>
                </a:moveTo>
                <a:lnTo>
                  <a:pt x="0" y="720"/>
                </a:lnTo>
                <a:lnTo>
                  <a:pt x="1344" y="720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Rectangle 16">
            <a:extLst>
              <a:ext uri="{FF2B5EF4-FFF2-40B4-BE49-F238E27FC236}">
                <a16:creationId xmlns:a16="http://schemas.microsoft.com/office/drawing/2014/main" id="{D485D404-9B09-49D7-AB55-C3DC36153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in Efficiency 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Subsidy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501" name="Line 22">
            <a:extLst>
              <a:ext uri="{FF2B5EF4-FFF2-40B4-BE49-F238E27FC236}">
                <a16:creationId xmlns:a16="http://schemas.microsoft.com/office/drawing/2014/main" id="{AB154EEE-D64F-42C1-B06F-3FF1D53BF2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267200"/>
            <a:ext cx="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2" name="Text Box 23">
            <a:extLst>
              <a:ext uri="{FF2B5EF4-FFF2-40B4-BE49-F238E27FC236}">
                <a16:creationId xmlns:a16="http://schemas.microsoft.com/office/drawing/2014/main" id="{4E27A677-7208-4E5F-A069-3047C323D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114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P</a:t>
            </a:r>
            <a:r>
              <a:rPr lang="en-US" altLang="en-US" sz="1400" baseline="-25000"/>
              <a:t>o</a:t>
            </a:r>
            <a:endParaRPr lang="en-US" altLang="en-US" sz="1400"/>
          </a:p>
        </p:txBody>
      </p:sp>
      <p:sp>
        <p:nvSpPr>
          <p:cNvPr id="106503" name="Text Box 24">
            <a:extLst>
              <a:ext uri="{FF2B5EF4-FFF2-40B4-BE49-F238E27FC236}">
                <a16:creationId xmlns:a16="http://schemas.microsoft.com/office/drawing/2014/main" id="{F555D58F-D3BA-462D-9ABF-D40ADAF32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867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Q</a:t>
            </a:r>
            <a:r>
              <a:rPr lang="en-US" altLang="en-US" sz="1400" baseline="-25000"/>
              <a:t>o</a:t>
            </a:r>
            <a:endParaRPr lang="en-US" altLang="en-US" sz="1400"/>
          </a:p>
        </p:txBody>
      </p:sp>
      <p:sp>
        <p:nvSpPr>
          <p:cNvPr id="106504" name="Text Box 25">
            <a:extLst>
              <a:ext uri="{FF2B5EF4-FFF2-40B4-BE49-F238E27FC236}">
                <a16:creationId xmlns:a16="http://schemas.microsoft.com/office/drawing/2014/main" id="{4FEC472B-CAB3-4EBC-8CDA-CC266A1C0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27432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S</a:t>
            </a:r>
          </a:p>
        </p:txBody>
      </p:sp>
      <p:sp>
        <p:nvSpPr>
          <p:cNvPr id="106505" name="Text Box 26">
            <a:extLst>
              <a:ext uri="{FF2B5EF4-FFF2-40B4-BE49-F238E27FC236}">
                <a16:creationId xmlns:a16="http://schemas.microsoft.com/office/drawing/2014/main" id="{E1223E87-9C9D-4BB9-B8BC-19D81FEDB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2578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/>
              <a:t>D</a:t>
            </a:r>
          </a:p>
        </p:txBody>
      </p:sp>
      <p:sp>
        <p:nvSpPr>
          <p:cNvPr id="27675" name="Line 27">
            <a:extLst>
              <a:ext uri="{FF2B5EF4-FFF2-40B4-BE49-F238E27FC236}">
                <a16:creationId xmlns:a16="http://schemas.microsoft.com/office/drawing/2014/main" id="{330A2C63-8AC4-419D-B299-5B0FFCE910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0" y="4800601"/>
            <a:ext cx="3149600" cy="95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6" name="Text Box 28">
            <a:extLst>
              <a:ext uri="{FF2B5EF4-FFF2-40B4-BE49-F238E27FC236}">
                <a16:creationId xmlns:a16="http://schemas.microsoft.com/office/drawing/2014/main" id="{8FF97CE1-3FA8-46B3-B2BE-ECBA5966A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513" y="5867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Q</a:t>
            </a:r>
            <a:r>
              <a:rPr lang="en-US" altLang="en-US" sz="1400" baseline="-25000"/>
              <a:t>H</a:t>
            </a:r>
            <a:endParaRPr lang="en-US" altLang="en-US" sz="1400"/>
          </a:p>
        </p:txBody>
      </p:sp>
      <p:sp>
        <p:nvSpPr>
          <p:cNvPr id="27677" name="Text Box 29">
            <a:extLst>
              <a:ext uri="{FF2B5EF4-FFF2-40B4-BE49-F238E27FC236}">
                <a16:creationId xmlns:a16="http://schemas.microsoft.com/office/drawing/2014/main" id="{B764BDA1-60FA-4E26-8E4E-006F23662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572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P</a:t>
            </a:r>
            <a:r>
              <a:rPr lang="en-US" altLang="en-US" sz="1400" baseline="-25000"/>
              <a:t>D</a:t>
            </a:r>
            <a:endParaRPr lang="en-US" altLang="en-US" sz="1400"/>
          </a:p>
        </p:txBody>
      </p:sp>
      <p:sp>
        <p:nvSpPr>
          <p:cNvPr id="106509" name="Line 33">
            <a:extLst>
              <a:ext uri="{FF2B5EF4-FFF2-40B4-BE49-F238E27FC236}">
                <a16:creationId xmlns:a16="http://schemas.microsoft.com/office/drawing/2014/main" id="{206163C7-FA91-4C47-B442-2E2486A3B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267200"/>
            <a:ext cx="2133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2" name="Line 34">
            <a:extLst>
              <a:ext uri="{FF2B5EF4-FFF2-40B4-BE49-F238E27FC236}">
                <a16:creationId xmlns:a16="http://schemas.microsoft.com/office/drawing/2014/main" id="{B8FA409C-09D9-4D8D-8EC0-C57989B274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4800600"/>
            <a:ext cx="0" cy="9906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1" name="Line 35">
            <a:extLst>
              <a:ext uri="{FF2B5EF4-FFF2-40B4-BE49-F238E27FC236}">
                <a16:creationId xmlns:a16="http://schemas.microsoft.com/office/drawing/2014/main" id="{4F3D8B50-B50B-46A2-B4DE-C3B747F028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3048000"/>
            <a:ext cx="4419600" cy="2286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2" name="Line 36">
            <a:extLst>
              <a:ext uri="{FF2B5EF4-FFF2-40B4-BE49-F238E27FC236}">
                <a16:creationId xmlns:a16="http://schemas.microsoft.com/office/drawing/2014/main" id="{A953BE23-18D0-469C-BDED-B4B9265D1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124200"/>
            <a:ext cx="4267200" cy="2286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87">
            <a:extLst>
              <a:ext uri="{FF2B5EF4-FFF2-40B4-BE49-F238E27FC236}">
                <a16:creationId xmlns:a16="http://schemas.microsoft.com/office/drawing/2014/main" id="{951E04E6-C1A0-4C5B-ADEB-3535CEA8825C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733800"/>
            <a:ext cx="3124200" cy="1874838"/>
            <a:chOff x="1488" y="2352"/>
            <a:chExt cx="1968" cy="1181"/>
          </a:xfrm>
        </p:grpSpPr>
        <p:sp>
          <p:nvSpPr>
            <p:cNvPr id="106546" name="Rectangle 80">
              <a:extLst>
                <a:ext uri="{FF2B5EF4-FFF2-40B4-BE49-F238E27FC236}">
                  <a16:creationId xmlns:a16="http://schemas.microsoft.com/office/drawing/2014/main" id="{D8D9460D-0863-430E-80DB-92249FA6C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1968" cy="672"/>
            </a:xfrm>
            <a:prstGeom prst="rect">
              <a:avLst/>
            </a:prstGeom>
            <a:solidFill>
              <a:srgbClr val="008000">
                <a:alpha val="74901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06547" name="Text Box 81">
              <a:extLst>
                <a:ext uri="{FF2B5EF4-FFF2-40B4-BE49-F238E27FC236}">
                  <a16:creationId xmlns:a16="http://schemas.microsoft.com/office/drawing/2014/main" id="{9D7D73B5-988C-46F3-8F3F-7D7EC245D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360"/>
              <a:ext cx="81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Subsidy Cost</a:t>
              </a:r>
            </a:p>
          </p:txBody>
        </p:sp>
        <p:sp>
          <p:nvSpPr>
            <p:cNvPr id="106548" name="Line 82">
              <a:extLst>
                <a:ext uri="{FF2B5EF4-FFF2-40B4-BE49-F238E27FC236}">
                  <a16:creationId xmlns:a16="http://schemas.microsoft.com/office/drawing/2014/main" id="{8DB06C0E-018B-4875-8864-EEFF72E8E3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2928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85" name="Text Box 37">
            <a:extLst>
              <a:ext uri="{FF2B5EF4-FFF2-40B4-BE49-F238E27FC236}">
                <a16:creationId xmlns:a16="http://schemas.microsoft.com/office/drawing/2014/main" id="{7B968260-50FA-4879-A94D-231E7B81B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P</a:t>
            </a:r>
            <a:r>
              <a:rPr lang="en-US" altLang="en-US" sz="1400" baseline="-25000"/>
              <a:t>S</a:t>
            </a:r>
            <a:endParaRPr lang="en-US" altLang="en-US" sz="1400"/>
          </a:p>
        </p:txBody>
      </p:sp>
      <p:sp>
        <p:nvSpPr>
          <p:cNvPr id="27686" name="Line 38">
            <a:extLst>
              <a:ext uri="{FF2B5EF4-FFF2-40B4-BE49-F238E27FC236}">
                <a16:creationId xmlns:a16="http://schemas.microsoft.com/office/drawing/2014/main" id="{0B3E71A7-9616-4F75-893C-A7CE8A4946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733800"/>
            <a:ext cx="3124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39">
            <a:extLst>
              <a:ext uri="{FF2B5EF4-FFF2-40B4-BE49-F238E27FC236}">
                <a16:creationId xmlns:a16="http://schemas.microsoft.com/office/drawing/2014/main" id="{B66F35FC-BAD5-4ED9-96F8-DA38CFE07C83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3581400"/>
            <a:ext cx="4419600" cy="2057400"/>
            <a:chOff x="1536" y="1104"/>
            <a:chExt cx="3312" cy="1584"/>
          </a:xfrm>
        </p:grpSpPr>
        <p:sp>
          <p:nvSpPr>
            <p:cNvPr id="106544" name="Line 40">
              <a:extLst>
                <a:ext uri="{FF2B5EF4-FFF2-40B4-BE49-F238E27FC236}">
                  <a16:creationId xmlns:a16="http://schemas.microsoft.com/office/drawing/2014/main" id="{7E50176D-6C52-4210-9728-F9A56112D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1248"/>
              <a:ext cx="2784" cy="14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45" name="Text Box 41">
              <a:extLst>
                <a:ext uri="{FF2B5EF4-FFF2-40B4-BE49-F238E27FC236}">
                  <a16:creationId xmlns:a16="http://schemas.microsoft.com/office/drawing/2014/main" id="{52F0B26E-5AC3-4FFE-AAC5-E4B67480E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7" y="1104"/>
              <a:ext cx="481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/>
                <a:t>S</a:t>
              </a:r>
              <a:r>
                <a:rPr lang="en-US" altLang="en-US" sz="1600" baseline="-25000"/>
                <a:t>Sub</a:t>
              </a:r>
              <a:endParaRPr lang="en-US" altLang="en-US" sz="1600"/>
            </a:p>
          </p:txBody>
        </p:sp>
      </p:grpSp>
      <p:grpSp>
        <p:nvGrpSpPr>
          <p:cNvPr id="4" name="Group 49">
            <a:extLst>
              <a:ext uri="{FF2B5EF4-FFF2-40B4-BE49-F238E27FC236}">
                <a16:creationId xmlns:a16="http://schemas.microsoft.com/office/drawing/2014/main" id="{32A8E752-8D04-4C21-9280-3D20D17C320E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3416300"/>
            <a:ext cx="838200" cy="1066800"/>
            <a:chOff x="3840" y="1488"/>
            <a:chExt cx="432" cy="672"/>
          </a:xfrm>
        </p:grpSpPr>
        <p:sp>
          <p:nvSpPr>
            <p:cNvPr id="106542" name="Text Box 50">
              <a:extLst>
                <a:ext uri="{FF2B5EF4-FFF2-40B4-BE49-F238E27FC236}">
                  <a16:creationId xmlns:a16="http://schemas.microsoft.com/office/drawing/2014/main" id="{35D63CC4-DA51-491D-8C1D-F35BF534A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80"/>
              <a:ext cx="4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Subsidy</a:t>
              </a:r>
            </a:p>
          </p:txBody>
        </p:sp>
        <p:sp>
          <p:nvSpPr>
            <p:cNvPr id="106543" name="Line 51">
              <a:extLst>
                <a:ext uri="{FF2B5EF4-FFF2-40B4-BE49-F238E27FC236}">
                  <a16:creationId xmlns:a16="http://schemas.microsoft.com/office/drawing/2014/main" id="{70D366A0-880C-4485-A6A2-D83CC34AC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4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78">
            <a:extLst>
              <a:ext uri="{FF2B5EF4-FFF2-40B4-BE49-F238E27FC236}">
                <a16:creationId xmlns:a16="http://schemas.microsoft.com/office/drawing/2014/main" id="{F5AA7B54-A6F0-4692-9676-A4B2EC2E3CD2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733800"/>
            <a:ext cx="4876800" cy="1981200"/>
            <a:chOff x="336" y="2352"/>
            <a:chExt cx="3072" cy="1248"/>
          </a:xfrm>
        </p:grpSpPr>
        <p:sp>
          <p:nvSpPr>
            <p:cNvPr id="106539" name="Freeform 62">
              <a:extLst>
                <a:ext uri="{FF2B5EF4-FFF2-40B4-BE49-F238E27FC236}">
                  <a16:creationId xmlns:a16="http://schemas.microsoft.com/office/drawing/2014/main" id="{919C469D-E801-4D1D-8179-C42FC8A29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2352"/>
              <a:ext cx="1920" cy="1008"/>
            </a:xfrm>
            <a:custGeom>
              <a:avLst/>
              <a:gdLst>
                <a:gd name="T0" fmla="*/ 0 w 1920"/>
                <a:gd name="T1" fmla="*/ 1008 h 1008"/>
                <a:gd name="T2" fmla="*/ 1920 w 1920"/>
                <a:gd name="T3" fmla="*/ 0 h 1008"/>
                <a:gd name="T4" fmla="*/ 0 w 1920"/>
                <a:gd name="T5" fmla="*/ 0 h 1008"/>
                <a:gd name="T6" fmla="*/ 0 w 1920"/>
                <a:gd name="T7" fmla="*/ 1008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0" h="1008">
                  <a:moveTo>
                    <a:pt x="0" y="1008"/>
                  </a:moveTo>
                  <a:lnTo>
                    <a:pt x="1920" y="0"/>
                  </a:lnTo>
                  <a:lnTo>
                    <a:pt x="0" y="0"/>
                  </a:lnTo>
                  <a:lnTo>
                    <a:pt x="0" y="1008"/>
                  </a:lnTo>
                  <a:close/>
                </a:path>
              </a:pathLst>
            </a:custGeom>
            <a:solidFill>
              <a:srgbClr val="FF0000">
                <a:alpha val="4588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40" name="Text Box 63">
              <a:extLst>
                <a:ext uri="{FF2B5EF4-FFF2-40B4-BE49-F238E27FC236}">
                  <a16:creationId xmlns:a16="http://schemas.microsoft.com/office/drawing/2014/main" id="{1F409602-66C1-4372-8112-2209F6FCB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312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New Producer Surplus</a:t>
              </a:r>
            </a:p>
          </p:txBody>
        </p:sp>
        <p:sp>
          <p:nvSpPr>
            <p:cNvPr id="106541" name="Line 64">
              <a:extLst>
                <a:ext uri="{FF2B5EF4-FFF2-40B4-BE49-F238E27FC236}">
                  <a16:creationId xmlns:a16="http://schemas.microsoft.com/office/drawing/2014/main" id="{43C562D1-8E13-4DE8-9C72-58803EE78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928"/>
              <a:ext cx="96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72">
            <a:extLst>
              <a:ext uri="{FF2B5EF4-FFF2-40B4-BE49-F238E27FC236}">
                <a16:creationId xmlns:a16="http://schemas.microsoft.com/office/drawing/2014/main" id="{3D373E19-3F55-4467-929E-01FEDC613E4A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819400"/>
            <a:ext cx="3505200" cy="1447800"/>
            <a:chOff x="1488" y="1776"/>
            <a:chExt cx="2208" cy="912"/>
          </a:xfrm>
        </p:grpSpPr>
        <p:sp>
          <p:nvSpPr>
            <p:cNvPr id="106536" name="Freeform 66">
              <a:extLst>
                <a:ext uri="{FF2B5EF4-FFF2-40B4-BE49-F238E27FC236}">
                  <a16:creationId xmlns:a16="http://schemas.microsoft.com/office/drawing/2014/main" id="{D7D62646-C0A8-4F71-8E9A-C157357B4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2352"/>
              <a:ext cx="1968" cy="336"/>
            </a:xfrm>
            <a:custGeom>
              <a:avLst/>
              <a:gdLst>
                <a:gd name="T0" fmla="*/ 0 w 1968"/>
                <a:gd name="T1" fmla="*/ 0 h 336"/>
                <a:gd name="T2" fmla="*/ 0 w 1968"/>
                <a:gd name="T3" fmla="*/ 336 h 336"/>
                <a:gd name="T4" fmla="*/ 1344 w 1968"/>
                <a:gd name="T5" fmla="*/ 336 h 336"/>
                <a:gd name="T6" fmla="*/ 1968 w 1968"/>
                <a:gd name="T7" fmla="*/ 0 h 336"/>
                <a:gd name="T8" fmla="*/ 0 w 1968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8" h="336">
                  <a:moveTo>
                    <a:pt x="0" y="0"/>
                  </a:moveTo>
                  <a:lnTo>
                    <a:pt x="0" y="336"/>
                  </a:lnTo>
                  <a:lnTo>
                    <a:pt x="1344" y="336"/>
                  </a:lnTo>
                  <a:lnTo>
                    <a:pt x="19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7294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37" name="Text Box 67">
              <a:extLst>
                <a:ext uri="{FF2B5EF4-FFF2-40B4-BE49-F238E27FC236}">
                  <a16:creationId xmlns:a16="http://schemas.microsoft.com/office/drawing/2014/main" id="{483C865C-D3D3-44CC-82D3-081C47CCD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776"/>
              <a:ext cx="12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Gain in Producer Surplus</a:t>
              </a:r>
            </a:p>
          </p:txBody>
        </p:sp>
        <p:sp>
          <p:nvSpPr>
            <p:cNvPr id="106538" name="Line 68">
              <a:extLst>
                <a:ext uri="{FF2B5EF4-FFF2-40B4-BE49-F238E27FC236}">
                  <a16:creationId xmlns:a16="http://schemas.microsoft.com/office/drawing/2014/main" id="{6D2E4BA9-F3BC-43F1-AC92-5D585618E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1968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75">
            <a:extLst>
              <a:ext uri="{FF2B5EF4-FFF2-40B4-BE49-F238E27FC236}">
                <a16:creationId xmlns:a16="http://schemas.microsoft.com/office/drawing/2014/main" id="{A2C93410-9EC9-4F3D-9E88-D71ECD9292ED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124200"/>
            <a:ext cx="4648200" cy="1676400"/>
            <a:chOff x="528" y="1968"/>
            <a:chExt cx="2928" cy="1056"/>
          </a:xfrm>
        </p:grpSpPr>
        <p:sp>
          <p:nvSpPr>
            <p:cNvPr id="106533" name="Text Box 53">
              <a:extLst>
                <a:ext uri="{FF2B5EF4-FFF2-40B4-BE49-F238E27FC236}">
                  <a16:creationId xmlns:a16="http://schemas.microsoft.com/office/drawing/2014/main" id="{9AB6E1B2-4A94-4768-967D-9E17FDDBE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016"/>
              <a:ext cx="67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New Consumer Surplus</a:t>
              </a:r>
            </a:p>
          </p:txBody>
        </p:sp>
        <p:sp>
          <p:nvSpPr>
            <p:cNvPr id="106534" name="Line 54">
              <a:extLst>
                <a:ext uri="{FF2B5EF4-FFF2-40B4-BE49-F238E27FC236}">
                  <a16:creationId xmlns:a16="http://schemas.microsoft.com/office/drawing/2014/main" id="{8274549B-EE36-4A33-8496-DC50B6A98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56"/>
              <a:ext cx="91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35" name="Freeform 74">
              <a:extLst>
                <a:ext uri="{FF2B5EF4-FFF2-40B4-BE49-F238E27FC236}">
                  <a16:creationId xmlns:a16="http://schemas.microsoft.com/office/drawing/2014/main" id="{999BBA8F-E22A-4142-8FB4-203340CA7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968"/>
              <a:ext cx="1968" cy="1056"/>
            </a:xfrm>
            <a:custGeom>
              <a:avLst/>
              <a:gdLst>
                <a:gd name="T0" fmla="*/ 0 w 1968"/>
                <a:gd name="T1" fmla="*/ 0 h 1056"/>
                <a:gd name="T2" fmla="*/ 0 w 1968"/>
                <a:gd name="T3" fmla="*/ 1056 h 1056"/>
                <a:gd name="T4" fmla="*/ 1968 w 1968"/>
                <a:gd name="T5" fmla="*/ 1056 h 1056"/>
                <a:gd name="T6" fmla="*/ 0 w 1968"/>
                <a:gd name="T7" fmla="*/ 0 h 10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8" h="1056">
                  <a:moveTo>
                    <a:pt x="0" y="0"/>
                  </a:moveTo>
                  <a:lnTo>
                    <a:pt x="0" y="1056"/>
                  </a:lnTo>
                  <a:lnTo>
                    <a:pt x="1968" y="10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>
                <a:alpha val="47058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77">
            <a:extLst>
              <a:ext uri="{FF2B5EF4-FFF2-40B4-BE49-F238E27FC236}">
                <a16:creationId xmlns:a16="http://schemas.microsoft.com/office/drawing/2014/main" id="{39027E8E-89E2-451A-A470-E2206B09BCD4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191000"/>
            <a:ext cx="4953000" cy="609600"/>
            <a:chOff x="336" y="2640"/>
            <a:chExt cx="3120" cy="384"/>
          </a:xfrm>
        </p:grpSpPr>
        <p:sp>
          <p:nvSpPr>
            <p:cNvPr id="106530" name="Text Box 58">
              <a:extLst>
                <a:ext uri="{FF2B5EF4-FFF2-40B4-BE49-F238E27FC236}">
                  <a16:creationId xmlns:a16="http://schemas.microsoft.com/office/drawing/2014/main" id="{15A1EA82-22B8-4F99-8F71-A1BF77047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640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/>
                <a:t>Gain in Consumer Surplus</a:t>
              </a:r>
            </a:p>
          </p:txBody>
        </p:sp>
        <p:sp>
          <p:nvSpPr>
            <p:cNvPr id="106531" name="Freeform 76">
              <a:extLst>
                <a:ext uri="{FF2B5EF4-FFF2-40B4-BE49-F238E27FC236}">
                  <a16:creationId xmlns:a16="http://schemas.microsoft.com/office/drawing/2014/main" id="{C7CB4950-0C00-4824-9874-16B5FAE06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2688"/>
              <a:ext cx="1968" cy="336"/>
            </a:xfrm>
            <a:custGeom>
              <a:avLst/>
              <a:gdLst>
                <a:gd name="T0" fmla="*/ 0 w 1968"/>
                <a:gd name="T1" fmla="*/ 0 h 336"/>
                <a:gd name="T2" fmla="*/ 0 w 1968"/>
                <a:gd name="T3" fmla="*/ 336 h 336"/>
                <a:gd name="T4" fmla="*/ 1968 w 1968"/>
                <a:gd name="T5" fmla="*/ 336 h 336"/>
                <a:gd name="T6" fmla="*/ 1344 w 1968"/>
                <a:gd name="T7" fmla="*/ 0 h 336"/>
                <a:gd name="T8" fmla="*/ 0 w 1968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8" h="336">
                  <a:moveTo>
                    <a:pt x="0" y="0"/>
                  </a:moveTo>
                  <a:lnTo>
                    <a:pt x="0" y="336"/>
                  </a:lnTo>
                  <a:lnTo>
                    <a:pt x="1968" y="336"/>
                  </a:lnTo>
                  <a:lnTo>
                    <a:pt x="13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7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32" name="Line 59">
              <a:extLst>
                <a:ext uri="{FF2B5EF4-FFF2-40B4-BE49-F238E27FC236}">
                  <a16:creationId xmlns:a16="http://schemas.microsoft.com/office/drawing/2014/main" id="{FE225252-60A2-48B3-9E0F-81501501A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83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6522" name="Line 18">
            <a:extLst>
              <a:ext uri="{FF2B5EF4-FFF2-40B4-BE49-F238E27FC236}">
                <a16:creationId xmlns:a16="http://schemas.microsoft.com/office/drawing/2014/main" id="{AA94C19E-88A0-4A47-BD3B-E4528F337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438400"/>
            <a:ext cx="0" cy="3352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23" name="Line 19">
            <a:extLst>
              <a:ext uri="{FF2B5EF4-FFF2-40B4-BE49-F238E27FC236}">
                <a16:creationId xmlns:a16="http://schemas.microsoft.com/office/drawing/2014/main" id="{5BEC6B56-F0B3-4719-A60C-6101862E30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791200"/>
            <a:ext cx="457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24" name="Text Box 20">
            <a:extLst>
              <a:ext uri="{FF2B5EF4-FFF2-40B4-BE49-F238E27FC236}">
                <a16:creationId xmlns:a16="http://schemas.microsoft.com/office/drawing/2014/main" id="{1D3E5346-4E02-4D6E-8AEB-4A0CD0F99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86000"/>
            <a:ext cx="114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/>
              <a:t>Price</a:t>
            </a:r>
          </a:p>
        </p:txBody>
      </p:sp>
      <p:sp>
        <p:nvSpPr>
          <p:cNvPr id="106525" name="Text Box 21">
            <a:extLst>
              <a:ext uri="{FF2B5EF4-FFF2-40B4-BE49-F238E27FC236}">
                <a16:creationId xmlns:a16="http://schemas.microsoft.com/office/drawing/2014/main" id="{C26FD14B-582F-4A31-ACAA-387FE1447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943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/>
              <a:t>Quantity</a:t>
            </a:r>
          </a:p>
        </p:txBody>
      </p:sp>
      <p:sp>
        <p:nvSpPr>
          <p:cNvPr id="27727" name="Line 79">
            <a:extLst>
              <a:ext uri="{FF2B5EF4-FFF2-40B4-BE49-F238E27FC236}">
                <a16:creationId xmlns:a16="http://schemas.microsoft.com/office/drawing/2014/main" id="{8C36C0A7-8445-453C-BE24-4AB0FDF02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733800"/>
            <a:ext cx="0" cy="1066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86">
            <a:extLst>
              <a:ext uri="{FF2B5EF4-FFF2-40B4-BE49-F238E27FC236}">
                <a16:creationId xmlns:a16="http://schemas.microsoft.com/office/drawing/2014/main" id="{AC1225ED-3FF6-481D-B806-0532B300E774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343400"/>
            <a:ext cx="3505200" cy="533400"/>
            <a:chOff x="3312" y="2736"/>
            <a:chExt cx="2208" cy="336"/>
          </a:xfrm>
        </p:grpSpPr>
        <p:sp>
          <p:nvSpPr>
            <p:cNvPr id="106528" name="Text Box 84">
              <a:extLst>
                <a:ext uri="{FF2B5EF4-FFF2-40B4-BE49-F238E27FC236}">
                  <a16:creationId xmlns:a16="http://schemas.microsoft.com/office/drawing/2014/main" id="{CA115E37-84E6-49A1-BACE-6435F6263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880"/>
              <a:ext cx="10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Deadweight Loss</a:t>
              </a:r>
            </a:p>
          </p:txBody>
        </p:sp>
        <p:sp>
          <p:nvSpPr>
            <p:cNvPr id="106529" name="Line 85">
              <a:extLst>
                <a:ext uri="{FF2B5EF4-FFF2-40B4-BE49-F238E27FC236}">
                  <a16:creationId xmlns:a16="http://schemas.microsoft.com/office/drawing/2014/main" id="{8962D01A-6AA4-4FD5-AF89-BA2DEFF5D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10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" dur="1000"/>
                                        <p:tgtEl>
                                          <p:spTgt spid="2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7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" dur="10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5" dur="10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4" grpId="0"/>
      <p:bldP spid="27676" grpId="0"/>
      <p:bldP spid="27677" grpId="0"/>
      <p:bldP spid="2768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E1E8-5B3E-7498-FFA4-4D1E3653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DAECA-7E36-FCF5-0D9B-A102D4775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 = 100 – 5P</a:t>
            </a:r>
          </a:p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 = -20 + 5P</a:t>
            </a:r>
          </a:p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Subsidy = Rs. 4</a:t>
            </a:r>
          </a:p>
        </p:txBody>
      </p:sp>
    </p:spTree>
    <p:extLst>
      <p:ext uri="{BB962C8B-B14F-4D97-AF65-F5344CB8AC3E}">
        <p14:creationId xmlns:p14="http://schemas.microsoft.com/office/powerpoint/2010/main" val="32747816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4C28E-613A-56AF-22BA-EA31A3693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4ABF-DBFD-CB0C-A652-0FB19ACEE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2439-3F94-31B6-700E-0431F1620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 = 70 – 2P</a:t>
            </a:r>
          </a:p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 = -10 + 2P</a:t>
            </a:r>
          </a:p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Subsidy = Rs. </a:t>
            </a:r>
            <a:r>
              <a:rPr lang="en-LK">
                <a:latin typeface="Times New Roman" panose="02020603050405020304" pitchFamily="18" charset="0"/>
                <a:cs typeface="Times New Roman" panose="02020603050405020304" pitchFamily="18" charset="0"/>
              </a:rPr>
              <a:t>2.5</a:t>
            </a:r>
            <a:endParaRPr lang="en-L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4168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Government Intervention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80963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06. Government provision / Direct provision</a:t>
            </a:r>
          </a:p>
          <a:p>
            <a:pPr marL="442913" indent="-3810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to take over the production of goods or services, either in part or in whole.</a:t>
            </a:r>
          </a:p>
          <a:p>
            <a:pPr marL="442913" indent="-3810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the goods or services directly to the customer free of charge.</a:t>
            </a:r>
          </a:p>
          <a:p>
            <a:pPr marL="442913" indent="-3810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State-owned industries: electricity, water provision, railways.</a:t>
            </a:r>
          </a:p>
          <a:p>
            <a:pPr marL="442913" indent="-3810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applies to those industries supplied by both public and private sectors: education, and hospitals.</a:t>
            </a:r>
          </a:p>
        </p:txBody>
      </p:sp>
    </p:spTree>
    <p:extLst>
      <p:ext uri="{BB962C8B-B14F-4D97-AF65-F5344CB8AC3E}">
        <p14:creationId xmlns:p14="http://schemas.microsoft.com/office/powerpoint/2010/main" val="30491987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Government Intervention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80962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07. Regulation</a:t>
            </a:r>
          </a:p>
          <a:p>
            <a:pPr marL="423862" indent="-3429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means by which the government seeks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and consumption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23862" indent="-3429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and laws that apply to firms to control the free market.</a:t>
            </a:r>
          </a:p>
          <a:p>
            <a:pPr marL="423862" indent="-3429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legal or other methods such as control of price, quality, and quantity of goods and services that are produced or consumed.</a:t>
            </a:r>
          </a:p>
          <a:p>
            <a:pPr marL="423862" indent="-3429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 Doctor’s prescription to buy controlled drugs.</a:t>
            </a:r>
          </a:p>
        </p:txBody>
      </p:sp>
    </p:spTree>
    <p:extLst>
      <p:ext uri="{BB962C8B-B14F-4D97-AF65-F5344CB8AC3E}">
        <p14:creationId xmlns:p14="http://schemas.microsoft.com/office/powerpoint/2010/main" val="4194356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B5C28-1356-B22D-3150-65A71D79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br>
              <a:rPr lang="en-US" sz="6600" b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ood human figure">
            <a:extLst>
              <a:ext uri="{FF2B5EF4-FFF2-40B4-BE49-F238E27FC236}">
                <a16:creationId xmlns:a16="http://schemas.microsoft.com/office/drawing/2014/main" id="{B7308598-5EC2-97FD-7F8F-63F9FBD96E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589" b="-1"/>
          <a:stretch/>
        </p:blipFill>
        <p:spPr>
          <a:xfrm>
            <a:off x="7781544" y="1316679"/>
            <a:ext cx="4087368" cy="398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13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4790</TotalTime>
  <Words>2556</Words>
  <Application>Microsoft Macintosh PowerPoint</Application>
  <PresentationFormat>Widescreen</PresentationFormat>
  <Paragraphs>467</Paragraphs>
  <Slides>57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Theme</vt:lpstr>
      <vt:lpstr>Government Intervention in Markets</vt:lpstr>
      <vt:lpstr>Upon the successful completion of this lecture, you’ll be able to,</vt:lpstr>
      <vt:lpstr>Market Equilibrium</vt:lpstr>
      <vt:lpstr>Market Equilibrium</vt:lpstr>
      <vt:lpstr>Market Disequilibria</vt:lpstr>
      <vt:lpstr>Market Disequilibria</vt:lpstr>
      <vt:lpstr>Methods of Government Intervention</vt:lpstr>
      <vt:lpstr>Government Intervention in Markets</vt:lpstr>
      <vt:lpstr>Government Intervention in Markets</vt:lpstr>
      <vt:lpstr>Government Intervention in Markets</vt:lpstr>
      <vt:lpstr>Government Intervention in Markets</vt:lpstr>
      <vt:lpstr>02. Price Ceilings</vt:lpstr>
      <vt:lpstr>Price Ceilings</vt:lpstr>
      <vt:lpstr>Question 01</vt:lpstr>
      <vt:lpstr>PowerPoint Presentation</vt:lpstr>
      <vt:lpstr>Advantages and Disadvantages of price ceiling</vt:lpstr>
      <vt:lpstr>Exercise</vt:lpstr>
      <vt:lpstr>03. Price Floor</vt:lpstr>
      <vt:lpstr>Price Floor</vt:lpstr>
      <vt:lpstr>Advantages and Disadvantages of Minimum Price</vt:lpstr>
      <vt:lpstr>Question 02</vt:lpstr>
      <vt:lpstr>PowerPoint Presentation</vt:lpstr>
      <vt:lpstr>Exercise</vt:lpstr>
      <vt:lpstr> Consumer and Producer Surplus</vt:lpstr>
      <vt:lpstr>Consumer and Producer Surplus</vt:lpstr>
      <vt:lpstr>Consumer and Producer Surplus</vt:lpstr>
      <vt:lpstr>Consumer and Producer Surplus</vt:lpstr>
      <vt:lpstr>Consumer and Producer Surplus</vt:lpstr>
      <vt:lpstr>Consumer and Producer Surplus</vt:lpstr>
      <vt:lpstr>Consumer and Producer Surplus</vt:lpstr>
      <vt:lpstr>Consumer and Producer Surplus</vt:lpstr>
      <vt:lpstr>Consumer and Producer Surplus</vt:lpstr>
      <vt:lpstr>Consumer and Producer Surplus</vt:lpstr>
      <vt:lpstr>Consumer and Producer Surplus</vt:lpstr>
      <vt:lpstr>Equations to calculate consumer surplus and producer surplus at the equilibrium</vt:lpstr>
      <vt:lpstr>Price Control and Surplus Changes</vt:lpstr>
      <vt:lpstr>Price controls and Welfare Effects</vt:lpstr>
      <vt:lpstr>The Efficiency of a Competitive Market</vt:lpstr>
      <vt:lpstr>The Efficiency of a Competitive Market</vt:lpstr>
      <vt:lpstr>Types of Market Failures</vt:lpstr>
      <vt:lpstr>The Efficiency of a Competitive Market</vt:lpstr>
      <vt:lpstr>Price Control and Surplus Changes</vt:lpstr>
      <vt:lpstr>The Efficiency of a Competitive Market</vt:lpstr>
      <vt:lpstr>Methods of Government Intervention</vt:lpstr>
      <vt:lpstr>04. Taxations</vt:lpstr>
      <vt:lpstr>Loss in Efficiency  Taxation</vt:lpstr>
      <vt:lpstr>Question 03</vt:lpstr>
      <vt:lpstr>PowerPoint Presentation</vt:lpstr>
      <vt:lpstr>Exercise</vt:lpstr>
      <vt:lpstr>Methods of Government Intervention</vt:lpstr>
      <vt:lpstr>05. Subsidies</vt:lpstr>
      <vt:lpstr>Loss in Efficiency  Subsidy</vt:lpstr>
      <vt:lpstr>Question 04</vt:lpstr>
      <vt:lpstr>Exercise</vt:lpstr>
      <vt:lpstr>Methods of Government Intervention</vt:lpstr>
      <vt:lpstr>Methods of Government Intervention</vt:lpstr>
      <vt:lpstr>Thank you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Intervention in Markets</dc:title>
  <dc:creator>Ishanka Dias</dc:creator>
  <cp:lastModifiedBy>Mr. Chathuranga Adhikari</cp:lastModifiedBy>
  <cp:revision>55</cp:revision>
  <dcterms:created xsi:type="dcterms:W3CDTF">2020-10-25T14:56:00Z</dcterms:created>
  <dcterms:modified xsi:type="dcterms:W3CDTF">2026-09-06T10:23:27Z</dcterms:modified>
</cp:coreProperties>
</file>