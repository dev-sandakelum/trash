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91" r:id="rId3"/>
    <p:sldId id="257" r:id="rId4"/>
    <p:sldId id="258" r:id="rId5"/>
    <p:sldId id="259" r:id="rId6"/>
    <p:sldId id="397" r:id="rId7"/>
    <p:sldId id="317" r:id="rId8"/>
    <p:sldId id="318" r:id="rId9"/>
    <p:sldId id="268" r:id="rId10"/>
    <p:sldId id="332" r:id="rId11"/>
    <p:sldId id="328" r:id="rId12"/>
    <p:sldId id="329" r:id="rId13"/>
    <p:sldId id="330" r:id="rId14"/>
    <p:sldId id="331" r:id="rId15"/>
    <p:sldId id="271" r:id="rId16"/>
    <p:sldId id="327" r:id="rId17"/>
    <p:sldId id="367" r:id="rId18"/>
    <p:sldId id="398" r:id="rId19"/>
    <p:sldId id="368" r:id="rId20"/>
    <p:sldId id="334" r:id="rId21"/>
    <p:sldId id="395" r:id="rId22"/>
    <p:sldId id="394" r:id="rId23"/>
    <p:sldId id="356" r:id="rId24"/>
    <p:sldId id="355" r:id="rId25"/>
    <p:sldId id="338" r:id="rId26"/>
    <p:sldId id="369" r:id="rId27"/>
    <p:sldId id="370" r:id="rId28"/>
    <p:sldId id="371" r:id="rId29"/>
    <p:sldId id="372" r:id="rId30"/>
    <p:sldId id="373" r:id="rId31"/>
    <p:sldId id="374" r:id="rId32"/>
    <p:sldId id="375" r:id="rId33"/>
    <p:sldId id="376" r:id="rId34"/>
    <p:sldId id="377" r:id="rId35"/>
    <p:sldId id="399" r:id="rId36"/>
    <p:sldId id="378" r:id="rId37"/>
    <p:sldId id="379" r:id="rId38"/>
    <p:sldId id="380" r:id="rId39"/>
    <p:sldId id="400" r:id="rId40"/>
    <p:sldId id="381" r:id="rId41"/>
    <p:sldId id="382" r:id="rId42"/>
    <p:sldId id="401" r:id="rId43"/>
    <p:sldId id="383" r:id="rId44"/>
    <p:sldId id="402" r:id="rId45"/>
    <p:sldId id="384" r:id="rId46"/>
    <p:sldId id="385" r:id="rId47"/>
    <p:sldId id="386" r:id="rId48"/>
    <p:sldId id="387" r:id="rId49"/>
    <p:sldId id="403" r:id="rId50"/>
    <p:sldId id="388" r:id="rId51"/>
    <p:sldId id="396" r:id="rId52"/>
    <p:sldId id="389" r:id="rId53"/>
    <p:sldId id="390" r:id="rId54"/>
    <p:sldId id="392" r:id="rId55"/>
    <p:sldId id="393" r:id="rId56"/>
  </p:sldIdLst>
  <p:sldSz cx="12192000" cy="6858000"/>
  <p:notesSz cx="6858000" cy="9144000"/>
  <p:defaultText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54"/>
  </p:normalViewPr>
  <p:slideViewPr>
    <p:cSldViewPr snapToGrid="0">
      <p:cViewPr varScale="1">
        <p:scale>
          <a:sx n="85" d="100"/>
          <a:sy n="85" d="100"/>
        </p:scale>
        <p:origin x="176"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DE6AC-B53F-5230-3DF9-79AB0A87F23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LK"/>
          </a:p>
        </p:txBody>
      </p:sp>
      <p:sp>
        <p:nvSpPr>
          <p:cNvPr id="3" name="Subtitle 2">
            <a:extLst>
              <a:ext uri="{FF2B5EF4-FFF2-40B4-BE49-F238E27FC236}">
                <a16:creationId xmlns:a16="http://schemas.microsoft.com/office/drawing/2014/main" id="{BC07BA5B-E948-2A1D-9551-50CAEEAB09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K"/>
          </a:p>
        </p:txBody>
      </p:sp>
      <p:sp>
        <p:nvSpPr>
          <p:cNvPr id="4" name="Date Placeholder 3">
            <a:extLst>
              <a:ext uri="{FF2B5EF4-FFF2-40B4-BE49-F238E27FC236}">
                <a16:creationId xmlns:a16="http://schemas.microsoft.com/office/drawing/2014/main" id="{B1A3CEC2-1310-699A-9FB0-A4488567188A}"/>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5" name="Footer Placeholder 4">
            <a:extLst>
              <a:ext uri="{FF2B5EF4-FFF2-40B4-BE49-F238E27FC236}">
                <a16:creationId xmlns:a16="http://schemas.microsoft.com/office/drawing/2014/main" id="{6C669DFF-F064-01C3-5379-49F302B796B0}"/>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FEDA6717-2CAD-D70C-5213-E727C1DA8B6B}"/>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2693976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4C5B1-33AE-DF26-17C4-3290E3BA0A27}"/>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6B4D77E3-F249-7CD7-20FF-28E66091F41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CA1B1430-734C-05AA-38F2-3F2850F3D713}"/>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5" name="Footer Placeholder 4">
            <a:extLst>
              <a:ext uri="{FF2B5EF4-FFF2-40B4-BE49-F238E27FC236}">
                <a16:creationId xmlns:a16="http://schemas.microsoft.com/office/drawing/2014/main" id="{21A77021-B52E-4BEB-C85B-CD24FBA88713}"/>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FE02F812-D9EF-4EB4-D29F-1FBE9D72C94F}"/>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4267397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8E33E-A3BC-37F6-2D2E-2C1CDD14E44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LK"/>
          </a:p>
        </p:txBody>
      </p:sp>
      <p:sp>
        <p:nvSpPr>
          <p:cNvPr id="3" name="Text Placeholder 2">
            <a:extLst>
              <a:ext uri="{FF2B5EF4-FFF2-40B4-BE49-F238E27FC236}">
                <a16:creationId xmlns:a16="http://schemas.microsoft.com/office/drawing/2014/main" id="{6DA8D489-3887-508E-2618-39B97C17FE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3BB00D2-4940-F99A-4543-90EC52875EB9}"/>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5" name="Footer Placeholder 4">
            <a:extLst>
              <a:ext uri="{FF2B5EF4-FFF2-40B4-BE49-F238E27FC236}">
                <a16:creationId xmlns:a16="http://schemas.microsoft.com/office/drawing/2014/main" id="{6C7D9009-861B-BB19-3DFC-27233BBDF8FF}"/>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CDD2619A-7C54-6CC8-B77A-E0C285783427}"/>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2186252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7587F-0829-BDFC-F35F-CABDBBE81FE6}"/>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3F346A29-0346-CA7F-E989-9CAA1D451E5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Content Placeholder 3">
            <a:extLst>
              <a:ext uri="{FF2B5EF4-FFF2-40B4-BE49-F238E27FC236}">
                <a16:creationId xmlns:a16="http://schemas.microsoft.com/office/drawing/2014/main" id="{C20B5BD2-20C6-E36E-0F8A-C1C0DC9A9A5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Date Placeholder 4">
            <a:extLst>
              <a:ext uri="{FF2B5EF4-FFF2-40B4-BE49-F238E27FC236}">
                <a16:creationId xmlns:a16="http://schemas.microsoft.com/office/drawing/2014/main" id="{A60433CC-C536-1CCE-7CCA-B7228133255D}"/>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6" name="Footer Placeholder 5">
            <a:extLst>
              <a:ext uri="{FF2B5EF4-FFF2-40B4-BE49-F238E27FC236}">
                <a16:creationId xmlns:a16="http://schemas.microsoft.com/office/drawing/2014/main" id="{1857ABF7-DC37-8782-C332-C8986A483A28}"/>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D1A9BE96-EF54-DE2F-5660-FB151948D297}"/>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242994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28EA-57D5-4CDF-F53A-993FC9D1D547}"/>
              </a:ext>
            </a:extLst>
          </p:cNvPr>
          <p:cNvSpPr>
            <a:spLocks noGrp="1"/>
          </p:cNvSpPr>
          <p:nvPr>
            <p:ph type="title"/>
          </p:nvPr>
        </p:nvSpPr>
        <p:spPr>
          <a:xfrm>
            <a:off x="839788" y="365125"/>
            <a:ext cx="10515600" cy="1325563"/>
          </a:xfrm>
        </p:spPr>
        <p:txBody>
          <a:bodyPr/>
          <a:lstStyle/>
          <a:p>
            <a:r>
              <a:rPr lang="en-GB"/>
              <a:t>Click to edit Master title style</a:t>
            </a:r>
            <a:endParaRPr lang="en-LK"/>
          </a:p>
        </p:txBody>
      </p:sp>
      <p:sp>
        <p:nvSpPr>
          <p:cNvPr id="3" name="Text Placeholder 2">
            <a:extLst>
              <a:ext uri="{FF2B5EF4-FFF2-40B4-BE49-F238E27FC236}">
                <a16:creationId xmlns:a16="http://schemas.microsoft.com/office/drawing/2014/main" id="{9F261220-9965-553A-3FBE-5CFB9269B9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C71E2B3-DC79-4FC1-1264-6FE3C0B38E4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Text Placeholder 4">
            <a:extLst>
              <a:ext uri="{FF2B5EF4-FFF2-40B4-BE49-F238E27FC236}">
                <a16:creationId xmlns:a16="http://schemas.microsoft.com/office/drawing/2014/main" id="{5C035D89-555A-2965-4019-320DAD43D6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7F0BC30-3C2D-ECC3-D9FA-5E87637A9F4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7" name="Date Placeholder 6">
            <a:extLst>
              <a:ext uri="{FF2B5EF4-FFF2-40B4-BE49-F238E27FC236}">
                <a16:creationId xmlns:a16="http://schemas.microsoft.com/office/drawing/2014/main" id="{EA8D7C32-22F3-6B2D-CFA6-9AC57965F536}"/>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8" name="Footer Placeholder 7">
            <a:extLst>
              <a:ext uri="{FF2B5EF4-FFF2-40B4-BE49-F238E27FC236}">
                <a16:creationId xmlns:a16="http://schemas.microsoft.com/office/drawing/2014/main" id="{5CDE4FCD-3CA5-A057-2762-9B6EADA348BC}"/>
              </a:ext>
            </a:extLst>
          </p:cNvPr>
          <p:cNvSpPr>
            <a:spLocks noGrp="1"/>
          </p:cNvSpPr>
          <p:nvPr>
            <p:ph type="ftr" sz="quarter" idx="11"/>
          </p:nvPr>
        </p:nvSpPr>
        <p:spPr/>
        <p:txBody>
          <a:bodyPr/>
          <a:lstStyle/>
          <a:p>
            <a:endParaRPr lang="en-LK"/>
          </a:p>
        </p:txBody>
      </p:sp>
      <p:sp>
        <p:nvSpPr>
          <p:cNvPr id="9" name="Slide Number Placeholder 8">
            <a:extLst>
              <a:ext uri="{FF2B5EF4-FFF2-40B4-BE49-F238E27FC236}">
                <a16:creationId xmlns:a16="http://schemas.microsoft.com/office/drawing/2014/main" id="{10DEBC54-7082-FDA1-1E72-709ADD9D1304}"/>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3181852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3A9EC-B7DA-17DC-2917-847BF0BE9AF7}"/>
              </a:ext>
            </a:extLst>
          </p:cNvPr>
          <p:cNvSpPr>
            <a:spLocks noGrp="1"/>
          </p:cNvSpPr>
          <p:nvPr>
            <p:ph type="title"/>
          </p:nvPr>
        </p:nvSpPr>
        <p:spPr/>
        <p:txBody>
          <a:bodyPr/>
          <a:lstStyle/>
          <a:p>
            <a:r>
              <a:rPr lang="en-GB"/>
              <a:t>Click to edit Master title style</a:t>
            </a:r>
            <a:endParaRPr lang="en-LK"/>
          </a:p>
        </p:txBody>
      </p:sp>
      <p:sp>
        <p:nvSpPr>
          <p:cNvPr id="3" name="Date Placeholder 2">
            <a:extLst>
              <a:ext uri="{FF2B5EF4-FFF2-40B4-BE49-F238E27FC236}">
                <a16:creationId xmlns:a16="http://schemas.microsoft.com/office/drawing/2014/main" id="{0047B01E-7FB1-D8F6-4C0F-32ADB4E79C08}"/>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4" name="Footer Placeholder 3">
            <a:extLst>
              <a:ext uri="{FF2B5EF4-FFF2-40B4-BE49-F238E27FC236}">
                <a16:creationId xmlns:a16="http://schemas.microsoft.com/office/drawing/2014/main" id="{E8C4714B-DFDD-DB92-E8D0-9064E423BBAC}"/>
              </a:ext>
            </a:extLst>
          </p:cNvPr>
          <p:cNvSpPr>
            <a:spLocks noGrp="1"/>
          </p:cNvSpPr>
          <p:nvPr>
            <p:ph type="ftr" sz="quarter" idx="11"/>
          </p:nvPr>
        </p:nvSpPr>
        <p:spPr/>
        <p:txBody>
          <a:bodyPr/>
          <a:lstStyle/>
          <a:p>
            <a:endParaRPr lang="en-LK"/>
          </a:p>
        </p:txBody>
      </p:sp>
      <p:sp>
        <p:nvSpPr>
          <p:cNvPr id="5" name="Slide Number Placeholder 4">
            <a:extLst>
              <a:ext uri="{FF2B5EF4-FFF2-40B4-BE49-F238E27FC236}">
                <a16:creationId xmlns:a16="http://schemas.microsoft.com/office/drawing/2014/main" id="{BF211930-A4B8-D4AF-693B-6EEDB3718252}"/>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835053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D92D93-133F-98E4-E28F-8F42BF89F31C}"/>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3" name="Footer Placeholder 2">
            <a:extLst>
              <a:ext uri="{FF2B5EF4-FFF2-40B4-BE49-F238E27FC236}">
                <a16:creationId xmlns:a16="http://schemas.microsoft.com/office/drawing/2014/main" id="{BD1D774B-8F45-C739-935F-3567DA9F7955}"/>
              </a:ext>
            </a:extLst>
          </p:cNvPr>
          <p:cNvSpPr>
            <a:spLocks noGrp="1"/>
          </p:cNvSpPr>
          <p:nvPr>
            <p:ph type="ftr" sz="quarter" idx="11"/>
          </p:nvPr>
        </p:nvSpPr>
        <p:spPr/>
        <p:txBody>
          <a:bodyPr/>
          <a:lstStyle/>
          <a:p>
            <a:endParaRPr lang="en-LK"/>
          </a:p>
        </p:txBody>
      </p:sp>
      <p:sp>
        <p:nvSpPr>
          <p:cNvPr id="4" name="Slide Number Placeholder 3">
            <a:extLst>
              <a:ext uri="{FF2B5EF4-FFF2-40B4-BE49-F238E27FC236}">
                <a16:creationId xmlns:a16="http://schemas.microsoft.com/office/drawing/2014/main" id="{F02CC80A-5F61-6010-6E6F-6AD325D6A695}"/>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1077575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5784-FFAA-A6A5-6267-2DFF2B5C034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Content Placeholder 2">
            <a:extLst>
              <a:ext uri="{FF2B5EF4-FFF2-40B4-BE49-F238E27FC236}">
                <a16:creationId xmlns:a16="http://schemas.microsoft.com/office/drawing/2014/main" id="{147BF863-CD72-4DD4-D4BA-4A5FCC9C0E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Text Placeholder 3">
            <a:extLst>
              <a:ext uri="{FF2B5EF4-FFF2-40B4-BE49-F238E27FC236}">
                <a16:creationId xmlns:a16="http://schemas.microsoft.com/office/drawing/2014/main" id="{9D1D7BFB-4E48-8363-2516-C8426200F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083242B-1531-296A-ABCB-3F3DB27B0956}"/>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6" name="Footer Placeholder 5">
            <a:extLst>
              <a:ext uri="{FF2B5EF4-FFF2-40B4-BE49-F238E27FC236}">
                <a16:creationId xmlns:a16="http://schemas.microsoft.com/office/drawing/2014/main" id="{E971140C-DF0A-2187-C135-4B1B4B7DB7CE}"/>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497AC33D-6467-79CB-DDE8-A15306657259}"/>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1445738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532CF-95F5-6A74-37D8-F57184457A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Picture Placeholder 2">
            <a:extLst>
              <a:ext uri="{FF2B5EF4-FFF2-40B4-BE49-F238E27FC236}">
                <a16:creationId xmlns:a16="http://schemas.microsoft.com/office/drawing/2014/main" id="{44DFAE50-5235-F899-5223-BC19281A7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K"/>
          </a:p>
        </p:txBody>
      </p:sp>
      <p:sp>
        <p:nvSpPr>
          <p:cNvPr id="4" name="Text Placeholder 3">
            <a:extLst>
              <a:ext uri="{FF2B5EF4-FFF2-40B4-BE49-F238E27FC236}">
                <a16:creationId xmlns:a16="http://schemas.microsoft.com/office/drawing/2014/main" id="{E89B1DC8-06E5-600B-5F5B-5FC5F510E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DED57AE-957B-F34C-F89D-238E2E74897B}"/>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6" name="Footer Placeholder 5">
            <a:extLst>
              <a:ext uri="{FF2B5EF4-FFF2-40B4-BE49-F238E27FC236}">
                <a16:creationId xmlns:a16="http://schemas.microsoft.com/office/drawing/2014/main" id="{B9B01520-94A6-DDA8-ECC7-01ECA6FEC3BF}"/>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87E0F438-0F87-929C-ACC4-27405185C040}"/>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806114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14A64-A230-C49A-E86C-A8F72DC4EA34}"/>
              </a:ext>
            </a:extLst>
          </p:cNvPr>
          <p:cNvSpPr>
            <a:spLocks noGrp="1"/>
          </p:cNvSpPr>
          <p:nvPr>
            <p:ph type="title"/>
          </p:nvPr>
        </p:nvSpPr>
        <p:spPr/>
        <p:txBody>
          <a:bodyPr/>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D2C4364A-0FA8-4B95-58D3-71057CC2BD6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2EB27FEF-D3A7-081C-AA45-7ED5DBC337A1}"/>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5" name="Footer Placeholder 4">
            <a:extLst>
              <a:ext uri="{FF2B5EF4-FFF2-40B4-BE49-F238E27FC236}">
                <a16:creationId xmlns:a16="http://schemas.microsoft.com/office/drawing/2014/main" id="{B9EB2B81-D3CB-2DF8-1606-87614D5657B8}"/>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52A9816F-23FF-A489-FCAC-9A30D9A59694}"/>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324924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6E42D-49B9-86E7-E43D-B2A09D74671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678A0386-0B49-C613-B5F1-F2EE4B242C8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C2A07284-7287-F6C3-CF2A-035271598426}"/>
              </a:ext>
            </a:extLst>
          </p:cNvPr>
          <p:cNvSpPr>
            <a:spLocks noGrp="1"/>
          </p:cNvSpPr>
          <p:nvPr>
            <p:ph type="dt" sz="half" idx="10"/>
          </p:nvPr>
        </p:nvSpPr>
        <p:spPr/>
        <p:txBody>
          <a:bodyPr/>
          <a:lstStyle/>
          <a:p>
            <a:fld id="{42F43757-9C3F-404B-9C16-2C4AA46CFDA3}" type="datetimeFigureOut">
              <a:rPr lang="en-LK" smtClean="0"/>
              <a:t>2026-10-11</a:t>
            </a:fld>
            <a:endParaRPr lang="en-LK"/>
          </a:p>
        </p:txBody>
      </p:sp>
      <p:sp>
        <p:nvSpPr>
          <p:cNvPr id="5" name="Footer Placeholder 4">
            <a:extLst>
              <a:ext uri="{FF2B5EF4-FFF2-40B4-BE49-F238E27FC236}">
                <a16:creationId xmlns:a16="http://schemas.microsoft.com/office/drawing/2014/main" id="{8F495784-CD37-DC18-6A57-F969D1EB03DB}"/>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1D87AC2B-9263-59F7-8947-6B08632CBB80}"/>
              </a:ext>
            </a:extLst>
          </p:cNvPr>
          <p:cNvSpPr>
            <a:spLocks noGrp="1"/>
          </p:cNvSpPr>
          <p:nvPr>
            <p:ph type="sldNum" sz="quarter" idx="12"/>
          </p:nvPr>
        </p:nvSpPr>
        <p:spPr/>
        <p:txBody>
          <a:bodyPr/>
          <a:lstStyle/>
          <a:p>
            <a:fld id="{0752183A-7CFB-664F-8A14-638C5C5CABB4}" type="slidenum">
              <a:rPr lang="en-LK" smtClean="0"/>
              <a:t>‹#›</a:t>
            </a:fld>
            <a:endParaRPr lang="en-LK"/>
          </a:p>
        </p:txBody>
      </p:sp>
    </p:spTree>
    <p:extLst>
      <p:ext uri="{BB962C8B-B14F-4D97-AF65-F5344CB8AC3E}">
        <p14:creationId xmlns:p14="http://schemas.microsoft.com/office/powerpoint/2010/main" val="143858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273893-1251-DF2A-8000-D8FB961146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LK"/>
          </a:p>
        </p:txBody>
      </p:sp>
      <p:sp>
        <p:nvSpPr>
          <p:cNvPr id="3" name="Text Placeholder 2">
            <a:extLst>
              <a:ext uri="{FF2B5EF4-FFF2-40B4-BE49-F238E27FC236}">
                <a16:creationId xmlns:a16="http://schemas.microsoft.com/office/drawing/2014/main" id="{ACCE84DD-0B48-73AD-C71A-277532AB39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92D84EC8-3216-D50E-F20F-4520076FB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F43757-9C3F-404B-9C16-2C4AA46CFDA3}" type="datetimeFigureOut">
              <a:rPr lang="en-LK" smtClean="0"/>
              <a:t>2026-10-11</a:t>
            </a:fld>
            <a:endParaRPr lang="en-LK"/>
          </a:p>
        </p:txBody>
      </p:sp>
      <p:sp>
        <p:nvSpPr>
          <p:cNvPr id="5" name="Footer Placeholder 4">
            <a:extLst>
              <a:ext uri="{FF2B5EF4-FFF2-40B4-BE49-F238E27FC236}">
                <a16:creationId xmlns:a16="http://schemas.microsoft.com/office/drawing/2014/main" id="{61C277CB-157B-26C0-5641-0B55EE1910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K"/>
          </a:p>
        </p:txBody>
      </p:sp>
      <p:sp>
        <p:nvSpPr>
          <p:cNvPr id="6" name="Slide Number Placeholder 5">
            <a:extLst>
              <a:ext uri="{FF2B5EF4-FFF2-40B4-BE49-F238E27FC236}">
                <a16:creationId xmlns:a16="http://schemas.microsoft.com/office/drawing/2014/main" id="{308CD62E-8849-89D1-AB5A-A13F74102C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52183A-7CFB-664F-8A14-638C5C5CABB4}" type="slidenum">
              <a:rPr lang="en-LK" smtClean="0"/>
              <a:t>‹#›</a:t>
            </a:fld>
            <a:endParaRPr lang="en-LK"/>
          </a:p>
        </p:txBody>
      </p:sp>
    </p:spTree>
    <p:extLst>
      <p:ext uri="{BB962C8B-B14F-4D97-AF65-F5344CB8AC3E}">
        <p14:creationId xmlns:p14="http://schemas.microsoft.com/office/powerpoint/2010/main" val="3436584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bilingualmeetingpoint.blogspot.com/2016/"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wallpaperflare.com/dollar-new-banknote-one-wages-design-currency-paper-wallpaper-aeqlp" TargetMode="External"/><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643312-1A86-C80F-3FE8-18CBCD3F35DB}"/>
              </a:ext>
            </a:extLst>
          </p:cNvPr>
          <p:cNvSpPr>
            <a:spLocks noGrp="1"/>
          </p:cNvSpPr>
          <p:nvPr>
            <p:ph type="ctrTitle"/>
          </p:nvPr>
        </p:nvSpPr>
        <p:spPr>
          <a:xfrm>
            <a:off x="1524003" y="1999615"/>
            <a:ext cx="9144000" cy="2764028"/>
          </a:xfrm>
        </p:spPr>
        <p:txBody>
          <a:bodyPr anchor="ctr">
            <a:normAutofit/>
          </a:bodyPr>
          <a:lstStyle/>
          <a:p>
            <a:r>
              <a:rPr lang="en-LK" sz="7200" b="1" dirty="0">
                <a:latin typeface="Times New Roman" panose="02020603050405020304" pitchFamily="18" charset="0"/>
                <a:cs typeface="Times New Roman" panose="02020603050405020304" pitchFamily="18" charset="0"/>
              </a:rPr>
              <a:t>Basic Concept of Macroeconomics</a:t>
            </a:r>
          </a:p>
        </p:txBody>
      </p:sp>
      <p:sp>
        <p:nvSpPr>
          <p:cNvPr id="4" name="Rectangle 5">
            <a:extLst>
              <a:ext uri="{FF2B5EF4-FFF2-40B4-BE49-F238E27FC236}">
                <a16:creationId xmlns:a16="http://schemas.microsoft.com/office/drawing/2014/main" id="{50C9DFFA-99B9-E2F8-088E-FE1279A22878}"/>
              </a:ext>
            </a:extLst>
          </p:cNvPr>
          <p:cNvSpPr>
            <a:spLocks noGrp="1" noChangeArrowheads="1"/>
          </p:cNvSpPr>
          <p:nvPr>
            <p:ph type="subTitle" idx="1"/>
          </p:nvPr>
        </p:nvSpPr>
        <p:spPr>
          <a:xfrm>
            <a:off x="1966912" y="5702302"/>
            <a:ext cx="8258176" cy="631825"/>
          </a:xfrm>
        </p:spPr>
        <p:txBody>
          <a:bodyPr anchor="ctr">
            <a:normAutofit lnSpcReduction="10000"/>
          </a:bodyPr>
          <a:lstStyle/>
          <a:p>
            <a:pPr eaLnBrk="1" hangingPunct="1"/>
            <a:r>
              <a:rPr lang="en-LK" altLang="en-LK" sz="1600" b="1" dirty="0">
                <a:latin typeface="Times New Roman" panose="02020603050405020304" pitchFamily="18" charset="0"/>
                <a:cs typeface="Times New Roman" panose="02020603050405020304" pitchFamily="18" charset="0"/>
              </a:rPr>
              <a:t>Chathuranga Adhikari</a:t>
            </a:r>
          </a:p>
          <a:p>
            <a:pPr eaLnBrk="1" hangingPunct="1"/>
            <a:r>
              <a:rPr lang="en-LK" altLang="en-LK" sz="1600" b="1" i="1">
                <a:latin typeface="Times New Roman" panose="02020603050405020304" pitchFamily="18" charset="0"/>
                <a:cs typeface="Times New Roman" panose="02020603050405020304" pitchFamily="18" charset="0"/>
              </a:rPr>
              <a:t> B</a:t>
            </a:r>
            <a:r>
              <a:rPr lang="en-LK" altLang="en-LK" sz="1600" b="1" i="1" dirty="0">
                <a:latin typeface="Times New Roman" panose="02020603050405020304" pitchFamily="18" charset="0"/>
                <a:cs typeface="Times New Roman" panose="02020603050405020304" pitchFamily="18" charset="0"/>
              </a:rPr>
              <a:t>.com (Sp)(Hons), M</a:t>
            </a:r>
            <a:r>
              <a:rPr lang="en-LK" altLang="en-LK" sz="1600" b="1" i="1">
                <a:latin typeface="Times New Roman" panose="02020603050405020304" pitchFamily="18" charset="0"/>
                <a:cs typeface="Times New Roman" panose="02020603050405020304" pitchFamily="18" charset="0"/>
              </a:rPr>
              <a:t>.com</a:t>
            </a:r>
            <a:endParaRPr lang="en-LK" altLang="en-LK" sz="1600" i="1" dirty="0">
              <a:latin typeface="Times New Roman" panose="02020603050405020304" pitchFamily="18" charset="0"/>
              <a:cs typeface="Times New Roman" panose="02020603050405020304" pitchFamily="18" charset="0"/>
            </a:endParaRPr>
          </a:p>
          <a:p>
            <a:pPr eaLnBrk="1" hangingPunct="1"/>
            <a:endParaRPr lang="en-US" altLang="en-US" sz="1500" dirty="0"/>
          </a:p>
        </p:txBody>
      </p:sp>
      <p:sp>
        <p:nvSpPr>
          <p:cNvPr id="15" name="Rectangle 14">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73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D861F1-F386-4A7D-A4BF-3BEB82DEB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684398"/>
            <a:ext cx="11167447" cy="5206040"/>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3EFF8C-BDAF-8AA4-A681-8892D67E6664}"/>
              </a:ext>
            </a:extLst>
          </p:cNvPr>
          <p:cNvSpPr>
            <a:spLocks noGrp="1"/>
          </p:cNvSpPr>
          <p:nvPr>
            <p:ph type="title"/>
          </p:nvPr>
        </p:nvSpPr>
        <p:spPr>
          <a:xfrm>
            <a:off x="1115568" y="1408153"/>
            <a:ext cx="10168128" cy="1315035"/>
          </a:xfrm>
        </p:spPr>
        <p:txBody>
          <a:bodyPr>
            <a:normAutofit/>
          </a:bodyPr>
          <a:lstStyle/>
          <a:p>
            <a:r>
              <a:rPr lang="en-LK" sz="4000" b="1" dirty="0">
                <a:latin typeface="Times New Roman" panose="02020603050405020304" pitchFamily="18" charset="0"/>
                <a:cs typeface="Times New Roman" panose="02020603050405020304" pitchFamily="18" charset="0"/>
              </a:rPr>
              <a:t>Learning Outcomes</a:t>
            </a:r>
          </a:p>
        </p:txBody>
      </p:sp>
      <p:sp>
        <p:nvSpPr>
          <p:cNvPr id="12" name="Rectangle 11">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7136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E3BF35C-2883-E444-B9C4-16936E78DBAB}"/>
              </a:ext>
            </a:extLst>
          </p:cNvPr>
          <p:cNvSpPr>
            <a:spLocks noGrp="1"/>
          </p:cNvSpPr>
          <p:nvPr>
            <p:ph idx="1"/>
          </p:nvPr>
        </p:nvSpPr>
        <p:spPr>
          <a:xfrm>
            <a:off x="1115568" y="2962656"/>
            <a:ext cx="10168128" cy="2624328"/>
          </a:xfrm>
        </p:spPr>
        <p:txBody>
          <a:bodyPr>
            <a:normAutofit/>
          </a:bodyPr>
          <a:lstStyle/>
          <a:p>
            <a:r>
              <a:rPr lang="en-GB" dirty="0">
                <a:effectLst/>
                <a:latin typeface="Times New Roman" panose="02020603050405020304" pitchFamily="18" charset="0"/>
                <a:cs typeface="Times New Roman" panose="02020603050405020304" pitchFamily="18" charset="0"/>
              </a:rPr>
              <a:t>To understand the meaning of Macroeconomics </a:t>
            </a:r>
          </a:p>
          <a:p>
            <a:r>
              <a:rPr lang="en-GB" dirty="0">
                <a:effectLst/>
                <a:latin typeface="Times New Roman" panose="02020603050405020304" pitchFamily="18" charset="0"/>
                <a:cs typeface="Times New Roman" panose="02020603050405020304" pitchFamily="18" charset="0"/>
              </a:rPr>
              <a:t>To understand the scope of Macroeconomics</a:t>
            </a:r>
          </a:p>
          <a:p>
            <a:r>
              <a:rPr lang="en-GB" dirty="0">
                <a:effectLst/>
                <a:latin typeface="Times New Roman" panose="02020603050405020304" pitchFamily="18" charset="0"/>
                <a:cs typeface="Times New Roman" panose="02020603050405020304" pitchFamily="18" charset="0"/>
              </a:rPr>
              <a:t>To understand the importance of Macroeconomics </a:t>
            </a:r>
            <a:endParaRPr lang="en-GB" dirty="0">
              <a:latin typeface="Times New Roman" panose="02020603050405020304" pitchFamily="18" charset="0"/>
              <a:cs typeface="Times New Roman" panose="02020603050405020304" pitchFamily="18" charset="0"/>
            </a:endParaRPr>
          </a:p>
          <a:p>
            <a:endParaRPr lang="en-LK" sz="2000" dirty="0"/>
          </a:p>
        </p:txBody>
      </p:sp>
    </p:spTree>
    <p:extLst>
      <p:ext uri="{BB962C8B-B14F-4D97-AF65-F5344CB8AC3E}">
        <p14:creationId xmlns:p14="http://schemas.microsoft.com/office/powerpoint/2010/main" val="266906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D861F1-F386-4A7D-A4BF-3BEB82DEB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684398"/>
            <a:ext cx="11167447" cy="5206040"/>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BF4434-FE35-FE13-EA0E-560AB20A4CAC}"/>
              </a:ext>
            </a:extLst>
          </p:cNvPr>
          <p:cNvSpPr>
            <a:spLocks noGrp="1"/>
          </p:cNvSpPr>
          <p:nvPr>
            <p:ph type="title"/>
          </p:nvPr>
        </p:nvSpPr>
        <p:spPr>
          <a:xfrm>
            <a:off x="1115568" y="1121070"/>
            <a:ext cx="10168128" cy="1315035"/>
          </a:xfrm>
        </p:spPr>
        <p:txBody>
          <a:bodyPr>
            <a:normAutofit/>
          </a:bodyPr>
          <a:lstStyle/>
          <a:p>
            <a:r>
              <a:rPr lang="en-LK" sz="4000" b="1" dirty="0">
                <a:latin typeface="Times New Roman" panose="02020603050405020304" pitchFamily="18" charset="0"/>
                <a:cs typeface="Times New Roman" panose="02020603050405020304" pitchFamily="18" charset="0"/>
              </a:rPr>
              <a:t>Definition of Macroeconomics</a:t>
            </a:r>
          </a:p>
        </p:txBody>
      </p:sp>
      <p:sp>
        <p:nvSpPr>
          <p:cNvPr id="12" name="Rectangle 11">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7136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4161572-A1B3-C1D0-5119-048F303CB954}"/>
              </a:ext>
            </a:extLst>
          </p:cNvPr>
          <p:cNvSpPr>
            <a:spLocks noGrp="1"/>
          </p:cNvSpPr>
          <p:nvPr>
            <p:ph idx="1"/>
          </p:nvPr>
        </p:nvSpPr>
        <p:spPr>
          <a:xfrm>
            <a:off x="908304" y="2265988"/>
            <a:ext cx="10638654" cy="3262942"/>
          </a:xfrm>
        </p:spPr>
        <p:txBody>
          <a:bodyPr>
            <a:normAutofit fontScale="92500"/>
          </a:bodyPr>
          <a:lstStyle/>
          <a:p>
            <a:pPr algn="just"/>
            <a:r>
              <a:rPr lang="en-GB" sz="2400" dirty="0">
                <a:latin typeface="Times New Roman" panose="02020603050405020304" pitchFamily="18" charset="0"/>
                <a:cs typeface="Times New Roman" panose="02020603050405020304" pitchFamily="18" charset="0"/>
              </a:rPr>
              <a:t>Macroeconomics deals with the total or aggregate level of output, the aggregate level of consumption, the aggregate level of investment, the aggregate level of employment, and the general price level in the economy.</a:t>
            </a:r>
          </a:p>
          <a:p>
            <a:pPr algn="just"/>
            <a:r>
              <a:rPr lang="en-GB" sz="2400" dirty="0">
                <a:effectLst/>
                <a:latin typeface="Times New Roman" panose="02020603050405020304" pitchFamily="18" charset="0"/>
                <a:cs typeface="Times New Roman" panose="02020603050405020304" pitchFamily="18" charset="0"/>
              </a:rPr>
              <a:t>Macroeconomics is the study of the </a:t>
            </a:r>
            <a:r>
              <a:rPr lang="en-GB" sz="2400" dirty="0" err="1">
                <a:effectLst/>
                <a:latin typeface="Times New Roman" panose="02020603050405020304" pitchFamily="18" charset="0"/>
                <a:cs typeface="Times New Roman" panose="02020603050405020304" pitchFamily="18" charset="0"/>
              </a:rPr>
              <a:t>behavior</a:t>
            </a:r>
            <a:r>
              <a:rPr lang="en-GB" sz="2400" dirty="0">
                <a:effectLst/>
                <a:latin typeface="Times New Roman" panose="02020603050405020304" pitchFamily="18" charset="0"/>
                <a:cs typeface="Times New Roman" panose="02020603050405020304" pitchFamily="18" charset="0"/>
              </a:rPr>
              <a:t> of the economy as a whole. It examines the overall level of a nation’s output, employment, prices, and foreign trade. </a:t>
            </a:r>
          </a:p>
          <a:p>
            <a:pPr algn="just"/>
            <a:r>
              <a:rPr lang="en-GB" sz="2400" dirty="0">
                <a:latin typeface="Times New Roman" panose="02020603050405020304" pitchFamily="18" charset="0"/>
                <a:cs typeface="Times New Roman" panose="02020603050405020304" pitchFamily="18" charset="0"/>
              </a:rPr>
              <a:t>Macroeconomics (from the Greek prefix </a:t>
            </a:r>
            <a:r>
              <a:rPr lang="en-GB" sz="2400" dirty="0" err="1">
                <a:latin typeface="Times New Roman" panose="02020603050405020304" pitchFamily="18" charset="0"/>
                <a:cs typeface="Times New Roman" panose="02020603050405020304" pitchFamily="18" charset="0"/>
              </a:rPr>
              <a:t>makro</a:t>
            </a:r>
            <a:r>
              <a:rPr lang="en-GB" sz="2400" dirty="0">
                <a:latin typeface="Times New Roman" panose="02020603050405020304" pitchFamily="18" charset="0"/>
                <a:cs typeface="Times New Roman" panose="02020603050405020304" pitchFamily="18" charset="0"/>
              </a:rPr>
              <a:t>- meaning "large" and economics) is a branch of economics dealing with the performance, structure, </a:t>
            </a:r>
            <a:r>
              <a:rPr lang="en-GB" sz="2400" dirty="0" err="1">
                <a:latin typeface="Times New Roman" panose="02020603050405020304" pitchFamily="18" charset="0"/>
                <a:cs typeface="Times New Roman" panose="02020603050405020304" pitchFamily="18" charset="0"/>
              </a:rPr>
              <a:t>behavior</a:t>
            </a:r>
            <a:r>
              <a:rPr lang="en-GB" sz="2400" dirty="0">
                <a:latin typeface="Times New Roman" panose="02020603050405020304" pitchFamily="18" charset="0"/>
                <a:cs typeface="Times New Roman" panose="02020603050405020304" pitchFamily="18" charset="0"/>
              </a:rPr>
              <a:t>, and decision-making of an economy as a whole, rather than individual markets. This includes national, regional, and global economies</a:t>
            </a:r>
            <a:endParaRPr lang="en-L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997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D861F1-F386-4A7D-A4BF-3BEB82DEB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684398"/>
            <a:ext cx="11167447" cy="5206040"/>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455DD4-1E8C-285E-98EE-6DDF3228644C}"/>
              </a:ext>
            </a:extLst>
          </p:cNvPr>
          <p:cNvSpPr>
            <a:spLocks noGrp="1"/>
          </p:cNvSpPr>
          <p:nvPr>
            <p:ph type="title"/>
          </p:nvPr>
        </p:nvSpPr>
        <p:spPr>
          <a:xfrm>
            <a:off x="1115568" y="1408153"/>
            <a:ext cx="10168128" cy="1315035"/>
          </a:xfrm>
        </p:spPr>
        <p:txBody>
          <a:bodyPr>
            <a:normAutofit/>
          </a:bodyPr>
          <a:lstStyle/>
          <a:p>
            <a:r>
              <a:rPr lang="en-LK" sz="4000" b="1" dirty="0">
                <a:latin typeface="Times New Roman" panose="02020603050405020304" pitchFamily="18" charset="0"/>
                <a:cs typeface="Times New Roman" panose="02020603050405020304" pitchFamily="18" charset="0"/>
              </a:rPr>
              <a:t>Macroeconomic Concerns</a:t>
            </a:r>
          </a:p>
        </p:txBody>
      </p:sp>
      <p:sp>
        <p:nvSpPr>
          <p:cNvPr id="12" name="Rectangle 11">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7136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B64B5E5-3235-91CC-9AB4-4E3D1DB0D4E6}"/>
              </a:ext>
            </a:extLst>
          </p:cNvPr>
          <p:cNvSpPr>
            <a:spLocks noGrp="1"/>
          </p:cNvSpPr>
          <p:nvPr>
            <p:ph idx="1"/>
          </p:nvPr>
        </p:nvSpPr>
        <p:spPr>
          <a:xfrm>
            <a:off x="1115568" y="2962656"/>
            <a:ext cx="10168128" cy="2624328"/>
          </a:xfrm>
        </p:spPr>
        <p:txBody>
          <a:bodyPr>
            <a:normAutofit/>
          </a:bodyPr>
          <a:lstStyle/>
          <a:p>
            <a:pPr marL="0" indent="0">
              <a:buNone/>
            </a:pPr>
            <a:r>
              <a:rPr lang="en-LK" sz="3200" dirty="0">
                <a:latin typeface="Times New Roman" panose="02020603050405020304" pitchFamily="18" charset="0"/>
                <a:cs typeface="Times New Roman" panose="02020603050405020304" pitchFamily="18" charset="0"/>
              </a:rPr>
              <a:t>Three of the major concerns of macroeconomics are:</a:t>
            </a:r>
          </a:p>
          <a:p>
            <a:r>
              <a:rPr lang="en-GB" sz="3200" dirty="0">
                <a:latin typeface="Times New Roman" panose="02020603050405020304" pitchFamily="18" charset="0"/>
                <a:cs typeface="Times New Roman" panose="02020603050405020304" pitchFamily="18" charset="0"/>
              </a:rPr>
              <a:t>U</a:t>
            </a:r>
            <a:r>
              <a:rPr lang="en-LK" sz="3200" dirty="0">
                <a:latin typeface="Times New Roman" panose="02020603050405020304" pitchFamily="18" charset="0"/>
                <a:cs typeface="Times New Roman" panose="02020603050405020304" pitchFamily="18" charset="0"/>
              </a:rPr>
              <a:t>nemployment</a:t>
            </a:r>
          </a:p>
          <a:p>
            <a:r>
              <a:rPr lang="en-LK" sz="3200" dirty="0">
                <a:latin typeface="Times New Roman" panose="02020603050405020304" pitchFamily="18" charset="0"/>
                <a:cs typeface="Times New Roman" panose="02020603050405020304" pitchFamily="18" charset="0"/>
              </a:rPr>
              <a:t>Inflation</a:t>
            </a:r>
          </a:p>
          <a:p>
            <a:r>
              <a:rPr lang="en-GB" sz="3200" dirty="0">
                <a:latin typeface="Times New Roman" panose="02020603050405020304" pitchFamily="18" charset="0"/>
                <a:cs typeface="Times New Roman" panose="02020603050405020304" pitchFamily="18" charset="0"/>
              </a:rPr>
              <a:t>O</a:t>
            </a:r>
            <a:r>
              <a:rPr lang="en-LK" sz="3200" dirty="0">
                <a:latin typeface="Times New Roman" panose="02020603050405020304" pitchFamily="18" charset="0"/>
                <a:cs typeface="Times New Roman" panose="02020603050405020304" pitchFamily="18" charset="0"/>
              </a:rPr>
              <a:t>utput growth</a:t>
            </a:r>
          </a:p>
        </p:txBody>
      </p:sp>
    </p:spTree>
    <p:extLst>
      <p:ext uri="{BB962C8B-B14F-4D97-AF65-F5344CB8AC3E}">
        <p14:creationId xmlns:p14="http://schemas.microsoft.com/office/powerpoint/2010/main" val="3964687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F11677-E09D-6F7C-B96A-28716944EED7}"/>
              </a:ext>
            </a:extLst>
          </p:cNvPr>
          <p:cNvSpPr>
            <a:spLocks noGrp="1"/>
          </p:cNvSpPr>
          <p:nvPr>
            <p:ph type="title"/>
          </p:nvPr>
        </p:nvSpPr>
        <p:spPr>
          <a:xfrm>
            <a:off x="1115568" y="548640"/>
            <a:ext cx="10168128" cy="1179576"/>
          </a:xfrm>
        </p:spPr>
        <p:txBody>
          <a:bodyPr>
            <a:normAutofit/>
          </a:bodyPr>
          <a:lstStyle/>
          <a:p>
            <a:r>
              <a:rPr lang="en-LK" sz="4000" b="1" dirty="0">
                <a:latin typeface="Times New Roman" panose="02020603050405020304" pitchFamily="18" charset="0"/>
                <a:cs typeface="Times New Roman" panose="02020603050405020304" pitchFamily="18" charset="0"/>
              </a:rPr>
              <a:t>1. Unemployment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77C4CFC-8B44-228C-1A03-79E2FA40BFBD}"/>
              </a:ext>
            </a:extLst>
          </p:cNvPr>
          <p:cNvSpPr>
            <a:spLocks noGrp="1"/>
          </p:cNvSpPr>
          <p:nvPr>
            <p:ph idx="1"/>
          </p:nvPr>
        </p:nvSpPr>
        <p:spPr>
          <a:xfrm>
            <a:off x="1115568" y="2481943"/>
            <a:ext cx="10168128" cy="3695020"/>
          </a:xfrm>
        </p:spPr>
        <p:txBody>
          <a:bodyPr>
            <a:normAutofit/>
          </a:bodyPr>
          <a:lstStyle/>
          <a:p>
            <a:pPr algn="just"/>
            <a:r>
              <a:rPr lang="en-GB" dirty="0">
                <a:latin typeface="Times New Roman" panose="02020603050405020304" pitchFamily="18" charset="0"/>
                <a:cs typeface="Times New Roman" panose="02020603050405020304" pitchFamily="18" charset="0"/>
              </a:rPr>
              <a:t>Unemployment refers to the situation where the population of a country does not find work to earn their livelihood.</a:t>
            </a:r>
          </a:p>
          <a:p>
            <a:pPr algn="just"/>
            <a:r>
              <a:rPr lang="en-GB" dirty="0">
                <a:latin typeface="Times New Roman" panose="02020603050405020304" pitchFamily="18" charset="0"/>
                <a:cs typeface="Times New Roman" panose="02020603050405020304" pitchFamily="18" charset="0"/>
              </a:rPr>
              <a:t>Unemployment represents the ratio of the </a:t>
            </a:r>
            <a:r>
              <a:rPr lang="en-GB" dirty="0" err="1">
                <a:latin typeface="Times New Roman" panose="02020603050405020304" pitchFamily="18" charset="0"/>
                <a:cs typeface="Times New Roman" panose="02020603050405020304" pitchFamily="18" charset="0"/>
              </a:rPr>
              <a:t>labor</a:t>
            </a:r>
            <a:r>
              <a:rPr lang="en-GB" dirty="0">
                <a:latin typeface="Times New Roman" panose="02020603050405020304" pitchFamily="18" charset="0"/>
                <a:cs typeface="Times New Roman" panose="02020603050405020304" pitchFamily="18" charset="0"/>
              </a:rPr>
              <a:t> force which fails to get employment.</a:t>
            </a:r>
          </a:p>
          <a:p>
            <a:pPr algn="just"/>
            <a:r>
              <a:rPr lang="en-GB" dirty="0">
                <a:latin typeface="Times New Roman" panose="02020603050405020304" pitchFamily="18" charset="0"/>
                <a:cs typeface="Times New Roman" panose="02020603050405020304" pitchFamily="18" charset="0"/>
              </a:rPr>
              <a:t>The unemployment rate is a key indicator of the economy’s health.</a:t>
            </a:r>
          </a:p>
          <a:p>
            <a:pPr algn="just"/>
            <a:r>
              <a:rPr lang="en-GB" dirty="0">
                <a:latin typeface="Times New Roman" panose="02020603050405020304" pitchFamily="18" charset="0"/>
                <a:cs typeface="Times New Roman" panose="02020603050405020304" pitchFamily="18" charset="0"/>
              </a:rPr>
              <a:t>The existence of unemployment seems to imply that the aggregate </a:t>
            </a:r>
            <a:r>
              <a:rPr lang="en-GB" dirty="0" err="1">
                <a:latin typeface="Times New Roman" panose="02020603050405020304" pitchFamily="18" charset="0"/>
                <a:cs typeface="Times New Roman" panose="02020603050405020304" pitchFamily="18" charset="0"/>
              </a:rPr>
              <a:t>labor</a:t>
            </a:r>
            <a:r>
              <a:rPr lang="en-GB" dirty="0">
                <a:latin typeface="Times New Roman" panose="02020603050405020304" pitchFamily="18" charset="0"/>
                <a:cs typeface="Times New Roman" panose="02020603050405020304" pitchFamily="18" charset="0"/>
              </a:rPr>
              <a:t> market is not in equilibrium.</a:t>
            </a:r>
            <a:endParaRPr lang="en-L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1831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2CBE37-8672-7397-49CE-68429127C311}"/>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tx1"/>
                </a:solidFill>
                <a:latin typeface="Times New Roman" panose="02020603050405020304" pitchFamily="18" charset="0"/>
                <a:cs typeface="Times New Roman" panose="02020603050405020304" pitchFamily="18" charset="0"/>
              </a:rPr>
              <a:t>Unemployment</a:t>
            </a:r>
          </a:p>
        </p:txBody>
      </p:sp>
      <p:sp>
        <p:nvSpPr>
          <p:cNvPr id="2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BFD5559-457F-EC33-C574-A78F5A88EBCA}"/>
              </a:ext>
            </a:extLst>
          </p:cNvPr>
          <p:cNvPicPr>
            <a:picLocks noChangeAspect="1"/>
          </p:cNvPicPr>
          <p:nvPr/>
        </p:nvPicPr>
        <p:blipFill>
          <a:blip r:embed="rId2"/>
          <a:srcRect t="3961" r="2" b="3953"/>
          <a:stretch>
            <a:fillRect/>
          </a:stretch>
        </p:blipFill>
        <p:spPr>
          <a:xfrm>
            <a:off x="2999338" y="2318678"/>
            <a:ext cx="6675694" cy="4103458"/>
          </a:xfrm>
          <a:prstGeom prst="rect">
            <a:avLst/>
          </a:prstGeom>
        </p:spPr>
      </p:pic>
    </p:spTree>
    <p:extLst>
      <p:ext uri="{BB962C8B-B14F-4D97-AF65-F5344CB8AC3E}">
        <p14:creationId xmlns:p14="http://schemas.microsoft.com/office/powerpoint/2010/main" val="1976184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6" name="Rectangle 7175">
            <a:extLst>
              <a:ext uri="{FF2B5EF4-FFF2-40B4-BE49-F238E27FC236}">
                <a16:creationId xmlns:a16="http://schemas.microsoft.com/office/drawing/2014/main" id="{B6D861F1-F386-4A7D-A4BF-3BEB82DEB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178" name="Rectangle 7177">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684398"/>
            <a:ext cx="11167447" cy="5206040"/>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70" name="Title 1">
            <a:extLst>
              <a:ext uri="{FF2B5EF4-FFF2-40B4-BE49-F238E27FC236}">
                <a16:creationId xmlns:a16="http://schemas.microsoft.com/office/drawing/2014/main" id="{DC811A36-4452-4111-9C73-08947857AC68}"/>
              </a:ext>
            </a:extLst>
          </p:cNvPr>
          <p:cNvSpPr>
            <a:spLocks noGrp="1" noChangeArrowheads="1"/>
          </p:cNvSpPr>
          <p:nvPr>
            <p:ph type="title"/>
          </p:nvPr>
        </p:nvSpPr>
        <p:spPr>
          <a:xfrm>
            <a:off x="1115568" y="1408153"/>
            <a:ext cx="10168128" cy="1315035"/>
          </a:xfrm>
        </p:spPr>
        <p:txBody>
          <a:bodyPr>
            <a:normAutofit/>
          </a:bodyPr>
          <a:lstStyle/>
          <a:p>
            <a:r>
              <a:rPr lang="en-US" altLang="en-US" sz="4000" b="1" dirty="0">
                <a:latin typeface="Times New Roman" panose="02020603050405020304" pitchFamily="18" charset="0"/>
                <a:cs typeface="Times New Roman" panose="02020603050405020304" pitchFamily="18" charset="0"/>
              </a:rPr>
              <a:t>Why Unemployment is a Problem</a:t>
            </a:r>
          </a:p>
        </p:txBody>
      </p:sp>
      <p:sp>
        <p:nvSpPr>
          <p:cNvPr id="7180" name="Rectangle 7179">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7136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171" name="Content Placeholder 2">
            <a:extLst>
              <a:ext uri="{FF2B5EF4-FFF2-40B4-BE49-F238E27FC236}">
                <a16:creationId xmlns:a16="http://schemas.microsoft.com/office/drawing/2014/main" id="{1570FA41-FE01-0492-22B2-0B0472D3CB3E}"/>
              </a:ext>
            </a:extLst>
          </p:cNvPr>
          <p:cNvSpPr>
            <a:spLocks noGrp="1" noChangeArrowheads="1"/>
          </p:cNvSpPr>
          <p:nvPr>
            <p:ph idx="1"/>
          </p:nvPr>
        </p:nvSpPr>
        <p:spPr>
          <a:xfrm>
            <a:off x="1058416" y="2634040"/>
            <a:ext cx="10168128" cy="2624328"/>
          </a:xfrm>
        </p:spPr>
        <p:txBody>
          <a:bodyPr>
            <a:normAutofit lnSpcReduction="10000"/>
          </a:bodyPr>
          <a:lstStyle/>
          <a:p>
            <a:pPr>
              <a:buFont typeface="Wingdings" pitchFamily="2" charset="2"/>
              <a:buChar char="Ø"/>
            </a:pPr>
            <a:r>
              <a:rPr lang="en-US" altLang="en-US" sz="2400" dirty="0">
                <a:latin typeface="Times New Roman" panose="02020603050405020304" pitchFamily="18" charset="0"/>
                <a:cs typeface="Times New Roman" panose="02020603050405020304" pitchFamily="18" charset="0"/>
              </a:rPr>
              <a:t>Unemployment results in </a:t>
            </a:r>
          </a:p>
          <a:p>
            <a:pPr lvl="1">
              <a:buFont typeface="Wingdings" pitchFamily="2" charset="2"/>
              <a:buChar char="ü"/>
            </a:pPr>
            <a:r>
              <a:rPr lang="en-US" altLang="en-US" sz="2000" dirty="0">
                <a:latin typeface="Times New Roman" panose="02020603050405020304" pitchFamily="18" charset="0"/>
                <a:cs typeface="Times New Roman" panose="02020603050405020304" pitchFamily="18" charset="0"/>
              </a:rPr>
              <a:t>Lost incomes and production </a:t>
            </a:r>
          </a:p>
          <a:p>
            <a:pPr lvl="1">
              <a:buFont typeface="Wingdings" pitchFamily="2" charset="2"/>
              <a:buChar char="ü"/>
            </a:pPr>
            <a:r>
              <a:rPr lang="en-US" altLang="en-US" sz="2000" dirty="0">
                <a:latin typeface="Times New Roman" panose="02020603050405020304" pitchFamily="18" charset="0"/>
                <a:cs typeface="Times New Roman" panose="02020603050405020304" pitchFamily="18" charset="0"/>
              </a:rPr>
              <a:t>Lost human capital </a:t>
            </a:r>
          </a:p>
          <a:p>
            <a:pPr>
              <a:buFont typeface="Wingdings" pitchFamily="2" charset="2"/>
              <a:buChar char="Ø"/>
            </a:pPr>
            <a:r>
              <a:rPr lang="en-US" altLang="en-US" sz="2400" dirty="0">
                <a:latin typeface="Times New Roman" panose="02020603050405020304" pitchFamily="18" charset="0"/>
                <a:cs typeface="Times New Roman" panose="02020603050405020304" pitchFamily="18" charset="0"/>
              </a:rPr>
              <a:t>The loss of income, and employment benefits create a safety net but don’t fully replace lost wages, and not everyone receives benefits. </a:t>
            </a:r>
          </a:p>
          <a:p>
            <a:pPr>
              <a:buFont typeface="Wingdings" pitchFamily="2" charset="2"/>
              <a:buChar char="Ø"/>
            </a:pPr>
            <a:r>
              <a:rPr lang="en-US" altLang="en-US" sz="2400" dirty="0">
                <a:latin typeface="Times New Roman" panose="02020603050405020304" pitchFamily="18" charset="0"/>
                <a:cs typeface="Times New Roman" panose="02020603050405020304" pitchFamily="18" charset="0"/>
              </a:rPr>
              <a:t>Prolonged unemployment permanently damages a person’s job prospects by destroying human capital.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0" name="Rectangle 819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202" name="Rectangle 820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04" name="Rectangle 820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94" name="Title 1">
            <a:extLst>
              <a:ext uri="{FF2B5EF4-FFF2-40B4-BE49-F238E27FC236}">
                <a16:creationId xmlns:a16="http://schemas.microsoft.com/office/drawing/2014/main" id="{95E221A0-D9DD-20E7-D51A-4E8FF86FBAB2}"/>
              </a:ext>
            </a:extLst>
          </p:cNvPr>
          <p:cNvSpPr>
            <a:spLocks noGrp="1" noChangeArrowheads="1"/>
          </p:cNvSpPr>
          <p:nvPr>
            <p:ph type="title"/>
          </p:nvPr>
        </p:nvSpPr>
        <p:spPr>
          <a:xfrm>
            <a:off x="1115568" y="548640"/>
            <a:ext cx="10168128" cy="1179576"/>
          </a:xfrm>
        </p:spPr>
        <p:txBody>
          <a:bodyPr>
            <a:normAutofit/>
          </a:bodyPr>
          <a:lstStyle/>
          <a:p>
            <a:r>
              <a:rPr lang="en-US" altLang="en-US" sz="4000" b="1">
                <a:latin typeface="Times New Roman" panose="02020603050405020304" pitchFamily="18" charset="0"/>
                <a:cs typeface="Times New Roman" panose="02020603050405020304" pitchFamily="18" charset="0"/>
              </a:rPr>
              <a:t>Employment and Unemployment</a:t>
            </a:r>
          </a:p>
        </p:txBody>
      </p:sp>
      <p:sp>
        <p:nvSpPr>
          <p:cNvPr id="8206" name="Rectangle 820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195" name="Content Placeholder 2">
            <a:extLst>
              <a:ext uri="{FF2B5EF4-FFF2-40B4-BE49-F238E27FC236}">
                <a16:creationId xmlns:a16="http://schemas.microsoft.com/office/drawing/2014/main" id="{C44F89FE-0D30-8F8A-64EE-15C3D3C35133}"/>
              </a:ext>
            </a:extLst>
          </p:cNvPr>
          <p:cNvSpPr>
            <a:spLocks noGrp="1" noChangeArrowheads="1"/>
          </p:cNvSpPr>
          <p:nvPr>
            <p:ph idx="1"/>
          </p:nvPr>
        </p:nvSpPr>
        <p:spPr>
          <a:xfrm>
            <a:off x="1115568" y="2481943"/>
            <a:ext cx="10168128" cy="3695020"/>
          </a:xfrm>
        </p:spPr>
        <p:txBody>
          <a:bodyPr>
            <a:normAutofit/>
          </a:bodyPr>
          <a:lstStyle/>
          <a:p>
            <a:pPr>
              <a:buFont typeface="Wingdings" pitchFamily="2" charset="2"/>
              <a:buChar char="Ø"/>
            </a:pPr>
            <a:r>
              <a:rPr lang="en-US" altLang="en-US" dirty="0">
                <a:latin typeface="Times New Roman" panose="02020603050405020304" pitchFamily="18" charset="0"/>
                <a:cs typeface="Times New Roman" panose="02020603050405020304" pitchFamily="18" charset="0"/>
              </a:rPr>
              <a:t>The working-age population is divided into two groups: </a:t>
            </a:r>
          </a:p>
          <a:p>
            <a:pPr>
              <a:buFont typeface="Wingdings" pitchFamily="2" charset="2"/>
              <a:buChar char="ü"/>
            </a:pPr>
            <a:r>
              <a:rPr lang="en-US" altLang="en-US" dirty="0">
                <a:latin typeface="Times New Roman" panose="02020603050405020304" pitchFamily="18" charset="0"/>
                <a:cs typeface="Times New Roman" panose="02020603050405020304" pitchFamily="18" charset="0"/>
              </a:rPr>
              <a:t>People in the labor force</a:t>
            </a:r>
          </a:p>
          <a:p>
            <a:pPr>
              <a:buFont typeface="Wingdings" pitchFamily="2" charset="2"/>
              <a:buChar char="ü"/>
            </a:pPr>
            <a:r>
              <a:rPr lang="en-US" altLang="en-US" dirty="0">
                <a:latin typeface="Times New Roman" panose="02020603050405020304" pitchFamily="18" charset="0"/>
                <a:cs typeface="Times New Roman" panose="02020603050405020304" pitchFamily="18" charset="0"/>
              </a:rPr>
              <a:t>People not in the labor force </a:t>
            </a:r>
          </a:p>
          <a:p>
            <a:pPr>
              <a:buFont typeface="Wingdings" pitchFamily="2" charset="2"/>
              <a:buChar char="ü"/>
            </a:pPr>
            <a:endParaRPr lang="en-US" altLang="en-US" dirty="0">
              <a:latin typeface="Times New Roman" panose="02020603050405020304" pitchFamily="18" charset="0"/>
              <a:cs typeface="Times New Roman" panose="02020603050405020304" pitchFamily="18" charset="0"/>
            </a:endParaRPr>
          </a:p>
          <a:p>
            <a:pPr>
              <a:buFont typeface="Wingdings" pitchFamily="2" charset="2"/>
              <a:buChar char="Ø"/>
            </a:pPr>
            <a:r>
              <a:rPr lang="en-US" altLang="en-US" dirty="0">
                <a:latin typeface="Times New Roman" panose="02020603050405020304" pitchFamily="18" charset="0"/>
                <a:cs typeface="Times New Roman" panose="02020603050405020304" pitchFamily="18" charset="0"/>
              </a:rPr>
              <a:t>The labor force is the sum of employed and unemployed workers.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28" name="Rectangle 3072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730" name="Rectangle 3072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732" name="Rectangle 3073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22" name="Rectangle 2">
            <a:extLst>
              <a:ext uri="{FF2B5EF4-FFF2-40B4-BE49-F238E27FC236}">
                <a16:creationId xmlns:a16="http://schemas.microsoft.com/office/drawing/2014/main" id="{4A1F356E-2A9D-799B-5981-22C8D962BA0C}"/>
              </a:ext>
            </a:extLst>
          </p:cNvPr>
          <p:cNvSpPr>
            <a:spLocks noGrp="1" noChangeArrowheads="1"/>
          </p:cNvSpPr>
          <p:nvPr>
            <p:ph type="title"/>
          </p:nvPr>
        </p:nvSpPr>
        <p:spPr>
          <a:xfrm>
            <a:off x="908304" y="548640"/>
            <a:ext cx="10168128" cy="1179576"/>
          </a:xfrm>
        </p:spPr>
        <p:txBody>
          <a:bodyPr>
            <a:normAutofit/>
          </a:bodyPr>
          <a:lstStyle/>
          <a:p>
            <a:pPr eaLnBrk="1" hangingPunct="1"/>
            <a:r>
              <a:rPr lang="en-GB" altLang="en-US" sz="4000" b="1">
                <a:latin typeface="Times New Roman" panose="02020603050405020304" pitchFamily="18" charset="0"/>
                <a:cs typeface="Times New Roman" panose="02020603050405020304" pitchFamily="18" charset="0"/>
              </a:rPr>
              <a:t>Effects of Unemployment</a:t>
            </a:r>
            <a:endParaRPr lang="en-US" altLang="en-US" sz="4000" b="1">
              <a:latin typeface="Times New Roman" panose="02020603050405020304" pitchFamily="18" charset="0"/>
              <a:cs typeface="Times New Roman" panose="02020603050405020304" pitchFamily="18" charset="0"/>
            </a:endParaRPr>
          </a:p>
        </p:txBody>
      </p:sp>
      <p:sp>
        <p:nvSpPr>
          <p:cNvPr id="30734" name="Rectangle 3073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723" name="Rectangle 3">
            <a:extLst>
              <a:ext uri="{FF2B5EF4-FFF2-40B4-BE49-F238E27FC236}">
                <a16:creationId xmlns:a16="http://schemas.microsoft.com/office/drawing/2014/main" id="{54EBD9E0-314D-265B-4BA2-521CB0605CE2}"/>
              </a:ext>
            </a:extLst>
          </p:cNvPr>
          <p:cNvSpPr>
            <a:spLocks noGrp="1" noChangeArrowheads="1"/>
          </p:cNvSpPr>
          <p:nvPr>
            <p:ph type="body" idx="1"/>
          </p:nvPr>
        </p:nvSpPr>
        <p:spPr>
          <a:xfrm>
            <a:off x="1115568" y="2481943"/>
            <a:ext cx="10168128" cy="3695020"/>
          </a:xfrm>
        </p:spPr>
        <p:txBody>
          <a:bodyPr>
            <a:normAutofit/>
          </a:bodyPr>
          <a:lstStyle/>
          <a:p>
            <a:pPr algn="just" eaLnBrk="1" hangingPunct="1">
              <a:buFont typeface="Wingdings" pitchFamily="2" charset="2"/>
              <a:buChar char="§"/>
            </a:pPr>
            <a:r>
              <a:rPr lang="en-US" altLang="en-US" dirty="0">
                <a:latin typeface="Times New Roman" panose="02020603050405020304" pitchFamily="18" charset="0"/>
                <a:cs typeface="Times New Roman" panose="02020603050405020304" pitchFamily="18" charset="0"/>
              </a:rPr>
              <a:t>On an individual level unemployment reduces the level of income that an individual earns</a:t>
            </a:r>
          </a:p>
          <a:p>
            <a:pPr algn="just" eaLnBrk="1" hangingPunct="1">
              <a:buFont typeface="Wingdings" pitchFamily="2" charset="2"/>
              <a:buChar char="§"/>
            </a:pPr>
            <a:r>
              <a:rPr lang="en-US" altLang="en-US" dirty="0">
                <a:latin typeface="Times New Roman" panose="02020603050405020304" pitchFamily="18" charset="0"/>
                <a:cs typeface="Times New Roman" panose="02020603050405020304" pitchFamily="18" charset="0"/>
              </a:rPr>
              <a:t>As their income has been reduced consumption also reduces as they pay for necessities rather than luxuries</a:t>
            </a:r>
          </a:p>
          <a:p>
            <a:pPr algn="just" eaLnBrk="1" hangingPunct="1">
              <a:buFont typeface="Wingdings" pitchFamily="2" charset="2"/>
              <a:buChar char="§"/>
            </a:pPr>
            <a:r>
              <a:rPr lang="en-US" altLang="en-US" dirty="0">
                <a:latin typeface="Times New Roman" panose="02020603050405020304" pitchFamily="18" charset="0"/>
                <a:cs typeface="Times New Roman" panose="02020603050405020304" pitchFamily="18" charset="0"/>
              </a:rPr>
              <a:t>Goods that are income elastic will be consumed less </a:t>
            </a:r>
          </a:p>
          <a:p>
            <a:pPr algn="just" eaLnBrk="1" hangingPunct="1">
              <a:buFont typeface="Wingdings" pitchFamily="2" charset="2"/>
              <a:buChar char="§"/>
            </a:pPr>
            <a:r>
              <a:rPr lang="en-US" altLang="en-US" dirty="0">
                <a:latin typeface="Times New Roman" panose="02020603050405020304" pitchFamily="18" charset="0"/>
                <a:cs typeface="Times New Roman" panose="02020603050405020304" pitchFamily="18" charset="0"/>
              </a:rPr>
              <a:t>Quality of life will be reduced for the unemployed worker</a:t>
            </a:r>
            <a:endParaRPr lang="en-US" altLang="en-US" dirty="0">
              <a:latin typeface="Arial Narrow"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2" name="Rectangle 3175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754" name="Rectangle 3175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756" name="Rectangle 3175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746" name="Rectangle 2">
            <a:extLst>
              <a:ext uri="{FF2B5EF4-FFF2-40B4-BE49-F238E27FC236}">
                <a16:creationId xmlns:a16="http://schemas.microsoft.com/office/drawing/2014/main" id="{B59E5495-3AF6-3777-B43D-29DB79E0B022}"/>
              </a:ext>
            </a:extLst>
          </p:cNvPr>
          <p:cNvSpPr>
            <a:spLocks noGrp="1" noChangeArrowheads="1"/>
          </p:cNvSpPr>
          <p:nvPr>
            <p:ph type="title"/>
          </p:nvPr>
        </p:nvSpPr>
        <p:spPr>
          <a:xfrm>
            <a:off x="908304" y="548640"/>
            <a:ext cx="10168128" cy="1179576"/>
          </a:xfrm>
        </p:spPr>
        <p:txBody>
          <a:bodyPr>
            <a:normAutofit/>
          </a:bodyPr>
          <a:lstStyle/>
          <a:p>
            <a:pPr eaLnBrk="1" hangingPunct="1"/>
            <a:r>
              <a:rPr lang="en-GB" altLang="en-US" sz="4000" b="1">
                <a:latin typeface="Times New Roman" panose="02020603050405020304" pitchFamily="18" charset="0"/>
                <a:cs typeface="Times New Roman" panose="02020603050405020304" pitchFamily="18" charset="0"/>
              </a:rPr>
              <a:t>Economic effects of unemployment</a:t>
            </a:r>
            <a:endParaRPr lang="en-US" altLang="en-US" sz="4000" b="1">
              <a:latin typeface="Times New Roman" panose="02020603050405020304" pitchFamily="18" charset="0"/>
              <a:cs typeface="Times New Roman" panose="02020603050405020304" pitchFamily="18" charset="0"/>
            </a:endParaRPr>
          </a:p>
        </p:txBody>
      </p:sp>
      <p:sp>
        <p:nvSpPr>
          <p:cNvPr id="31758" name="Rectangle 3175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747" name="Rectangle 3">
            <a:extLst>
              <a:ext uri="{FF2B5EF4-FFF2-40B4-BE49-F238E27FC236}">
                <a16:creationId xmlns:a16="http://schemas.microsoft.com/office/drawing/2014/main" id="{9FBA7208-9E40-954C-3DA8-8ACBD3C30446}"/>
              </a:ext>
            </a:extLst>
          </p:cNvPr>
          <p:cNvSpPr>
            <a:spLocks noGrp="1" noChangeArrowheads="1"/>
          </p:cNvSpPr>
          <p:nvPr>
            <p:ph type="body" idx="1"/>
          </p:nvPr>
        </p:nvSpPr>
        <p:spPr>
          <a:xfrm>
            <a:off x="1115568" y="2481943"/>
            <a:ext cx="10168128" cy="3695020"/>
          </a:xfrm>
        </p:spPr>
        <p:txBody>
          <a:bodyPr>
            <a:normAutofit/>
          </a:bodyPr>
          <a:lstStyle/>
          <a:p>
            <a:pPr eaLnBrk="1" hangingPunct="1">
              <a:buFont typeface="Wingdings" pitchFamily="2" charset="2"/>
              <a:buChar char="Ø"/>
            </a:pPr>
            <a:r>
              <a:rPr lang="en-GB" altLang="en-US" dirty="0">
                <a:latin typeface="Times New Roman" panose="02020603050405020304" pitchFamily="18" charset="0"/>
                <a:cs typeface="Times New Roman" panose="02020603050405020304" pitchFamily="18" charset="0"/>
              </a:rPr>
              <a:t>If unemployment rates are rising their will be a negative impact on economic growth potential</a:t>
            </a:r>
          </a:p>
          <a:p>
            <a:pPr eaLnBrk="1" hangingPunct="1">
              <a:buFont typeface="Wingdings" pitchFamily="2" charset="2"/>
              <a:buChar char="Ø"/>
            </a:pPr>
            <a:r>
              <a:rPr lang="en-GB" altLang="en-US" dirty="0">
                <a:latin typeface="Times New Roman" panose="02020603050405020304" pitchFamily="18" charset="0"/>
                <a:cs typeface="Times New Roman" panose="02020603050405020304" pitchFamily="18" charset="0"/>
              </a:rPr>
              <a:t>Consumption is likely to fall as consumers will have had a decrease in income levels</a:t>
            </a:r>
          </a:p>
          <a:p>
            <a:pPr eaLnBrk="1" hangingPunct="1">
              <a:buFont typeface="Wingdings" pitchFamily="2" charset="2"/>
              <a:buChar char="Ø"/>
            </a:pPr>
            <a:r>
              <a:rPr lang="en-GB" altLang="en-US" dirty="0">
                <a:latin typeface="Times New Roman" panose="02020603050405020304" pitchFamily="18" charset="0"/>
                <a:cs typeface="Times New Roman" panose="02020603050405020304" pitchFamily="18" charset="0"/>
              </a:rPr>
              <a:t>Government spending will increase as the government will be responsible for benefit payments</a:t>
            </a:r>
          </a:p>
          <a:p>
            <a:pPr eaLnBrk="1" hangingPunct="1">
              <a:buFont typeface="Wingdings" pitchFamily="2" charset="2"/>
              <a:buChar char="Ø"/>
            </a:pPr>
            <a:r>
              <a:rPr lang="en-GB" altLang="en-US" dirty="0">
                <a:latin typeface="Times New Roman" panose="02020603050405020304" pitchFamily="18" charset="0"/>
                <a:cs typeface="Times New Roman" panose="02020603050405020304" pitchFamily="18" charset="0"/>
              </a:rPr>
              <a:t>Taxation levels will decrease as less people are in work and therefore paying taxes </a:t>
            </a:r>
          </a:p>
          <a:p>
            <a:pPr eaLnBrk="1" hangingPunct="1"/>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5" name="Rectangle 3277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777" name="Rectangle 3277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779" name="Rectangle 3277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0" name="Title 1">
            <a:extLst>
              <a:ext uri="{FF2B5EF4-FFF2-40B4-BE49-F238E27FC236}">
                <a16:creationId xmlns:a16="http://schemas.microsoft.com/office/drawing/2014/main" id="{38206764-21BE-66DA-2E21-DF5B1ADCCB6E}"/>
              </a:ext>
            </a:extLst>
          </p:cNvPr>
          <p:cNvSpPr>
            <a:spLocks noGrp="1" noChangeArrowheads="1"/>
          </p:cNvSpPr>
          <p:nvPr>
            <p:ph type="title"/>
          </p:nvPr>
        </p:nvSpPr>
        <p:spPr>
          <a:xfrm>
            <a:off x="908304" y="548640"/>
            <a:ext cx="10168128" cy="1179576"/>
          </a:xfrm>
        </p:spPr>
        <p:txBody>
          <a:bodyPr>
            <a:normAutofit/>
          </a:bodyPr>
          <a:lstStyle/>
          <a:p>
            <a:r>
              <a:rPr lang="en-GB" altLang="en-US" sz="4000" b="1">
                <a:latin typeface="Times New Roman" panose="02020603050405020304" pitchFamily="18" charset="0"/>
                <a:cs typeface="Times New Roman" panose="02020603050405020304" pitchFamily="18" charset="0"/>
              </a:rPr>
              <a:t>Influence of Unemployment </a:t>
            </a:r>
            <a:endParaRPr lang="en-US" altLang="en-US" sz="4000"/>
          </a:p>
        </p:txBody>
      </p:sp>
      <p:sp>
        <p:nvSpPr>
          <p:cNvPr id="32781" name="Rectangle 3278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43745AD-0518-12AB-FAC8-9BDD447D6C32}"/>
              </a:ext>
            </a:extLst>
          </p:cNvPr>
          <p:cNvSpPr>
            <a:spLocks noGrp="1"/>
          </p:cNvSpPr>
          <p:nvPr>
            <p:ph idx="1"/>
          </p:nvPr>
        </p:nvSpPr>
        <p:spPr>
          <a:xfrm>
            <a:off x="1115568" y="2481943"/>
            <a:ext cx="10168128" cy="3695020"/>
          </a:xfrm>
        </p:spPr>
        <p:txBody>
          <a:bodyPr>
            <a:normAutofit/>
          </a:bodyPr>
          <a:lstStyle/>
          <a:p>
            <a:pPr algn="just">
              <a:buFont typeface="Wingdings" panose="05000000000000000000" pitchFamily="2" charset="2"/>
              <a:buChar char="Ø"/>
              <a:defRPr/>
            </a:pPr>
            <a:r>
              <a:rPr lang="en-US" b="1" dirty="0">
                <a:latin typeface="Times New Roman" panose="02020603050405020304" pitchFamily="18" charset="0"/>
                <a:cs typeface="Times New Roman" panose="02020603050405020304" pitchFamily="18" charset="0"/>
              </a:rPr>
              <a:t>Impact on The Economy </a:t>
            </a:r>
          </a:p>
          <a:p>
            <a:pPr algn="just">
              <a:buFont typeface="Wingdings" panose="05000000000000000000" pitchFamily="2" charset="2"/>
              <a:buChar char="ü"/>
              <a:defRPr/>
            </a:pPr>
            <a:r>
              <a:rPr lang="en-US" dirty="0">
                <a:latin typeface="Times New Roman" panose="02020603050405020304" pitchFamily="18" charset="0"/>
                <a:cs typeface="Times New Roman" panose="02020603050405020304" pitchFamily="18" charset="0"/>
              </a:rPr>
              <a:t> Reduce national output</a:t>
            </a:r>
          </a:p>
          <a:p>
            <a:pPr marL="0" indent="0" algn="just">
              <a:buNone/>
              <a:defRPr/>
            </a:pPr>
            <a:r>
              <a:rPr lang="en-US" dirty="0">
                <a:latin typeface="Times New Roman" panose="02020603050405020304" pitchFamily="18" charset="0"/>
                <a:cs typeface="Times New Roman" panose="02020603050405020304" pitchFamily="18" charset="0"/>
              </a:rPr>
              <a:t>When there is a large number of unemployed labor, then production from some sectors of the economy will decline and consequences for the country's national output will be reduced.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799" name="Rectangle 3379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801" name="Rectangle 3380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803" name="Rectangle 3380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94" name="Title 1">
            <a:extLst>
              <a:ext uri="{FF2B5EF4-FFF2-40B4-BE49-F238E27FC236}">
                <a16:creationId xmlns:a16="http://schemas.microsoft.com/office/drawing/2014/main" id="{9F9B0A9A-CBE6-17C8-A346-45DD04207550}"/>
              </a:ext>
            </a:extLst>
          </p:cNvPr>
          <p:cNvSpPr>
            <a:spLocks noGrp="1" noChangeArrowheads="1"/>
          </p:cNvSpPr>
          <p:nvPr>
            <p:ph type="title"/>
          </p:nvPr>
        </p:nvSpPr>
        <p:spPr>
          <a:xfrm>
            <a:off x="1115568" y="548640"/>
            <a:ext cx="10168128" cy="1179576"/>
          </a:xfrm>
        </p:spPr>
        <p:txBody>
          <a:bodyPr>
            <a:normAutofit/>
          </a:bodyPr>
          <a:lstStyle/>
          <a:p>
            <a:r>
              <a:rPr lang="en-GB" altLang="en-US" sz="4000" b="1">
                <a:latin typeface="Times New Roman" panose="02020603050405020304" pitchFamily="18" charset="0"/>
                <a:cs typeface="Times New Roman" panose="02020603050405020304" pitchFamily="18" charset="0"/>
              </a:rPr>
              <a:t>Influence of Unemployment </a:t>
            </a:r>
            <a:endParaRPr lang="en-US" altLang="en-US" sz="4000"/>
          </a:p>
        </p:txBody>
      </p:sp>
      <p:sp>
        <p:nvSpPr>
          <p:cNvPr id="33805" name="Rectangle 3380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447CA12-9D48-095E-B38E-8045798A2EAA}"/>
              </a:ext>
            </a:extLst>
          </p:cNvPr>
          <p:cNvSpPr>
            <a:spLocks noGrp="1"/>
          </p:cNvSpPr>
          <p:nvPr>
            <p:ph idx="1"/>
          </p:nvPr>
        </p:nvSpPr>
        <p:spPr>
          <a:xfrm>
            <a:off x="1115568" y="2481943"/>
            <a:ext cx="10168128" cy="3695020"/>
          </a:xfrm>
        </p:spPr>
        <p:txBody>
          <a:bodyPr>
            <a:normAutofit/>
          </a:bodyPr>
          <a:lstStyle/>
          <a:p>
            <a:pPr algn="just">
              <a:buFont typeface="Wingdings" panose="05000000000000000000" pitchFamily="2" charset="2"/>
              <a:buChar char="ü"/>
              <a:defRPr/>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Lower standard of living</a:t>
            </a:r>
            <a:r>
              <a:rPr lang="en-US" dirty="0">
                <a:latin typeface="Times New Roman" panose="02020603050405020304" pitchFamily="18" charset="0"/>
                <a:cs typeface="Times New Roman" panose="02020603050405020304" pitchFamily="18" charset="0"/>
              </a:rPr>
              <a:t>. </a:t>
            </a:r>
          </a:p>
          <a:p>
            <a:pPr marL="0" indent="0" algn="just">
              <a:buNone/>
              <a:defRPr/>
            </a:pPr>
            <a:r>
              <a:rPr lang="en-US" dirty="0">
                <a:latin typeface="Times New Roman" panose="02020603050405020304" pitchFamily="18" charset="0"/>
                <a:cs typeface="Times New Roman" panose="02020603050405020304" pitchFamily="18" charset="0"/>
              </a:rPr>
              <a:t>The standard of living of a country is measured using per capita income. When there are many labor unemployed, the gross national product will be reduced and this will reduce the per capita income. When income per capita is falling, then the standard of living will fall.</a:t>
            </a:r>
          </a:p>
          <a:p>
            <a:pPr algn="just">
              <a:buFont typeface="Wingdings" panose="05000000000000000000" pitchFamily="2" charset="2"/>
              <a:buChar char="ü"/>
              <a:defRPr/>
            </a:pPr>
            <a:r>
              <a:rPr lang="en-US" dirty="0">
                <a:latin typeface="Times New Roman" panose="02020603050405020304" pitchFamily="18" charset="0"/>
                <a:cs typeface="Times New Roman" panose="02020603050405020304" pitchFamily="18" charset="0"/>
              </a:rPr>
              <a:t>Increase the incidence of poverty. </a:t>
            </a:r>
          </a:p>
          <a:p>
            <a:pPr algn="just">
              <a:buFont typeface="Wingdings" panose="05000000000000000000" pitchFamily="2" charset="2"/>
              <a:buChar char="ü"/>
              <a:defRP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823" name="Rectangle 3482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825" name="Rectangle 3482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827" name="Rectangle 3482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818" name="Title 1">
            <a:extLst>
              <a:ext uri="{FF2B5EF4-FFF2-40B4-BE49-F238E27FC236}">
                <a16:creationId xmlns:a16="http://schemas.microsoft.com/office/drawing/2014/main" id="{BC042141-4BB5-A5A5-BD16-93E6F3885EF8}"/>
              </a:ext>
            </a:extLst>
          </p:cNvPr>
          <p:cNvSpPr>
            <a:spLocks noGrp="1" noChangeArrowheads="1"/>
          </p:cNvSpPr>
          <p:nvPr>
            <p:ph type="title"/>
          </p:nvPr>
        </p:nvSpPr>
        <p:spPr>
          <a:xfrm>
            <a:off x="1115568" y="548640"/>
            <a:ext cx="10168128" cy="1179576"/>
          </a:xfrm>
        </p:spPr>
        <p:txBody>
          <a:bodyPr>
            <a:normAutofit/>
          </a:bodyPr>
          <a:lstStyle/>
          <a:p>
            <a:r>
              <a:rPr lang="en-GB" altLang="en-US" sz="4000" b="1">
                <a:latin typeface="Times New Roman" panose="02020603050405020304" pitchFamily="18" charset="0"/>
                <a:cs typeface="Times New Roman" panose="02020603050405020304" pitchFamily="18" charset="0"/>
              </a:rPr>
              <a:t>Influence of Unemployment </a:t>
            </a:r>
            <a:endParaRPr lang="en-US" altLang="en-US" sz="4000"/>
          </a:p>
        </p:txBody>
      </p:sp>
      <p:sp>
        <p:nvSpPr>
          <p:cNvPr id="34829" name="Rectangle 3482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6DEE417-CD3C-957C-7A09-A164D769AEAB}"/>
              </a:ext>
            </a:extLst>
          </p:cNvPr>
          <p:cNvSpPr>
            <a:spLocks noGrp="1"/>
          </p:cNvSpPr>
          <p:nvPr>
            <p:ph idx="1"/>
          </p:nvPr>
        </p:nvSpPr>
        <p:spPr>
          <a:xfrm>
            <a:off x="1115568" y="2481943"/>
            <a:ext cx="10168128" cy="3695020"/>
          </a:xfrm>
        </p:spPr>
        <p:txBody>
          <a:bodyPr>
            <a:normAutofit/>
          </a:bodyPr>
          <a:lstStyle/>
          <a:p>
            <a:pPr algn="just">
              <a:buFont typeface="Wingdings" panose="05000000000000000000" pitchFamily="2" charset="2"/>
              <a:buChar char="ü"/>
              <a:defRPr/>
            </a:pPr>
            <a:r>
              <a:rPr lang="en-US" dirty="0">
                <a:latin typeface="Times New Roman" panose="02020603050405020304" pitchFamily="18" charset="0"/>
                <a:cs typeface="Times New Roman" panose="02020603050405020304" pitchFamily="18" charset="0"/>
              </a:rPr>
              <a:t> Reduce national income. </a:t>
            </a:r>
          </a:p>
          <a:p>
            <a:pPr marL="0" indent="0" algn="just">
              <a:buNone/>
              <a:defRPr/>
            </a:pPr>
            <a:r>
              <a:rPr lang="en-US" dirty="0">
                <a:latin typeface="Times New Roman" panose="02020603050405020304" pitchFamily="18" charset="0"/>
                <a:cs typeface="Times New Roman" panose="02020603050405020304" pitchFamily="18" charset="0"/>
              </a:rPr>
              <a:t>When unemployment is high, then the income or profits of the firm will decrease. This will reduce the amount of income tax and company profit that can be collected by the government and thus will reduce national income. </a:t>
            </a:r>
          </a:p>
          <a:p>
            <a:pPr algn="just">
              <a:buFont typeface="Wingdings" panose="05000000000000000000" pitchFamily="2" charset="2"/>
              <a:buChar char="ü"/>
              <a:defRPr/>
            </a:pPr>
            <a:r>
              <a:rPr lang="en-US" dirty="0">
                <a:latin typeface="Times New Roman" panose="02020603050405020304" pitchFamily="18" charset="0"/>
                <a:cs typeface="Times New Roman" panose="02020603050405020304" pitchFamily="18" charset="0"/>
              </a:rPr>
              <a:t>Slow down the process of national development. </a:t>
            </a:r>
          </a:p>
          <a:p>
            <a:pPr algn="just">
              <a:buFont typeface="Wingdings" panose="05000000000000000000" pitchFamily="2" charset="2"/>
              <a:buChar char="ü"/>
              <a:defRP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848" name="Rectangle 3584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850" name="Rectangle 3584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852" name="Rectangle 3585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42" name="Title 1">
            <a:extLst>
              <a:ext uri="{FF2B5EF4-FFF2-40B4-BE49-F238E27FC236}">
                <a16:creationId xmlns:a16="http://schemas.microsoft.com/office/drawing/2014/main" id="{00D15839-0DBC-CB15-DFBC-481D83D35EB5}"/>
              </a:ext>
            </a:extLst>
          </p:cNvPr>
          <p:cNvSpPr>
            <a:spLocks noGrp="1" noChangeArrowheads="1"/>
          </p:cNvSpPr>
          <p:nvPr>
            <p:ph type="title"/>
          </p:nvPr>
        </p:nvSpPr>
        <p:spPr>
          <a:xfrm>
            <a:off x="929828" y="548640"/>
            <a:ext cx="10168128" cy="1179576"/>
          </a:xfrm>
        </p:spPr>
        <p:txBody>
          <a:bodyPr>
            <a:normAutofit/>
          </a:bodyPr>
          <a:lstStyle/>
          <a:p>
            <a:r>
              <a:rPr lang="en-GB" altLang="en-US" sz="4800" b="1">
                <a:latin typeface="Times New Roman" panose="02020603050405020304" pitchFamily="18" charset="0"/>
                <a:cs typeface="Times New Roman" panose="02020603050405020304" pitchFamily="18" charset="0"/>
              </a:rPr>
              <a:t>Influence of Unemployment </a:t>
            </a:r>
            <a:endParaRPr lang="en-US" altLang="en-US" sz="4800"/>
          </a:p>
        </p:txBody>
      </p:sp>
      <p:sp>
        <p:nvSpPr>
          <p:cNvPr id="35854" name="Rectangle 3585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5843" name="Content Placeholder 2">
            <a:extLst>
              <a:ext uri="{FF2B5EF4-FFF2-40B4-BE49-F238E27FC236}">
                <a16:creationId xmlns:a16="http://schemas.microsoft.com/office/drawing/2014/main" id="{DAE09052-4268-DA1F-51C5-30E6D2519DED}"/>
              </a:ext>
            </a:extLst>
          </p:cNvPr>
          <p:cNvSpPr>
            <a:spLocks noGrp="1" noChangeArrowheads="1"/>
          </p:cNvSpPr>
          <p:nvPr>
            <p:ph idx="1"/>
          </p:nvPr>
        </p:nvSpPr>
        <p:spPr>
          <a:xfrm>
            <a:off x="1115568" y="2481943"/>
            <a:ext cx="10168128" cy="3695020"/>
          </a:xfrm>
        </p:spPr>
        <p:txBody>
          <a:bodyPr>
            <a:normAutofit/>
          </a:bodyPr>
          <a:lstStyle/>
          <a:p>
            <a:pPr>
              <a:buFont typeface="Wingdings" pitchFamily="2" charset="2"/>
              <a:buChar char="Ø"/>
            </a:pPr>
            <a:r>
              <a:rPr lang="en-US" altLang="en-US" b="1" dirty="0">
                <a:latin typeface="Times New Roman" panose="02020603050405020304" pitchFamily="18" charset="0"/>
                <a:cs typeface="Times New Roman" panose="02020603050405020304" pitchFamily="18" charset="0"/>
              </a:rPr>
              <a:t>Impact on the Social</a:t>
            </a:r>
          </a:p>
          <a:p>
            <a:pPr>
              <a:buFont typeface="Wingdings" pitchFamily="2" charset="2"/>
              <a:buChar char="ü"/>
            </a:pPr>
            <a:r>
              <a:rPr lang="en-US" altLang="en-US" dirty="0">
                <a:latin typeface="Times New Roman" panose="02020603050405020304" pitchFamily="18" charset="0"/>
                <a:cs typeface="Times New Roman" panose="02020603050405020304" pitchFamily="18" charset="0"/>
              </a:rPr>
              <a:t>Create unsafe conditions in the family.</a:t>
            </a:r>
          </a:p>
          <a:p>
            <a:pPr>
              <a:buFont typeface="Wingdings" pitchFamily="2" charset="2"/>
              <a:buChar char="ü"/>
            </a:pPr>
            <a:r>
              <a:rPr lang="en-US" altLang="en-US" dirty="0">
                <a:latin typeface="Times New Roman" panose="02020603050405020304" pitchFamily="18" charset="0"/>
                <a:cs typeface="Times New Roman" panose="02020603050405020304" pitchFamily="18" charset="0"/>
              </a:rPr>
              <a:t> Increased incidence of crime in the community. </a:t>
            </a:r>
          </a:p>
          <a:p>
            <a:pPr>
              <a:buFont typeface="Wingdings" pitchFamily="2" charset="2"/>
              <a:buChar char="ü"/>
            </a:pPr>
            <a:r>
              <a:rPr lang="en-US" altLang="en-US" dirty="0">
                <a:latin typeface="Times New Roman" panose="02020603050405020304" pitchFamily="18" charset="0"/>
                <a:cs typeface="Times New Roman" panose="02020603050405020304" pitchFamily="18" charset="0"/>
              </a:rPr>
              <a:t>Cause stress and lack of confidence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2" name="Rectangle 3687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874" name="Rectangle 3687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876" name="Rectangle 3687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866" name="Rectangle 2">
            <a:extLst>
              <a:ext uri="{FF2B5EF4-FFF2-40B4-BE49-F238E27FC236}">
                <a16:creationId xmlns:a16="http://schemas.microsoft.com/office/drawing/2014/main" id="{0C30313C-CC8C-1E7A-5CBC-DC139D11803F}"/>
              </a:ext>
            </a:extLst>
          </p:cNvPr>
          <p:cNvSpPr>
            <a:spLocks noGrp="1" noChangeArrowheads="1"/>
          </p:cNvSpPr>
          <p:nvPr>
            <p:ph type="title"/>
          </p:nvPr>
        </p:nvSpPr>
        <p:spPr>
          <a:xfrm>
            <a:off x="1115568" y="548640"/>
            <a:ext cx="10168128" cy="1179576"/>
          </a:xfrm>
        </p:spPr>
        <p:txBody>
          <a:bodyPr>
            <a:normAutofit/>
          </a:bodyPr>
          <a:lstStyle/>
          <a:p>
            <a:pPr eaLnBrk="1" hangingPunct="1"/>
            <a:r>
              <a:rPr lang="en-GB" altLang="en-US" b="1" dirty="0">
                <a:latin typeface="Times New Roman" panose="02020603050405020304" pitchFamily="18" charset="0"/>
                <a:cs typeface="Times New Roman" panose="02020603050405020304" pitchFamily="18" charset="0"/>
              </a:rPr>
              <a:t>Effects of Unemployment </a:t>
            </a:r>
            <a:endParaRPr lang="en-US" altLang="en-US" b="1" dirty="0">
              <a:latin typeface="Times New Roman" panose="02020603050405020304" pitchFamily="18" charset="0"/>
              <a:cs typeface="Times New Roman" panose="02020603050405020304" pitchFamily="18" charset="0"/>
            </a:endParaRPr>
          </a:p>
        </p:txBody>
      </p:sp>
      <p:sp>
        <p:nvSpPr>
          <p:cNvPr id="36878" name="Rectangle 3687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867" name="Rectangle 3">
            <a:extLst>
              <a:ext uri="{FF2B5EF4-FFF2-40B4-BE49-F238E27FC236}">
                <a16:creationId xmlns:a16="http://schemas.microsoft.com/office/drawing/2014/main" id="{8E880E38-83DD-1081-4DDA-7A706BC3BAE0}"/>
              </a:ext>
            </a:extLst>
          </p:cNvPr>
          <p:cNvSpPr>
            <a:spLocks noGrp="1" noChangeArrowheads="1"/>
          </p:cNvSpPr>
          <p:nvPr>
            <p:ph type="body" idx="1"/>
          </p:nvPr>
        </p:nvSpPr>
        <p:spPr>
          <a:xfrm>
            <a:off x="1115568" y="2481943"/>
            <a:ext cx="10168128" cy="3695020"/>
          </a:xfrm>
        </p:spPr>
        <p:txBody>
          <a:bodyPr>
            <a:normAutofit/>
          </a:bodyPr>
          <a:lstStyle/>
          <a:p>
            <a:pPr algn="just" eaLnBrk="1" hangingPunct="1">
              <a:buFont typeface="Wingdings" pitchFamily="2" charset="2"/>
              <a:buChar char="Ø"/>
            </a:pPr>
            <a:r>
              <a:rPr lang="en-US" altLang="en-US" dirty="0">
                <a:latin typeface="Times New Roman" panose="02020603050405020304" pitchFamily="18" charset="0"/>
                <a:cs typeface="Times New Roman" panose="02020603050405020304" pitchFamily="18" charset="0"/>
              </a:rPr>
              <a:t>Unemployment can have significant effects on the performance of the economy as a whole</a:t>
            </a:r>
          </a:p>
          <a:p>
            <a:pPr algn="just" eaLnBrk="1" hangingPunct="1">
              <a:buFont typeface="Wingdings" pitchFamily="2" charset="2"/>
              <a:buChar char="Ø"/>
            </a:pPr>
            <a:r>
              <a:rPr lang="en-GB" altLang="en-US" dirty="0">
                <a:latin typeface="Times New Roman" panose="02020603050405020304" pitchFamily="18" charset="0"/>
                <a:cs typeface="Times New Roman" panose="02020603050405020304" pitchFamily="18" charset="0"/>
              </a:rPr>
              <a:t>The effects are most marked due to long terms unemployment </a:t>
            </a:r>
          </a:p>
          <a:p>
            <a:pPr algn="just" eaLnBrk="1" hangingPunct="1">
              <a:buFont typeface="Wingdings" pitchFamily="2" charset="2"/>
              <a:buChar char="Ø"/>
            </a:pPr>
            <a:r>
              <a:rPr lang="en-GB" altLang="en-US" dirty="0">
                <a:latin typeface="Times New Roman" panose="02020603050405020304" pitchFamily="18" charset="0"/>
                <a:cs typeface="Times New Roman" panose="02020603050405020304" pitchFamily="18" charset="0"/>
              </a:rPr>
              <a:t>If there is unemployment in the economic resources are not being used effectively and the economy will be operating below any points on the PPF curve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6" name="Rectangle 3789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898" name="Rectangle 3789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900" name="Rectangle 3789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0" name="Title 1">
            <a:extLst>
              <a:ext uri="{FF2B5EF4-FFF2-40B4-BE49-F238E27FC236}">
                <a16:creationId xmlns:a16="http://schemas.microsoft.com/office/drawing/2014/main" id="{27EEA68E-C769-CD47-FFCE-6632CCD97007}"/>
              </a:ext>
            </a:extLst>
          </p:cNvPr>
          <p:cNvSpPr>
            <a:spLocks noGrp="1" noChangeArrowheads="1"/>
          </p:cNvSpPr>
          <p:nvPr>
            <p:ph type="title"/>
          </p:nvPr>
        </p:nvSpPr>
        <p:spPr>
          <a:xfrm>
            <a:off x="1115568" y="548640"/>
            <a:ext cx="10168128" cy="1179576"/>
          </a:xfrm>
        </p:spPr>
        <p:txBody>
          <a:bodyPr>
            <a:normAutofit/>
          </a:bodyPr>
          <a:lstStyle/>
          <a:p>
            <a:r>
              <a:rPr lang="en-US" altLang="en-US" b="1" dirty="0">
                <a:latin typeface="Times New Roman" panose="02020603050405020304" pitchFamily="18" charset="0"/>
                <a:cs typeface="Times New Roman" panose="02020603050405020304" pitchFamily="18" charset="0"/>
              </a:rPr>
              <a:t>Full Employment</a:t>
            </a:r>
            <a:endParaRPr lang="en-US" altLang="en-US" b="1" dirty="0"/>
          </a:p>
        </p:txBody>
      </p:sp>
      <p:sp>
        <p:nvSpPr>
          <p:cNvPr id="37902" name="Rectangle 37901">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891" name="Content Placeholder 2">
            <a:extLst>
              <a:ext uri="{FF2B5EF4-FFF2-40B4-BE49-F238E27FC236}">
                <a16:creationId xmlns:a16="http://schemas.microsoft.com/office/drawing/2014/main" id="{EBBE5F24-E03D-1909-12D3-152CF6BA1C68}"/>
              </a:ext>
            </a:extLst>
          </p:cNvPr>
          <p:cNvSpPr>
            <a:spLocks noGrp="1" noChangeArrowheads="1"/>
          </p:cNvSpPr>
          <p:nvPr>
            <p:ph idx="1"/>
          </p:nvPr>
        </p:nvSpPr>
        <p:spPr>
          <a:xfrm>
            <a:off x="1115568" y="2481943"/>
            <a:ext cx="10168128" cy="3695020"/>
          </a:xfrm>
        </p:spPr>
        <p:txBody>
          <a:bodyPr>
            <a:normAutofit/>
          </a:bodyPr>
          <a:lstStyle/>
          <a:p>
            <a:pPr algn="just">
              <a:buFont typeface="Wingdings" pitchFamily="2" charset="2"/>
              <a:buChar char="Ø"/>
            </a:pPr>
            <a:r>
              <a:rPr lang="en-US" altLang="en-US" dirty="0">
                <a:latin typeface="Times New Roman" panose="02020603050405020304" pitchFamily="18" charset="0"/>
                <a:cs typeface="Times New Roman" panose="02020603050405020304" pitchFamily="18" charset="0"/>
              </a:rPr>
              <a:t>Full employment is defined as a situation in which the unemployment rate equals the natural unemployment rate. </a:t>
            </a:r>
          </a:p>
          <a:p>
            <a:pPr algn="just">
              <a:buFont typeface="Wingdings" pitchFamily="2" charset="2"/>
              <a:buChar char="Ø"/>
            </a:pPr>
            <a:endParaRPr lang="en-US" altLang="en-US" dirty="0">
              <a:latin typeface="Times New Roman" panose="02020603050405020304" pitchFamily="18" charset="0"/>
              <a:cs typeface="Times New Roman" panose="02020603050405020304" pitchFamily="18" charset="0"/>
            </a:endParaRPr>
          </a:p>
          <a:p>
            <a:pPr algn="just">
              <a:buFont typeface="Wingdings" pitchFamily="2" charset="2"/>
              <a:buChar char="Ø"/>
            </a:pPr>
            <a:r>
              <a:rPr lang="en-US" altLang="en-US" dirty="0">
                <a:latin typeface="Times New Roman" panose="02020603050405020304" pitchFamily="18" charset="0"/>
                <a:cs typeface="Times New Roman" panose="02020603050405020304" pitchFamily="18" charset="0"/>
              </a:rPr>
              <a:t>When the economy is at full employment, there is no cyclical unemployment or, equivalently, all unemployment is frictional and structural.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2705B82-FEC9-FD98-C8B0-18059801638A}"/>
              </a:ext>
            </a:extLst>
          </p:cNvPr>
          <p:cNvSpPr>
            <a:spLocks noGrp="1"/>
          </p:cNvSpPr>
          <p:nvPr>
            <p:ph type="title"/>
          </p:nvPr>
        </p:nvSpPr>
        <p:spPr>
          <a:xfrm>
            <a:off x="920496" y="548640"/>
            <a:ext cx="10168128" cy="1179576"/>
          </a:xfrm>
        </p:spPr>
        <p:txBody>
          <a:bodyPr>
            <a:normAutofit/>
          </a:bodyPr>
          <a:lstStyle/>
          <a:p>
            <a:r>
              <a:rPr lang="en-LK" sz="4800" b="1" dirty="0">
                <a:latin typeface="Times New Roman" panose="02020603050405020304" pitchFamily="18" charset="0"/>
                <a:cs typeface="Times New Roman" panose="02020603050405020304" pitchFamily="18" charset="0"/>
              </a:rPr>
              <a:t>2. Inflation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FF21E97-289E-9EB1-ABC6-C616A86DCA4B}"/>
              </a:ext>
            </a:extLst>
          </p:cNvPr>
          <p:cNvSpPr>
            <a:spLocks noGrp="1"/>
          </p:cNvSpPr>
          <p:nvPr>
            <p:ph idx="1"/>
          </p:nvPr>
        </p:nvSpPr>
        <p:spPr>
          <a:xfrm>
            <a:off x="835152" y="2274679"/>
            <a:ext cx="10168128" cy="3695020"/>
          </a:xfrm>
        </p:spPr>
        <p:txBody>
          <a:bodyPr>
            <a:normAutofit/>
          </a:bodyPr>
          <a:lstStyle/>
          <a:p>
            <a:pPr algn="just" eaLnBrk="1" hangingPunct="1">
              <a:buFont typeface="Wingdings" pitchFamily="2" charset="2"/>
              <a:buChar char="Ø"/>
            </a:pPr>
            <a:r>
              <a:rPr lang="en-GB" altLang="en-US">
                <a:latin typeface="Times New Roman" panose="02020603050405020304" pitchFamily="18" charset="0"/>
                <a:cs typeface="Times New Roman" panose="02020603050405020304" pitchFamily="18" charset="0"/>
              </a:rPr>
              <a:t>Inflation- The rise in the general level of prices</a:t>
            </a:r>
          </a:p>
          <a:p>
            <a:pPr algn="just" eaLnBrk="1" hangingPunct="1">
              <a:buFont typeface="Wingdings" pitchFamily="2" charset="2"/>
              <a:buChar char="Ø"/>
            </a:pPr>
            <a:r>
              <a:rPr lang="en-GB" altLang="en-US">
                <a:latin typeface="Times New Roman" panose="02020603050405020304" pitchFamily="18" charset="0"/>
                <a:cs typeface="Times New Roman" panose="02020603050405020304" pitchFamily="18" charset="0"/>
              </a:rPr>
              <a:t>In the long term, inflation erodes consumer purchasing power. </a:t>
            </a:r>
          </a:p>
          <a:p>
            <a:pPr algn="just" eaLnBrk="1" hangingPunct="1">
              <a:buFont typeface="Wingdings" pitchFamily="2" charset="2"/>
              <a:buChar char="Ø"/>
            </a:pPr>
            <a:r>
              <a:rPr lang="en-GB" altLang="en-US">
                <a:latin typeface="Times New Roman" panose="02020603050405020304" pitchFamily="18" charset="0"/>
                <a:cs typeface="Times New Roman" panose="02020603050405020304" pitchFamily="18" charset="0"/>
              </a:rPr>
              <a:t>That means that accumulated wealth buys less and less, with the passage of time.</a:t>
            </a:r>
          </a:p>
          <a:p>
            <a:pPr algn="just" eaLnBrk="1" hangingPunct="1">
              <a:buFont typeface="Wingdings" pitchFamily="2" charset="2"/>
              <a:buChar char="Ø"/>
            </a:pPr>
            <a:r>
              <a:rPr lang="en-GB" altLang="en-US">
                <a:latin typeface="Times New Roman" panose="02020603050405020304" pitchFamily="18" charset="0"/>
                <a:cs typeface="Times New Roman" panose="02020603050405020304" pitchFamily="18" charset="0"/>
              </a:rPr>
              <a:t>Where there is high inflation it is difficult for businesses to plan for the future as there is uncertainty regarding the cost of raw materials </a:t>
            </a:r>
          </a:p>
          <a:p>
            <a:pPr marL="0" indent="0" algn="just">
              <a:buNone/>
            </a:pPr>
            <a:endParaRPr lang="en-LK"/>
          </a:p>
        </p:txBody>
      </p:sp>
    </p:spTree>
    <p:extLst>
      <p:ext uri="{BB962C8B-B14F-4D97-AF65-F5344CB8AC3E}">
        <p14:creationId xmlns:p14="http://schemas.microsoft.com/office/powerpoint/2010/main" val="3720458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4F5D0-B455-5219-DD98-74B1381A475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tx1"/>
                </a:solidFill>
                <a:latin typeface="Times New Roman" panose="02020603050405020304" pitchFamily="18" charset="0"/>
                <a:cs typeface="Times New Roman" panose="02020603050405020304" pitchFamily="18" charset="0"/>
              </a:rPr>
              <a:t>Inflation</a:t>
            </a:r>
          </a:p>
        </p:txBody>
      </p:sp>
      <p:sp>
        <p:nvSpPr>
          <p:cNvPr id="2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7D9344B-21AD-F487-E122-C4F46141D184}"/>
              </a:ext>
            </a:extLst>
          </p:cNvPr>
          <p:cNvPicPr>
            <a:picLocks noChangeAspect="1"/>
          </p:cNvPicPr>
          <p:nvPr/>
        </p:nvPicPr>
        <p:blipFill>
          <a:blip r:embed="rId2"/>
          <a:srcRect t="1528" r="2" b="6386"/>
          <a:stretch>
            <a:fillRect/>
          </a:stretch>
        </p:blipFill>
        <p:spPr>
          <a:xfrm>
            <a:off x="2367791" y="1943928"/>
            <a:ext cx="7405254" cy="4551910"/>
          </a:xfrm>
          <a:prstGeom prst="rect">
            <a:avLst/>
          </a:prstGeom>
        </p:spPr>
      </p:pic>
    </p:spTree>
    <p:extLst>
      <p:ext uri="{BB962C8B-B14F-4D97-AF65-F5344CB8AC3E}">
        <p14:creationId xmlns:p14="http://schemas.microsoft.com/office/powerpoint/2010/main" val="121589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9E057E-8061-1F27-C1F4-19238DF2DAFF}"/>
              </a:ext>
            </a:extLst>
          </p:cNvPr>
          <p:cNvSpPr>
            <a:spLocks noGrp="1"/>
          </p:cNvSpPr>
          <p:nvPr>
            <p:ph type="title"/>
          </p:nvPr>
        </p:nvSpPr>
        <p:spPr>
          <a:xfrm>
            <a:off x="1115568" y="548640"/>
            <a:ext cx="10168128" cy="1179576"/>
          </a:xfrm>
        </p:spPr>
        <p:txBody>
          <a:bodyPr>
            <a:normAutofit/>
          </a:bodyPr>
          <a:lstStyle/>
          <a:p>
            <a:r>
              <a:rPr lang="en-LK" b="1" dirty="0">
                <a:latin typeface="Times New Roman" panose="02020603050405020304" pitchFamily="18" charset="0"/>
                <a:cs typeface="Times New Roman" panose="02020603050405020304" pitchFamily="18" charset="0"/>
              </a:rPr>
              <a:t>Types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66FDAE0-4049-B622-C9B5-C660AB155A1D}"/>
              </a:ext>
            </a:extLst>
          </p:cNvPr>
          <p:cNvSpPr>
            <a:spLocks noGrp="1"/>
          </p:cNvSpPr>
          <p:nvPr>
            <p:ph idx="1"/>
          </p:nvPr>
        </p:nvSpPr>
        <p:spPr>
          <a:xfrm>
            <a:off x="1115568" y="2481943"/>
            <a:ext cx="10168128" cy="3695020"/>
          </a:xfrm>
        </p:spPr>
        <p:txBody>
          <a:bodyPr>
            <a:normAutofit/>
          </a:bodyPr>
          <a:lstStyle/>
          <a:p>
            <a:pPr algn="just"/>
            <a:r>
              <a:rPr lang="en-GB">
                <a:latin typeface="Times New Roman" panose="02020603050405020304" pitchFamily="18" charset="0"/>
                <a:cs typeface="Times New Roman" panose="02020603050405020304" pitchFamily="18" charset="0"/>
              </a:rPr>
              <a:t>Inflation is an increase in the overall price level. </a:t>
            </a:r>
          </a:p>
          <a:p>
            <a:pPr algn="just"/>
            <a:r>
              <a:rPr lang="en-GB">
                <a:latin typeface="Times New Roman" panose="02020603050405020304" pitchFamily="18" charset="0"/>
                <a:cs typeface="Times New Roman" panose="02020603050405020304" pitchFamily="18" charset="0"/>
              </a:rPr>
              <a:t>Hyperinflation is a period of very rapid increases in the overall price level. Hyperinflation is a rare phenomenon.</a:t>
            </a:r>
          </a:p>
          <a:p>
            <a:pPr algn="just"/>
            <a:r>
              <a:rPr lang="en-GB">
                <a:latin typeface="Times New Roman" panose="02020603050405020304" pitchFamily="18" charset="0"/>
                <a:cs typeface="Times New Roman" panose="02020603050405020304" pitchFamily="18" charset="0"/>
              </a:rPr>
              <a:t>Deflation is a decrease in the overall price level. Prolonged periods of deflation can be just as damaging for the economy as sustained inflation</a:t>
            </a:r>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46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65" name="Rectangle 4506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067" name="Rectangle 4506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5069" name="Rectangle 4506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058" name="Rectangle 2">
            <a:extLst>
              <a:ext uri="{FF2B5EF4-FFF2-40B4-BE49-F238E27FC236}">
                <a16:creationId xmlns:a16="http://schemas.microsoft.com/office/drawing/2014/main" id="{DC069669-CD7B-72DF-23BB-06DE528E1274}"/>
              </a:ext>
            </a:extLst>
          </p:cNvPr>
          <p:cNvSpPr>
            <a:spLocks noGrp="1" noChangeArrowheads="1"/>
          </p:cNvSpPr>
          <p:nvPr>
            <p:ph type="title"/>
          </p:nvPr>
        </p:nvSpPr>
        <p:spPr>
          <a:xfrm>
            <a:off x="1115568" y="548640"/>
            <a:ext cx="10168128" cy="1179576"/>
          </a:xfrm>
        </p:spPr>
        <p:txBody>
          <a:bodyPr>
            <a:normAutofit/>
          </a:bodyPr>
          <a:lstStyle/>
          <a:p>
            <a:pPr eaLnBrk="1" hangingPunct="1"/>
            <a:r>
              <a:rPr lang="en-GB" altLang="en-US" sz="4800" b="1" dirty="0">
                <a:latin typeface="Times New Roman" panose="02020603050405020304" pitchFamily="18" charset="0"/>
                <a:cs typeface="Times New Roman" panose="02020603050405020304" pitchFamily="18" charset="0"/>
              </a:rPr>
              <a:t>The causes of inflation</a:t>
            </a:r>
          </a:p>
        </p:txBody>
      </p:sp>
      <p:sp>
        <p:nvSpPr>
          <p:cNvPr id="45071" name="Rectangle 4507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059" name="Rectangle 3">
            <a:extLst>
              <a:ext uri="{FF2B5EF4-FFF2-40B4-BE49-F238E27FC236}">
                <a16:creationId xmlns:a16="http://schemas.microsoft.com/office/drawing/2014/main" id="{C56D1617-B7B5-C371-AB5E-2FBCF0462825}"/>
              </a:ext>
            </a:extLst>
          </p:cNvPr>
          <p:cNvSpPr>
            <a:spLocks noGrp="1" noChangeArrowheads="1"/>
          </p:cNvSpPr>
          <p:nvPr>
            <p:ph type="body" idx="1"/>
          </p:nvPr>
        </p:nvSpPr>
        <p:spPr>
          <a:xfrm>
            <a:off x="1115568" y="2481943"/>
            <a:ext cx="10168128" cy="3695020"/>
          </a:xfrm>
        </p:spPr>
        <p:txBody>
          <a:bodyPr>
            <a:normAutofit fontScale="92500"/>
          </a:bodyPr>
          <a:lstStyle/>
          <a:p>
            <a:pPr algn="just" eaLnBrk="1" hangingPunct="1">
              <a:buFont typeface="Wingdings" pitchFamily="2" charset="2"/>
              <a:buChar char="Ø"/>
            </a:pPr>
            <a:r>
              <a:rPr lang="en-GB" altLang="en-US" dirty="0">
                <a:latin typeface="Times New Roman" panose="02020603050405020304" pitchFamily="18" charset="0"/>
                <a:cs typeface="Times New Roman" panose="02020603050405020304" pitchFamily="18" charset="0"/>
              </a:rPr>
              <a:t>Inflation results when the macro economy has too much demand for available production. These alternatives fall under two general categories:</a:t>
            </a:r>
          </a:p>
          <a:p>
            <a:pPr algn="just" eaLnBrk="1" hangingPunct="1">
              <a:buFont typeface="Wingdings" pitchFamily="2" charset="2"/>
              <a:buChar char="Ø"/>
            </a:pPr>
            <a:r>
              <a:rPr lang="en-GB" altLang="en-US" b="1" dirty="0">
                <a:solidFill>
                  <a:srgbClr val="FF0000"/>
                </a:solidFill>
                <a:latin typeface="Times New Roman" panose="02020603050405020304" pitchFamily="18" charset="0"/>
                <a:cs typeface="Times New Roman" panose="02020603050405020304" pitchFamily="18" charset="0"/>
              </a:rPr>
              <a:t>Demand-Pull Inflation: </a:t>
            </a:r>
            <a:r>
              <a:rPr lang="en-GB" altLang="en-US" dirty="0">
                <a:latin typeface="Times New Roman" panose="02020603050405020304" pitchFamily="18" charset="0"/>
                <a:cs typeface="Times New Roman" panose="02020603050405020304" pitchFamily="18" charset="0"/>
              </a:rPr>
              <a:t>This inflation occurs when households, businesses, governments, and foreign industries collectively try to purchase more output than the economy is capable of producing. In effect, the demand side of the aggregate market is "pulling" the price level higher.</a:t>
            </a:r>
          </a:p>
          <a:p>
            <a:pPr algn="just" eaLnBrk="1" hangingPunct="1">
              <a:buFont typeface="Wingdings" pitchFamily="2" charset="2"/>
              <a:buChar char="Ø"/>
            </a:pPr>
            <a:r>
              <a:rPr lang="en-GB" altLang="en-US" b="1" dirty="0">
                <a:solidFill>
                  <a:srgbClr val="FF0000"/>
                </a:solidFill>
                <a:latin typeface="Times New Roman" panose="02020603050405020304" pitchFamily="18" charset="0"/>
                <a:cs typeface="Times New Roman" panose="02020603050405020304" pitchFamily="18" charset="0"/>
              </a:rPr>
              <a:t>Cost-Push Inflation: </a:t>
            </a:r>
            <a:r>
              <a:rPr lang="en-GB" altLang="en-US" dirty="0">
                <a:latin typeface="Times New Roman" panose="02020603050405020304" pitchFamily="18" charset="0"/>
                <a:cs typeface="Times New Roman" panose="02020603050405020304" pitchFamily="18" charset="0"/>
              </a:rPr>
              <a:t>Cost-push inflation is inflation attributable to decreases in supply, primarily due to increases in production cost</a:t>
            </a:r>
          </a:p>
          <a:p>
            <a:pPr algn="just" eaLnBrk="1" hangingPunct="1">
              <a:buFont typeface="Wingdings" pitchFamily="2" charset="2"/>
              <a:buChar char="Ø"/>
            </a:pPr>
            <a:endParaRPr lang="en-GB" altLang="en-US" dirty="0">
              <a:latin typeface="Times New Roman" panose="02020603050405020304" pitchFamily="18" charset="0"/>
              <a:cs typeface="Times New Roman" panose="02020603050405020304" pitchFamily="18" charset="0"/>
            </a:endParaRPr>
          </a:p>
          <a:p>
            <a:pPr algn="just" eaLnBrk="1" hangingPunct="1"/>
            <a:endParaRPr lang="en-GB" altLang="en-US" dirty="0">
              <a:latin typeface="Times New Roman" panose="02020603050405020304" pitchFamily="18" charset="0"/>
              <a:cs typeface="Times New Roman" panose="02020603050405020304" pitchFamily="18" charset="0"/>
            </a:endParaRPr>
          </a:p>
          <a:p>
            <a:pPr algn="just" eaLnBrk="1" hangingPunct="1"/>
            <a:endParaRPr lang="en-GB" altLang="en-US" dirty="0">
              <a:latin typeface="Times New Roman" panose="02020603050405020304" pitchFamily="18" charset="0"/>
              <a:cs typeface="Times New Roman" panose="02020603050405020304" pitchFamily="18" charset="0"/>
            </a:endParaRPr>
          </a:p>
          <a:p>
            <a:pPr algn="just" eaLnBrk="1" hangingPunct="1"/>
            <a:endParaRPr lang="en-GB" altLang="en-US" dirty="0">
              <a:latin typeface="Times New Roman" panose="02020603050405020304" pitchFamily="18" charset="0"/>
              <a:cs typeface="Times New Roman" panose="02020603050405020304" pitchFamily="18" charset="0"/>
            </a:endParaRPr>
          </a:p>
          <a:p>
            <a:pPr algn="just" eaLnBrk="1" hangingPunct="1"/>
            <a:endParaRPr lang="en-GB" altLang="en-US" dirty="0">
              <a:latin typeface="Times New Roman" panose="02020603050405020304" pitchFamily="18" charset="0"/>
              <a:cs typeface="Times New Roman" panose="02020603050405020304" pitchFamily="18" charset="0"/>
            </a:endParaRPr>
          </a:p>
          <a:p>
            <a:pPr algn="just" eaLnBrk="1" hangingPunct="1">
              <a:buFontTx/>
              <a:buNone/>
            </a:pPr>
            <a:endParaRPr lang="en-GB" altLang="en-US" dirty="0">
              <a:latin typeface="Times New Roman" panose="02020603050405020304" pitchFamily="18" charset="0"/>
              <a:cs typeface="Times New Roman" panose="02020603050405020304" pitchFamily="18" charset="0"/>
            </a:endParaRPr>
          </a:p>
          <a:p>
            <a:pPr algn="just" eaLnBrk="1" hangingPunct="1"/>
            <a:endParaRPr lang="en-GB" altLang="en-US" dirty="0">
              <a:latin typeface="Times New Roman" panose="02020603050405020304" pitchFamily="18" charset="0"/>
              <a:cs typeface="Times New Roman" panose="02020603050405020304" pitchFamily="18" charset="0"/>
            </a:endParaRPr>
          </a:p>
          <a:p>
            <a:pPr algn="just" eaLnBrk="1" hangingPunct="1"/>
            <a:endParaRPr lang="en-US" altLang="en-US" dirty="0">
              <a:latin typeface="Times New Roman" panose="02020603050405020304" pitchFamily="18" charset="0"/>
              <a:cs typeface="Times New Roman" panose="02020603050405020304" pitchFamily="18" charset="0"/>
            </a:endParaRPr>
          </a:p>
        </p:txBody>
      </p:sp>
      <p:sp>
        <p:nvSpPr>
          <p:cNvPr id="45060" name="Text Box 4">
            <a:extLst>
              <a:ext uri="{FF2B5EF4-FFF2-40B4-BE49-F238E27FC236}">
                <a16:creationId xmlns:a16="http://schemas.microsoft.com/office/drawing/2014/main" id="{76C493BE-DF29-08F5-D026-845DBBBED2A2}"/>
              </a:ext>
            </a:extLst>
          </p:cNvPr>
          <p:cNvSpPr txBox="1">
            <a:spLocks noChangeArrowheads="1"/>
          </p:cNvSpPr>
          <p:nvPr/>
        </p:nvSpPr>
        <p:spPr bwMode="auto">
          <a:xfrm>
            <a:off x="1676400" y="6032500"/>
            <a:ext cx="3048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GB" altLang="en-US" sz="1600">
              <a:latin typeface="Verdana" panose="020B0604030504040204" pitchFamily="34" charset="0"/>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yper inflation in Zimbabwe 2008 : r/pics">
            <a:extLst>
              <a:ext uri="{FF2B5EF4-FFF2-40B4-BE49-F238E27FC236}">
                <a16:creationId xmlns:a16="http://schemas.microsoft.com/office/drawing/2014/main" id="{C627D88C-6F97-8F6F-08DF-1D9DD47BF0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5283" y="795110"/>
            <a:ext cx="4323489" cy="43513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close up of a money bill&#10;&#10;AI-generated content may be incorrect.">
            <a:extLst>
              <a:ext uri="{FF2B5EF4-FFF2-40B4-BE49-F238E27FC236}">
                <a16:creationId xmlns:a16="http://schemas.microsoft.com/office/drawing/2014/main" id="{02DDAF41-E2A2-0D05-AAB7-86BA18EFE7F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35353" y="1671611"/>
            <a:ext cx="6155904" cy="2610103"/>
          </a:xfrm>
          <a:prstGeom prst="rect">
            <a:avLst/>
          </a:prstGeom>
        </p:spPr>
      </p:pic>
    </p:spTree>
    <p:extLst>
      <p:ext uri="{BB962C8B-B14F-4D97-AF65-F5344CB8AC3E}">
        <p14:creationId xmlns:p14="http://schemas.microsoft.com/office/powerpoint/2010/main" val="2192127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money bill&#10;&#10;AI-generated content may be incorrect.">
            <a:extLst>
              <a:ext uri="{FF2B5EF4-FFF2-40B4-BE49-F238E27FC236}">
                <a16:creationId xmlns:a16="http://schemas.microsoft.com/office/drawing/2014/main" id="{FE21E74F-0592-5DA6-0618-A485BCB6025E}"/>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489857" y="418987"/>
            <a:ext cx="5778500" cy="2374900"/>
          </a:xfrm>
        </p:spPr>
      </p:pic>
      <p:pic>
        <p:nvPicPr>
          <p:cNvPr id="1026" name="Picture 2" descr="Zeroes After Zeroes: The World's Highest Currencies - Atlas Obscura">
            <a:extLst>
              <a:ext uri="{FF2B5EF4-FFF2-40B4-BE49-F238E27FC236}">
                <a16:creationId xmlns:a16="http://schemas.microsoft.com/office/drawing/2014/main" id="{F17745CE-5B79-84CE-BD00-D209B9FA9E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8259" y="418986"/>
            <a:ext cx="5123884" cy="25419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rrent Note Series | Central Bank of Sri Lanka">
            <a:extLst>
              <a:ext uri="{FF2B5EF4-FFF2-40B4-BE49-F238E27FC236}">
                <a16:creationId xmlns:a16="http://schemas.microsoft.com/office/drawing/2014/main" id="{73BEACBB-4062-013B-4582-DB4DCF131E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6115" y="3429000"/>
            <a:ext cx="6502400" cy="284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541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159" name="Rectangle 4915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9161" name="Rectangle 4916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9163" name="Rectangle 4916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154" name="Title 1">
            <a:extLst>
              <a:ext uri="{FF2B5EF4-FFF2-40B4-BE49-F238E27FC236}">
                <a16:creationId xmlns:a16="http://schemas.microsoft.com/office/drawing/2014/main" id="{C4D94D21-852A-63F6-918F-10AD760D8A38}"/>
              </a:ext>
            </a:extLst>
          </p:cNvPr>
          <p:cNvSpPr>
            <a:spLocks noGrp="1" noChangeArrowheads="1"/>
          </p:cNvSpPr>
          <p:nvPr>
            <p:ph type="title"/>
          </p:nvPr>
        </p:nvSpPr>
        <p:spPr>
          <a:xfrm>
            <a:off x="1115568" y="548640"/>
            <a:ext cx="10168128" cy="1179576"/>
          </a:xfrm>
        </p:spPr>
        <p:txBody>
          <a:bodyPr vert="horz" lIns="91440" tIns="45720" rIns="91440" bIns="45720" rtlCol="0" anchor="ctr">
            <a:normAutofit/>
          </a:bodyPr>
          <a:lstStyle/>
          <a:p>
            <a:r>
              <a:rPr lang="en-US" altLang="en-LK" b="1" dirty="0">
                <a:latin typeface="Times New Roman" panose="02020603050405020304" pitchFamily="18" charset="0"/>
                <a:cs typeface="Times New Roman" panose="02020603050405020304" pitchFamily="18" charset="0"/>
              </a:rPr>
              <a:t>C</a:t>
            </a:r>
            <a:r>
              <a:rPr lang="en-US" altLang="en-LK" b="1" kern="1200" dirty="0">
                <a:solidFill>
                  <a:schemeClr val="tx1"/>
                </a:solidFill>
                <a:latin typeface="Times New Roman" panose="02020603050405020304" pitchFamily="18" charset="0"/>
                <a:cs typeface="Times New Roman" panose="02020603050405020304" pitchFamily="18" charset="0"/>
              </a:rPr>
              <a:t>auses of Deflation</a:t>
            </a:r>
          </a:p>
        </p:txBody>
      </p:sp>
      <p:sp>
        <p:nvSpPr>
          <p:cNvPr id="49165" name="Rectangle 4916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7FBCC063-23E5-4A67-EE73-A67CBE8F33DC}"/>
              </a:ext>
            </a:extLst>
          </p:cNvPr>
          <p:cNvSpPr txBox="1"/>
          <p:nvPr/>
        </p:nvSpPr>
        <p:spPr>
          <a:xfrm>
            <a:off x="1115568" y="2323447"/>
            <a:ext cx="10168128" cy="3695020"/>
          </a:xfrm>
          <a:prstGeom prst="rect">
            <a:avLst/>
          </a:prstGeom>
        </p:spPr>
        <p:txBody>
          <a:bodyPr vert="horz" lIns="91440" tIns="45720" rIns="91440" bIns="45720" rtlCol="0">
            <a:normAutofit/>
          </a:bodyPr>
          <a:lstStyle/>
          <a:p>
            <a:pPr>
              <a:lnSpc>
                <a:spcPct val="90000"/>
              </a:lnSpc>
              <a:spcAft>
                <a:spcPts val="600"/>
              </a:spcAft>
              <a:defRPr/>
            </a:pPr>
            <a:r>
              <a:rPr lang="en-US" sz="2800" dirty="0">
                <a:latin typeface="Times New Roman" panose="02020603050405020304" pitchFamily="18" charset="0"/>
                <a:cs typeface="Times New Roman" panose="02020603050405020304" pitchFamily="18" charset="0"/>
              </a:rPr>
              <a:t>Deflation involves a fall in the price level –  a negative rate of inflation. From a very basic standpoint, there are two main potential causes of deflation:</a:t>
            </a:r>
          </a:p>
          <a:p>
            <a:pPr indent="-228600">
              <a:lnSpc>
                <a:spcPct val="90000"/>
              </a:lnSpc>
              <a:spcAft>
                <a:spcPts val="600"/>
              </a:spcAft>
              <a:buFont typeface="Arial" panose="020B0604020202020204" pitchFamily="34" charset="0"/>
              <a:buChar char="•"/>
              <a:defRPr/>
            </a:pPr>
            <a:endParaRPr lang="en-US" sz="2800" dirty="0">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defRPr/>
            </a:pPr>
            <a:r>
              <a:rPr lang="en-US" sz="2800" dirty="0">
                <a:latin typeface="Times New Roman" panose="02020603050405020304" pitchFamily="18" charset="0"/>
                <a:cs typeface="Times New Roman" panose="02020603050405020304" pitchFamily="18" charset="0"/>
              </a:rPr>
              <a:t>A fall in aggregate demand (AD)</a:t>
            </a:r>
          </a:p>
          <a:p>
            <a:pPr marL="457200" indent="-228600">
              <a:lnSpc>
                <a:spcPct val="90000"/>
              </a:lnSpc>
              <a:spcAft>
                <a:spcPts val="600"/>
              </a:spcAft>
              <a:buFont typeface="Arial" panose="020B0604020202020204" pitchFamily="34" charset="0"/>
              <a:buChar char="•"/>
              <a:defRPr/>
            </a:pPr>
            <a:endParaRPr lang="en-US" sz="2800" dirty="0">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defRPr/>
            </a:pPr>
            <a:r>
              <a:rPr lang="en-US" sz="2800" dirty="0">
                <a:latin typeface="Times New Roman" panose="02020603050405020304" pitchFamily="18" charset="0"/>
                <a:cs typeface="Times New Roman" panose="02020603050405020304" pitchFamily="18" charset="0"/>
              </a:rPr>
              <a:t>A shift to the right of aggregate supply (AS)  </a:t>
            </a:r>
          </a:p>
          <a:p>
            <a:pPr marL="228600">
              <a:lnSpc>
                <a:spcPct val="90000"/>
              </a:lnSpc>
              <a:spcAft>
                <a:spcPts val="600"/>
              </a:spcAft>
              <a:defRPr/>
            </a:pPr>
            <a:r>
              <a:rPr lang="en-US" sz="2800" dirty="0">
                <a:latin typeface="Times New Roman" panose="02020603050405020304" pitchFamily="18" charset="0"/>
                <a:cs typeface="Times New Roman" panose="02020603050405020304" pitchFamily="18" charset="0"/>
              </a:rPr>
              <a:t>     i.e., lower costs of production through improved technology.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24950C05-E59F-C777-17A8-BEAF24A30ED2}"/>
              </a:ext>
            </a:extLst>
          </p:cNvPr>
          <p:cNvSpPr>
            <a:spLocks noGrp="1" noChangeArrowheads="1"/>
          </p:cNvSpPr>
          <p:nvPr>
            <p:ph type="title"/>
          </p:nvPr>
        </p:nvSpPr>
        <p:spPr/>
        <p:txBody>
          <a:bodyPr/>
          <a:lstStyle/>
          <a:p>
            <a:r>
              <a:rPr lang="en-US" altLang="en-LK" b="1">
                <a:latin typeface="Times New Roman" panose="02020603050405020304" pitchFamily="18" charset="0"/>
                <a:cs typeface="Times New Roman" panose="02020603050405020304" pitchFamily="18" charset="0"/>
              </a:rPr>
              <a:t>Causes of Deflation</a:t>
            </a:r>
          </a:p>
        </p:txBody>
      </p:sp>
      <p:pic>
        <p:nvPicPr>
          <p:cNvPr id="50179" name="Picture 3">
            <a:extLst>
              <a:ext uri="{FF2B5EF4-FFF2-40B4-BE49-F238E27FC236}">
                <a16:creationId xmlns:a16="http://schemas.microsoft.com/office/drawing/2014/main" id="{84CB8B04-02A1-347D-727B-BF04144E75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1417638"/>
            <a:ext cx="8075613"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08" name="Rectangle 5120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210" name="Rectangle 5120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212" name="Rectangle 512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202" name="Title 1">
            <a:extLst>
              <a:ext uri="{FF2B5EF4-FFF2-40B4-BE49-F238E27FC236}">
                <a16:creationId xmlns:a16="http://schemas.microsoft.com/office/drawing/2014/main" id="{847CC6E6-31D3-66F1-A5BA-B3D8FBF8EDCF}"/>
              </a:ext>
            </a:extLst>
          </p:cNvPr>
          <p:cNvSpPr>
            <a:spLocks noGrp="1" noChangeArrowheads="1"/>
          </p:cNvSpPr>
          <p:nvPr>
            <p:ph type="title"/>
          </p:nvPr>
        </p:nvSpPr>
        <p:spPr>
          <a:xfrm>
            <a:off x="1115568" y="548640"/>
            <a:ext cx="10168128" cy="1179576"/>
          </a:xfrm>
        </p:spPr>
        <p:txBody>
          <a:bodyPr>
            <a:normAutofit/>
          </a:bodyPr>
          <a:lstStyle/>
          <a:p>
            <a:r>
              <a:rPr lang="en-US" altLang="en-US" sz="4000" b="1" dirty="0">
                <a:latin typeface="Times New Roman" panose="02020603050405020304" pitchFamily="18" charset="0"/>
                <a:cs typeface="Times New Roman" panose="02020603050405020304" pitchFamily="18" charset="0"/>
              </a:rPr>
              <a:t>Why Inflation and Deflation Are Problems?</a:t>
            </a:r>
          </a:p>
        </p:txBody>
      </p:sp>
      <p:sp>
        <p:nvSpPr>
          <p:cNvPr id="51214" name="Rectangle 512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203" name="Content Placeholder 2">
            <a:extLst>
              <a:ext uri="{FF2B5EF4-FFF2-40B4-BE49-F238E27FC236}">
                <a16:creationId xmlns:a16="http://schemas.microsoft.com/office/drawing/2014/main" id="{6C86B035-325E-6036-BA7F-CC1301C2FEF1}"/>
              </a:ext>
            </a:extLst>
          </p:cNvPr>
          <p:cNvSpPr>
            <a:spLocks noGrp="1" noChangeArrowheads="1"/>
          </p:cNvSpPr>
          <p:nvPr>
            <p:ph idx="1"/>
          </p:nvPr>
        </p:nvSpPr>
        <p:spPr>
          <a:xfrm>
            <a:off x="1115568" y="2481943"/>
            <a:ext cx="10168128" cy="3695020"/>
          </a:xfrm>
        </p:spPr>
        <p:txBody>
          <a:bodyPr>
            <a:normAutofit/>
          </a:bodyPr>
          <a:lstStyle/>
          <a:p>
            <a:pPr algn="just">
              <a:buFont typeface="Wingdings" pitchFamily="2" charset="2"/>
              <a:buChar char="Ø"/>
            </a:pPr>
            <a:r>
              <a:rPr lang="en-US" altLang="en-US" dirty="0">
                <a:latin typeface="Times New Roman" panose="02020603050405020304" pitchFamily="18" charset="0"/>
                <a:cs typeface="Times New Roman" panose="02020603050405020304" pitchFamily="18" charset="0"/>
              </a:rPr>
              <a:t>Affect the distribution of income and wealth </a:t>
            </a:r>
          </a:p>
          <a:p>
            <a:pPr algn="just">
              <a:buFont typeface="Wingdings" pitchFamily="2" charset="2"/>
              <a:buChar char="Ø"/>
            </a:pPr>
            <a:r>
              <a:rPr lang="en-US" altLang="en-US" dirty="0">
                <a:latin typeface="Times New Roman" panose="02020603050405020304" pitchFamily="18" charset="0"/>
                <a:cs typeface="Times New Roman" panose="02020603050405020304" pitchFamily="18" charset="0"/>
              </a:rPr>
              <a:t>Wage contracts between workers and employers has resulted in losses to the employee if inflation is not expected to be too high, while wages will not rise immediately.</a:t>
            </a:r>
          </a:p>
          <a:p>
            <a:pPr algn="just">
              <a:buFont typeface="Wingdings" pitchFamily="2" charset="2"/>
              <a:buChar char="Ø"/>
            </a:pPr>
            <a:r>
              <a:rPr lang="en-US" altLang="en-US" dirty="0">
                <a:latin typeface="Times New Roman" panose="02020603050405020304" pitchFamily="18" charset="0"/>
                <a:cs typeface="Times New Roman" panose="02020603050405020304" pitchFamily="18" charset="0"/>
              </a:rPr>
              <a:t>Lowers real GDP and employment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A93AA6-D2AD-9706-7CEB-1648C4A909AA}"/>
              </a:ext>
            </a:extLst>
          </p:cNvPr>
          <p:cNvSpPr>
            <a:spLocks noGrp="1"/>
          </p:cNvSpPr>
          <p:nvPr>
            <p:ph type="title"/>
          </p:nvPr>
        </p:nvSpPr>
        <p:spPr>
          <a:xfrm>
            <a:off x="1115568" y="548640"/>
            <a:ext cx="10168128" cy="1179576"/>
          </a:xfrm>
        </p:spPr>
        <p:txBody>
          <a:bodyPr>
            <a:normAutofit/>
          </a:bodyPr>
          <a:lstStyle/>
          <a:p>
            <a:r>
              <a:rPr lang="en-LK" sz="4000" b="1">
                <a:latin typeface="Times New Roman" panose="02020603050405020304" pitchFamily="18" charset="0"/>
                <a:cs typeface="Times New Roman" panose="02020603050405020304" pitchFamily="18" charset="0"/>
              </a:rPr>
              <a:t>Causes of hyperinflation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4D4FDC9-43B5-3355-ABB7-42E0C5CFA679}"/>
              </a:ext>
            </a:extLst>
          </p:cNvPr>
          <p:cNvSpPr>
            <a:spLocks noGrp="1"/>
          </p:cNvSpPr>
          <p:nvPr>
            <p:ph idx="1"/>
          </p:nvPr>
        </p:nvSpPr>
        <p:spPr>
          <a:xfrm>
            <a:off x="847344" y="2481943"/>
            <a:ext cx="10168128" cy="3695020"/>
          </a:xfrm>
        </p:spPr>
        <p:txBody>
          <a:bodyPr>
            <a:normAutofit/>
          </a:bodyPr>
          <a:lstStyle/>
          <a:p>
            <a:pPr algn="just"/>
            <a:r>
              <a:rPr lang="en-LK">
                <a:latin typeface="Times New Roman" panose="02020603050405020304" pitchFamily="18" charset="0"/>
                <a:cs typeface="Times New Roman" panose="02020603050405020304" pitchFamily="18" charset="0"/>
              </a:rPr>
              <a:t>A high Money supply leads to higher demand leaving the supply as constant. </a:t>
            </a:r>
            <a:r>
              <a:rPr lang="en-GB">
                <a:latin typeface="Times New Roman" panose="02020603050405020304" pitchFamily="18" charset="0"/>
                <a:cs typeface="Times New Roman" panose="02020603050405020304" pitchFamily="18" charset="0"/>
              </a:rPr>
              <a:t>H</a:t>
            </a:r>
            <a:r>
              <a:rPr lang="en-LK">
                <a:latin typeface="Times New Roman" panose="02020603050405020304" pitchFamily="18" charset="0"/>
                <a:cs typeface="Times New Roman" panose="02020603050405020304" pitchFamily="18" charset="0"/>
              </a:rPr>
              <a:t>ence, prices of goods and services tend to rise.</a:t>
            </a:r>
          </a:p>
          <a:p>
            <a:pPr algn="just"/>
            <a:r>
              <a:rPr lang="en-LK">
                <a:latin typeface="Times New Roman" panose="02020603050405020304" pitchFamily="18" charset="0"/>
                <a:cs typeface="Times New Roman" panose="02020603050405020304" pitchFamily="18" charset="0"/>
              </a:rPr>
              <a:t>Demand-pull inflation is where there is a sudden increase in demand with constant supply.</a:t>
            </a:r>
          </a:p>
          <a:p>
            <a:pPr algn="just"/>
            <a:r>
              <a:rPr lang="en-US">
                <a:latin typeface="Times New Roman" panose="02020603050405020304" pitchFamily="18" charset="0"/>
                <a:cs typeface="Times New Roman" panose="02020603050405020304" pitchFamily="18" charset="0"/>
              </a:rPr>
              <a:t>The market</a:t>
            </a:r>
            <a:r>
              <a:rPr lang="en-LK">
                <a:latin typeface="Times New Roman" panose="02020603050405020304" pitchFamily="18" charset="0"/>
                <a:cs typeface="Times New Roman" panose="02020603050405020304" pitchFamily="18" charset="0"/>
              </a:rPr>
              <a:t> loses confidence where citizens start losing confidence in the currency.</a:t>
            </a:r>
          </a:p>
          <a:p>
            <a:pPr algn="just"/>
            <a:r>
              <a:rPr lang="en-US">
                <a:latin typeface="Times New Roman" panose="02020603050405020304" pitchFamily="18" charset="0"/>
                <a:cs typeface="Times New Roman" panose="02020603050405020304" pitchFamily="18" charset="0"/>
              </a:rPr>
              <a:t>The warlike</a:t>
            </a:r>
            <a:r>
              <a:rPr lang="en-LK">
                <a:latin typeface="Times New Roman" panose="02020603050405020304" pitchFamily="18" charset="0"/>
                <a:cs typeface="Times New Roman" panose="02020603050405020304" pitchFamily="18" charset="0"/>
              </a:rPr>
              <a:t> situation between different countries can also cause hyperinflation.</a:t>
            </a:r>
          </a:p>
        </p:txBody>
      </p:sp>
    </p:spTree>
    <p:extLst>
      <p:ext uri="{BB962C8B-B14F-4D97-AF65-F5344CB8AC3E}">
        <p14:creationId xmlns:p14="http://schemas.microsoft.com/office/powerpoint/2010/main" val="4011192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6BE5068-1C17-015C-6B6F-70128550FE59}"/>
              </a:ext>
            </a:extLst>
          </p:cNvPr>
          <p:cNvSpPr>
            <a:spLocks noGrp="1"/>
          </p:cNvSpPr>
          <p:nvPr>
            <p:ph type="title"/>
          </p:nvPr>
        </p:nvSpPr>
        <p:spPr>
          <a:xfrm>
            <a:off x="1115568" y="548640"/>
            <a:ext cx="10168128" cy="1179576"/>
          </a:xfrm>
        </p:spPr>
        <p:txBody>
          <a:bodyPr>
            <a:normAutofit/>
          </a:bodyPr>
          <a:lstStyle/>
          <a:p>
            <a:r>
              <a:rPr lang="en-LK" b="1">
                <a:latin typeface="Times New Roman" panose="02020603050405020304" pitchFamily="18" charset="0"/>
                <a:cs typeface="Times New Roman" panose="02020603050405020304" pitchFamily="18" charset="0"/>
              </a:rPr>
              <a:t>Effects of hyperinflation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6116F45-A6CB-B887-2432-62E59DE1F14D}"/>
              </a:ext>
            </a:extLst>
          </p:cNvPr>
          <p:cNvSpPr>
            <a:spLocks noGrp="1"/>
          </p:cNvSpPr>
          <p:nvPr>
            <p:ph idx="1"/>
          </p:nvPr>
        </p:nvSpPr>
        <p:spPr>
          <a:xfrm>
            <a:off x="1115568" y="2481943"/>
            <a:ext cx="10168128" cy="3695020"/>
          </a:xfrm>
        </p:spPr>
        <p:txBody>
          <a:bodyPr>
            <a:normAutofit/>
          </a:bodyPr>
          <a:lstStyle/>
          <a:p>
            <a:pPr algn="just"/>
            <a:r>
              <a:rPr lang="en-GB">
                <a:latin typeface="Times New Roman" panose="02020603050405020304" pitchFamily="18" charset="0"/>
                <a:cs typeface="Times New Roman" panose="02020603050405020304" pitchFamily="18" charset="0"/>
              </a:rPr>
              <a:t>C</a:t>
            </a:r>
            <a:r>
              <a:rPr lang="en-LK">
                <a:latin typeface="Times New Roman" panose="02020603050405020304" pitchFamily="18" charset="0"/>
                <a:cs typeface="Times New Roman" panose="02020603050405020304" pitchFamily="18" charset="0"/>
              </a:rPr>
              <a:t>urrency value depreciates</a:t>
            </a:r>
          </a:p>
          <a:p>
            <a:pPr algn="just"/>
            <a:r>
              <a:rPr lang="en-GB">
                <a:latin typeface="Times New Roman" panose="02020603050405020304" pitchFamily="18" charset="0"/>
                <a:cs typeface="Times New Roman" panose="02020603050405020304" pitchFamily="18" charset="0"/>
              </a:rPr>
              <a:t>I</a:t>
            </a:r>
            <a:r>
              <a:rPr lang="en-LK">
                <a:latin typeface="Times New Roman" panose="02020603050405020304" pitchFamily="18" charset="0"/>
                <a:cs typeface="Times New Roman" panose="02020603050405020304" pitchFamily="18" charset="0"/>
              </a:rPr>
              <a:t>nvestment in gold, real estate, and commodities increases</a:t>
            </a:r>
          </a:p>
          <a:p>
            <a:pPr algn="just"/>
            <a:r>
              <a:rPr lang="en-GB">
                <a:latin typeface="Times New Roman" panose="02020603050405020304" pitchFamily="18" charset="0"/>
                <a:cs typeface="Times New Roman" panose="02020603050405020304" pitchFamily="18" charset="0"/>
              </a:rPr>
              <a:t>F</a:t>
            </a:r>
            <a:r>
              <a:rPr lang="en-LK">
                <a:latin typeface="Times New Roman" panose="02020603050405020304" pitchFamily="18" charset="0"/>
                <a:cs typeface="Times New Roman" panose="02020603050405020304" pitchFamily="18" charset="0"/>
              </a:rPr>
              <a:t>oreign investors back out</a:t>
            </a:r>
          </a:p>
          <a:p>
            <a:pPr algn="just"/>
            <a:r>
              <a:rPr lang="en-GB">
                <a:latin typeface="Times New Roman" panose="02020603050405020304" pitchFamily="18" charset="0"/>
                <a:cs typeface="Times New Roman" panose="02020603050405020304" pitchFamily="18" charset="0"/>
              </a:rPr>
              <a:t>S</a:t>
            </a:r>
            <a:r>
              <a:rPr lang="en-LK">
                <a:latin typeface="Times New Roman" panose="02020603050405020304" pitchFamily="18" charset="0"/>
                <a:cs typeface="Times New Roman" panose="02020603050405020304" pitchFamily="18" charset="0"/>
              </a:rPr>
              <a:t>hortage of basic food supplies</a:t>
            </a:r>
          </a:p>
          <a:p>
            <a:pPr algn="just"/>
            <a:r>
              <a:rPr lang="en-GB">
                <a:latin typeface="Times New Roman" panose="02020603050405020304" pitchFamily="18" charset="0"/>
                <a:cs typeface="Times New Roman" panose="02020603050405020304" pitchFamily="18" charset="0"/>
              </a:rPr>
              <a:t>D</a:t>
            </a:r>
            <a:r>
              <a:rPr lang="en-LK">
                <a:latin typeface="Times New Roman" panose="02020603050405020304" pitchFamily="18" charset="0"/>
                <a:cs typeface="Times New Roman" panose="02020603050405020304" pitchFamily="18" charset="0"/>
              </a:rPr>
              <a:t>isrupts the banking and financial institutions</a:t>
            </a:r>
          </a:p>
          <a:p>
            <a:pPr algn="just"/>
            <a:r>
              <a:rPr lang="en-GB">
                <a:latin typeface="Times New Roman" panose="02020603050405020304" pitchFamily="18" charset="0"/>
                <a:cs typeface="Times New Roman" panose="02020603050405020304" pitchFamily="18" charset="0"/>
              </a:rPr>
              <a:t>E</a:t>
            </a:r>
            <a:r>
              <a:rPr lang="en-LK">
                <a:latin typeface="Times New Roman" panose="02020603050405020304" pitchFamily="18" charset="0"/>
                <a:cs typeface="Times New Roman" panose="02020603050405020304" pitchFamily="18" charset="0"/>
              </a:rPr>
              <a:t>xports are cheaper, imports are costlier</a:t>
            </a:r>
          </a:p>
          <a:p>
            <a:pPr algn="just"/>
            <a:r>
              <a:rPr lang="en-GB">
                <a:latin typeface="Times New Roman" panose="02020603050405020304" pitchFamily="18" charset="0"/>
                <a:cs typeface="Times New Roman" panose="02020603050405020304" pitchFamily="18" charset="0"/>
              </a:rPr>
              <a:t>U</a:t>
            </a:r>
            <a:r>
              <a:rPr lang="en-LK">
                <a:latin typeface="Times New Roman" panose="02020603050405020304" pitchFamily="18" charset="0"/>
                <a:cs typeface="Times New Roman" panose="02020603050405020304" pitchFamily="18" charset="0"/>
              </a:rPr>
              <a:t>nemployment increases and the government’s revenue fall</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7209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CBFE6A-A293-045D-9A05-0B9E207FDADF}"/>
              </a:ext>
            </a:extLst>
          </p:cNvPr>
          <p:cNvSpPr>
            <a:spLocks noGrp="1"/>
          </p:cNvSpPr>
          <p:nvPr>
            <p:ph type="title"/>
          </p:nvPr>
        </p:nvSpPr>
        <p:spPr>
          <a:xfrm>
            <a:off x="1115568" y="548640"/>
            <a:ext cx="10168128" cy="1179576"/>
          </a:xfrm>
        </p:spPr>
        <p:txBody>
          <a:bodyPr>
            <a:noAutofit/>
          </a:bodyPr>
          <a:lstStyle/>
          <a:p>
            <a:r>
              <a:rPr lang="en-US" b="1" dirty="0">
                <a:latin typeface="Times New Roman" panose="02020603050405020304" pitchFamily="18" charset="0"/>
                <a:cs typeface="Times New Roman" panose="02020603050405020304" pitchFamily="18" charset="0"/>
              </a:rPr>
              <a:t>Creeping Inflation </a:t>
            </a:r>
            <a:br>
              <a:rPr lang="en-US" b="1" dirty="0">
                <a:latin typeface="Times New Roman" panose="02020603050405020304" pitchFamily="18" charset="0"/>
                <a:cs typeface="Times New Roman" panose="02020603050405020304" pitchFamily="18" charset="0"/>
              </a:rPr>
            </a:br>
            <a:endParaRPr lang="en-LK"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36B81AF-7AFE-6C4F-A632-562572ADA747}"/>
              </a:ext>
            </a:extLst>
          </p:cNvPr>
          <p:cNvSpPr>
            <a:spLocks noGrp="1"/>
          </p:cNvSpPr>
          <p:nvPr>
            <p:ph idx="1"/>
          </p:nvPr>
        </p:nvSpPr>
        <p:spPr>
          <a:xfrm>
            <a:off x="1115568" y="2481943"/>
            <a:ext cx="10168128" cy="3695020"/>
          </a:xfrm>
        </p:spPr>
        <p:txBody>
          <a:bodyPr>
            <a:normAutofit/>
          </a:bodyPr>
          <a:lstStyle/>
          <a:p>
            <a:pPr algn="just">
              <a:buFont typeface="Wingdings" panose="05000000000000000000" pitchFamily="2" charset="2"/>
              <a:buChar char="§"/>
              <a:defRPr/>
            </a:pPr>
            <a:r>
              <a:rPr lang="en-US">
                <a:latin typeface="Times New Roman" panose="02020603050405020304" pitchFamily="18" charset="0"/>
                <a:cs typeface="Times New Roman" panose="02020603050405020304" pitchFamily="18" charset="0"/>
              </a:rPr>
              <a:t>“When the rise in prices is very low like that of a snail or creeper, is called Creeping Inflation” </a:t>
            </a:r>
          </a:p>
          <a:p>
            <a:pPr algn="just">
              <a:buFont typeface="Wingdings" panose="05000000000000000000" pitchFamily="2" charset="2"/>
              <a:buChar char="§"/>
              <a:defRPr/>
            </a:pPr>
            <a:r>
              <a:rPr lang="en-US">
                <a:latin typeface="Times New Roman" panose="02020603050405020304" pitchFamily="18" charset="0"/>
                <a:cs typeface="Times New Roman" panose="02020603050405020304" pitchFamily="18" charset="0"/>
              </a:rPr>
              <a:t>Here the inflation rate is 5%.</a:t>
            </a:r>
          </a:p>
          <a:p>
            <a:pPr algn="just">
              <a:buFont typeface="Wingdings" panose="05000000000000000000" pitchFamily="2" charset="2"/>
              <a:buChar char="§"/>
              <a:defRPr/>
            </a:pPr>
            <a:r>
              <a:rPr lang="en-US">
                <a:latin typeface="Times New Roman" panose="02020603050405020304" pitchFamily="18" charset="0"/>
                <a:cs typeface="Times New Roman" panose="02020603050405020304" pitchFamily="18" charset="0"/>
              </a:rPr>
              <a:t>The general level of prices rises at a moderate rate over a long period of time.</a:t>
            </a:r>
          </a:p>
          <a:p>
            <a:pPr algn="just"/>
            <a:endParaRPr lang="en-LK"/>
          </a:p>
        </p:txBody>
      </p:sp>
    </p:spTree>
    <p:extLst>
      <p:ext uri="{BB962C8B-B14F-4D97-AF65-F5344CB8AC3E}">
        <p14:creationId xmlns:p14="http://schemas.microsoft.com/office/powerpoint/2010/main" val="1726697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E256E0-3D3F-83E9-56B5-6089F3CB48D6}"/>
              </a:ext>
            </a:extLst>
          </p:cNvPr>
          <p:cNvSpPr>
            <a:spLocks noGrp="1"/>
          </p:cNvSpPr>
          <p:nvPr>
            <p:ph type="title"/>
          </p:nvPr>
        </p:nvSpPr>
        <p:spPr>
          <a:xfrm>
            <a:off x="1115568" y="548640"/>
            <a:ext cx="10168128" cy="1179576"/>
          </a:xfrm>
        </p:spPr>
        <p:txBody>
          <a:bodyPr>
            <a:normAutofit/>
          </a:bodyPr>
          <a:lstStyle/>
          <a:p>
            <a:r>
              <a:rPr lang="en-LK" b="1">
                <a:latin typeface="Times New Roman" panose="02020603050405020304" pitchFamily="18" charset="0"/>
                <a:cs typeface="Times New Roman" panose="02020603050405020304" pitchFamily="18" charset="0"/>
              </a:rPr>
              <a:t>3. Output and Growth</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121663A-AB6F-BE25-91C4-0671DB20E073}"/>
              </a:ext>
            </a:extLst>
          </p:cNvPr>
          <p:cNvSpPr>
            <a:spLocks noGrp="1"/>
          </p:cNvSpPr>
          <p:nvPr>
            <p:ph idx="1"/>
          </p:nvPr>
        </p:nvSpPr>
        <p:spPr>
          <a:xfrm>
            <a:off x="1115568" y="2481943"/>
            <a:ext cx="10168128" cy="3695020"/>
          </a:xfrm>
        </p:spPr>
        <p:txBody>
          <a:bodyPr>
            <a:normAutofit lnSpcReduction="10000"/>
          </a:bodyPr>
          <a:lstStyle/>
          <a:p>
            <a:pPr algn="just"/>
            <a:r>
              <a:rPr lang="en-GB" dirty="0">
                <a:effectLst/>
                <a:latin typeface="Times New Roman" panose="02020603050405020304" pitchFamily="18" charset="0"/>
                <a:cs typeface="Times New Roman" panose="02020603050405020304" pitchFamily="18" charset="0"/>
              </a:rPr>
              <a:t>Growth refers to a change in the level of economic activity from one year to another year. </a:t>
            </a:r>
          </a:p>
          <a:p>
            <a:pPr algn="just"/>
            <a:r>
              <a:rPr lang="en-GB" dirty="0">
                <a:effectLst/>
                <a:latin typeface="Times New Roman" panose="02020603050405020304" pitchFamily="18" charset="0"/>
                <a:cs typeface="Times New Roman" panose="02020603050405020304" pitchFamily="18" charset="0"/>
              </a:rPr>
              <a:t>Growth means that poor and developing countries wish to attain a rise in their national income and per capita income. </a:t>
            </a:r>
          </a:p>
          <a:p>
            <a:pPr algn="just"/>
            <a:endParaRPr lang="en-GB" dirty="0">
              <a:effectLst/>
              <a:latin typeface="Times New Roman" panose="02020603050405020304" pitchFamily="18" charset="0"/>
              <a:cs typeface="Times New Roman" panose="02020603050405020304" pitchFamily="18" charset="0"/>
            </a:endParaRPr>
          </a:p>
          <a:p>
            <a:pPr algn="just"/>
            <a:r>
              <a:rPr lang="en-GB" b="1" i="1" dirty="0">
                <a:effectLst/>
                <a:latin typeface="Times New Roman" panose="02020603050405020304" pitchFamily="18" charset="0"/>
                <a:cs typeface="Times New Roman" panose="02020603050405020304" pitchFamily="18" charset="0"/>
              </a:rPr>
              <a:t>Aggregate output </a:t>
            </a:r>
            <a:r>
              <a:rPr lang="en-GB" dirty="0">
                <a:effectLst/>
                <a:latin typeface="Times New Roman" panose="02020603050405020304" pitchFamily="18" charset="0"/>
                <a:cs typeface="Times New Roman" panose="02020603050405020304" pitchFamily="18" charset="0"/>
              </a:rPr>
              <a:t>is the total quantity of goods and services produced in an economy in a given period. </a:t>
            </a:r>
          </a:p>
          <a:p>
            <a:pPr algn="just"/>
            <a:r>
              <a:rPr lang="en-GB" dirty="0">
                <a:effectLst/>
                <a:latin typeface="Times New Roman" panose="02020603050405020304" pitchFamily="18" charset="0"/>
                <a:cs typeface="Times New Roman" panose="02020603050405020304" pitchFamily="18" charset="0"/>
              </a:rPr>
              <a:t>The </a:t>
            </a:r>
            <a:r>
              <a:rPr lang="en-GB" b="1" dirty="0">
                <a:effectLst/>
                <a:latin typeface="Times New Roman" panose="02020603050405020304" pitchFamily="18" charset="0"/>
                <a:cs typeface="Times New Roman" panose="02020603050405020304" pitchFamily="18" charset="0"/>
              </a:rPr>
              <a:t>aggregate output </a:t>
            </a:r>
            <a:r>
              <a:rPr lang="en-GB" dirty="0">
                <a:effectLst/>
                <a:latin typeface="Times New Roman" panose="02020603050405020304" pitchFamily="18" charset="0"/>
                <a:cs typeface="Times New Roman" panose="02020603050405020304" pitchFamily="18" charset="0"/>
              </a:rPr>
              <a:t>is the main measure to see how well an economy is doing </a:t>
            </a:r>
          </a:p>
          <a:p>
            <a:pPr algn="just"/>
            <a:endParaRPr lang="en-L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9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87AE39-8CAA-71B1-8E48-5021B514E2FA}"/>
              </a:ext>
            </a:extLst>
          </p:cNvPr>
          <p:cNvSpPr>
            <a:spLocks noGrp="1"/>
          </p:cNvSpPr>
          <p:nvPr>
            <p:ph type="title"/>
          </p:nvPr>
        </p:nvSpPr>
        <p:spPr>
          <a:xfrm>
            <a:off x="1115568" y="548640"/>
            <a:ext cx="10168128" cy="1179576"/>
          </a:xfrm>
        </p:spPr>
        <p:txBody>
          <a:bodyPr>
            <a:normAutofit/>
          </a:bodyPr>
          <a:lstStyle/>
          <a:p>
            <a:r>
              <a:rPr lang="en-LK" b="1" dirty="0">
                <a:latin typeface="Times New Roman" panose="02020603050405020304" pitchFamily="18" charset="0"/>
                <a:cs typeface="Times New Roman" panose="02020603050405020304" pitchFamily="18" charset="0"/>
              </a:rPr>
              <a:t>Growth</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BC674A5-390C-953D-374C-4625638B9485}"/>
              </a:ext>
            </a:extLst>
          </p:cNvPr>
          <p:cNvSpPr>
            <a:spLocks noGrp="1"/>
          </p:cNvSpPr>
          <p:nvPr>
            <p:ph idx="1"/>
          </p:nvPr>
        </p:nvSpPr>
        <p:spPr>
          <a:xfrm>
            <a:off x="1115568" y="2481943"/>
            <a:ext cx="10168128" cy="3695020"/>
          </a:xfrm>
        </p:spPr>
        <p:txBody>
          <a:bodyPr>
            <a:normAutofit/>
          </a:bodyPr>
          <a:lstStyle/>
          <a:p>
            <a:pPr algn="just"/>
            <a:r>
              <a:rPr lang="en-GB" dirty="0">
                <a:effectLst/>
                <a:latin typeface="Times New Roman" panose="02020603050405020304" pitchFamily="18" charset="0"/>
                <a:cs typeface="Times New Roman" panose="02020603050405020304" pitchFamily="18" charset="0"/>
              </a:rPr>
              <a:t>It is of great concern to economists what should be the level of rise in investment so that the economy can achieve its desired level of income and employment without inflation and deflation. Such a situation will result in the full utilization of resources. </a:t>
            </a:r>
          </a:p>
          <a:p>
            <a:pPr algn="just"/>
            <a:r>
              <a:rPr lang="en-GB" dirty="0">
                <a:effectLst/>
                <a:latin typeface="Times New Roman" panose="02020603050405020304" pitchFamily="18" charset="0"/>
                <a:cs typeface="Times New Roman" panose="02020603050405020304" pitchFamily="18" charset="0"/>
              </a:rPr>
              <a:t>Full employment means the maximization of output &amp; employment in presence of existing recourses while growth is attached to an increase in output &amp; employment.</a:t>
            </a:r>
          </a:p>
          <a:p>
            <a:pPr algn="just"/>
            <a:endParaRPr lang="en-L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2549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402239A-2748-7368-3DF6-75C4DF3B4216}"/>
              </a:ext>
            </a:extLst>
          </p:cNvPr>
          <p:cNvSpPr>
            <a:spLocks noGrp="1"/>
          </p:cNvSpPr>
          <p:nvPr>
            <p:ph type="title"/>
          </p:nvPr>
        </p:nvSpPr>
        <p:spPr>
          <a:xfrm>
            <a:off x="1115568" y="548640"/>
            <a:ext cx="10168128" cy="1179576"/>
          </a:xfrm>
        </p:spPr>
        <p:txBody>
          <a:bodyPr>
            <a:normAutofit/>
          </a:bodyPr>
          <a:lstStyle/>
          <a:p>
            <a:r>
              <a:rPr lang="en-LK" b="1" dirty="0">
                <a:latin typeface="Times New Roman" panose="02020603050405020304" pitchFamily="18" charset="0"/>
                <a:cs typeface="Times New Roman" panose="02020603050405020304" pitchFamily="18" charset="0"/>
              </a:rPr>
              <a:t>Nature and Scope of Macroeconomics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5206607-83A5-07E2-0F89-B6D7F74C39F5}"/>
              </a:ext>
            </a:extLst>
          </p:cNvPr>
          <p:cNvSpPr>
            <a:spLocks noGrp="1"/>
          </p:cNvSpPr>
          <p:nvPr>
            <p:ph idx="1"/>
          </p:nvPr>
        </p:nvSpPr>
        <p:spPr>
          <a:xfrm>
            <a:off x="1042416" y="2408791"/>
            <a:ext cx="10168128" cy="3695020"/>
          </a:xfrm>
        </p:spPr>
        <p:txBody>
          <a:bodyPr>
            <a:normAutofit lnSpcReduction="10000"/>
          </a:bodyPr>
          <a:lstStyle/>
          <a:p>
            <a:pPr algn="just"/>
            <a:r>
              <a:rPr lang="en-GB" dirty="0">
                <a:latin typeface="Times New Roman" panose="02020603050405020304" pitchFamily="18" charset="0"/>
                <a:cs typeface="Times New Roman" panose="02020603050405020304" pitchFamily="18" charset="0"/>
              </a:rPr>
              <a:t>Macroeconomics is the study of aggregates or averages covering the entire economy, such as total employment, national income, national output, total investment, total consumption, total savings, aggregate supply, aggregate demand, and general price level, wage level, and cost structure.</a:t>
            </a:r>
          </a:p>
          <a:p>
            <a:pPr algn="just"/>
            <a:r>
              <a:rPr lang="en-GB" dirty="0">
                <a:latin typeface="Times New Roman" panose="02020603050405020304" pitchFamily="18" charset="0"/>
                <a:cs typeface="Times New Roman" panose="02020603050405020304" pitchFamily="18" charset="0"/>
              </a:rPr>
              <a:t>Macroeconomics is also known as the theory of income and employment, or simply income analysis. It is concerned with the problems of unemployment, economic fluctuations, inflation or deflation, international trade, and economic growth. It is the study of the causes of unemployment, and the various determinants of</a:t>
            </a:r>
          </a:p>
          <a:p>
            <a:pPr algn="just"/>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3316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BF0A955-27A4-0DB1-35DA-31FB1B369521}"/>
              </a:ext>
            </a:extLst>
          </p:cNvPr>
          <p:cNvSpPr>
            <a:spLocks noGrp="1"/>
          </p:cNvSpPr>
          <p:nvPr>
            <p:ph type="title"/>
          </p:nvPr>
        </p:nvSpPr>
        <p:spPr>
          <a:xfrm>
            <a:off x="1115568" y="548640"/>
            <a:ext cx="10168128" cy="1179576"/>
          </a:xfrm>
        </p:spPr>
        <p:txBody>
          <a:bodyPr>
            <a:noAutofit/>
          </a:bodyPr>
          <a:lstStyle/>
          <a:p>
            <a:r>
              <a:rPr lang="en-GB" b="1" dirty="0">
                <a:effectLst/>
                <a:latin typeface="Times New Roman" panose="02020603050405020304" pitchFamily="18" charset="0"/>
                <a:cs typeface="Times New Roman" panose="02020603050405020304" pitchFamily="18" charset="0"/>
              </a:rPr>
              <a:t>The Goals of Macroeconomic Policy </a:t>
            </a:r>
            <a:br>
              <a:rPr lang="en-GB" dirty="0">
                <a:effectLst/>
                <a:latin typeface="Times New Roman" panose="02020603050405020304" pitchFamily="18" charset="0"/>
                <a:cs typeface="Times New Roman" panose="02020603050405020304" pitchFamily="18" charset="0"/>
              </a:rPr>
            </a:br>
            <a:endParaRPr lang="en-LK"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9444D2F-7C47-0F41-CB08-8C6694D8F36E}"/>
              </a:ext>
            </a:extLst>
          </p:cNvPr>
          <p:cNvSpPr>
            <a:spLocks noGrp="1"/>
          </p:cNvSpPr>
          <p:nvPr>
            <p:ph idx="1"/>
          </p:nvPr>
        </p:nvSpPr>
        <p:spPr>
          <a:xfrm>
            <a:off x="1091184" y="2408791"/>
            <a:ext cx="10168128" cy="3695020"/>
          </a:xfrm>
        </p:spPr>
        <p:txBody>
          <a:bodyPr>
            <a:normAutofit/>
          </a:bodyPr>
          <a:lstStyle/>
          <a:p>
            <a:r>
              <a:rPr lang="en-GB" dirty="0">
                <a:effectLst/>
                <a:latin typeface="Times New Roman" panose="02020603050405020304" pitchFamily="18" charset="0"/>
                <a:cs typeface="Times New Roman" panose="02020603050405020304" pitchFamily="18" charset="0"/>
              </a:rPr>
              <a:t>Full employment</a:t>
            </a:r>
          </a:p>
          <a:p>
            <a:r>
              <a:rPr lang="en-GB" dirty="0">
                <a:effectLst/>
                <a:latin typeface="Times New Roman" panose="02020603050405020304" pitchFamily="18" charset="0"/>
                <a:cs typeface="Times New Roman" panose="02020603050405020304" pitchFamily="18" charset="0"/>
              </a:rPr>
              <a:t>Price stability</a:t>
            </a:r>
          </a:p>
          <a:p>
            <a:r>
              <a:rPr lang="en-GB" dirty="0">
                <a:effectLst/>
                <a:latin typeface="Times New Roman" panose="02020603050405020304" pitchFamily="18" charset="0"/>
                <a:cs typeface="Times New Roman" panose="02020603050405020304" pitchFamily="18" charset="0"/>
              </a:rPr>
              <a:t>Rapid economic growth </a:t>
            </a:r>
          </a:p>
          <a:p>
            <a:r>
              <a:rPr lang="en-GB" dirty="0">
                <a:effectLst/>
                <a:latin typeface="Times New Roman" panose="02020603050405020304" pitchFamily="18" charset="0"/>
                <a:cs typeface="Times New Roman" panose="02020603050405020304" pitchFamily="18" charset="0"/>
              </a:rPr>
              <a:t>Reduction of economic inequality </a:t>
            </a:r>
          </a:p>
          <a:p>
            <a:r>
              <a:rPr lang="en-GB" dirty="0">
                <a:effectLst/>
                <a:latin typeface="Times New Roman" panose="02020603050405020304" pitchFamily="18" charset="0"/>
                <a:cs typeface="Times New Roman" panose="02020603050405020304" pitchFamily="18" charset="0"/>
              </a:rPr>
              <a:t>Stable exchange rate </a:t>
            </a:r>
          </a:p>
          <a:p>
            <a:r>
              <a:rPr lang="en-GB" dirty="0">
                <a:effectLst/>
                <a:latin typeface="Times New Roman" panose="02020603050405020304" pitchFamily="18" charset="0"/>
                <a:cs typeface="Times New Roman" panose="02020603050405020304" pitchFamily="18" charset="0"/>
              </a:rPr>
              <a:t>Protect environment </a:t>
            </a:r>
          </a:p>
          <a:p>
            <a:r>
              <a:rPr lang="en-GB" dirty="0">
                <a:effectLst/>
                <a:latin typeface="Times New Roman" panose="02020603050405020304" pitchFamily="18" charset="0"/>
                <a:cs typeface="Times New Roman" panose="02020603050405020304" pitchFamily="18" charset="0"/>
              </a:rPr>
              <a:t>High living standards </a:t>
            </a:r>
          </a:p>
          <a:p>
            <a:endParaRPr lang="en-L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9201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37F503-280D-A15A-99F3-86AE0F2D9CA8}"/>
              </a:ext>
            </a:extLst>
          </p:cNvPr>
          <p:cNvSpPr>
            <a:spLocks noGrp="1"/>
          </p:cNvSpPr>
          <p:nvPr>
            <p:ph type="title"/>
          </p:nvPr>
        </p:nvSpPr>
        <p:spPr>
          <a:xfrm>
            <a:off x="1115568" y="548640"/>
            <a:ext cx="10168128" cy="1179576"/>
          </a:xfrm>
        </p:spPr>
        <p:txBody>
          <a:bodyPr>
            <a:noAutofit/>
          </a:bodyPr>
          <a:lstStyle/>
          <a:p>
            <a:r>
              <a:rPr lang="en-GB" b="1" dirty="0">
                <a:effectLst/>
                <a:latin typeface="Times New Roman" panose="02020603050405020304" pitchFamily="18" charset="0"/>
                <a:cs typeface="Times New Roman" panose="02020603050405020304" pitchFamily="18" charset="0"/>
              </a:rPr>
              <a:t>Key Macro Economic Variables </a:t>
            </a:r>
            <a:br>
              <a:rPr lang="en-GB" dirty="0">
                <a:effectLst/>
                <a:latin typeface="Times New Roman" panose="02020603050405020304" pitchFamily="18" charset="0"/>
                <a:cs typeface="Times New Roman" panose="02020603050405020304" pitchFamily="18" charset="0"/>
              </a:rPr>
            </a:br>
            <a:endParaRPr lang="en-LK"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CB98D92-A2C2-052F-EDA3-53E7923C9099}"/>
              </a:ext>
            </a:extLst>
          </p:cNvPr>
          <p:cNvSpPr>
            <a:spLocks noGrp="1"/>
          </p:cNvSpPr>
          <p:nvPr>
            <p:ph idx="1"/>
          </p:nvPr>
        </p:nvSpPr>
        <p:spPr>
          <a:xfrm>
            <a:off x="786384" y="2177142"/>
            <a:ext cx="10168128" cy="4333385"/>
          </a:xfrm>
        </p:spPr>
        <p:txBody>
          <a:bodyPr>
            <a:normAutofit fontScale="92500" lnSpcReduction="10000"/>
          </a:bodyPr>
          <a:lstStyle/>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National Income and GDP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Unemployment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Economic growth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Inflation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International Trade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Balance of Payment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Monetary &amp; Fiscal Policy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Interest Rate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Stock Market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Business Cycle </a:t>
            </a:r>
          </a:p>
          <a:p>
            <a:pPr marL="457200" indent="-457200">
              <a:buFont typeface="+mj-lt"/>
              <a:buAutoNum type="arabicPeriod"/>
            </a:pPr>
            <a:r>
              <a:rPr lang="en-GB" sz="2400">
                <a:effectLst/>
                <a:latin typeface="Times New Roman" panose="02020603050405020304" pitchFamily="18" charset="0"/>
                <a:cs typeface="Times New Roman" panose="02020603050405020304" pitchFamily="18" charset="0"/>
              </a:rPr>
              <a:t>Exchange Rate </a:t>
            </a:r>
          </a:p>
          <a:p>
            <a:endParaRPr lang="en-LK"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3957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7FE4B72-07CC-9FF9-8FD5-3817969790E5}"/>
              </a:ext>
            </a:extLst>
          </p:cNvPr>
          <p:cNvSpPr>
            <a:spLocks noGrp="1"/>
          </p:cNvSpPr>
          <p:nvPr>
            <p:ph type="title"/>
          </p:nvPr>
        </p:nvSpPr>
        <p:spPr>
          <a:xfrm>
            <a:off x="1115568" y="548640"/>
            <a:ext cx="10168128" cy="1179576"/>
          </a:xfrm>
        </p:spPr>
        <p:txBody>
          <a:bodyPr>
            <a:normAutofit/>
          </a:bodyPr>
          <a:lstStyle/>
          <a:p>
            <a:r>
              <a:rPr lang="en-LK" b="1" dirty="0">
                <a:latin typeface="Times New Roman" panose="02020603050405020304" pitchFamily="18" charset="0"/>
                <a:cs typeface="Times New Roman" panose="02020603050405020304" pitchFamily="18" charset="0"/>
              </a:rPr>
              <a:t>1. </a:t>
            </a:r>
            <a:r>
              <a:rPr lang="en-GB" b="1" dirty="0">
                <a:latin typeface="Times New Roman" panose="02020603050405020304" pitchFamily="18" charset="0"/>
                <a:cs typeface="Times New Roman" panose="02020603050405020304" pitchFamily="18" charset="0"/>
              </a:rPr>
              <a:t>Gross Domestic Product </a:t>
            </a:r>
            <a:endParaRPr lang="en-LK"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578A064-1EAE-8E62-891A-5B7ADA53E4C5}"/>
              </a:ext>
            </a:extLst>
          </p:cNvPr>
          <p:cNvSpPr>
            <a:spLocks noGrp="1"/>
          </p:cNvSpPr>
          <p:nvPr>
            <p:ph idx="1"/>
          </p:nvPr>
        </p:nvSpPr>
        <p:spPr>
          <a:xfrm>
            <a:off x="1115568" y="2481943"/>
            <a:ext cx="10168128" cy="3695020"/>
          </a:xfrm>
        </p:spPr>
        <p:txBody>
          <a:bodyPr>
            <a:normAutofit/>
          </a:bodyPr>
          <a:lstStyle/>
          <a:p>
            <a:pPr algn="just"/>
            <a:r>
              <a:rPr lang="en-GB">
                <a:latin typeface="Times New Roman" panose="02020603050405020304" pitchFamily="18" charset="0"/>
                <a:cs typeface="Times New Roman" panose="02020603050405020304" pitchFamily="18" charset="0"/>
              </a:rPr>
              <a:t>GDP refers to the monetary value of all the finished goods and services produced within a country's borders in a specific time period, though GDP is usually calculated on an annual basis.</a:t>
            </a:r>
          </a:p>
          <a:p>
            <a:pPr algn="just"/>
            <a:r>
              <a:rPr lang="en-GB">
                <a:latin typeface="Times New Roman" panose="02020603050405020304" pitchFamily="18" charset="0"/>
                <a:cs typeface="Times New Roman" panose="02020603050405020304" pitchFamily="18" charset="0"/>
              </a:rPr>
              <a:t>It includes all private and public consumption, government outlays, investments, and exports fewer imports that occur within a defined territory.</a:t>
            </a:r>
          </a:p>
          <a:p>
            <a:pPr algn="just"/>
            <a:r>
              <a:rPr lang="en-GB">
                <a:latin typeface="Times New Roman" panose="02020603050405020304" pitchFamily="18" charset="0"/>
                <a:cs typeface="Times New Roman" panose="02020603050405020304" pitchFamily="18" charset="0"/>
              </a:rPr>
              <a:t>The gross domestic product (GDP) is one of the primary indicators used to gauge the health of a country's economy.</a:t>
            </a:r>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512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C69474-76B8-89CA-06D7-6C8C47FED9A7}"/>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a:solidFill>
                  <a:schemeClr val="tx1"/>
                </a:solidFill>
                <a:latin typeface="Times New Roman" panose="02020603050405020304" pitchFamily="18" charset="0"/>
                <a:cs typeface="Times New Roman" panose="02020603050405020304" pitchFamily="18" charset="0"/>
              </a:rPr>
              <a:t>GDP</a:t>
            </a:r>
          </a:p>
        </p:txBody>
      </p:sp>
      <p:sp>
        <p:nvSpPr>
          <p:cNvPr id="2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612B5B5-4119-271D-E314-BE64344987DF}"/>
              </a:ext>
            </a:extLst>
          </p:cNvPr>
          <p:cNvPicPr>
            <a:picLocks noChangeAspect="1"/>
          </p:cNvPicPr>
          <p:nvPr/>
        </p:nvPicPr>
        <p:blipFill>
          <a:blip r:embed="rId2"/>
          <a:stretch>
            <a:fillRect/>
          </a:stretch>
        </p:blipFill>
        <p:spPr>
          <a:xfrm>
            <a:off x="3708310" y="1896656"/>
            <a:ext cx="4717365" cy="4666690"/>
          </a:xfrm>
          <a:prstGeom prst="rect">
            <a:avLst/>
          </a:prstGeom>
        </p:spPr>
      </p:pic>
    </p:spTree>
    <p:extLst>
      <p:ext uri="{BB962C8B-B14F-4D97-AF65-F5344CB8AC3E}">
        <p14:creationId xmlns:p14="http://schemas.microsoft.com/office/powerpoint/2010/main" val="1759073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D78CF6-1084-4F5A-41D7-5B64D2C95B6D}"/>
              </a:ext>
            </a:extLst>
          </p:cNvPr>
          <p:cNvSpPr>
            <a:spLocks noGrp="1"/>
          </p:cNvSpPr>
          <p:nvPr>
            <p:ph type="title"/>
          </p:nvPr>
        </p:nvSpPr>
        <p:spPr>
          <a:xfrm>
            <a:off x="932688" y="548640"/>
            <a:ext cx="10168128" cy="1179576"/>
          </a:xfrm>
        </p:spPr>
        <p:txBody>
          <a:bodyPr>
            <a:normAutofit/>
          </a:bodyPr>
          <a:lstStyle/>
          <a:p>
            <a:r>
              <a:rPr lang="en-LK" sz="4800" b="1">
                <a:latin typeface="Times New Roman" panose="02020603050405020304" pitchFamily="18" charset="0"/>
                <a:cs typeface="Times New Roman" panose="02020603050405020304" pitchFamily="18" charset="0"/>
              </a:rPr>
              <a:t>2. National Income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FF80E40-3221-67B1-07F4-88A4946FD75D}"/>
              </a:ext>
            </a:extLst>
          </p:cNvPr>
          <p:cNvSpPr>
            <a:spLocks noGrp="1"/>
          </p:cNvSpPr>
          <p:nvPr>
            <p:ph idx="1"/>
          </p:nvPr>
        </p:nvSpPr>
        <p:spPr>
          <a:xfrm>
            <a:off x="1115568" y="2481943"/>
            <a:ext cx="10168128" cy="3695020"/>
          </a:xfrm>
        </p:spPr>
        <p:txBody>
          <a:bodyPr>
            <a:normAutofit/>
          </a:bodyPr>
          <a:lstStyle/>
          <a:p>
            <a:pPr algn="just"/>
            <a:r>
              <a:rPr lang="en-GB" dirty="0">
                <a:effectLst/>
                <a:latin typeface="Times New Roman" panose="02020603050405020304" pitchFamily="18" charset="0"/>
                <a:cs typeface="Times New Roman" panose="02020603050405020304" pitchFamily="18" charset="0"/>
              </a:rPr>
              <a:t>National Income is the total value of all goods and services produced within a nation over a specified period of time, representing the sum of wages, profits, rents, interest, and pension payments to residents of the nation. </a:t>
            </a:r>
          </a:p>
          <a:p>
            <a:pPr algn="just"/>
            <a:r>
              <a:rPr lang="en-GB" dirty="0">
                <a:effectLst/>
                <a:latin typeface="Times New Roman" panose="02020603050405020304" pitchFamily="18" charset="0"/>
                <a:cs typeface="Times New Roman" panose="02020603050405020304" pitchFamily="18" charset="0"/>
              </a:rPr>
              <a:t>It gives a correct picture of the economy and purchasing power of people in the country. </a:t>
            </a:r>
          </a:p>
          <a:p>
            <a:pPr algn="just"/>
            <a:endParaRPr lang="en-L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94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860DE69-DD57-6385-9C16-7F928BCE9F7B}"/>
              </a:ext>
            </a:extLst>
          </p:cNvPr>
          <p:cNvSpPr>
            <a:spLocks noGrp="1"/>
          </p:cNvSpPr>
          <p:nvPr>
            <p:ph type="title"/>
          </p:nvPr>
        </p:nvSpPr>
        <p:spPr>
          <a:xfrm>
            <a:off x="944880" y="548640"/>
            <a:ext cx="10168128" cy="1179576"/>
          </a:xfrm>
        </p:spPr>
        <p:txBody>
          <a:bodyPr>
            <a:normAutofit/>
          </a:bodyPr>
          <a:lstStyle/>
          <a:p>
            <a:r>
              <a:rPr lang="en-LK" sz="4800" b="1" dirty="0">
                <a:latin typeface="Times New Roman" panose="02020603050405020304" pitchFamily="18" charset="0"/>
                <a:cs typeface="Times New Roman" panose="02020603050405020304" pitchFamily="18" charset="0"/>
              </a:rPr>
              <a:t>3. Unemployment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572F0FC-DEB5-C7A2-5B46-3C1BEEF66BE5}"/>
              </a:ext>
            </a:extLst>
          </p:cNvPr>
          <p:cNvSpPr>
            <a:spLocks noGrp="1"/>
          </p:cNvSpPr>
          <p:nvPr>
            <p:ph idx="1"/>
          </p:nvPr>
        </p:nvSpPr>
        <p:spPr>
          <a:xfrm>
            <a:off x="798576" y="2481943"/>
            <a:ext cx="10168128" cy="3695020"/>
          </a:xfrm>
        </p:spPr>
        <p:txBody>
          <a:bodyPr>
            <a:normAutofit/>
          </a:bodyPr>
          <a:lstStyle/>
          <a:p>
            <a:pPr marL="0" indent="0" algn="just">
              <a:buNone/>
            </a:pPr>
            <a:r>
              <a:rPr lang="en-GB">
                <a:effectLst/>
                <a:latin typeface="Times New Roman" panose="02020603050405020304" pitchFamily="18" charset="0"/>
                <a:cs typeface="Times New Roman" panose="02020603050405020304" pitchFamily="18" charset="0"/>
              </a:rPr>
              <a:t>The Unemployment Rate: </a:t>
            </a:r>
          </a:p>
          <a:p>
            <a:pPr algn="just"/>
            <a:r>
              <a:rPr lang="en-GB">
                <a:effectLst/>
                <a:latin typeface="Times New Roman" panose="02020603050405020304" pitchFamily="18" charset="0"/>
                <a:cs typeface="Times New Roman" panose="02020603050405020304" pitchFamily="18" charset="0"/>
              </a:rPr>
              <a:t>to be </a:t>
            </a:r>
            <a:r>
              <a:rPr lang="en-GB" b="1" i="1">
                <a:effectLst/>
                <a:latin typeface="Times New Roman" panose="02020603050405020304" pitchFamily="18" charset="0"/>
                <a:cs typeface="Times New Roman" panose="02020603050405020304" pitchFamily="18" charset="0"/>
              </a:rPr>
              <a:t>unemployed</a:t>
            </a:r>
            <a:r>
              <a:rPr lang="en-GB">
                <a:effectLst/>
                <a:latin typeface="Times New Roman" panose="02020603050405020304" pitchFamily="18" charset="0"/>
                <a:cs typeface="Times New Roman" panose="02020603050405020304" pitchFamily="18" charset="0"/>
              </a:rPr>
              <a:t>, a person must want to work and be actively looking for a job (but have not yet found one) </a:t>
            </a:r>
          </a:p>
          <a:p>
            <a:pPr algn="just"/>
            <a:r>
              <a:rPr lang="en-GB">
                <a:effectLst/>
                <a:latin typeface="Times New Roman" panose="02020603050405020304" pitchFamily="18" charset="0"/>
                <a:cs typeface="Times New Roman" panose="02020603050405020304" pitchFamily="18" charset="0"/>
              </a:rPr>
              <a:t>the </a:t>
            </a:r>
            <a:r>
              <a:rPr lang="en-GB" b="1" i="1">
                <a:effectLst/>
                <a:latin typeface="Times New Roman" panose="02020603050405020304" pitchFamily="18" charset="0"/>
                <a:cs typeface="Times New Roman" panose="02020603050405020304" pitchFamily="18" charset="0"/>
              </a:rPr>
              <a:t>labor force </a:t>
            </a:r>
            <a:r>
              <a:rPr lang="en-GB">
                <a:effectLst/>
                <a:latin typeface="Times New Roman" panose="02020603050405020304" pitchFamily="18" charset="0"/>
                <a:cs typeface="Times New Roman" panose="02020603050405020304" pitchFamily="18" charset="0"/>
              </a:rPr>
              <a:t>consists of those who are employed and those who are unemployed </a:t>
            </a:r>
          </a:p>
          <a:p>
            <a:pPr algn="just"/>
            <a:r>
              <a:rPr lang="en-GB">
                <a:effectLst/>
                <a:latin typeface="Times New Roman" panose="02020603050405020304" pitchFamily="18" charset="0"/>
                <a:cs typeface="Times New Roman" panose="02020603050405020304" pitchFamily="18" charset="0"/>
              </a:rPr>
              <a:t>the </a:t>
            </a:r>
            <a:r>
              <a:rPr lang="en-GB" b="1" i="1">
                <a:effectLst/>
                <a:latin typeface="Times New Roman" panose="02020603050405020304" pitchFamily="18" charset="0"/>
                <a:cs typeface="Times New Roman" panose="02020603050405020304" pitchFamily="18" charset="0"/>
              </a:rPr>
              <a:t>unemployment rate </a:t>
            </a:r>
            <a:r>
              <a:rPr lang="en-GB">
                <a:effectLst/>
                <a:latin typeface="Times New Roman" panose="02020603050405020304" pitchFamily="18" charset="0"/>
                <a:cs typeface="Times New Roman" panose="02020603050405020304" pitchFamily="18" charset="0"/>
              </a:rPr>
              <a:t>is equal to the number of unemployed people divided by the labor force </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51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F543DDE-E4D3-B8CD-F518-D96090DC7C6C}"/>
              </a:ext>
            </a:extLst>
          </p:cNvPr>
          <p:cNvSpPr>
            <a:spLocks noGrp="1"/>
          </p:cNvSpPr>
          <p:nvPr>
            <p:ph type="title"/>
          </p:nvPr>
        </p:nvSpPr>
        <p:spPr>
          <a:xfrm>
            <a:off x="883920" y="548640"/>
            <a:ext cx="10168128" cy="1179576"/>
          </a:xfrm>
        </p:spPr>
        <p:txBody>
          <a:bodyPr>
            <a:normAutofit/>
          </a:bodyPr>
          <a:lstStyle/>
          <a:p>
            <a:r>
              <a:rPr lang="en-GB" sz="4800" b="1" dirty="0">
                <a:latin typeface="Times New Roman" panose="02020603050405020304" pitchFamily="18" charset="0"/>
                <a:cs typeface="Times New Roman" panose="02020603050405020304" pitchFamily="18" charset="0"/>
              </a:rPr>
              <a:t>4. E</a:t>
            </a:r>
            <a:r>
              <a:rPr lang="en-LK" sz="4800" b="1" dirty="0">
                <a:latin typeface="Times New Roman" panose="02020603050405020304" pitchFamily="18" charset="0"/>
                <a:cs typeface="Times New Roman" panose="02020603050405020304" pitchFamily="18" charset="0"/>
              </a:rPr>
              <a:t>conomic growth</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D936E2F-5968-C107-CD67-FEDB8F893539}"/>
              </a:ext>
            </a:extLst>
          </p:cNvPr>
          <p:cNvSpPr>
            <a:spLocks noGrp="1"/>
          </p:cNvSpPr>
          <p:nvPr>
            <p:ph idx="1"/>
          </p:nvPr>
        </p:nvSpPr>
        <p:spPr>
          <a:xfrm>
            <a:off x="1115568" y="2481943"/>
            <a:ext cx="10168128" cy="3695020"/>
          </a:xfrm>
        </p:spPr>
        <p:txBody>
          <a:bodyPr>
            <a:normAutofit/>
          </a:bodyPr>
          <a:lstStyle/>
          <a:p>
            <a:pPr algn="just"/>
            <a:r>
              <a:rPr lang="en-GB" b="1">
                <a:effectLst/>
                <a:latin typeface="Times New Roman" panose="02020603050405020304" pitchFamily="18" charset="0"/>
                <a:cs typeface="Times New Roman" panose="02020603050405020304" pitchFamily="18" charset="0"/>
              </a:rPr>
              <a:t>Economic growth </a:t>
            </a:r>
            <a:r>
              <a:rPr lang="en-GB">
                <a:effectLst/>
                <a:latin typeface="Times New Roman" panose="02020603050405020304" pitchFamily="18" charset="0"/>
                <a:cs typeface="Times New Roman" panose="02020603050405020304" pitchFamily="18" charset="0"/>
              </a:rPr>
              <a:t>is the increase in the market value of the goods and services produced by an economy over time. </a:t>
            </a:r>
          </a:p>
          <a:p>
            <a:pPr algn="just"/>
            <a:r>
              <a:rPr lang="en-GB">
                <a:effectLst/>
                <a:latin typeface="Times New Roman" panose="02020603050405020304" pitchFamily="18" charset="0"/>
                <a:cs typeface="Times New Roman" panose="02020603050405020304" pitchFamily="18" charset="0"/>
              </a:rPr>
              <a:t>Also, economic growth is the increase in the capacity of an economy to produce goods and services, compared from one period of time to another. </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4245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5F602C-32F7-8A0D-EB1F-2B9E5DC01C2C}"/>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tx1"/>
                </a:solidFill>
                <a:latin typeface="Times New Roman" panose="02020603050405020304" pitchFamily="18" charset="0"/>
                <a:cs typeface="Times New Roman" panose="02020603050405020304" pitchFamily="18" charset="0"/>
              </a:rPr>
              <a:t>Economic Growth</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889EAB2-32DE-0392-8E93-0E3FAD279443}"/>
              </a:ext>
            </a:extLst>
          </p:cNvPr>
          <p:cNvPicPr>
            <a:picLocks noChangeAspect="1"/>
          </p:cNvPicPr>
          <p:nvPr/>
        </p:nvPicPr>
        <p:blipFill>
          <a:blip r:embed="rId2"/>
          <a:stretch>
            <a:fillRect/>
          </a:stretch>
        </p:blipFill>
        <p:spPr>
          <a:xfrm>
            <a:off x="3100802" y="2066258"/>
            <a:ext cx="6073178" cy="4509334"/>
          </a:xfrm>
          <a:prstGeom prst="rect">
            <a:avLst/>
          </a:prstGeom>
        </p:spPr>
      </p:pic>
    </p:spTree>
    <p:extLst>
      <p:ext uri="{BB962C8B-B14F-4D97-AF65-F5344CB8AC3E}">
        <p14:creationId xmlns:p14="http://schemas.microsoft.com/office/powerpoint/2010/main" val="723991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D7BFE3-573E-1A2B-6174-0C12304C4959}"/>
              </a:ext>
            </a:extLst>
          </p:cNvPr>
          <p:cNvSpPr>
            <a:spLocks noGrp="1"/>
          </p:cNvSpPr>
          <p:nvPr>
            <p:ph type="title"/>
          </p:nvPr>
        </p:nvSpPr>
        <p:spPr>
          <a:xfrm>
            <a:off x="932688" y="548640"/>
            <a:ext cx="10168128" cy="1179576"/>
          </a:xfrm>
        </p:spPr>
        <p:txBody>
          <a:bodyPr>
            <a:normAutofit/>
          </a:bodyPr>
          <a:lstStyle/>
          <a:p>
            <a:r>
              <a:rPr lang="en-LK" sz="4800" b="1" dirty="0">
                <a:latin typeface="Times New Roman" panose="02020603050405020304" pitchFamily="18" charset="0"/>
                <a:cs typeface="Times New Roman" panose="02020603050405020304" pitchFamily="18" charset="0"/>
              </a:rPr>
              <a:t>5. Inflation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6B81A3D-5E55-0A28-939C-EC3C4043E6B9}"/>
              </a:ext>
            </a:extLst>
          </p:cNvPr>
          <p:cNvSpPr>
            <a:spLocks noGrp="1"/>
          </p:cNvSpPr>
          <p:nvPr>
            <p:ph idx="1"/>
          </p:nvPr>
        </p:nvSpPr>
        <p:spPr>
          <a:xfrm>
            <a:off x="1115568" y="2481943"/>
            <a:ext cx="10168128" cy="3695020"/>
          </a:xfrm>
        </p:spPr>
        <p:txBody>
          <a:bodyPr>
            <a:normAutofit fontScale="92500" lnSpcReduction="20000"/>
          </a:bodyPr>
          <a:lstStyle/>
          <a:p>
            <a:pPr algn="just"/>
            <a:r>
              <a:rPr lang="en-GB">
                <a:effectLst/>
                <a:latin typeface="Times New Roman" panose="02020603050405020304" pitchFamily="18" charset="0"/>
                <a:cs typeface="Times New Roman" panose="02020603050405020304" pitchFamily="18" charset="0"/>
              </a:rPr>
              <a:t>In economics, inflation means, a rise in the general level of prices of goods and services in an economy over a period of time. When the general price level rises, each unit of currency buys fewer goods and services. Thus, inflation results in a loss of the value of money. Another popular way of looking at inflation is "too much money chasing too few goods". </a:t>
            </a:r>
          </a:p>
          <a:p>
            <a:pPr algn="just"/>
            <a:r>
              <a:rPr lang="en-GB">
                <a:effectLst/>
                <a:latin typeface="Times New Roman" panose="02020603050405020304" pitchFamily="18" charset="0"/>
                <a:cs typeface="Times New Roman" panose="02020603050405020304" pitchFamily="18" charset="0"/>
              </a:rPr>
              <a:t>Inflation is caused when goods and services are in high demand, creating a drop in availability. Consumers are willing to pay more for the items they want, causing manufacturers and service providers to charge more. Supplies can decrease for many reasons: A natural disaster can wipe out a food crop or a housing boom can exhaust building supplies, among other situations. </a:t>
            </a:r>
          </a:p>
          <a:p>
            <a:pPr marL="0" indent="0" algn="just">
              <a:buNone/>
            </a:pPr>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3357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FBD556-5F4A-DC5D-4541-EB0CEBF7D942}"/>
              </a:ext>
            </a:extLst>
          </p:cNvPr>
          <p:cNvSpPr>
            <a:spLocks noGrp="1"/>
          </p:cNvSpPr>
          <p:nvPr>
            <p:ph type="title"/>
          </p:nvPr>
        </p:nvSpPr>
        <p:spPr>
          <a:xfrm>
            <a:off x="883920" y="548640"/>
            <a:ext cx="10168128" cy="1179576"/>
          </a:xfrm>
        </p:spPr>
        <p:txBody>
          <a:bodyPr>
            <a:normAutofit/>
          </a:bodyPr>
          <a:lstStyle/>
          <a:p>
            <a:r>
              <a:rPr lang="en-GB" sz="4800" b="1" dirty="0">
                <a:latin typeface="Times New Roman" panose="02020603050405020304" pitchFamily="18" charset="0"/>
                <a:cs typeface="Times New Roman" panose="02020603050405020304" pitchFamily="18" charset="0"/>
              </a:rPr>
              <a:t>6. I</a:t>
            </a:r>
            <a:r>
              <a:rPr lang="en-LK" sz="4800" b="1" dirty="0">
                <a:latin typeface="Times New Roman" panose="02020603050405020304" pitchFamily="18" charset="0"/>
                <a:cs typeface="Times New Roman" panose="02020603050405020304" pitchFamily="18" charset="0"/>
              </a:rPr>
              <a:t>nternational trade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FAE0D7F-C7AA-20F7-3D6B-0A7C1C63A895}"/>
              </a:ext>
            </a:extLst>
          </p:cNvPr>
          <p:cNvSpPr>
            <a:spLocks noGrp="1"/>
          </p:cNvSpPr>
          <p:nvPr>
            <p:ph idx="1"/>
          </p:nvPr>
        </p:nvSpPr>
        <p:spPr>
          <a:xfrm>
            <a:off x="786384" y="2481943"/>
            <a:ext cx="10168128" cy="3695020"/>
          </a:xfrm>
        </p:spPr>
        <p:txBody>
          <a:bodyPr>
            <a:normAutofit fontScale="92500"/>
          </a:bodyPr>
          <a:lstStyle/>
          <a:p>
            <a:pPr algn="just"/>
            <a:r>
              <a:rPr lang="en-GB">
                <a:effectLst/>
                <a:latin typeface="Times New Roman" panose="02020603050405020304" pitchFamily="18" charset="0"/>
                <a:cs typeface="Times New Roman" panose="02020603050405020304" pitchFamily="18" charset="0"/>
              </a:rPr>
              <a:t>International trade is the exchange of goods and services between countries. This type of trade gives rise to a world economy, in which prices, or supply and demand, affect and are affected by global events. </a:t>
            </a:r>
          </a:p>
          <a:p>
            <a:pPr algn="just"/>
            <a:r>
              <a:rPr lang="en-GB">
                <a:effectLst/>
                <a:latin typeface="Times New Roman" panose="02020603050405020304" pitchFamily="18" charset="0"/>
                <a:cs typeface="Times New Roman" panose="02020603050405020304" pitchFamily="18" charset="0"/>
              </a:rPr>
              <a:t>International trade allows for expansion markets for both goods and services that otherwise may not have been available to all. It is the reason why you can pick between a Japanese, German, or American car. </a:t>
            </a:r>
          </a:p>
          <a:p>
            <a:pPr algn="just"/>
            <a:r>
              <a:rPr lang="en-GB">
                <a:effectLst/>
                <a:latin typeface="Times New Roman" panose="02020603050405020304" pitchFamily="18" charset="0"/>
                <a:cs typeface="Times New Roman" panose="02020603050405020304" pitchFamily="18" charset="0"/>
              </a:rPr>
              <a:t>As a result of international trade, the market contains greater competition and therefore more competitive prices, which brings a cheaper product home to the consumer. </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4445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C7EA8E-8353-8F5D-45DB-C6BE0FF7836B}"/>
              </a:ext>
            </a:extLst>
          </p:cNvPr>
          <p:cNvSpPr>
            <a:spLocks noGrp="1"/>
          </p:cNvSpPr>
          <p:nvPr>
            <p:ph type="title"/>
          </p:nvPr>
        </p:nvSpPr>
        <p:spPr>
          <a:xfrm>
            <a:off x="638881" y="417576"/>
            <a:ext cx="10909640" cy="1249394"/>
          </a:xfrm>
        </p:spPr>
        <p:txBody>
          <a:bodyPr vert="horz" lIns="91440" tIns="45720" rIns="91440" bIns="45720" rtlCol="0" anchor="ctr">
            <a:normAutofit fontScale="90000"/>
          </a:bodyPr>
          <a:lstStyle/>
          <a:p>
            <a:pPr algn="ctr"/>
            <a:r>
              <a:rPr lang="en-US" sz="6600" b="1" kern="1200" dirty="0">
                <a:solidFill>
                  <a:schemeClr val="tx1"/>
                </a:solidFill>
                <a:latin typeface="Times New Roman" panose="02020603050405020304" pitchFamily="18" charset="0"/>
                <a:cs typeface="Times New Roman" panose="02020603050405020304" pitchFamily="18" charset="0"/>
              </a:rPr>
              <a:t>Sri Lanka’s Imports &amp; Exports</a:t>
            </a: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76C676F-E02F-B68E-90B0-A8D9724EEAD3}"/>
              </a:ext>
            </a:extLst>
          </p:cNvPr>
          <p:cNvPicPr>
            <a:picLocks noChangeAspect="1"/>
          </p:cNvPicPr>
          <p:nvPr/>
        </p:nvPicPr>
        <p:blipFill>
          <a:blip r:embed="rId2"/>
          <a:stretch>
            <a:fillRect/>
          </a:stretch>
        </p:blipFill>
        <p:spPr>
          <a:xfrm>
            <a:off x="1812324" y="1836514"/>
            <a:ext cx="8217241" cy="4622198"/>
          </a:xfrm>
          <a:prstGeom prst="rect">
            <a:avLst/>
          </a:prstGeom>
        </p:spPr>
      </p:pic>
    </p:spTree>
    <p:extLst>
      <p:ext uri="{BB962C8B-B14F-4D97-AF65-F5344CB8AC3E}">
        <p14:creationId xmlns:p14="http://schemas.microsoft.com/office/powerpoint/2010/main" val="42429266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E9C6EB-FB32-571B-BDC1-87F6C18CD249}"/>
              </a:ext>
            </a:extLst>
          </p:cNvPr>
          <p:cNvSpPr>
            <a:spLocks noGrp="1"/>
          </p:cNvSpPr>
          <p:nvPr>
            <p:ph type="title"/>
          </p:nvPr>
        </p:nvSpPr>
        <p:spPr>
          <a:xfrm>
            <a:off x="944880" y="548640"/>
            <a:ext cx="10168128" cy="1179576"/>
          </a:xfrm>
        </p:spPr>
        <p:txBody>
          <a:bodyPr>
            <a:normAutofit/>
          </a:bodyPr>
          <a:lstStyle/>
          <a:p>
            <a:r>
              <a:rPr lang="en-GB" sz="4800" b="1" dirty="0">
                <a:latin typeface="Times New Roman" panose="02020603050405020304" pitchFamily="18" charset="0"/>
                <a:cs typeface="Times New Roman" panose="02020603050405020304" pitchFamily="18" charset="0"/>
              </a:rPr>
              <a:t>7. B</a:t>
            </a:r>
            <a:r>
              <a:rPr lang="en-LK" sz="4800" b="1" dirty="0">
                <a:latin typeface="Times New Roman" panose="02020603050405020304" pitchFamily="18" charset="0"/>
                <a:cs typeface="Times New Roman" panose="02020603050405020304" pitchFamily="18" charset="0"/>
              </a:rPr>
              <a:t>alance of payment (BOP)</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B9F4005-4CF1-0DF9-699D-12CCAE2A6342}"/>
              </a:ext>
            </a:extLst>
          </p:cNvPr>
          <p:cNvSpPr>
            <a:spLocks noGrp="1"/>
          </p:cNvSpPr>
          <p:nvPr>
            <p:ph idx="1"/>
          </p:nvPr>
        </p:nvSpPr>
        <p:spPr>
          <a:xfrm>
            <a:off x="835152" y="2481943"/>
            <a:ext cx="10168128" cy="3695020"/>
          </a:xfrm>
        </p:spPr>
        <p:txBody>
          <a:bodyPr>
            <a:normAutofit fontScale="92500" lnSpcReduction="10000"/>
          </a:bodyPr>
          <a:lstStyle/>
          <a:p>
            <a:pPr algn="just"/>
            <a:r>
              <a:rPr lang="en-GB">
                <a:effectLst/>
                <a:latin typeface="Times New Roman" panose="02020603050405020304" pitchFamily="18" charset="0"/>
                <a:cs typeface="Times New Roman" panose="02020603050405020304" pitchFamily="18" charset="0"/>
              </a:rPr>
              <a:t>The </a:t>
            </a:r>
            <a:r>
              <a:rPr lang="en-GB" b="1">
                <a:effectLst/>
                <a:latin typeface="Times New Roman" panose="02020603050405020304" pitchFamily="18" charset="0"/>
                <a:cs typeface="Times New Roman" panose="02020603050405020304" pitchFamily="18" charset="0"/>
              </a:rPr>
              <a:t>balance of payments </a:t>
            </a:r>
            <a:r>
              <a:rPr lang="en-GB">
                <a:effectLst/>
                <a:latin typeface="Times New Roman" panose="02020603050405020304" pitchFamily="18" charset="0"/>
                <a:cs typeface="Times New Roman" panose="02020603050405020304" pitchFamily="18" charset="0"/>
              </a:rPr>
              <a:t>(</a:t>
            </a:r>
            <a:r>
              <a:rPr lang="en-GB" b="1">
                <a:effectLst/>
                <a:latin typeface="Times New Roman" panose="02020603050405020304" pitchFamily="18" charset="0"/>
                <a:cs typeface="Times New Roman" panose="02020603050405020304" pitchFamily="18" charset="0"/>
              </a:rPr>
              <a:t>BOP</a:t>
            </a:r>
            <a:r>
              <a:rPr lang="en-GB">
                <a:effectLst/>
                <a:latin typeface="Times New Roman" panose="02020603050405020304" pitchFamily="18" charset="0"/>
                <a:cs typeface="Times New Roman" panose="02020603050405020304" pitchFamily="18" charset="0"/>
              </a:rPr>
              <a:t>) of a country is the record of all economic transactions between the residents of a country and the rest of the world in a particular period (over a quarter of a year or more commonly over a year). </a:t>
            </a:r>
          </a:p>
          <a:p>
            <a:pPr algn="just"/>
            <a:r>
              <a:rPr lang="en-GB">
                <a:effectLst/>
                <a:latin typeface="Times New Roman" panose="02020603050405020304" pitchFamily="18" charset="0"/>
                <a:cs typeface="Times New Roman" panose="02020603050405020304" pitchFamily="18" charset="0"/>
              </a:rPr>
              <a:t>These transactions are made by individuals, firms, and government bodies. Thus the balance of payments includes all external visible and non-visible transactions of a country during a given period, usually a year. </a:t>
            </a:r>
          </a:p>
          <a:p>
            <a:pPr algn="just"/>
            <a:r>
              <a:rPr lang="en-GB">
                <a:effectLst/>
                <a:latin typeface="Times New Roman" panose="02020603050405020304" pitchFamily="18" charset="0"/>
                <a:cs typeface="Times New Roman" panose="02020603050405020304" pitchFamily="18" charset="0"/>
              </a:rPr>
              <a:t>It represents a summation of the country's current demand and supply of the claims on foreign currencies and of foreign claims on its currency. </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8713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AC9BE-EA6E-FCE8-5271-17655586F2B8}"/>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tx1"/>
                </a:solidFill>
                <a:latin typeface="Times New Roman" panose="02020603050405020304" pitchFamily="18" charset="0"/>
                <a:cs typeface="Times New Roman" panose="02020603050405020304" pitchFamily="18" charset="0"/>
              </a:rPr>
              <a:t>BOP</a:t>
            </a: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87B72FD-6095-84A9-D08D-7D60A756A834}"/>
              </a:ext>
            </a:extLst>
          </p:cNvPr>
          <p:cNvPicPr>
            <a:picLocks noChangeAspect="1"/>
          </p:cNvPicPr>
          <p:nvPr/>
        </p:nvPicPr>
        <p:blipFill>
          <a:blip r:embed="rId2"/>
          <a:stretch>
            <a:fillRect/>
          </a:stretch>
        </p:blipFill>
        <p:spPr>
          <a:xfrm>
            <a:off x="1837253" y="1992192"/>
            <a:ext cx="7956702" cy="4555212"/>
          </a:xfrm>
          <a:prstGeom prst="rect">
            <a:avLst/>
          </a:prstGeom>
        </p:spPr>
      </p:pic>
    </p:spTree>
    <p:extLst>
      <p:ext uri="{BB962C8B-B14F-4D97-AF65-F5344CB8AC3E}">
        <p14:creationId xmlns:p14="http://schemas.microsoft.com/office/powerpoint/2010/main" val="2801515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0FC6AA-D543-2D0A-A982-A88EFD690294}"/>
              </a:ext>
            </a:extLst>
          </p:cNvPr>
          <p:cNvSpPr>
            <a:spLocks noGrp="1"/>
          </p:cNvSpPr>
          <p:nvPr>
            <p:ph type="title"/>
          </p:nvPr>
        </p:nvSpPr>
        <p:spPr>
          <a:xfrm>
            <a:off x="920496" y="548640"/>
            <a:ext cx="10168128" cy="1179576"/>
          </a:xfrm>
        </p:spPr>
        <p:txBody>
          <a:bodyPr>
            <a:normAutofit/>
          </a:bodyPr>
          <a:lstStyle/>
          <a:p>
            <a:r>
              <a:rPr lang="en-LK" sz="4800" b="1">
                <a:latin typeface="Times New Roman" panose="02020603050405020304" pitchFamily="18" charset="0"/>
                <a:cs typeface="Times New Roman" panose="02020603050405020304" pitchFamily="18" charset="0"/>
              </a:rPr>
              <a:t>8. Monetary Policy</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12DB406-8D0F-2ECD-C71D-DA999AFB47B3}"/>
              </a:ext>
            </a:extLst>
          </p:cNvPr>
          <p:cNvSpPr>
            <a:spLocks noGrp="1"/>
          </p:cNvSpPr>
          <p:nvPr>
            <p:ph idx="1"/>
          </p:nvPr>
        </p:nvSpPr>
        <p:spPr>
          <a:xfrm>
            <a:off x="1115568" y="2481943"/>
            <a:ext cx="10168128" cy="3695020"/>
          </a:xfrm>
        </p:spPr>
        <p:txBody>
          <a:bodyPr>
            <a:normAutofit/>
          </a:bodyPr>
          <a:lstStyle/>
          <a:p>
            <a:pPr algn="just"/>
            <a:r>
              <a:rPr lang="en-GB" b="1" dirty="0">
                <a:effectLst/>
                <a:latin typeface="Times New Roman" panose="02020603050405020304" pitchFamily="18" charset="0"/>
                <a:cs typeface="Times New Roman" panose="02020603050405020304" pitchFamily="18" charset="0"/>
              </a:rPr>
              <a:t>Monetary policy </a:t>
            </a:r>
            <a:r>
              <a:rPr lang="en-GB" dirty="0">
                <a:effectLst/>
                <a:latin typeface="Times New Roman" panose="02020603050405020304" pitchFamily="18" charset="0"/>
                <a:cs typeface="Times New Roman" panose="02020603050405020304" pitchFamily="18" charset="0"/>
              </a:rPr>
              <a:t>is the process by which the monetary authority of a currency controls the supply of money, often targeting an inflation rate or interest rate to ensure price stability and general trust in the currency. </a:t>
            </a:r>
          </a:p>
          <a:p>
            <a:pPr algn="just"/>
            <a:r>
              <a:rPr lang="en-GB" dirty="0">
                <a:effectLst/>
                <a:latin typeface="Times New Roman" panose="02020603050405020304" pitchFamily="18" charset="0"/>
                <a:cs typeface="Times New Roman" panose="02020603050405020304" pitchFamily="18" charset="0"/>
              </a:rPr>
              <a:t>Further goals of a monetary policy are usually to contribute to economic growth and stability, to low unemployment, and rates with other currencies, and too predictable exchange </a:t>
            </a:r>
          </a:p>
          <a:p>
            <a:pPr algn="just"/>
            <a:endParaRPr lang="en-L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7769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50A65B2-352C-84B0-F0CF-EAD4690B6EE3}"/>
              </a:ext>
            </a:extLst>
          </p:cNvPr>
          <p:cNvSpPr>
            <a:spLocks noGrp="1"/>
          </p:cNvSpPr>
          <p:nvPr>
            <p:ph type="title"/>
          </p:nvPr>
        </p:nvSpPr>
        <p:spPr>
          <a:xfrm>
            <a:off x="871728" y="548640"/>
            <a:ext cx="10168128" cy="1179576"/>
          </a:xfrm>
        </p:spPr>
        <p:txBody>
          <a:bodyPr>
            <a:normAutofit/>
          </a:bodyPr>
          <a:lstStyle/>
          <a:p>
            <a:r>
              <a:rPr lang="en-GB" sz="4800" b="1" dirty="0">
                <a:latin typeface="Times New Roman" panose="02020603050405020304" pitchFamily="18" charset="0"/>
                <a:cs typeface="Times New Roman" panose="02020603050405020304" pitchFamily="18" charset="0"/>
              </a:rPr>
              <a:t>9. F</a:t>
            </a:r>
            <a:r>
              <a:rPr lang="en-LK" sz="4800" b="1" dirty="0">
                <a:latin typeface="Times New Roman" panose="02020603050405020304" pitchFamily="18" charset="0"/>
                <a:cs typeface="Times New Roman" panose="02020603050405020304" pitchFamily="18" charset="0"/>
              </a:rPr>
              <a:t>iscal Policy</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CA36460-96A3-BA2C-1888-D7778F28CFF8}"/>
              </a:ext>
            </a:extLst>
          </p:cNvPr>
          <p:cNvSpPr>
            <a:spLocks noGrp="1"/>
          </p:cNvSpPr>
          <p:nvPr>
            <p:ph idx="1"/>
          </p:nvPr>
        </p:nvSpPr>
        <p:spPr>
          <a:xfrm>
            <a:off x="1115568" y="2481943"/>
            <a:ext cx="10168128" cy="3695020"/>
          </a:xfrm>
        </p:spPr>
        <p:txBody>
          <a:bodyPr>
            <a:normAutofit/>
          </a:bodyPr>
          <a:lstStyle/>
          <a:p>
            <a:pPr algn="just"/>
            <a:r>
              <a:rPr lang="en-GB">
                <a:effectLst/>
                <a:latin typeface="Times New Roman" panose="02020603050405020304" pitchFamily="18" charset="0"/>
                <a:cs typeface="Times New Roman" panose="02020603050405020304" pitchFamily="18" charset="0"/>
              </a:rPr>
              <a:t>Fiscal policy is the means by which a government adjusts its spending levels and tax rates to monitor and influence a nation's economy. </a:t>
            </a:r>
          </a:p>
          <a:p>
            <a:pPr algn="just"/>
            <a:r>
              <a:rPr lang="en-GB">
                <a:effectLst/>
                <a:latin typeface="Times New Roman" panose="02020603050405020304" pitchFamily="18" charset="0"/>
                <a:cs typeface="Times New Roman" panose="02020603050405020304" pitchFamily="18" charset="0"/>
              </a:rPr>
              <a:t>It is the sister strategy to monetary policy through which a central bank influences a nation's money supply. These two policies are used in various combinations to direct a country's economic goals. </a:t>
            </a:r>
          </a:p>
          <a:p>
            <a:pPr marL="0" indent="0" algn="just">
              <a:buNone/>
            </a:pPr>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4077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7D826CE-E64E-AE0C-DFAB-FB7449A40EE5}"/>
              </a:ext>
            </a:extLst>
          </p:cNvPr>
          <p:cNvSpPr>
            <a:spLocks noGrp="1"/>
          </p:cNvSpPr>
          <p:nvPr>
            <p:ph type="title"/>
          </p:nvPr>
        </p:nvSpPr>
        <p:spPr>
          <a:xfrm>
            <a:off x="883920" y="548640"/>
            <a:ext cx="10168128" cy="1179576"/>
          </a:xfrm>
        </p:spPr>
        <p:txBody>
          <a:bodyPr>
            <a:normAutofit/>
          </a:bodyPr>
          <a:lstStyle/>
          <a:p>
            <a:r>
              <a:rPr lang="en-GB" sz="4800" b="1">
                <a:latin typeface="Times New Roman" panose="02020603050405020304" pitchFamily="18" charset="0"/>
                <a:cs typeface="Times New Roman" panose="02020603050405020304" pitchFamily="18" charset="0"/>
              </a:rPr>
              <a:t>10. I</a:t>
            </a:r>
            <a:r>
              <a:rPr lang="en-LK" sz="4800" b="1">
                <a:latin typeface="Times New Roman" panose="02020603050405020304" pitchFamily="18" charset="0"/>
                <a:cs typeface="Times New Roman" panose="02020603050405020304" pitchFamily="18" charset="0"/>
              </a:rPr>
              <a:t>nterest rate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F8E6660-97F4-2898-BEB5-E43C52AB9526}"/>
              </a:ext>
            </a:extLst>
          </p:cNvPr>
          <p:cNvSpPr>
            <a:spLocks noGrp="1"/>
          </p:cNvSpPr>
          <p:nvPr>
            <p:ph idx="1"/>
          </p:nvPr>
        </p:nvSpPr>
        <p:spPr>
          <a:xfrm>
            <a:off x="1115568" y="2481943"/>
            <a:ext cx="10168128" cy="3695020"/>
          </a:xfrm>
        </p:spPr>
        <p:txBody>
          <a:bodyPr>
            <a:normAutofit/>
          </a:bodyPr>
          <a:lstStyle/>
          <a:p>
            <a:pPr algn="just"/>
            <a:r>
              <a:rPr lang="en-GB">
                <a:effectLst/>
                <a:latin typeface="Times New Roman" panose="02020603050405020304" pitchFamily="18" charset="0"/>
                <a:cs typeface="Times New Roman" panose="02020603050405020304" pitchFamily="18" charset="0"/>
              </a:rPr>
              <a:t>An </a:t>
            </a:r>
            <a:r>
              <a:rPr lang="en-GB" b="1">
                <a:effectLst/>
                <a:latin typeface="Times New Roman" panose="02020603050405020304" pitchFamily="18" charset="0"/>
                <a:cs typeface="Times New Roman" panose="02020603050405020304" pitchFamily="18" charset="0"/>
              </a:rPr>
              <a:t>interest rate </a:t>
            </a:r>
            <a:r>
              <a:rPr lang="en-GB">
                <a:effectLst/>
                <a:latin typeface="Times New Roman" panose="02020603050405020304" pitchFamily="18" charset="0"/>
                <a:cs typeface="Times New Roman" panose="02020603050405020304" pitchFamily="18" charset="0"/>
              </a:rPr>
              <a:t>is a rate at which interest is paid by borrowers (debtors) for the use of money that they borrow from lenders (creditors). Specifically, the interest rate is a percentage of principal paid a certain number of times per period for all periods during the total term of the loan or credit. </a:t>
            </a:r>
          </a:p>
          <a:p>
            <a:pPr algn="just"/>
            <a:r>
              <a:rPr lang="en-GB">
                <a:effectLst/>
                <a:latin typeface="Times New Roman" panose="02020603050405020304" pitchFamily="18" charset="0"/>
                <a:cs typeface="Times New Roman" panose="02020603050405020304" pitchFamily="18" charset="0"/>
              </a:rPr>
              <a:t>Many different interest rates in the economy vary by duration and degree of risk. </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62782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E91EAD5-822F-8B1B-7761-3577037CEA8F}"/>
              </a:ext>
            </a:extLst>
          </p:cNvPr>
          <p:cNvSpPr>
            <a:spLocks noGrp="1"/>
          </p:cNvSpPr>
          <p:nvPr>
            <p:ph type="title"/>
          </p:nvPr>
        </p:nvSpPr>
        <p:spPr>
          <a:xfrm>
            <a:off x="871728" y="548640"/>
            <a:ext cx="10168128" cy="1179576"/>
          </a:xfrm>
        </p:spPr>
        <p:txBody>
          <a:bodyPr>
            <a:normAutofit/>
          </a:bodyPr>
          <a:lstStyle/>
          <a:p>
            <a:r>
              <a:rPr lang="en-GB" sz="4800" b="1">
                <a:latin typeface="Times New Roman" panose="02020603050405020304" pitchFamily="18" charset="0"/>
                <a:cs typeface="Times New Roman" panose="02020603050405020304" pitchFamily="18" charset="0"/>
              </a:rPr>
              <a:t>11. S</a:t>
            </a:r>
            <a:r>
              <a:rPr lang="en-LK" sz="4800" b="1">
                <a:latin typeface="Times New Roman" panose="02020603050405020304" pitchFamily="18" charset="0"/>
                <a:cs typeface="Times New Roman" panose="02020603050405020304" pitchFamily="18" charset="0"/>
              </a:rPr>
              <a:t>tock Market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35FDE6D-54BF-498F-D77F-D068029ED6BE}"/>
              </a:ext>
            </a:extLst>
          </p:cNvPr>
          <p:cNvSpPr>
            <a:spLocks noGrp="1"/>
          </p:cNvSpPr>
          <p:nvPr>
            <p:ph idx="1"/>
          </p:nvPr>
        </p:nvSpPr>
        <p:spPr>
          <a:xfrm>
            <a:off x="615696" y="2238102"/>
            <a:ext cx="10168128" cy="4272425"/>
          </a:xfrm>
        </p:spPr>
        <p:txBody>
          <a:bodyPr>
            <a:normAutofit fontScale="92500"/>
          </a:bodyPr>
          <a:lstStyle/>
          <a:p>
            <a:pPr algn="just"/>
            <a:r>
              <a:rPr lang="en-GB">
                <a:effectLst/>
                <a:latin typeface="Times New Roman" panose="02020603050405020304" pitchFamily="18" charset="0"/>
                <a:cs typeface="Times New Roman" panose="02020603050405020304" pitchFamily="18" charset="0"/>
              </a:rPr>
              <a:t>A </a:t>
            </a:r>
            <a:r>
              <a:rPr lang="en-GB" b="1">
                <a:effectLst/>
                <a:latin typeface="Times New Roman" panose="02020603050405020304" pitchFamily="18" charset="0"/>
                <a:cs typeface="Times New Roman" panose="02020603050405020304" pitchFamily="18" charset="0"/>
              </a:rPr>
              <a:t>stock market </a:t>
            </a:r>
            <a:r>
              <a:rPr lang="en-GB">
                <a:effectLst/>
                <a:latin typeface="Times New Roman" panose="02020603050405020304" pitchFamily="18" charset="0"/>
                <a:cs typeface="Times New Roman" panose="02020603050405020304" pitchFamily="18" charset="0"/>
              </a:rPr>
              <a:t>or </a:t>
            </a:r>
            <a:r>
              <a:rPr lang="en-GB" b="1">
                <a:effectLst/>
                <a:latin typeface="Times New Roman" panose="02020603050405020304" pitchFamily="18" charset="0"/>
                <a:cs typeface="Times New Roman" panose="02020603050405020304" pitchFamily="18" charset="0"/>
              </a:rPr>
              <a:t>equity market </a:t>
            </a:r>
            <a:r>
              <a:rPr lang="en-GB">
                <a:effectLst/>
                <a:latin typeface="Times New Roman" panose="02020603050405020304" pitchFamily="18" charset="0"/>
                <a:cs typeface="Times New Roman" panose="02020603050405020304" pitchFamily="18" charset="0"/>
              </a:rPr>
              <a:t>is the aggregation of buyers and sellers (a loose network of economic transactions, not a physical facility or discrete entity) of stocks (also called shares); these may include securities listed on a stock exchange as well as those only traded privately. </a:t>
            </a:r>
          </a:p>
          <a:p>
            <a:pPr algn="just"/>
            <a:r>
              <a:rPr lang="en-GB">
                <a:effectLst/>
                <a:latin typeface="Times New Roman" panose="02020603050405020304" pitchFamily="18" charset="0"/>
                <a:cs typeface="Times New Roman" panose="02020603050405020304" pitchFamily="18" charset="0"/>
              </a:rPr>
              <a:t>History has shown that the price of stocks and other assets is an important part of the dynamics of economic activity, and can influence or be an indicator of social mood. </a:t>
            </a:r>
          </a:p>
          <a:p>
            <a:pPr algn="just"/>
            <a:r>
              <a:rPr lang="en-GB">
                <a:effectLst/>
                <a:latin typeface="Times New Roman" panose="02020603050405020304" pitchFamily="18" charset="0"/>
                <a:cs typeface="Times New Roman" panose="02020603050405020304" pitchFamily="18" charset="0"/>
              </a:rPr>
              <a:t>An economy where the stock market is on the rise is considered to be an up-and-coming economy. In fact, the stock market is often considered the primary indicator of a country's economic strength and development. </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83933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9901CD-FA50-D44C-341E-93B5768E4043}"/>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tx1"/>
                </a:solidFill>
                <a:latin typeface="Times New Roman" panose="02020603050405020304" pitchFamily="18" charset="0"/>
                <a:cs typeface="Times New Roman" panose="02020603050405020304" pitchFamily="18" charset="0"/>
              </a:rPr>
              <a:t>Market Cap</a:t>
            </a:r>
          </a:p>
        </p:txBody>
      </p:sp>
      <p:sp>
        <p:nvSpPr>
          <p:cNvPr id="17"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2CDED57-0FA3-1902-4C41-A117B83CB9DD}"/>
              </a:ext>
            </a:extLst>
          </p:cNvPr>
          <p:cNvPicPr>
            <a:picLocks noChangeAspect="1"/>
          </p:cNvPicPr>
          <p:nvPr/>
        </p:nvPicPr>
        <p:blipFill>
          <a:blip r:embed="rId2"/>
          <a:stretch>
            <a:fillRect/>
          </a:stretch>
        </p:blipFill>
        <p:spPr>
          <a:xfrm>
            <a:off x="4149986" y="1818226"/>
            <a:ext cx="3704859" cy="4939813"/>
          </a:xfrm>
          <a:prstGeom prst="rect">
            <a:avLst/>
          </a:prstGeom>
        </p:spPr>
      </p:pic>
    </p:spTree>
    <p:extLst>
      <p:ext uri="{BB962C8B-B14F-4D97-AF65-F5344CB8AC3E}">
        <p14:creationId xmlns:p14="http://schemas.microsoft.com/office/powerpoint/2010/main" val="196311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CD170A-C1D2-E4BA-07CB-91EDCD7EB331}"/>
              </a:ext>
            </a:extLst>
          </p:cNvPr>
          <p:cNvSpPr>
            <a:spLocks noGrp="1"/>
          </p:cNvSpPr>
          <p:nvPr>
            <p:ph type="title"/>
          </p:nvPr>
        </p:nvSpPr>
        <p:spPr>
          <a:xfrm>
            <a:off x="920496" y="548640"/>
            <a:ext cx="10168128" cy="1179576"/>
          </a:xfrm>
        </p:spPr>
        <p:txBody>
          <a:bodyPr>
            <a:normAutofit/>
          </a:bodyPr>
          <a:lstStyle/>
          <a:p>
            <a:r>
              <a:rPr lang="en-GB" sz="4800" b="1">
                <a:latin typeface="Times New Roman" panose="02020603050405020304" pitchFamily="18" charset="0"/>
                <a:cs typeface="Times New Roman" panose="02020603050405020304" pitchFamily="18" charset="0"/>
              </a:rPr>
              <a:t>12. B</a:t>
            </a:r>
            <a:r>
              <a:rPr lang="en-LK" sz="4800" b="1">
                <a:latin typeface="Times New Roman" panose="02020603050405020304" pitchFamily="18" charset="0"/>
                <a:cs typeface="Times New Roman" panose="02020603050405020304" pitchFamily="18" charset="0"/>
              </a:rPr>
              <a:t>usiness cycle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021A9BB-1E77-D293-F9DE-CD22F0EF1347}"/>
              </a:ext>
            </a:extLst>
          </p:cNvPr>
          <p:cNvSpPr>
            <a:spLocks noGrp="1"/>
          </p:cNvSpPr>
          <p:nvPr>
            <p:ph idx="1"/>
          </p:nvPr>
        </p:nvSpPr>
        <p:spPr>
          <a:xfrm>
            <a:off x="615696" y="2360023"/>
            <a:ext cx="10168128" cy="3695020"/>
          </a:xfrm>
        </p:spPr>
        <p:txBody>
          <a:bodyPr>
            <a:normAutofit fontScale="92500" lnSpcReduction="20000"/>
          </a:bodyPr>
          <a:lstStyle/>
          <a:p>
            <a:pPr algn="just"/>
            <a:r>
              <a:rPr lang="en-GB" dirty="0">
                <a:effectLst/>
                <a:latin typeface="Times New Roman" panose="02020603050405020304" pitchFamily="18" charset="0"/>
                <a:cs typeface="Times New Roman" panose="02020603050405020304" pitchFamily="18" charset="0"/>
              </a:rPr>
              <a:t>The term </a:t>
            </a:r>
            <a:r>
              <a:rPr lang="en-GB" b="1" dirty="0">
                <a:effectLst/>
                <a:latin typeface="Times New Roman" panose="02020603050405020304" pitchFamily="18" charset="0"/>
                <a:cs typeface="Times New Roman" panose="02020603050405020304" pitchFamily="18" charset="0"/>
              </a:rPr>
              <a:t>business cycle </a:t>
            </a:r>
            <a:r>
              <a:rPr lang="en-GB" dirty="0">
                <a:effectLst/>
                <a:latin typeface="Times New Roman" panose="02020603050405020304" pitchFamily="18" charset="0"/>
                <a:cs typeface="Times New Roman" panose="02020603050405020304" pitchFamily="18" charset="0"/>
              </a:rPr>
              <a:t>(or </a:t>
            </a:r>
            <a:r>
              <a:rPr lang="en-GB" b="1" dirty="0">
                <a:effectLst/>
                <a:latin typeface="Times New Roman" panose="02020603050405020304" pitchFamily="18" charset="0"/>
                <a:cs typeface="Times New Roman" panose="02020603050405020304" pitchFamily="18" charset="0"/>
              </a:rPr>
              <a:t>economic cycle </a:t>
            </a:r>
            <a:r>
              <a:rPr lang="en-GB" dirty="0">
                <a:effectLst/>
                <a:latin typeface="Times New Roman" panose="02020603050405020304" pitchFamily="18" charset="0"/>
                <a:cs typeface="Times New Roman" panose="02020603050405020304" pitchFamily="18" charset="0"/>
              </a:rPr>
              <a:t>or </a:t>
            </a:r>
            <a:r>
              <a:rPr lang="en-GB" b="1" dirty="0">
                <a:effectLst/>
                <a:latin typeface="Times New Roman" panose="02020603050405020304" pitchFamily="18" charset="0"/>
                <a:cs typeface="Times New Roman" panose="02020603050405020304" pitchFamily="18" charset="0"/>
              </a:rPr>
              <a:t>boom–bust cycle</a:t>
            </a:r>
            <a:r>
              <a:rPr lang="en-GB" dirty="0">
                <a:effectLst/>
                <a:latin typeface="Times New Roman" panose="02020603050405020304" pitchFamily="18" charset="0"/>
                <a:cs typeface="Times New Roman" panose="02020603050405020304" pitchFamily="18" charset="0"/>
              </a:rPr>
              <a:t>) refers to fluctuations in aggregate production, trade, and activity over several months or years in a market economy. </a:t>
            </a:r>
          </a:p>
          <a:p>
            <a:pPr algn="just"/>
            <a:r>
              <a:rPr lang="en-GB" dirty="0">
                <a:effectLst/>
                <a:latin typeface="Times New Roman" panose="02020603050405020304" pitchFamily="18" charset="0"/>
                <a:cs typeface="Times New Roman" panose="02020603050405020304" pitchFamily="18" charset="0"/>
              </a:rPr>
              <a:t>The business cycle is the downward and upward movement of levels of gross domestic product (GDP) and refers to the period of expansions and contractions in the level of economic activities (business fluctuations) around its long-term growth trend. </a:t>
            </a:r>
          </a:p>
          <a:p>
            <a:pPr algn="just"/>
            <a:r>
              <a:rPr lang="en-GB" dirty="0">
                <a:effectLst/>
                <a:latin typeface="Times New Roman" panose="02020603050405020304" pitchFamily="18" charset="0"/>
                <a:cs typeface="Times New Roman" panose="02020603050405020304" pitchFamily="18" charset="0"/>
              </a:rPr>
              <a:t>These fluctuations occur around a long-term growth trend and typically involve shifts over time between periods of relatively rapid economic growth (an expansion or boom), and periods of relative stagnation or decline (a contraction or recession). </a:t>
            </a:r>
          </a:p>
          <a:p>
            <a:pPr algn="just"/>
            <a:endParaRPr lang="en-L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6521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4157E3-69DE-0394-27C1-D27082998DE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dirty="0">
                <a:solidFill>
                  <a:schemeClr val="tx1"/>
                </a:solidFill>
                <a:latin typeface="Times New Roman" panose="02020603050405020304" pitchFamily="18" charset="0"/>
                <a:cs typeface="Times New Roman" panose="02020603050405020304" pitchFamily="18" charset="0"/>
              </a:rPr>
              <a:t>Business Cycle</a:t>
            </a:r>
          </a:p>
        </p:txBody>
      </p:sp>
      <p:sp>
        <p:nvSpPr>
          <p:cNvPr id="2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745FA95-97CA-55A4-1DE0-C871E858A32C}"/>
              </a:ext>
            </a:extLst>
          </p:cNvPr>
          <p:cNvPicPr>
            <a:picLocks noChangeAspect="1"/>
          </p:cNvPicPr>
          <p:nvPr/>
        </p:nvPicPr>
        <p:blipFill>
          <a:blip r:embed="rId2"/>
          <a:stretch>
            <a:fillRect/>
          </a:stretch>
        </p:blipFill>
        <p:spPr>
          <a:xfrm>
            <a:off x="1870748" y="2131146"/>
            <a:ext cx="8130714" cy="4309278"/>
          </a:xfrm>
          <a:prstGeom prst="rect">
            <a:avLst/>
          </a:prstGeom>
        </p:spPr>
      </p:pic>
    </p:spTree>
    <p:extLst>
      <p:ext uri="{BB962C8B-B14F-4D97-AF65-F5344CB8AC3E}">
        <p14:creationId xmlns:p14="http://schemas.microsoft.com/office/powerpoint/2010/main" val="11010195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FCD0D4-0000-092C-463D-074C71B74CB4}"/>
              </a:ext>
            </a:extLst>
          </p:cNvPr>
          <p:cNvSpPr>
            <a:spLocks noGrp="1"/>
          </p:cNvSpPr>
          <p:nvPr>
            <p:ph type="title"/>
          </p:nvPr>
        </p:nvSpPr>
        <p:spPr>
          <a:xfrm>
            <a:off x="929828" y="548640"/>
            <a:ext cx="10168128" cy="1179576"/>
          </a:xfrm>
        </p:spPr>
        <p:txBody>
          <a:bodyPr>
            <a:normAutofit/>
          </a:bodyPr>
          <a:lstStyle/>
          <a:p>
            <a:r>
              <a:rPr lang="en-GB" sz="4800" b="1" dirty="0">
                <a:latin typeface="Times New Roman" panose="02020603050405020304" pitchFamily="18" charset="0"/>
                <a:cs typeface="Times New Roman" panose="02020603050405020304" pitchFamily="18" charset="0"/>
              </a:rPr>
              <a:t>13. E</a:t>
            </a:r>
            <a:r>
              <a:rPr lang="en-LK" sz="4800" b="1" dirty="0">
                <a:latin typeface="Times New Roman" panose="02020603050405020304" pitchFamily="18" charset="0"/>
                <a:cs typeface="Times New Roman" panose="02020603050405020304" pitchFamily="18" charset="0"/>
              </a:rPr>
              <a:t>xchange Rate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97EF2FF-C459-DDCB-309B-AAB8CCA61EA6}"/>
              </a:ext>
            </a:extLst>
          </p:cNvPr>
          <p:cNvSpPr>
            <a:spLocks noGrp="1"/>
          </p:cNvSpPr>
          <p:nvPr>
            <p:ph idx="1"/>
          </p:nvPr>
        </p:nvSpPr>
        <p:spPr>
          <a:xfrm>
            <a:off x="554736" y="2250295"/>
            <a:ext cx="10168128" cy="3695020"/>
          </a:xfrm>
        </p:spPr>
        <p:txBody>
          <a:bodyPr>
            <a:normAutofit fontScale="92500" lnSpcReduction="10000"/>
          </a:bodyPr>
          <a:lstStyle/>
          <a:p>
            <a:pPr algn="just"/>
            <a:r>
              <a:rPr lang="en-GB">
                <a:effectLst/>
                <a:latin typeface="Times New Roman" panose="02020603050405020304" pitchFamily="18" charset="0"/>
                <a:cs typeface="Times New Roman" panose="02020603050405020304" pitchFamily="18" charset="0"/>
              </a:rPr>
              <a:t>The Exchange Rate between two currencies is the rate at which one currency will be exchanged for another.  </a:t>
            </a:r>
          </a:p>
          <a:p>
            <a:pPr algn="just"/>
            <a:r>
              <a:rPr lang="en-GB">
                <a:effectLst/>
                <a:latin typeface="Times New Roman" panose="02020603050405020304" pitchFamily="18" charset="0"/>
                <a:cs typeface="Times New Roman" panose="02020603050405020304" pitchFamily="18" charset="0"/>
              </a:rPr>
              <a:t>It is also regarded as the value of one country’s currency in terms of another currency. </a:t>
            </a:r>
          </a:p>
          <a:p>
            <a:pPr lvl="1" algn="just">
              <a:buFont typeface="Wingdings" pitchFamily="2" charset="2"/>
              <a:buChar char="ü"/>
            </a:pPr>
            <a:r>
              <a:rPr lang="en-GB" sz="2800">
                <a:effectLst/>
                <a:latin typeface="Times New Roman" panose="02020603050405020304" pitchFamily="18" charset="0"/>
                <a:cs typeface="Times New Roman" panose="02020603050405020304" pitchFamily="18" charset="0"/>
              </a:rPr>
              <a:t>governs the terms on which international trade and investment take place </a:t>
            </a:r>
          </a:p>
          <a:p>
            <a:pPr lvl="1" algn="just">
              <a:buFont typeface="Wingdings" pitchFamily="2" charset="2"/>
              <a:buChar char="ü"/>
            </a:pPr>
            <a:r>
              <a:rPr lang="en-GB" sz="2800" b="1" i="1">
                <a:effectLst/>
                <a:latin typeface="Times New Roman" panose="02020603050405020304" pitchFamily="18" charset="0"/>
                <a:cs typeface="Times New Roman" panose="02020603050405020304" pitchFamily="18" charset="0"/>
              </a:rPr>
              <a:t>nominal </a:t>
            </a:r>
            <a:r>
              <a:rPr lang="en-GB" sz="2800">
                <a:effectLst/>
                <a:latin typeface="Times New Roman" panose="02020603050405020304" pitchFamily="18" charset="0"/>
                <a:cs typeface="Times New Roman" panose="02020603050405020304" pitchFamily="18" charset="0"/>
              </a:rPr>
              <a:t>exchange rate is the rate at which monies of different countries can be exchanged for one another </a:t>
            </a:r>
          </a:p>
          <a:p>
            <a:pPr lvl="1" algn="just">
              <a:buFont typeface="Wingdings" pitchFamily="2" charset="2"/>
              <a:buChar char="ü"/>
            </a:pPr>
            <a:r>
              <a:rPr lang="en-GB" sz="2800" b="1" i="1">
                <a:effectLst/>
                <a:latin typeface="Times New Roman" panose="02020603050405020304" pitchFamily="18" charset="0"/>
                <a:cs typeface="Times New Roman" panose="02020603050405020304" pitchFamily="18" charset="0"/>
              </a:rPr>
              <a:t>real </a:t>
            </a:r>
            <a:r>
              <a:rPr lang="en-GB" sz="2800">
                <a:effectLst/>
                <a:latin typeface="Times New Roman" panose="02020603050405020304" pitchFamily="18" charset="0"/>
                <a:cs typeface="Times New Roman" panose="02020603050405020304" pitchFamily="18" charset="0"/>
              </a:rPr>
              <a:t>exchange rate is the rate at which the goods and services produced in different countries can be exchanged for one another </a:t>
            </a:r>
          </a:p>
          <a:p>
            <a:pPr algn="just"/>
            <a:endParaRPr lang="en-LK">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16698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7B8E791-3AE9-919E-5177-B9C8CCE73FC2}"/>
              </a:ext>
            </a:extLst>
          </p:cNvPr>
          <p:cNvSpPr>
            <a:spLocks noGrp="1"/>
          </p:cNvSpPr>
          <p:nvPr>
            <p:ph type="title"/>
          </p:nvPr>
        </p:nvSpPr>
        <p:spPr>
          <a:xfrm>
            <a:off x="1115568" y="548640"/>
            <a:ext cx="10168128" cy="1179576"/>
          </a:xfrm>
        </p:spPr>
        <p:txBody>
          <a:bodyPr>
            <a:normAutofit/>
          </a:bodyPr>
          <a:lstStyle/>
          <a:p>
            <a:r>
              <a:rPr lang="en-GB" sz="4800" b="1" dirty="0">
                <a:latin typeface="Times New Roman" panose="02020603050405020304" pitchFamily="18" charset="0"/>
                <a:cs typeface="Times New Roman" panose="02020603050405020304" pitchFamily="18" charset="0"/>
              </a:rPr>
              <a:t>I</a:t>
            </a:r>
            <a:r>
              <a:rPr lang="en-LK" sz="4800" b="1" dirty="0">
                <a:latin typeface="Times New Roman" panose="02020603050405020304" pitchFamily="18" charset="0"/>
                <a:cs typeface="Times New Roman" panose="02020603050405020304" pitchFamily="18" charset="0"/>
              </a:rPr>
              <a:t>mportance of macroeconomics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A9FDBA0-9DA4-6D2B-1236-9C105A00FDAD}"/>
              </a:ext>
            </a:extLst>
          </p:cNvPr>
          <p:cNvSpPr>
            <a:spLocks noGrp="1"/>
          </p:cNvSpPr>
          <p:nvPr>
            <p:ph idx="1"/>
          </p:nvPr>
        </p:nvSpPr>
        <p:spPr>
          <a:xfrm>
            <a:off x="676656" y="2360022"/>
            <a:ext cx="10168128" cy="4382153"/>
          </a:xfrm>
        </p:spPr>
        <p:txBody>
          <a:bodyPr>
            <a:normAutofit lnSpcReduction="10000"/>
          </a:bodyPr>
          <a:lstStyle/>
          <a:p>
            <a:pPr algn="just"/>
            <a:r>
              <a:rPr lang="en-GB" sz="2400">
                <a:effectLst/>
                <a:latin typeface="Times New Roman" panose="02020603050405020304" pitchFamily="18" charset="0"/>
                <a:cs typeface="Times New Roman" panose="02020603050405020304" pitchFamily="18" charset="0"/>
              </a:rPr>
              <a:t>It helps us understand the functioning of a complicated modern economic system. It describes how the economy as a whole function and how the level of national income and employment is determined on the basis of aggregate demand and aggregate supply. </a:t>
            </a:r>
          </a:p>
          <a:p>
            <a:pPr algn="just"/>
            <a:r>
              <a:rPr lang="en-GB" sz="2400">
                <a:effectLst/>
                <a:latin typeface="Times New Roman" panose="02020603050405020304" pitchFamily="18" charset="0"/>
                <a:cs typeface="Times New Roman" panose="02020603050405020304" pitchFamily="18" charset="0"/>
              </a:rPr>
              <a:t>It helps to achieve the goal of economic growth, a higher GDP level, and a higher level of employment. It analyses the forces which determine the economic growth of a country and explains how to reach the highest state of economic growth and sustain it. </a:t>
            </a:r>
          </a:p>
          <a:p>
            <a:pPr algn="just"/>
            <a:r>
              <a:rPr lang="en-GB" sz="2400">
                <a:effectLst/>
                <a:latin typeface="Times New Roman" panose="02020603050405020304" pitchFamily="18" charset="0"/>
                <a:cs typeface="Times New Roman" panose="02020603050405020304" pitchFamily="18" charset="0"/>
              </a:rPr>
              <a:t>It helps to bring stability to the price level and analyses fluctuations in business activities. It suggests policy measures to control inflation and deflation. </a:t>
            </a:r>
          </a:p>
          <a:p>
            <a:pPr algn="just"/>
            <a:r>
              <a:rPr lang="en-GB" sz="2400">
                <a:effectLst/>
                <a:latin typeface="Times New Roman" panose="02020603050405020304" pitchFamily="18" charset="0"/>
                <a:cs typeface="Times New Roman" panose="02020603050405020304" pitchFamily="18" charset="0"/>
              </a:rPr>
              <a:t>It explains factors that determine the balance of payments. At the same time, it identifies causes of deficit in the balance of payments and suggests remedial measures. </a:t>
            </a:r>
          </a:p>
          <a:p>
            <a:pPr marL="0" indent="0" algn="just">
              <a:buNone/>
            </a:pPr>
            <a:endParaRPr lang="en-LK"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88334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94E09E78-33D8-7333-55B1-717B0EBF1F48}"/>
              </a:ext>
            </a:extLst>
          </p:cNvPr>
          <p:cNvSpPr>
            <a:spLocks noGrp="1"/>
          </p:cNvSpPr>
          <p:nvPr>
            <p:ph type="title"/>
          </p:nvPr>
        </p:nvSpPr>
        <p:spPr>
          <a:xfrm>
            <a:off x="871728" y="548640"/>
            <a:ext cx="10168128" cy="1179576"/>
          </a:xfrm>
        </p:spPr>
        <p:txBody>
          <a:bodyPr>
            <a:normAutofit/>
          </a:bodyPr>
          <a:lstStyle/>
          <a:p>
            <a:r>
              <a:rPr lang="en-GB" sz="4800" b="1" dirty="0">
                <a:latin typeface="Times New Roman" panose="02020603050405020304" pitchFamily="18" charset="0"/>
                <a:cs typeface="Times New Roman" panose="02020603050405020304" pitchFamily="18" charset="0"/>
              </a:rPr>
              <a:t>I</a:t>
            </a:r>
            <a:r>
              <a:rPr lang="en-LK" sz="4800" b="1" dirty="0">
                <a:latin typeface="Times New Roman" panose="02020603050405020304" pitchFamily="18" charset="0"/>
                <a:cs typeface="Times New Roman" panose="02020603050405020304" pitchFamily="18" charset="0"/>
              </a:rPr>
              <a:t>mportance of macroeconomics</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23A6A7D-8455-B3AC-0839-5738267924B0}"/>
              </a:ext>
            </a:extLst>
          </p:cNvPr>
          <p:cNvSpPr>
            <a:spLocks noGrp="1"/>
          </p:cNvSpPr>
          <p:nvPr>
            <p:ph idx="1"/>
          </p:nvPr>
        </p:nvSpPr>
        <p:spPr>
          <a:xfrm>
            <a:off x="737616" y="2323447"/>
            <a:ext cx="10168128" cy="3695020"/>
          </a:xfrm>
        </p:spPr>
        <p:txBody>
          <a:bodyPr>
            <a:normAutofit lnSpcReduction="10000"/>
          </a:bodyPr>
          <a:lstStyle/>
          <a:p>
            <a:r>
              <a:rPr lang="en-GB">
                <a:effectLst/>
                <a:latin typeface="Times New Roman" panose="02020603050405020304" pitchFamily="18" charset="0"/>
                <a:cs typeface="Times New Roman" panose="02020603050405020304" pitchFamily="18" charset="0"/>
              </a:rPr>
              <a:t>It helps to solve economic problems like poverty, unemployment, inflation, deflation, etc., whose solution is possible at the macro level only (in other words, at the level of the whole economy). </a:t>
            </a:r>
          </a:p>
          <a:p>
            <a:r>
              <a:rPr lang="en-GB">
                <a:effectLst/>
                <a:latin typeface="Times New Roman" panose="02020603050405020304" pitchFamily="18" charset="0"/>
                <a:cs typeface="Times New Roman" panose="02020603050405020304" pitchFamily="18" charset="0"/>
              </a:rPr>
              <a:t>With a detailed knowledge of the functioning of an economy at the macro level, it has been possible to formulate correct economic policies and also coordinate international economic policies. </a:t>
            </a:r>
          </a:p>
          <a:p>
            <a:r>
              <a:rPr lang="en-GB">
                <a:effectLst/>
                <a:latin typeface="Times New Roman" panose="02020603050405020304" pitchFamily="18" charset="0"/>
                <a:cs typeface="Times New Roman" panose="02020603050405020304" pitchFamily="18" charset="0"/>
              </a:rPr>
              <a:t>The macroeconomic theory has saved us from the dangers of the application of microeconomic theory to the problems that require us to look at the economy as a whole. </a:t>
            </a:r>
          </a:p>
          <a:p>
            <a:endParaRPr lang="en-LK"/>
          </a:p>
        </p:txBody>
      </p:sp>
    </p:spTree>
    <p:extLst>
      <p:ext uri="{BB962C8B-B14F-4D97-AF65-F5344CB8AC3E}">
        <p14:creationId xmlns:p14="http://schemas.microsoft.com/office/powerpoint/2010/main" val="28258302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CDC74DD-B442-C0FE-7522-24717D72DEF9}"/>
              </a:ext>
            </a:extLst>
          </p:cNvPr>
          <p:cNvSpPr>
            <a:spLocks noGrp="1"/>
          </p:cNvSpPr>
          <p:nvPr>
            <p:ph idx="1"/>
          </p:nvPr>
        </p:nvSpPr>
        <p:spPr>
          <a:xfrm>
            <a:off x="1115568" y="2481943"/>
            <a:ext cx="10168128" cy="3695020"/>
          </a:xfrm>
        </p:spPr>
        <p:txBody>
          <a:bodyPr>
            <a:normAutofit/>
          </a:bodyPr>
          <a:lstStyle/>
          <a:p>
            <a:pPr marL="0" indent="0" algn="ctr">
              <a:buNone/>
            </a:pPr>
            <a:r>
              <a:rPr lang="en-LK"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81496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791</TotalTime>
  <Words>3030</Words>
  <Application>Microsoft Macintosh PowerPoint</Application>
  <PresentationFormat>Widescreen</PresentationFormat>
  <Paragraphs>215</Paragraphs>
  <Slides>55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Arial Narrow</vt:lpstr>
      <vt:lpstr>Calibri</vt:lpstr>
      <vt:lpstr>Calibri Light</vt:lpstr>
      <vt:lpstr>Times New Roman</vt:lpstr>
      <vt:lpstr>Verdana</vt:lpstr>
      <vt:lpstr>Wingdings</vt:lpstr>
      <vt:lpstr>Office Theme</vt:lpstr>
      <vt:lpstr>Basic Concept of Macroeconomics</vt:lpstr>
      <vt:lpstr>Learning Outcomes</vt:lpstr>
      <vt:lpstr>Definition of Macroeconomics</vt:lpstr>
      <vt:lpstr>Macroeconomic Concerns</vt:lpstr>
      <vt:lpstr>1. Unemployment</vt:lpstr>
      <vt:lpstr>Unemployment</vt:lpstr>
      <vt:lpstr>Why Unemployment is a Problem</vt:lpstr>
      <vt:lpstr>Employment and Unemployment</vt:lpstr>
      <vt:lpstr>Effects of Unemployment</vt:lpstr>
      <vt:lpstr>Economic effects of unemployment</vt:lpstr>
      <vt:lpstr>Influence of Unemployment </vt:lpstr>
      <vt:lpstr>Influence of Unemployment </vt:lpstr>
      <vt:lpstr>Influence of Unemployment </vt:lpstr>
      <vt:lpstr>Influence of Unemployment </vt:lpstr>
      <vt:lpstr>Effects of Unemployment </vt:lpstr>
      <vt:lpstr>Full Employment</vt:lpstr>
      <vt:lpstr>2. Inflation</vt:lpstr>
      <vt:lpstr>Inflation</vt:lpstr>
      <vt:lpstr>Types</vt:lpstr>
      <vt:lpstr>The causes of inflation</vt:lpstr>
      <vt:lpstr>PowerPoint Presentation</vt:lpstr>
      <vt:lpstr>PowerPoint Presentation</vt:lpstr>
      <vt:lpstr>Causes of Deflation</vt:lpstr>
      <vt:lpstr>Causes of Deflation</vt:lpstr>
      <vt:lpstr>Why Inflation and Deflation Are Problems?</vt:lpstr>
      <vt:lpstr>Causes of hyperinflation</vt:lpstr>
      <vt:lpstr>Effects of hyperinflation</vt:lpstr>
      <vt:lpstr>Creeping Inflation  </vt:lpstr>
      <vt:lpstr>3. Output and Growth</vt:lpstr>
      <vt:lpstr>Growth</vt:lpstr>
      <vt:lpstr>Nature and Scope of Macroeconomics</vt:lpstr>
      <vt:lpstr>The Goals of Macroeconomic Policy  </vt:lpstr>
      <vt:lpstr>Key Macro Economic Variables  </vt:lpstr>
      <vt:lpstr>1. Gross Domestic Product </vt:lpstr>
      <vt:lpstr>GDP</vt:lpstr>
      <vt:lpstr>2. National Income</vt:lpstr>
      <vt:lpstr>3. Unemployment</vt:lpstr>
      <vt:lpstr>4. Economic growth</vt:lpstr>
      <vt:lpstr>Economic Growth</vt:lpstr>
      <vt:lpstr>5. Inflation</vt:lpstr>
      <vt:lpstr>6. International trade</vt:lpstr>
      <vt:lpstr>Sri Lanka’s Imports &amp; Exports</vt:lpstr>
      <vt:lpstr>7. Balance of payment (BOP)</vt:lpstr>
      <vt:lpstr>BOP</vt:lpstr>
      <vt:lpstr>8. Monetary Policy</vt:lpstr>
      <vt:lpstr>9. Fiscal Policy</vt:lpstr>
      <vt:lpstr>10. Interest rate</vt:lpstr>
      <vt:lpstr>11. Stock Market</vt:lpstr>
      <vt:lpstr>Market Cap</vt:lpstr>
      <vt:lpstr>12. Business cycle</vt:lpstr>
      <vt:lpstr>Business Cycle</vt:lpstr>
      <vt:lpstr>13. Exchange Rate</vt:lpstr>
      <vt:lpstr>Importance of macroeconomics</vt:lpstr>
      <vt:lpstr>Importance of macroeconomics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 of Macroeconomics</dc:title>
  <dc:creator>Chathuranga Adhikari</dc:creator>
  <cp:lastModifiedBy>Mr. Chathuranga Adhikari</cp:lastModifiedBy>
  <cp:revision>13</cp:revision>
  <cp:lastPrinted>2025-05-15T06:25:31Z</cp:lastPrinted>
  <dcterms:created xsi:type="dcterms:W3CDTF">2023-03-17T05:58:06Z</dcterms:created>
  <dcterms:modified xsi:type="dcterms:W3CDTF">2026-10-11T16:18:38Z</dcterms:modified>
</cp:coreProperties>
</file>