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313" r:id="rId2"/>
    <p:sldId id="411" r:id="rId3"/>
    <p:sldId id="351" r:id="rId4"/>
    <p:sldId id="352" r:id="rId5"/>
    <p:sldId id="259" r:id="rId6"/>
    <p:sldId id="394" r:id="rId7"/>
    <p:sldId id="320" r:id="rId8"/>
    <p:sldId id="321" r:id="rId9"/>
    <p:sldId id="396" r:id="rId10"/>
    <p:sldId id="397" r:id="rId11"/>
    <p:sldId id="260" r:id="rId12"/>
    <p:sldId id="261" r:id="rId13"/>
    <p:sldId id="262" r:id="rId14"/>
    <p:sldId id="263" r:id="rId15"/>
    <p:sldId id="264" r:id="rId16"/>
    <p:sldId id="265" r:id="rId17"/>
    <p:sldId id="266" r:id="rId18"/>
    <p:sldId id="267" r:id="rId19"/>
    <p:sldId id="268" r:id="rId20"/>
    <p:sldId id="346" r:id="rId21"/>
    <p:sldId id="388" r:id="rId22"/>
    <p:sldId id="371" r:id="rId23"/>
    <p:sldId id="380" r:id="rId24"/>
    <p:sldId id="375" r:id="rId25"/>
    <p:sldId id="348" r:id="rId26"/>
    <p:sldId id="324" r:id="rId27"/>
    <p:sldId id="399" r:id="rId28"/>
    <p:sldId id="400" r:id="rId29"/>
    <p:sldId id="401" r:id="rId30"/>
    <p:sldId id="403" r:id="rId31"/>
    <p:sldId id="404" r:id="rId32"/>
    <p:sldId id="408" r:id="rId33"/>
    <p:sldId id="406" r:id="rId34"/>
    <p:sldId id="407" r:id="rId35"/>
    <p:sldId id="269" r:id="rId36"/>
    <p:sldId id="270" r:id="rId37"/>
    <p:sldId id="271" r:id="rId38"/>
    <p:sldId id="272" r:id="rId39"/>
    <p:sldId id="273" r:id="rId40"/>
    <p:sldId id="274" r:id="rId41"/>
    <p:sldId id="275" r:id="rId42"/>
    <p:sldId id="392" r:id="rId43"/>
    <p:sldId id="276" r:id="rId44"/>
    <p:sldId id="277" r:id="rId45"/>
    <p:sldId id="278" r:id="rId46"/>
    <p:sldId id="279" r:id="rId47"/>
    <p:sldId id="280" r:id="rId48"/>
    <p:sldId id="281" r:id="rId49"/>
    <p:sldId id="389" r:id="rId50"/>
    <p:sldId id="409" r:id="rId51"/>
    <p:sldId id="410" r:id="rId52"/>
    <p:sldId id="390" r:id="rId53"/>
    <p:sldId id="391" r:id="rId54"/>
    <p:sldId id="395" r:id="rId55"/>
  </p:sldIdLst>
  <p:sldSz cx="12192000" cy="6858000"/>
  <p:notesSz cx="6858000" cy="9144000"/>
  <p:defaultText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78"/>
    <p:restoredTop sz="94646"/>
  </p:normalViewPr>
  <p:slideViewPr>
    <p:cSldViewPr snapToGrid="0">
      <p:cViewPr>
        <p:scale>
          <a:sx n="100" d="100"/>
          <a:sy n="100" d="100"/>
        </p:scale>
        <p:origin x="66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F77C29-A25D-EE42-A61D-6FBBD9E11D06}" type="datetimeFigureOut">
              <a:rPr lang="en-LK" smtClean="0"/>
              <a:t>2026-10-05</a:t>
            </a:fld>
            <a:endParaRPr lang="en-L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ABDCA-CD30-4040-B0D2-E6404F7C2041}" type="slidenum">
              <a:rPr lang="en-LK" smtClean="0"/>
              <a:t>‹#›</a:t>
            </a:fld>
            <a:endParaRPr lang="en-LK"/>
          </a:p>
        </p:txBody>
      </p:sp>
    </p:spTree>
    <p:extLst>
      <p:ext uri="{BB962C8B-B14F-4D97-AF65-F5344CB8AC3E}">
        <p14:creationId xmlns:p14="http://schemas.microsoft.com/office/powerpoint/2010/main" val="1883068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569038BF-5CB3-CD8B-1035-A30F8556047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38695EF-7B97-184B-8CCC-CA52D0351EBC}" type="slidenum">
              <a:rPr lang="en-US" altLang="en-US" smtClean="0">
                <a:latin typeface="Arial" panose="020B0604020202020204" pitchFamily="34" charset="0"/>
              </a:rPr>
              <a:pPr fontAlgn="base">
                <a:spcBef>
                  <a:spcPct val="0"/>
                </a:spcBef>
                <a:spcAft>
                  <a:spcPct val="0"/>
                </a:spcAft>
              </a:pPr>
              <a:t>35</a:t>
            </a:fld>
            <a:endParaRPr lang="en-US" altLang="en-US">
              <a:latin typeface="Arial" panose="020B0604020202020204" pitchFamily="34" charset="0"/>
            </a:endParaRPr>
          </a:p>
        </p:txBody>
      </p:sp>
      <p:sp>
        <p:nvSpPr>
          <p:cNvPr id="49154" name="Rectangle 2">
            <a:extLst>
              <a:ext uri="{FF2B5EF4-FFF2-40B4-BE49-F238E27FC236}">
                <a16:creationId xmlns:a16="http://schemas.microsoft.com/office/drawing/2014/main" id="{63ADB104-54D4-A2E2-63A5-5AAA4632A938}"/>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eaLnBrk="1" hangingPunct="1"/>
            <a:endParaRPr lang="en-US" altLang="en-US"/>
          </a:p>
        </p:txBody>
      </p:sp>
      <p:sp>
        <p:nvSpPr>
          <p:cNvPr id="49155" name="Rectangle 3">
            <a:extLst>
              <a:ext uri="{FF2B5EF4-FFF2-40B4-BE49-F238E27FC236}">
                <a16:creationId xmlns:a16="http://schemas.microsoft.com/office/drawing/2014/main" id="{226001A4-9144-712F-05B9-FE4C45F7DD6C}"/>
              </a:ext>
            </a:extLst>
          </p:cNvPr>
          <p:cNvSpPr>
            <a:spLocks noGrp="1" noRot="1" noChangeAspect="1" noChangeArrowheads="1" noTextEdit="1"/>
          </p:cNvSpPr>
          <p:nvPr>
            <p:ph type="sldImg"/>
          </p:nvPr>
        </p:nvSpPr>
        <p:spPr>
          <a:xfrm>
            <a:off x="1150938" y="692150"/>
            <a:ext cx="4556125" cy="3416300"/>
          </a:xfrm>
          <a:ln w="12700" cap="flat">
            <a:solidFill>
              <a:schemeClr val="tx1"/>
            </a:solid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867BCE9C-AD29-530C-D8C4-712855216A1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87C8798-A756-4F44-8E4A-00806ED466C1}" type="slidenum">
              <a:rPr lang="en-US" altLang="en-US" smtClean="0">
                <a:latin typeface="Arial" panose="020B0604020202020204" pitchFamily="34" charset="0"/>
              </a:rPr>
              <a:pPr fontAlgn="base">
                <a:spcBef>
                  <a:spcPct val="0"/>
                </a:spcBef>
                <a:spcAft>
                  <a:spcPct val="0"/>
                </a:spcAft>
              </a:pPr>
              <a:t>36</a:t>
            </a:fld>
            <a:endParaRPr lang="en-US" altLang="en-US">
              <a:latin typeface="Arial" panose="020B0604020202020204" pitchFamily="34" charset="0"/>
            </a:endParaRPr>
          </a:p>
        </p:txBody>
      </p:sp>
      <p:sp>
        <p:nvSpPr>
          <p:cNvPr id="51202" name="Rectangle 2">
            <a:extLst>
              <a:ext uri="{FF2B5EF4-FFF2-40B4-BE49-F238E27FC236}">
                <a16:creationId xmlns:a16="http://schemas.microsoft.com/office/drawing/2014/main" id="{9E73096D-A174-91A4-944D-087D17896FEB}"/>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eaLnBrk="1" hangingPunct="1"/>
            <a:endParaRPr lang="en-US" altLang="en-US"/>
          </a:p>
        </p:txBody>
      </p:sp>
      <p:sp>
        <p:nvSpPr>
          <p:cNvPr id="51203" name="Rectangle 3">
            <a:extLst>
              <a:ext uri="{FF2B5EF4-FFF2-40B4-BE49-F238E27FC236}">
                <a16:creationId xmlns:a16="http://schemas.microsoft.com/office/drawing/2014/main" id="{712535B4-9CFF-B09A-8693-BAB78BABE4F8}"/>
              </a:ext>
            </a:extLst>
          </p:cNvPr>
          <p:cNvSpPr>
            <a:spLocks noGrp="1" noRot="1" noChangeAspect="1" noChangeArrowheads="1" noTextEdit="1"/>
          </p:cNvSpPr>
          <p:nvPr>
            <p:ph type="sldImg"/>
          </p:nvPr>
        </p:nvSpPr>
        <p:spPr>
          <a:xfrm>
            <a:off x="1150938" y="692150"/>
            <a:ext cx="4556125" cy="3416300"/>
          </a:xfrm>
          <a:ln w="12700" cap="flat">
            <a:solidFill>
              <a:schemeClr val="tx1"/>
            </a:solid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43C17D26-A6F5-A0EC-D90D-D689FB8DC7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6778613-E897-8F4B-B39A-C0EC48903205}" type="slidenum">
              <a:rPr lang="en-US" altLang="en-US" smtClean="0">
                <a:latin typeface="Arial" panose="020B0604020202020204" pitchFamily="34" charset="0"/>
                <a:ea typeface="MS PGothic" panose="020B0600070205080204" pitchFamily="34" charset="-128"/>
              </a:rPr>
              <a:pPr fontAlgn="base">
                <a:spcBef>
                  <a:spcPct val="0"/>
                </a:spcBef>
                <a:spcAft>
                  <a:spcPct val="0"/>
                </a:spcAft>
              </a:pPr>
              <a:t>53</a:t>
            </a:fld>
            <a:endParaRPr lang="en-US" altLang="en-US">
              <a:latin typeface="Arial" panose="020B0604020202020204" pitchFamily="34" charset="0"/>
              <a:ea typeface="MS PGothic" panose="020B0600070205080204" pitchFamily="34" charset="-128"/>
            </a:endParaRPr>
          </a:p>
        </p:txBody>
      </p:sp>
      <p:sp>
        <p:nvSpPr>
          <p:cNvPr id="68610" name="Rectangle 2">
            <a:extLst>
              <a:ext uri="{FF2B5EF4-FFF2-40B4-BE49-F238E27FC236}">
                <a16:creationId xmlns:a16="http://schemas.microsoft.com/office/drawing/2014/main" id="{78C28FFA-3641-C7FB-2EAE-390355CC704E}"/>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CBEA8BDB-5BC6-8167-1A9C-61E8ACACD19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47A37-ECB5-4237-9562-9D7B2875748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LK"/>
          </a:p>
        </p:txBody>
      </p:sp>
      <p:sp>
        <p:nvSpPr>
          <p:cNvPr id="3" name="Subtitle 2">
            <a:extLst>
              <a:ext uri="{FF2B5EF4-FFF2-40B4-BE49-F238E27FC236}">
                <a16:creationId xmlns:a16="http://schemas.microsoft.com/office/drawing/2014/main" id="{142A6D7E-1775-3A0D-3777-4553086167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LK"/>
          </a:p>
        </p:txBody>
      </p:sp>
      <p:sp>
        <p:nvSpPr>
          <p:cNvPr id="4" name="Date Placeholder 3">
            <a:extLst>
              <a:ext uri="{FF2B5EF4-FFF2-40B4-BE49-F238E27FC236}">
                <a16:creationId xmlns:a16="http://schemas.microsoft.com/office/drawing/2014/main" id="{BFE60DFC-A837-D9A0-09A9-5DCFAC3D9005}"/>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5" name="Footer Placeholder 4">
            <a:extLst>
              <a:ext uri="{FF2B5EF4-FFF2-40B4-BE49-F238E27FC236}">
                <a16:creationId xmlns:a16="http://schemas.microsoft.com/office/drawing/2014/main" id="{F8716E65-3675-3953-0B17-5E110494430E}"/>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68156BF7-001C-F753-DCCB-B7CF6D63D232}"/>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1295849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A46E5-0EEB-7A7A-08C7-4A3F3491267B}"/>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9EE7FA27-A75F-EB71-E860-5A72776DF0A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34A022ED-60CA-FFEE-8079-E075135CCFAF}"/>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5" name="Footer Placeholder 4">
            <a:extLst>
              <a:ext uri="{FF2B5EF4-FFF2-40B4-BE49-F238E27FC236}">
                <a16:creationId xmlns:a16="http://schemas.microsoft.com/office/drawing/2014/main" id="{363D4410-E4C7-3D4A-E17F-F6100B8FB712}"/>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78373855-E23C-97FF-EF32-1FF21B3E8833}"/>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3022033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BB1EE-70D3-8ADB-1DDE-E77715CFFBA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LK"/>
          </a:p>
        </p:txBody>
      </p:sp>
      <p:sp>
        <p:nvSpPr>
          <p:cNvPr id="3" name="Text Placeholder 2">
            <a:extLst>
              <a:ext uri="{FF2B5EF4-FFF2-40B4-BE49-F238E27FC236}">
                <a16:creationId xmlns:a16="http://schemas.microsoft.com/office/drawing/2014/main" id="{B22CE070-6224-E66B-1FFB-27BC5EFD6C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A6D3D53-FD5A-CD36-9CC2-77908DE9B574}"/>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5" name="Footer Placeholder 4">
            <a:extLst>
              <a:ext uri="{FF2B5EF4-FFF2-40B4-BE49-F238E27FC236}">
                <a16:creationId xmlns:a16="http://schemas.microsoft.com/office/drawing/2014/main" id="{47B5200C-3889-B250-1FB5-56029A087730}"/>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EADAE587-3514-50A5-D385-B6C802651A8B}"/>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3816650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FDD11-EA9A-4CAC-BE76-5B2FA2231518}"/>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9728B669-BBFC-9C89-35B1-CBE097E6590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Content Placeholder 3">
            <a:extLst>
              <a:ext uri="{FF2B5EF4-FFF2-40B4-BE49-F238E27FC236}">
                <a16:creationId xmlns:a16="http://schemas.microsoft.com/office/drawing/2014/main" id="{82BE30C8-6F9E-D158-5444-644E8638516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Date Placeholder 4">
            <a:extLst>
              <a:ext uri="{FF2B5EF4-FFF2-40B4-BE49-F238E27FC236}">
                <a16:creationId xmlns:a16="http://schemas.microsoft.com/office/drawing/2014/main" id="{823F02FC-E5FC-9D54-232D-5037C24DA91B}"/>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6" name="Footer Placeholder 5">
            <a:extLst>
              <a:ext uri="{FF2B5EF4-FFF2-40B4-BE49-F238E27FC236}">
                <a16:creationId xmlns:a16="http://schemas.microsoft.com/office/drawing/2014/main" id="{26B98D02-852A-6EC7-DD14-EBEE1069E667}"/>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C74C17E9-1570-EC70-849E-12A6E0AE5809}"/>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537866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6A13A-B09D-5917-25FA-BCDB5A8256DE}"/>
              </a:ext>
            </a:extLst>
          </p:cNvPr>
          <p:cNvSpPr>
            <a:spLocks noGrp="1"/>
          </p:cNvSpPr>
          <p:nvPr>
            <p:ph type="title"/>
          </p:nvPr>
        </p:nvSpPr>
        <p:spPr>
          <a:xfrm>
            <a:off x="839788" y="365125"/>
            <a:ext cx="10515600" cy="1325563"/>
          </a:xfrm>
        </p:spPr>
        <p:txBody>
          <a:bodyPr/>
          <a:lstStyle/>
          <a:p>
            <a:r>
              <a:rPr lang="en-GB"/>
              <a:t>Click to edit Master title style</a:t>
            </a:r>
            <a:endParaRPr lang="en-LK"/>
          </a:p>
        </p:txBody>
      </p:sp>
      <p:sp>
        <p:nvSpPr>
          <p:cNvPr id="3" name="Text Placeholder 2">
            <a:extLst>
              <a:ext uri="{FF2B5EF4-FFF2-40B4-BE49-F238E27FC236}">
                <a16:creationId xmlns:a16="http://schemas.microsoft.com/office/drawing/2014/main" id="{439D838A-B42F-F46B-9EF3-61B134C0FF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25122AA-B43C-B956-1F52-AEF1CEBEE8C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Text Placeholder 4">
            <a:extLst>
              <a:ext uri="{FF2B5EF4-FFF2-40B4-BE49-F238E27FC236}">
                <a16:creationId xmlns:a16="http://schemas.microsoft.com/office/drawing/2014/main" id="{C5C231CB-F016-6B94-574C-EF223ACB60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8D9BAFB-5218-1937-25BD-A93D4AE84E3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7" name="Date Placeholder 6">
            <a:extLst>
              <a:ext uri="{FF2B5EF4-FFF2-40B4-BE49-F238E27FC236}">
                <a16:creationId xmlns:a16="http://schemas.microsoft.com/office/drawing/2014/main" id="{045DBE1C-5346-5C8F-DFFA-B253C24BCAC8}"/>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8" name="Footer Placeholder 7">
            <a:extLst>
              <a:ext uri="{FF2B5EF4-FFF2-40B4-BE49-F238E27FC236}">
                <a16:creationId xmlns:a16="http://schemas.microsoft.com/office/drawing/2014/main" id="{8CAD1050-B3F0-51CC-E8EB-A05232245F76}"/>
              </a:ext>
            </a:extLst>
          </p:cNvPr>
          <p:cNvSpPr>
            <a:spLocks noGrp="1"/>
          </p:cNvSpPr>
          <p:nvPr>
            <p:ph type="ftr" sz="quarter" idx="11"/>
          </p:nvPr>
        </p:nvSpPr>
        <p:spPr/>
        <p:txBody>
          <a:bodyPr/>
          <a:lstStyle/>
          <a:p>
            <a:endParaRPr lang="en-LK"/>
          </a:p>
        </p:txBody>
      </p:sp>
      <p:sp>
        <p:nvSpPr>
          <p:cNvPr id="9" name="Slide Number Placeholder 8">
            <a:extLst>
              <a:ext uri="{FF2B5EF4-FFF2-40B4-BE49-F238E27FC236}">
                <a16:creationId xmlns:a16="http://schemas.microsoft.com/office/drawing/2014/main" id="{8BB87F7D-1B35-7668-7FA3-6BD9012E26CA}"/>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1654917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E846F-DCC4-E6ED-4252-D934B07AE0C7}"/>
              </a:ext>
            </a:extLst>
          </p:cNvPr>
          <p:cNvSpPr>
            <a:spLocks noGrp="1"/>
          </p:cNvSpPr>
          <p:nvPr>
            <p:ph type="title"/>
          </p:nvPr>
        </p:nvSpPr>
        <p:spPr/>
        <p:txBody>
          <a:bodyPr/>
          <a:lstStyle/>
          <a:p>
            <a:r>
              <a:rPr lang="en-GB"/>
              <a:t>Click to edit Master title style</a:t>
            </a:r>
            <a:endParaRPr lang="en-LK"/>
          </a:p>
        </p:txBody>
      </p:sp>
      <p:sp>
        <p:nvSpPr>
          <p:cNvPr id="3" name="Date Placeholder 2">
            <a:extLst>
              <a:ext uri="{FF2B5EF4-FFF2-40B4-BE49-F238E27FC236}">
                <a16:creationId xmlns:a16="http://schemas.microsoft.com/office/drawing/2014/main" id="{A363A7C1-3411-8697-B37B-6371141CE075}"/>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4" name="Footer Placeholder 3">
            <a:extLst>
              <a:ext uri="{FF2B5EF4-FFF2-40B4-BE49-F238E27FC236}">
                <a16:creationId xmlns:a16="http://schemas.microsoft.com/office/drawing/2014/main" id="{F50BA6F0-A4AC-ECB1-D310-B99C4DB52D81}"/>
              </a:ext>
            </a:extLst>
          </p:cNvPr>
          <p:cNvSpPr>
            <a:spLocks noGrp="1"/>
          </p:cNvSpPr>
          <p:nvPr>
            <p:ph type="ftr" sz="quarter" idx="11"/>
          </p:nvPr>
        </p:nvSpPr>
        <p:spPr/>
        <p:txBody>
          <a:bodyPr/>
          <a:lstStyle/>
          <a:p>
            <a:endParaRPr lang="en-LK"/>
          </a:p>
        </p:txBody>
      </p:sp>
      <p:sp>
        <p:nvSpPr>
          <p:cNvPr id="5" name="Slide Number Placeholder 4">
            <a:extLst>
              <a:ext uri="{FF2B5EF4-FFF2-40B4-BE49-F238E27FC236}">
                <a16:creationId xmlns:a16="http://schemas.microsoft.com/office/drawing/2014/main" id="{AF6EF612-7C14-8FD3-33AC-581D212B0131}"/>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2205628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DC3343-EC28-5BF0-B135-D91239D37A26}"/>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3" name="Footer Placeholder 2">
            <a:extLst>
              <a:ext uri="{FF2B5EF4-FFF2-40B4-BE49-F238E27FC236}">
                <a16:creationId xmlns:a16="http://schemas.microsoft.com/office/drawing/2014/main" id="{642B86B4-20AE-5CEC-743F-47D779C0AFCD}"/>
              </a:ext>
            </a:extLst>
          </p:cNvPr>
          <p:cNvSpPr>
            <a:spLocks noGrp="1"/>
          </p:cNvSpPr>
          <p:nvPr>
            <p:ph type="ftr" sz="quarter" idx="11"/>
          </p:nvPr>
        </p:nvSpPr>
        <p:spPr/>
        <p:txBody>
          <a:bodyPr/>
          <a:lstStyle/>
          <a:p>
            <a:endParaRPr lang="en-LK"/>
          </a:p>
        </p:txBody>
      </p:sp>
      <p:sp>
        <p:nvSpPr>
          <p:cNvPr id="4" name="Slide Number Placeholder 3">
            <a:extLst>
              <a:ext uri="{FF2B5EF4-FFF2-40B4-BE49-F238E27FC236}">
                <a16:creationId xmlns:a16="http://schemas.microsoft.com/office/drawing/2014/main" id="{5FF42F31-F74A-C04B-AB43-B9E2EFC2BD7D}"/>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21138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7C398-0112-1288-8FDC-D6D99B26FF3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K"/>
          </a:p>
        </p:txBody>
      </p:sp>
      <p:sp>
        <p:nvSpPr>
          <p:cNvPr id="3" name="Content Placeholder 2">
            <a:extLst>
              <a:ext uri="{FF2B5EF4-FFF2-40B4-BE49-F238E27FC236}">
                <a16:creationId xmlns:a16="http://schemas.microsoft.com/office/drawing/2014/main" id="{B63191D2-AA37-8A81-F92C-B4F0CC4E0F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Text Placeholder 3">
            <a:extLst>
              <a:ext uri="{FF2B5EF4-FFF2-40B4-BE49-F238E27FC236}">
                <a16:creationId xmlns:a16="http://schemas.microsoft.com/office/drawing/2014/main" id="{BAF28E76-F240-C71D-752D-A6DF3B777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EEBF393-942F-C39B-F138-5C40947F9BC9}"/>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6" name="Footer Placeholder 5">
            <a:extLst>
              <a:ext uri="{FF2B5EF4-FFF2-40B4-BE49-F238E27FC236}">
                <a16:creationId xmlns:a16="http://schemas.microsoft.com/office/drawing/2014/main" id="{E1FC3A97-A008-B32C-CB9A-6354B1E5267E}"/>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6FD8C552-F2B7-15C2-B59C-B1F835DE35FC}"/>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4263891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BE40B-B572-7C56-1FE1-DF475A6FA95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K"/>
          </a:p>
        </p:txBody>
      </p:sp>
      <p:sp>
        <p:nvSpPr>
          <p:cNvPr id="3" name="Picture Placeholder 2">
            <a:extLst>
              <a:ext uri="{FF2B5EF4-FFF2-40B4-BE49-F238E27FC236}">
                <a16:creationId xmlns:a16="http://schemas.microsoft.com/office/drawing/2014/main" id="{A6E77E5B-426D-04AF-B11B-0F88CD7A5B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K"/>
          </a:p>
        </p:txBody>
      </p:sp>
      <p:sp>
        <p:nvSpPr>
          <p:cNvPr id="4" name="Text Placeholder 3">
            <a:extLst>
              <a:ext uri="{FF2B5EF4-FFF2-40B4-BE49-F238E27FC236}">
                <a16:creationId xmlns:a16="http://schemas.microsoft.com/office/drawing/2014/main" id="{73A70EC9-9454-C93F-D4E0-BFB54929C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20A2F96-377D-AAEF-1424-FF0EDFE58C6F}"/>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6" name="Footer Placeholder 5">
            <a:extLst>
              <a:ext uri="{FF2B5EF4-FFF2-40B4-BE49-F238E27FC236}">
                <a16:creationId xmlns:a16="http://schemas.microsoft.com/office/drawing/2014/main" id="{8AA85799-A2A3-8C00-F270-960ACDF10CD3}"/>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FCAD6ECE-B7C0-89F9-01E3-2756A020E24A}"/>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1740334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585AE-494F-6B4D-B18A-B85FE9A1AFDA}"/>
              </a:ext>
            </a:extLst>
          </p:cNvPr>
          <p:cNvSpPr>
            <a:spLocks noGrp="1"/>
          </p:cNvSpPr>
          <p:nvPr>
            <p:ph type="title"/>
          </p:nvPr>
        </p:nvSpPr>
        <p:spPr/>
        <p:txBody>
          <a:bodyPr/>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583F77FA-9323-6D5E-5454-783A4F6699E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31D88CA3-93E9-D9B2-D037-337CE62E6DC0}"/>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5" name="Footer Placeholder 4">
            <a:extLst>
              <a:ext uri="{FF2B5EF4-FFF2-40B4-BE49-F238E27FC236}">
                <a16:creationId xmlns:a16="http://schemas.microsoft.com/office/drawing/2014/main" id="{D19EA006-C5C8-8AAE-C9EA-D35AEBA6841D}"/>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D752AB1E-C39C-54BB-D849-16670423AFF5}"/>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2805008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2B0AF6-275E-3F12-6C5C-61C0FE548D5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3438AA32-B90D-1A3F-5E61-C366D857A04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FC777BD3-52DB-D6E0-98DC-3A4F13EF7CFB}"/>
              </a:ext>
            </a:extLst>
          </p:cNvPr>
          <p:cNvSpPr>
            <a:spLocks noGrp="1"/>
          </p:cNvSpPr>
          <p:nvPr>
            <p:ph type="dt" sz="half" idx="10"/>
          </p:nvPr>
        </p:nvSpPr>
        <p:spPr/>
        <p:txBody>
          <a:bodyPr/>
          <a:lstStyle/>
          <a:p>
            <a:fld id="{5A6A95B7-1183-494A-81F9-61950BFD85F2}" type="datetimeFigureOut">
              <a:rPr lang="en-LK" smtClean="0"/>
              <a:t>2026-10-05</a:t>
            </a:fld>
            <a:endParaRPr lang="en-LK"/>
          </a:p>
        </p:txBody>
      </p:sp>
      <p:sp>
        <p:nvSpPr>
          <p:cNvPr id="5" name="Footer Placeholder 4">
            <a:extLst>
              <a:ext uri="{FF2B5EF4-FFF2-40B4-BE49-F238E27FC236}">
                <a16:creationId xmlns:a16="http://schemas.microsoft.com/office/drawing/2014/main" id="{6388FFF7-458E-39FB-2EAE-699C38D8B51E}"/>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C89C3083-12A2-FAAC-4613-7742F41CA015}"/>
              </a:ext>
            </a:extLst>
          </p:cNvPr>
          <p:cNvSpPr>
            <a:spLocks noGrp="1"/>
          </p:cNvSpPr>
          <p:nvPr>
            <p:ph type="sldNum" sz="quarter" idx="12"/>
          </p:nvPr>
        </p:nvSpPr>
        <p:spPr/>
        <p:txBody>
          <a:bodyPr/>
          <a:lstStyle/>
          <a:p>
            <a:fld id="{394C91F7-2368-454D-8BEA-D6D8EC61DB7C}" type="slidenum">
              <a:rPr lang="en-LK" smtClean="0"/>
              <a:t>‹#›</a:t>
            </a:fld>
            <a:endParaRPr lang="en-LK"/>
          </a:p>
        </p:txBody>
      </p:sp>
    </p:spTree>
    <p:extLst>
      <p:ext uri="{BB962C8B-B14F-4D97-AF65-F5344CB8AC3E}">
        <p14:creationId xmlns:p14="http://schemas.microsoft.com/office/powerpoint/2010/main" val="3508590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5C4FF3-1C3F-FB3F-A1E6-DFE1E901BF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LK"/>
          </a:p>
        </p:txBody>
      </p:sp>
      <p:sp>
        <p:nvSpPr>
          <p:cNvPr id="3" name="Text Placeholder 2">
            <a:extLst>
              <a:ext uri="{FF2B5EF4-FFF2-40B4-BE49-F238E27FC236}">
                <a16:creationId xmlns:a16="http://schemas.microsoft.com/office/drawing/2014/main" id="{B327BE66-79D7-44A3-EF71-B60FA48D2B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F17666A4-2CAB-1FE6-88FB-7EA3ED630D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6A95B7-1183-494A-81F9-61950BFD85F2}" type="datetimeFigureOut">
              <a:rPr lang="en-LK" smtClean="0"/>
              <a:t>2026-10-05</a:t>
            </a:fld>
            <a:endParaRPr lang="en-LK"/>
          </a:p>
        </p:txBody>
      </p:sp>
      <p:sp>
        <p:nvSpPr>
          <p:cNvPr id="5" name="Footer Placeholder 4">
            <a:extLst>
              <a:ext uri="{FF2B5EF4-FFF2-40B4-BE49-F238E27FC236}">
                <a16:creationId xmlns:a16="http://schemas.microsoft.com/office/drawing/2014/main" id="{727A0656-89FD-7009-7ECB-6BE15C1363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LK"/>
          </a:p>
        </p:txBody>
      </p:sp>
      <p:sp>
        <p:nvSpPr>
          <p:cNvPr id="6" name="Slide Number Placeholder 5">
            <a:extLst>
              <a:ext uri="{FF2B5EF4-FFF2-40B4-BE49-F238E27FC236}">
                <a16:creationId xmlns:a16="http://schemas.microsoft.com/office/drawing/2014/main" id="{A7B6C4FD-97B5-32B5-39AE-9ADD3485FD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4C91F7-2368-454D-8BEA-D6D8EC61DB7C}" type="slidenum">
              <a:rPr lang="en-LK" smtClean="0"/>
              <a:t>‹#›</a:t>
            </a:fld>
            <a:endParaRPr lang="en-LK"/>
          </a:p>
        </p:txBody>
      </p:sp>
    </p:spTree>
    <p:extLst>
      <p:ext uri="{BB962C8B-B14F-4D97-AF65-F5344CB8AC3E}">
        <p14:creationId xmlns:p14="http://schemas.microsoft.com/office/powerpoint/2010/main" val="1669390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chasingfooddreams.com/2019/11/bucked-out-seafood-buffet-traders-hotel.html"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hyperlink" Target="http://highered.mcgraw-hill.com/sites/0072819359/student_view0/chapter21/interactive_graphs.html" TargetMode="External"/><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12.emf"/></Relationships>
</file>

<file path=ppt/slides/_rels/slide4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s/_rels/slide4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19.emf"/><Relationship Id="rId4" Type="http://schemas.openxmlformats.org/officeDocument/2006/relationships/image" Target="../media/image18.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23.emf"/><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4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s>
</file>

<file path=ppt/slides/_rels/slide47.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1.bin"/><Relationship Id="rId7" Type="http://schemas.openxmlformats.org/officeDocument/2006/relationships/image" Target="../media/image31.emf"/><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 Id="rId9" Type="http://schemas.openxmlformats.org/officeDocument/2006/relationships/image" Target="../media/image33.emf"/></Relationships>
</file>

<file path=ppt/slides/_rels/slide48.x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image" Target="../media/image34.emf"/><Relationship Id="rId7" Type="http://schemas.openxmlformats.org/officeDocument/2006/relationships/image" Target="../media/image38.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3" name="Rectangle 1434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345" name="Freeform: Shape 14344">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347" name="Freeform: Shape 14346">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37" name="Rectangle 4">
            <a:extLst>
              <a:ext uri="{FF2B5EF4-FFF2-40B4-BE49-F238E27FC236}">
                <a16:creationId xmlns:a16="http://schemas.microsoft.com/office/drawing/2014/main" id="{DA7286B7-A3B8-45F9-96CE-C2845B59CCA2}"/>
              </a:ext>
            </a:extLst>
          </p:cNvPr>
          <p:cNvSpPr>
            <a:spLocks noGrp="1" noChangeArrowheads="1"/>
          </p:cNvSpPr>
          <p:nvPr>
            <p:ph type="ctrTitle"/>
          </p:nvPr>
        </p:nvSpPr>
        <p:spPr>
          <a:xfrm>
            <a:off x="1524003" y="1999615"/>
            <a:ext cx="9144000" cy="2764028"/>
          </a:xfrm>
        </p:spPr>
        <p:txBody>
          <a:bodyPr anchor="ctr">
            <a:normAutofit/>
          </a:bodyPr>
          <a:lstStyle/>
          <a:p>
            <a:pPr eaLnBrk="1" hangingPunct="1"/>
            <a:r>
              <a:rPr lang="en-US" altLang="en-US" sz="6700" b="1">
                <a:latin typeface="Times New Roman" panose="02020603050405020304" pitchFamily="18" charset="0"/>
                <a:cs typeface="Times New Roman" panose="02020603050405020304" pitchFamily="18" charset="0"/>
              </a:rPr>
              <a:t>Consumer Behavior and</a:t>
            </a:r>
            <a:br>
              <a:rPr lang="en-US" altLang="en-US" sz="6700" b="1">
                <a:latin typeface="Times New Roman" panose="02020603050405020304" pitchFamily="18" charset="0"/>
                <a:cs typeface="Times New Roman" panose="02020603050405020304" pitchFamily="18" charset="0"/>
              </a:rPr>
            </a:br>
            <a:r>
              <a:rPr lang="en-US" altLang="en-US" sz="6700" b="1">
                <a:latin typeface="Times New Roman" panose="02020603050405020304" pitchFamily="18" charset="0"/>
                <a:cs typeface="Times New Roman" panose="02020603050405020304" pitchFamily="18" charset="0"/>
              </a:rPr>
              <a:t>Utility Maximization</a:t>
            </a:r>
          </a:p>
        </p:txBody>
      </p:sp>
      <p:sp>
        <p:nvSpPr>
          <p:cNvPr id="14338" name="Rectangle 5">
            <a:extLst>
              <a:ext uri="{FF2B5EF4-FFF2-40B4-BE49-F238E27FC236}">
                <a16:creationId xmlns:a16="http://schemas.microsoft.com/office/drawing/2014/main" id="{B1257EA7-F424-12EA-CF50-50C4B62B8296}"/>
              </a:ext>
            </a:extLst>
          </p:cNvPr>
          <p:cNvSpPr>
            <a:spLocks noGrp="1" noChangeArrowheads="1"/>
          </p:cNvSpPr>
          <p:nvPr>
            <p:ph type="subTitle" idx="1"/>
          </p:nvPr>
        </p:nvSpPr>
        <p:spPr>
          <a:xfrm>
            <a:off x="1966912" y="5773740"/>
            <a:ext cx="8258176" cy="631825"/>
          </a:xfrm>
        </p:spPr>
        <p:txBody>
          <a:bodyPr anchor="ctr">
            <a:normAutofit lnSpcReduction="10000"/>
          </a:bodyPr>
          <a:lstStyle/>
          <a:p>
            <a:pPr eaLnBrk="1" hangingPunct="1"/>
            <a:r>
              <a:rPr lang="en-LK" altLang="en-LK" sz="1600" b="1" dirty="0">
                <a:latin typeface="Times New Roman" panose="02020603050405020304" pitchFamily="18" charset="0"/>
                <a:cs typeface="Times New Roman" panose="02020603050405020304" pitchFamily="18" charset="0"/>
              </a:rPr>
              <a:t>Chathuranga Adhikari</a:t>
            </a:r>
          </a:p>
          <a:p>
            <a:pPr eaLnBrk="1" hangingPunct="1"/>
            <a:r>
              <a:rPr lang="en-LK" altLang="en-LK" sz="1600" b="1" dirty="0">
                <a:latin typeface="Times New Roman" panose="02020603050405020304" pitchFamily="18" charset="0"/>
                <a:cs typeface="Times New Roman" panose="02020603050405020304" pitchFamily="18" charset="0"/>
              </a:rPr>
              <a:t> </a:t>
            </a:r>
            <a:r>
              <a:rPr lang="en-LK" altLang="en-LK" sz="1600" b="1" i="1" dirty="0">
                <a:latin typeface="Times New Roman" panose="02020603050405020304" pitchFamily="18" charset="0"/>
                <a:cs typeface="Times New Roman" panose="02020603050405020304" pitchFamily="18" charset="0"/>
              </a:rPr>
              <a:t>B.com (Sp)(Hons), M.com</a:t>
            </a:r>
            <a:endParaRPr lang="en-LK" altLang="en-LK" sz="1600" i="1" dirty="0">
              <a:latin typeface="Times New Roman" panose="02020603050405020304" pitchFamily="18" charset="0"/>
              <a:cs typeface="Times New Roman" panose="02020603050405020304" pitchFamily="18" charset="0"/>
            </a:endParaRPr>
          </a:p>
          <a:p>
            <a:pPr eaLnBrk="1" hangingPunct="1"/>
            <a:endParaRPr lang="en-US" altLang="en-US" sz="1600" dirty="0">
              <a:latin typeface="Times New Roman" panose="02020603050405020304" pitchFamily="18" charset="0"/>
              <a:cs typeface="Times New Roman" panose="02020603050405020304" pitchFamily="18" charset="0"/>
            </a:endParaRPr>
          </a:p>
        </p:txBody>
      </p:sp>
      <p:sp>
        <p:nvSpPr>
          <p:cNvPr id="14349" name="Rectangle 14348">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Content Placeholder 9" descr="CHASING FOOD DREAMS: Bucked Out Seafood Buffet @ Traders Hotel Kuala Lumpur">
            <a:extLst>
              <a:ext uri="{FF2B5EF4-FFF2-40B4-BE49-F238E27FC236}">
                <a16:creationId xmlns:a16="http://schemas.microsoft.com/office/drawing/2014/main" id="{FB5524F0-7152-B2C5-B2C1-641366537AB2}"/>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rcRect t="5823" b="7305"/>
          <a:stretch>
            <a:fillRect/>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D4A9BA-4807-3ECF-C45B-632DD344C501}"/>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Let’s go to the buffet</a:t>
            </a:r>
          </a:p>
        </p:txBody>
      </p:sp>
      <p:cxnSp>
        <p:nvCxnSpPr>
          <p:cNvPr id="18" name="Straight Connector 17">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883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6" name="Rectangle 15365">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368" name="Rectangle 15367">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370" name="Rectangle 15369">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61" name="Title 1">
            <a:extLst>
              <a:ext uri="{FF2B5EF4-FFF2-40B4-BE49-F238E27FC236}">
                <a16:creationId xmlns:a16="http://schemas.microsoft.com/office/drawing/2014/main" id="{C7AF2C23-E505-CB63-71B5-9B1632AAF074}"/>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LK" sz="4000" b="1">
                <a:latin typeface="Times New Roman" panose="02020603050405020304" pitchFamily="18" charset="0"/>
                <a:cs typeface="Times New Roman" panose="02020603050405020304" pitchFamily="18" charset="0"/>
              </a:rPr>
              <a:t>Learning Objectives</a:t>
            </a:r>
          </a:p>
        </p:txBody>
      </p:sp>
      <p:sp>
        <p:nvSpPr>
          <p:cNvPr id="15372" name="Rectangle 15371">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283B7FE-43DC-2A46-64E0-8DA2B7DA1C0B}"/>
              </a:ext>
            </a:extLst>
          </p:cNvPr>
          <p:cNvSpPr>
            <a:spLocks noGrp="1"/>
          </p:cNvSpPr>
          <p:nvPr>
            <p:ph idx="1"/>
          </p:nvPr>
        </p:nvSpPr>
        <p:spPr>
          <a:xfrm>
            <a:off x="1115568" y="2481943"/>
            <a:ext cx="10168128" cy="3695020"/>
          </a:xfrm>
        </p:spPr>
        <p:txBody>
          <a:bodyPr rtlCol="0">
            <a:normAutofit/>
          </a:bodyPr>
          <a:lstStyle/>
          <a:p>
            <a:pPr eaLnBrk="1" fontAlgn="auto" hangingPunct="1">
              <a:spcAft>
                <a:spcPts val="0"/>
              </a:spcAft>
              <a:defRPr/>
            </a:pPr>
            <a:r>
              <a:rPr lang="en-US" sz="3200">
                <a:latin typeface="Times New Roman" panose="02020603050405020304" pitchFamily="18" charset="0"/>
                <a:cs typeface="Times New Roman" panose="02020603050405020304" pitchFamily="18" charset="0"/>
              </a:rPr>
              <a:t>Explain the utility and its connection to consumer behavior</a:t>
            </a:r>
          </a:p>
          <a:p>
            <a:pPr eaLnBrk="1" fontAlgn="auto" hangingPunct="1">
              <a:spcAft>
                <a:spcPts val="0"/>
              </a:spcAft>
              <a:defRPr/>
            </a:pPr>
            <a:r>
              <a:rPr lang="en-US" sz="3200">
                <a:latin typeface="Times New Roman" panose="02020603050405020304" pitchFamily="18" charset="0"/>
                <a:cs typeface="Times New Roman" panose="02020603050405020304" pitchFamily="18" charset="0"/>
              </a:rPr>
              <a:t>Understand total utility and marginal utility</a:t>
            </a:r>
          </a:p>
          <a:p>
            <a:pPr eaLnBrk="1" fontAlgn="auto" hangingPunct="1">
              <a:spcAft>
                <a:spcPts val="0"/>
              </a:spcAft>
              <a:defRPr/>
            </a:pPr>
            <a:r>
              <a:rPr lang="en-US" sz="3200">
                <a:latin typeface="Times New Roman" panose="02020603050405020304" pitchFamily="18" charset="0"/>
                <a:cs typeface="Times New Roman" panose="02020603050405020304" pitchFamily="18" charset="0"/>
              </a:rPr>
              <a:t>Calculate the total utility of a collection of goods and services- utility maximization </a:t>
            </a:r>
          </a:p>
          <a:p>
            <a:pPr marL="285750" indent="-285750" eaLnBrk="1" fontAlgn="auto" hangingPunct="1">
              <a:spcAft>
                <a:spcPts val="0"/>
              </a:spcAft>
              <a:defRPr/>
            </a:pPr>
            <a:r>
              <a:rPr lang="en-US" sz="3200">
                <a:latin typeface="Times New Roman" panose="02020603050405020304" pitchFamily="18" charset="0"/>
                <a:cs typeface="Times New Roman" panose="02020603050405020304" pitchFamily="18" charset="0"/>
              </a:rPr>
              <a:t>Explain individual demand and market demand curves</a:t>
            </a:r>
          </a:p>
          <a:p>
            <a:pPr marL="285750" indent="-285750" eaLnBrk="1" fontAlgn="auto" hangingPunct="1">
              <a:spcAft>
                <a:spcPts val="0"/>
              </a:spcAft>
              <a:defRPr/>
            </a:pPr>
            <a:r>
              <a:rPr lang="en-US" sz="3200">
                <a:latin typeface="Times New Roman" panose="02020603050405020304" pitchFamily="18" charset="0"/>
                <a:cs typeface="Times New Roman" panose="02020603050405020304" pitchFamily="18" charset="0"/>
              </a:rPr>
              <a:t>Explain income and substitution effects</a:t>
            </a:r>
          </a:p>
          <a:p>
            <a:pPr eaLnBrk="1" fontAlgn="auto" hangingPunct="1">
              <a:spcAft>
                <a:spcPts val="0"/>
              </a:spcAft>
              <a:defRPr/>
            </a:pPr>
            <a:endParaRPr lang="en-US" sz="3200">
              <a:latin typeface="Times New Roman" panose="02020603050405020304" pitchFamily="18" charset="0"/>
              <a:cs typeface="Times New Roman" panose="02020603050405020304" pitchFamily="18" charset="0"/>
            </a:endParaRPr>
          </a:p>
          <a:p>
            <a:pPr eaLnBrk="1" fontAlgn="auto" hangingPunct="1">
              <a:spcAft>
                <a:spcPts val="0"/>
              </a:spcAft>
              <a:defRPr/>
            </a:pPr>
            <a:endParaRPr 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DBFC75-0331-C129-4A9F-1F7860F61F14}"/>
              </a:ext>
            </a:extLst>
          </p:cNvPr>
          <p:cNvSpPr>
            <a:spLocks noGrp="1"/>
          </p:cNvSpPr>
          <p:nvPr>
            <p:ph type="title"/>
          </p:nvPr>
        </p:nvSpPr>
        <p:spPr>
          <a:xfrm>
            <a:off x="761800" y="762001"/>
            <a:ext cx="5334197" cy="1708242"/>
          </a:xfrm>
        </p:spPr>
        <p:txBody>
          <a:bodyPr rtlCol="0" anchor="ctr">
            <a:normAutofit/>
          </a:bodyPr>
          <a:lstStyle/>
          <a:p>
            <a:pPr eaLnBrk="1" fontAlgn="auto" hangingPunct="1">
              <a:spcAft>
                <a:spcPts val="0"/>
              </a:spcAft>
              <a:defRPr/>
            </a:pPr>
            <a:r>
              <a:rPr lang="en-US" sz="3400" b="1">
                <a:latin typeface="Times New Roman" panose="02020603050405020304" pitchFamily="18" charset="0"/>
                <a:cs typeface="Times New Roman" panose="02020603050405020304" pitchFamily="18" charset="0"/>
              </a:rPr>
              <a:t>Introduction to the Theory of Consumer Behavior</a:t>
            </a:r>
            <a:br>
              <a:rPr lang="en-US" sz="3400" b="1">
                <a:latin typeface="Times New Roman" panose="02020603050405020304" pitchFamily="18" charset="0"/>
                <a:cs typeface="Times New Roman" panose="02020603050405020304" pitchFamily="18" charset="0"/>
              </a:rPr>
            </a:br>
            <a:endParaRPr lang="en-US" sz="34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85E584-CFFF-C9A3-CE81-262A7742C571}"/>
              </a:ext>
            </a:extLst>
          </p:cNvPr>
          <p:cNvSpPr>
            <a:spLocks noGrp="1"/>
          </p:cNvSpPr>
          <p:nvPr>
            <p:ph idx="1"/>
          </p:nvPr>
        </p:nvSpPr>
        <p:spPr>
          <a:xfrm>
            <a:off x="603304" y="2557874"/>
            <a:ext cx="5931608" cy="3769835"/>
          </a:xfrm>
        </p:spPr>
        <p:txBody>
          <a:bodyPr rtlCol="0" anchor="ctr">
            <a:normAutofit/>
          </a:bodyPr>
          <a:lstStyle/>
          <a:p>
            <a:pPr marL="0" indent="0" algn="just" eaLnBrk="1" fontAlgn="auto" hangingPunct="1">
              <a:spcAft>
                <a:spcPts val="0"/>
              </a:spcAft>
              <a:buFont typeface="Arial" panose="020B0604020202020204" pitchFamily="34" charset="0"/>
              <a:buNone/>
              <a:defRPr/>
            </a:pPr>
            <a:r>
              <a:rPr lang="en-US" sz="3200" dirty="0">
                <a:latin typeface="Times New Roman" panose="02020603050405020304" pitchFamily="18" charset="0"/>
                <a:cs typeface="Times New Roman" panose="02020603050405020304" pitchFamily="18" charset="0"/>
              </a:rPr>
              <a:t>How rational consumers decide on the optimal combination of goods to consume with their limited budget in order to maximize their </a:t>
            </a:r>
            <a:r>
              <a:rPr lang="en-US" sz="3200" i="1" dirty="0">
                <a:solidFill>
                  <a:srgbClr val="FF0000"/>
                </a:solidFill>
                <a:latin typeface="Times New Roman" panose="02020603050405020304" pitchFamily="18" charset="0"/>
                <a:cs typeface="Times New Roman" panose="02020603050405020304" pitchFamily="18" charset="0"/>
              </a:rPr>
              <a:t>total utility </a:t>
            </a:r>
            <a:r>
              <a:rPr lang="en-US" sz="3200" dirty="0">
                <a:latin typeface="Times New Roman" panose="02020603050405020304" pitchFamily="18" charset="0"/>
                <a:cs typeface="Times New Roman" panose="02020603050405020304" pitchFamily="18" charset="0"/>
              </a:rPr>
              <a:t>at any given time. </a:t>
            </a:r>
          </a:p>
          <a:p>
            <a:pPr algn="just" eaLnBrk="1" fontAlgn="auto" hangingPunct="1">
              <a:spcAft>
                <a:spcPts val="0"/>
              </a:spcAft>
              <a:defRPr/>
            </a:pPr>
            <a:endParaRPr lang="en-US" sz="3200" b="1" dirty="0">
              <a:latin typeface="Times New Roman" panose="02020603050405020304" pitchFamily="18" charset="0"/>
              <a:cs typeface="Times New Roman" panose="02020603050405020304" pitchFamily="18" charset="0"/>
            </a:endParaRPr>
          </a:p>
          <a:p>
            <a:pPr marL="0" indent="0" algn="just" eaLnBrk="1" fontAlgn="auto" hangingPunct="1">
              <a:spcAft>
                <a:spcPts val="0"/>
              </a:spcAft>
              <a:buFont typeface="Arial" panose="020B0604020202020204" pitchFamily="34" charset="0"/>
              <a:buNone/>
              <a:defRPr/>
            </a:pPr>
            <a:endParaRPr lang="en-US" sz="3200" dirty="0">
              <a:latin typeface="Times New Roman" panose="02020603050405020304" pitchFamily="18" charset="0"/>
              <a:cs typeface="Times New Roman" panose="02020603050405020304" pitchFamily="18" charset="0"/>
            </a:endParaRPr>
          </a:p>
        </p:txBody>
      </p:sp>
      <p:pic>
        <p:nvPicPr>
          <p:cNvPr id="5" name="Picture 4" descr="School supplies on a table">
            <a:extLst>
              <a:ext uri="{FF2B5EF4-FFF2-40B4-BE49-F238E27FC236}">
                <a16:creationId xmlns:a16="http://schemas.microsoft.com/office/drawing/2014/main" id="{C384EFE0-229A-663A-0ECE-65ABDEEA1E09}"/>
              </a:ext>
            </a:extLst>
          </p:cNvPr>
          <p:cNvPicPr>
            <a:picLocks noChangeAspect="1"/>
          </p:cNvPicPr>
          <p:nvPr/>
        </p:nvPicPr>
        <p:blipFill>
          <a:blip r:embed="rId2"/>
          <a:srcRect l="16510" r="31653"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987D3A-02F1-27E0-F7EE-DA611DE6A63E}"/>
              </a:ext>
            </a:extLst>
          </p:cNvPr>
          <p:cNvSpPr>
            <a:spLocks noChangeArrowheads="1"/>
          </p:cNvSpPr>
          <p:nvPr/>
        </p:nvSpPr>
        <p:spPr bwMode="auto">
          <a:xfrm>
            <a:off x="457200" y="228600"/>
            <a:ext cx="1647825"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200" b="1">
                <a:solidFill>
                  <a:srgbClr val="000099"/>
                </a:solidFill>
                <a:latin typeface="Times New Roman" panose="02020603050405020304" pitchFamily="18" charset="0"/>
              </a:rPr>
              <a:t>Utility</a:t>
            </a:r>
          </a:p>
        </p:txBody>
      </p:sp>
      <p:sp>
        <p:nvSpPr>
          <p:cNvPr id="17410" name="Rectangle 9">
            <a:extLst>
              <a:ext uri="{FF2B5EF4-FFF2-40B4-BE49-F238E27FC236}">
                <a16:creationId xmlns:a16="http://schemas.microsoft.com/office/drawing/2014/main" id="{5FA85713-7E96-9FB6-6B75-52A7DB059AEF}"/>
              </a:ext>
            </a:extLst>
          </p:cNvPr>
          <p:cNvSpPr>
            <a:spLocks noGrp="1" noChangeArrowheads="1"/>
          </p:cNvSpPr>
          <p:nvPr>
            <p:ph idx="1"/>
          </p:nvPr>
        </p:nvSpPr>
        <p:spPr>
          <a:xfrm>
            <a:off x="533400" y="1260475"/>
            <a:ext cx="10668000" cy="4530725"/>
          </a:xfrm>
        </p:spPr>
        <p:txBody>
          <a:bodyPr/>
          <a:lstStyle/>
          <a:p>
            <a:pPr eaLnBrk="1" hangingPunct="1"/>
            <a:r>
              <a:rPr lang="en-US" altLang="en-US" sz="3600" b="1">
                <a:latin typeface="Times New Roman" panose="02020603050405020304" pitchFamily="18" charset="0"/>
                <a:cs typeface="Times New Roman" panose="02020603050405020304" pitchFamily="18" charset="0"/>
              </a:rPr>
              <a:t>Utility = </a:t>
            </a:r>
            <a:r>
              <a:rPr lang="en-US" altLang="en-US">
                <a:latin typeface="Times New Roman" panose="02020603050405020304" pitchFamily="18" charset="0"/>
                <a:cs typeface="Times New Roman" panose="02020603050405020304" pitchFamily="18" charset="0"/>
              </a:rPr>
              <a:t>Satisfaction/Happiness/Pleasure one gets from consuming a good.</a:t>
            </a:r>
            <a:endParaRPr lang="en-US" altLang="en-US" sz="3600" b="1">
              <a:latin typeface="Times New Roman" panose="02020603050405020304" pitchFamily="18" charset="0"/>
              <a:cs typeface="Times New Roman" panose="02020603050405020304" pitchFamily="18" charset="0"/>
            </a:endParaRPr>
          </a:p>
          <a:p>
            <a:pPr lvl="2" eaLnBrk="1" hangingPunct="1"/>
            <a:r>
              <a:rPr lang="en-US" altLang="en-US" sz="3200" b="1">
                <a:latin typeface="Times New Roman" panose="02020603050405020304" pitchFamily="18" charset="0"/>
                <a:cs typeface="Times New Roman" panose="02020603050405020304" pitchFamily="18" charset="0"/>
              </a:rPr>
              <a:t>Utility ≠ Usefulness</a:t>
            </a:r>
          </a:p>
          <a:p>
            <a:pPr lvl="2" eaLnBrk="1" hangingPunct="1"/>
            <a:r>
              <a:rPr lang="en-US" altLang="en-US" sz="3200" b="1">
                <a:latin typeface="Times New Roman" panose="02020603050405020304" pitchFamily="18" charset="0"/>
                <a:cs typeface="Times New Roman" panose="02020603050405020304" pitchFamily="18" charset="0"/>
              </a:rPr>
              <a:t>Utility is subjective</a:t>
            </a:r>
          </a:p>
          <a:p>
            <a:pPr lvl="2" eaLnBrk="1" hangingPunct="1"/>
            <a:r>
              <a:rPr lang="en-US" altLang="en-US" sz="3200" b="1">
                <a:latin typeface="Times New Roman" panose="02020603050405020304" pitchFamily="18" charset="0"/>
                <a:cs typeface="Times New Roman" panose="02020603050405020304" pitchFamily="18" charset="0"/>
              </a:rPr>
              <a:t>Utility is difficult to quantify </a:t>
            </a:r>
            <a:r>
              <a:rPr lang="en-US" altLang="en-US" sz="3200" b="1" i="1">
                <a:latin typeface="Times New Roman" panose="02020603050405020304" pitchFamily="18" charset="0"/>
                <a:cs typeface="Times New Roman" panose="02020603050405020304" pitchFamily="18" charset="0"/>
              </a:rPr>
              <a:t>(Utils)</a:t>
            </a:r>
          </a:p>
          <a:p>
            <a:pPr eaLnBrk="1" hangingPunct="1"/>
            <a:r>
              <a:rPr lang="en-US" altLang="en-US">
                <a:latin typeface="Times New Roman" panose="02020603050405020304" pitchFamily="18" charset="0"/>
                <a:cs typeface="Times New Roman" panose="02020603050405020304" pitchFamily="18" charset="0"/>
              </a:rPr>
              <a:t>Utility is difficult to quantify, as it differs between people and situations</a:t>
            </a:r>
          </a:p>
          <a:p>
            <a:pPr eaLnBrk="1" hangingPunct="1"/>
            <a:r>
              <a:rPr lang="en-US" altLang="en-US">
                <a:latin typeface="Times New Roman" panose="02020603050405020304" pitchFamily="18" charset="0"/>
                <a:cs typeface="Times New Roman" panose="02020603050405020304" pitchFamily="18" charset="0"/>
              </a:rPr>
              <a:t>Measured in “</a:t>
            </a:r>
            <a:r>
              <a:rPr lang="en-US" altLang="en-US" b="1" u="sng">
                <a:solidFill>
                  <a:srgbClr val="FF0000"/>
                </a:solidFill>
                <a:latin typeface="Times New Roman" panose="02020603050405020304" pitchFamily="18" charset="0"/>
                <a:cs typeface="Times New Roman" panose="02020603050405020304" pitchFamily="18" charset="0"/>
              </a:rPr>
              <a:t>utils</a:t>
            </a:r>
            <a:r>
              <a:rPr lang="en-US" altLang="en-US">
                <a:latin typeface="Times New Roman" panose="02020603050405020304" pitchFamily="18" charset="0"/>
                <a:cs typeface="Times New Roman" panose="02020603050405020304" pitchFamily="18" charset="0"/>
              </a:rPr>
              <a:t>” (a personal measure)</a:t>
            </a:r>
          </a:p>
          <a:p>
            <a:pPr lvl="2" eaLnBrk="1" hangingPunct="1"/>
            <a:endParaRPr lang="en-US" altLang="en-US" sz="3200" b="1" i="1">
              <a:cs typeface="Arial" panose="020B0604020202020204" pitchFamily="34" charset="0"/>
            </a:endParaRPr>
          </a:p>
          <a:p>
            <a:pPr lvl="2" eaLnBrk="1" hangingPunct="1"/>
            <a:endParaRPr lang="en-US" altLang="en-US" sz="2800" b="1">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left)">
                                      <p:cBhvr>
                                        <p:cTn id="7" dur="5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39" name="Rectangle 1843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441" name="Rectangle 1844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443" name="Rectangle 1844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33" name="Title 1">
            <a:extLst>
              <a:ext uri="{FF2B5EF4-FFF2-40B4-BE49-F238E27FC236}">
                <a16:creationId xmlns:a16="http://schemas.microsoft.com/office/drawing/2014/main" id="{2EEEDFB1-41F6-67E6-8BD1-F2CB0D04CD14}"/>
              </a:ext>
            </a:extLst>
          </p:cNvPr>
          <p:cNvSpPr>
            <a:spLocks noGrp="1" noChangeArrowheads="1"/>
          </p:cNvSpPr>
          <p:nvPr>
            <p:ph type="title"/>
          </p:nvPr>
        </p:nvSpPr>
        <p:spPr>
          <a:xfrm>
            <a:off x="1115568" y="548640"/>
            <a:ext cx="10168128" cy="1179576"/>
          </a:xfrm>
        </p:spPr>
        <p:txBody>
          <a:bodyPr>
            <a:normAutofit/>
          </a:bodyPr>
          <a:lstStyle/>
          <a:p>
            <a:r>
              <a:rPr lang="en-GB" altLang="en-LK" sz="4000" b="1">
                <a:latin typeface="Times New Roman" panose="02020603050405020304" pitchFamily="18" charset="0"/>
                <a:cs typeface="Times New Roman" panose="02020603050405020304" pitchFamily="18" charset="0"/>
              </a:rPr>
              <a:t>Two Types of Approach</a:t>
            </a:r>
            <a:endParaRPr lang="en-LK" altLang="en-LK" sz="4000" b="1">
              <a:latin typeface="Times New Roman" panose="02020603050405020304" pitchFamily="18" charset="0"/>
              <a:cs typeface="Times New Roman" panose="02020603050405020304" pitchFamily="18" charset="0"/>
            </a:endParaRPr>
          </a:p>
        </p:txBody>
      </p:sp>
      <p:sp>
        <p:nvSpPr>
          <p:cNvPr id="18445" name="Rectangle 1844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434" name="Content Placeholder 2">
            <a:extLst>
              <a:ext uri="{FF2B5EF4-FFF2-40B4-BE49-F238E27FC236}">
                <a16:creationId xmlns:a16="http://schemas.microsoft.com/office/drawing/2014/main" id="{4013B2E8-C682-299C-488E-DA1D674513A6}"/>
              </a:ext>
            </a:extLst>
          </p:cNvPr>
          <p:cNvSpPr>
            <a:spLocks noGrp="1" noChangeArrowheads="1"/>
          </p:cNvSpPr>
          <p:nvPr>
            <p:ph idx="1"/>
          </p:nvPr>
        </p:nvSpPr>
        <p:spPr>
          <a:xfrm>
            <a:off x="1115568" y="2481943"/>
            <a:ext cx="10168128" cy="3695020"/>
          </a:xfrm>
        </p:spPr>
        <p:txBody>
          <a:bodyPr>
            <a:normAutofit/>
          </a:bodyPr>
          <a:lstStyle/>
          <a:p>
            <a:pPr>
              <a:buFont typeface="Wingdings" pitchFamily="2" charset="2"/>
              <a:buChar char="v"/>
            </a:pPr>
            <a:r>
              <a:rPr lang="en-GB" altLang="en-LK" sz="2400" b="1" dirty="0">
                <a:solidFill>
                  <a:srgbClr val="FF0000"/>
                </a:solidFill>
                <a:latin typeface="Times New Roman" panose="02020603050405020304" pitchFamily="18" charset="0"/>
                <a:cs typeface="Times New Roman" panose="02020603050405020304" pitchFamily="18" charset="0"/>
              </a:rPr>
              <a:t>Cardinal Approach</a:t>
            </a:r>
          </a:p>
          <a:p>
            <a:r>
              <a:rPr lang="en-GB" altLang="en-LK" sz="2200" dirty="0">
                <a:latin typeface="Times New Roman" panose="02020603050405020304" pitchFamily="18" charset="0"/>
                <a:cs typeface="Times New Roman" panose="02020603050405020304" pitchFamily="18" charset="0"/>
              </a:rPr>
              <a:t>The cardinal utility theory says that utility is measurable and by placing a number of alternatives the utility can be added.</a:t>
            </a:r>
          </a:p>
          <a:p>
            <a:r>
              <a:rPr lang="en-GB" altLang="en-LK" sz="2200" dirty="0">
                <a:latin typeface="Times New Roman" panose="02020603050405020304" pitchFamily="18" charset="0"/>
                <a:cs typeface="Times New Roman" panose="02020603050405020304" pitchFamily="18" charset="0"/>
              </a:rPr>
              <a:t>The index used to measure utility is called utils. </a:t>
            </a:r>
          </a:p>
          <a:p>
            <a:pPr>
              <a:buFont typeface="Wingdings" pitchFamily="2" charset="2"/>
              <a:buChar char="v"/>
            </a:pPr>
            <a:r>
              <a:rPr lang="en-GB" altLang="en-LK" sz="2400" b="1" dirty="0">
                <a:solidFill>
                  <a:srgbClr val="FF0000"/>
                </a:solidFill>
                <a:latin typeface="Times New Roman" panose="02020603050405020304" pitchFamily="18" charset="0"/>
                <a:cs typeface="Times New Roman" panose="02020603050405020304" pitchFamily="18" charset="0"/>
              </a:rPr>
              <a:t>Ordinal Approach</a:t>
            </a:r>
          </a:p>
          <a:p>
            <a:r>
              <a:rPr lang="en-GB" altLang="en-LK" sz="2200" dirty="0">
                <a:latin typeface="Times New Roman" panose="02020603050405020304" pitchFamily="18" charset="0"/>
                <a:cs typeface="Times New Roman" panose="02020603050405020304" pitchFamily="18" charset="0"/>
              </a:rPr>
              <a:t>The ordinal utility theory says that utility is not measurable, but it can be compared.</a:t>
            </a:r>
          </a:p>
          <a:p>
            <a:r>
              <a:rPr lang="en-GB" altLang="en-LK" sz="2200" dirty="0">
                <a:latin typeface="Times New Roman" panose="02020603050405020304" pitchFamily="18" charset="0"/>
                <a:cs typeface="Times New Roman" panose="02020603050405020304" pitchFamily="18" charset="0"/>
              </a:rPr>
              <a:t>The ordinal approach uses the ranking of alternatives as first, second, third, and so on.</a:t>
            </a:r>
            <a:endParaRPr lang="en-LK" altLang="en-LK"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952" name="Rectangle 8295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2954" name="Rectangle 8295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2956" name="Rectangle 8295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57" name="Rectangle 2">
            <a:extLst>
              <a:ext uri="{FF2B5EF4-FFF2-40B4-BE49-F238E27FC236}">
                <a16:creationId xmlns:a16="http://schemas.microsoft.com/office/drawing/2014/main" id="{944CB2D4-9451-7A1E-BEAB-9BF4B8545F74}"/>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US" sz="4000" b="1">
                <a:latin typeface="Times New Roman" panose="02020603050405020304" pitchFamily="18" charset="0"/>
                <a:cs typeface="Times New Roman" panose="02020603050405020304" pitchFamily="18" charset="0"/>
              </a:rPr>
              <a:t>Utility: A Tool to Analyze Purchase Decisions</a:t>
            </a:r>
          </a:p>
        </p:txBody>
      </p:sp>
      <p:sp>
        <p:nvSpPr>
          <p:cNvPr id="82958" name="Rectangle 8295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2947" name="Rectangle 3">
            <a:extLst>
              <a:ext uri="{FF2B5EF4-FFF2-40B4-BE49-F238E27FC236}">
                <a16:creationId xmlns:a16="http://schemas.microsoft.com/office/drawing/2014/main" id="{3134972E-6BB6-F3FC-A022-B377C1E0ED5D}"/>
              </a:ext>
            </a:extLst>
          </p:cNvPr>
          <p:cNvSpPr>
            <a:spLocks noGrp="1" noChangeArrowheads="1"/>
          </p:cNvSpPr>
          <p:nvPr>
            <p:ph idx="1"/>
          </p:nvPr>
        </p:nvSpPr>
        <p:spPr>
          <a:xfrm>
            <a:off x="1115568" y="2481943"/>
            <a:ext cx="10168128" cy="3695020"/>
          </a:xfrm>
        </p:spPr>
        <p:txBody>
          <a:bodyPr rtlCol="0">
            <a:normAutofit/>
          </a:bodyPr>
          <a:lstStyle/>
          <a:p>
            <a:pPr eaLnBrk="1" fontAlgn="auto" hangingPunct="1">
              <a:spcAft>
                <a:spcPts val="0"/>
              </a:spcAft>
              <a:defRPr/>
            </a:pPr>
            <a:r>
              <a:rPr lang="en-US" altLang="en-US" b="1" dirty="0">
                <a:solidFill>
                  <a:srgbClr val="FF0000"/>
                </a:solidFill>
                <a:latin typeface="Times New Roman" panose="02020603050405020304" pitchFamily="18" charset="0"/>
                <a:cs typeface="Times New Roman" panose="02020603050405020304" pitchFamily="18" charset="0"/>
              </a:rPr>
              <a:t>The Purpose of Utility Analysis</a:t>
            </a:r>
          </a:p>
          <a:p>
            <a:pPr lvl="1" eaLnBrk="1" fontAlgn="auto" hangingPunct="1">
              <a:spcAft>
                <a:spcPts val="0"/>
              </a:spcAft>
              <a:defRPr/>
            </a:pPr>
            <a:r>
              <a:rPr lang="en-US" altLang="en-US" sz="2200" dirty="0">
                <a:latin typeface="Times New Roman" panose="02020603050405020304" pitchFamily="18" charset="0"/>
                <a:cs typeface="Times New Roman" panose="02020603050405020304" pitchFamily="18" charset="0"/>
              </a:rPr>
              <a:t>The purpose of utility analysis = analyze how people behave rather than how they think</a:t>
            </a:r>
          </a:p>
          <a:p>
            <a:pPr marL="457200" lvl="1" indent="0" eaLnBrk="1" fontAlgn="auto" hangingPunct="1">
              <a:spcAft>
                <a:spcPts val="0"/>
              </a:spcAft>
              <a:buFont typeface="Arial" panose="020B0604020202020204" pitchFamily="34" charset="0"/>
              <a:buNone/>
              <a:defRPr/>
            </a:pPr>
            <a:endParaRPr lang="en-US" altLang="en-US" sz="2200"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altLang="en-US" sz="2200" dirty="0">
                <a:latin typeface="Times New Roman" panose="02020603050405020304" pitchFamily="18" charset="0"/>
                <a:cs typeface="Times New Roman" panose="02020603050405020304" pitchFamily="18" charset="0"/>
              </a:rPr>
              <a:t>Theory of consumer choice  =  each consumer spends his or her income in a way that yields the greatest satisfaction</a:t>
            </a:r>
          </a:p>
          <a:p>
            <a:pPr marL="457200" lvl="1" indent="0" eaLnBrk="1" fontAlgn="auto" hangingPunct="1">
              <a:spcAft>
                <a:spcPts val="0"/>
              </a:spcAft>
              <a:buFont typeface="Arial" panose="020B0604020202020204" pitchFamily="34" charset="0"/>
              <a:buNone/>
              <a:defRPr/>
            </a:pPr>
            <a:endParaRPr lang="en-US" altLang="en-US" sz="2200"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altLang="en-US" sz="2200" dirty="0">
                <a:latin typeface="Times New Roman" panose="02020603050405020304" pitchFamily="18" charset="0"/>
                <a:cs typeface="Times New Roman" panose="02020603050405020304" pitchFamily="18" charset="0"/>
              </a:rPr>
              <a:t> Utility  =  amount of satisfaction</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3975" name="Rectangle 8397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3977" name="Rectangle 83976">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3979" name="Rectangle 83978">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81" name="Rectangle 3">
            <a:extLst>
              <a:ext uri="{FF2B5EF4-FFF2-40B4-BE49-F238E27FC236}">
                <a16:creationId xmlns:a16="http://schemas.microsoft.com/office/drawing/2014/main" id="{C721FF24-CD23-40F8-D315-840BCD0BADCF}"/>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US" sz="4000" b="1" dirty="0">
                <a:latin typeface="Times New Roman" panose="02020603050405020304" pitchFamily="18" charset="0"/>
                <a:cs typeface="Times New Roman" panose="02020603050405020304" pitchFamily="18" charset="0"/>
              </a:rPr>
              <a:t>Utility: A Tool to Analyze Purchase Decisions</a:t>
            </a:r>
          </a:p>
        </p:txBody>
      </p:sp>
      <p:sp>
        <p:nvSpPr>
          <p:cNvPr id="83981" name="Rectangle 83980">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3970" name="Rectangle 2">
            <a:extLst>
              <a:ext uri="{FF2B5EF4-FFF2-40B4-BE49-F238E27FC236}">
                <a16:creationId xmlns:a16="http://schemas.microsoft.com/office/drawing/2014/main" id="{78045B00-7478-F4B7-DB68-CD7D044B8E39}"/>
              </a:ext>
            </a:extLst>
          </p:cNvPr>
          <p:cNvSpPr>
            <a:spLocks noGrp="1" noChangeArrowheads="1"/>
          </p:cNvSpPr>
          <p:nvPr>
            <p:ph idx="1"/>
          </p:nvPr>
        </p:nvSpPr>
        <p:spPr>
          <a:xfrm>
            <a:off x="1115568" y="2481943"/>
            <a:ext cx="10168128" cy="3695020"/>
          </a:xfrm>
        </p:spPr>
        <p:txBody>
          <a:bodyPr rtlCol="0">
            <a:normAutofit/>
          </a:bodyPr>
          <a:lstStyle/>
          <a:p>
            <a:pPr eaLnBrk="1" fontAlgn="auto" hangingPunct="1">
              <a:spcAft>
                <a:spcPts val="0"/>
              </a:spcAft>
              <a:defRPr/>
            </a:pPr>
            <a:r>
              <a:rPr lang="en-US" altLang="en-US" b="1" dirty="0">
                <a:solidFill>
                  <a:srgbClr val="FF0000"/>
                </a:solidFill>
                <a:latin typeface="Times New Roman" panose="02020603050405020304" pitchFamily="18" charset="0"/>
                <a:cs typeface="Times New Roman" panose="02020603050405020304" pitchFamily="18" charset="0"/>
              </a:rPr>
              <a:t>Total versus Marginal Utility</a:t>
            </a:r>
          </a:p>
          <a:p>
            <a:pPr lvl="1" eaLnBrk="1" fontAlgn="auto" hangingPunct="1">
              <a:spcAft>
                <a:spcPts val="0"/>
              </a:spcAft>
              <a:defRPr/>
            </a:pPr>
            <a:r>
              <a:rPr lang="en-US" altLang="en-US" sz="2200" dirty="0">
                <a:latin typeface="Times New Roman" panose="02020603050405020304" pitchFamily="18" charset="0"/>
                <a:cs typeface="Times New Roman" panose="02020603050405020304" pitchFamily="18" charset="0"/>
              </a:rPr>
              <a:t>Total utility  =  total benefit to a consumer from </a:t>
            </a:r>
            <a:r>
              <a:rPr lang="en-US" altLang="en-US" sz="2200" b="1" dirty="0">
                <a:latin typeface="Times New Roman" panose="02020603050405020304" pitchFamily="18" charset="0"/>
                <a:cs typeface="Times New Roman" panose="02020603050405020304" pitchFamily="18" charset="0"/>
              </a:rPr>
              <a:t>all</a:t>
            </a:r>
            <a:r>
              <a:rPr lang="en-US" altLang="en-US" sz="2200" dirty="0">
                <a:latin typeface="Times New Roman" panose="02020603050405020304" pitchFamily="18" charset="0"/>
                <a:cs typeface="Times New Roman" panose="02020603050405020304" pitchFamily="18" charset="0"/>
              </a:rPr>
              <a:t> the units of a good purchased</a:t>
            </a:r>
          </a:p>
          <a:p>
            <a:pPr marL="457200" lvl="1" indent="0" eaLnBrk="1" fontAlgn="auto" hangingPunct="1">
              <a:spcAft>
                <a:spcPts val="0"/>
              </a:spcAft>
              <a:buFont typeface="Arial" panose="020B0604020202020204" pitchFamily="34" charset="0"/>
              <a:buNone/>
              <a:defRPr/>
            </a:pPr>
            <a:endParaRPr lang="en-US" altLang="en-US" sz="2200"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altLang="en-US" sz="2200" dirty="0">
                <a:latin typeface="Times New Roman" panose="02020603050405020304" pitchFamily="18" charset="0"/>
                <a:cs typeface="Times New Roman" panose="02020603050405020304" pitchFamily="18" charset="0"/>
              </a:rPr>
              <a:t>Marginal utility  =  </a:t>
            </a:r>
            <a:r>
              <a:rPr lang="en-US" altLang="en-US" sz="2200" b="1" dirty="0">
                <a:latin typeface="Times New Roman" panose="02020603050405020304" pitchFamily="18" charset="0"/>
                <a:cs typeface="Times New Roman" panose="02020603050405020304" pitchFamily="18" charset="0"/>
              </a:rPr>
              <a:t>extra</a:t>
            </a:r>
            <a:r>
              <a:rPr lang="en-US" altLang="en-US" sz="2200" dirty="0">
                <a:latin typeface="Times New Roman" panose="02020603050405020304" pitchFamily="18" charset="0"/>
                <a:cs typeface="Times New Roman" panose="02020603050405020304" pitchFamily="18" charset="0"/>
              </a:rPr>
              <a:t> benefit from the </a:t>
            </a:r>
            <a:r>
              <a:rPr lang="en-US" altLang="en-US" sz="2200" b="1" dirty="0">
                <a:latin typeface="Times New Roman" panose="02020603050405020304" pitchFamily="18" charset="0"/>
                <a:cs typeface="Times New Roman" panose="02020603050405020304" pitchFamily="18" charset="0"/>
              </a:rPr>
              <a:t>last</a:t>
            </a:r>
            <a:r>
              <a:rPr lang="en-US" altLang="en-US" sz="2200" dirty="0">
                <a:latin typeface="Times New Roman" panose="02020603050405020304" pitchFamily="18" charset="0"/>
                <a:cs typeface="Times New Roman" panose="02020603050405020304" pitchFamily="18" charset="0"/>
              </a:rPr>
              <a:t> unit of a good purchased. Also, the change in the total utility from the purchase of 1 more unit of the good.</a:t>
            </a:r>
          </a:p>
          <a:p>
            <a:pPr marL="457200" lvl="1" indent="0" eaLnBrk="1" fontAlgn="auto" hangingPunct="1">
              <a:spcAft>
                <a:spcPts val="0"/>
              </a:spcAft>
              <a:buFont typeface="Arial" panose="020B0604020202020204" pitchFamily="34" charset="0"/>
              <a:buNone/>
              <a:defRPr/>
            </a:pPr>
            <a:endParaRPr lang="en-US" altLang="en-US" sz="2200"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200" dirty="0">
                <a:latin typeface="Times New Roman" panose="02020603050405020304" pitchFamily="18" charset="0"/>
                <a:cs typeface="Times New Roman" panose="02020603050405020304" pitchFamily="18" charset="0"/>
              </a:rPr>
              <a:t> number of goods purchased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200" dirty="0">
                <a:latin typeface="Times New Roman" panose="02020603050405020304" pitchFamily="18" charset="0"/>
                <a:cs typeface="Times New Roman" panose="02020603050405020304" pitchFamily="18" charset="0"/>
                <a:sym typeface="WP IconicSymbolsB" pitchFamily="2" charset="2"/>
              </a:rPr>
              <a:t>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total utility</a:t>
            </a:r>
            <a:r>
              <a:rPr lang="en-US" altLang="en-US" sz="2200" dirty="0">
                <a:latin typeface="Times New Roman" panose="02020603050405020304" pitchFamily="18" charset="0"/>
                <a:cs typeface="Times New Roman" panose="02020603050405020304" pitchFamily="18" charset="0"/>
              </a:rPr>
              <a:t> but a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m</a:t>
            </a:r>
            <a:r>
              <a:rPr lang="en-US" altLang="en-US" sz="2200" dirty="0">
                <a:latin typeface="Times New Roman" panose="02020603050405020304" pitchFamily="18" charset="0"/>
                <a:cs typeface="Times New Roman" panose="02020603050405020304" pitchFamily="18" charset="0"/>
              </a:rPr>
              <a:t>arginal utility</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1" name="Rectangle 21510">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513" name="Freeform: Shape 21512">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515" name="Freeform: Shape 21514">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05" name="Title 1">
            <a:extLst>
              <a:ext uri="{FF2B5EF4-FFF2-40B4-BE49-F238E27FC236}">
                <a16:creationId xmlns:a16="http://schemas.microsoft.com/office/drawing/2014/main" id="{3A92DB06-2266-06C0-ECAC-B04E597300E1}"/>
              </a:ext>
            </a:extLst>
          </p:cNvPr>
          <p:cNvSpPr>
            <a:spLocks noGrp="1" noChangeArrowheads="1"/>
          </p:cNvSpPr>
          <p:nvPr>
            <p:ph type="title"/>
          </p:nvPr>
        </p:nvSpPr>
        <p:spPr>
          <a:xfrm>
            <a:off x="838200" y="253397"/>
            <a:ext cx="10515600" cy="1273233"/>
          </a:xfrm>
        </p:spPr>
        <p:txBody>
          <a:bodyPr>
            <a:normAutofit fontScale="90000"/>
          </a:bodyPr>
          <a:lstStyle/>
          <a:p>
            <a:r>
              <a:rPr lang="en-GB" altLang="en-LK" b="1" dirty="0">
                <a:latin typeface="Times New Roman" panose="02020603050405020304" pitchFamily="18" charset="0"/>
                <a:cs typeface="Times New Roman" panose="02020603050405020304" pitchFamily="18" charset="0"/>
              </a:rPr>
              <a:t>Explanation of the Law:</a:t>
            </a:r>
            <a:br>
              <a:rPr lang="en-GB" altLang="en-LK" dirty="0"/>
            </a:br>
            <a:endParaRPr lang="en-LK" altLang="en-LK" dirty="0"/>
          </a:p>
        </p:txBody>
      </p:sp>
      <p:sp>
        <p:nvSpPr>
          <p:cNvPr id="21517" name="Rectangle 21516">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506" name="Content Placeholder 2">
            <a:extLst>
              <a:ext uri="{FF2B5EF4-FFF2-40B4-BE49-F238E27FC236}">
                <a16:creationId xmlns:a16="http://schemas.microsoft.com/office/drawing/2014/main" id="{46262BD4-52A9-398E-9F97-0C0C182A5DC2}"/>
              </a:ext>
            </a:extLst>
          </p:cNvPr>
          <p:cNvSpPr>
            <a:spLocks noGrp="1" noChangeArrowheads="1"/>
          </p:cNvSpPr>
          <p:nvPr>
            <p:ph idx="1"/>
          </p:nvPr>
        </p:nvSpPr>
        <p:spPr>
          <a:xfrm>
            <a:off x="838200" y="2478024"/>
            <a:ext cx="10515600" cy="3694176"/>
          </a:xfrm>
        </p:spPr>
        <p:txBody>
          <a:bodyPr>
            <a:normAutofit fontScale="92500" lnSpcReduction="10000"/>
          </a:bodyPr>
          <a:lstStyle/>
          <a:p>
            <a:r>
              <a:rPr lang="en-GB" altLang="en-LK">
                <a:latin typeface="Times New Roman" panose="02020603050405020304" pitchFamily="18" charset="0"/>
                <a:cs typeface="Times New Roman" panose="02020603050405020304" pitchFamily="18" charset="0"/>
              </a:rPr>
              <a:t>Suppose a person is thirsty and the price of water is zero. He takes one glass of water which gives him great satisfaction. We can say the first glass of water has great utility for him.</a:t>
            </a:r>
          </a:p>
          <a:p>
            <a:r>
              <a:rPr lang="en-GB" altLang="en-LK">
                <a:latin typeface="Times New Roman" panose="02020603050405020304" pitchFamily="18" charset="0"/>
                <a:cs typeface="Times New Roman" panose="02020603050405020304" pitchFamily="18" charset="0"/>
              </a:rPr>
              <a:t>He then takes a second glass of water. The utility of the second glass of water is less than that of the first glass of water. The utility declines because the edge of his thirst has been blunted to a great extent.</a:t>
            </a:r>
          </a:p>
          <a:p>
            <a:r>
              <a:rPr lang="en-GB" altLang="en-LK">
                <a:latin typeface="Times New Roman" panose="02020603050405020304" pitchFamily="18" charset="0"/>
                <a:cs typeface="Times New Roman" panose="02020603050405020304" pitchFamily="18" charset="0"/>
              </a:rPr>
              <a:t>If he drinks a third glass of water, the utility of the third glass will be less than that of the second, and so on. The utility goes on diminishing with the consumption of every successive glass of water till it drops down to zero.</a:t>
            </a:r>
          </a:p>
          <a:p>
            <a:r>
              <a:rPr lang="en-GB" altLang="en-LK">
                <a:latin typeface="Times New Roman" panose="02020603050405020304" pitchFamily="18" charset="0"/>
                <a:cs typeface="Times New Roman" panose="02020603050405020304" pitchFamily="18" charset="0"/>
              </a:rPr>
              <a:t>It is the position of the consumer’s equilibrium or maximum satisfaction.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4" name="Rectangle 22533">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536" name="Freeform: Shape 22535">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538" name="Freeform: Shape 22537">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529" name="Title 1">
            <a:extLst>
              <a:ext uri="{FF2B5EF4-FFF2-40B4-BE49-F238E27FC236}">
                <a16:creationId xmlns:a16="http://schemas.microsoft.com/office/drawing/2014/main" id="{17C65407-FAB0-EEFD-10CC-A180A6F18421}"/>
              </a:ext>
            </a:extLst>
          </p:cNvPr>
          <p:cNvSpPr>
            <a:spLocks noGrp="1" noChangeArrowheads="1"/>
          </p:cNvSpPr>
          <p:nvPr>
            <p:ph type="title"/>
          </p:nvPr>
        </p:nvSpPr>
        <p:spPr>
          <a:xfrm>
            <a:off x="838200" y="253397"/>
            <a:ext cx="10515600" cy="1273233"/>
          </a:xfrm>
        </p:spPr>
        <p:txBody>
          <a:bodyPr>
            <a:normAutofit/>
          </a:bodyPr>
          <a:lstStyle/>
          <a:p>
            <a:r>
              <a:rPr lang="en-GB" altLang="en-LK" sz="4000" b="1" dirty="0">
                <a:latin typeface="Times New Roman" panose="02020603050405020304" pitchFamily="18" charset="0"/>
                <a:cs typeface="Times New Roman" panose="02020603050405020304" pitchFamily="18" charset="0"/>
              </a:rPr>
              <a:t>Explanation of the Law:</a:t>
            </a:r>
            <a:endParaRPr lang="en-LK" altLang="en-LK" sz="4000" dirty="0"/>
          </a:p>
        </p:txBody>
      </p:sp>
      <p:sp>
        <p:nvSpPr>
          <p:cNvPr id="22540" name="Rectangle 22539">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775412B-AFF5-F03A-533A-AF6860A31550}"/>
              </a:ext>
            </a:extLst>
          </p:cNvPr>
          <p:cNvSpPr>
            <a:spLocks noGrp="1"/>
          </p:cNvSpPr>
          <p:nvPr>
            <p:ph idx="1"/>
          </p:nvPr>
        </p:nvSpPr>
        <p:spPr>
          <a:xfrm>
            <a:off x="838200" y="2478024"/>
            <a:ext cx="10515600" cy="3694176"/>
          </a:xfrm>
        </p:spPr>
        <p:txBody>
          <a:bodyPr>
            <a:normAutofit/>
          </a:bodyPr>
          <a:lstStyle/>
          <a:p>
            <a:pPr>
              <a:defRPr/>
            </a:pPr>
            <a:r>
              <a:rPr lang="en-GB">
                <a:latin typeface="Times New Roman" panose="02020603050405020304" pitchFamily="18" charset="0"/>
                <a:cs typeface="Times New Roman" panose="02020603050405020304" pitchFamily="18" charset="0"/>
              </a:rPr>
              <a:t>If the consumer is forced further to take a glass of water, it leads to disutility causing the total utility to decline. The marginal utility will become negative. A rational consumer will stop taking water at the point at which marginal utility becomes negative even if the good is free.</a:t>
            </a:r>
          </a:p>
          <a:p>
            <a:pPr>
              <a:defRPr/>
            </a:pPr>
            <a:r>
              <a:rPr lang="en-GB">
                <a:latin typeface="Times New Roman" panose="02020603050405020304" pitchFamily="18" charset="0"/>
                <a:cs typeface="Times New Roman" panose="02020603050405020304" pitchFamily="18" charset="0"/>
              </a:rPr>
              <a:t>In short, when a good is free, a consumer increases consumption of a good so long its additional units provide him positive marginal utility.</a:t>
            </a:r>
            <a:endParaRPr lang="en-LK">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LK">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2">
            <a:extLst>
              <a:ext uri="{FF2B5EF4-FFF2-40B4-BE49-F238E27FC236}">
                <a16:creationId xmlns:a16="http://schemas.microsoft.com/office/drawing/2014/main" id="{F66879E3-B0BF-7BC8-17E4-13540ACB8217}"/>
              </a:ext>
            </a:extLst>
          </p:cNvPr>
          <p:cNvGrpSpPr>
            <a:grpSpLocks/>
          </p:cNvGrpSpPr>
          <p:nvPr/>
        </p:nvGrpSpPr>
        <p:grpSpPr bwMode="auto">
          <a:xfrm>
            <a:off x="6802438" y="4286250"/>
            <a:ext cx="3328987" cy="2019300"/>
            <a:chOff x="3149" y="2820"/>
            <a:chExt cx="2097" cy="1272"/>
          </a:xfrm>
        </p:grpSpPr>
        <p:sp>
          <p:nvSpPr>
            <p:cNvPr id="23576" name="Line 3">
              <a:extLst>
                <a:ext uri="{FF2B5EF4-FFF2-40B4-BE49-F238E27FC236}">
                  <a16:creationId xmlns:a16="http://schemas.microsoft.com/office/drawing/2014/main" id="{2B8DE493-2D9A-DB4A-6D6C-359C78A60B8B}"/>
                </a:ext>
              </a:extLst>
            </p:cNvPr>
            <p:cNvSpPr>
              <a:spLocks noChangeShapeType="1"/>
            </p:cNvSpPr>
            <p:nvPr/>
          </p:nvSpPr>
          <p:spPr bwMode="auto">
            <a:xfrm>
              <a:off x="3149" y="2820"/>
              <a:ext cx="0" cy="127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3577" name="Line 4">
              <a:extLst>
                <a:ext uri="{FF2B5EF4-FFF2-40B4-BE49-F238E27FC236}">
                  <a16:creationId xmlns:a16="http://schemas.microsoft.com/office/drawing/2014/main" id="{938D0D5C-FCB9-BFE2-ACBA-9E0141F00216}"/>
                </a:ext>
              </a:extLst>
            </p:cNvPr>
            <p:cNvSpPr>
              <a:spLocks noChangeShapeType="1"/>
            </p:cNvSpPr>
            <p:nvPr/>
          </p:nvSpPr>
          <p:spPr bwMode="auto">
            <a:xfrm>
              <a:off x="3156" y="366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pic>
        <p:nvPicPr>
          <p:cNvPr id="14341" name="Picture 5">
            <a:extLst>
              <a:ext uri="{FF2B5EF4-FFF2-40B4-BE49-F238E27FC236}">
                <a16:creationId xmlns:a16="http://schemas.microsoft.com/office/drawing/2014/main" id="{A336F5B1-F47E-9B2E-D003-57546B67F523}"/>
              </a:ext>
            </a:extLst>
          </p:cNvPr>
          <p:cNvPicPr>
            <a:picLocks noChangeArrowheads="1"/>
          </p:cNvPicPr>
          <p:nvPr/>
        </p:nvPicPr>
        <p:blipFill>
          <a:blip r:embed="rId3">
            <a:extLst>
              <a:ext uri="{28A0092B-C50C-407E-A947-70E740481C1C}">
                <a14:useLocalDpi xmlns:a14="http://schemas.microsoft.com/office/drawing/2010/main" val="0"/>
              </a:ext>
            </a:extLst>
          </a:blip>
          <a:srcRect r="89014" b="50426"/>
          <a:stretch>
            <a:fillRect/>
          </a:stretch>
        </p:blipFill>
        <p:spPr bwMode="auto">
          <a:xfrm>
            <a:off x="6754813" y="1179513"/>
            <a:ext cx="400050" cy="249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42" name="Rectangle 6">
            <a:extLst>
              <a:ext uri="{FF2B5EF4-FFF2-40B4-BE49-F238E27FC236}">
                <a16:creationId xmlns:a16="http://schemas.microsoft.com/office/drawing/2014/main" id="{E918D1D1-15E7-85AE-09BB-354425399999}"/>
              </a:ext>
            </a:extLst>
          </p:cNvPr>
          <p:cNvSpPr>
            <a:spLocks noChangeArrowheads="1"/>
          </p:cNvSpPr>
          <p:nvPr/>
        </p:nvSpPr>
        <p:spPr bwMode="auto">
          <a:xfrm>
            <a:off x="533400" y="34925"/>
            <a:ext cx="71723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400" b="1">
                <a:solidFill>
                  <a:srgbClr val="FF0000"/>
                </a:solidFill>
                <a:latin typeface="Times New Roman" panose="02020603050405020304" pitchFamily="18" charset="0"/>
              </a:rPr>
              <a:t>TOTAL AND MARGINAL UTILITY</a:t>
            </a:r>
          </a:p>
        </p:txBody>
      </p:sp>
      <p:sp>
        <p:nvSpPr>
          <p:cNvPr id="14343" name="Line 7">
            <a:extLst>
              <a:ext uri="{FF2B5EF4-FFF2-40B4-BE49-F238E27FC236}">
                <a16:creationId xmlns:a16="http://schemas.microsoft.com/office/drawing/2014/main" id="{63A9D5F8-26A9-86DE-24E6-8463AAFE928D}"/>
              </a:ext>
            </a:extLst>
          </p:cNvPr>
          <p:cNvSpPr>
            <a:spLocks noChangeShapeType="1"/>
          </p:cNvSpPr>
          <p:nvPr/>
        </p:nvSpPr>
        <p:spPr bwMode="auto">
          <a:xfrm>
            <a:off x="3357563" y="1733550"/>
            <a:ext cx="28098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14344" name="Rectangle 8">
            <a:extLst>
              <a:ext uri="{FF2B5EF4-FFF2-40B4-BE49-F238E27FC236}">
                <a16:creationId xmlns:a16="http://schemas.microsoft.com/office/drawing/2014/main" id="{78252C71-420F-42E7-E484-98FF73ABA5FD}"/>
              </a:ext>
            </a:extLst>
          </p:cNvPr>
          <p:cNvSpPr>
            <a:spLocks noChangeArrowheads="1"/>
          </p:cNvSpPr>
          <p:nvPr/>
        </p:nvSpPr>
        <p:spPr bwMode="auto">
          <a:xfrm>
            <a:off x="3219450" y="1031875"/>
            <a:ext cx="133667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Yogurts</a:t>
            </a:r>
          </a:p>
          <a:p>
            <a:pPr algn="ctr" eaLnBrk="1" hangingPunct="1">
              <a:lnSpc>
                <a:spcPct val="100000"/>
              </a:lnSpc>
              <a:spcBef>
                <a:spcPct val="0"/>
              </a:spcBef>
              <a:buFontTx/>
              <a:buNone/>
            </a:pPr>
            <a:r>
              <a:rPr lang="en-US" altLang="en-US" sz="1800" b="1">
                <a:latin typeface="Arial" panose="020B0604020202020204" pitchFamily="34" charset="0"/>
              </a:rPr>
              <a:t>consumed</a:t>
            </a:r>
          </a:p>
        </p:txBody>
      </p:sp>
      <p:sp>
        <p:nvSpPr>
          <p:cNvPr id="14345" name="Rectangle 9">
            <a:extLst>
              <a:ext uri="{FF2B5EF4-FFF2-40B4-BE49-F238E27FC236}">
                <a16:creationId xmlns:a16="http://schemas.microsoft.com/office/drawing/2014/main" id="{07F1B754-911F-EACD-3844-563DBC6FEA67}"/>
              </a:ext>
            </a:extLst>
          </p:cNvPr>
          <p:cNvSpPr>
            <a:spLocks noChangeArrowheads="1"/>
          </p:cNvSpPr>
          <p:nvPr/>
        </p:nvSpPr>
        <p:spPr bwMode="auto">
          <a:xfrm>
            <a:off x="4408488" y="765175"/>
            <a:ext cx="8794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Total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14346" name="Rectangle 10">
            <a:extLst>
              <a:ext uri="{FF2B5EF4-FFF2-40B4-BE49-F238E27FC236}">
                <a16:creationId xmlns:a16="http://schemas.microsoft.com/office/drawing/2014/main" id="{74A613D0-A123-28A2-0E61-88A7FD9D5EC8}"/>
              </a:ext>
            </a:extLst>
          </p:cNvPr>
          <p:cNvSpPr>
            <a:spLocks noChangeArrowheads="1"/>
          </p:cNvSpPr>
          <p:nvPr/>
        </p:nvSpPr>
        <p:spPr bwMode="auto">
          <a:xfrm>
            <a:off x="5218113" y="765175"/>
            <a:ext cx="11303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Marginal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14347" name="Rectangle 11">
            <a:extLst>
              <a:ext uri="{FF2B5EF4-FFF2-40B4-BE49-F238E27FC236}">
                <a16:creationId xmlns:a16="http://schemas.microsoft.com/office/drawing/2014/main" id="{B98AF0BF-6C5F-50C8-C939-2F717353540E}"/>
              </a:ext>
            </a:extLst>
          </p:cNvPr>
          <p:cNvSpPr>
            <a:spLocks noChangeArrowheads="1"/>
          </p:cNvSpPr>
          <p:nvPr/>
        </p:nvSpPr>
        <p:spPr bwMode="auto">
          <a:xfrm>
            <a:off x="3644900" y="1885950"/>
            <a:ext cx="387350" cy="11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0</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1</a:t>
            </a:r>
          </a:p>
        </p:txBody>
      </p:sp>
      <p:sp>
        <p:nvSpPr>
          <p:cNvPr id="14348" name="Rectangle 12">
            <a:extLst>
              <a:ext uri="{FF2B5EF4-FFF2-40B4-BE49-F238E27FC236}">
                <a16:creationId xmlns:a16="http://schemas.microsoft.com/office/drawing/2014/main" id="{06B8D0F8-79BB-1D76-BA44-6FF30E9B35DB}"/>
              </a:ext>
            </a:extLst>
          </p:cNvPr>
          <p:cNvSpPr>
            <a:spLocks noChangeArrowheads="1"/>
          </p:cNvSpPr>
          <p:nvPr/>
        </p:nvSpPr>
        <p:spPr bwMode="auto">
          <a:xfrm>
            <a:off x="4468813" y="1885950"/>
            <a:ext cx="593725" cy="11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  0</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10</a:t>
            </a:r>
          </a:p>
        </p:txBody>
      </p:sp>
      <p:sp>
        <p:nvSpPr>
          <p:cNvPr id="14349" name="Rectangle 13">
            <a:extLst>
              <a:ext uri="{FF2B5EF4-FFF2-40B4-BE49-F238E27FC236}">
                <a16:creationId xmlns:a16="http://schemas.microsoft.com/office/drawing/2014/main" id="{1D774555-00D6-6768-774B-28C73B033C9F}"/>
              </a:ext>
            </a:extLst>
          </p:cNvPr>
          <p:cNvSpPr>
            <a:spLocks noChangeArrowheads="1"/>
          </p:cNvSpPr>
          <p:nvPr/>
        </p:nvSpPr>
        <p:spPr bwMode="auto">
          <a:xfrm>
            <a:off x="7359650" y="4041775"/>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14350" name="Rectangle 14">
            <a:extLst>
              <a:ext uri="{FF2B5EF4-FFF2-40B4-BE49-F238E27FC236}">
                <a16:creationId xmlns:a16="http://schemas.microsoft.com/office/drawing/2014/main" id="{AD77886F-D531-59F5-1B63-0182D7BEBCE9}"/>
              </a:ext>
            </a:extLst>
          </p:cNvPr>
          <p:cNvSpPr>
            <a:spLocks noChangeArrowheads="1"/>
          </p:cNvSpPr>
          <p:nvPr/>
        </p:nvSpPr>
        <p:spPr bwMode="auto">
          <a:xfrm>
            <a:off x="7369175" y="6199188"/>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14351" name="Rectangle 15">
            <a:extLst>
              <a:ext uri="{FF2B5EF4-FFF2-40B4-BE49-F238E27FC236}">
                <a16:creationId xmlns:a16="http://schemas.microsoft.com/office/drawing/2014/main" id="{113D940C-E36F-8D32-1D31-698322ABB195}"/>
              </a:ext>
            </a:extLst>
          </p:cNvPr>
          <p:cNvSpPr>
            <a:spLocks noChangeArrowheads="1"/>
          </p:cNvSpPr>
          <p:nvPr/>
        </p:nvSpPr>
        <p:spPr bwMode="auto">
          <a:xfrm>
            <a:off x="6434138" y="996950"/>
            <a:ext cx="411162"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30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20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10</a:t>
            </a:r>
          </a:p>
        </p:txBody>
      </p:sp>
      <p:sp>
        <p:nvSpPr>
          <p:cNvPr id="14352" name="Rectangle 16">
            <a:extLst>
              <a:ext uri="{FF2B5EF4-FFF2-40B4-BE49-F238E27FC236}">
                <a16:creationId xmlns:a16="http://schemas.microsoft.com/office/drawing/2014/main" id="{86E02DE8-91A1-59F3-7A10-D8435B2869A7}"/>
              </a:ext>
            </a:extLst>
          </p:cNvPr>
          <p:cNvSpPr>
            <a:spLocks noChangeArrowheads="1"/>
          </p:cNvSpPr>
          <p:nvPr/>
        </p:nvSpPr>
        <p:spPr bwMode="auto">
          <a:xfrm rot="-5400000">
            <a:off x="5553869" y="1897857"/>
            <a:ext cx="1677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Total Utility (utils)</a:t>
            </a:r>
          </a:p>
        </p:txBody>
      </p:sp>
      <p:sp>
        <p:nvSpPr>
          <p:cNvPr id="14353" name="Rectangle 17">
            <a:extLst>
              <a:ext uri="{FF2B5EF4-FFF2-40B4-BE49-F238E27FC236}">
                <a16:creationId xmlns:a16="http://schemas.microsoft.com/office/drawing/2014/main" id="{5E763E42-8AEF-775E-7196-D150447106F5}"/>
              </a:ext>
            </a:extLst>
          </p:cNvPr>
          <p:cNvSpPr>
            <a:spLocks noChangeArrowheads="1"/>
          </p:cNvSpPr>
          <p:nvPr/>
        </p:nvSpPr>
        <p:spPr bwMode="auto">
          <a:xfrm rot="-5400000">
            <a:off x="5364163" y="4956175"/>
            <a:ext cx="2000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Marginal Utility (utils)</a:t>
            </a:r>
          </a:p>
        </p:txBody>
      </p:sp>
      <p:sp>
        <p:nvSpPr>
          <p:cNvPr id="14354" name="Rectangle 18">
            <a:extLst>
              <a:ext uri="{FF2B5EF4-FFF2-40B4-BE49-F238E27FC236}">
                <a16:creationId xmlns:a16="http://schemas.microsoft.com/office/drawing/2014/main" id="{A5C09D90-BA9F-5D2D-1F6A-71F98288EC8F}"/>
              </a:ext>
            </a:extLst>
          </p:cNvPr>
          <p:cNvSpPr>
            <a:spLocks noChangeArrowheads="1"/>
          </p:cNvSpPr>
          <p:nvPr/>
        </p:nvSpPr>
        <p:spPr bwMode="auto">
          <a:xfrm>
            <a:off x="6410325" y="4248150"/>
            <a:ext cx="423863"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10</a:t>
            </a:r>
          </a:p>
          <a:p>
            <a:pPr eaLnBrk="1" hangingPunct="1">
              <a:lnSpc>
                <a:spcPct val="100000"/>
              </a:lnSpc>
              <a:spcBef>
                <a:spcPct val="0"/>
              </a:spcBef>
              <a:buFontTx/>
              <a:buNone/>
            </a:pPr>
            <a:r>
              <a:rPr lang="en-US" altLang="en-US" sz="1600" b="1">
                <a:latin typeface="Arial" panose="020B0604020202020204" pitchFamily="34" charset="0"/>
              </a:rPr>
              <a:t>  8</a:t>
            </a:r>
          </a:p>
          <a:p>
            <a:pPr eaLnBrk="1" hangingPunct="1">
              <a:lnSpc>
                <a:spcPct val="100000"/>
              </a:lnSpc>
              <a:spcBef>
                <a:spcPct val="0"/>
              </a:spcBef>
              <a:buFontTx/>
              <a:buNone/>
            </a:pPr>
            <a:r>
              <a:rPr lang="en-US" altLang="en-US" sz="1600" b="1">
                <a:latin typeface="Arial" panose="020B0604020202020204" pitchFamily="34" charset="0"/>
              </a:rPr>
              <a:t>  6</a:t>
            </a:r>
          </a:p>
          <a:p>
            <a:pPr eaLnBrk="1" hangingPunct="1">
              <a:lnSpc>
                <a:spcPct val="100000"/>
              </a:lnSpc>
              <a:spcBef>
                <a:spcPct val="0"/>
              </a:spcBef>
              <a:buFontTx/>
              <a:buNone/>
            </a:pPr>
            <a:r>
              <a:rPr lang="en-US" altLang="en-US" sz="1600" b="1">
                <a:latin typeface="Arial" panose="020B0604020202020204" pitchFamily="34" charset="0"/>
              </a:rPr>
              <a:t>  4</a:t>
            </a:r>
          </a:p>
          <a:p>
            <a:pPr eaLnBrk="1" hangingPunct="1">
              <a:lnSpc>
                <a:spcPct val="100000"/>
              </a:lnSpc>
              <a:spcBef>
                <a:spcPct val="0"/>
              </a:spcBef>
              <a:buFontTx/>
              <a:buNone/>
            </a:pPr>
            <a:r>
              <a:rPr lang="en-US" altLang="en-US" sz="1600" b="1">
                <a:latin typeface="Arial" panose="020B0604020202020204" pitchFamily="34" charset="0"/>
              </a:rPr>
              <a:t>  2</a:t>
            </a:r>
          </a:p>
          <a:p>
            <a:pPr eaLnBrk="1" hangingPunct="1">
              <a:lnSpc>
                <a:spcPct val="100000"/>
              </a:lnSpc>
              <a:spcBef>
                <a:spcPct val="0"/>
              </a:spcBef>
              <a:buFontTx/>
              <a:buNone/>
            </a:pPr>
            <a:r>
              <a:rPr lang="en-US" altLang="en-US" sz="1600" b="1">
                <a:latin typeface="Arial" panose="020B0604020202020204" pitchFamily="34" charset="0"/>
              </a:rPr>
              <a:t>  0</a:t>
            </a:r>
          </a:p>
          <a:p>
            <a:pPr eaLnBrk="1" hangingPunct="1">
              <a:lnSpc>
                <a:spcPct val="100000"/>
              </a:lnSpc>
              <a:spcBef>
                <a:spcPct val="0"/>
              </a:spcBef>
              <a:buFontTx/>
              <a:buNone/>
            </a:pPr>
            <a:r>
              <a:rPr lang="en-US" altLang="en-US" sz="1600" b="1">
                <a:latin typeface="Arial" panose="020B0604020202020204" pitchFamily="34" charset="0"/>
              </a:rPr>
              <a:t> -2</a:t>
            </a:r>
          </a:p>
        </p:txBody>
      </p:sp>
      <p:sp>
        <p:nvSpPr>
          <p:cNvPr id="14355" name="Oval 19">
            <a:extLst>
              <a:ext uri="{FF2B5EF4-FFF2-40B4-BE49-F238E27FC236}">
                <a16:creationId xmlns:a16="http://schemas.microsoft.com/office/drawing/2014/main" id="{1D5B3A8C-2864-67EB-4B3A-930E53531632}"/>
              </a:ext>
            </a:extLst>
          </p:cNvPr>
          <p:cNvSpPr>
            <a:spLocks noChangeArrowheads="1"/>
          </p:cNvSpPr>
          <p:nvPr/>
        </p:nvSpPr>
        <p:spPr bwMode="auto">
          <a:xfrm>
            <a:off x="7040563" y="246380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nvGrpSpPr>
          <p:cNvPr id="14356" name="Group 20">
            <a:extLst>
              <a:ext uri="{FF2B5EF4-FFF2-40B4-BE49-F238E27FC236}">
                <a16:creationId xmlns:a16="http://schemas.microsoft.com/office/drawing/2014/main" id="{5FE3B983-AC2C-7E00-D5B9-BC0C8F0C5E3F}"/>
              </a:ext>
            </a:extLst>
          </p:cNvPr>
          <p:cNvGrpSpPr>
            <a:grpSpLocks/>
          </p:cNvGrpSpPr>
          <p:nvPr/>
        </p:nvGrpSpPr>
        <p:grpSpPr bwMode="auto">
          <a:xfrm>
            <a:off x="6765925" y="693738"/>
            <a:ext cx="3317875" cy="3016250"/>
            <a:chOff x="3126" y="593"/>
            <a:chExt cx="2090" cy="1900"/>
          </a:xfrm>
        </p:grpSpPr>
        <p:sp>
          <p:nvSpPr>
            <p:cNvPr id="23574" name="Line 21">
              <a:extLst>
                <a:ext uri="{FF2B5EF4-FFF2-40B4-BE49-F238E27FC236}">
                  <a16:creationId xmlns:a16="http://schemas.microsoft.com/office/drawing/2014/main" id="{0D35F80C-A75C-AA2B-F9AB-A967F1C2723D}"/>
                </a:ext>
              </a:extLst>
            </p:cNvPr>
            <p:cNvSpPr>
              <a:spLocks noChangeShapeType="1"/>
            </p:cNvSpPr>
            <p:nvPr/>
          </p:nvSpPr>
          <p:spPr bwMode="auto">
            <a:xfrm>
              <a:off x="3143" y="593"/>
              <a:ext cx="0" cy="19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3575" name="Line 22">
              <a:extLst>
                <a:ext uri="{FF2B5EF4-FFF2-40B4-BE49-F238E27FC236}">
                  <a16:creationId xmlns:a16="http://schemas.microsoft.com/office/drawing/2014/main" id="{4D6BFDD0-B6E3-189E-B120-1DAFC9B41068}"/>
                </a:ext>
              </a:extLst>
            </p:cNvPr>
            <p:cNvSpPr>
              <a:spLocks noChangeShapeType="1"/>
            </p:cNvSpPr>
            <p:nvPr/>
          </p:nvSpPr>
          <p:spPr bwMode="auto">
            <a:xfrm>
              <a:off x="3126" y="248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14359" name="Oval 23">
            <a:extLst>
              <a:ext uri="{FF2B5EF4-FFF2-40B4-BE49-F238E27FC236}">
                <a16:creationId xmlns:a16="http://schemas.microsoft.com/office/drawing/2014/main" id="{05E7434C-064D-3456-9849-5CD88F23DAAF}"/>
              </a:ext>
            </a:extLst>
          </p:cNvPr>
          <p:cNvSpPr>
            <a:spLocks noChangeArrowheads="1"/>
          </p:cNvSpPr>
          <p:nvPr/>
        </p:nvSpPr>
        <p:spPr bwMode="auto">
          <a:xfrm>
            <a:off x="4441825" y="2403475"/>
            <a:ext cx="663575" cy="663575"/>
          </a:xfrm>
          <a:prstGeom prst="ellipse">
            <a:avLst/>
          </a:prstGeom>
          <a:noFill/>
          <a:ln w="57150">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14360" name="Line 24">
            <a:extLst>
              <a:ext uri="{FF2B5EF4-FFF2-40B4-BE49-F238E27FC236}">
                <a16:creationId xmlns:a16="http://schemas.microsoft.com/office/drawing/2014/main" id="{B838D50E-CC5C-0273-F91A-6BCCAAFD12C7}"/>
              </a:ext>
            </a:extLst>
          </p:cNvPr>
          <p:cNvSpPr>
            <a:spLocks noChangeShapeType="1"/>
          </p:cNvSpPr>
          <p:nvPr/>
        </p:nvSpPr>
        <p:spPr bwMode="auto">
          <a:xfrm flipV="1">
            <a:off x="5118100" y="2555875"/>
            <a:ext cx="1879600" cy="149225"/>
          </a:xfrm>
          <a:prstGeom prst="line">
            <a:avLst/>
          </a:prstGeom>
          <a:noFill/>
          <a:ln w="5715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4361" name="Rectangle 25">
            <a:extLst>
              <a:ext uri="{FF2B5EF4-FFF2-40B4-BE49-F238E27FC236}">
                <a16:creationId xmlns:a16="http://schemas.microsoft.com/office/drawing/2014/main" id="{89699F12-E515-4046-078C-61D4CE10D495}"/>
              </a:ext>
            </a:extLst>
          </p:cNvPr>
          <p:cNvSpPr>
            <a:spLocks noChangeArrowheads="1"/>
          </p:cNvSpPr>
          <p:nvPr/>
        </p:nvSpPr>
        <p:spPr bwMode="auto">
          <a:xfrm>
            <a:off x="6635750" y="3673475"/>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0       1       2       3       4       5       6       7</a:t>
            </a:r>
          </a:p>
        </p:txBody>
      </p:sp>
      <p:sp>
        <p:nvSpPr>
          <p:cNvPr id="14362" name="Rectangle 26">
            <a:extLst>
              <a:ext uri="{FF2B5EF4-FFF2-40B4-BE49-F238E27FC236}">
                <a16:creationId xmlns:a16="http://schemas.microsoft.com/office/drawing/2014/main" id="{B351BEEC-9169-BE81-1F87-A237D654F919}"/>
              </a:ext>
            </a:extLst>
          </p:cNvPr>
          <p:cNvSpPr>
            <a:spLocks noChangeArrowheads="1"/>
          </p:cNvSpPr>
          <p:nvPr/>
        </p:nvSpPr>
        <p:spPr bwMode="auto">
          <a:xfrm>
            <a:off x="6607175" y="6064250"/>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         1       2       3       4       5       6       7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4342"/>
                                        </p:tgtEl>
                                        <p:attrNameLst>
                                          <p:attrName>style.visibility</p:attrName>
                                        </p:attrNameLst>
                                      </p:cBhvr>
                                      <p:to>
                                        <p:strVal val="visible"/>
                                      </p:to>
                                    </p:set>
                                    <p:animEffect transition="in" filter="wipe(left)">
                                      <p:cBhvr>
                                        <p:cTn id="7" dur="500"/>
                                        <p:tgtEl>
                                          <p:spTgt spid="14342"/>
                                        </p:tgtEl>
                                      </p:cBhvr>
                                    </p:animEffect>
                                  </p:childTnLst>
                                </p:cTn>
                              </p:par>
                            </p:childTnLst>
                          </p:cTn>
                        </p:par>
                        <p:par>
                          <p:cTn id="8" fill="hold" nodeType="afterGroup">
                            <p:stCondLst>
                              <p:cond delay="500"/>
                            </p:stCondLst>
                            <p:childTnLst>
                              <p:par>
                                <p:cTn id="9" presetID="16" presetClass="entr" presetSubtype="42" fill="hold" nodeType="afterEffect">
                                  <p:stCondLst>
                                    <p:cond delay="0"/>
                                  </p:stCondLst>
                                  <p:childTnLst>
                                    <p:set>
                                      <p:cBhvr>
                                        <p:cTn id="10" dur="1" fill="hold">
                                          <p:stCondLst>
                                            <p:cond delay="0"/>
                                          </p:stCondLst>
                                        </p:cTn>
                                        <p:tgtEl>
                                          <p:spTgt spid="14343"/>
                                        </p:tgtEl>
                                        <p:attrNameLst>
                                          <p:attrName>style.visibility</p:attrName>
                                        </p:attrNameLst>
                                      </p:cBhvr>
                                      <p:to>
                                        <p:strVal val="visible"/>
                                      </p:to>
                                    </p:set>
                                    <p:animEffect transition="in" filter="barn(outHorizontal)">
                                      <p:cBhvr>
                                        <p:cTn id="11" dur="500"/>
                                        <p:tgtEl>
                                          <p:spTgt spid="14343"/>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4344"/>
                                        </p:tgtEl>
                                        <p:attrNameLst>
                                          <p:attrName>style.visibility</p:attrName>
                                        </p:attrNameLst>
                                      </p:cBhvr>
                                      <p:to>
                                        <p:strVal val="visible"/>
                                      </p:to>
                                    </p:set>
                                    <p:animEffect transition="in" filter="wipe(up)">
                                      <p:cBhvr>
                                        <p:cTn id="15" dur="500"/>
                                        <p:tgtEl>
                                          <p:spTgt spid="14344"/>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4345"/>
                                        </p:tgtEl>
                                        <p:attrNameLst>
                                          <p:attrName>style.visibility</p:attrName>
                                        </p:attrNameLst>
                                      </p:cBhvr>
                                      <p:to>
                                        <p:strVal val="visible"/>
                                      </p:to>
                                    </p:set>
                                    <p:animEffect transition="in" filter="wipe(up)">
                                      <p:cBhvr>
                                        <p:cTn id="19" dur="500"/>
                                        <p:tgtEl>
                                          <p:spTgt spid="14345"/>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14346"/>
                                        </p:tgtEl>
                                        <p:attrNameLst>
                                          <p:attrName>style.visibility</p:attrName>
                                        </p:attrNameLst>
                                      </p:cBhvr>
                                      <p:to>
                                        <p:strVal val="visible"/>
                                      </p:to>
                                    </p:set>
                                    <p:animEffect transition="in" filter="wipe(up)">
                                      <p:cBhvr>
                                        <p:cTn id="23" dur="500"/>
                                        <p:tgtEl>
                                          <p:spTgt spid="14346"/>
                                        </p:tgtEl>
                                      </p:cBhvr>
                                    </p:animEffect>
                                  </p:childTnLst>
                                </p:cTn>
                              </p:par>
                            </p:childTnLst>
                          </p:cTn>
                        </p:par>
                        <p:par>
                          <p:cTn id="24" fill="hold" nodeType="afterGroup">
                            <p:stCondLst>
                              <p:cond delay="2500"/>
                            </p:stCondLst>
                            <p:childTnLst>
                              <p:par>
                                <p:cTn id="25" presetID="9" presetClass="entr" presetSubtype="0" fill="hold" nodeType="afterEffect">
                                  <p:stCondLst>
                                    <p:cond delay="0"/>
                                  </p:stCondLst>
                                  <p:childTnLst>
                                    <p:set>
                                      <p:cBhvr>
                                        <p:cTn id="26" dur="1" fill="hold">
                                          <p:stCondLst>
                                            <p:cond delay="0"/>
                                          </p:stCondLst>
                                        </p:cTn>
                                        <p:tgtEl>
                                          <p:spTgt spid="14356"/>
                                        </p:tgtEl>
                                        <p:attrNameLst>
                                          <p:attrName>style.visibility</p:attrName>
                                        </p:attrNameLst>
                                      </p:cBhvr>
                                      <p:to>
                                        <p:strVal val="visible"/>
                                      </p:to>
                                    </p:set>
                                    <p:animEffect transition="in" filter="dissolve">
                                      <p:cBhvr>
                                        <p:cTn id="27" dur="500"/>
                                        <p:tgtEl>
                                          <p:spTgt spid="14356"/>
                                        </p:tgtEl>
                                      </p:cBhvr>
                                    </p:animEffect>
                                  </p:childTnLst>
                                </p:cTn>
                              </p:par>
                            </p:childTnLst>
                          </p:cTn>
                        </p:par>
                        <p:par>
                          <p:cTn id="28" fill="hold" nodeType="afterGroup">
                            <p:stCondLst>
                              <p:cond delay="3000"/>
                            </p:stCondLst>
                            <p:childTnLst>
                              <p:par>
                                <p:cTn id="29" presetID="9" presetClass="entr" presetSubtype="0" fill="hold" nodeType="afterEffect">
                                  <p:stCondLst>
                                    <p:cond delay="0"/>
                                  </p:stCondLst>
                                  <p:childTnLst>
                                    <p:set>
                                      <p:cBhvr>
                                        <p:cTn id="30" dur="1" fill="hold">
                                          <p:stCondLst>
                                            <p:cond delay="0"/>
                                          </p:stCondLst>
                                        </p:cTn>
                                        <p:tgtEl>
                                          <p:spTgt spid="14338"/>
                                        </p:tgtEl>
                                        <p:attrNameLst>
                                          <p:attrName>style.visibility</p:attrName>
                                        </p:attrNameLst>
                                      </p:cBhvr>
                                      <p:to>
                                        <p:strVal val="visible"/>
                                      </p:to>
                                    </p:set>
                                    <p:animEffect transition="in" filter="dissolve">
                                      <p:cBhvr>
                                        <p:cTn id="31" dur="500"/>
                                        <p:tgtEl>
                                          <p:spTgt spid="14338"/>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14349"/>
                                        </p:tgtEl>
                                        <p:attrNameLst>
                                          <p:attrName>style.visibility</p:attrName>
                                        </p:attrNameLst>
                                      </p:cBhvr>
                                      <p:to>
                                        <p:strVal val="visible"/>
                                      </p:to>
                                    </p:set>
                                    <p:animEffect transition="in" filter="wipe(left)">
                                      <p:cBhvr>
                                        <p:cTn id="35" dur="500"/>
                                        <p:tgtEl>
                                          <p:spTgt spid="14349"/>
                                        </p:tgtEl>
                                      </p:cBhvr>
                                    </p:animEffect>
                                  </p:childTnLst>
                                </p:cTn>
                              </p:par>
                            </p:childTnLst>
                          </p:cTn>
                        </p:par>
                        <p:par>
                          <p:cTn id="36" fill="hold" nodeType="afterGroup">
                            <p:stCondLst>
                              <p:cond delay="4000"/>
                            </p:stCondLst>
                            <p:childTnLst>
                              <p:par>
                                <p:cTn id="37" presetID="22" presetClass="entr" presetSubtype="8" fill="hold" nodeType="afterEffect">
                                  <p:stCondLst>
                                    <p:cond delay="0"/>
                                  </p:stCondLst>
                                  <p:childTnLst>
                                    <p:set>
                                      <p:cBhvr>
                                        <p:cTn id="38" dur="1" fill="hold">
                                          <p:stCondLst>
                                            <p:cond delay="0"/>
                                          </p:stCondLst>
                                        </p:cTn>
                                        <p:tgtEl>
                                          <p:spTgt spid="14350"/>
                                        </p:tgtEl>
                                        <p:attrNameLst>
                                          <p:attrName>style.visibility</p:attrName>
                                        </p:attrNameLst>
                                      </p:cBhvr>
                                      <p:to>
                                        <p:strVal val="visible"/>
                                      </p:to>
                                    </p:set>
                                    <p:animEffect transition="in" filter="wipe(left)">
                                      <p:cBhvr>
                                        <p:cTn id="39" dur="500"/>
                                        <p:tgtEl>
                                          <p:spTgt spid="14350"/>
                                        </p:tgtEl>
                                      </p:cBhvr>
                                    </p:animEffect>
                                  </p:childTnLst>
                                </p:cTn>
                              </p:par>
                            </p:childTnLst>
                          </p:cTn>
                        </p:par>
                        <p:par>
                          <p:cTn id="40" fill="hold" nodeType="afterGroup">
                            <p:stCondLst>
                              <p:cond delay="4500"/>
                            </p:stCondLst>
                            <p:childTnLst>
                              <p:par>
                                <p:cTn id="41" presetID="22" presetClass="entr" presetSubtype="4" fill="hold" nodeType="afterEffect">
                                  <p:stCondLst>
                                    <p:cond delay="0"/>
                                  </p:stCondLst>
                                  <p:childTnLst>
                                    <p:set>
                                      <p:cBhvr>
                                        <p:cTn id="42" dur="1" fill="hold">
                                          <p:stCondLst>
                                            <p:cond delay="0"/>
                                          </p:stCondLst>
                                        </p:cTn>
                                        <p:tgtEl>
                                          <p:spTgt spid="14351"/>
                                        </p:tgtEl>
                                        <p:attrNameLst>
                                          <p:attrName>style.visibility</p:attrName>
                                        </p:attrNameLst>
                                      </p:cBhvr>
                                      <p:to>
                                        <p:strVal val="visible"/>
                                      </p:to>
                                    </p:set>
                                    <p:animEffect transition="in" filter="wipe(down)">
                                      <p:cBhvr>
                                        <p:cTn id="43" dur="500"/>
                                        <p:tgtEl>
                                          <p:spTgt spid="14351"/>
                                        </p:tgtEl>
                                      </p:cBhvr>
                                    </p:animEffect>
                                  </p:childTnLst>
                                </p:cTn>
                              </p:par>
                            </p:childTnLst>
                          </p:cTn>
                        </p:par>
                        <p:par>
                          <p:cTn id="44" fill="hold" nodeType="afterGroup">
                            <p:stCondLst>
                              <p:cond delay="5000"/>
                            </p:stCondLst>
                            <p:childTnLst>
                              <p:par>
                                <p:cTn id="45" presetID="22" presetClass="entr" presetSubtype="4" fill="hold" nodeType="afterEffect">
                                  <p:stCondLst>
                                    <p:cond delay="0"/>
                                  </p:stCondLst>
                                  <p:childTnLst>
                                    <p:set>
                                      <p:cBhvr>
                                        <p:cTn id="46" dur="1" fill="hold">
                                          <p:stCondLst>
                                            <p:cond delay="0"/>
                                          </p:stCondLst>
                                        </p:cTn>
                                        <p:tgtEl>
                                          <p:spTgt spid="14352"/>
                                        </p:tgtEl>
                                        <p:attrNameLst>
                                          <p:attrName>style.visibility</p:attrName>
                                        </p:attrNameLst>
                                      </p:cBhvr>
                                      <p:to>
                                        <p:strVal val="visible"/>
                                      </p:to>
                                    </p:set>
                                    <p:animEffect transition="in" filter="wipe(down)">
                                      <p:cBhvr>
                                        <p:cTn id="47" dur="500"/>
                                        <p:tgtEl>
                                          <p:spTgt spid="14352"/>
                                        </p:tgtEl>
                                      </p:cBhvr>
                                    </p:animEffect>
                                  </p:childTnLst>
                                </p:cTn>
                              </p:par>
                            </p:childTnLst>
                          </p:cTn>
                        </p:par>
                        <p:par>
                          <p:cTn id="48" fill="hold" nodeType="afterGroup">
                            <p:stCondLst>
                              <p:cond delay="5500"/>
                            </p:stCondLst>
                            <p:childTnLst>
                              <p:par>
                                <p:cTn id="49" presetID="22" presetClass="entr" presetSubtype="4" fill="hold" nodeType="afterEffect">
                                  <p:stCondLst>
                                    <p:cond delay="0"/>
                                  </p:stCondLst>
                                  <p:childTnLst>
                                    <p:set>
                                      <p:cBhvr>
                                        <p:cTn id="50" dur="1" fill="hold">
                                          <p:stCondLst>
                                            <p:cond delay="0"/>
                                          </p:stCondLst>
                                        </p:cTn>
                                        <p:tgtEl>
                                          <p:spTgt spid="14353"/>
                                        </p:tgtEl>
                                        <p:attrNameLst>
                                          <p:attrName>style.visibility</p:attrName>
                                        </p:attrNameLst>
                                      </p:cBhvr>
                                      <p:to>
                                        <p:strVal val="visible"/>
                                      </p:to>
                                    </p:set>
                                    <p:animEffect transition="in" filter="wipe(down)">
                                      <p:cBhvr>
                                        <p:cTn id="51" dur="500"/>
                                        <p:tgtEl>
                                          <p:spTgt spid="14353"/>
                                        </p:tgtEl>
                                      </p:cBhvr>
                                    </p:animEffect>
                                  </p:childTnLst>
                                </p:cTn>
                              </p:par>
                            </p:childTnLst>
                          </p:cTn>
                        </p:par>
                        <p:par>
                          <p:cTn id="52" fill="hold" nodeType="afterGroup">
                            <p:stCondLst>
                              <p:cond delay="6000"/>
                            </p:stCondLst>
                            <p:childTnLst>
                              <p:par>
                                <p:cTn id="53" presetID="22" presetClass="entr" presetSubtype="4" fill="hold" nodeType="afterEffect">
                                  <p:stCondLst>
                                    <p:cond delay="0"/>
                                  </p:stCondLst>
                                  <p:childTnLst>
                                    <p:set>
                                      <p:cBhvr>
                                        <p:cTn id="54" dur="1" fill="hold">
                                          <p:stCondLst>
                                            <p:cond delay="0"/>
                                          </p:stCondLst>
                                        </p:cTn>
                                        <p:tgtEl>
                                          <p:spTgt spid="14354"/>
                                        </p:tgtEl>
                                        <p:attrNameLst>
                                          <p:attrName>style.visibility</p:attrName>
                                        </p:attrNameLst>
                                      </p:cBhvr>
                                      <p:to>
                                        <p:strVal val="visible"/>
                                      </p:to>
                                    </p:set>
                                    <p:animEffect transition="in" filter="wipe(down)">
                                      <p:cBhvr>
                                        <p:cTn id="55" dur="500"/>
                                        <p:tgtEl>
                                          <p:spTgt spid="14354"/>
                                        </p:tgtEl>
                                      </p:cBhvr>
                                    </p:animEffect>
                                  </p:childTnLst>
                                </p:cTn>
                              </p:par>
                            </p:childTnLst>
                          </p:cTn>
                        </p:par>
                        <p:par>
                          <p:cTn id="56" fill="hold" nodeType="afterGroup">
                            <p:stCondLst>
                              <p:cond delay="6500"/>
                            </p:stCondLst>
                            <p:childTnLst>
                              <p:par>
                                <p:cTn id="57" presetID="22" presetClass="entr" presetSubtype="8" fill="hold" nodeType="afterEffect">
                                  <p:stCondLst>
                                    <p:cond delay="0"/>
                                  </p:stCondLst>
                                  <p:childTnLst>
                                    <p:set>
                                      <p:cBhvr>
                                        <p:cTn id="58" dur="1" fill="hold">
                                          <p:stCondLst>
                                            <p:cond delay="0"/>
                                          </p:stCondLst>
                                        </p:cTn>
                                        <p:tgtEl>
                                          <p:spTgt spid="14361"/>
                                        </p:tgtEl>
                                        <p:attrNameLst>
                                          <p:attrName>style.visibility</p:attrName>
                                        </p:attrNameLst>
                                      </p:cBhvr>
                                      <p:to>
                                        <p:strVal val="visible"/>
                                      </p:to>
                                    </p:set>
                                    <p:animEffect transition="in" filter="wipe(left)">
                                      <p:cBhvr>
                                        <p:cTn id="59" dur="500"/>
                                        <p:tgtEl>
                                          <p:spTgt spid="14361"/>
                                        </p:tgtEl>
                                      </p:cBhvr>
                                    </p:animEffect>
                                  </p:childTnLst>
                                </p:cTn>
                              </p:par>
                            </p:childTnLst>
                          </p:cTn>
                        </p:par>
                        <p:par>
                          <p:cTn id="60" fill="hold" nodeType="afterGroup">
                            <p:stCondLst>
                              <p:cond delay="7000"/>
                            </p:stCondLst>
                            <p:childTnLst>
                              <p:par>
                                <p:cTn id="61" presetID="22" presetClass="entr" presetSubtype="8" fill="hold" nodeType="afterEffect">
                                  <p:stCondLst>
                                    <p:cond delay="0"/>
                                  </p:stCondLst>
                                  <p:childTnLst>
                                    <p:set>
                                      <p:cBhvr>
                                        <p:cTn id="62" dur="1" fill="hold">
                                          <p:stCondLst>
                                            <p:cond delay="0"/>
                                          </p:stCondLst>
                                        </p:cTn>
                                        <p:tgtEl>
                                          <p:spTgt spid="14362"/>
                                        </p:tgtEl>
                                        <p:attrNameLst>
                                          <p:attrName>style.visibility</p:attrName>
                                        </p:attrNameLst>
                                      </p:cBhvr>
                                      <p:to>
                                        <p:strVal val="visible"/>
                                      </p:to>
                                    </p:set>
                                    <p:animEffect transition="in" filter="wipe(left)">
                                      <p:cBhvr>
                                        <p:cTn id="63" dur="500"/>
                                        <p:tgtEl>
                                          <p:spTgt spid="14362"/>
                                        </p:tgtEl>
                                      </p:cBhvr>
                                    </p:animEffect>
                                  </p:childTnLst>
                                </p:cTn>
                              </p:par>
                            </p:childTnLst>
                          </p:cTn>
                        </p:par>
                        <p:par>
                          <p:cTn id="64" fill="hold" nodeType="afterGroup">
                            <p:stCondLst>
                              <p:cond delay="7500"/>
                            </p:stCondLst>
                            <p:childTnLst>
                              <p:par>
                                <p:cTn id="65" presetID="22" presetClass="entr" presetSubtype="1" fill="hold" nodeType="afterEffect">
                                  <p:stCondLst>
                                    <p:cond delay="0"/>
                                  </p:stCondLst>
                                  <p:childTnLst>
                                    <p:set>
                                      <p:cBhvr>
                                        <p:cTn id="66" dur="1" fill="hold">
                                          <p:stCondLst>
                                            <p:cond delay="0"/>
                                          </p:stCondLst>
                                        </p:cTn>
                                        <p:tgtEl>
                                          <p:spTgt spid="14347"/>
                                        </p:tgtEl>
                                        <p:attrNameLst>
                                          <p:attrName>style.visibility</p:attrName>
                                        </p:attrNameLst>
                                      </p:cBhvr>
                                      <p:to>
                                        <p:strVal val="visible"/>
                                      </p:to>
                                    </p:set>
                                    <p:animEffect transition="in" filter="wipe(up)">
                                      <p:cBhvr>
                                        <p:cTn id="67" dur="500"/>
                                        <p:tgtEl>
                                          <p:spTgt spid="14347"/>
                                        </p:tgtEl>
                                      </p:cBhvr>
                                    </p:animEffect>
                                  </p:childTnLst>
                                </p:cTn>
                              </p:par>
                            </p:childTnLst>
                          </p:cTn>
                        </p:par>
                        <p:par>
                          <p:cTn id="68" fill="hold" nodeType="afterGroup">
                            <p:stCondLst>
                              <p:cond delay="8000"/>
                            </p:stCondLst>
                            <p:childTnLst>
                              <p:par>
                                <p:cTn id="69" presetID="22" presetClass="entr" presetSubtype="1" fill="hold" nodeType="afterEffect">
                                  <p:stCondLst>
                                    <p:cond delay="0"/>
                                  </p:stCondLst>
                                  <p:childTnLst>
                                    <p:set>
                                      <p:cBhvr>
                                        <p:cTn id="70" dur="1" fill="hold">
                                          <p:stCondLst>
                                            <p:cond delay="0"/>
                                          </p:stCondLst>
                                        </p:cTn>
                                        <p:tgtEl>
                                          <p:spTgt spid="14348"/>
                                        </p:tgtEl>
                                        <p:attrNameLst>
                                          <p:attrName>style.visibility</p:attrName>
                                        </p:attrNameLst>
                                      </p:cBhvr>
                                      <p:to>
                                        <p:strVal val="visible"/>
                                      </p:to>
                                    </p:set>
                                    <p:animEffect transition="in" filter="wipe(up)">
                                      <p:cBhvr>
                                        <p:cTn id="71" dur="500"/>
                                        <p:tgtEl>
                                          <p:spTgt spid="1434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nodeType="clickEffect">
                                  <p:stCondLst>
                                    <p:cond delay="0"/>
                                  </p:stCondLst>
                                  <p:childTnLst>
                                    <p:set>
                                      <p:cBhvr>
                                        <p:cTn id="75" dur="1" fill="hold">
                                          <p:stCondLst>
                                            <p:cond delay="0"/>
                                          </p:stCondLst>
                                        </p:cTn>
                                        <p:tgtEl>
                                          <p:spTgt spid="14359"/>
                                        </p:tgtEl>
                                        <p:attrNameLst>
                                          <p:attrName>style.visibility</p:attrName>
                                        </p:attrNameLst>
                                      </p:cBhvr>
                                      <p:to>
                                        <p:strVal val="visible"/>
                                      </p:to>
                                    </p:set>
                                    <p:animEffect transition="in" filter="dissolve">
                                      <p:cBhvr>
                                        <p:cTn id="76" dur="500"/>
                                        <p:tgtEl>
                                          <p:spTgt spid="14359"/>
                                        </p:tgtEl>
                                      </p:cBhvr>
                                    </p:animEffect>
                                  </p:childTnLst>
                                </p:cTn>
                              </p:par>
                            </p:childTnLst>
                          </p:cTn>
                        </p:par>
                        <p:par>
                          <p:cTn id="77" fill="hold" nodeType="afterGroup">
                            <p:stCondLst>
                              <p:cond delay="500"/>
                            </p:stCondLst>
                            <p:childTnLst>
                              <p:par>
                                <p:cTn id="78" presetID="22" presetClass="entr" presetSubtype="8" fill="hold" nodeType="afterEffect">
                                  <p:stCondLst>
                                    <p:cond delay="0"/>
                                  </p:stCondLst>
                                  <p:childTnLst>
                                    <p:set>
                                      <p:cBhvr>
                                        <p:cTn id="79" dur="1" fill="hold">
                                          <p:stCondLst>
                                            <p:cond delay="0"/>
                                          </p:stCondLst>
                                        </p:cTn>
                                        <p:tgtEl>
                                          <p:spTgt spid="14341"/>
                                        </p:tgtEl>
                                        <p:attrNameLst>
                                          <p:attrName>style.visibility</p:attrName>
                                        </p:attrNameLst>
                                      </p:cBhvr>
                                      <p:to>
                                        <p:strVal val="visible"/>
                                      </p:to>
                                    </p:set>
                                    <p:animEffect transition="in" filter="wipe(left)">
                                      <p:cBhvr>
                                        <p:cTn id="80" dur="500"/>
                                        <p:tgtEl>
                                          <p:spTgt spid="14341"/>
                                        </p:tgtEl>
                                      </p:cBhvr>
                                    </p:animEffect>
                                  </p:childTnLst>
                                </p:cTn>
                              </p:par>
                            </p:childTnLst>
                          </p:cTn>
                        </p:par>
                        <p:par>
                          <p:cTn id="81" fill="hold" nodeType="afterGroup">
                            <p:stCondLst>
                              <p:cond delay="1000"/>
                            </p:stCondLst>
                            <p:childTnLst>
                              <p:par>
                                <p:cTn id="82" presetID="22" presetClass="entr" presetSubtype="8" fill="hold" nodeType="afterEffect">
                                  <p:stCondLst>
                                    <p:cond delay="0"/>
                                  </p:stCondLst>
                                  <p:childTnLst>
                                    <p:set>
                                      <p:cBhvr>
                                        <p:cTn id="83" dur="1" fill="hold">
                                          <p:stCondLst>
                                            <p:cond delay="0"/>
                                          </p:stCondLst>
                                        </p:cTn>
                                        <p:tgtEl>
                                          <p:spTgt spid="14360"/>
                                        </p:tgtEl>
                                        <p:attrNameLst>
                                          <p:attrName>style.visibility</p:attrName>
                                        </p:attrNameLst>
                                      </p:cBhvr>
                                      <p:to>
                                        <p:strVal val="visible"/>
                                      </p:to>
                                    </p:set>
                                    <p:animEffect transition="in" filter="wipe(left)">
                                      <p:cBhvr>
                                        <p:cTn id="84" dur="500"/>
                                        <p:tgtEl>
                                          <p:spTgt spid="14360"/>
                                        </p:tgtEl>
                                      </p:cBhvr>
                                    </p:animEffect>
                                  </p:childTnLst>
                                </p:cTn>
                              </p:par>
                            </p:childTnLst>
                          </p:cTn>
                        </p:par>
                        <p:par>
                          <p:cTn id="85" fill="hold" nodeType="afterGroup">
                            <p:stCondLst>
                              <p:cond delay="1500"/>
                            </p:stCondLst>
                            <p:childTnLst>
                              <p:par>
                                <p:cTn id="86" presetID="9" presetClass="entr" presetSubtype="0" fill="hold" nodeType="afterEffect">
                                  <p:stCondLst>
                                    <p:cond delay="0"/>
                                  </p:stCondLst>
                                  <p:childTnLst>
                                    <p:set>
                                      <p:cBhvr>
                                        <p:cTn id="87" dur="1" fill="hold">
                                          <p:stCondLst>
                                            <p:cond delay="0"/>
                                          </p:stCondLst>
                                        </p:cTn>
                                        <p:tgtEl>
                                          <p:spTgt spid="14355"/>
                                        </p:tgtEl>
                                        <p:attrNameLst>
                                          <p:attrName>style.visibility</p:attrName>
                                        </p:attrNameLst>
                                      </p:cBhvr>
                                      <p:to>
                                        <p:strVal val="visible"/>
                                      </p:to>
                                    </p:set>
                                    <p:animEffect transition="in" filter="dissolve">
                                      <p:cBhvr>
                                        <p:cTn id="88" dur="500"/>
                                        <p:tgtEl>
                                          <p:spTgt spid="14355"/>
                                        </p:tgtEl>
                                      </p:cBhvr>
                                    </p:animEffect>
                                  </p:childTnLst>
                                  <p:subTnLst>
                                    <p:audio>
                                      <p:cMediaNode>
                                        <p:cTn display="0" masterRel="sameClick">
                                          <p:stCondLst>
                                            <p:cond evt="begin" delay="0">
                                              <p:tn val="86"/>
                                            </p:cond>
                                          </p:stCondLst>
                                          <p:endCondLst>
                                            <p:cond evt="onStopAudio" delay="0">
                                              <p:tgtEl>
                                                <p:sldTgt/>
                                              </p:tgtEl>
                                            </p:cond>
                                          </p:endCondLst>
                                        </p:cTn>
                                        <p:tgtEl>
                                          <p:sndTgt r:embed="rId2" name="DIN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autoUpdateAnimBg="0"/>
      <p:bldP spid="14344" grpId="0" autoUpdateAnimBg="0"/>
      <p:bldP spid="14345" grpId="0" autoUpdateAnimBg="0"/>
      <p:bldP spid="14346" grpId="0" autoUpdateAnimBg="0"/>
      <p:bldP spid="14347" grpId="0" autoUpdateAnimBg="0"/>
      <p:bldP spid="14348" grpId="0" autoUpdateAnimBg="0"/>
      <p:bldP spid="14349" grpId="0" autoUpdateAnimBg="0"/>
      <p:bldP spid="14350" grpId="0" autoUpdateAnimBg="0"/>
      <p:bldP spid="14351" grpId="0" autoUpdateAnimBg="0"/>
      <p:bldP spid="14352" grpId="0" autoUpdateAnimBg="0"/>
      <p:bldP spid="14353" grpId="0" autoUpdateAnimBg="0"/>
      <p:bldP spid="14354" grpId="0" autoUpdateAnimBg="0"/>
      <p:bldP spid="14361" grpId="0" autoUpdateAnimBg="0"/>
      <p:bldP spid="14362"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7" name="Group 2">
            <a:extLst>
              <a:ext uri="{FF2B5EF4-FFF2-40B4-BE49-F238E27FC236}">
                <a16:creationId xmlns:a16="http://schemas.microsoft.com/office/drawing/2014/main" id="{222A48F8-9DEE-8080-F2A9-0755B77FE874}"/>
              </a:ext>
            </a:extLst>
          </p:cNvPr>
          <p:cNvGrpSpPr>
            <a:grpSpLocks/>
          </p:cNvGrpSpPr>
          <p:nvPr/>
        </p:nvGrpSpPr>
        <p:grpSpPr bwMode="auto">
          <a:xfrm>
            <a:off x="6802438" y="4286250"/>
            <a:ext cx="3328987" cy="2019300"/>
            <a:chOff x="3149" y="2820"/>
            <a:chExt cx="2097" cy="1272"/>
          </a:xfrm>
        </p:grpSpPr>
        <p:sp>
          <p:nvSpPr>
            <p:cNvPr id="24603" name="Line 3">
              <a:extLst>
                <a:ext uri="{FF2B5EF4-FFF2-40B4-BE49-F238E27FC236}">
                  <a16:creationId xmlns:a16="http://schemas.microsoft.com/office/drawing/2014/main" id="{D7C37A9E-4CC9-1050-ADEE-42F4D0E92386}"/>
                </a:ext>
              </a:extLst>
            </p:cNvPr>
            <p:cNvSpPr>
              <a:spLocks noChangeShapeType="1"/>
            </p:cNvSpPr>
            <p:nvPr/>
          </p:nvSpPr>
          <p:spPr bwMode="auto">
            <a:xfrm>
              <a:off x="3149" y="2820"/>
              <a:ext cx="0" cy="127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4604" name="Line 4">
              <a:extLst>
                <a:ext uri="{FF2B5EF4-FFF2-40B4-BE49-F238E27FC236}">
                  <a16:creationId xmlns:a16="http://schemas.microsoft.com/office/drawing/2014/main" id="{4E439599-A772-0670-09D3-CBDF366C3E6D}"/>
                </a:ext>
              </a:extLst>
            </p:cNvPr>
            <p:cNvSpPr>
              <a:spLocks noChangeShapeType="1"/>
            </p:cNvSpPr>
            <p:nvPr/>
          </p:nvSpPr>
          <p:spPr bwMode="auto">
            <a:xfrm>
              <a:off x="3156" y="366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pic>
        <p:nvPicPr>
          <p:cNvPr id="24578" name="Picture 5">
            <a:extLst>
              <a:ext uri="{FF2B5EF4-FFF2-40B4-BE49-F238E27FC236}">
                <a16:creationId xmlns:a16="http://schemas.microsoft.com/office/drawing/2014/main" id="{E514C164-A587-C3ED-6BC2-7C462596EB83}"/>
              </a:ext>
            </a:extLst>
          </p:cNvPr>
          <p:cNvPicPr>
            <a:picLocks noChangeArrowheads="1"/>
          </p:cNvPicPr>
          <p:nvPr/>
        </p:nvPicPr>
        <p:blipFill>
          <a:blip r:embed="rId3">
            <a:extLst>
              <a:ext uri="{28A0092B-C50C-407E-A947-70E740481C1C}">
                <a14:useLocalDpi xmlns:a14="http://schemas.microsoft.com/office/drawing/2010/main" val="0"/>
              </a:ext>
            </a:extLst>
          </a:blip>
          <a:srcRect r="89015" b="50426"/>
          <a:stretch>
            <a:fillRect/>
          </a:stretch>
        </p:blipFill>
        <p:spPr bwMode="auto">
          <a:xfrm>
            <a:off x="6754813" y="1179513"/>
            <a:ext cx="400050" cy="249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79" name="Rectangle 6">
            <a:extLst>
              <a:ext uri="{FF2B5EF4-FFF2-40B4-BE49-F238E27FC236}">
                <a16:creationId xmlns:a16="http://schemas.microsoft.com/office/drawing/2014/main" id="{2A845F30-E7FA-3844-4958-0C6CECC4CFC4}"/>
              </a:ext>
            </a:extLst>
          </p:cNvPr>
          <p:cNvSpPr>
            <a:spLocks noChangeArrowheads="1"/>
          </p:cNvSpPr>
          <p:nvPr/>
        </p:nvSpPr>
        <p:spPr bwMode="auto">
          <a:xfrm>
            <a:off x="3365500" y="34925"/>
            <a:ext cx="71723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400" b="1">
                <a:solidFill>
                  <a:srgbClr val="000099"/>
                </a:solidFill>
                <a:latin typeface="Times New Roman" panose="02020603050405020304" pitchFamily="18" charset="0"/>
              </a:rPr>
              <a:t>TOTAL AND MARGINAL UTILITY</a:t>
            </a:r>
          </a:p>
        </p:txBody>
      </p:sp>
      <p:sp>
        <p:nvSpPr>
          <p:cNvPr id="24580" name="Line 7">
            <a:extLst>
              <a:ext uri="{FF2B5EF4-FFF2-40B4-BE49-F238E27FC236}">
                <a16:creationId xmlns:a16="http://schemas.microsoft.com/office/drawing/2014/main" id="{C1A42E56-3A2C-71F3-8F56-F5419285CD3D}"/>
              </a:ext>
            </a:extLst>
          </p:cNvPr>
          <p:cNvSpPr>
            <a:spLocks noChangeShapeType="1"/>
          </p:cNvSpPr>
          <p:nvPr/>
        </p:nvSpPr>
        <p:spPr bwMode="auto">
          <a:xfrm>
            <a:off x="3357563" y="1733550"/>
            <a:ext cx="28098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4581" name="Rectangle 9">
            <a:extLst>
              <a:ext uri="{FF2B5EF4-FFF2-40B4-BE49-F238E27FC236}">
                <a16:creationId xmlns:a16="http://schemas.microsoft.com/office/drawing/2014/main" id="{4A0A9ABD-96BC-D3DF-0B3F-D4D03BBC647E}"/>
              </a:ext>
            </a:extLst>
          </p:cNvPr>
          <p:cNvSpPr>
            <a:spLocks noChangeArrowheads="1"/>
          </p:cNvSpPr>
          <p:nvPr/>
        </p:nvSpPr>
        <p:spPr bwMode="auto">
          <a:xfrm>
            <a:off x="4408488" y="765175"/>
            <a:ext cx="8794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Total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4582" name="Rectangle 10">
            <a:extLst>
              <a:ext uri="{FF2B5EF4-FFF2-40B4-BE49-F238E27FC236}">
                <a16:creationId xmlns:a16="http://schemas.microsoft.com/office/drawing/2014/main" id="{3560A259-D849-DF30-6C27-21125B07817F}"/>
              </a:ext>
            </a:extLst>
          </p:cNvPr>
          <p:cNvSpPr>
            <a:spLocks noChangeArrowheads="1"/>
          </p:cNvSpPr>
          <p:nvPr/>
        </p:nvSpPr>
        <p:spPr bwMode="auto">
          <a:xfrm>
            <a:off x="5218113" y="765175"/>
            <a:ext cx="11303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Marginal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4583" name="Rectangle 11">
            <a:extLst>
              <a:ext uri="{FF2B5EF4-FFF2-40B4-BE49-F238E27FC236}">
                <a16:creationId xmlns:a16="http://schemas.microsoft.com/office/drawing/2014/main" id="{FB63B8DA-A6BE-9A55-F92D-B9B810318171}"/>
              </a:ext>
            </a:extLst>
          </p:cNvPr>
          <p:cNvSpPr>
            <a:spLocks noChangeArrowheads="1"/>
          </p:cNvSpPr>
          <p:nvPr/>
        </p:nvSpPr>
        <p:spPr bwMode="auto">
          <a:xfrm>
            <a:off x="3644900" y="1885950"/>
            <a:ext cx="387350" cy="11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0</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1</a:t>
            </a:r>
          </a:p>
        </p:txBody>
      </p:sp>
      <p:sp>
        <p:nvSpPr>
          <p:cNvPr id="24584" name="Rectangle 12">
            <a:extLst>
              <a:ext uri="{FF2B5EF4-FFF2-40B4-BE49-F238E27FC236}">
                <a16:creationId xmlns:a16="http://schemas.microsoft.com/office/drawing/2014/main" id="{F719015C-3EAE-4992-7B7A-6D574B59A6B4}"/>
              </a:ext>
            </a:extLst>
          </p:cNvPr>
          <p:cNvSpPr>
            <a:spLocks noChangeArrowheads="1"/>
          </p:cNvSpPr>
          <p:nvPr/>
        </p:nvSpPr>
        <p:spPr bwMode="auto">
          <a:xfrm>
            <a:off x="4468813" y="1885950"/>
            <a:ext cx="593725" cy="11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  0</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10</a:t>
            </a:r>
          </a:p>
        </p:txBody>
      </p:sp>
      <p:sp>
        <p:nvSpPr>
          <p:cNvPr id="15373" name="AutoShape 13">
            <a:extLst>
              <a:ext uri="{FF2B5EF4-FFF2-40B4-BE49-F238E27FC236}">
                <a16:creationId xmlns:a16="http://schemas.microsoft.com/office/drawing/2014/main" id="{253EF700-9538-4DD1-6356-8A538AECFBF1}"/>
              </a:ext>
            </a:extLst>
          </p:cNvPr>
          <p:cNvSpPr>
            <a:spLocks noChangeArrowheads="1"/>
          </p:cNvSpPr>
          <p:nvPr/>
        </p:nvSpPr>
        <p:spPr bwMode="auto">
          <a:xfrm>
            <a:off x="5118100" y="22526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15374" name="Rectangle 14">
            <a:extLst>
              <a:ext uri="{FF2B5EF4-FFF2-40B4-BE49-F238E27FC236}">
                <a16:creationId xmlns:a16="http://schemas.microsoft.com/office/drawing/2014/main" id="{55F575DD-AE58-25FB-4899-E981A8068394}"/>
              </a:ext>
            </a:extLst>
          </p:cNvPr>
          <p:cNvSpPr>
            <a:spLocks noChangeArrowheads="1"/>
          </p:cNvSpPr>
          <p:nvPr/>
        </p:nvSpPr>
        <p:spPr bwMode="auto">
          <a:xfrm>
            <a:off x="5505450" y="2152650"/>
            <a:ext cx="59372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solidFill>
                  <a:srgbClr val="CC0000"/>
                </a:solidFill>
                <a:latin typeface="Arial Narrow" panose="020B0604020202020204" pitchFamily="34" charset="0"/>
              </a:rPr>
              <a:t>10</a:t>
            </a:r>
          </a:p>
        </p:txBody>
      </p:sp>
      <p:sp>
        <p:nvSpPr>
          <p:cNvPr id="24587" name="Rectangle 15">
            <a:extLst>
              <a:ext uri="{FF2B5EF4-FFF2-40B4-BE49-F238E27FC236}">
                <a16:creationId xmlns:a16="http://schemas.microsoft.com/office/drawing/2014/main" id="{F30B58AC-392D-81AC-EC1A-B9CDDB5A1B11}"/>
              </a:ext>
            </a:extLst>
          </p:cNvPr>
          <p:cNvSpPr>
            <a:spLocks noChangeArrowheads="1"/>
          </p:cNvSpPr>
          <p:nvPr/>
        </p:nvSpPr>
        <p:spPr bwMode="auto">
          <a:xfrm>
            <a:off x="7359650" y="4041775"/>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4588" name="Rectangle 16">
            <a:extLst>
              <a:ext uri="{FF2B5EF4-FFF2-40B4-BE49-F238E27FC236}">
                <a16:creationId xmlns:a16="http://schemas.microsoft.com/office/drawing/2014/main" id="{55495812-E205-E59A-C09D-17E3EC0563AE}"/>
              </a:ext>
            </a:extLst>
          </p:cNvPr>
          <p:cNvSpPr>
            <a:spLocks noChangeArrowheads="1"/>
          </p:cNvSpPr>
          <p:nvPr/>
        </p:nvSpPr>
        <p:spPr bwMode="auto">
          <a:xfrm>
            <a:off x="7369175" y="6199188"/>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4589" name="Rectangle 17">
            <a:extLst>
              <a:ext uri="{FF2B5EF4-FFF2-40B4-BE49-F238E27FC236}">
                <a16:creationId xmlns:a16="http://schemas.microsoft.com/office/drawing/2014/main" id="{1554CE58-4247-6388-DC80-6ED6E4A92550}"/>
              </a:ext>
            </a:extLst>
          </p:cNvPr>
          <p:cNvSpPr>
            <a:spLocks noChangeArrowheads="1"/>
          </p:cNvSpPr>
          <p:nvPr/>
        </p:nvSpPr>
        <p:spPr bwMode="auto">
          <a:xfrm>
            <a:off x="6434138" y="996950"/>
            <a:ext cx="411162"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30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20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10</a:t>
            </a:r>
          </a:p>
        </p:txBody>
      </p:sp>
      <p:sp>
        <p:nvSpPr>
          <p:cNvPr id="24590" name="Rectangle 18">
            <a:extLst>
              <a:ext uri="{FF2B5EF4-FFF2-40B4-BE49-F238E27FC236}">
                <a16:creationId xmlns:a16="http://schemas.microsoft.com/office/drawing/2014/main" id="{33B9CAC0-9422-63E0-4521-5CE2DE34388B}"/>
              </a:ext>
            </a:extLst>
          </p:cNvPr>
          <p:cNvSpPr>
            <a:spLocks noChangeArrowheads="1"/>
          </p:cNvSpPr>
          <p:nvPr/>
        </p:nvSpPr>
        <p:spPr bwMode="auto">
          <a:xfrm rot="-5400000">
            <a:off x="5553869" y="1897857"/>
            <a:ext cx="1677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Total Utility (utils)</a:t>
            </a:r>
          </a:p>
        </p:txBody>
      </p:sp>
      <p:sp>
        <p:nvSpPr>
          <p:cNvPr id="24591" name="Rectangle 19">
            <a:extLst>
              <a:ext uri="{FF2B5EF4-FFF2-40B4-BE49-F238E27FC236}">
                <a16:creationId xmlns:a16="http://schemas.microsoft.com/office/drawing/2014/main" id="{51735886-5721-E911-E969-78E236F0899E}"/>
              </a:ext>
            </a:extLst>
          </p:cNvPr>
          <p:cNvSpPr>
            <a:spLocks noChangeArrowheads="1"/>
          </p:cNvSpPr>
          <p:nvPr/>
        </p:nvSpPr>
        <p:spPr bwMode="auto">
          <a:xfrm rot="-5400000">
            <a:off x="5364163" y="4956175"/>
            <a:ext cx="2000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Marginal Utility (utils)</a:t>
            </a:r>
          </a:p>
        </p:txBody>
      </p:sp>
      <p:sp>
        <p:nvSpPr>
          <p:cNvPr id="24592" name="Rectangle 20">
            <a:extLst>
              <a:ext uri="{FF2B5EF4-FFF2-40B4-BE49-F238E27FC236}">
                <a16:creationId xmlns:a16="http://schemas.microsoft.com/office/drawing/2014/main" id="{05849A93-8942-C05F-148B-E4908F08B740}"/>
              </a:ext>
            </a:extLst>
          </p:cNvPr>
          <p:cNvSpPr>
            <a:spLocks noChangeArrowheads="1"/>
          </p:cNvSpPr>
          <p:nvPr/>
        </p:nvSpPr>
        <p:spPr bwMode="auto">
          <a:xfrm>
            <a:off x="6410325" y="4248150"/>
            <a:ext cx="423863"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10</a:t>
            </a:r>
          </a:p>
          <a:p>
            <a:pPr eaLnBrk="1" hangingPunct="1">
              <a:lnSpc>
                <a:spcPct val="100000"/>
              </a:lnSpc>
              <a:spcBef>
                <a:spcPct val="0"/>
              </a:spcBef>
              <a:buFontTx/>
              <a:buNone/>
            </a:pPr>
            <a:r>
              <a:rPr lang="en-US" altLang="en-US" sz="1600" b="1">
                <a:latin typeface="Arial" panose="020B0604020202020204" pitchFamily="34" charset="0"/>
              </a:rPr>
              <a:t>  8</a:t>
            </a:r>
          </a:p>
          <a:p>
            <a:pPr eaLnBrk="1" hangingPunct="1">
              <a:lnSpc>
                <a:spcPct val="100000"/>
              </a:lnSpc>
              <a:spcBef>
                <a:spcPct val="0"/>
              </a:spcBef>
              <a:buFontTx/>
              <a:buNone/>
            </a:pPr>
            <a:r>
              <a:rPr lang="en-US" altLang="en-US" sz="1600" b="1">
                <a:latin typeface="Arial" panose="020B0604020202020204" pitchFamily="34" charset="0"/>
              </a:rPr>
              <a:t>  6</a:t>
            </a:r>
          </a:p>
          <a:p>
            <a:pPr eaLnBrk="1" hangingPunct="1">
              <a:lnSpc>
                <a:spcPct val="100000"/>
              </a:lnSpc>
              <a:spcBef>
                <a:spcPct val="0"/>
              </a:spcBef>
              <a:buFontTx/>
              <a:buNone/>
            </a:pPr>
            <a:r>
              <a:rPr lang="en-US" altLang="en-US" sz="1600" b="1">
                <a:latin typeface="Arial" panose="020B0604020202020204" pitchFamily="34" charset="0"/>
              </a:rPr>
              <a:t>  4</a:t>
            </a:r>
          </a:p>
          <a:p>
            <a:pPr eaLnBrk="1" hangingPunct="1">
              <a:lnSpc>
                <a:spcPct val="100000"/>
              </a:lnSpc>
              <a:spcBef>
                <a:spcPct val="0"/>
              </a:spcBef>
              <a:buFontTx/>
              <a:buNone/>
            </a:pPr>
            <a:r>
              <a:rPr lang="en-US" altLang="en-US" sz="1600" b="1">
                <a:latin typeface="Arial" panose="020B0604020202020204" pitchFamily="34" charset="0"/>
              </a:rPr>
              <a:t>  2</a:t>
            </a:r>
          </a:p>
          <a:p>
            <a:pPr eaLnBrk="1" hangingPunct="1">
              <a:lnSpc>
                <a:spcPct val="100000"/>
              </a:lnSpc>
              <a:spcBef>
                <a:spcPct val="0"/>
              </a:spcBef>
              <a:buFontTx/>
              <a:buNone/>
            </a:pPr>
            <a:r>
              <a:rPr lang="en-US" altLang="en-US" sz="1600" b="1">
                <a:latin typeface="Arial" panose="020B0604020202020204" pitchFamily="34" charset="0"/>
              </a:rPr>
              <a:t>  0</a:t>
            </a:r>
          </a:p>
          <a:p>
            <a:pPr eaLnBrk="1" hangingPunct="1">
              <a:lnSpc>
                <a:spcPct val="100000"/>
              </a:lnSpc>
              <a:spcBef>
                <a:spcPct val="0"/>
              </a:spcBef>
              <a:buFontTx/>
              <a:buNone/>
            </a:pPr>
            <a:r>
              <a:rPr lang="en-US" altLang="en-US" sz="1600" b="1">
                <a:latin typeface="Arial" panose="020B0604020202020204" pitchFamily="34" charset="0"/>
              </a:rPr>
              <a:t> -2</a:t>
            </a:r>
          </a:p>
        </p:txBody>
      </p:sp>
      <p:sp>
        <p:nvSpPr>
          <p:cNvPr id="24593" name="Oval 21">
            <a:extLst>
              <a:ext uri="{FF2B5EF4-FFF2-40B4-BE49-F238E27FC236}">
                <a16:creationId xmlns:a16="http://schemas.microsoft.com/office/drawing/2014/main" id="{C396F974-6946-E289-7088-645459F3DA96}"/>
              </a:ext>
            </a:extLst>
          </p:cNvPr>
          <p:cNvSpPr>
            <a:spLocks noChangeArrowheads="1"/>
          </p:cNvSpPr>
          <p:nvPr/>
        </p:nvSpPr>
        <p:spPr bwMode="auto">
          <a:xfrm>
            <a:off x="7040563" y="246380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15382" name="Oval 22">
            <a:extLst>
              <a:ext uri="{FF2B5EF4-FFF2-40B4-BE49-F238E27FC236}">
                <a16:creationId xmlns:a16="http://schemas.microsoft.com/office/drawing/2014/main" id="{89E13DC8-2A95-530B-BECA-0F029FFCDAF6}"/>
              </a:ext>
            </a:extLst>
          </p:cNvPr>
          <p:cNvSpPr>
            <a:spLocks noChangeArrowheads="1"/>
          </p:cNvSpPr>
          <p:nvPr/>
        </p:nvSpPr>
        <p:spPr bwMode="auto">
          <a:xfrm>
            <a:off x="6931025" y="421163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nvGrpSpPr>
          <p:cNvPr id="24595" name="Group 23">
            <a:extLst>
              <a:ext uri="{FF2B5EF4-FFF2-40B4-BE49-F238E27FC236}">
                <a16:creationId xmlns:a16="http://schemas.microsoft.com/office/drawing/2014/main" id="{456710FB-7905-1377-C3B3-5E12D3D4EC27}"/>
              </a:ext>
            </a:extLst>
          </p:cNvPr>
          <p:cNvGrpSpPr>
            <a:grpSpLocks/>
          </p:cNvGrpSpPr>
          <p:nvPr/>
        </p:nvGrpSpPr>
        <p:grpSpPr bwMode="auto">
          <a:xfrm>
            <a:off x="6765925" y="693738"/>
            <a:ext cx="3317875" cy="3016250"/>
            <a:chOff x="3126" y="593"/>
            <a:chExt cx="2090" cy="1900"/>
          </a:xfrm>
        </p:grpSpPr>
        <p:sp>
          <p:nvSpPr>
            <p:cNvPr id="24601" name="Line 24">
              <a:extLst>
                <a:ext uri="{FF2B5EF4-FFF2-40B4-BE49-F238E27FC236}">
                  <a16:creationId xmlns:a16="http://schemas.microsoft.com/office/drawing/2014/main" id="{B6BA31C7-7F69-F4A4-6F66-77F9C9D5001E}"/>
                </a:ext>
              </a:extLst>
            </p:cNvPr>
            <p:cNvSpPr>
              <a:spLocks noChangeShapeType="1"/>
            </p:cNvSpPr>
            <p:nvPr/>
          </p:nvSpPr>
          <p:spPr bwMode="auto">
            <a:xfrm>
              <a:off x="3143" y="593"/>
              <a:ext cx="0" cy="19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4602" name="Line 25">
              <a:extLst>
                <a:ext uri="{FF2B5EF4-FFF2-40B4-BE49-F238E27FC236}">
                  <a16:creationId xmlns:a16="http://schemas.microsoft.com/office/drawing/2014/main" id="{F7D4F65F-16C4-D229-8EDC-212CE58F404A}"/>
                </a:ext>
              </a:extLst>
            </p:cNvPr>
            <p:cNvSpPr>
              <a:spLocks noChangeShapeType="1"/>
            </p:cNvSpPr>
            <p:nvPr/>
          </p:nvSpPr>
          <p:spPr bwMode="auto">
            <a:xfrm>
              <a:off x="3126" y="248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15386" name="Oval 26">
            <a:extLst>
              <a:ext uri="{FF2B5EF4-FFF2-40B4-BE49-F238E27FC236}">
                <a16:creationId xmlns:a16="http://schemas.microsoft.com/office/drawing/2014/main" id="{F10AE373-C981-2816-E89B-A8D64C18B81D}"/>
              </a:ext>
            </a:extLst>
          </p:cNvPr>
          <p:cNvSpPr>
            <a:spLocks noChangeArrowheads="1"/>
          </p:cNvSpPr>
          <p:nvPr/>
        </p:nvSpPr>
        <p:spPr bwMode="auto">
          <a:xfrm>
            <a:off x="5468938" y="2139950"/>
            <a:ext cx="663575" cy="663575"/>
          </a:xfrm>
          <a:prstGeom prst="ellipse">
            <a:avLst/>
          </a:prstGeom>
          <a:noFill/>
          <a:ln w="57150">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15387" name="Line 27">
            <a:extLst>
              <a:ext uri="{FF2B5EF4-FFF2-40B4-BE49-F238E27FC236}">
                <a16:creationId xmlns:a16="http://schemas.microsoft.com/office/drawing/2014/main" id="{15D69389-0A99-0F85-0833-C726D92D2CCA}"/>
              </a:ext>
            </a:extLst>
          </p:cNvPr>
          <p:cNvSpPr>
            <a:spLocks noChangeShapeType="1"/>
          </p:cNvSpPr>
          <p:nvPr/>
        </p:nvSpPr>
        <p:spPr bwMode="auto">
          <a:xfrm>
            <a:off x="6019800" y="2717800"/>
            <a:ext cx="939800" cy="1554163"/>
          </a:xfrm>
          <a:prstGeom prst="line">
            <a:avLst/>
          </a:prstGeom>
          <a:noFill/>
          <a:ln w="5715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24598" name="Rectangle 28">
            <a:extLst>
              <a:ext uri="{FF2B5EF4-FFF2-40B4-BE49-F238E27FC236}">
                <a16:creationId xmlns:a16="http://schemas.microsoft.com/office/drawing/2014/main" id="{6D5F1772-3636-77D8-82CD-E546492D6CCB}"/>
              </a:ext>
            </a:extLst>
          </p:cNvPr>
          <p:cNvSpPr>
            <a:spLocks noChangeArrowheads="1"/>
          </p:cNvSpPr>
          <p:nvPr/>
        </p:nvSpPr>
        <p:spPr bwMode="auto">
          <a:xfrm>
            <a:off x="6635750" y="3673475"/>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0       1       2       3       4       5       6       7</a:t>
            </a:r>
          </a:p>
        </p:txBody>
      </p:sp>
      <p:sp>
        <p:nvSpPr>
          <p:cNvPr id="24599" name="Rectangle 29">
            <a:extLst>
              <a:ext uri="{FF2B5EF4-FFF2-40B4-BE49-F238E27FC236}">
                <a16:creationId xmlns:a16="http://schemas.microsoft.com/office/drawing/2014/main" id="{ECC5CDEB-B3EF-E451-4F85-06EED2C6BECC}"/>
              </a:ext>
            </a:extLst>
          </p:cNvPr>
          <p:cNvSpPr>
            <a:spLocks noChangeArrowheads="1"/>
          </p:cNvSpPr>
          <p:nvPr/>
        </p:nvSpPr>
        <p:spPr bwMode="auto">
          <a:xfrm>
            <a:off x="6607175" y="6064250"/>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         1       2       3       4       5       6       7</a:t>
            </a:r>
          </a:p>
        </p:txBody>
      </p:sp>
      <p:sp>
        <p:nvSpPr>
          <p:cNvPr id="32" name="Rectangle 8">
            <a:extLst>
              <a:ext uri="{FF2B5EF4-FFF2-40B4-BE49-F238E27FC236}">
                <a16:creationId xmlns:a16="http://schemas.microsoft.com/office/drawing/2014/main" id="{F846EB16-5C77-3D24-789D-4F1A6481DDCE}"/>
              </a:ext>
            </a:extLst>
          </p:cNvPr>
          <p:cNvSpPr>
            <a:spLocks noChangeArrowheads="1"/>
          </p:cNvSpPr>
          <p:nvPr/>
        </p:nvSpPr>
        <p:spPr bwMode="auto">
          <a:xfrm>
            <a:off x="3219450" y="1031875"/>
            <a:ext cx="133667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Yogurts</a:t>
            </a:r>
          </a:p>
          <a:p>
            <a:pPr algn="ctr" eaLnBrk="1" hangingPunct="1">
              <a:lnSpc>
                <a:spcPct val="100000"/>
              </a:lnSpc>
              <a:spcBef>
                <a:spcPct val="0"/>
              </a:spcBef>
              <a:buFontTx/>
              <a:buNone/>
            </a:pPr>
            <a:r>
              <a:rPr lang="en-US" altLang="en-US" sz="1800" b="1">
                <a:latin typeface="Arial" panose="020B0604020202020204" pitchFamily="34" charset="0"/>
              </a:rPr>
              <a:t>consumed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5373"/>
                                        </p:tgtEl>
                                        <p:attrNameLst>
                                          <p:attrName>style.visibility</p:attrName>
                                        </p:attrNameLst>
                                      </p:cBhvr>
                                      <p:to>
                                        <p:strVal val="visible"/>
                                      </p:to>
                                    </p:set>
                                    <p:animEffect transition="in" filter="wipe(left)">
                                      <p:cBhvr>
                                        <p:cTn id="7" dur="500"/>
                                        <p:tgtEl>
                                          <p:spTgt spid="15373"/>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5374"/>
                                        </p:tgtEl>
                                        <p:attrNameLst>
                                          <p:attrName>style.visibility</p:attrName>
                                        </p:attrNameLst>
                                      </p:cBhvr>
                                      <p:to>
                                        <p:strVal val="visible"/>
                                      </p:to>
                                    </p:set>
                                    <p:animEffect transition="in" filter="wipe(up)">
                                      <p:cBhvr>
                                        <p:cTn id="11" dur="500"/>
                                        <p:tgtEl>
                                          <p:spTgt spid="15374"/>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15386"/>
                                        </p:tgtEl>
                                        <p:attrNameLst>
                                          <p:attrName>style.visibility</p:attrName>
                                        </p:attrNameLst>
                                      </p:cBhvr>
                                      <p:to>
                                        <p:strVal val="visible"/>
                                      </p:to>
                                    </p:set>
                                    <p:animEffect transition="in" filter="dissolve">
                                      <p:cBhvr>
                                        <p:cTn id="15" dur="500"/>
                                        <p:tgtEl>
                                          <p:spTgt spid="15386"/>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5387"/>
                                        </p:tgtEl>
                                        <p:attrNameLst>
                                          <p:attrName>style.visibility</p:attrName>
                                        </p:attrNameLst>
                                      </p:cBhvr>
                                      <p:to>
                                        <p:strVal val="visible"/>
                                      </p:to>
                                    </p:set>
                                    <p:animEffect transition="in" filter="wipe(up)">
                                      <p:cBhvr>
                                        <p:cTn id="19" dur="500"/>
                                        <p:tgtEl>
                                          <p:spTgt spid="15387"/>
                                        </p:tgtEl>
                                      </p:cBhvr>
                                    </p:animEffect>
                                  </p:childTnLst>
                                </p:cTn>
                              </p:par>
                            </p:childTnLst>
                          </p:cTn>
                        </p:par>
                        <p:par>
                          <p:cTn id="20" fill="hold" nodeType="afterGroup">
                            <p:stCondLst>
                              <p:cond delay="2000"/>
                            </p:stCondLst>
                            <p:childTnLst>
                              <p:par>
                                <p:cTn id="21" presetID="9" presetClass="entr" presetSubtype="0" fill="hold" nodeType="afterEffect">
                                  <p:stCondLst>
                                    <p:cond delay="0"/>
                                  </p:stCondLst>
                                  <p:childTnLst>
                                    <p:set>
                                      <p:cBhvr>
                                        <p:cTn id="22" dur="1" fill="hold">
                                          <p:stCondLst>
                                            <p:cond delay="0"/>
                                          </p:stCondLst>
                                        </p:cTn>
                                        <p:tgtEl>
                                          <p:spTgt spid="15382"/>
                                        </p:tgtEl>
                                        <p:attrNameLst>
                                          <p:attrName>style.visibility</p:attrName>
                                        </p:attrNameLst>
                                      </p:cBhvr>
                                      <p:to>
                                        <p:strVal val="visible"/>
                                      </p:to>
                                    </p:set>
                                    <p:animEffect transition="in" filter="dissolve">
                                      <p:cBhvr>
                                        <p:cTn id="23" dur="500"/>
                                        <p:tgtEl>
                                          <p:spTgt spid="15382"/>
                                        </p:tgtEl>
                                      </p:cBhvr>
                                    </p:animEffect>
                                  </p:childTnLst>
                                  <p:subTnLst>
                                    <p:audio>
                                      <p:cMediaNode>
                                        <p:cTn display="0" masterRel="sameClick">
                                          <p:stCondLst>
                                            <p:cond evt="begin" delay="0">
                                              <p:tn val="21"/>
                                            </p:cond>
                                          </p:stCondLst>
                                          <p:endCondLst>
                                            <p:cond evt="onStopAudio" delay="0">
                                              <p:tgtEl>
                                                <p:sldTgt/>
                                              </p:tgtEl>
                                            </p:cond>
                                          </p:endCondLst>
                                        </p:cTn>
                                        <p:tgtEl>
                                          <p:sndTgt r:embed="rId2" name="DING.WAV"/>
                                        </p:tgtEl>
                                      </p:cMediaNode>
                                    </p:audio>
                                  </p:sub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up)">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4" grpId="0" autoUpdateAnimBg="0"/>
      <p:bldP spid="3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1" name="Group 2">
            <a:extLst>
              <a:ext uri="{FF2B5EF4-FFF2-40B4-BE49-F238E27FC236}">
                <a16:creationId xmlns:a16="http://schemas.microsoft.com/office/drawing/2014/main" id="{77077D5D-FA0C-1AAF-0942-D9D6F448208A}"/>
              </a:ext>
            </a:extLst>
          </p:cNvPr>
          <p:cNvGrpSpPr>
            <a:grpSpLocks/>
          </p:cNvGrpSpPr>
          <p:nvPr/>
        </p:nvGrpSpPr>
        <p:grpSpPr bwMode="auto">
          <a:xfrm>
            <a:off x="6802438" y="4286250"/>
            <a:ext cx="3328987" cy="2019300"/>
            <a:chOff x="3149" y="2820"/>
            <a:chExt cx="2097" cy="1272"/>
          </a:xfrm>
        </p:grpSpPr>
        <p:sp>
          <p:nvSpPr>
            <p:cNvPr id="25628" name="Line 3">
              <a:extLst>
                <a:ext uri="{FF2B5EF4-FFF2-40B4-BE49-F238E27FC236}">
                  <a16:creationId xmlns:a16="http://schemas.microsoft.com/office/drawing/2014/main" id="{D7FA5AAD-F674-A44A-22E1-9983607D025D}"/>
                </a:ext>
              </a:extLst>
            </p:cNvPr>
            <p:cNvSpPr>
              <a:spLocks noChangeShapeType="1"/>
            </p:cNvSpPr>
            <p:nvPr/>
          </p:nvSpPr>
          <p:spPr bwMode="auto">
            <a:xfrm>
              <a:off x="3149" y="2820"/>
              <a:ext cx="0" cy="127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5629" name="Line 4">
              <a:extLst>
                <a:ext uri="{FF2B5EF4-FFF2-40B4-BE49-F238E27FC236}">
                  <a16:creationId xmlns:a16="http://schemas.microsoft.com/office/drawing/2014/main" id="{D20E5F08-9BE7-FBCA-0D40-8F388CD0A3A7}"/>
                </a:ext>
              </a:extLst>
            </p:cNvPr>
            <p:cNvSpPr>
              <a:spLocks noChangeShapeType="1"/>
            </p:cNvSpPr>
            <p:nvPr/>
          </p:nvSpPr>
          <p:spPr bwMode="auto">
            <a:xfrm>
              <a:off x="3156" y="366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pic>
        <p:nvPicPr>
          <p:cNvPr id="25602" name="Picture 5">
            <a:extLst>
              <a:ext uri="{FF2B5EF4-FFF2-40B4-BE49-F238E27FC236}">
                <a16:creationId xmlns:a16="http://schemas.microsoft.com/office/drawing/2014/main" id="{6A172A30-6521-47F6-0711-F5A202925490}"/>
              </a:ext>
            </a:extLst>
          </p:cNvPr>
          <p:cNvPicPr>
            <a:picLocks noChangeArrowheads="1"/>
          </p:cNvPicPr>
          <p:nvPr/>
        </p:nvPicPr>
        <p:blipFill>
          <a:blip r:embed="rId2">
            <a:extLst>
              <a:ext uri="{28A0092B-C50C-407E-A947-70E740481C1C}">
                <a14:useLocalDpi xmlns:a14="http://schemas.microsoft.com/office/drawing/2010/main" val="0"/>
              </a:ext>
            </a:extLst>
          </a:blip>
          <a:srcRect r="76984" b="50426"/>
          <a:stretch>
            <a:fillRect/>
          </a:stretch>
        </p:blipFill>
        <p:spPr bwMode="auto">
          <a:xfrm>
            <a:off x="6754813" y="1179513"/>
            <a:ext cx="838200" cy="249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3" name="Rectangle 6">
            <a:extLst>
              <a:ext uri="{FF2B5EF4-FFF2-40B4-BE49-F238E27FC236}">
                <a16:creationId xmlns:a16="http://schemas.microsoft.com/office/drawing/2014/main" id="{18921BC8-CD9F-B989-5167-9DF14715E007}"/>
              </a:ext>
            </a:extLst>
          </p:cNvPr>
          <p:cNvSpPr>
            <a:spLocks noChangeArrowheads="1"/>
          </p:cNvSpPr>
          <p:nvPr/>
        </p:nvSpPr>
        <p:spPr bwMode="auto">
          <a:xfrm>
            <a:off x="3365500" y="34925"/>
            <a:ext cx="71723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400" b="1">
                <a:solidFill>
                  <a:srgbClr val="000099"/>
                </a:solidFill>
                <a:latin typeface="Times New Roman" panose="02020603050405020304" pitchFamily="18" charset="0"/>
              </a:rPr>
              <a:t>TOTAL AND MARGINAL UTILITY</a:t>
            </a:r>
          </a:p>
        </p:txBody>
      </p:sp>
      <p:sp>
        <p:nvSpPr>
          <p:cNvPr id="25604" name="Line 7">
            <a:extLst>
              <a:ext uri="{FF2B5EF4-FFF2-40B4-BE49-F238E27FC236}">
                <a16:creationId xmlns:a16="http://schemas.microsoft.com/office/drawing/2014/main" id="{2E338996-5DC4-39F6-2C37-1BA7FCD418CC}"/>
              </a:ext>
            </a:extLst>
          </p:cNvPr>
          <p:cNvSpPr>
            <a:spLocks noChangeShapeType="1"/>
          </p:cNvSpPr>
          <p:nvPr/>
        </p:nvSpPr>
        <p:spPr bwMode="auto">
          <a:xfrm>
            <a:off x="3357563" y="1733550"/>
            <a:ext cx="28098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5605" name="Rectangle 9">
            <a:extLst>
              <a:ext uri="{FF2B5EF4-FFF2-40B4-BE49-F238E27FC236}">
                <a16:creationId xmlns:a16="http://schemas.microsoft.com/office/drawing/2014/main" id="{C4D03837-A8D3-B724-7A38-3AB80574FE2B}"/>
              </a:ext>
            </a:extLst>
          </p:cNvPr>
          <p:cNvSpPr>
            <a:spLocks noChangeArrowheads="1"/>
          </p:cNvSpPr>
          <p:nvPr/>
        </p:nvSpPr>
        <p:spPr bwMode="auto">
          <a:xfrm>
            <a:off x="4408488" y="765175"/>
            <a:ext cx="8794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Total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5606" name="Rectangle 10">
            <a:extLst>
              <a:ext uri="{FF2B5EF4-FFF2-40B4-BE49-F238E27FC236}">
                <a16:creationId xmlns:a16="http://schemas.microsoft.com/office/drawing/2014/main" id="{F4A5C5FD-5160-91F2-9BC5-4F9C0662A53C}"/>
              </a:ext>
            </a:extLst>
          </p:cNvPr>
          <p:cNvSpPr>
            <a:spLocks noChangeArrowheads="1"/>
          </p:cNvSpPr>
          <p:nvPr/>
        </p:nvSpPr>
        <p:spPr bwMode="auto">
          <a:xfrm>
            <a:off x="5218113" y="765175"/>
            <a:ext cx="11303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Marginal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5607" name="Rectangle 11">
            <a:extLst>
              <a:ext uri="{FF2B5EF4-FFF2-40B4-BE49-F238E27FC236}">
                <a16:creationId xmlns:a16="http://schemas.microsoft.com/office/drawing/2014/main" id="{BCB8C8DA-5DA6-5833-86A1-AB8211DB08FE}"/>
              </a:ext>
            </a:extLst>
          </p:cNvPr>
          <p:cNvSpPr>
            <a:spLocks noChangeArrowheads="1"/>
          </p:cNvSpPr>
          <p:nvPr/>
        </p:nvSpPr>
        <p:spPr bwMode="auto">
          <a:xfrm>
            <a:off x="3644900" y="1885950"/>
            <a:ext cx="387350"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0</a:t>
            </a:r>
          </a:p>
          <a:p>
            <a:pPr eaLnBrk="1" hangingPunct="1">
              <a:lnSpc>
                <a:spcPct val="100000"/>
              </a:lnSpc>
              <a:spcBef>
                <a:spcPct val="0"/>
              </a:spcBef>
              <a:buFontTx/>
              <a:buNone/>
            </a:pPr>
            <a:r>
              <a:rPr lang="en-US" altLang="en-US" sz="3500">
                <a:latin typeface="Arial Narrow" panose="020B0604020202020204" pitchFamily="34" charset="0"/>
              </a:rPr>
              <a:t>1</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2</a:t>
            </a:r>
          </a:p>
        </p:txBody>
      </p:sp>
      <p:sp>
        <p:nvSpPr>
          <p:cNvPr id="25608" name="Rectangle 12">
            <a:extLst>
              <a:ext uri="{FF2B5EF4-FFF2-40B4-BE49-F238E27FC236}">
                <a16:creationId xmlns:a16="http://schemas.microsoft.com/office/drawing/2014/main" id="{BF164C83-F92D-FC5D-60CE-0EEC9ACC4539}"/>
              </a:ext>
            </a:extLst>
          </p:cNvPr>
          <p:cNvSpPr>
            <a:spLocks noChangeArrowheads="1"/>
          </p:cNvSpPr>
          <p:nvPr/>
        </p:nvSpPr>
        <p:spPr bwMode="auto">
          <a:xfrm>
            <a:off x="4468813" y="1885950"/>
            <a:ext cx="593725"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  0</a:t>
            </a:r>
          </a:p>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18</a:t>
            </a:r>
          </a:p>
        </p:txBody>
      </p:sp>
      <p:sp>
        <p:nvSpPr>
          <p:cNvPr id="25609" name="AutoShape 13">
            <a:extLst>
              <a:ext uri="{FF2B5EF4-FFF2-40B4-BE49-F238E27FC236}">
                <a16:creationId xmlns:a16="http://schemas.microsoft.com/office/drawing/2014/main" id="{13C3C24B-8AAD-E2CC-2D5E-CF2960F70CF7}"/>
              </a:ext>
            </a:extLst>
          </p:cNvPr>
          <p:cNvSpPr>
            <a:spLocks noChangeArrowheads="1"/>
          </p:cNvSpPr>
          <p:nvPr/>
        </p:nvSpPr>
        <p:spPr bwMode="auto">
          <a:xfrm>
            <a:off x="5118100" y="22526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16398" name="AutoShape 14">
            <a:extLst>
              <a:ext uri="{FF2B5EF4-FFF2-40B4-BE49-F238E27FC236}">
                <a16:creationId xmlns:a16="http://schemas.microsoft.com/office/drawing/2014/main" id="{A3AF1402-3D0A-B507-A46D-8B6D3029DFF5}"/>
              </a:ext>
            </a:extLst>
          </p:cNvPr>
          <p:cNvSpPr>
            <a:spLocks noChangeArrowheads="1"/>
          </p:cNvSpPr>
          <p:nvPr/>
        </p:nvSpPr>
        <p:spPr bwMode="auto">
          <a:xfrm>
            <a:off x="5118100" y="27860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16399" name="Rectangle 15">
            <a:extLst>
              <a:ext uri="{FF2B5EF4-FFF2-40B4-BE49-F238E27FC236}">
                <a16:creationId xmlns:a16="http://schemas.microsoft.com/office/drawing/2014/main" id="{77B4B09B-04AC-7F49-871C-E782BCEC262D}"/>
              </a:ext>
            </a:extLst>
          </p:cNvPr>
          <p:cNvSpPr>
            <a:spLocks noChangeArrowheads="1"/>
          </p:cNvSpPr>
          <p:nvPr/>
        </p:nvSpPr>
        <p:spPr bwMode="auto">
          <a:xfrm>
            <a:off x="5505450" y="2152650"/>
            <a:ext cx="593725" cy="11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  </a:t>
            </a:r>
            <a:r>
              <a:rPr lang="en-US" altLang="en-US" sz="3500">
                <a:solidFill>
                  <a:srgbClr val="CC0000"/>
                </a:solidFill>
                <a:latin typeface="Arial Narrow" panose="020B0604020202020204" pitchFamily="34" charset="0"/>
              </a:rPr>
              <a:t>8</a:t>
            </a:r>
          </a:p>
        </p:txBody>
      </p:sp>
      <p:sp>
        <p:nvSpPr>
          <p:cNvPr id="25612" name="Rectangle 16">
            <a:extLst>
              <a:ext uri="{FF2B5EF4-FFF2-40B4-BE49-F238E27FC236}">
                <a16:creationId xmlns:a16="http://schemas.microsoft.com/office/drawing/2014/main" id="{653CBB50-35C1-34F1-0E3A-611CD0ADDF9F}"/>
              </a:ext>
            </a:extLst>
          </p:cNvPr>
          <p:cNvSpPr>
            <a:spLocks noChangeArrowheads="1"/>
          </p:cNvSpPr>
          <p:nvPr/>
        </p:nvSpPr>
        <p:spPr bwMode="auto">
          <a:xfrm>
            <a:off x="7359650" y="4041775"/>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5613" name="Rectangle 17">
            <a:extLst>
              <a:ext uri="{FF2B5EF4-FFF2-40B4-BE49-F238E27FC236}">
                <a16:creationId xmlns:a16="http://schemas.microsoft.com/office/drawing/2014/main" id="{11E1865D-0EE8-642C-8697-5FEB0B840D70}"/>
              </a:ext>
            </a:extLst>
          </p:cNvPr>
          <p:cNvSpPr>
            <a:spLocks noChangeArrowheads="1"/>
          </p:cNvSpPr>
          <p:nvPr/>
        </p:nvSpPr>
        <p:spPr bwMode="auto">
          <a:xfrm>
            <a:off x="7369175" y="6199188"/>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5614" name="Rectangle 18">
            <a:extLst>
              <a:ext uri="{FF2B5EF4-FFF2-40B4-BE49-F238E27FC236}">
                <a16:creationId xmlns:a16="http://schemas.microsoft.com/office/drawing/2014/main" id="{C20A4D96-AF25-8F0C-9959-2C0FE32EB22B}"/>
              </a:ext>
            </a:extLst>
          </p:cNvPr>
          <p:cNvSpPr>
            <a:spLocks noChangeArrowheads="1"/>
          </p:cNvSpPr>
          <p:nvPr/>
        </p:nvSpPr>
        <p:spPr bwMode="auto">
          <a:xfrm>
            <a:off x="6434138" y="996950"/>
            <a:ext cx="411162"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30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20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10</a:t>
            </a:r>
          </a:p>
        </p:txBody>
      </p:sp>
      <p:sp>
        <p:nvSpPr>
          <p:cNvPr id="25615" name="Rectangle 19">
            <a:extLst>
              <a:ext uri="{FF2B5EF4-FFF2-40B4-BE49-F238E27FC236}">
                <a16:creationId xmlns:a16="http://schemas.microsoft.com/office/drawing/2014/main" id="{DC8E2A04-DC26-778F-2AF0-2A94F0D1F2B4}"/>
              </a:ext>
            </a:extLst>
          </p:cNvPr>
          <p:cNvSpPr>
            <a:spLocks noChangeArrowheads="1"/>
          </p:cNvSpPr>
          <p:nvPr/>
        </p:nvSpPr>
        <p:spPr bwMode="auto">
          <a:xfrm rot="-5400000">
            <a:off x="5553869" y="1897857"/>
            <a:ext cx="1677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Total Utility (utils)</a:t>
            </a:r>
          </a:p>
        </p:txBody>
      </p:sp>
      <p:sp>
        <p:nvSpPr>
          <p:cNvPr id="25616" name="Rectangle 20">
            <a:extLst>
              <a:ext uri="{FF2B5EF4-FFF2-40B4-BE49-F238E27FC236}">
                <a16:creationId xmlns:a16="http://schemas.microsoft.com/office/drawing/2014/main" id="{4DD000FD-5A59-AF3A-59BC-CAC64BFBE429}"/>
              </a:ext>
            </a:extLst>
          </p:cNvPr>
          <p:cNvSpPr>
            <a:spLocks noChangeArrowheads="1"/>
          </p:cNvSpPr>
          <p:nvPr/>
        </p:nvSpPr>
        <p:spPr bwMode="auto">
          <a:xfrm rot="-5400000">
            <a:off x="5364163" y="4956175"/>
            <a:ext cx="2000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Marginal Utility (utils)</a:t>
            </a:r>
          </a:p>
        </p:txBody>
      </p:sp>
      <p:sp>
        <p:nvSpPr>
          <p:cNvPr id="25617" name="Rectangle 21">
            <a:extLst>
              <a:ext uri="{FF2B5EF4-FFF2-40B4-BE49-F238E27FC236}">
                <a16:creationId xmlns:a16="http://schemas.microsoft.com/office/drawing/2014/main" id="{85C8DEE4-1695-91F8-B569-2790E8063ED5}"/>
              </a:ext>
            </a:extLst>
          </p:cNvPr>
          <p:cNvSpPr>
            <a:spLocks noChangeArrowheads="1"/>
          </p:cNvSpPr>
          <p:nvPr/>
        </p:nvSpPr>
        <p:spPr bwMode="auto">
          <a:xfrm>
            <a:off x="6410325" y="4248150"/>
            <a:ext cx="423863"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10</a:t>
            </a:r>
          </a:p>
          <a:p>
            <a:pPr eaLnBrk="1" hangingPunct="1">
              <a:lnSpc>
                <a:spcPct val="100000"/>
              </a:lnSpc>
              <a:spcBef>
                <a:spcPct val="0"/>
              </a:spcBef>
              <a:buFontTx/>
              <a:buNone/>
            </a:pPr>
            <a:r>
              <a:rPr lang="en-US" altLang="en-US" sz="1600" b="1">
                <a:latin typeface="Arial" panose="020B0604020202020204" pitchFamily="34" charset="0"/>
              </a:rPr>
              <a:t>  8</a:t>
            </a:r>
          </a:p>
          <a:p>
            <a:pPr eaLnBrk="1" hangingPunct="1">
              <a:lnSpc>
                <a:spcPct val="100000"/>
              </a:lnSpc>
              <a:spcBef>
                <a:spcPct val="0"/>
              </a:spcBef>
              <a:buFontTx/>
              <a:buNone/>
            </a:pPr>
            <a:r>
              <a:rPr lang="en-US" altLang="en-US" sz="1600" b="1">
                <a:latin typeface="Arial" panose="020B0604020202020204" pitchFamily="34" charset="0"/>
              </a:rPr>
              <a:t>  6</a:t>
            </a:r>
          </a:p>
          <a:p>
            <a:pPr eaLnBrk="1" hangingPunct="1">
              <a:lnSpc>
                <a:spcPct val="100000"/>
              </a:lnSpc>
              <a:spcBef>
                <a:spcPct val="0"/>
              </a:spcBef>
              <a:buFontTx/>
              <a:buNone/>
            </a:pPr>
            <a:r>
              <a:rPr lang="en-US" altLang="en-US" sz="1600" b="1">
                <a:latin typeface="Arial" panose="020B0604020202020204" pitchFamily="34" charset="0"/>
              </a:rPr>
              <a:t>  4</a:t>
            </a:r>
          </a:p>
          <a:p>
            <a:pPr eaLnBrk="1" hangingPunct="1">
              <a:lnSpc>
                <a:spcPct val="100000"/>
              </a:lnSpc>
              <a:spcBef>
                <a:spcPct val="0"/>
              </a:spcBef>
              <a:buFontTx/>
              <a:buNone/>
            </a:pPr>
            <a:r>
              <a:rPr lang="en-US" altLang="en-US" sz="1600" b="1">
                <a:latin typeface="Arial" panose="020B0604020202020204" pitchFamily="34" charset="0"/>
              </a:rPr>
              <a:t>  2</a:t>
            </a:r>
          </a:p>
          <a:p>
            <a:pPr eaLnBrk="1" hangingPunct="1">
              <a:lnSpc>
                <a:spcPct val="100000"/>
              </a:lnSpc>
              <a:spcBef>
                <a:spcPct val="0"/>
              </a:spcBef>
              <a:buFontTx/>
              <a:buNone/>
            </a:pPr>
            <a:r>
              <a:rPr lang="en-US" altLang="en-US" sz="1600" b="1">
                <a:latin typeface="Arial" panose="020B0604020202020204" pitchFamily="34" charset="0"/>
              </a:rPr>
              <a:t>  0</a:t>
            </a:r>
          </a:p>
          <a:p>
            <a:pPr eaLnBrk="1" hangingPunct="1">
              <a:lnSpc>
                <a:spcPct val="100000"/>
              </a:lnSpc>
              <a:spcBef>
                <a:spcPct val="0"/>
              </a:spcBef>
              <a:buFontTx/>
              <a:buNone/>
            </a:pPr>
            <a:r>
              <a:rPr lang="en-US" altLang="en-US" sz="1600" b="1">
                <a:latin typeface="Arial" panose="020B0604020202020204" pitchFamily="34" charset="0"/>
              </a:rPr>
              <a:t> -2</a:t>
            </a:r>
          </a:p>
        </p:txBody>
      </p:sp>
      <p:sp>
        <p:nvSpPr>
          <p:cNvPr id="25618" name="Oval 22">
            <a:extLst>
              <a:ext uri="{FF2B5EF4-FFF2-40B4-BE49-F238E27FC236}">
                <a16:creationId xmlns:a16="http://schemas.microsoft.com/office/drawing/2014/main" id="{18542C72-678D-BDFB-6BA3-430DAE34495A}"/>
              </a:ext>
            </a:extLst>
          </p:cNvPr>
          <p:cNvSpPr>
            <a:spLocks noChangeArrowheads="1"/>
          </p:cNvSpPr>
          <p:nvPr/>
        </p:nvSpPr>
        <p:spPr bwMode="auto">
          <a:xfrm>
            <a:off x="7040563" y="246380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16407" name="Oval 23">
            <a:extLst>
              <a:ext uri="{FF2B5EF4-FFF2-40B4-BE49-F238E27FC236}">
                <a16:creationId xmlns:a16="http://schemas.microsoft.com/office/drawing/2014/main" id="{2C3682CE-B3B1-7BE4-91AB-EC6ED8FE7BD2}"/>
              </a:ext>
            </a:extLst>
          </p:cNvPr>
          <p:cNvSpPr>
            <a:spLocks noChangeArrowheads="1"/>
          </p:cNvSpPr>
          <p:nvPr/>
        </p:nvSpPr>
        <p:spPr bwMode="auto">
          <a:xfrm>
            <a:off x="7454900" y="19018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5620" name="Oval 24">
            <a:extLst>
              <a:ext uri="{FF2B5EF4-FFF2-40B4-BE49-F238E27FC236}">
                <a16:creationId xmlns:a16="http://schemas.microsoft.com/office/drawing/2014/main" id="{9CB86BB8-18FA-2A3E-05DF-59F356376D2C}"/>
              </a:ext>
            </a:extLst>
          </p:cNvPr>
          <p:cNvSpPr>
            <a:spLocks noChangeArrowheads="1"/>
          </p:cNvSpPr>
          <p:nvPr/>
        </p:nvSpPr>
        <p:spPr bwMode="auto">
          <a:xfrm>
            <a:off x="6931025" y="421163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5621" name="Oval 25">
            <a:extLst>
              <a:ext uri="{FF2B5EF4-FFF2-40B4-BE49-F238E27FC236}">
                <a16:creationId xmlns:a16="http://schemas.microsoft.com/office/drawing/2014/main" id="{B420A01D-C9C6-0812-DD40-20B344E82378}"/>
              </a:ext>
            </a:extLst>
          </p:cNvPr>
          <p:cNvSpPr>
            <a:spLocks noChangeArrowheads="1"/>
          </p:cNvSpPr>
          <p:nvPr/>
        </p:nvSpPr>
        <p:spPr bwMode="auto">
          <a:xfrm>
            <a:off x="7345363" y="445928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nvGrpSpPr>
          <p:cNvPr id="25622" name="Group 26">
            <a:extLst>
              <a:ext uri="{FF2B5EF4-FFF2-40B4-BE49-F238E27FC236}">
                <a16:creationId xmlns:a16="http://schemas.microsoft.com/office/drawing/2014/main" id="{6E58635A-DEA9-8BAD-AC71-D17FACF88AFF}"/>
              </a:ext>
            </a:extLst>
          </p:cNvPr>
          <p:cNvGrpSpPr>
            <a:grpSpLocks/>
          </p:cNvGrpSpPr>
          <p:nvPr/>
        </p:nvGrpSpPr>
        <p:grpSpPr bwMode="auto">
          <a:xfrm>
            <a:off x="6765925" y="693738"/>
            <a:ext cx="3317875" cy="3016250"/>
            <a:chOff x="3126" y="593"/>
            <a:chExt cx="2090" cy="1900"/>
          </a:xfrm>
        </p:grpSpPr>
        <p:sp>
          <p:nvSpPr>
            <p:cNvPr id="25626" name="Line 27">
              <a:extLst>
                <a:ext uri="{FF2B5EF4-FFF2-40B4-BE49-F238E27FC236}">
                  <a16:creationId xmlns:a16="http://schemas.microsoft.com/office/drawing/2014/main" id="{4000C957-A47C-6B5B-4A68-2991F28B2752}"/>
                </a:ext>
              </a:extLst>
            </p:cNvPr>
            <p:cNvSpPr>
              <a:spLocks noChangeShapeType="1"/>
            </p:cNvSpPr>
            <p:nvPr/>
          </p:nvSpPr>
          <p:spPr bwMode="auto">
            <a:xfrm>
              <a:off x="3143" y="593"/>
              <a:ext cx="0" cy="19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5627" name="Line 28">
              <a:extLst>
                <a:ext uri="{FF2B5EF4-FFF2-40B4-BE49-F238E27FC236}">
                  <a16:creationId xmlns:a16="http://schemas.microsoft.com/office/drawing/2014/main" id="{D5DCC326-AC26-C7F5-317E-C31C11FEA0EC}"/>
                </a:ext>
              </a:extLst>
            </p:cNvPr>
            <p:cNvSpPr>
              <a:spLocks noChangeShapeType="1"/>
            </p:cNvSpPr>
            <p:nvPr/>
          </p:nvSpPr>
          <p:spPr bwMode="auto">
            <a:xfrm>
              <a:off x="3126" y="248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25623" name="Rectangle 29">
            <a:extLst>
              <a:ext uri="{FF2B5EF4-FFF2-40B4-BE49-F238E27FC236}">
                <a16:creationId xmlns:a16="http://schemas.microsoft.com/office/drawing/2014/main" id="{4BBD2098-D45D-52A6-78A3-6361FB5D7992}"/>
              </a:ext>
            </a:extLst>
          </p:cNvPr>
          <p:cNvSpPr>
            <a:spLocks noChangeArrowheads="1"/>
          </p:cNvSpPr>
          <p:nvPr/>
        </p:nvSpPr>
        <p:spPr bwMode="auto">
          <a:xfrm>
            <a:off x="6635750" y="3673475"/>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0       1       2       3       4       5       6       7</a:t>
            </a:r>
          </a:p>
        </p:txBody>
      </p:sp>
      <p:sp>
        <p:nvSpPr>
          <p:cNvPr id="25624" name="Rectangle 30">
            <a:extLst>
              <a:ext uri="{FF2B5EF4-FFF2-40B4-BE49-F238E27FC236}">
                <a16:creationId xmlns:a16="http://schemas.microsoft.com/office/drawing/2014/main" id="{0150E656-299B-91D9-7688-541977DF469F}"/>
              </a:ext>
            </a:extLst>
          </p:cNvPr>
          <p:cNvSpPr>
            <a:spLocks noChangeArrowheads="1"/>
          </p:cNvSpPr>
          <p:nvPr/>
        </p:nvSpPr>
        <p:spPr bwMode="auto">
          <a:xfrm>
            <a:off x="6607175" y="6064250"/>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         1       2       3       4       5       6       7</a:t>
            </a:r>
          </a:p>
        </p:txBody>
      </p:sp>
      <p:sp>
        <p:nvSpPr>
          <p:cNvPr id="33" name="Rectangle 8">
            <a:extLst>
              <a:ext uri="{FF2B5EF4-FFF2-40B4-BE49-F238E27FC236}">
                <a16:creationId xmlns:a16="http://schemas.microsoft.com/office/drawing/2014/main" id="{C73A1A91-94B7-0E48-11C2-51C1A2EEB706}"/>
              </a:ext>
            </a:extLst>
          </p:cNvPr>
          <p:cNvSpPr>
            <a:spLocks noChangeArrowheads="1"/>
          </p:cNvSpPr>
          <p:nvPr/>
        </p:nvSpPr>
        <p:spPr bwMode="auto">
          <a:xfrm>
            <a:off x="3219450" y="1031875"/>
            <a:ext cx="133667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Yogurts</a:t>
            </a:r>
          </a:p>
          <a:p>
            <a:pPr algn="ctr" eaLnBrk="1" hangingPunct="1">
              <a:lnSpc>
                <a:spcPct val="100000"/>
              </a:lnSpc>
              <a:spcBef>
                <a:spcPct val="0"/>
              </a:spcBef>
              <a:buFontTx/>
              <a:buNone/>
            </a:pPr>
            <a:r>
              <a:rPr lang="en-US" altLang="en-US" sz="1800" b="1">
                <a:latin typeface="Arial" panose="020B0604020202020204" pitchFamily="34" charset="0"/>
              </a:rPr>
              <a:t>consumed</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6398"/>
                                        </p:tgtEl>
                                        <p:attrNameLst>
                                          <p:attrName>style.visibility</p:attrName>
                                        </p:attrNameLst>
                                      </p:cBhvr>
                                      <p:to>
                                        <p:strVal val="visible"/>
                                      </p:to>
                                    </p:set>
                                    <p:animEffect transition="in" filter="wipe(left)">
                                      <p:cBhvr>
                                        <p:cTn id="7" dur="500"/>
                                        <p:tgtEl>
                                          <p:spTgt spid="16398"/>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6399"/>
                                        </p:tgtEl>
                                        <p:attrNameLst>
                                          <p:attrName>style.visibility</p:attrName>
                                        </p:attrNameLst>
                                      </p:cBhvr>
                                      <p:to>
                                        <p:strVal val="visible"/>
                                      </p:to>
                                    </p:set>
                                    <p:animEffect transition="in" filter="wipe(up)">
                                      <p:cBhvr>
                                        <p:cTn id="11" dur="500"/>
                                        <p:tgtEl>
                                          <p:spTgt spid="16399"/>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16407"/>
                                        </p:tgtEl>
                                        <p:attrNameLst>
                                          <p:attrName>style.visibility</p:attrName>
                                        </p:attrNameLst>
                                      </p:cBhvr>
                                      <p:to>
                                        <p:strVal val="visible"/>
                                      </p:to>
                                    </p:set>
                                    <p:animEffect transition="in" filter="dissolve">
                                      <p:cBhvr>
                                        <p:cTn id="15" dur="500"/>
                                        <p:tgtEl>
                                          <p:spTgt spid="16407"/>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up)">
                                      <p:cBhvr>
                                        <p:cTn id="1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9" grpId="0" autoUpdateAnimBg="0"/>
      <p:bldP spid="3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5" name="Group 2">
            <a:extLst>
              <a:ext uri="{FF2B5EF4-FFF2-40B4-BE49-F238E27FC236}">
                <a16:creationId xmlns:a16="http://schemas.microsoft.com/office/drawing/2014/main" id="{D69924E5-7D4A-6789-3549-6087C2087888}"/>
              </a:ext>
            </a:extLst>
          </p:cNvPr>
          <p:cNvGrpSpPr>
            <a:grpSpLocks/>
          </p:cNvGrpSpPr>
          <p:nvPr/>
        </p:nvGrpSpPr>
        <p:grpSpPr bwMode="auto">
          <a:xfrm>
            <a:off x="6802438" y="4286250"/>
            <a:ext cx="3328987" cy="2019300"/>
            <a:chOff x="3149" y="2820"/>
            <a:chExt cx="2097" cy="1272"/>
          </a:xfrm>
        </p:grpSpPr>
        <p:sp>
          <p:nvSpPr>
            <p:cNvPr id="26656" name="Line 3">
              <a:extLst>
                <a:ext uri="{FF2B5EF4-FFF2-40B4-BE49-F238E27FC236}">
                  <a16:creationId xmlns:a16="http://schemas.microsoft.com/office/drawing/2014/main" id="{176B7E82-A389-CC45-4AA8-C25207357F41}"/>
                </a:ext>
              </a:extLst>
            </p:cNvPr>
            <p:cNvSpPr>
              <a:spLocks noChangeShapeType="1"/>
            </p:cNvSpPr>
            <p:nvPr/>
          </p:nvSpPr>
          <p:spPr bwMode="auto">
            <a:xfrm>
              <a:off x="3149" y="2820"/>
              <a:ext cx="0" cy="127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6657" name="Line 4">
              <a:extLst>
                <a:ext uri="{FF2B5EF4-FFF2-40B4-BE49-F238E27FC236}">
                  <a16:creationId xmlns:a16="http://schemas.microsoft.com/office/drawing/2014/main" id="{84482692-EEEA-F109-ED48-2DACA88A8A94}"/>
                </a:ext>
              </a:extLst>
            </p:cNvPr>
            <p:cNvSpPr>
              <a:spLocks noChangeShapeType="1"/>
            </p:cNvSpPr>
            <p:nvPr/>
          </p:nvSpPr>
          <p:spPr bwMode="auto">
            <a:xfrm>
              <a:off x="3156" y="366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pic>
        <p:nvPicPr>
          <p:cNvPr id="26626" name="Picture 5">
            <a:extLst>
              <a:ext uri="{FF2B5EF4-FFF2-40B4-BE49-F238E27FC236}">
                <a16:creationId xmlns:a16="http://schemas.microsoft.com/office/drawing/2014/main" id="{A004AE8B-E776-6A21-446B-448099E22009}"/>
              </a:ext>
            </a:extLst>
          </p:cNvPr>
          <p:cNvPicPr>
            <a:picLocks noChangeArrowheads="1"/>
          </p:cNvPicPr>
          <p:nvPr/>
        </p:nvPicPr>
        <p:blipFill>
          <a:blip r:embed="rId2">
            <a:extLst>
              <a:ext uri="{28A0092B-C50C-407E-A947-70E740481C1C}">
                <a14:useLocalDpi xmlns:a14="http://schemas.microsoft.com/office/drawing/2010/main" val="0"/>
              </a:ext>
            </a:extLst>
          </a:blip>
          <a:srcRect r="65300" b="50426"/>
          <a:stretch>
            <a:fillRect/>
          </a:stretch>
        </p:blipFill>
        <p:spPr bwMode="auto">
          <a:xfrm>
            <a:off x="6754813" y="1179513"/>
            <a:ext cx="1263650" cy="249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27" name="Rectangle 6">
            <a:extLst>
              <a:ext uri="{FF2B5EF4-FFF2-40B4-BE49-F238E27FC236}">
                <a16:creationId xmlns:a16="http://schemas.microsoft.com/office/drawing/2014/main" id="{924691E1-80D1-C687-D6FE-E4CED0C87475}"/>
              </a:ext>
            </a:extLst>
          </p:cNvPr>
          <p:cNvSpPr>
            <a:spLocks noChangeArrowheads="1"/>
          </p:cNvSpPr>
          <p:nvPr/>
        </p:nvSpPr>
        <p:spPr bwMode="auto">
          <a:xfrm>
            <a:off x="3365500" y="34925"/>
            <a:ext cx="71723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400" b="1">
                <a:solidFill>
                  <a:srgbClr val="000099"/>
                </a:solidFill>
                <a:latin typeface="Times New Roman" panose="02020603050405020304" pitchFamily="18" charset="0"/>
              </a:rPr>
              <a:t>TOTAL AND MARGINAL UTILITY</a:t>
            </a:r>
          </a:p>
        </p:txBody>
      </p:sp>
      <p:sp>
        <p:nvSpPr>
          <p:cNvPr id="26628" name="Line 7">
            <a:extLst>
              <a:ext uri="{FF2B5EF4-FFF2-40B4-BE49-F238E27FC236}">
                <a16:creationId xmlns:a16="http://schemas.microsoft.com/office/drawing/2014/main" id="{DE0EB9C7-A5DC-8A52-8197-A0EC394E34EF}"/>
              </a:ext>
            </a:extLst>
          </p:cNvPr>
          <p:cNvSpPr>
            <a:spLocks noChangeShapeType="1"/>
          </p:cNvSpPr>
          <p:nvPr/>
        </p:nvSpPr>
        <p:spPr bwMode="auto">
          <a:xfrm>
            <a:off x="3357563" y="1733550"/>
            <a:ext cx="28098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6629" name="Rectangle 9">
            <a:extLst>
              <a:ext uri="{FF2B5EF4-FFF2-40B4-BE49-F238E27FC236}">
                <a16:creationId xmlns:a16="http://schemas.microsoft.com/office/drawing/2014/main" id="{552E29CF-1618-D2B5-57E4-F7D4EBBB589B}"/>
              </a:ext>
            </a:extLst>
          </p:cNvPr>
          <p:cNvSpPr>
            <a:spLocks noChangeArrowheads="1"/>
          </p:cNvSpPr>
          <p:nvPr/>
        </p:nvSpPr>
        <p:spPr bwMode="auto">
          <a:xfrm>
            <a:off x="4408488" y="765175"/>
            <a:ext cx="8794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Total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6630" name="Rectangle 10">
            <a:extLst>
              <a:ext uri="{FF2B5EF4-FFF2-40B4-BE49-F238E27FC236}">
                <a16:creationId xmlns:a16="http://schemas.microsoft.com/office/drawing/2014/main" id="{A35CBDFC-31FA-95F7-41C1-98D7AB840951}"/>
              </a:ext>
            </a:extLst>
          </p:cNvPr>
          <p:cNvSpPr>
            <a:spLocks noChangeArrowheads="1"/>
          </p:cNvSpPr>
          <p:nvPr/>
        </p:nvSpPr>
        <p:spPr bwMode="auto">
          <a:xfrm>
            <a:off x="5218113" y="765175"/>
            <a:ext cx="11303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Marginal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6631" name="Rectangle 11">
            <a:extLst>
              <a:ext uri="{FF2B5EF4-FFF2-40B4-BE49-F238E27FC236}">
                <a16:creationId xmlns:a16="http://schemas.microsoft.com/office/drawing/2014/main" id="{203528E0-0A13-B2BB-8E97-94E600D306A7}"/>
              </a:ext>
            </a:extLst>
          </p:cNvPr>
          <p:cNvSpPr>
            <a:spLocks noChangeArrowheads="1"/>
          </p:cNvSpPr>
          <p:nvPr/>
        </p:nvSpPr>
        <p:spPr bwMode="auto">
          <a:xfrm>
            <a:off x="3644900" y="1885950"/>
            <a:ext cx="387350" cy="224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0</a:t>
            </a:r>
          </a:p>
          <a:p>
            <a:pPr eaLnBrk="1" hangingPunct="1">
              <a:lnSpc>
                <a:spcPct val="100000"/>
              </a:lnSpc>
              <a:spcBef>
                <a:spcPct val="0"/>
              </a:spcBef>
              <a:buFontTx/>
              <a:buNone/>
            </a:pPr>
            <a:r>
              <a:rPr lang="en-US" altLang="en-US" sz="3500">
                <a:latin typeface="Arial Narrow" panose="020B0604020202020204" pitchFamily="34" charset="0"/>
              </a:rPr>
              <a:t>1</a:t>
            </a:r>
          </a:p>
          <a:p>
            <a:pPr eaLnBrk="1" hangingPunct="1">
              <a:lnSpc>
                <a:spcPct val="100000"/>
              </a:lnSpc>
              <a:spcBef>
                <a:spcPct val="0"/>
              </a:spcBef>
              <a:buFontTx/>
              <a:buNone/>
            </a:pPr>
            <a:r>
              <a:rPr lang="en-US" altLang="en-US" sz="3500">
                <a:latin typeface="Arial Narrow" panose="020B0604020202020204" pitchFamily="34" charset="0"/>
              </a:rPr>
              <a:t>2</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3</a:t>
            </a:r>
          </a:p>
        </p:txBody>
      </p:sp>
      <p:sp>
        <p:nvSpPr>
          <p:cNvPr id="26632" name="Rectangle 12">
            <a:extLst>
              <a:ext uri="{FF2B5EF4-FFF2-40B4-BE49-F238E27FC236}">
                <a16:creationId xmlns:a16="http://schemas.microsoft.com/office/drawing/2014/main" id="{738CFB7F-E9BC-9493-482E-F04AF775A2D7}"/>
              </a:ext>
            </a:extLst>
          </p:cNvPr>
          <p:cNvSpPr>
            <a:spLocks noChangeArrowheads="1"/>
          </p:cNvSpPr>
          <p:nvPr/>
        </p:nvSpPr>
        <p:spPr bwMode="auto">
          <a:xfrm>
            <a:off x="4468813" y="1885950"/>
            <a:ext cx="593725" cy="224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  0</a:t>
            </a:r>
          </a:p>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18</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24</a:t>
            </a:r>
          </a:p>
        </p:txBody>
      </p:sp>
      <p:sp>
        <p:nvSpPr>
          <p:cNvPr id="26633" name="AutoShape 13">
            <a:extLst>
              <a:ext uri="{FF2B5EF4-FFF2-40B4-BE49-F238E27FC236}">
                <a16:creationId xmlns:a16="http://schemas.microsoft.com/office/drawing/2014/main" id="{9DED03C7-FAA7-BE88-EE25-B4E642619A82}"/>
              </a:ext>
            </a:extLst>
          </p:cNvPr>
          <p:cNvSpPr>
            <a:spLocks noChangeArrowheads="1"/>
          </p:cNvSpPr>
          <p:nvPr/>
        </p:nvSpPr>
        <p:spPr bwMode="auto">
          <a:xfrm>
            <a:off x="5118100" y="22526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6634" name="AutoShape 14">
            <a:extLst>
              <a:ext uri="{FF2B5EF4-FFF2-40B4-BE49-F238E27FC236}">
                <a16:creationId xmlns:a16="http://schemas.microsoft.com/office/drawing/2014/main" id="{C640BA72-0B9C-22D6-9B53-C46FAD19F1AE}"/>
              </a:ext>
            </a:extLst>
          </p:cNvPr>
          <p:cNvSpPr>
            <a:spLocks noChangeArrowheads="1"/>
          </p:cNvSpPr>
          <p:nvPr/>
        </p:nvSpPr>
        <p:spPr bwMode="auto">
          <a:xfrm>
            <a:off x="5118100" y="27860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6635" name="AutoShape 15">
            <a:extLst>
              <a:ext uri="{FF2B5EF4-FFF2-40B4-BE49-F238E27FC236}">
                <a16:creationId xmlns:a16="http://schemas.microsoft.com/office/drawing/2014/main" id="{AAAA4574-F272-2F77-4810-EBA12768EC0B}"/>
              </a:ext>
            </a:extLst>
          </p:cNvPr>
          <p:cNvSpPr>
            <a:spLocks noChangeArrowheads="1"/>
          </p:cNvSpPr>
          <p:nvPr/>
        </p:nvSpPr>
        <p:spPr bwMode="auto">
          <a:xfrm>
            <a:off x="5118100" y="33194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6636" name="Rectangle 16">
            <a:extLst>
              <a:ext uri="{FF2B5EF4-FFF2-40B4-BE49-F238E27FC236}">
                <a16:creationId xmlns:a16="http://schemas.microsoft.com/office/drawing/2014/main" id="{C39EB541-1599-0B36-B2E7-B01C6C7DB305}"/>
              </a:ext>
            </a:extLst>
          </p:cNvPr>
          <p:cNvSpPr>
            <a:spLocks noChangeArrowheads="1"/>
          </p:cNvSpPr>
          <p:nvPr/>
        </p:nvSpPr>
        <p:spPr bwMode="auto">
          <a:xfrm>
            <a:off x="5505450" y="2152650"/>
            <a:ext cx="593725"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  8</a:t>
            </a:r>
          </a:p>
          <a:p>
            <a:pPr eaLnBrk="1" hangingPunct="1">
              <a:lnSpc>
                <a:spcPct val="100000"/>
              </a:lnSpc>
              <a:spcBef>
                <a:spcPct val="0"/>
              </a:spcBef>
              <a:buFontTx/>
              <a:buNone/>
            </a:pPr>
            <a:r>
              <a:rPr lang="en-US" altLang="en-US" sz="3500">
                <a:latin typeface="Arial Narrow" panose="020B0604020202020204" pitchFamily="34" charset="0"/>
              </a:rPr>
              <a:t>  </a:t>
            </a:r>
            <a:r>
              <a:rPr lang="en-US" altLang="en-US" sz="3500">
                <a:solidFill>
                  <a:srgbClr val="CC0000"/>
                </a:solidFill>
                <a:latin typeface="Arial Narrow" panose="020B0604020202020204" pitchFamily="34" charset="0"/>
              </a:rPr>
              <a:t>6</a:t>
            </a:r>
          </a:p>
        </p:txBody>
      </p:sp>
      <p:sp>
        <p:nvSpPr>
          <p:cNvPr id="26637" name="Rectangle 17">
            <a:extLst>
              <a:ext uri="{FF2B5EF4-FFF2-40B4-BE49-F238E27FC236}">
                <a16:creationId xmlns:a16="http://schemas.microsoft.com/office/drawing/2014/main" id="{BB8E6F5E-81DB-F59E-1347-BD1B98311FF1}"/>
              </a:ext>
            </a:extLst>
          </p:cNvPr>
          <p:cNvSpPr>
            <a:spLocks noChangeArrowheads="1"/>
          </p:cNvSpPr>
          <p:nvPr/>
        </p:nvSpPr>
        <p:spPr bwMode="auto">
          <a:xfrm>
            <a:off x="6635750" y="3673475"/>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0       1       2       3       4       5       6       7</a:t>
            </a:r>
          </a:p>
        </p:txBody>
      </p:sp>
      <p:sp>
        <p:nvSpPr>
          <p:cNvPr id="26638" name="Rectangle 18">
            <a:extLst>
              <a:ext uri="{FF2B5EF4-FFF2-40B4-BE49-F238E27FC236}">
                <a16:creationId xmlns:a16="http://schemas.microsoft.com/office/drawing/2014/main" id="{69362D8C-D68C-7D73-D506-3F1E588ECAA7}"/>
              </a:ext>
            </a:extLst>
          </p:cNvPr>
          <p:cNvSpPr>
            <a:spLocks noChangeArrowheads="1"/>
          </p:cNvSpPr>
          <p:nvPr/>
        </p:nvSpPr>
        <p:spPr bwMode="auto">
          <a:xfrm>
            <a:off x="7359650" y="4041775"/>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6639" name="Rectangle 19">
            <a:extLst>
              <a:ext uri="{FF2B5EF4-FFF2-40B4-BE49-F238E27FC236}">
                <a16:creationId xmlns:a16="http://schemas.microsoft.com/office/drawing/2014/main" id="{CE638495-C570-896D-1F03-88CE93181CAB}"/>
              </a:ext>
            </a:extLst>
          </p:cNvPr>
          <p:cNvSpPr>
            <a:spLocks noChangeArrowheads="1"/>
          </p:cNvSpPr>
          <p:nvPr/>
        </p:nvSpPr>
        <p:spPr bwMode="auto">
          <a:xfrm>
            <a:off x="7369175" y="6199188"/>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6640" name="Rectangle 20">
            <a:extLst>
              <a:ext uri="{FF2B5EF4-FFF2-40B4-BE49-F238E27FC236}">
                <a16:creationId xmlns:a16="http://schemas.microsoft.com/office/drawing/2014/main" id="{4EE94CD7-63F7-9326-D516-68B98F81B8F5}"/>
              </a:ext>
            </a:extLst>
          </p:cNvPr>
          <p:cNvSpPr>
            <a:spLocks noChangeArrowheads="1"/>
          </p:cNvSpPr>
          <p:nvPr/>
        </p:nvSpPr>
        <p:spPr bwMode="auto">
          <a:xfrm>
            <a:off x="6434138" y="996950"/>
            <a:ext cx="411162"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30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20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10</a:t>
            </a:r>
          </a:p>
        </p:txBody>
      </p:sp>
      <p:sp>
        <p:nvSpPr>
          <p:cNvPr id="26641" name="Rectangle 21">
            <a:extLst>
              <a:ext uri="{FF2B5EF4-FFF2-40B4-BE49-F238E27FC236}">
                <a16:creationId xmlns:a16="http://schemas.microsoft.com/office/drawing/2014/main" id="{8CC885D8-055C-B730-B49F-C5007C41BA81}"/>
              </a:ext>
            </a:extLst>
          </p:cNvPr>
          <p:cNvSpPr>
            <a:spLocks noChangeArrowheads="1"/>
          </p:cNvSpPr>
          <p:nvPr/>
        </p:nvSpPr>
        <p:spPr bwMode="auto">
          <a:xfrm rot="-5400000">
            <a:off x="5553869" y="1897857"/>
            <a:ext cx="1677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Total Utility (utils)</a:t>
            </a:r>
          </a:p>
        </p:txBody>
      </p:sp>
      <p:sp>
        <p:nvSpPr>
          <p:cNvPr id="26642" name="Rectangle 22">
            <a:extLst>
              <a:ext uri="{FF2B5EF4-FFF2-40B4-BE49-F238E27FC236}">
                <a16:creationId xmlns:a16="http://schemas.microsoft.com/office/drawing/2014/main" id="{AF572480-7F89-3CCF-4E7F-7170562AC230}"/>
              </a:ext>
            </a:extLst>
          </p:cNvPr>
          <p:cNvSpPr>
            <a:spLocks noChangeArrowheads="1"/>
          </p:cNvSpPr>
          <p:nvPr/>
        </p:nvSpPr>
        <p:spPr bwMode="auto">
          <a:xfrm rot="-5400000">
            <a:off x="5364163" y="4956175"/>
            <a:ext cx="2000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Marginal Utility (utils)</a:t>
            </a:r>
          </a:p>
        </p:txBody>
      </p:sp>
      <p:sp>
        <p:nvSpPr>
          <p:cNvPr id="26643" name="Rectangle 23">
            <a:extLst>
              <a:ext uri="{FF2B5EF4-FFF2-40B4-BE49-F238E27FC236}">
                <a16:creationId xmlns:a16="http://schemas.microsoft.com/office/drawing/2014/main" id="{8FF2768F-77CF-7A34-5B69-E6C8A1074410}"/>
              </a:ext>
            </a:extLst>
          </p:cNvPr>
          <p:cNvSpPr>
            <a:spLocks noChangeArrowheads="1"/>
          </p:cNvSpPr>
          <p:nvPr/>
        </p:nvSpPr>
        <p:spPr bwMode="auto">
          <a:xfrm>
            <a:off x="6410325" y="4248150"/>
            <a:ext cx="423863"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10</a:t>
            </a:r>
          </a:p>
          <a:p>
            <a:pPr eaLnBrk="1" hangingPunct="1">
              <a:lnSpc>
                <a:spcPct val="100000"/>
              </a:lnSpc>
              <a:spcBef>
                <a:spcPct val="0"/>
              </a:spcBef>
              <a:buFontTx/>
              <a:buNone/>
            </a:pPr>
            <a:r>
              <a:rPr lang="en-US" altLang="en-US" sz="1600" b="1">
                <a:latin typeface="Arial" panose="020B0604020202020204" pitchFamily="34" charset="0"/>
              </a:rPr>
              <a:t>  8</a:t>
            </a:r>
          </a:p>
          <a:p>
            <a:pPr eaLnBrk="1" hangingPunct="1">
              <a:lnSpc>
                <a:spcPct val="100000"/>
              </a:lnSpc>
              <a:spcBef>
                <a:spcPct val="0"/>
              </a:spcBef>
              <a:buFontTx/>
              <a:buNone/>
            </a:pPr>
            <a:r>
              <a:rPr lang="en-US" altLang="en-US" sz="1600" b="1">
                <a:latin typeface="Arial" panose="020B0604020202020204" pitchFamily="34" charset="0"/>
              </a:rPr>
              <a:t>  6</a:t>
            </a:r>
          </a:p>
          <a:p>
            <a:pPr eaLnBrk="1" hangingPunct="1">
              <a:lnSpc>
                <a:spcPct val="100000"/>
              </a:lnSpc>
              <a:spcBef>
                <a:spcPct val="0"/>
              </a:spcBef>
              <a:buFontTx/>
              <a:buNone/>
            </a:pPr>
            <a:r>
              <a:rPr lang="en-US" altLang="en-US" sz="1600" b="1">
                <a:latin typeface="Arial" panose="020B0604020202020204" pitchFamily="34" charset="0"/>
              </a:rPr>
              <a:t>  4</a:t>
            </a:r>
          </a:p>
          <a:p>
            <a:pPr eaLnBrk="1" hangingPunct="1">
              <a:lnSpc>
                <a:spcPct val="100000"/>
              </a:lnSpc>
              <a:spcBef>
                <a:spcPct val="0"/>
              </a:spcBef>
              <a:buFontTx/>
              <a:buNone/>
            </a:pPr>
            <a:r>
              <a:rPr lang="en-US" altLang="en-US" sz="1600" b="1">
                <a:latin typeface="Arial" panose="020B0604020202020204" pitchFamily="34" charset="0"/>
              </a:rPr>
              <a:t>  2</a:t>
            </a:r>
          </a:p>
          <a:p>
            <a:pPr eaLnBrk="1" hangingPunct="1">
              <a:lnSpc>
                <a:spcPct val="100000"/>
              </a:lnSpc>
              <a:spcBef>
                <a:spcPct val="0"/>
              </a:spcBef>
              <a:buFontTx/>
              <a:buNone/>
            </a:pPr>
            <a:r>
              <a:rPr lang="en-US" altLang="en-US" sz="1600" b="1">
                <a:latin typeface="Arial" panose="020B0604020202020204" pitchFamily="34" charset="0"/>
              </a:rPr>
              <a:t>  0</a:t>
            </a:r>
          </a:p>
          <a:p>
            <a:pPr eaLnBrk="1" hangingPunct="1">
              <a:lnSpc>
                <a:spcPct val="100000"/>
              </a:lnSpc>
              <a:spcBef>
                <a:spcPct val="0"/>
              </a:spcBef>
              <a:buFontTx/>
              <a:buNone/>
            </a:pPr>
            <a:r>
              <a:rPr lang="en-US" altLang="en-US" sz="1600" b="1">
                <a:latin typeface="Arial" panose="020B0604020202020204" pitchFamily="34" charset="0"/>
              </a:rPr>
              <a:t> -2</a:t>
            </a:r>
          </a:p>
        </p:txBody>
      </p:sp>
      <p:sp>
        <p:nvSpPr>
          <p:cNvPr id="26644" name="Oval 24">
            <a:extLst>
              <a:ext uri="{FF2B5EF4-FFF2-40B4-BE49-F238E27FC236}">
                <a16:creationId xmlns:a16="http://schemas.microsoft.com/office/drawing/2014/main" id="{3F1012DE-FD71-5199-5EE9-AB2226F91E75}"/>
              </a:ext>
            </a:extLst>
          </p:cNvPr>
          <p:cNvSpPr>
            <a:spLocks noChangeArrowheads="1"/>
          </p:cNvSpPr>
          <p:nvPr/>
        </p:nvSpPr>
        <p:spPr bwMode="auto">
          <a:xfrm>
            <a:off x="7040563" y="246380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6645" name="Oval 25">
            <a:extLst>
              <a:ext uri="{FF2B5EF4-FFF2-40B4-BE49-F238E27FC236}">
                <a16:creationId xmlns:a16="http://schemas.microsoft.com/office/drawing/2014/main" id="{53C88E9E-6A2A-77BE-4AAD-9038D15A899C}"/>
              </a:ext>
            </a:extLst>
          </p:cNvPr>
          <p:cNvSpPr>
            <a:spLocks noChangeArrowheads="1"/>
          </p:cNvSpPr>
          <p:nvPr/>
        </p:nvSpPr>
        <p:spPr bwMode="auto">
          <a:xfrm>
            <a:off x="7454900" y="19018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6646" name="Oval 26">
            <a:extLst>
              <a:ext uri="{FF2B5EF4-FFF2-40B4-BE49-F238E27FC236}">
                <a16:creationId xmlns:a16="http://schemas.microsoft.com/office/drawing/2014/main" id="{6D09FED2-B048-FA8F-2441-C5D60544ECE4}"/>
              </a:ext>
            </a:extLst>
          </p:cNvPr>
          <p:cNvSpPr>
            <a:spLocks noChangeArrowheads="1"/>
          </p:cNvSpPr>
          <p:nvPr/>
        </p:nvSpPr>
        <p:spPr bwMode="auto">
          <a:xfrm>
            <a:off x="6931025" y="421163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6647" name="Oval 27">
            <a:extLst>
              <a:ext uri="{FF2B5EF4-FFF2-40B4-BE49-F238E27FC236}">
                <a16:creationId xmlns:a16="http://schemas.microsoft.com/office/drawing/2014/main" id="{E583829C-DFF9-69E6-31EE-F9E084918A2F}"/>
              </a:ext>
            </a:extLst>
          </p:cNvPr>
          <p:cNvSpPr>
            <a:spLocks noChangeArrowheads="1"/>
          </p:cNvSpPr>
          <p:nvPr/>
        </p:nvSpPr>
        <p:spPr bwMode="auto">
          <a:xfrm>
            <a:off x="7345363" y="445928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nvGrpSpPr>
          <p:cNvPr id="17436" name="Group 28">
            <a:extLst>
              <a:ext uri="{FF2B5EF4-FFF2-40B4-BE49-F238E27FC236}">
                <a16:creationId xmlns:a16="http://schemas.microsoft.com/office/drawing/2014/main" id="{5091E848-EE6A-1D11-5500-085BD25044EC}"/>
              </a:ext>
            </a:extLst>
          </p:cNvPr>
          <p:cNvGrpSpPr>
            <a:grpSpLocks/>
          </p:cNvGrpSpPr>
          <p:nvPr/>
        </p:nvGrpSpPr>
        <p:grpSpPr bwMode="auto">
          <a:xfrm>
            <a:off x="7783513" y="1530350"/>
            <a:ext cx="292100" cy="3406775"/>
            <a:chOff x="3943" y="964"/>
            <a:chExt cx="184" cy="2146"/>
          </a:xfrm>
        </p:grpSpPr>
        <p:sp>
          <p:nvSpPr>
            <p:cNvPr id="26654" name="Oval 29">
              <a:extLst>
                <a:ext uri="{FF2B5EF4-FFF2-40B4-BE49-F238E27FC236}">
                  <a16:creationId xmlns:a16="http://schemas.microsoft.com/office/drawing/2014/main" id="{F5C10E58-AD99-3034-2E25-DFC21FE6941E}"/>
                </a:ext>
              </a:extLst>
            </p:cNvPr>
            <p:cNvSpPr>
              <a:spLocks noChangeArrowheads="1"/>
            </p:cNvSpPr>
            <p:nvPr/>
          </p:nvSpPr>
          <p:spPr bwMode="auto">
            <a:xfrm>
              <a:off x="3997" y="964"/>
              <a:ext cx="130" cy="130"/>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6655" name="Oval 30">
              <a:extLst>
                <a:ext uri="{FF2B5EF4-FFF2-40B4-BE49-F238E27FC236}">
                  <a16:creationId xmlns:a16="http://schemas.microsoft.com/office/drawing/2014/main" id="{2D60FDA8-C4FA-EA53-9C03-C77951841B13}"/>
                </a:ext>
              </a:extLst>
            </p:cNvPr>
            <p:cNvSpPr>
              <a:spLocks noChangeArrowheads="1"/>
            </p:cNvSpPr>
            <p:nvPr/>
          </p:nvSpPr>
          <p:spPr bwMode="auto">
            <a:xfrm>
              <a:off x="3943" y="2980"/>
              <a:ext cx="130" cy="130"/>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sp>
        <p:nvSpPr>
          <p:cNvPr id="26649" name="Rectangle 31">
            <a:extLst>
              <a:ext uri="{FF2B5EF4-FFF2-40B4-BE49-F238E27FC236}">
                <a16:creationId xmlns:a16="http://schemas.microsoft.com/office/drawing/2014/main" id="{D9A61EFA-A3B4-03D8-8D1B-4834B57AB835}"/>
              </a:ext>
            </a:extLst>
          </p:cNvPr>
          <p:cNvSpPr>
            <a:spLocks noChangeArrowheads="1"/>
          </p:cNvSpPr>
          <p:nvPr/>
        </p:nvSpPr>
        <p:spPr bwMode="auto">
          <a:xfrm>
            <a:off x="6607175" y="6064250"/>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         1       2       3       4       5       6       7</a:t>
            </a:r>
          </a:p>
        </p:txBody>
      </p:sp>
      <p:grpSp>
        <p:nvGrpSpPr>
          <p:cNvPr id="26650" name="Group 32">
            <a:extLst>
              <a:ext uri="{FF2B5EF4-FFF2-40B4-BE49-F238E27FC236}">
                <a16:creationId xmlns:a16="http://schemas.microsoft.com/office/drawing/2014/main" id="{63D2B1D9-CF7A-AFA2-713D-D9EB37688E03}"/>
              </a:ext>
            </a:extLst>
          </p:cNvPr>
          <p:cNvGrpSpPr>
            <a:grpSpLocks/>
          </p:cNvGrpSpPr>
          <p:nvPr/>
        </p:nvGrpSpPr>
        <p:grpSpPr bwMode="auto">
          <a:xfrm>
            <a:off x="6765925" y="693738"/>
            <a:ext cx="3317875" cy="3016250"/>
            <a:chOff x="3126" y="593"/>
            <a:chExt cx="2090" cy="1900"/>
          </a:xfrm>
        </p:grpSpPr>
        <p:sp>
          <p:nvSpPr>
            <p:cNvPr id="26652" name="Line 33">
              <a:extLst>
                <a:ext uri="{FF2B5EF4-FFF2-40B4-BE49-F238E27FC236}">
                  <a16:creationId xmlns:a16="http://schemas.microsoft.com/office/drawing/2014/main" id="{0214580D-0C93-BA16-FD90-DEAFEF26D315}"/>
                </a:ext>
              </a:extLst>
            </p:cNvPr>
            <p:cNvSpPr>
              <a:spLocks noChangeShapeType="1"/>
            </p:cNvSpPr>
            <p:nvPr/>
          </p:nvSpPr>
          <p:spPr bwMode="auto">
            <a:xfrm>
              <a:off x="3143" y="593"/>
              <a:ext cx="0" cy="19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6653" name="Line 34">
              <a:extLst>
                <a:ext uri="{FF2B5EF4-FFF2-40B4-BE49-F238E27FC236}">
                  <a16:creationId xmlns:a16="http://schemas.microsoft.com/office/drawing/2014/main" id="{132E34AF-5E85-DDDA-DAA1-5C4C983FEFD8}"/>
                </a:ext>
              </a:extLst>
            </p:cNvPr>
            <p:cNvSpPr>
              <a:spLocks noChangeShapeType="1"/>
            </p:cNvSpPr>
            <p:nvPr/>
          </p:nvSpPr>
          <p:spPr bwMode="auto">
            <a:xfrm>
              <a:off x="3126" y="248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37" name="Rectangle 8">
            <a:extLst>
              <a:ext uri="{FF2B5EF4-FFF2-40B4-BE49-F238E27FC236}">
                <a16:creationId xmlns:a16="http://schemas.microsoft.com/office/drawing/2014/main" id="{C6F29230-4298-EF6C-4E25-62719674B361}"/>
              </a:ext>
            </a:extLst>
          </p:cNvPr>
          <p:cNvSpPr>
            <a:spLocks noChangeArrowheads="1"/>
          </p:cNvSpPr>
          <p:nvPr/>
        </p:nvSpPr>
        <p:spPr bwMode="auto">
          <a:xfrm>
            <a:off x="3219450" y="1031875"/>
            <a:ext cx="133667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Yogurts</a:t>
            </a:r>
          </a:p>
          <a:p>
            <a:pPr algn="ctr" eaLnBrk="1" hangingPunct="1">
              <a:lnSpc>
                <a:spcPct val="100000"/>
              </a:lnSpc>
              <a:spcBef>
                <a:spcPct val="0"/>
              </a:spcBef>
              <a:buFontTx/>
              <a:buNone/>
            </a:pPr>
            <a:r>
              <a:rPr lang="en-US" altLang="en-US" sz="1800" b="1">
                <a:latin typeface="Arial" panose="020B0604020202020204" pitchFamily="34" charset="0"/>
              </a:rPr>
              <a:t>consumed</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7436"/>
                                        </p:tgtEl>
                                        <p:attrNameLst>
                                          <p:attrName>style.visibility</p:attrName>
                                        </p:attrNameLst>
                                      </p:cBhvr>
                                      <p:to>
                                        <p:strVal val="visible"/>
                                      </p:to>
                                    </p:set>
                                    <p:animEffect transition="in" filter="dissolve">
                                      <p:cBhvr>
                                        <p:cTn id="7" dur="500"/>
                                        <p:tgtEl>
                                          <p:spTgt spid="17436"/>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up)">
                                      <p:cBhvr>
                                        <p:cTn id="1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49" name="Group 2">
            <a:extLst>
              <a:ext uri="{FF2B5EF4-FFF2-40B4-BE49-F238E27FC236}">
                <a16:creationId xmlns:a16="http://schemas.microsoft.com/office/drawing/2014/main" id="{85089EC0-6D47-E967-AB8D-BD097305B5EE}"/>
              </a:ext>
            </a:extLst>
          </p:cNvPr>
          <p:cNvGrpSpPr>
            <a:grpSpLocks/>
          </p:cNvGrpSpPr>
          <p:nvPr/>
        </p:nvGrpSpPr>
        <p:grpSpPr bwMode="auto">
          <a:xfrm>
            <a:off x="6802438" y="4286250"/>
            <a:ext cx="3328987" cy="2019300"/>
            <a:chOff x="3149" y="2820"/>
            <a:chExt cx="2097" cy="1272"/>
          </a:xfrm>
        </p:grpSpPr>
        <p:sp>
          <p:nvSpPr>
            <p:cNvPr id="27683" name="Line 3">
              <a:extLst>
                <a:ext uri="{FF2B5EF4-FFF2-40B4-BE49-F238E27FC236}">
                  <a16:creationId xmlns:a16="http://schemas.microsoft.com/office/drawing/2014/main" id="{18B54D2B-231D-C5B5-D3DD-77525E9A02D2}"/>
                </a:ext>
              </a:extLst>
            </p:cNvPr>
            <p:cNvSpPr>
              <a:spLocks noChangeShapeType="1"/>
            </p:cNvSpPr>
            <p:nvPr/>
          </p:nvSpPr>
          <p:spPr bwMode="auto">
            <a:xfrm>
              <a:off x="3149" y="2820"/>
              <a:ext cx="0" cy="127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7684" name="Line 4">
              <a:extLst>
                <a:ext uri="{FF2B5EF4-FFF2-40B4-BE49-F238E27FC236}">
                  <a16:creationId xmlns:a16="http://schemas.microsoft.com/office/drawing/2014/main" id="{1281599E-1A57-B019-5D8A-C30AEB906640}"/>
                </a:ext>
              </a:extLst>
            </p:cNvPr>
            <p:cNvSpPr>
              <a:spLocks noChangeShapeType="1"/>
            </p:cNvSpPr>
            <p:nvPr/>
          </p:nvSpPr>
          <p:spPr bwMode="auto">
            <a:xfrm>
              <a:off x="3156" y="366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pic>
        <p:nvPicPr>
          <p:cNvPr id="27650" name="Picture 5">
            <a:extLst>
              <a:ext uri="{FF2B5EF4-FFF2-40B4-BE49-F238E27FC236}">
                <a16:creationId xmlns:a16="http://schemas.microsoft.com/office/drawing/2014/main" id="{FB47BC1F-42E4-3C83-8FB9-499E3964F9CD}"/>
              </a:ext>
            </a:extLst>
          </p:cNvPr>
          <p:cNvPicPr>
            <a:picLocks noChangeArrowheads="1"/>
          </p:cNvPicPr>
          <p:nvPr/>
        </p:nvPicPr>
        <p:blipFill>
          <a:blip r:embed="rId2">
            <a:extLst>
              <a:ext uri="{28A0092B-C50C-407E-A947-70E740481C1C}">
                <a14:useLocalDpi xmlns:a14="http://schemas.microsoft.com/office/drawing/2010/main" val="0"/>
              </a:ext>
            </a:extLst>
          </a:blip>
          <a:srcRect r="54272" b="50426"/>
          <a:stretch>
            <a:fillRect/>
          </a:stretch>
        </p:blipFill>
        <p:spPr bwMode="auto">
          <a:xfrm>
            <a:off x="6754813" y="1179513"/>
            <a:ext cx="1665287" cy="249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651" name="Rectangle 6">
            <a:extLst>
              <a:ext uri="{FF2B5EF4-FFF2-40B4-BE49-F238E27FC236}">
                <a16:creationId xmlns:a16="http://schemas.microsoft.com/office/drawing/2014/main" id="{1395C66E-7ED9-C978-E51F-D629B8903B8E}"/>
              </a:ext>
            </a:extLst>
          </p:cNvPr>
          <p:cNvSpPr>
            <a:spLocks noChangeArrowheads="1"/>
          </p:cNvSpPr>
          <p:nvPr/>
        </p:nvSpPr>
        <p:spPr bwMode="auto">
          <a:xfrm>
            <a:off x="3365500" y="34925"/>
            <a:ext cx="71723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400" b="1">
                <a:solidFill>
                  <a:srgbClr val="000099"/>
                </a:solidFill>
                <a:latin typeface="Times New Roman" panose="02020603050405020304" pitchFamily="18" charset="0"/>
              </a:rPr>
              <a:t>TOTAL AND MARGINAL UTILITY</a:t>
            </a:r>
          </a:p>
        </p:txBody>
      </p:sp>
      <p:sp>
        <p:nvSpPr>
          <p:cNvPr id="27652" name="Line 7">
            <a:extLst>
              <a:ext uri="{FF2B5EF4-FFF2-40B4-BE49-F238E27FC236}">
                <a16:creationId xmlns:a16="http://schemas.microsoft.com/office/drawing/2014/main" id="{4F653F09-258E-EBA6-C848-E77ACDA6B0EA}"/>
              </a:ext>
            </a:extLst>
          </p:cNvPr>
          <p:cNvSpPr>
            <a:spLocks noChangeShapeType="1"/>
          </p:cNvSpPr>
          <p:nvPr/>
        </p:nvSpPr>
        <p:spPr bwMode="auto">
          <a:xfrm>
            <a:off x="3357563" y="1733550"/>
            <a:ext cx="28098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7653" name="Rectangle 9">
            <a:extLst>
              <a:ext uri="{FF2B5EF4-FFF2-40B4-BE49-F238E27FC236}">
                <a16:creationId xmlns:a16="http://schemas.microsoft.com/office/drawing/2014/main" id="{1FCA7F9E-B631-2668-478B-496BF946A166}"/>
              </a:ext>
            </a:extLst>
          </p:cNvPr>
          <p:cNvSpPr>
            <a:spLocks noChangeArrowheads="1"/>
          </p:cNvSpPr>
          <p:nvPr/>
        </p:nvSpPr>
        <p:spPr bwMode="auto">
          <a:xfrm>
            <a:off x="4408488" y="765175"/>
            <a:ext cx="8794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Total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7654" name="Rectangle 10">
            <a:extLst>
              <a:ext uri="{FF2B5EF4-FFF2-40B4-BE49-F238E27FC236}">
                <a16:creationId xmlns:a16="http://schemas.microsoft.com/office/drawing/2014/main" id="{78ED87F2-D43B-58D8-E8C0-63D920F03157}"/>
              </a:ext>
            </a:extLst>
          </p:cNvPr>
          <p:cNvSpPr>
            <a:spLocks noChangeArrowheads="1"/>
          </p:cNvSpPr>
          <p:nvPr/>
        </p:nvSpPr>
        <p:spPr bwMode="auto">
          <a:xfrm>
            <a:off x="5218113" y="765175"/>
            <a:ext cx="11303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Marginal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7655" name="Rectangle 11">
            <a:extLst>
              <a:ext uri="{FF2B5EF4-FFF2-40B4-BE49-F238E27FC236}">
                <a16:creationId xmlns:a16="http://schemas.microsoft.com/office/drawing/2014/main" id="{80611E92-3E3B-8D42-8B3B-81EE7DD95D7C}"/>
              </a:ext>
            </a:extLst>
          </p:cNvPr>
          <p:cNvSpPr>
            <a:spLocks noChangeArrowheads="1"/>
          </p:cNvSpPr>
          <p:nvPr/>
        </p:nvSpPr>
        <p:spPr bwMode="auto">
          <a:xfrm>
            <a:off x="3644900" y="1885950"/>
            <a:ext cx="387350" cy="278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0</a:t>
            </a:r>
          </a:p>
          <a:p>
            <a:pPr eaLnBrk="1" hangingPunct="1">
              <a:lnSpc>
                <a:spcPct val="100000"/>
              </a:lnSpc>
              <a:spcBef>
                <a:spcPct val="0"/>
              </a:spcBef>
              <a:buFontTx/>
              <a:buNone/>
            </a:pPr>
            <a:r>
              <a:rPr lang="en-US" altLang="en-US" sz="3500">
                <a:latin typeface="Arial Narrow" panose="020B0604020202020204" pitchFamily="34" charset="0"/>
              </a:rPr>
              <a:t>1</a:t>
            </a:r>
          </a:p>
          <a:p>
            <a:pPr eaLnBrk="1" hangingPunct="1">
              <a:lnSpc>
                <a:spcPct val="100000"/>
              </a:lnSpc>
              <a:spcBef>
                <a:spcPct val="0"/>
              </a:spcBef>
              <a:buFontTx/>
              <a:buNone/>
            </a:pPr>
            <a:r>
              <a:rPr lang="en-US" altLang="en-US" sz="3500">
                <a:latin typeface="Arial Narrow" panose="020B0604020202020204" pitchFamily="34" charset="0"/>
              </a:rPr>
              <a:t>2</a:t>
            </a:r>
          </a:p>
          <a:p>
            <a:pPr eaLnBrk="1" hangingPunct="1">
              <a:lnSpc>
                <a:spcPct val="100000"/>
              </a:lnSpc>
              <a:spcBef>
                <a:spcPct val="0"/>
              </a:spcBef>
              <a:buFontTx/>
              <a:buNone/>
            </a:pPr>
            <a:r>
              <a:rPr lang="en-US" altLang="en-US" sz="3500">
                <a:latin typeface="Arial Narrow" panose="020B0604020202020204" pitchFamily="34" charset="0"/>
              </a:rPr>
              <a:t>3</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4</a:t>
            </a:r>
          </a:p>
        </p:txBody>
      </p:sp>
      <p:sp>
        <p:nvSpPr>
          <p:cNvPr id="27656" name="Rectangle 12">
            <a:extLst>
              <a:ext uri="{FF2B5EF4-FFF2-40B4-BE49-F238E27FC236}">
                <a16:creationId xmlns:a16="http://schemas.microsoft.com/office/drawing/2014/main" id="{AE6AB719-A376-B9C0-D161-8483949F5CFA}"/>
              </a:ext>
            </a:extLst>
          </p:cNvPr>
          <p:cNvSpPr>
            <a:spLocks noChangeArrowheads="1"/>
          </p:cNvSpPr>
          <p:nvPr/>
        </p:nvSpPr>
        <p:spPr bwMode="auto">
          <a:xfrm>
            <a:off x="4468813" y="1885950"/>
            <a:ext cx="593725" cy="278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  0</a:t>
            </a:r>
          </a:p>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18</a:t>
            </a:r>
          </a:p>
          <a:p>
            <a:pPr eaLnBrk="1" hangingPunct="1">
              <a:lnSpc>
                <a:spcPct val="100000"/>
              </a:lnSpc>
              <a:spcBef>
                <a:spcPct val="0"/>
              </a:spcBef>
              <a:buFontTx/>
              <a:buNone/>
            </a:pPr>
            <a:r>
              <a:rPr lang="en-US" altLang="en-US" sz="3500">
                <a:latin typeface="Arial Narrow" panose="020B0604020202020204" pitchFamily="34" charset="0"/>
              </a:rPr>
              <a:t>24</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28</a:t>
            </a:r>
          </a:p>
        </p:txBody>
      </p:sp>
      <p:sp>
        <p:nvSpPr>
          <p:cNvPr id="27657" name="AutoShape 13">
            <a:extLst>
              <a:ext uri="{FF2B5EF4-FFF2-40B4-BE49-F238E27FC236}">
                <a16:creationId xmlns:a16="http://schemas.microsoft.com/office/drawing/2014/main" id="{E58B5CE3-B15A-EC67-EDEF-1EF9F1ACE057}"/>
              </a:ext>
            </a:extLst>
          </p:cNvPr>
          <p:cNvSpPr>
            <a:spLocks noChangeArrowheads="1"/>
          </p:cNvSpPr>
          <p:nvPr/>
        </p:nvSpPr>
        <p:spPr bwMode="auto">
          <a:xfrm>
            <a:off x="5118100" y="22526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7658" name="AutoShape 14">
            <a:extLst>
              <a:ext uri="{FF2B5EF4-FFF2-40B4-BE49-F238E27FC236}">
                <a16:creationId xmlns:a16="http://schemas.microsoft.com/office/drawing/2014/main" id="{6D7B9B0E-A95E-9D69-ABBA-E0504F5053CD}"/>
              </a:ext>
            </a:extLst>
          </p:cNvPr>
          <p:cNvSpPr>
            <a:spLocks noChangeArrowheads="1"/>
          </p:cNvSpPr>
          <p:nvPr/>
        </p:nvSpPr>
        <p:spPr bwMode="auto">
          <a:xfrm>
            <a:off x="5118100" y="27860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7659" name="AutoShape 15">
            <a:extLst>
              <a:ext uri="{FF2B5EF4-FFF2-40B4-BE49-F238E27FC236}">
                <a16:creationId xmlns:a16="http://schemas.microsoft.com/office/drawing/2014/main" id="{3790249C-D4C1-610D-E9DC-6E43F8E7FBBA}"/>
              </a:ext>
            </a:extLst>
          </p:cNvPr>
          <p:cNvSpPr>
            <a:spLocks noChangeArrowheads="1"/>
          </p:cNvSpPr>
          <p:nvPr/>
        </p:nvSpPr>
        <p:spPr bwMode="auto">
          <a:xfrm>
            <a:off x="5118100" y="33194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7660" name="AutoShape 16">
            <a:extLst>
              <a:ext uri="{FF2B5EF4-FFF2-40B4-BE49-F238E27FC236}">
                <a16:creationId xmlns:a16="http://schemas.microsoft.com/office/drawing/2014/main" id="{5DF257DE-78A2-7871-CF03-D8EED1F1156C}"/>
              </a:ext>
            </a:extLst>
          </p:cNvPr>
          <p:cNvSpPr>
            <a:spLocks noChangeArrowheads="1"/>
          </p:cNvSpPr>
          <p:nvPr/>
        </p:nvSpPr>
        <p:spPr bwMode="auto">
          <a:xfrm>
            <a:off x="5118100" y="38528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7661" name="Rectangle 17">
            <a:extLst>
              <a:ext uri="{FF2B5EF4-FFF2-40B4-BE49-F238E27FC236}">
                <a16:creationId xmlns:a16="http://schemas.microsoft.com/office/drawing/2014/main" id="{D6960D4D-0379-A329-2813-A8794C93C878}"/>
              </a:ext>
            </a:extLst>
          </p:cNvPr>
          <p:cNvSpPr>
            <a:spLocks noChangeArrowheads="1"/>
          </p:cNvSpPr>
          <p:nvPr/>
        </p:nvSpPr>
        <p:spPr bwMode="auto">
          <a:xfrm>
            <a:off x="5505450" y="2152650"/>
            <a:ext cx="593725" cy="224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  8</a:t>
            </a:r>
          </a:p>
          <a:p>
            <a:pPr eaLnBrk="1" hangingPunct="1">
              <a:lnSpc>
                <a:spcPct val="100000"/>
              </a:lnSpc>
              <a:spcBef>
                <a:spcPct val="0"/>
              </a:spcBef>
              <a:buFontTx/>
              <a:buNone/>
            </a:pPr>
            <a:r>
              <a:rPr lang="en-US" altLang="en-US" sz="3500">
                <a:latin typeface="Arial Narrow" panose="020B0604020202020204" pitchFamily="34" charset="0"/>
              </a:rPr>
              <a:t>  6</a:t>
            </a:r>
          </a:p>
          <a:p>
            <a:pPr eaLnBrk="1" hangingPunct="1">
              <a:lnSpc>
                <a:spcPct val="100000"/>
              </a:lnSpc>
              <a:spcBef>
                <a:spcPct val="0"/>
              </a:spcBef>
              <a:buFontTx/>
              <a:buNone/>
            </a:pPr>
            <a:r>
              <a:rPr lang="en-US" altLang="en-US" sz="3500">
                <a:latin typeface="Arial Narrow" panose="020B0604020202020204" pitchFamily="34" charset="0"/>
              </a:rPr>
              <a:t>  </a:t>
            </a:r>
            <a:r>
              <a:rPr lang="en-US" altLang="en-US" sz="3500">
                <a:solidFill>
                  <a:srgbClr val="CC0000"/>
                </a:solidFill>
                <a:latin typeface="Arial Narrow" panose="020B0604020202020204" pitchFamily="34" charset="0"/>
              </a:rPr>
              <a:t>4</a:t>
            </a:r>
          </a:p>
        </p:txBody>
      </p:sp>
      <p:sp>
        <p:nvSpPr>
          <p:cNvPr id="27662" name="Rectangle 18">
            <a:extLst>
              <a:ext uri="{FF2B5EF4-FFF2-40B4-BE49-F238E27FC236}">
                <a16:creationId xmlns:a16="http://schemas.microsoft.com/office/drawing/2014/main" id="{0FB58916-24BE-1DD8-F5C3-76E14143A242}"/>
              </a:ext>
            </a:extLst>
          </p:cNvPr>
          <p:cNvSpPr>
            <a:spLocks noChangeArrowheads="1"/>
          </p:cNvSpPr>
          <p:nvPr/>
        </p:nvSpPr>
        <p:spPr bwMode="auto">
          <a:xfrm>
            <a:off x="7359650" y="4041775"/>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7663" name="Rectangle 19">
            <a:extLst>
              <a:ext uri="{FF2B5EF4-FFF2-40B4-BE49-F238E27FC236}">
                <a16:creationId xmlns:a16="http://schemas.microsoft.com/office/drawing/2014/main" id="{FFAE6A3E-D16F-4B5F-2948-3BEFA86A5A97}"/>
              </a:ext>
            </a:extLst>
          </p:cNvPr>
          <p:cNvSpPr>
            <a:spLocks noChangeArrowheads="1"/>
          </p:cNvSpPr>
          <p:nvPr/>
        </p:nvSpPr>
        <p:spPr bwMode="auto">
          <a:xfrm>
            <a:off x="7369175" y="6199188"/>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7664" name="Rectangle 20">
            <a:extLst>
              <a:ext uri="{FF2B5EF4-FFF2-40B4-BE49-F238E27FC236}">
                <a16:creationId xmlns:a16="http://schemas.microsoft.com/office/drawing/2014/main" id="{B51AB53D-FED9-15D0-E8B9-DA96A3C2AB04}"/>
              </a:ext>
            </a:extLst>
          </p:cNvPr>
          <p:cNvSpPr>
            <a:spLocks noChangeArrowheads="1"/>
          </p:cNvSpPr>
          <p:nvPr/>
        </p:nvSpPr>
        <p:spPr bwMode="auto">
          <a:xfrm>
            <a:off x="6434138" y="996950"/>
            <a:ext cx="411162"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30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20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10</a:t>
            </a:r>
          </a:p>
        </p:txBody>
      </p:sp>
      <p:sp>
        <p:nvSpPr>
          <p:cNvPr id="27665" name="Rectangle 21">
            <a:extLst>
              <a:ext uri="{FF2B5EF4-FFF2-40B4-BE49-F238E27FC236}">
                <a16:creationId xmlns:a16="http://schemas.microsoft.com/office/drawing/2014/main" id="{301E33B5-D67A-97CE-1D82-CB067280910F}"/>
              </a:ext>
            </a:extLst>
          </p:cNvPr>
          <p:cNvSpPr>
            <a:spLocks noChangeArrowheads="1"/>
          </p:cNvSpPr>
          <p:nvPr/>
        </p:nvSpPr>
        <p:spPr bwMode="auto">
          <a:xfrm rot="-5400000">
            <a:off x="5553869" y="1897857"/>
            <a:ext cx="1677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Total Utility (utils)</a:t>
            </a:r>
          </a:p>
        </p:txBody>
      </p:sp>
      <p:sp>
        <p:nvSpPr>
          <p:cNvPr id="27666" name="Rectangle 22">
            <a:extLst>
              <a:ext uri="{FF2B5EF4-FFF2-40B4-BE49-F238E27FC236}">
                <a16:creationId xmlns:a16="http://schemas.microsoft.com/office/drawing/2014/main" id="{7DA42EC3-8A71-D557-3BC9-55428F0A3E85}"/>
              </a:ext>
            </a:extLst>
          </p:cNvPr>
          <p:cNvSpPr>
            <a:spLocks noChangeArrowheads="1"/>
          </p:cNvSpPr>
          <p:nvPr/>
        </p:nvSpPr>
        <p:spPr bwMode="auto">
          <a:xfrm rot="-5400000">
            <a:off x="5364163" y="4956175"/>
            <a:ext cx="2000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Marginal Utility (utils)</a:t>
            </a:r>
          </a:p>
        </p:txBody>
      </p:sp>
      <p:sp>
        <p:nvSpPr>
          <p:cNvPr id="27667" name="Rectangle 23">
            <a:extLst>
              <a:ext uri="{FF2B5EF4-FFF2-40B4-BE49-F238E27FC236}">
                <a16:creationId xmlns:a16="http://schemas.microsoft.com/office/drawing/2014/main" id="{64C8CAD2-F548-4726-07E7-6B419E688F8A}"/>
              </a:ext>
            </a:extLst>
          </p:cNvPr>
          <p:cNvSpPr>
            <a:spLocks noChangeArrowheads="1"/>
          </p:cNvSpPr>
          <p:nvPr/>
        </p:nvSpPr>
        <p:spPr bwMode="auto">
          <a:xfrm>
            <a:off x="6410325" y="4248150"/>
            <a:ext cx="423863"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10</a:t>
            </a:r>
          </a:p>
          <a:p>
            <a:pPr eaLnBrk="1" hangingPunct="1">
              <a:lnSpc>
                <a:spcPct val="100000"/>
              </a:lnSpc>
              <a:spcBef>
                <a:spcPct val="0"/>
              </a:spcBef>
              <a:buFontTx/>
              <a:buNone/>
            </a:pPr>
            <a:r>
              <a:rPr lang="en-US" altLang="en-US" sz="1600" b="1">
                <a:latin typeface="Arial" panose="020B0604020202020204" pitchFamily="34" charset="0"/>
              </a:rPr>
              <a:t>  8</a:t>
            </a:r>
          </a:p>
          <a:p>
            <a:pPr eaLnBrk="1" hangingPunct="1">
              <a:lnSpc>
                <a:spcPct val="100000"/>
              </a:lnSpc>
              <a:spcBef>
                <a:spcPct val="0"/>
              </a:spcBef>
              <a:buFontTx/>
              <a:buNone/>
            </a:pPr>
            <a:r>
              <a:rPr lang="en-US" altLang="en-US" sz="1600" b="1">
                <a:latin typeface="Arial" panose="020B0604020202020204" pitchFamily="34" charset="0"/>
              </a:rPr>
              <a:t>  6</a:t>
            </a:r>
          </a:p>
          <a:p>
            <a:pPr eaLnBrk="1" hangingPunct="1">
              <a:lnSpc>
                <a:spcPct val="100000"/>
              </a:lnSpc>
              <a:spcBef>
                <a:spcPct val="0"/>
              </a:spcBef>
              <a:buFontTx/>
              <a:buNone/>
            </a:pPr>
            <a:r>
              <a:rPr lang="en-US" altLang="en-US" sz="1600" b="1">
                <a:latin typeface="Arial" panose="020B0604020202020204" pitchFamily="34" charset="0"/>
              </a:rPr>
              <a:t>  4</a:t>
            </a:r>
          </a:p>
          <a:p>
            <a:pPr eaLnBrk="1" hangingPunct="1">
              <a:lnSpc>
                <a:spcPct val="100000"/>
              </a:lnSpc>
              <a:spcBef>
                <a:spcPct val="0"/>
              </a:spcBef>
              <a:buFontTx/>
              <a:buNone/>
            </a:pPr>
            <a:r>
              <a:rPr lang="en-US" altLang="en-US" sz="1600" b="1">
                <a:latin typeface="Arial" panose="020B0604020202020204" pitchFamily="34" charset="0"/>
              </a:rPr>
              <a:t>  2</a:t>
            </a:r>
          </a:p>
          <a:p>
            <a:pPr eaLnBrk="1" hangingPunct="1">
              <a:lnSpc>
                <a:spcPct val="100000"/>
              </a:lnSpc>
              <a:spcBef>
                <a:spcPct val="0"/>
              </a:spcBef>
              <a:buFontTx/>
              <a:buNone/>
            </a:pPr>
            <a:r>
              <a:rPr lang="en-US" altLang="en-US" sz="1600" b="1">
                <a:latin typeface="Arial" panose="020B0604020202020204" pitchFamily="34" charset="0"/>
              </a:rPr>
              <a:t>  0</a:t>
            </a:r>
          </a:p>
          <a:p>
            <a:pPr eaLnBrk="1" hangingPunct="1">
              <a:lnSpc>
                <a:spcPct val="100000"/>
              </a:lnSpc>
              <a:spcBef>
                <a:spcPct val="0"/>
              </a:spcBef>
              <a:buFontTx/>
              <a:buNone/>
            </a:pPr>
            <a:r>
              <a:rPr lang="en-US" altLang="en-US" sz="1600" b="1">
                <a:latin typeface="Arial" panose="020B0604020202020204" pitchFamily="34" charset="0"/>
              </a:rPr>
              <a:t> -2</a:t>
            </a:r>
          </a:p>
        </p:txBody>
      </p:sp>
      <p:sp>
        <p:nvSpPr>
          <p:cNvPr id="27668" name="Oval 24">
            <a:extLst>
              <a:ext uri="{FF2B5EF4-FFF2-40B4-BE49-F238E27FC236}">
                <a16:creationId xmlns:a16="http://schemas.microsoft.com/office/drawing/2014/main" id="{30302427-2AD3-1755-AF16-91779296A766}"/>
              </a:ext>
            </a:extLst>
          </p:cNvPr>
          <p:cNvSpPr>
            <a:spLocks noChangeArrowheads="1"/>
          </p:cNvSpPr>
          <p:nvPr/>
        </p:nvSpPr>
        <p:spPr bwMode="auto">
          <a:xfrm>
            <a:off x="7040563" y="246380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7669" name="Oval 25">
            <a:extLst>
              <a:ext uri="{FF2B5EF4-FFF2-40B4-BE49-F238E27FC236}">
                <a16:creationId xmlns:a16="http://schemas.microsoft.com/office/drawing/2014/main" id="{79DB5A31-082D-CE1C-99FA-F256EDF0C49F}"/>
              </a:ext>
            </a:extLst>
          </p:cNvPr>
          <p:cNvSpPr>
            <a:spLocks noChangeArrowheads="1"/>
          </p:cNvSpPr>
          <p:nvPr/>
        </p:nvSpPr>
        <p:spPr bwMode="auto">
          <a:xfrm>
            <a:off x="7454900" y="19018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7670" name="Oval 26">
            <a:extLst>
              <a:ext uri="{FF2B5EF4-FFF2-40B4-BE49-F238E27FC236}">
                <a16:creationId xmlns:a16="http://schemas.microsoft.com/office/drawing/2014/main" id="{E39FD82A-33B2-8DC2-0A31-925972B1590B}"/>
              </a:ext>
            </a:extLst>
          </p:cNvPr>
          <p:cNvSpPr>
            <a:spLocks noChangeArrowheads="1"/>
          </p:cNvSpPr>
          <p:nvPr/>
        </p:nvSpPr>
        <p:spPr bwMode="auto">
          <a:xfrm>
            <a:off x="7869238" y="153035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7671" name="Oval 27">
            <a:extLst>
              <a:ext uri="{FF2B5EF4-FFF2-40B4-BE49-F238E27FC236}">
                <a16:creationId xmlns:a16="http://schemas.microsoft.com/office/drawing/2014/main" id="{B0394EF9-25DD-22A8-E54C-72710A8F0049}"/>
              </a:ext>
            </a:extLst>
          </p:cNvPr>
          <p:cNvSpPr>
            <a:spLocks noChangeArrowheads="1"/>
          </p:cNvSpPr>
          <p:nvPr/>
        </p:nvSpPr>
        <p:spPr bwMode="auto">
          <a:xfrm>
            <a:off x="6931025" y="421163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7672" name="Oval 28">
            <a:extLst>
              <a:ext uri="{FF2B5EF4-FFF2-40B4-BE49-F238E27FC236}">
                <a16:creationId xmlns:a16="http://schemas.microsoft.com/office/drawing/2014/main" id="{E9411737-62EE-0DCB-9DF4-B490FAB9296E}"/>
              </a:ext>
            </a:extLst>
          </p:cNvPr>
          <p:cNvSpPr>
            <a:spLocks noChangeArrowheads="1"/>
          </p:cNvSpPr>
          <p:nvPr/>
        </p:nvSpPr>
        <p:spPr bwMode="auto">
          <a:xfrm>
            <a:off x="7345363" y="445928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7673" name="Oval 29">
            <a:extLst>
              <a:ext uri="{FF2B5EF4-FFF2-40B4-BE49-F238E27FC236}">
                <a16:creationId xmlns:a16="http://schemas.microsoft.com/office/drawing/2014/main" id="{88FCDCEE-D1F2-7A87-3817-F2F2B09636DB}"/>
              </a:ext>
            </a:extLst>
          </p:cNvPr>
          <p:cNvSpPr>
            <a:spLocks noChangeArrowheads="1"/>
          </p:cNvSpPr>
          <p:nvPr/>
        </p:nvSpPr>
        <p:spPr bwMode="auto">
          <a:xfrm>
            <a:off x="7783513" y="473075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nvGrpSpPr>
          <p:cNvPr id="18462" name="Group 30">
            <a:extLst>
              <a:ext uri="{FF2B5EF4-FFF2-40B4-BE49-F238E27FC236}">
                <a16:creationId xmlns:a16="http://schemas.microsoft.com/office/drawing/2014/main" id="{2FB13E8F-AD98-2D88-075C-0B4A47817BE4}"/>
              </a:ext>
            </a:extLst>
          </p:cNvPr>
          <p:cNvGrpSpPr>
            <a:grpSpLocks/>
          </p:cNvGrpSpPr>
          <p:nvPr/>
        </p:nvGrpSpPr>
        <p:grpSpPr bwMode="auto">
          <a:xfrm>
            <a:off x="8269288" y="1254125"/>
            <a:ext cx="244475" cy="3954463"/>
            <a:chOff x="4249" y="790"/>
            <a:chExt cx="154" cy="2491"/>
          </a:xfrm>
        </p:grpSpPr>
        <p:sp>
          <p:nvSpPr>
            <p:cNvPr id="27681" name="Oval 31">
              <a:extLst>
                <a:ext uri="{FF2B5EF4-FFF2-40B4-BE49-F238E27FC236}">
                  <a16:creationId xmlns:a16="http://schemas.microsoft.com/office/drawing/2014/main" id="{EB7F25EA-FC3D-2C99-4A14-A4666B6CEFC7}"/>
                </a:ext>
              </a:extLst>
            </p:cNvPr>
            <p:cNvSpPr>
              <a:spLocks noChangeArrowheads="1"/>
            </p:cNvSpPr>
            <p:nvPr/>
          </p:nvSpPr>
          <p:spPr bwMode="auto">
            <a:xfrm>
              <a:off x="4273" y="790"/>
              <a:ext cx="130" cy="130"/>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7682" name="Oval 32">
              <a:extLst>
                <a:ext uri="{FF2B5EF4-FFF2-40B4-BE49-F238E27FC236}">
                  <a16:creationId xmlns:a16="http://schemas.microsoft.com/office/drawing/2014/main" id="{C38C9230-3034-C15E-0768-0F8F10AC2EC6}"/>
                </a:ext>
              </a:extLst>
            </p:cNvPr>
            <p:cNvSpPr>
              <a:spLocks noChangeArrowheads="1"/>
            </p:cNvSpPr>
            <p:nvPr/>
          </p:nvSpPr>
          <p:spPr bwMode="auto">
            <a:xfrm>
              <a:off x="4249" y="3151"/>
              <a:ext cx="130" cy="130"/>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pSp>
        <p:nvGrpSpPr>
          <p:cNvPr id="27675" name="Group 33">
            <a:extLst>
              <a:ext uri="{FF2B5EF4-FFF2-40B4-BE49-F238E27FC236}">
                <a16:creationId xmlns:a16="http://schemas.microsoft.com/office/drawing/2014/main" id="{A961E451-D0DA-8D79-E122-E6E0E3933F2E}"/>
              </a:ext>
            </a:extLst>
          </p:cNvPr>
          <p:cNvGrpSpPr>
            <a:grpSpLocks/>
          </p:cNvGrpSpPr>
          <p:nvPr/>
        </p:nvGrpSpPr>
        <p:grpSpPr bwMode="auto">
          <a:xfrm>
            <a:off x="6765925" y="693738"/>
            <a:ext cx="3317875" cy="3016250"/>
            <a:chOff x="3126" y="593"/>
            <a:chExt cx="2090" cy="1900"/>
          </a:xfrm>
        </p:grpSpPr>
        <p:sp>
          <p:nvSpPr>
            <p:cNvPr id="27679" name="Line 34">
              <a:extLst>
                <a:ext uri="{FF2B5EF4-FFF2-40B4-BE49-F238E27FC236}">
                  <a16:creationId xmlns:a16="http://schemas.microsoft.com/office/drawing/2014/main" id="{20CBF7A4-AE26-7DA6-3FAD-F29174AED953}"/>
                </a:ext>
              </a:extLst>
            </p:cNvPr>
            <p:cNvSpPr>
              <a:spLocks noChangeShapeType="1"/>
            </p:cNvSpPr>
            <p:nvPr/>
          </p:nvSpPr>
          <p:spPr bwMode="auto">
            <a:xfrm>
              <a:off x="3143" y="593"/>
              <a:ext cx="0" cy="19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7680" name="Line 35">
              <a:extLst>
                <a:ext uri="{FF2B5EF4-FFF2-40B4-BE49-F238E27FC236}">
                  <a16:creationId xmlns:a16="http://schemas.microsoft.com/office/drawing/2014/main" id="{0B51F663-633A-F3DD-C959-0D0BE2A1A229}"/>
                </a:ext>
              </a:extLst>
            </p:cNvPr>
            <p:cNvSpPr>
              <a:spLocks noChangeShapeType="1"/>
            </p:cNvSpPr>
            <p:nvPr/>
          </p:nvSpPr>
          <p:spPr bwMode="auto">
            <a:xfrm>
              <a:off x="3126" y="248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27676" name="Rectangle 36">
            <a:extLst>
              <a:ext uri="{FF2B5EF4-FFF2-40B4-BE49-F238E27FC236}">
                <a16:creationId xmlns:a16="http://schemas.microsoft.com/office/drawing/2014/main" id="{8277508A-399A-2B3B-C1EF-525800C43C5B}"/>
              </a:ext>
            </a:extLst>
          </p:cNvPr>
          <p:cNvSpPr>
            <a:spLocks noChangeArrowheads="1"/>
          </p:cNvSpPr>
          <p:nvPr/>
        </p:nvSpPr>
        <p:spPr bwMode="auto">
          <a:xfrm>
            <a:off x="6635750" y="3673475"/>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0       1       2       3       4       5       6       7</a:t>
            </a:r>
          </a:p>
        </p:txBody>
      </p:sp>
      <p:sp>
        <p:nvSpPr>
          <p:cNvPr id="27677" name="Rectangle 37">
            <a:extLst>
              <a:ext uri="{FF2B5EF4-FFF2-40B4-BE49-F238E27FC236}">
                <a16:creationId xmlns:a16="http://schemas.microsoft.com/office/drawing/2014/main" id="{4DCF577F-0C10-F339-04EF-4C4366E42583}"/>
              </a:ext>
            </a:extLst>
          </p:cNvPr>
          <p:cNvSpPr>
            <a:spLocks noChangeArrowheads="1"/>
          </p:cNvSpPr>
          <p:nvPr/>
        </p:nvSpPr>
        <p:spPr bwMode="auto">
          <a:xfrm>
            <a:off x="6607175" y="6064250"/>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         1       2       3       4       5       6       7</a:t>
            </a:r>
          </a:p>
        </p:txBody>
      </p:sp>
      <p:sp>
        <p:nvSpPr>
          <p:cNvPr id="40" name="Rectangle 8">
            <a:extLst>
              <a:ext uri="{FF2B5EF4-FFF2-40B4-BE49-F238E27FC236}">
                <a16:creationId xmlns:a16="http://schemas.microsoft.com/office/drawing/2014/main" id="{513CC76E-022D-BDFF-CF72-916E69DF1B56}"/>
              </a:ext>
            </a:extLst>
          </p:cNvPr>
          <p:cNvSpPr>
            <a:spLocks noChangeArrowheads="1"/>
          </p:cNvSpPr>
          <p:nvPr/>
        </p:nvSpPr>
        <p:spPr bwMode="auto">
          <a:xfrm>
            <a:off x="3219450" y="1031875"/>
            <a:ext cx="133667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Yogurts</a:t>
            </a:r>
          </a:p>
          <a:p>
            <a:pPr algn="ctr" eaLnBrk="1" hangingPunct="1">
              <a:lnSpc>
                <a:spcPct val="100000"/>
              </a:lnSpc>
              <a:spcBef>
                <a:spcPct val="0"/>
              </a:spcBef>
              <a:buFontTx/>
              <a:buNone/>
            </a:pPr>
            <a:r>
              <a:rPr lang="en-US" altLang="en-US" sz="1800" b="1">
                <a:latin typeface="Arial" panose="020B0604020202020204" pitchFamily="34" charset="0"/>
              </a:rPr>
              <a:t>consumed</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8462"/>
                                        </p:tgtEl>
                                        <p:attrNameLst>
                                          <p:attrName>style.visibility</p:attrName>
                                        </p:attrNameLst>
                                      </p:cBhvr>
                                      <p:to>
                                        <p:strVal val="visible"/>
                                      </p:to>
                                    </p:set>
                                    <p:animEffect transition="in" filter="dissolve">
                                      <p:cBhvr>
                                        <p:cTn id="7" dur="500"/>
                                        <p:tgtEl>
                                          <p:spTgt spid="1846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up)">
                                      <p:cBhvr>
                                        <p:cTn id="1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3" name="Group 2">
            <a:extLst>
              <a:ext uri="{FF2B5EF4-FFF2-40B4-BE49-F238E27FC236}">
                <a16:creationId xmlns:a16="http://schemas.microsoft.com/office/drawing/2014/main" id="{E4EAFEFD-CD45-BC6D-2707-F17E6EF4EC9D}"/>
              </a:ext>
            </a:extLst>
          </p:cNvPr>
          <p:cNvGrpSpPr>
            <a:grpSpLocks/>
          </p:cNvGrpSpPr>
          <p:nvPr/>
        </p:nvGrpSpPr>
        <p:grpSpPr bwMode="auto">
          <a:xfrm>
            <a:off x="6802438" y="4286250"/>
            <a:ext cx="3328987" cy="2019300"/>
            <a:chOff x="3149" y="2820"/>
            <a:chExt cx="2097" cy="1272"/>
          </a:xfrm>
        </p:grpSpPr>
        <p:sp>
          <p:nvSpPr>
            <p:cNvPr id="28710" name="Line 3">
              <a:extLst>
                <a:ext uri="{FF2B5EF4-FFF2-40B4-BE49-F238E27FC236}">
                  <a16:creationId xmlns:a16="http://schemas.microsoft.com/office/drawing/2014/main" id="{3F83E7BC-FBB3-CF21-03C3-88048FD51F30}"/>
                </a:ext>
              </a:extLst>
            </p:cNvPr>
            <p:cNvSpPr>
              <a:spLocks noChangeShapeType="1"/>
            </p:cNvSpPr>
            <p:nvPr/>
          </p:nvSpPr>
          <p:spPr bwMode="auto">
            <a:xfrm>
              <a:off x="3149" y="2820"/>
              <a:ext cx="0" cy="127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8711" name="Line 4">
              <a:extLst>
                <a:ext uri="{FF2B5EF4-FFF2-40B4-BE49-F238E27FC236}">
                  <a16:creationId xmlns:a16="http://schemas.microsoft.com/office/drawing/2014/main" id="{AC347C9A-00DA-D936-F0FB-A78DFFF00482}"/>
                </a:ext>
              </a:extLst>
            </p:cNvPr>
            <p:cNvSpPr>
              <a:spLocks noChangeShapeType="1"/>
            </p:cNvSpPr>
            <p:nvPr/>
          </p:nvSpPr>
          <p:spPr bwMode="auto">
            <a:xfrm>
              <a:off x="3156" y="366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pic>
        <p:nvPicPr>
          <p:cNvPr id="28674" name="Picture 5">
            <a:extLst>
              <a:ext uri="{FF2B5EF4-FFF2-40B4-BE49-F238E27FC236}">
                <a16:creationId xmlns:a16="http://schemas.microsoft.com/office/drawing/2014/main" id="{89033CA0-A6FA-1F1C-921A-DAD3439BEF59}"/>
              </a:ext>
            </a:extLst>
          </p:cNvPr>
          <p:cNvPicPr>
            <a:picLocks noChangeArrowheads="1"/>
          </p:cNvPicPr>
          <p:nvPr/>
        </p:nvPicPr>
        <p:blipFill>
          <a:blip r:embed="rId2">
            <a:extLst>
              <a:ext uri="{28A0092B-C50C-407E-A947-70E740481C1C}">
                <a14:useLocalDpi xmlns:a14="http://schemas.microsoft.com/office/drawing/2010/main" val="0"/>
              </a:ext>
            </a:extLst>
          </a:blip>
          <a:srcRect r="42241" b="50426"/>
          <a:stretch>
            <a:fillRect/>
          </a:stretch>
        </p:blipFill>
        <p:spPr bwMode="auto">
          <a:xfrm>
            <a:off x="6754813" y="1179513"/>
            <a:ext cx="2103437" cy="249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75" name="Rectangle 6">
            <a:extLst>
              <a:ext uri="{FF2B5EF4-FFF2-40B4-BE49-F238E27FC236}">
                <a16:creationId xmlns:a16="http://schemas.microsoft.com/office/drawing/2014/main" id="{D830445D-099E-D678-4F08-DFE9CCCE5267}"/>
              </a:ext>
            </a:extLst>
          </p:cNvPr>
          <p:cNvSpPr>
            <a:spLocks noChangeArrowheads="1"/>
          </p:cNvSpPr>
          <p:nvPr/>
        </p:nvSpPr>
        <p:spPr bwMode="auto">
          <a:xfrm>
            <a:off x="3365500" y="34925"/>
            <a:ext cx="71723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400" b="1">
                <a:solidFill>
                  <a:srgbClr val="000099"/>
                </a:solidFill>
                <a:latin typeface="Times New Roman" panose="02020603050405020304" pitchFamily="18" charset="0"/>
              </a:rPr>
              <a:t>TOTAL AND MARGINAL UTILITY</a:t>
            </a:r>
          </a:p>
        </p:txBody>
      </p:sp>
      <p:sp>
        <p:nvSpPr>
          <p:cNvPr id="28676" name="Line 7">
            <a:extLst>
              <a:ext uri="{FF2B5EF4-FFF2-40B4-BE49-F238E27FC236}">
                <a16:creationId xmlns:a16="http://schemas.microsoft.com/office/drawing/2014/main" id="{C1DC356C-1FD2-ECEC-8B60-E2E0B2D8A2B1}"/>
              </a:ext>
            </a:extLst>
          </p:cNvPr>
          <p:cNvSpPr>
            <a:spLocks noChangeShapeType="1"/>
          </p:cNvSpPr>
          <p:nvPr/>
        </p:nvSpPr>
        <p:spPr bwMode="auto">
          <a:xfrm>
            <a:off x="3357563" y="1733550"/>
            <a:ext cx="28098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8677" name="Rectangle 9">
            <a:extLst>
              <a:ext uri="{FF2B5EF4-FFF2-40B4-BE49-F238E27FC236}">
                <a16:creationId xmlns:a16="http://schemas.microsoft.com/office/drawing/2014/main" id="{EADB996A-9F25-440E-2368-7160B7CB6FC5}"/>
              </a:ext>
            </a:extLst>
          </p:cNvPr>
          <p:cNvSpPr>
            <a:spLocks noChangeArrowheads="1"/>
          </p:cNvSpPr>
          <p:nvPr/>
        </p:nvSpPr>
        <p:spPr bwMode="auto">
          <a:xfrm>
            <a:off x="4408488" y="765175"/>
            <a:ext cx="8794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Total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8678" name="Rectangle 10">
            <a:extLst>
              <a:ext uri="{FF2B5EF4-FFF2-40B4-BE49-F238E27FC236}">
                <a16:creationId xmlns:a16="http://schemas.microsoft.com/office/drawing/2014/main" id="{908C0B90-54CC-488B-1DBD-88A7CD319862}"/>
              </a:ext>
            </a:extLst>
          </p:cNvPr>
          <p:cNvSpPr>
            <a:spLocks noChangeArrowheads="1"/>
          </p:cNvSpPr>
          <p:nvPr/>
        </p:nvSpPr>
        <p:spPr bwMode="auto">
          <a:xfrm>
            <a:off x="5218113" y="765175"/>
            <a:ext cx="11303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Marginal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8679" name="Rectangle 11">
            <a:extLst>
              <a:ext uri="{FF2B5EF4-FFF2-40B4-BE49-F238E27FC236}">
                <a16:creationId xmlns:a16="http://schemas.microsoft.com/office/drawing/2014/main" id="{5AAD458D-0EDD-46D4-E134-D2664856AC26}"/>
              </a:ext>
            </a:extLst>
          </p:cNvPr>
          <p:cNvSpPr>
            <a:spLocks noChangeArrowheads="1"/>
          </p:cNvSpPr>
          <p:nvPr/>
        </p:nvSpPr>
        <p:spPr bwMode="auto">
          <a:xfrm>
            <a:off x="3644900" y="1885950"/>
            <a:ext cx="387350" cy="332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0</a:t>
            </a:r>
          </a:p>
          <a:p>
            <a:pPr eaLnBrk="1" hangingPunct="1">
              <a:lnSpc>
                <a:spcPct val="100000"/>
              </a:lnSpc>
              <a:spcBef>
                <a:spcPct val="0"/>
              </a:spcBef>
              <a:buFontTx/>
              <a:buNone/>
            </a:pPr>
            <a:r>
              <a:rPr lang="en-US" altLang="en-US" sz="3500">
                <a:latin typeface="Arial Narrow" panose="020B0604020202020204" pitchFamily="34" charset="0"/>
              </a:rPr>
              <a:t>1</a:t>
            </a:r>
          </a:p>
          <a:p>
            <a:pPr eaLnBrk="1" hangingPunct="1">
              <a:lnSpc>
                <a:spcPct val="100000"/>
              </a:lnSpc>
              <a:spcBef>
                <a:spcPct val="0"/>
              </a:spcBef>
              <a:buFontTx/>
              <a:buNone/>
            </a:pPr>
            <a:r>
              <a:rPr lang="en-US" altLang="en-US" sz="3500">
                <a:latin typeface="Arial Narrow" panose="020B0604020202020204" pitchFamily="34" charset="0"/>
              </a:rPr>
              <a:t>2</a:t>
            </a:r>
          </a:p>
          <a:p>
            <a:pPr eaLnBrk="1" hangingPunct="1">
              <a:lnSpc>
                <a:spcPct val="100000"/>
              </a:lnSpc>
              <a:spcBef>
                <a:spcPct val="0"/>
              </a:spcBef>
              <a:buFontTx/>
              <a:buNone/>
            </a:pPr>
            <a:r>
              <a:rPr lang="en-US" altLang="en-US" sz="3500">
                <a:latin typeface="Arial Narrow" panose="020B0604020202020204" pitchFamily="34" charset="0"/>
              </a:rPr>
              <a:t>3</a:t>
            </a:r>
          </a:p>
          <a:p>
            <a:pPr eaLnBrk="1" hangingPunct="1">
              <a:lnSpc>
                <a:spcPct val="100000"/>
              </a:lnSpc>
              <a:spcBef>
                <a:spcPct val="0"/>
              </a:spcBef>
              <a:buFontTx/>
              <a:buNone/>
            </a:pPr>
            <a:r>
              <a:rPr lang="en-US" altLang="en-US" sz="3500">
                <a:latin typeface="Arial Narrow" panose="020B0604020202020204" pitchFamily="34" charset="0"/>
              </a:rPr>
              <a:t>4</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5</a:t>
            </a:r>
          </a:p>
        </p:txBody>
      </p:sp>
      <p:sp>
        <p:nvSpPr>
          <p:cNvPr id="28680" name="Rectangle 12">
            <a:extLst>
              <a:ext uri="{FF2B5EF4-FFF2-40B4-BE49-F238E27FC236}">
                <a16:creationId xmlns:a16="http://schemas.microsoft.com/office/drawing/2014/main" id="{FB1F0D27-587B-F818-F549-8F72F768C5B8}"/>
              </a:ext>
            </a:extLst>
          </p:cNvPr>
          <p:cNvSpPr>
            <a:spLocks noChangeArrowheads="1"/>
          </p:cNvSpPr>
          <p:nvPr/>
        </p:nvSpPr>
        <p:spPr bwMode="auto">
          <a:xfrm>
            <a:off x="4468813" y="1885950"/>
            <a:ext cx="593725" cy="332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  0</a:t>
            </a:r>
          </a:p>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18</a:t>
            </a:r>
          </a:p>
          <a:p>
            <a:pPr eaLnBrk="1" hangingPunct="1">
              <a:lnSpc>
                <a:spcPct val="100000"/>
              </a:lnSpc>
              <a:spcBef>
                <a:spcPct val="0"/>
              </a:spcBef>
              <a:buFontTx/>
              <a:buNone/>
            </a:pPr>
            <a:r>
              <a:rPr lang="en-US" altLang="en-US" sz="3500">
                <a:latin typeface="Arial Narrow" panose="020B0604020202020204" pitchFamily="34" charset="0"/>
              </a:rPr>
              <a:t>24</a:t>
            </a:r>
          </a:p>
          <a:p>
            <a:pPr eaLnBrk="1" hangingPunct="1">
              <a:lnSpc>
                <a:spcPct val="100000"/>
              </a:lnSpc>
              <a:spcBef>
                <a:spcPct val="0"/>
              </a:spcBef>
              <a:buFontTx/>
              <a:buNone/>
            </a:pPr>
            <a:r>
              <a:rPr lang="en-US" altLang="en-US" sz="3500">
                <a:latin typeface="Arial Narrow" panose="020B0604020202020204" pitchFamily="34" charset="0"/>
              </a:rPr>
              <a:t>28</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30</a:t>
            </a:r>
          </a:p>
        </p:txBody>
      </p:sp>
      <p:sp>
        <p:nvSpPr>
          <p:cNvPr id="28681" name="AutoShape 13">
            <a:extLst>
              <a:ext uri="{FF2B5EF4-FFF2-40B4-BE49-F238E27FC236}">
                <a16:creationId xmlns:a16="http://schemas.microsoft.com/office/drawing/2014/main" id="{70746047-8CD0-02C4-93A4-9DEFBC44B9B3}"/>
              </a:ext>
            </a:extLst>
          </p:cNvPr>
          <p:cNvSpPr>
            <a:spLocks noChangeArrowheads="1"/>
          </p:cNvSpPr>
          <p:nvPr/>
        </p:nvSpPr>
        <p:spPr bwMode="auto">
          <a:xfrm>
            <a:off x="5118100" y="22526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82" name="AutoShape 14">
            <a:extLst>
              <a:ext uri="{FF2B5EF4-FFF2-40B4-BE49-F238E27FC236}">
                <a16:creationId xmlns:a16="http://schemas.microsoft.com/office/drawing/2014/main" id="{4E1C071B-886A-D9C2-CEBA-3EC0FBDE76F8}"/>
              </a:ext>
            </a:extLst>
          </p:cNvPr>
          <p:cNvSpPr>
            <a:spLocks noChangeArrowheads="1"/>
          </p:cNvSpPr>
          <p:nvPr/>
        </p:nvSpPr>
        <p:spPr bwMode="auto">
          <a:xfrm>
            <a:off x="5118100" y="27860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83" name="AutoShape 15">
            <a:extLst>
              <a:ext uri="{FF2B5EF4-FFF2-40B4-BE49-F238E27FC236}">
                <a16:creationId xmlns:a16="http://schemas.microsoft.com/office/drawing/2014/main" id="{69E6ABF9-C815-6CD0-AFF5-24D6ECB1643B}"/>
              </a:ext>
            </a:extLst>
          </p:cNvPr>
          <p:cNvSpPr>
            <a:spLocks noChangeArrowheads="1"/>
          </p:cNvSpPr>
          <p:nvPr/>
        </p:nvSpPr>
        <p:spPr bwMode="auto">
          <a:xfrm>
            <a:off x="5118100" y="33194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84" name="AutoShape 16">
            <a:extLst>
              <a:ext uri="{FF2B5EF4-FFF2-40B4-BE49-F238E27FC236}">
                <a16:creationId xmlns:a16="http://schemas.microsoft.com/office/drawing/2014/main" id="{0FD57BF2-3C93-D75E-679B-727E191471E4}"/>
              </a:ext>
            </a:extLst>
          </p:cNvPr>
          <p:cNvSpPr>
            <a:spLocks noChangeArrowheads="1"/>
          </p:cNvSpPr>
          <p:nvPr/>
        </p:nvSpPr>
        <p:spPr bwMode="auto">
          <a:xfrm>
            <a:off x="5118100" y="38528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85" name="AutoShape 17">
            <a:extLst>
              <a:ext uri="{FF2B5EF4-FFF2-40B4-BE49-F238E27FC236}">
                <a16:creationId xmlns:a16="http://schemas.microsoft.com/office/drawing/2014/main" id="{F2BA1A38-500D-DD00-C662-955AEF0AE4AC}"/>
              </a:ext>
            </a:extLst>
          </p:cNvPr>
          <p:cNvSpPr>
            <a:spLocks noChangeArrowheads="1"/>
          </p:cNvSpPr>
          <p:nvPr/>
        </p:nvSpPr>
        <p:spPr bwMode="auto">
          <a:xfrm>
            <a:off x="5118100" y="43862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86" name="Rectangle 18">
            <a:extLst>
              <a:ext uri="{FF2B5EF4-FFF2-40B4-BE49-F238E27FC236}">
                <a16:creationId xmlns:a16="http://schemas.microsoft.com/office/drawing/2014/main" id="{632214BD-10C6-5351-ABA8-2C469106C43D}"/>
              </a:ext>
            </a:extLst>
          </p:cNvPr>
          <p:cNvSpPr>
            <a:spLocks noChangeArrowheads="1"/>
          </p:cNvSpPr>
          <p:nvPr/>
        </p:nvSpPr>
        <p:spPr bwMode="auto">
          <a:xfrm>
            <a:off x="5505450" y="2152650"/>
            <a:ext cx="593725" cy="278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  8</a:t>
            </a:r>
          </a:p>
          <a:p>
            <a:pPr eaLnBrk="1" hangingPunct="1">
              <a:lnSpc>
                <a:spcPct val="100000"/>
              </a:lnSpc>
              <a:spcBef>
                <a:spcPct val="0"/>
              </a:spcBef>
              <a:buFontTx/>
              <a:buNone/>
            </a:pPr>
            <a:r>
              <a:rPr lang="en-US" altLang="en-US" sz="3500">
                <a:latin typeface="Arial Narrow" panose="020B0604020202020204" pitchFamily="34" charset="0"/>
              </a:rPr>
              <a:t>  6</a:t>
            </a:r>
          </a:p>
          <a:p>
            <a:pPr eaLnBrk="1" hangingPunct="1">
              <a:lnSpc>
                <a:spcPct val="100000"/>
              </a:lnSpc>
              <a:spcBef>
                <a:spcPct val="0"/>
              </a:spcBef>
              <a:buFontTx/>
              <a:buNone/>
            </a:pPr>
            <a:r>
              <a:rPr lang="en-US" altLang="en-US" sz="3500">
                <a:latin typeface="Arial Narrow" panose="020B0604020202020204" pitchFamily="34" charset="0"/>
              </a:rPr>
              <a:t>  4</a:t>
            </a:r>
          </a:p>
          <a:p>
            <a:pPr eaLnBrk="1" hangingPunct="1">
              <a:lnSpc>
                <a:spcPct val="100000"/>
              </a:lnSpc>
              <a:spcBef>
                <a:spcPct val="0"/>
              </a:spcBef>
              <a:buFontTx/>
              <a:buNone/>
            </a:pPr>
            <a:r>
              <a:rPr lang="en-US" altLang="en-US" sz="3500">
                <a:latin typeface="Arial Narrow" panose="020B0604020202020204" pitchFamily="34" charset="0"/>
              </a:rPr>
              <a:t>  </a:t>
            </a:r>
            <a:r>
              <a:rPr lang="en-US" altLang="en-US" sz="3500">
                <a:solidFill>
                  <a:srgbClr val="CC0000"/>
                </a:solidFill>
                <a:latin typeface="Arial Narrow" panose="020B0604020202020204" pitchFamily="34" charset="0"/>
              </a:rPr>
              <a:t>2</a:t>
            </a:r>
          </a:p>
        </p:txBody>
      </p:sp>
      <p:sp>
        <p:nvSpPr>
          <p:cNvPr id="28687" name="Rectangle 19">
            <a:extLst>
              <a:ext uri="{FF2B5EF4-FFF2-40B4-BE49-F238E27FC236}">
                <a16:creationId xmlns:a16="http://schemas.microsoft.com/office/drawing/2014/main" id="{82FF182F-E5D3-AE56-D2C9-AB32CC0BFEDA}"/>
              </a:ext>
            </a:extLst>
          </p:cNvPr>
          <p:cNvSpPr>
            <a:spLocks noChangeArrowheads="1"/>
          </p:cNvSpPr>
          <p:nvPr/>
        </p:nvSpPr>
        <p:spPr bwMode="auto">
          <a:xfrm>
            <a:off x="7359650" y="4041775"/>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8688" name="Rectangle 20">
            <a:extLst>
              <a:ext uri="{FF2B5EF4-FFF2-40B4-BE49-F238E27FC236}">
                <a16:creationId xmlns:a16="http://schemas.microsoft.com/office/drawing/2014/main" id="{8B7BC5D7-FEA8-3513-69A4-9F647BA72750}"/>
              </a:ext>
            </a:extLst>
          </p:cNvPr>
          <p:cNvSpPr>
            <a:spLocks noChangeArrowheads="1"/>
          </p:cNvSpPr>
          <p:nvPr/>
        </p:nvSpPr>
        <p:spPr bwMode="auto">
          <a:xfrm>
            <a:off x="7369175" y="6199188"/>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8689" name="Rectangle 21">
            <a:extLst>
              <a:ext uri="{FF2B5EF4-FFF2-40B4-BE49-F238E27FC236}">
                <a16:creationId xmlns:a16="http://schemas.microsoft.com/office/drawing/2014/main" id="{7C7BA73F-1DFD-9767-CD23-56645E584544}"/>
              </a:ext>
            </a:extLst>
          </p:cNvPr>
          <p:cNvSpPr>
            <a:spLocks noChangeArrowheads="1"/>
          </p:cNvSpPr>
          <p:nvPr/>
        </p:nvSpPr>
        <p:spPr bwMode="auto">
          <a:xfrm>
            <a:off x="6434138" y="996950"/>
            <a:ext cx="411162"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30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20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10</a:t>
            </a:r>
          </a:p>
        </p:txBody>
      </p:sp>
      <p:sp>
        <p:nvSpPr>
          <p:cNvPr id="28690" name="Rectangle 22">
            <a:extLst>
              <a:ext uri="{FF2B5EF4-FFF2-40B4-BE49-F238E27FC236}">
                <a16:creationId xmlns:a16="http://schemas.microsoft.com/office/drawing/2014/main" id="{C82BC086-2877-D732-F64D-1E626449BEBC}"/>
              </a:ext>
            </a:extLst>
          </p:cNvPr>
          <p:cNvSpPr>
            <a:spLocks noChangeArrowheads="1"/>
          </p:cNvSpPr>
          <p:nvPr/>
        </p:nvSpPr>
        <p:spPr bwMode="auto">
          <a:xfrm rot="-5400000">
            <a:off x="5553869" y="1897857"/>
            <a:ext cx="1677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Total Utility (utils)</a:t>
            </a:r>
          </a:p>
        </p:txBody>
      </p:sp>
      <p:sp>
        <p:nvSpPr>
          <p:cNvPr id="28691" name="Rectangle 23">
            <a:extLst>
              <a:ext uri="{FF2B5EF4-FFF2-40B4-BE49-F238E27FC236}">
                <a16:creationId xmlns:a16="http://schemas.microsoft.com/office/drawing/2014/main" id="{5AEC9347-2E64-C6AA-2097-77AB8F0A86FA}"/>
              </a:ext>
            </a:extLst>
          </p:cNvPr>
          <p:cNvSpPr>
            <a:spLocks noChangeArrowheads="1"/>
          </p:cNvSpPr>
          <p:nvPr/>
        </p:nvSpPr>
        <p:spPr bwMode="auto">
          <a:xfrm rot="-5400000">
            <a:off x="5364163" y="4956175"/>
            <a:ext cx="2000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Marginal Utility (utils)</a:t>
            </a:r>
          </a:p>
        </p:txBody>
      </p:sp>
      <p:sp>
        <p:nvSpPr>
          <p:cNvPr id="28692" name="Rectangle 24">
            <a:extLst>
              <a:ext uri="{FF2B5EF4-FFF2-40B4-BE49-F238E27FC236}">
                <a16:creationId xmlns:a16="http://schemas.microsoft.com/office/drawing/2014/main" id="{AA504C23-AA7C-BD6B-07AD-24F4778E0958}"/>
              </a:ext>
            </a:extLst>
          </p:cNvPr>
          <p:cNvSpPr>
            <a:spLocks noChangeArrowheads="1"/>
          </p:cNvSpPr>
          <p:nvPr/>
        </p:nvSpPr>
        <p:spPr bwMode="auto">
          <a:xfrm>
            <a:off x="6410325" y="4248150"/>
            <a:ext cx="423863"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10</a:t>
            </a:r>
          </a:p>
          <a:p>
            <a:pPr eaLnBrk="1" hangingPunct="1">
              <a:lnSpc>
                <a:spcPct val="100000"/>
              </a:lnSpc>
              <a:spcBef>
                <a:spcPct val="0"/>
              </a:spcBef>
              <a:buFontTx/>
              <a:buNone/>
            </a:pPr>
            <a:r>
              <a:rPr lang="en-US" altLang="en-US" sz="1600" b="1">
                <a:latin typeface="Arial" panose="020B0604020202020204" pitchFamily="34" charset="0"/>
              </a:rPr>
              <a:t>  8</a:t>
            </a:r>
          </a:p>
          <a:p>
            <a:pPr eaLnBrk="1" hangingPunct="1">
              <a:lnSpc>
                <a:spcPct val="100000"/>
              </a:lnSpc>
              <a:spcBef>
                <a:spcPct val="0"/>
              </a:spcBef>
              <a:buFontTx/>
              <a:buNone/>
            </a:pPr>
            <a:r>
              <a:rPr lang="en-US" altLang="en-US" sz="1600" b="1">
                <a:latin typeface="Arial" panose="020B0604020202020204" pitchFamily="34" charset="0"/>
              </a:rPr>
              <a:t>  6</a:t>
            </a:r>
          </a:p>
          <a:p>
            <a:pPr eaLnBrk="1" hangingPunct="1">
              <a:lnSpc>
                <a:spcPct val="100000"/>
              </a:lnSpc>
              <a:spcBef>
                <a:spcPct val="0"/>
              </a:spcBef>
              <a:buFontTx/>
              <a:buNone/>
            </a:pPr>
            <a:r>
              <a:rPr lang="en-US" altLang="en-US" sz="1600" b="1">
                <a:latin typeface="Arial" panose="020B0604020202020204" pitchFamily="34" charset="0"/>
              </a:rPr>
              <a:t>  4</a:t>
            </a:r>
          </a:p>
          <a:p>
            <a:pPr eaLnBrk="1" hangingPunct="1">
              <a:lnSpc>
                <a:spcPct val="100000"/>
              </a:lnSpc>
              <a:spcBef>
                <a:spcPct val="0"/>
              </a:spcBef>
              <a:buFontTx/>
              <a:buNone/>
            </a:pPr>
            <a:r>
              <a:rPr lang="en-US" altLang="en-US" sz="1600" b="1">
                <a:latin typeface="Arial" panose="020B0604020202020204" pitchFamily="34" charset="0"/>
              </a:rPr>
              <a:t>  2</a:t>
            </a:r>
          </a:p>
          <a:p>
            <a:pPr eaLnBrk="1" hangingPunct="1">
              <a:lnSpc>
                <a:spcPct val="100000"/>
              </a:lnSpc>
              <a:spcBef>
                <a:spcPct val="0"/>
              </a:spcBef>
              <a:buFontTx/>
              <a:buNone/>
            </a:pPr>
            <a:r>
              <a:rPr lang="en-US" altLang="en-US" sz="1600" b="1">
                <a:latin typeface="Arial" panose="020B0604020202020204" pitchFamily="34" charset="0"/>
              </a:rPr>
              <a:t>  0</a:t>
            </a:r>
          </a:p>
          <a:p>
            <a:pPr eaLnBrk="1" hangingPunct="1">
              <a:lnSpc>
                <a:spcPct val="100000"/>
              </a:lnSpc>
              <a:spcBef>
                <a:spcPct val="0"/>
              </a:spcBef>
              <a:buFontTx/>
              <a:buNone/>
            </a:pPr>
            <a:r>
              <a:rPr lang="en-US" altLang="en-US" sz="1600" b="1">
                <a:latin typeface="Arial" panose="020B0604020202020204" pitchFamily="34" charset="0"/>
              </a:rPr>
              <a:t> -2</a:t>
            </a:r>
          </a:p>
        </p:txBody>
      </p:sp>
      <p:sp>
        <p:nvSpPr>
          <p:cNvPr id="28693" name="Oval 25">
            <a:extLst>
              <a:ext uri="{FF2B5EF4-FFF2-40B4-BE49-F238E27FC236}">
                <a16:creationId xmlns:a16="http://schemas.microsoft.com/office/drawing/2014/main" id="{8F2B9DE0-6D3B-97EF-D71C-3D09BEE0D3A5}"/>
              </a:ext>
            </a:extLst>
          </p:cNvPr>
          <p:cNvSpPr>
            <a:spLocks noChangeArrowheads="1"/>
          </p:cNvSpPr>
          <p:nvPr/>
        </p:nvSpPr>
        <p:spPr bwMode="auto">
          <a:xfrm>
            <a:off x="7040563" y="246380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94" name="Oval 26">
            <a:extLst>
              <a:ext uri="{FF2B5EF4-FFF2-40B4-BE49-F238E27FC236}">
                <a16:creationId xmlns:a16="http://schemas.microsoft.com/office/drawing/2014/main" id="{55744415-554A-C132-C3A8-5743A3E2D37B}"/>
              </a:ext>
            </a:extLst>
          </p:cNvPr>
          <p:cNvSpPr>
            <a:spLocks noChangeArrowheads="1"/>
          </p:cNvSpPr>
          <p:nvPr/>
        </p:nvSpPr>
        <p:spPr bwMode="auto">
          <a:xfrm>
            <a:off x="7454900" y="19018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95" name="Oval 27">
            <a:extLst>
              <a:ext uri="{FF2B5EF4-FFF2-40B4-BE49-F238E27FC236}">
                <a16:creationId xmlns:a16="http://schemas.microsoft.com/office/drawing/2014/main" id="{DDF31CD8-FB3D-E0EE-40DD-8B544A3D1DFF}"/>
              </a:ext>
            </a:extLst>
          </p:cNvPr>
          <p:cNvSpPr>
            <a:spLocks noChangeArrowheads="1"/>
          </p:cNvSpPr>
          <p:nvPr/>
        </p:nvSpPr>
        <p:spPr bwMode="auto">
          <a:xfrm>
            <a:off x="7869238" y="153035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96" name="Oval 28">
            <a:extLst>
              <a:ext uri="{FF2B5EF4-FFF2-40B4-BE49-F238E27FC236}">
                <a16:creationId xmlns:a16="http://schemas.microsoft.com/office/drawing/2014/main" id="{CCF29F51-7F88-E64E-8F98-3E45471B0F03}"/>
              </a:ext>
            </a:extLst>
          </p:cNvPr>
          <p:cNvSpPr>
            <a:spLocks noChangeArrowheads="1"/>
          </p:cNvSpPr>
          <p:nvPr/>
        </p:nvSpPr>
        <p:spPr bwMode="auto">
          <a:xfrm>
            <a:off x="8307388" y="12541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97" name="Oval 29">
            <a:extLst>
              <a:ext uri="{FF2B5EF4-FFF2-40B4-BE49-F238E27FC236}">
                <a16:creationId xmlns:a16="http://schemas.microsoft.com/office/drawing/2014/main" id="{0CFE59FB-605D-400A-B060-A1DAE9E1CEAE}"/>
              </a:ext>
            </a:extLst>
          </p:cNvPr>
          <p:cNvSpPr>
            <a:spLocks noChangeArrowheads="1"/>
          </p:cNvSpPr>
          <p:nvPr/>
        </p:nvSpPr>
        <p:spPr bwMode="auto">
          <a:xfrm>
            <a:off x="6931025" y="421163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98" name="Oval 30">
            <a:extLst>
              <a:ext uri="{FF2B5EF4-FFF2-40B4-BE49-F238E27FC236}">
                <a16:creationId xmlns:a16="http://schemas.microsoft.com/office/drawing/2014/main" id="{36FD3752-0D79-ABE7-DFA3-20718BA857CB}"/>
              </a:ext>
            </a:extLst>
          </p:cNvPr>
          <p:cNvSpPr>
            <a:spLocks noChangeArrowheads="1"/>
          </p:cNvSpPr>
          <p:nvPr/>
        </p:nvSpPr>
        <p:spPr bwMode="auto">
          <a:xfrm>
            <a:off x="7345363" y="445928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699" name="Oval 31">
            <a:extLst>
              <a:ext uri="{FF2B5EF4-FFF2-40B4-BE49-F238E27FC236}">
                <a16:creationId xmlns:a16="http://schemas.microsoft.com/office/drawing/2014/main" id="{9A2143CD-993A-5025-253A-1DB633398D6A}"/>
              </a:ext>
            </a:extLst>
          </p:cNvPr>
          <p:cNvSpPr>
            <a:spLocks noChangeArrowheads="1"/>
          </p:cNvSpPr>
          <p:nvPr/>
        </p:nvSpPr>
        <p:spPr bwMode="auto">
          <a:xfrm>
            <a:off x="7783513" y="473075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700" name="Oval 32">
            <a:extLst>
              <a:ext uri="{FF2B5EF4-FFF2-40B4-BE49-F238E27FC236}">
                <a16:creationId xmlns:a16="http://schemas.microsoft.com/office/drawing/2014/main" id="{44A47BD4-39C7-A6EF-ED4C-E45C56681269}"/>
              </a:ext>
            </a:extLst>
          </p:cNvPr>
          <p:cNvSpPr>
            <a:spLocks noChangeArrowheads="1"/>
          </p:cNvSpPr>
          <p:nvPr/>
        </p:nvSpPr>
        <p:spPr bwMode="auto">
          <a:xfrm>
            <a:off x="8269288" y="500221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nvGrpSpPr>
          <p:cNvPr id="19489" name="Group 33">
            <a:extLst>
              <a:ext uri="{FF2B5EF4-FFF2-40B4-BE49-F238E27FC236}">
                <a16:creationId xmlns:a16="http://schemas.microsoft.com/office/drawing/2014/main" id="{4451D6FE-41E8-DA9F-97BB-31F7A7098CBE}"/>
              </a:ext>
            </a:extLst>
          </p:cNvPr>
          <p:cNvGrpSpPr>
            <a:grpSpLocks/>
          </p:cNvGrpSpPr>
          <p:nvPr/>
        </p:nvGrpSpPr>
        <p:grpSpPr bwMode="auto">
          <a:xfrm>
            <a:off x="8745538" y="1096963"/>
            <a:ext cx="215900" cy="4359275"/>
            <a:chOff x="4549" y="691"/>
            <a:chExt cx="136" cy="2746"/>
          </a:xfrm>
        </p:grpSpPr>
        <p:sp>
          <p:nvSpPr>
            <p:cNvPr id="28708" name="Oval 34">
              <a:extLst>
                <a:ext uri="{FF2B5EF4-FFF2-40B4-BE49-F238E27FC236}">
                  <a16:creationId xmlns:a16="http://schemas.microsoft.com/office/drawing/2014/main" id="{47FFBA13-007D-6CF2-AA87-8EF1FB1FDC39}"/>
                </a:ext>
              </a:extLst>
            </p:cNvPr>
            <p:cNvSpPr>
              <a:spLocks noChangeArrowheads="1"/>
            </p:cNvSpPr>
            <p:nvPr/>
          </p:nvSpPr>
          <p:spPr bwMode="auto">
            <a:xfrm>
              <a:off x="4549" y="691"/>
              <a:ext cx="130" cy="130"/>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8709" name="Oval 35">
              <a:extLst>
                <a:ext uri="{FF2B5EF4-FFF2-40B4-BE49-F238E27FC236}">
                  <a16:creationId xmlns:a16="http://schemas.microsoft.com/office/drawing/2014/main" id="{B9C802DE-47A2-471B-9792-4304E21F71E1}"/>
                </a:ext>
              </a:extLst>
            </p:cNvPr>
            <p:cNvSpPr>
              <a:spLocks noChangeArrowheads="1"/>
            </p:cNvSpPr>
            <p:nvPr/>
          </p:nvSpPr>
          <p:spPr bwMode="auto">
            <a:xfrm>
              <a:off x="4555" y="3307"/>
              <a:ext cx="130" cy="130"/>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pSp>
        <p:nvGrpSpPr>
          <p:cNvPr id="28702" name="Group 36">
            <a:extLst>
              <a:ext uri="{FF2B5EF4-FFF2-40B4-BE49-F238E27FC236}">
                <a16:creationId xmlns:a16="http://schemas.microsoft.com/office/drawing/2014/main" id="{3861E2B1-73A5-3990-00BA-4CFD59E88835}"/>
              </a:ext>
            </a:extLst>
          </p:cNvPr>
          <p:cNvGrpSpPr>
            <a:grpSpLocks/>
          </p:cNvGrpSpPr>
          <p:nvPr/>
        </p:nvGrpSpPr>
        <p:grpSpPr bwMode="auto">
          <a:xfrm>
            <a:off x="6765925" y="693738"/>
            <a:ext cx="3317875" cy="3016250"/>
            <a:chOff x="3126" y="593"/>
            <a:chExt cx="2090" cy="1900"/>
          </a:xfrm>
        </p:grpSpPr>
        <p:sp>
          <p:nvSpPr>
            <p:cNvPr id="28706" name="Line 37">
              <a:extLst>
                <a:ext uri="{FF2B5EF4-FFF2-40B4-BE49-F238E27FC236}">
                  <a16:creationId xmlns:a16="http://schemas.microsoft.com/office/drawing/2014/main" id="{5340165D-B3DA-E04F-9B71-2A9727447677}"/>
                </a:ext>
              </a:extLst>
            </p:cNvPr>
            <p:cNvSpPr>
              <a:spLocks noChangeShapeType="1"/>
            </p:cNvSpPr>
            <p:nvPr/>
          </p:nvSpPr>
          <p:spPr bwMode="auto">
            <a:xfrm>
              <a:off x="3143" y="593"/>
              <a:ext cx="0" cy="19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8707" name="Line 38">
              <a:extLst>
                <a:ext uri="{FF2B5EF4-FFF2-40B4-BE49-F238E27FC236}">
                  <a16:creationId xmlns:a16="http://schemas.microsoft.com/office/drawing/2014/main" id="{814268E7-74C2-F95A-250A-A74FA434AF42}"/>
                </a:ext>
              </a:extLst>
            </p:cNvPr>
            <p:cNvSpPr>
              <a:spLocks noChangeShapeType="1"/>
            </p:cNvSpPr>
            <p:nvPr/>
          </p:nvSpPr>
          <p:spPr bwMode="auto">
            <a:xfrm>
              <a:off x="3126" y="248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28703" name="Rectangle 39">
            <a:extLst>
              <a:ext uri="{FF2B5EF4-FFF2-40B4-BE49-F238E27FC236}">
                <a16:creationId xmlns:a16="http://schemas.microsoft.com/office/drawing/2014/main" id="{4B4491DC-B408-F948-1165-70F873F6812D}"/>
              </a:ext>
            </a:extLst>
          </p:cNvPr>
          <p:cNvSpPr>
            <a:spLocks noChangeArrowheads="1"/>
          </p:cNvSpPr>
          <p:nvPr/>
        </p:nvSpPr>
        <p:spPr bwMode="auto">
          <a:xfrm>
            <a:off x="6635750" y="3673475"/>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0       1       2       3       4       5       6       7</a:t>
            </a:r>
          </a:p>
        </p:txBody>
      </p:sp>
      <p:sp>
        <p:nvSpPr>
          <p:cNvPr id="28704" name="Rectangle 40">
            <a:extLst>
              <a:ext uri="{FF2B5EF4-FFF2-40B4-BE49-F238E27FC236}">
                <a16:creationId xmlns:a16="http://schemas.microsoft.com/office/drawing/2014/main" id="{B8B3F647-1C5B-7889-4BDC-C074983441CF}"/>
              </a:ext>
            </a:extLst>
          </p:cNvPr>
          <p:cNvSpPr>
            <a:spLocks noChangeArrowheads="1"/>
          </p:cNvSpPr>
          <p:nvPr/>
        </p:nvSpPr>
        <p:spPr bwMode="auto">
          <a:xfrm>
            <a:off x="6607175" y="6064250"/>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         1       2       3       4       5       6       7</a:t>
            </a:r>
          </a:p>
        </p:txBody>
      </p:sp>
      <p:sp>
        <p:nvSpPr>
          <p:cNvPr id="43" name="Rectangle 8">
            <a:extLst>
              <a:ext uri="{FF2B5EF4-FFF2-40B4-BE49-F238E27FC236}">
                <a16:creationId xmlns:a16="http://schemas.microsoft.com/office/drawing/2014/main" id="{C2BAAF6D-3185-5B76-E499-FF81F0DF6097}"/>
              </a:ext>
            </a:extLst>
          </p:cNvPr>
          <p:cNvSpPr>
            <a:spLocks noChangeArrowheads="1"/>
          </p:cNvSpPr>
          <p:nvPr/>
        </p:nvSpPr>
        <p:spPr bwMode="auto">
          <a:xfrm>
            <a:off x="3219450" y="1031875"/>
            <a:ext cx="133667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Yogurts</a:t>
            </a:r>
          </a:p>
          <a:p>
            <a:pPr algn="ctr" eaLnBrk="1" hangingPunct="1">
              <a:lnSpc>
                <a:spcPct val="100000"/>
              </a:lnSpc>
              <a:spcBef>
                <a:spcPct val="0"/>
              </a:spcBef>
              <a:buFontTx/>
              <a:buNone/>
            </a:pPr>
            <a:r>
              <a:rPr lang="en-US" altLang="en-US" sz="1800" b="1">
                <a:latin typeface="Arial" panose="020B0604020202020204" pitchFamily="34" charset="0"/>
              </a:rPr>
              <a:t>consumed</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9489"/>
                                        </p:tgtEl>
                                        <p:attrNameLst>
                                          <p:attrName>style.visibility</p:attrName>
                                        </p:attrNameLst>
                                      </p:cBhvr>
                                      <p:to>
                                        <p:strVal val="visible"/>
                                      </p:to>
                                    </p:set>
                                    <p:animEffect transition="in" filter="dissolve">
                                      <p:cBhvr>
                                        <p:cTn id="7" dur="500"/>
                                        <p:tgtEl>
                                          <p:spTgt spid="19489"/>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up)">
                                      <p:cBhvr>
                                        <p:cTn id="1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7" name="Group 2">
            <a:extLst>
              <a:ext uri="{FF2B5EF4-FFF2-40B4-BE49-F238E27FC236}">
                <a16:creationId xmlns:a16="http://schemas.microsoft.com/office/drawing/2014/main" id="{152DCE1B-D56D-1A0E-4269-6A9EE695772F}"/>
              </a:ext>
            </a:extLst>
          </p:cNvPr>
          <p:cNvGrpSpPr>
            <a:grpSpLocks/>
          </p:cNvGrpSpPr>
          <p:nvPr/>
        </p:nvGrpSpPr>
        <p:grpSpPr bwMode="auto">
          <a:xfrm>
            <a:off x="6802438" y="4286250"/>
            <a:ext cx="3328987" cy="2019300"/>
            <a:chOff x="3149" y="2820"/>
            <a:chExt cx="2097" cy="1272"/>
          </a:xfrm>
        </p:grpSpPr>
        <p:sp>
          <p:nvSpPr>
            <p:cNvPr id="29737" name="Line 3">
              <a:extLst>
                <a:ext uri="{FF2B5EF4-FFF2-40B4-BE49-F238E27FC236}">
                  <a16:creationId xmlns:a16="http://schemas.microsoft.com/office/drawing/2014/main" id="{5EFF41E4-615A-2895-DDF1-B0341B3E901E}"/>
                </a:ext>
              </a:extLst>
            </p:cNvPr>
            <p:cNvSpPr>
              <a:spLocks noChangeShapeType="1"/>
            </p:cNvSpPr>
            <p:nvPr/>
          </p:nvSpPr>
          <p:spPr bwMode="auto">
            <a:xfrm>
              <a:off x="3149" y="2820"/>
              <a:ext cx="0" cy="127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9738" name="Line 4">
              <a:extLst>
                <a:ext uri="{FF2B5EF4-FFF2-40B4-BE49-F238E27FC236}">
                  <a16:creationId xmlns:a16="http://schemas.microsoft.com/office/drawing/2014/main" id="{349F876B-4FEE-B67D-C39A-27352A0B7E4C}"/>
                </a:ext>
              </a:extLst>
            </p:cNvPr>
            <p:cNvSpPr>
              <a:spLocks noChangeShapeType="1"/>
            </p:cNvSpPr>
            <p:nvPr/>
          </p:nvSpPr>
          <p:spPr bwMode="auto">
            <a:xfrm>
              <a:off x="3156" y="366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pic>
        <p:nvPicPr>
          <p:cNvPr id="29698" name="Picture 5">
            <a:extLst>
              <a:ext uri="{FF2B5EF4-FFF2-40B4-BE49-F238E27FC236}">
                <a16:creationId xmlns:a16="http://schemas.microsoft.com/office/drawing/2014/main" id="{7B80EFCB-34FC-35AF-6761-12AE17DCD8D1}"/>
              </a:ext>
            </a:extLst>
          </p:cNvPr>
          <p:cNvPicPr>
            <a:picLocks noChangeArrowheads="1"/>
          </p:cNvPicPr>
          <p:nvPr/>
        </p:nvPicPr>
        <p:blipFill>
          <a:blip r:embed="rId2">
            <a:extLst>
              <a:ext uri="{28A0092B-C50C-407E-A947-70E740481C1C}">
                <a14:useLocalDpi xmlns:a14="http://schemas.microsoft.com/office/drawing/2010/main" val="0"/>
              </a:ext>
            </a:extLst>
          </a:blip>
          <a:srcRect r="30557" b="50426"/>
          <a:stretch>
            <a:fillRect/>
          </a:stretch>
        </p:blipFill>
        <p:spPr bwMode="auto">
          <a:xfrm>
            <a:off x="6754813" y="1179513"/>
            <a:ext cx="2528887" cy="249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699" name="Rectangle 6">
            <a:extLst>
              <a:ext uri="{FF2B5EF4-FFF2-40B4-BE49-F238E27FC236}">
                <a16:creationId xmlns:a16="http://schemas.microsoft.com/office/drawing/2014/main" id="{27A19434-5E17-E511-F7B4-C16DB616DABA}"/>
              </a:ext>
            </a:extLst>
          </p:cNvPr>
          <p:cNvSpPr>
            <a:spLocks noChangeArrowheads="1"/>
          </p:cNvSpPr>
          <p:nvPr/>
        </p:nvSpPr>
        <p:spPr bwMode="auto">
          <a:xfrm>
            <a:off x="3365500" y="34925"/>
            <a:ext cx="71723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400" b="1">
                <a:solidFill>
                  <a:srgbClr val="000099"/>
                </a:solidFill>
                <a:latin typeface="Times New Roman" panose="02020603050405020304" pitchFamily="18" charset="0"/>
              </a:rPr>
              <a:t>TOTAL AND MARGINAL UTILITY</a:t>
            </a:r>
          </a:p>
        </p:txBody>
      </p:sp>
      <p:sp>
        <p:nvSpPr>
          <p:cNvPr id="29700" name="Line 7">
            <a:extLst>
              <a:ext uri="{FF2B5EF4-FFF2-40B4-BE49-F238E27FC236}">
                <a16:creationId xmlns:a16="http://schemas.microsoft.com/office/drawing/2014/main" id="{B959D21F-39EC-4075-DE04-AFED208F8CA1}"/>
              </a:ext>
            </a:extLst>
          </p:cNvPr>
          <p:cNvSpPr>
            <a:spLocks noChangeShapeType="1"/>
          </p:cNvSpPr>
          <p:nvPr/>
        </p:nvSpPr>
        <p:spPr bwMode="auto">
          <a:xfrm>
            <a:off x="3357563" y="1733550"/>
            <a:ext cx="28098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9701" name="Rectangle 9">
            <a:extLst>
              <a:ext uri="{FF2B5EF4-FFF2-40B4-BE49-F238E27FC236}">
                <a16:creationId xmlns:a16="http://schemas.microsoft.com/office/drawing/2014/main" id="{2588E1CA-9D4D-3EF9-88B5-1E0B7DD8D161}"/>
              </a:ext>
            </a:extLst>
          </p:cNvPr>
          <p:cNvSpPr>
            <a:spLocks noChangeArrowheads="1"/>
          </p:cNvSpPr>
          <p:nvPr/>
        </p:nvSpPr>
        <p:spPr bwMode="auto">
          <a:xfrm>
            <a:off x="4408488" y="765175"/>
            <a:ext cx="8794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Total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9702" name="Rectangle 10">
            <a:extLst>
              <a:ext uri="{FF2B5EF4-FFF2-40B4-BE49-F238E27FC236}">
                <a16:creationId xmlns:a16="http://schemas.microsoft.com/office/drawing/2014/main" id="{FFDB10DC-27A3-C17E-FCA5-C5806958B614}"/>
              </a:ext>
            </a:extLst>
          </p:cNvPr>
          <p:cNvSpPr>
            <a:spLocks noChangeArrowheads="1"/>
          </p:cNvSpPr>
          <p:nvPr/>
        </p:nvSpPr>
        <p:spPr bwMode="auto">
          <a:xfrm>
            <a:off x="5218113" y="765175"/>
            <a:ext cx="11303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Marginal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29703" name="Rectangle 11">
            <a:extLst>
              <a:ext uri="{FF2B5EF4-FFF2-40B4-BE49-F238E27FC236}">
                <a16:creationId xmlns:a16="http://schemas.microsoft.com/office/drawing/2014/main" id="{76A54002-15C5-C7F7-D973-52A4B13FF87B}"/>
              </a:ext>
            </a:extLst>
          </p:cNvPr>
          <p:cNvSpPr>
            <a:spLocks noChangeArrowheads="1"/>
          </p:cNvSpPr>
          <p:nvPr/>
        </p:nvSpPr>
        <p:spPr bwMode="auto">
          <a:xfrm>
            <a:off x="3644900" y="1885950"/>
            <a:ext cx="387350" cy="386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0</a:t>
            </a:r>
          </a:p>
          <a:p>
            <a:pPr eaLnBrk="1" hangingPunct="1">
              <a:lnSpc>
                <a:spcPct val="100000"/>
              </a:lnSpc>
              <a:spcBef>
                <a:spcPct val="0"/>
              </a:spcBef>
              <a:buFontTx/>
              <a:buNone/>
            </a:pPr>
            <a:r>
              <a:rPr lang="en-US" altLang="en-US" sz="3500">
                <a:latin typeface="Arial Narrow" panose="020B0604020202020204" pitchFamily="34" charset="0"/>
              </a:rPr>
              <a:t>1</a:t>
            </a:r>
          </a:p>
          <a:p>
            <a:pPr eaLnBrk="1" hangingPunct="1">
              <a:lnSpc>
                <a:spcPct val="100000"/>
              </a:lnSpc>
              <a:spcBef>
                <a:spcPct val="0"/>
              </a:spcBef>
              <a:buFontTx/>
              <a:buNone/>
            </a:pPr>
            <a:r>
              <a:rPr lang="en-US" altLang="en-US" sz="3500">
                <a:latin typeface="Arial Narrow" panose="020B0604020202020204" pitchFamily="34" charset="0"/>
              </a:rPr>
              <a:t>2</a:t>
            </a:r>
          </a:p>
          <a:p>
            <a:pPr eaLnBrk="1" hangingPunct="1">
              <a:lnSpc>
                <a:spcPct val="100000"/>
              </a:lnSpc>
              <a:spcBef>
                <a:spcPct val="0"/>
              </a:spcBef>
              <a:buFontTx/>
              <a:buNone/>
            </a:pPr>
            <a:r>
              <a:rPr lang="en-US" altLang="en-US" sz="3500">
                <a:latin typeface="Arial Narrow" panose="020B0604020202020204" pitchFamily="34" charset="0"/>
              </a:rPr>
              <a:t>3</a:t>
            </a:r>
          </a:p>
          <a:p>
            <a:pPr eaLnBrk="1" hangingPunct="1">
              <a:lnSpc>
                <a:spcPct val="100000"/>
              </a:lnSpc>
              <a:spcBef>
                <a:spcPct val="0"/>
              </a:spcBef>
              <a:buFontTx/>
              <a:buNone/>
            </a:pPr>
            <a:r>
              <a:rPr lang="en-US" altLang="en-US" sz="3500">
                <a:latin typeface="Arial Narrow" panose="020B0604020202020204" pitchFamily="34" charset="0"/>
              </a:rPr>
              <a:t>4</a:t>
            </a:r>
          </a:p>
          <a:p>
            <a:pPr eaLnBrk="1" hangingPunct="1">
              <a:lnSpc>
                <a:spcPct val="100000"/>
              </a:lnSpc>
              <a:spcBef>
                <a:spcPct val="0"/>
              </a:spcBef>
              <a:buFontTx/>
              <a:buNone/>
            </a:pPr>
            <a:r>
              <a:rPr lang="en-US" altLang="en-US" sz="3500">
                <a:latin typeface="Arial Narrow" panose="020B0604020202020204" pitchFamily="34" charset="0"/>
              </a:rPr>
              <a:t>5</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6</a:t>
            </a:r>
          </a:p>
        </p:txBody>
      </p:sp>
      <p:sp>
        <p:nvSpPr>
          <p:cNvPr id="29704" name="Rectangle 12">
            <a:extLst>
              <a:ext uri="{FF2B5EF4-FFF2-40B4-BE49-F238E27FC236}">
                <a16:creationId xmlns:a16="http://schemas.microsoft.com/office/drawing/2014/main" id="{8A6013EC-0E23-53AB-8363-BDF22C31D40C}"/>
              </a:ext>
            </a:extLst>
          </p:cNvPr>
          <p:cNvSpPr>
            <a:spLocks noChangeArrowheads="1"/>
          </p:cNvSpPr>
          <p:nvPr/>
        </p:nvSpPr>
        <p:spPr bwMode="auto">
          <a:xfrm>
            <a:off x="4468813" y="1885950"/>
            <a:ext cx="593725" cy="386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  0</a:t>
            </a:r>
          </a:p>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18</a:t>
            </a:r>
          </a:p>
          <a:p>
            <a:pPr eaLnBrk="1" hangingPunct="1">
              <a:lnSpc>
                <a:spcPct val="100000"/>
              </a:lnSpc>
              <a:spcBef>
                <a:spcPct val="0"/>
              </a:spcBef>
              <a:buFontTx/>
              <a:buNone/>
            </a:pPr>
            <a:r>
              <a:rPr lang="en-US" altLang="en-US" sz="3500">
                <a:latin typeface="Arial Narrow" panose="020B0604020202020204" pitchFamily="34" charset="0"/>
              </a:rPr>
              <a:t>24</a:t>
            </a:r>
          </a:p>
          <a:p>
            <a:pPr eaLnBrk="1" hangingPunct="1">
              <a:lnSpc>
                <a:spcPct val="100000"/>
              </a:lnSpc>
              <a:spcBef>
                <a:spcPct val="0"/>
              </a:spcBef>
              <a:buFontTx/>
              <a:buNone/>
            </a:pPr>
            <a:r>
              <a:rPr lang="en-US" altLang="en-US" sz="3500">
                <a:latin typeface="Arial Narrow" panose="020B0604020202020204" pitchFamily="34" charset="0"/>
              </a:rPr>
              <a:t>28</a:t>
            </a:r>
          </a:p>
          <a:p>
            <a:pPr eaLnBrk="1" hangingPunct="1">
              <a:lnSpc>
                <a:spcPct val="100000"/>
              </a:lnSpc>
              <a:spcBef>
                <a:spcPct val="0"/>
              </a:spcBef>
              <a:buFontTx/>
              <a:buNone/>
            </a:pPr>
            <a:r>
              <a:rPr lang="en-US" altLang="en-US" sz="3500">
                <a:latin typeface="Arial Narrow" panose="020B0604020202020204" pitchFamily="34" charset="0"/>
              </a:rPr>
              <a:t>30</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30</a:t>
            </a:r>
          </a:p>
        </p:txBody>
      </p:sp>
      <p:sp>
        <p:nvSpPr>
          <p:cNvPr id="29705" name="AutoShape 13">
            <a:extLst>
              <a:ext uri="{FF2B5EF4-FFF2-40B4-BE49-F238E27FC236}">
                <a16:creationId xmlns:a16="http://schemas.microsoft.com/office/drawing/2014/main" id="{DB144F7E-4620-2D25-8D05-8C970E2F9C13}"/>
              </a:ext>
            </a:extLst>
          </p:cNvPr>
          <p:cNvSpPr>
            <a:spLocks noChangeArrowheads="1"/>
          </p:cNvSpPr>
          <p:nvPr/>
        </p:nvSpPr>
        <p:spPr bwMode="auto">
          <a:xfrm>
            <a:off x="5118100" y="2252663"/>
            <a:ext cx="379413" cy="439737"/>
          </a:xfrm>
          <a:prstGeom prst="homePlate">
            <a:avLst>
              <a:gd name="adj" fmla="val 33333"/>
            </a:avLst>
          </a:prstGeom>
          <a:gradFill rotWithShape="0">
            <a:gsLst>
              <a:gs pos="0">
                <a:srgbClr val="F7E955"/>
              </a:gs>
              <a:gs pos="100000">
                <a:srgbClr val="CC0000"/>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06" name="AutoShape 14">
            <a:extLst>
              <a:ext uri="{FF2B5EF4-FFF2-40B4-BE49-F238E27FC236}">
                <a16:creationId xmlns:a16="http://schemas.microsoft.com/office/drawing/2014/main" id="{17A0C044-0620-313C-1311-DDF285CD9408}"/>
              </a:ext>
            </a:extLst>
          </p:cNvPr>
          <p:cNvSpPr>
            <a:spLocks noChangeArrowheads="1"/>
          </p:cNvSpPr>
          <p:nvPr/>
        </p:nvSpPr>
        <p:spPr bwMode="auto">
          <a:xfrm>
            <a:off x="5118100" y="2786063"/>
            <a:ext cx="379413" cy="439737"/>
          </a:xfrm>
          <a:prstGeom prst="homePlate">
            <a:avLst>
              <a:gd name="adj" fmla="val 33333"/>
            </a:avLst>
          </a:prstGeom>
          <a:gradFill rotWithShape="0">
            <a:gsLst>
              <a:gs pos="0">
                <a:srgbClr val="F7E955"/>
              </a:gs>
              <a:gs pos="100000">
                <a:srgbClr val="CC0000"/>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07" name="AutoShape 15">
            <a:extLst>
              <a:ext uri="{FF2B5EF4-FFF2-40B4-BE49-F238E27FC236}">
                <a16:creationId xmlns:a16="http://schemas.microsoft.com/office/drawing/2014/main" id="{CFD89EA6-2FAA-8F13-D5E9-9BF0F23CD9F4}"/>
              </a:ext>
            </a:extLst>
          </p:cNvPr>
          <p:cNvSpPr>
            <a:spLocks noChangeArrowheads="1"/>
          </p:cNvSpPr>
          <p:nvPr/>
        </p:nvSpPr>
        <p:spPr bwMode="auto">
          <a:xfrm>
            <a:off x="5118100" y="3319463"/>
            <a:ext cx="379413" cy="439737"/>
          </a:xfrm>
          <a:prstGeom prst="homePlate">
            <a:avLst>
              <a:gd name="adj" fmla="val 33333"/>
            </a:avLst>
          </a:prstGeom>
          <a:gradFill rotWithShape="0">
            <a:gsLst>
              <a:gs pos="0">
                <a:srgbClr val="F7E955"/>
              </a:gs>
              <a:gs pos="100000">
                <a:srgbClr val="CC0000"/>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08" name="AutoShape 16">
            <a:extLst>
              <a:ext uri="{FF2B5EF4-FFF2-40B4-BE49-F238E27FC236}">
                <a16:creationId xmlns:a16="http://schemas.microsoft.com/office/drawing/2014/main" id="{918F5163-CEA5-5EF2-4A73-2A0342A9FD75}"/>
              </a:ext>
            </a:extLst>
          </p:cNvPr>
          <p:cNvSpPr>
            <a:spLocks noChangeArrowheads="1"/>
          </p:cNvSpPr>
          <p:nvPr/>
        </p:nvSpPr>
        <p:spPr bwMode="auto">
          <a:xfrm>
            <a:off x="5118100" y="3852863"/>
            <a:ext cx="379413" cy="439737"/>
          </a:xfrm>
          <a:prstGeom prst="homePlate">
            <a:avLst>
              <a:gd name="adj" fmla="val 33333"/>
            </a:avLst>
          </a:prstGeom>
          <a:gradFill rotWithShape="0">
            <a:gsLst>
              <a:gs pos="0">
                <a:srgbClr val="F7E955"/>
              </a:gs>
              <a:gs pos="100000">
                <a:srgbClr val="CC0000"/>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09" name="AutoShape 17">
            <a:extLst>
              <a:ext uri="{FF2B5EF4-FFF2-40B4-BE49-F238E27FC236}">
                <a16:creationId xmlns:a16="http://schemas.microsoft.com/office/drawing/2014/main" id="{5EFDCCE7-A43A-A2D0-64A8-53B272D1FF66}"/>
              </a:ext>
            </a:extLst>
          </p:cNvPr>
          <p:cNvSpPr>
            <a:spLocks noChangeArrowheads="1"/>
          </p:cNvSpPr>
          <p:nvPr/>
        </p:nvSpPr>
        <p:spPr bwMode="auto">
          <a:xfrm>
            <a:off x="5118100" y="4386263"/>
            <a:ext cx="379413" cy="439737"/>
          </a:xfrm>
          <a:prstGeom prst="homePlate">
            <a:avLst>
              <a:gd name="adj" fmla="val 33333"/>
            </a:avLst>
          </a:prstGeom>
          <a:gradFill rotWithShape="0">
            <a:gsLst>
              <a:gs pos="0">
                <a:srgbClr val="F7E955"/>
              </a:gs>
              <a:gs pos="100000">
                <a:srgbClr val="CC0000"/>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10" name="AutoShape 18">
            <a:extLst>
              <a:ext uri="{FF2B5EF4-FFF2-40B4-BE49-F238E27FC236}">
                <a16:creationId xmlns:a16="http://schemas.microsoft.com/office/drawing/2014/main" id="{B41CAD9F-0E94-8D32-B103-ECB9E0124CC3}"/>
              </a:ext>
            </a:extLst>
          </p:cNvPr>
          <p:cNvSpPr>
            <a:spLocks noChangeArrowheads="1"/>
          </p:cNvSpPr>
          <p:nvPr/>
        </p:nvSpPr>
        <p:spPr bwMode="auto">
          <a:xfrm>
            <a:off x="5118100" y="4919663"/>
            <a:ext cx="379413" cy="439737"/>
          </a:xfrm>
          <a:prstGeom prst="homePlate">
            <a:avLst>
              <a:gd name="adj" fmla="val 33333"/>
            </a:avLst>
          </a:prstGeom>
          <a:gradFill rotWithShape="0">
            <a:gsLst>
              <a:gs pos="0">
                <a:srgbClr val="F7E955"/>
              </a:gs>
              <a:gs pos="100000">
                <a:srgbClr val="CC0000"/>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11" name="Rectangle 19">
            <a:extLst>
              <a:ext uri="{FF2B5EF4-FFF2-40B4-BE49-F238E27FC236}">
                <a16:creationId xmlns:a16="http://schemas.microsoft.com/office/drawing/2014/main" id="{A49142D9-BFC5-5CD5-2A69-51D7974137E8}"/>
              </a:ext>
            </a:extLst>
          </p:cNvPr>
          <p:cNvSpPr>
            <a:spLocks noChangeArrowheads="1"/>
          </p:cNvSpPr>
          <p:nvPr/>
        </p:nvSpPr>
        <p:spPr bwMode="auto">
          <a:xfrm>
            <a:off x="5505450" y="2152650"/>
            <a:ext cx="593725" cy="332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  8</a:t>
            </a:r>
          </a:p>
          <a:p>
            <a:pPr eaLnBrk="1" hangingPunct="1">
              <a:lnSpc>
                <a:spcPct val="100000"/>
              </a:lnSpc>
              <a:spcBef>
                <a:spcPct val="0"/>
              </a:spcBef>
              <a:buFontTx/>
              <a:buNone/>
            </a:pPr>
            <a:r>
              <a:rPr lang="en-US" altLang="en-US" sz="3500">
                <a:latin typeface="Arial Narrow" panose="020B0604020202020204" pitchFamily="34" charset="0"/>
              </a:rPr>
              <a:t>  6</a:t>
            </a:r>
          </a:p>
          <a:p>
            <a:pPr eaLnBrk="1" hangingPunct="1">
              <a:lnSpc>
                <a:spcPct val="100000"/>
              </a:lnSpc>
              <a:spcBef>
                <a:spcPct val="0"/>
              </a:spcBef>
              <a:buFontTx/>
              <a:buNone/>
            </a:pPr>
            <a:r>
              <a:rPr lang="en-US" altLang="en-US" sz="3500">
                <a:latin typeface="Arial Narrow" panose="020B0604020202020204" pitchFamily="34" charset="0"/>
              </a:rPr>
              <a:t>  4</a:t>
            </a:r>
          </a:p>
          <a:p>
            <a:pPr eaLnBrk="1" hangingPunct="1">
              <a:lnSpc>
                <a:spcPct val="100000"/>
              </a:lnSpc>
              <a:spcBef>
                <a:spcPct val="0"/>
              </a:spcBef>
              <a:buFontTx/>
              <a:buNone/>
            </a:pPr>
            <a:r>
              <a:rPr lang="en-US" altLang="en-US" sz="3500">
                <a:latin typeface="Arial Narrow" panose="020B0604020202020204" pitchFamily="34" charset="0"/>
              </a:rPr>
              <a:t>  2</a:t>
            </a:r>
          </a:p>
          <a:p>
            <a:pPr eaLnBrk="1" hangingPunct="1">
              <a:lnSpc>
                <a:spcPct val="100000"/>
              </a:lnSpc>
              <a:spcBef>
                <a:spcPct val="0"/>
              </a:spcBef>
              <a:buFontTx/>
              <a:buNone/>
            </a:pPr>
            <a:r>
              <a:rPr lang="en-US" altLang="en-US" sz="3500">
                <a:latin typeface="Arial Narrow" panose="020B0604020202020204" pitchFamily="34" charset="0"/>
              </a:rPr>
              <a:t>  </a:t>
            </a:r>
            <a:r>
              <a:rPr lang="en-US" altLang="en-US" sz="3500">
                <a:solidFill>
                  <a:srgbClr val="CC0000"/>
                </a:solidFill>
                <a:latin typeface="Arial Narrow" panose="020B0604020202020204" pitchFamily="34" charset="0"/>
              </a:rPr>
              <a:t>0</a:t>
            </a:r>
          </a:p>
        </p:txBody>
      </p:sp>
      <p:sp>
        <p:nvSpPr>
          <p:cNvPr id="29712" name="Rectangle 20">
            <a:extLst>
              <a:ext uri="{FF2B5EF4-FFF2-40B4-BE49-F238E27FC236}">
                <a16:creationId xmlns:a16="http://schemas.microsoft.com/office/drawing/2014/main" id="{CE083B6A-B13D-4980-E9CC-A62C1811DF08}"/>
              </a:ext>
            </a:extLst>
          </p:cNvPr>
          <p:cNvSpPr>
            <a:spLocks noChangeArrowheads="1"/>
          </p:cNvSpPr>
          <p:nvPr/>
        </p:nvSpPr>
        <p:spPr bwMode="auto">
          <a:xfrm>
            <a:off x="7359650" y="4041775"/>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9713" name="Rectangle 21">
            <a:extLst>
              <a:ext uri="{FF2B5EF4-FFF2-40B4-BE49-F238E27FC236}">
                <a16:creationId xmlns:a16="http://schemas.microsoft.com/office/drawing/2014/main" id="{126AA843-225C-ADCA-7026-8F5F3B7CC9AF}"/>
              </a:ext>
            </a:extLst>
          </p:cNvPr>
          <p:cNvSpPr>
            <a:spLocks noChangeArrowheads="1"/>
          </p:cNvSpPr>
          <p:nvPr/>
        </p:nvSpPr>
        <p:spPr bwMode="auto">
          <a:xfrm>
            <a:off x="7369175" y="6199188"/>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29714" name="Rectangle 22">
            <a:extLst>
              <a:ext uri="{FF2B5EF4-FFF2-40B4-BE49-F238E27FC236}">
                <a16:creationId xmlns:a16="http://schemas.microsoft.com/office/drawing/2014/main" id="{9D70A6DB-4ECB-4824-7224-9066C617AE6A}"/>
              </a:ext>
            </a:extLst>
          </p:cNvPr>
          <p:cNvSpPr>
            <a:spLocks noChangeArrowheads="1"/>
          </p:cNvSpPr>
          <p:nvPr/>
        </p:nvSpPr>
        <p:spPr bwMode="auto">
          <a:xfrm>
            <a:off x="6434138" y="996950"/>
            <a:ext cx="411162"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30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20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10</a:t>
            </a:r>
          </a:p>
        </p:txBody>
      </p:sp>
      <p:sp>
        <p:nvSpPr>
          <p:cNvPr id="29715" name="Rectangle 23">
            <a:extLst>
              <a:ext uri="{FF2B5EF4-FFF2-40B4-BE49-F238E27FC236}">
                <a16:creationId xmlns:a16="http://schemas.microsoft.com/office/drawing/2014/main" id="{552A9C7A-8FCB-9B80-C3A0-3CB21BDDCD4F}"/>
              </a:ext>
            </a:extLst>
          </p:cNvPr>
          <p:cNvSpPr>
            <a:spLocks noChangeArrowheads="1"/>
          </p:cNvSpPr>
          <p:nvPr/>
        </p:nvSpPr>
        <p:spPr bwMode="auto">
          <a:xfrm rot="-5400000">
            <a:off x="5553869" y="1897857"/>
            <a:ext cx="1677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Total Utility (utils)</a:t>
            </a:r>
          </a:p>
        </p:txBody>
      </p:sp>
      <p:sp>
        <p:nvSpPr>
          <p:cNvPr id="29716" name="Rectangle 24">
            <a:extLst>
              <a:ext uri="{FF2B5EF4-FFF2-40B4-BE49-F238E27FC236}">
                <a16:creationId xmlns:a16="http://schemas.microsoft.com/office/drawing/2014/main" id="{4FC2EEFD-D255-90FA-9E9F-3CD8F0A1784E}"/>
              </a:ext>
            </a:extLst>
          </p:cNvPr>
          <p:cNvSpPr>
            <a:spLocks noChangeArrowheads="1"/>
          </p:cNvSpPr>
          <p:nvPr/>
        </p:nvSpPr>
        <p:spPr bwMode="auto">
          <a:xfrm rot="-5400000">
            <a:off x="5364163" y="4956175"/>
            <a:ext cx="2000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Marginal Utility (utils)</a:t>
            </a:r>
          </a:p>
        </p:txBody>
      </p:sp>
      <p:sp>
        <p:nvSpPr>
          <p:cNvPr id="29717" name="Rectangle 25">
            <a:extLst>
              <a:ext uri="{FF2B5EF4-FFF2-40B4-BE49-F238E27FC236}">
                <a16:creationId xmlns:a16="http://schemas.microsoft.com/office/drawing/2014/main" id="{9714D8FE-7636-1C37-B7A8-6C88B7FC12EC}"/>
              </a:ext>
            </a:extLst>
          </p:cNvPr>
          <p:cNvSpPr>
            <a:spLocks noChangeArrowheads="1"/>
          </p:cNvSpPr>
          <p:nvPr/>
        </p:nvSpPr>
        <p:spPr bwMode="auto">
          <a:xfrm>
            <a:off x="6410325" y="4248150"/>
            <a:ext cx="423863"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10</a:t>
            </a:r>
          </a:p>
          <a:p>
            <a:pPr eaLnBrk="1" hangingPunct="1">
              <a:lnSpc>
                <a:spcPct val="100000"/>
              </a:lnSpc>
              <a:spcBef>
                <a:spcPct val="0"/>
              </a:spcBef>
              <a:buFontTx/>
              <a:buNone/>
            </a:pPr>
            <a:r>
              <a:rPr lang="en-US" altLang="en-US" sz="1600" b="1">
                <a:latin typeface="Arial" panose="020B0604020202020204" pitchFamily="34" charset="0"/>
              </a:rPr>
              <a:t>  8</a:t>
            </a:r>
          </a:p>
          <a:p>
            <a:pPr eaLnBrk="1" hangingPunct="1">
              <a:lnSpc>
                <a:spcPct val="100000"/>
              </a:lnSpc>
              <a:spcBef>
                <a:spcPct val="0"/>
              </a:spcBef>
              <a:buFontTx/>
              <a:buNone/>
            </a:pPr>
            <a:r>
              <a:rPr lang="en-US" altLang="en-US" sz="1600" b="1">
                <a:latin typeface="Arial" panose="020B0604020202020204" pitchFamily="34" charset="0"/>
              </a:rPr>
              <a:t>  6</a:t>
            </a:r>
          </a:p>
          <a:p>
            <a:pPr eaLnBrk="1" hangingPunct="1">
              <a:lnSpc>
                <a:spcPct val="100000"/>
              </a:lnSpc>
              <a:spcBef>
                <a:spcPct val="0"/>
              </a:spcBef>
              <a:buFontTx/>
              <a:buNone/>
            </a:pPr>
            <a:r>
              <a:rPr lang="en-US" altLang="en-US" sz="1600" b="1">
                <a:latin typeface="Arial" panose="020B0604020202020204" pitchFamily="34" charset="0"/>
              </a:rPr>
              <a:t>  4</a:t>
            </a:r>
          </a:p>
          <a:p>
            <a:pPr eaLnBrk="1" hangingPunct="1">
              <a:lnSpc>
                <a:spcPct val="100000"/>
              </a:lnSpc>
              <a:spcBef>
                <a:spcPct val="0"/>
              </a:spcBef>
              <a:buFontTx/>
              <a:buNone/>
            </a:pPr>
            <a:r>
              <a:rPr lang="en-US" altLang="en-US" sz="1600" b="1">
                <a:latin typeface="Arial" panose="020B0604020202020204" pitchFamily="34" charset="0"/>
              </a:rPr>
              <a:t>  2</a:t>
            </a:r>
          </a:p>
          <a:p>
            <a:pPr eaLnBrk="1" hangingPunct="1">
              <a:lnSpc>
                <a:spcPct val="100000"/>
              </a:lnSpc>
              <a:spcBef>
                <a:spcPct val="0"/>
              </a:spcBef>
              <a:buFontTx/>
              <a:buNone/>
            </a:pPr>
            <a:r>
              <a:rPr lang="en-US" altLang="en-US" sz="1600" b="1">
                <a:latin typeface="Arial" panose="020B0604020202020204" pitchFamily="34" charset="0"/>
              </a:rPr>
              <a:t>  0</a:t>
            </a:r>
          </a:p>
          <a:p>
            <a:pPr eaLnBrk="1" hangingPunct="1">
              <a:lnSpc>
                <a:spcPct val="100000"/>
              </a:lnSpc>
              <a:spcBef>
                <a:spcPct val="0"/>
              </a:spcBef>
              <a:buFontTx/>
              <a:buNone/>
            </a:pPr>
            <a:r>
              <a:rPr lang="en-US" altLang="en-US" sz="1600" b="1">
                <a:latin typeface="Arial" panose="020B0604020202020204" pitchFamily="34" charset="0"/>
              </a:rPr>
              <a:t> -2</a:t>
            </a:r>
          </a:p>
        </p:txBody>
      </p:sp>
      <p:sp>
        <p:nvSpPr>
          <p:cNvPr id="29718" name="Oval 26">
            <a:extLst>
              <a:ext uri="{FF2B5EF4-FFF2-40B4-BE49-F238E27FC236}">
                <a16:creationId xmlns:a16="http://schemas.microsoft.com/office/drawing/2014/main" id="{9AA7F35E-A26E-0FD2-20EA-53C9AB468CDD}"/>
              </a:ext>
            </a:extLst>
          </p:cNvPr>
          <p:cNvSpPr>
            <a:spLocks noChangeArrowheads="1"/>
          </p:cNvSpPr>
          <p:nvPr/>
        </p:nvSpPr>
        <p:spPr bwMode="auto">
          <a:xfrm>
            <a:off x="7040563" y="246380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19" name="Oval 27">
            <a:extLst>
              <a:ext uri="{FF2B5EF4-FFF2-40B4-BE49-F238E27FC236}">
                <a16:creationId xmlns:a16="http://schemas.microsoft.com/office/drawing/2014/main" id="{67ECE471-CB7E-BBE0-34FF-D58376B2C0D9}"/>
              </a:ext>
            </a:extLst>
          </p:cNvPr>
          <p:cNvSpPr>
            <a:spLocks noChangeArrowheads="1"/>
          </p:cNvSpPr>
          <p:nvPr/>
        </p:nvSpPr>
        <p:spPr bwMode="auto">
          <a:xfrm>
            <a:off x="7454900" y="19018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20" name="Oval 28">
            <a:extLst>
              <a:ext uri="{FF2B5EF4-FFF2-40B4-BE49-F238E27FC236}">
                <a16:creationId xmlns:a16="http://schemas.microsoft.com/office/drawing/2014/main" id="{94DB24BB-B42C-7C70-46EA-C54C786A93E7}"/>
              </a:ext>
            </a:extLst>
          </p:cNvPr>
          <p:cNvSpPr>
            <a:spLocks noChangeArrowheads="1"/>
          </p:cNvSpPr>
          <p:nvPr/>
        </p:nvSpPr>
        <p:spPr bwMode="auto">
          <a:xfrm>
            <a:off x="7869238" y="153035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21" name="Oval 29">
            <a:extLst>
              <a:ext uri="{FF2B5EF4-FFF2-40B4-BE49-F238E27FC236}">
                <a16:creationId xmlns:a16="http://schemas.microsoft.com/office/drawing/2014/main" id="{0BB59E81-CE9F-BFAB-ADC6-B5D7F5FCDF88}"/>
              </a:ext>
            </a:extLst>
          </p:cNvPr>
          <p:cNvSpPr>
            <a:spLocks noChangeArrowheads="1"/>
          </p:cNvSpPr>
          <p:nvPr/>
        </p:nvSpPr>
        <p:spPr bwMode="auto">
          <a:xfrm>
            <a:off x="8307388" y="12541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22" name="Oval 30">
            <a:extLst>
              <a:ext uri="{FF2B5EF4-FFF2-40B4-BE49-F238E27FC236}">
                <a16:creationId xmlns:a16="http://schemas.microsoft.com/office/drawing/2014/main" id="{AB47587B-50D9-EDE3-64BF-9105260926D5}"/>
              </a:ext>
            </a:extLst>
          </p:cNvPr>
          <p:cNvSpPr>
            <a:spLocks noChangeArrowheads="1"/>
          </p:cNvSpPr>
          <p:nvPr/>
        </p:nvSpPr>
        <p:spPr bwMode="auto">
          <a:xfrm>
            <a:off x="8745538" y="109696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23" name="Oval 31">
            <a:extLst>
              <a:ext uri="{FF2B5EF4-FFF2-40B4-BE49-F238E27FC236}">
                <a16:creationId xmlns:a16="http://schemas.microsoft.com/office/drawing/2014/main" id="{712CDB0E-9757-399B-EF4D-551456D01822}"/>
              </a:ext>
            </a:extLst>
          </p:cNvPr>
          <p:cNvSpPr>
            <a:spLocks noChangeArrowheads="1"/>
          </p:cNvSpPr>
          <p:nvPr/>
        </p:nvSpPr>
        <p:spPr bwMode="auto">
          <a:xfrm>
            <a:off x="6931025" y="421163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24" name="Oval 32">
            <a:extLst>
              <a:ext uri="{FF2B5EF4-FFF2-40B4-BE49-F238E27FC236}">
                <a16:creationId xmlns:a16="http://schemas.microsoft.com/office/drawing/2014/main" id="{17542CF9-196A-5017-CB35-1F72251186CA}"/>
              </a:ext>
            </a:extLst>
          </p:cNvPr>
          <p:cNvSpPr>
            <a:spLocks noChangeArrowheads="1"/>
          </p:cNvSpPr>
          <p:nvPr/>
        </p:nvSpPr>
        <p:spPr bwMode="auto">
          <a:xfrm>
            <a:off x="7345363" y="445928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25" name="Oval 33">
            <a:extLst>
              <a:ext uri="{FF2B5EF4-FFF2-40B4-BE49-F238E27FC236}">
                <a16:creationId xmlns:a16="http://schemas.microsoft.com/office/drawing/2014/main" id="{606FCF99-0FEA-6814-3BBC-993752EB6251}"/>
              </a:ext>
            </a:extLst>
          </p:cNvPr>
          <p:cNvSpPr>
            <a:spLocks noChangeArrowheads="1"/>
          </p:cNvSpPr>
          <p:nvPr/>
        </p:nvSpPr>
        <p:spPr bwMode="auto">
          <a:xfrm>
            <a:off x="7783513" y="473075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26" name="Oval 34">
            <a:extLst>
              <a:ext uri="{FF2B5EF4-FFF2-40B4-BE49-F238E27FC236}">
                <a16:creationId xmlns:a16="http://schemas.microsoft.com/office/drawing/2014/main" id="{8B66B420-AF0A-65BD-1002-E4D8328F98DD}"/>
              </a:ext>
            </a:extLst>
          </p:cNvPr>
          <p:cNvSpPr>
            <a:spLocks noChangeArrowheads="1"/>
          </p:cNvSpPr>
          <p:nvPr/>
        </p:nvSpPr>
        <p:spPr bwMode="auto">
          <a:xfrm>
            <a:off x="8269288" y="500221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27" name="Oval 35">
            <a:extLst>
              <a:ext uri="{FF2B5EF4-FFF2-40B4-BE49-F238E27FC236}">
                <a16:creationId xmlns:a16="http://schemas.microsoft.com/office/drawing/2014/main" id="{8A6E1046-D7C3-7791-5E2F-D5268FCC51E9}"/>
              </a:ext>
            </a:extLst>
          </p:cNvPr>
          <p:cNvSpPr>
            <a:spLocks noChangeArrowheads="1"/>
          </p:cNvSpPr>
          <p:nvPr/>
        </p:nvSpPr>
        <p:spPr bwMode="auto">
          <a:xfrm>
            <a:off x="8755063" y="524986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nvGrpSpPr>
          <p:cNvPr id="20516" name="Group 36">
            <a:extLst>
              <a:ext uri="{FF2B5EF4-FFF2-40B4-BE49-F238E27FC236}">
                <a16:creationId xmlns:a16="http://schemas.microsoft.com/office/drawing/2014/main" id="{D73F112E-9792-2812-1CCD-E54168ED77A2}"/>
              </a:ext>
            </a:extLst>
          </p:cNvPr>
          <p:cNvGrpSpPr>
            <a:grpSpLocks/>
          </p:cNvGrpSpPr>
          <p:nvPr/>
        </p:nvGrpSpPr>
        <p:grpSpPr bwMode="auto">
          <a:xfrm>
            <a:off x="9183688" y="1106488"/>
            <a:ext cx="215900" cy="4621212"/>
            <a:chOff x="4825" y="697"/>
            <a:chExt cx="136" cy="2911"/>
          </a:xfrm>
        </p:grpSpPr>
        <p:sp>
          <p:nvSpPr>
            <p:cNvPr id="29735" name="Oval 37">
              <a:extLst>
                <a:ext uri="{FF2B5EF4-FFF2-40B4-BE49-F238E27FC236}">
                  <a16:creationId xmlns:a16="http://schemas.microsoft.com/office/drawing/2014/main" id="{7A6CD3B3-2802-2F70-BC9D-359313419AD5}"/>
                </a:ext>
              </a:extLst>
            </p:cNvPr>
            <p:cNvSpPr>
              <a:spLocks noChangeArrowheads="1"/>
            </p:cNvSpPr>
            <p:nvPr/>
          </p:nvSpPr>
          <p:spPr bwMode="auto">
            <a:xfrm>
              <a:off x="4825" y="697"/>
              <a:ext cx="130" cy="130"/>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29736" name="Oval 38">
              <a:extLst>
                <a:ext uri="{FF2B5EF4-FFF2-40B4-BE49-F238E27FC236}">
                  <a16:creationId xmlns:a16="http://schemas.microsoft.com/office/drawing/2014/main" id="{F68D30FF-DBFC-630F-D086-D992909C64FC}"/>
                </a:ext>
              </a:extLst>
            </p:cNvPr>
            <p:cNvSpPr>
              <a:spLocks noChangeArrowheads="1"/>
            </p:cNvSpPr>
            <p:nvPr/>
          </p:nvSpPr>
          <p:spPr bwMode="auto">
            <a:xfrm>
              <a:off x="4831" y="3478"/>
              <a:ext cx="130" cy="130"/>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pSp>
        <p:nvGrpSpPr>
          <p:cNvPr id="29729" name="Group 39">
            <a:extLst>
              <a:ext uri="{FF2B5EF4-FFF2-40B4-BE49-F238E27FC236}">
                <a16:creationId xmlns:a16="http://schemas.microsoft.com/office/drawing/2014/main" id="{13BE8A91-0650-4777-53E6-2D6724764D4D}"/>
              </a:ext>
            </a:extLst>
          </p:cNvPr>
          <p:cNvGrpSpPr>
            <a:grpSpLocks/>
          </p:cNvGrpSpPr>
          <p:nvPr/>
        </p:nvGrpSpPr>
        <p:grpSpPr bwMode="auto">
          <a:xfrm>
            <a:off x="6765925" y="693738"/>
            <a:ext cx="3317875" cy="3016250"/>
            <a:chOff x="3126" y="593"/>
            <a:chExt cx="2090" cy="1900"/>
          </a:xfrm>
        </p:grpSpPr>
        <p:sp>
          <p:nvSpPr>
            <p:cNvPr id="29733" name="Line 40">
              <a:extLst>
                <a:ext uri="{FF2B5EF4-FFF2-40B4-BE49-F238E27FC236}">
                  <a16:creationId xmlns:a16="http://schemas.microsoft.com/office/drawing/2014/main" id="{DDD76149-6004-6E79-A367-7394983B2A0B}"/>
                </a:ext>
              </a:extLst>
            </p:cNvPr>
            <p:cNvSpPr>
              <a:spLocks noChangeShapeType="1"/>
            </p:cNvSpPr>
            <p:nvPr/>
          </p:nvSpPr>
          <p:spPr bwMode="auto">
            <a:xfrm>
              <a:off x="3143" y="593"/>
              <a:ext cx="0" cy="19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9734" name="Line 41">
              <a:extLst>
                <a:ext uri="{FF2B5EF4-FFF2-40B4-BE49-F238E27FC236}">
                  <a16:creationId xmlns:a16="http://schemas.microsoft.com/office/drawing/2014/main" id="{54266AA1-CF41-E007-1C17-8C77BDDC91BD}"/>
                </a:ext>
              </a:extLst>
            </p:cNvPr>
            <p:cNvSpPr>
              <a:spLocks noChangeShapeType="1"/>
            </p:cNvSpPr>
            <p:nvPr/>
          </p:nvSpPr>
          <p:spPr bwMode="auto">
            <a:xfrm>
              <a:off x="3126" y="248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29730" name="Rectangle 42">
            <a:extLst>
              <a:ext uri="{FF2B5EF4-FFF2-40B4-BE49-F238E27FC236}">
                <a16:creationId xmlns:a16="http://schemas.microsoft.com/office/drawing/2014/main" id="{7B717FDB-3CC0-0819-9F39-A4F60F71D5BC}"/>
              </a:ext>
            </a:extLst>
          </p:cNvPr>
          <p:cNvSpPr>
            <a:spLocks noChangeArrowheads="1"/>
          </p:cNvSpPr>
          <p:nvPr/>
        </p:nvSpPr>
        <p:spPr bwMode="auto">
          <a:xfrm>
            <a:off x="6635750" y="3673475"/>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0       1       2       3       4       5       6       7</a:t>
            </a:r>
          </a:p>
        </p:txBody>
      </p:sp>
      <p:sp>
        <p:nvSpPr>
          <p:cNvPr id="29731" name="Rectangle 43">
            <a:extLst>
              <a:ext uri="{FF2B5EF4-FFF2-40B4-BE49-F238E27FC236}">
                <a16:creationId xmlns:a16="http://schemas.microsoft.com/office/drawing/2014/main" id="{0E13630C-903C-383F-F71F-8F304DAD5FB8}"/>
              </a:ext>
            </a:extLst>
          </p:cNvPr>
          <p:cNvSpPr>
            <a:spLocks noChangeArrowheads="1"/>
          </p:cNvSpPr>
          <p:nvPr/>
        </p:nvSpPr>
        <p:spPr bwMode="auto">
          <a:xfrm>
            <a:off x="6607175" y="6064250"/>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         1       2       3       4       5       6       7</a:t>
            </a:r>
          </a:p>
        </p:txBody>
      </p:sp>
      <p:sp>
        <p:nvSpPr>
          <p:cNvPr id="46" name="Rectangle 8">
            <a:extLst>
              <a:ext uri="{FF2B5EF4-FFF2-40B4-BE49-F238E27FC236}">
                <a16:creationId xmlns:a16="http://schemas.microsoft.com/office/drawing/2014/main" id="{C477930F-8627-9707-014F-AB90A124D1D0}"/>
              </a:ext>
            </a:extLst>
          </p:cNvPr>
          <p:cNvSpPr>
            <a:spLocks noChangeArrowheads="1"/>
          </p:cNvSpPr>
          <p:nvPr/>
        </p:nvSpPr>
        <p:spPr bwMode="auto">
          <a:xfrm>
            <a:off x="3219450" y="1031875"/>
            <a:ext cx="133667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Yogurts</a:t>
            </a:r>
          </a:p>
          <a:p>
            <a:pPr algn="ctr" eaLnBrk="1" hangingPunct="1">
              <a:lnSpc>
                <a:spcPct val="100000"/>
              </a:lnSpc>
              <a:spcBef>
                <a:spcPct val="0"/>
              </a:spcBef>
              <a:buFontTx/>
              <a:buNone/>
            </a:pPr>
            <a:r>
              <a:rPr lang="en-US" altLang="en-US" sz="1800" b="1">
                <a:latin typeface="Arial" panose="020B0604020202020204" pitchFamily="34" charset="0"/>
              </a:rPr>
              <a:t>consumed</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0516"/>
                                        </p:tgtEl>
                                        <p:attrNameLst>
                                          <p:attrName>style.visibility</p:attrName>
                                        </p:attrNameLst>
                                      </p:cBhvr>
                                      <p:to>
                                        <p:strVal val="visible"/>
                                      </p:to>
                                    </p:set>
                                    <p:animEffect transition="in" filter="dissolve">
                                      <p:cBhvr>
                                        <p:cTn id="7" dur="500"/>
                                        <p:tgtEl>
                                          <p:spTgt spid="20516"/>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up)">
                                      <p:cBhvr>
                                        <p:cTn id="1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1" name="Group 2">
            <a:extLst>
              <a:ext uri="{FF2B5EF4-FFF2-40B4-BE49-F238E27FC236}">
                <a16:creationId xmlns:a16="http://schemas.microsoft.com/office/drawing/2014/main" id="{9D266614-527B-39CF-A3EA-8C0428B11152}"/>
              </a:ext>
            </a:extLst>
          </p:cNvPr>
          <p:cNvGrpSpPr>
            <a:grpSpLocks/>
          </p:cNvGrpSpPr>
          <p:nvPr/>
        </p:nvGrpSpPr>
        <p:grpSpPr bwMode="auto">
          <a:xfrm>
            <a:off x="6802438" y="4286250"/>
            <a:ext cx="3328987" cy="2019300"/>
            <a:chOff x="3149" y="2820"/>
            <a:chExt cx="2097" cy="1272"/>
          </a:xfrm>
        </p:grpSpPr>
        <p:sp>
          <p:nvSpPr>
            <p:cNvPr id="30767" name="Line 3">
              <a:extLst>
                <a:ext uri="{FF2B5EF4-FFF2-40B4-BE49-F238E27FC236}">
                  <a16:creationId xmlns:a16="http://schemas.microsoft.com/office/drawing/2014/main" id="{4F7361BB-19F5-6CFD-FD78-889F13ADE06B}"/>
                </a:ext>
              </a:extLst>
            </p:cNvPr>
            <p:cNvSpPr>
              <a:spLocks noChangeShapeType="1"/>
            </p:cNvSpPr>
            <p:nvPr/>
          </p:nvSpPr>
          <p:spPr bwMode="auto">
            <a:xfrm>
              <a:off x="3149" y="2820"/>
              <a:ext cx="0" cy="127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30768" name="Line 4">
              <a:extLst>
                <a:ext uri="{FF2B5EF4-FFF2-40B4-BE49-F238E27FC236}">
                  <a16:creationId xmlns:a16="http://schemas.microsoft.com/office/drawing/2014/main" id="{6105D943-8C92-B6F7-B8AA-0B9AC358E1CC}"/>
                </a:ext>
              </a:extLst>
            </p:cNvPr>
            <p:cNvSpPr>
              <a:spLocks noChangeShapeType="1"/>
            </p:cNvSpPr>
            <p:nvPr/>
          </p:nvSpPr>
          <p:spPr bwMode="auto">
            <a:xfrm>
              <a:off x="3156" y="366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pic>
        <p:nvPicPr>
          <p:cNvPr id="30722" name="Picture 5">
            <a:extLst>
              <a:ext uri="{FF2B5EF4-FFF2-40B4-BE49-F238E27FC236}">
                <a16:creationId xmlns:a16="http://schemas.microsoft.com/office/drawing/2014/main" id="{3A9451A8-6763-D27A-C300-7DD39F221047}"/>
              </a:ext>
            </a:extLst>
          </p:cNvPr>
          <p:cNvPicPr>
            <a:picLocks noChangeArrowheads="1"/>
          </p:cNvPicPr>
          <p:nvPr/>
        </p:nvPicPr>
        <p:blipFill>
          <a:blip r:embed="rId2">
            <a:extLst>
              <a:ext uri="{28A0092B-C50C-407E-A947-70E740481C1C}">
                <a14:useLocalDpi xmlns:a14="http://schemas.microsoft.com/office/drawing/2010/main" val="0"/>
              </a:ext>
            </a:extLst>
          </a:blip>
          <a:srcRect r="14734" b="50426"/>
          <a:stretch>
            <a:fillRect/>
          </a:stretch>
        </p:blipFill>
        <p:spPr bwMode="auto">
          <a:xfrm>
            <a:off x="6754813" y="1179513"/>
            <a:ext cx="3105150" cy="249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3" name="Rectangle 6">
            <a:extLst>
              <a:ext uri="{FF2B5EF4-FFF2-40B4-BE49-F238E27FC236}">
                <a16:creationId xmlns:a16="http://schemas.microsoft.com/office/drawing/2014/main" id="{88B3D978-C16A-C98C-4360-4937D5BD649E}"/>
              </a:ext>
            </a:extLst>
          </p:cNvPr>
          <p:cNvSpPr>
            <a:spLocks noChangeArrowheads="1"/>
          </p:cNvSpPr>
          <p:nvPr/>
        </p:nvSpPr>
        <p:spPr bwMode="auto">
          <a:xfrm>
            <a:off x="3365500" y="34925"/>
            <a:ext cx="71723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400" b="1">
                <a:solidFill>
                  <a:srgbClr val="000099"/>
                </a:solidFill>
                <a:latin typeface="Times New Roman" panose="02020603050405020304" pitchFamily="18" charset="0"/>
              </a:rPr>
              <a:t>TOTAL AND MARGINAL UTILITY</a:t>
            </a:r>
          </a:p>
        </p:txBody>
      </p:sp>
      <p:sp>
        <p:nvSpPr>
          <p:cNvPr id="30724" name="Line 7">
            <a:extLst>
              <a:ext uri="{FF2B5EF4-FFF2-40B4-BE49-F238E27FC236}">
                <a16:creationId xmlns:a16="http://schemas.microsoft.com/office/drawing/2014/main" id="{D096C4FD-98FE-E7AD-ECC3-C2C1ADA87A68}"/>
              </a:ext>
            </a:extLst>
          </p:cNvPr>
          <p:cNvSpPr>
            <a:spLocks noChangeShapeType="1"/>
          </p:cNvSpPr>
          <p:nvPr/>
        </p:nvSpPr>
        <p:spPr bwMode="auto">
          <a:xfrm>
            <a:off x="3357563" y="1733550"/>
            <a:ext cx="28098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30725" name="Rectangle 9">
            <a:extLst>
              <a:ext uri="{FF2B5EF4-FFF2-40B4-BE49-F238E27FC236}">
                <a16:creationId xmlns:a16="http://schemas.microsoft.com/office/drawing/2014/main" id="{6F302B90-B55B-87BB-35BF-35AB897B2194}"/>
              </a:ext>
            </a:extLst>
          </p:cNvPr>
          <p:cNvSpPr>
            <a:spLocks noChangeArrowheads="1"/>
          </p:cNvSpPr>
          <p:nvPr/>
        </p:nvSpPr>
        <p:spPr bwMode="auto">
          <a:xfrm>
            <a:off x="4408488" y="765175"/>
            <a:ext cx="8794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Total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30726" name="Rectangle 10">
            <a:extLst>
              <a:ext uri="{FF2B5EF4-FFF2-40B4-BE49-F238E27FC236}">
                <a16:creationId xmlns:a16="http://schemas.microsoft.com/office/drawing/2014/main" id="{DD866B12-3C0C-5099-A79B-1DE49535F4A7}"/>
              </a:ext>
            </a:extLst>
          </p:cNvPr>
          <p:cNvSpPr>
            <a:spLocks noChangeArrowheads="1"/>
          </p:cNvSpPr>
          <p:nvPr/>
        </p:nvSpPr>
        <p:spPr bwMode="auto">
          <a:xfrm>
            <a:off x="5218113" y="765175"/>
            <a:ext cx="11303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Marginal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30727" name="Rectangle 11">
            <a:extLst>
              <a:ext uri="{FF2B5EF4-FFF2-40B4-BE49-F238E27FC236}">
                <a16:creationId xmlns:a16="http://schemas.microsoft.com/office/drawing/2014/main" id="{EDDF1329-2E26-E7D7-47C7-B4C50711851D}"/>
              </a:ext>
            </a:extLst>
          </p:cNvPr>
          <p:cNvSpPr>
            <a:spLocks noChangeArrowheads="1"/>
          </p:cNvSpPr>
          <p:nvPr/>
        </p:nvSpPr>
        <p:spPr bwMode="auto">
          <a:xfrm>
            <a:off x="3644900" y="1885950"/>
            <a:ext cx="387350" cy="439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0</a:t>
            </a:r>
          </a:p>
          <a:p>
            <a:pPr eaLnBrk="1" hangingPunct="1">
              <a:lnSpc>
                <a:spcPct val="100000"/>
              </a:lnSpc>
              <a:spcBef>
                <a:spcPct val="0"/>
              </a:spcBef>
              <a:buFontTx/>
              <a:buNone/>
            </a:pPr>
            <a:r>
              <a:rPr lang="en-US" altLang="en-US" sz="3500">
                <a:latin typeface="Arial Narrow" panose="020B0604020202020204" pitchFamily="34" charset="0"/>
              </a:rPr>
              <a:t>1</a:t>
            </a:r>
          </a:p>
          <a:p>
            <a:pPr eaLnBrk="1" hangingPunct="1">
              <a:lnSpc>
                <a:spcPct val="100000"/>
              </a:lnSpc>
              <a:spcBef>
                <a:spcPct val="0"/>
              </a:spcBef>
              <a:buFontTx/>
              <a:buNone/>
            </a:pPr>
            <a:r>
              <a:rPr lang="en-US" altLang="en-US" sz="3500">
                <a:latin typeface="Arial Narrow" panose="020B0604020202020204" pitchFamily="34" charset="0"/>
              </a:rPr>
              <a:t>2</a:t>
            </a:r>
          </a:p>
          <a:p>
            <a:pPr eaLnBrk="1" hangingPunct="1">
              <a:lnSpc>
                <a:spcPct val="100000"/>
              </a:lnSpc>
              <a:spcBef>
                <a:spcPct val="0"/>
              </a:spcBef>
              <a:buFontTx/>
              <a:buNone/>
            </a:pPr>
            <a:r>
              <a:rPr lang="en-US" altLang="en-US" sz="3500">
                <a:latin typeface="Arial Narrow" panose="020B0604020202020204" pitchFamily="34" charset="0"/>
              </a:rPr>
              <a:t>3</a:t>
            </a:r>
          </a:p>
          <a:p>
            <a:pPr eaLnBrk="1" hangingPunct="1">
              <a:lnSpc>
                <a:spcPct val="100000"/>
              </a:lnSpc>
              <a:spcBef>
                <a:spcPct val="0"/>
              </a:spcBef>
              <a:buFontTx/>
              <a:buNone/>
            </a:pPr>
            <a:r>
              <a:rPr lang="en-US" altLang="en-US" sz="3500">
                <a:latin typeface="Arial Narrow" panose="020B0604020202020204" pitchFamily="34" charset="0"/>
              </a:rPr>
              <a:t>4</a:t>
            </a:r>
          </a:p>
          <a:p>
            <a:pPr eaLnBrk="1" hangingPunct="1">
              <a:lnSpc>
                <a:spcPct val="100000"/>
              </a:lnSpc>
              <a:spcBef>
                <a:spcPct val="0"/>
              </a:spcBef>
              <a:buFontTx/>
              <a:buNone/>
            </a:pPr>
            <a:r>
              <a:rPr lang="en-US" altLang="en-US" sz="3500">
                <a:latin typeface="Arial Narrow" panose="020B0604020202020204" pitchFamily="34" charset="0"/>
              </a:rPr>
              <a:t>5</a:t>
            </a:r>
          </a:p>
          <a:p>
            <a:pPr eaLnBrk="1" hangingPunct="1">
              <a:lnSpc>
                <a:spcPct val="100000"/>
              </a:lnSpc>
              <a:spcBef>
                <a:spcPct val="0"/>
              </a:spcBef>
              <a:buFontTx/>
              <a:buNone/>
            </a:pPr>
            <a:r>
              <a:rPr lang="en-US" altLang="en-US" sz="3500">
                <a:latin typeface="Arial Narrow" panose="020B0604020202020204" pitchFamily="34" charset="0"/>
              </a:rPr>
              <a:t>6</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7</a:t>
            </a:r>
          </a:p>
        </p:txBody>
      </p:sp>
      <p:sp>
        <p:nvSpPr>
          <p:cNvPr id="30728" name="Rectangle 12">
            <a:extLst>
              <a:ext uri="{FF2B5EF4-FFF2-40B4-BE49-F238E27FC236}">
                <a16:creationId xmlns:a16="http://schemas.microsoft.com/office/drawing/2014/main" id="{4C4FF562-BB33-960E-6E4E-F2CC407FD3FC}"/>
              </a:ext>
            </a:extLst>
          </p:cNvPr>
          <p:cNvSpPr>
            <a:spLocks noChangeArrowheads="1"/>
          </p:cNvSpPr>
          <p:nvPr/>
        </p:nvSpPr>
        <p:spPr bwMode="auto">
          <a:xfrm>
            <a:off x="4468813" y="1885950"/>
            <a:ext cx="593725" cy="439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  0</a:t>
            </a:r>
          </a:p>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18</a:t>
            </a:r>
          </a:p>
          <a:p>
            <a:pPr eaLnBrk="1" hangingPunct="1">
              <a:lnSpc>
                <a:spcPct val="100000"/>
              </a:lnSpc>
              <a:spcBef>
                <a:spcPct val="0"/>
              </a:spcBef>
              <a:buFontTx/>
              <a:buNone/>
            </a:pPr>
            <a:r>
              <a:rPr lang="en-US" altLang="en-US" sz="3500">
                <a:latin typeface="Arial Narrow" panose="020B0604020202020204" pitchFamily="34" charset="0"/>
              </a:rPr>
              <a:t>24</a:t>
            </a:r>
          </a:p>
          <a:p>
            <a:pPr eaLnBrk="1" hangingPunct="1">
              <a:lnSpc>
                <a:spcPct val="100000"/>
              </a:lnSpc>
              <a:spcBef>
                <a:spcPct val="0"/>
              </a:spcBef>
              <a:buFontTx/>
              <a:buNone/>
            </a:pPr>
            <a:r>
              <a:rPr lang="en-US" altLang="en-US" sz="3500">
                <a:latin typeface="Arial Narrow" panose="020B0604020202020204" pitchFamily="34" charset="0"/>
              </a:rPr>
              <a:t>28</a:t>
            </a:r>
          </a:p>
          <a:p>
            <a:pPr eaLnBrk="1" hangingPunct="1">
              <a:lnSpc>
                <a:spcPct val="100000"/>
              </a:lnSpc>
              <a:spcBef>
                <a:spcPct val="0"/>
              </a:spcBef>
              <a:buFontTx/>
              <a:buNone/>
            </a:pPr>
            <a:r>
              <a:rPr lang="en-US" altLang="en-US" sz="3500">
                <a:latin typeface="Arial Narrow" panose="020B0604020202020204" pitchFamily="34" charset="0"/>
              </a:rPr>
              <a:t>30</a:t>
            </a:r>
          </a:p>
          <a:p>
            <a:pPr eaLnBrk="1" hangingPunct="1">
              <a:lnSpc>
                <a:spcPct val="100000"/>
              </a:lnSpc>
              <a:spcBef>
                <a:spcPct val="0"/>
              </a:spcBef>
              <a:buFontTx/>
              <a:buNone/>
            </a:pPr>
            <a:r>
              <a:rPr lang="en-US" altLang="en-US" sz="3500">
                <a:latin typeface="Arial Narrow" panose="020B0604020202020204" pitchFamily="34" charset="0"/>
              </a:rPr>
              <a:t>30</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28</a:t>
            </a:r>
          </a:p>
        </p:txBody>
      </p:sp>
      <p:sp>
        <p:nvSpPr>
          <p:cNvPr id="30729" name="AutoShape 13">
            <a:extLst>
              <a:ext uri="{FF2B5EF4-FFF2-40B4-BE49-F238E27FC236}">
                <a16:creationId xmlns:a16="http://schemas.microsoft.com/office/drawing/2014/main" id="{473FBADE-F4B0-100F-E59C-7DA39BFDA1F5}"/>
              </a:ext>
            </a:extLst>
          </p:cNvPr>
          <p:cNvSpPr>
            <a:spLocks noChangeArrowheads="1"/>
          </p:cNvSpPr>
          <p:nvPr/>
        </p:nvSpPr>
        <p:spPr bwMode="auto">
          <a:xfrm>
            <a:off x="5118100" y="22526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30" name="AutoShape 14">
            <a:extLst>
              <a:ext uri="{FF2B5EF4-FFF2-40B4-BE49-F238E27FC236}">
                <a16:creationId xmlns:a16="http://schemas.microsoft.com/office/drawing/2014/main" id="{760C4D52-EDFA-0F0D-F4DF-630104BE5019}"/>
              </a:ext>
            </a:extLst>
          </p:cNvPr>
          <p:cNvSpPr>
            <a:spLocks noChangeArrowheads="1"/>
          </p:cNvSpPr>
          <p:nvPr/>
        </p:nvSpPr>
        <p:spPr bwMode="auto">
          <a:xfrm>
            <a:off x="5118100" y="27860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31" name="AutoShape 15">
            <a:extLst>
              <a:ext uri="{FF2B5EF4-FFF2-40B4-BE49-F238E27FC236}">
                <a16:creationId xmlns:a16="http://schemas.microsoft.com/office/drawing/2014/main" id="{5733A118-E79C-738C-0D9B-765C09FF3151}"/>
              </a:ext>
            </a:extLst>
          </p:cNvPr>
          <p:cNvSpPr>
            <a:spLocks noChangeArrowheads="1"/>
          </p:cNvSpPr>
          <p:nvPr/>
        </p:nvSpPr>
        <p:spPr bwMode="auto">
          <a:xfrm>
            <a:off x="5118100" y="33194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32" name="AutoShape 16">
            <a:extLst>
              <a:ext uri="{FF2B5EF4-FFF2-40B4-BE49-F238E27FC236}">
                <a16:creationId xmlns:a16="http://schemas.microsoft.com/office/drawing/2014/main" id="{D5464B8A-22F3-E7BA-6550-D8852649BCA4}"/>
              </a:ext>
            </a:extLst>
          </p:cNvPr>
          <p:cNvSpPr>
            <a:spLocks noChangeArrowheads="1"/>
          </p:cNvSpPr>
          <p:nvPr/>
        </p:nvSpPr>
        <p:spPr bwMode="auto">
          <a:xfrm>
            <a:off x="5118100" y="38528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33" name="AutoShape 17">
            <a:extLst>
              <a:ext uri="{FF2B5EF4-FFF2-40B4-BE49-F238E27FC236}">
                <a16:creationId xmlns:a16="http://schemas.microsoft.com/office/drawing/2014/main" id="{9F806A06-3788-3D3E-7333-67754EF155D6}"/>
              </a:ext>
            </a:extLst>
          </p:cNvPr>
          <p:cNvSpPr>
            <a:spLocks noChangeArrowheads="1"/>
          </p:cNvSpPr>
          <p:nvPr/>
        </p:nvSpPr>
        <p:spPr bwMode="auto">
          <a:xfrm>
            <a:off x="5118100" y="43862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34" name="AutoShape 18">
            <a:extLst>
              <a:ext uri="{FF2B5EF4-FFF2-40B4-BE49-F238E27FC236}">
                <a16:creationId xmlns:a16="http://schemas.microsoft.com/office/drawing/2014/main" id="{FAF1E66A-10C6-EC58-3E37-C2738861295E}"/>
              </a:ext>
            </a:extLst>
          </p:cNvPr>
          <p:cNvSpPr>
            <a:spLocks noChangeArrowheads="1"/>
          </p:cNvSpPr>
          <p:nvPr/>
        </p:nvSpPr>
        <p:spPr bwMode="auto">
          <a:xfrm>
            <a:off x="5118100" y="49196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35" name="AutoShape 19">
            <a:extLst>
              <a:ext uri="{FF2B5EF4-FFF2-40B4-BE49-F238E27FC236}">
                <a16:creationId xmlns:a16="http://schemas.microsoft.com/office/drawing/2014/main" id="{3786B1E5-0131-C052-8939-570049E83821}"/>
              </a:ext>
            </a:extLst>
          </p:cNvPr>
          <p:cNvSpPr>
            <a:spLocks noChangeArrowheads="1"/>
          </p:cNvSpPr>
          <p:nvPr/>
        </p:nvSpPr>
        <p:spPr bwMode="auto">
          <a:xfrm>
            <a:off x="5118100" y="54530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36" name="Rectangle 20">
            <a:extLst>
              <a:ext uri="{FF2B5EF4-FFF2-40B4-BE49-F238E27FC236}">
                <a16:creationId xmlns:a16="http://schemas.microsoft.com/office/drawing/2014/main" id="{83BAE07F-1623-0E8E-A994-5B7AEF4EE5F4}"/>
              </a:ext>
            </a:extLst>
          </p:cNvPr>
          <p:cNvSpPr>
            <a:spLocks noChangeArrowheads="1"/>
          </p:cNvSpPr>
          <p:nvPr/>
        </p:nvSpPr>
        <p:spPr bwMode="auto">
          <a:xfrm>
            <a:off x="5505450" y="2152650"/>
            <a:ext cx="612775" cy="386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  8</a:t>
            </a:r>
          </a:p>
          <a:p>
            <a:pPr eaLnBrk="1" hangingPunct="1">
              <a:lnSpc>
                <a:spcPct val="100000"/>
              </a:lnSpc>
              <a:spcBef>
                <a:spcPct val="0"/>
              </a:spcBef>
              <a:buFontTx/>
              <a:buNone/>
            </a:pPr>
            <a:r>
              <a:rPr lang="en-US" altLang="en-US" sz="3500">
                <a:latin typeface="Arial Narrow" panose="020B0604020202020204" pitchFamily="34" charset="0"/>
              </a:rPr>
              <a:t>  6</a:t>
            </a:r>
          </a:p>
          <a:p>
            <a:pPr eaLnBrk="1" hangingPunct="1">
              <a:lnSpc>
                <a:spcPct val="100000"/>
              </a:lnSpc>
              <a:spcBef>
                <a:spcPct val="0"/>
              </a:spcBef>
              <a:buFontTx/>
              <a:buNone/>
            </a:pPr>
            <a:r>
              <a:rPr lang="en-US" altLang="en-US" sz="3500">
                <a:latin typeface="Arial Narrow" panose="020B0604020202020204" pitchFamily="34" charset="0"/>
              </a:rPr>
              <a:t>  4</a:t>
            </a:r>
          </a:p>
          <a:p>
            <a:pPr eaLnBrk="1" hangingPunct="1">
              <a:lnSpc>
                <a:spcPct val="100000"/>
              </a:lnSpc>
              <a:spcBef>
                <a:spcPct val="0"/>
              </a:spcBef>
              <a:buFontTx/>
              <a:buNone/>
            </a:pPr>
            <a:r>
              <a:rPr lang="en-US" altLang="en-US" sz="3500">
                <a:latin typeface="Arial Narrow" panose="020B0604020202020204" pitchFamily="34" charset="0"/>
              </a:rPr>
              <a:t>  2</a:t>
            </a:r>
          </a:p>
          <a:p>
            <a:pPr eaLnBrk="1" hangingPunct="1">
              <a:lnSpc>
                <a:spcPct val="100000"/>
              </a:lnSpc>
              <a:spcBef>
                <a:spcPct val="0"/>
              </a:spcBef>
              <a:buFontTx/>
              <a:buNone/>
            </a:pPr>
            <a:r>
              <a:rPr lang="en-US" altLang="en-US" sz="3500">
                <a:latin typeface="Arial Narrow" panose="020B0604020202020204" pitchFamily="34" charset="0"/>
              </a:rPr>
              <a:t>  0</a:t>
            </a:r>
            <a:endParaRPr lang="en-US" altLang="en-US" sz="3500">
              <a:solidFill>
                <a:srgbClr val="FF6600"/>
              </a:solidFill>
              <a:latin typeface="Arial Narrow" panose="020B0604020202020204" pitchFamily="34" charset="0"/>
            </a:endParaRPr>
          </a:p>
          <a:p>
            <a:pPr eaLnBrk="1" hangingPunct="1">
              <a:lnSpc>
                <a:spcPct val="100000"/>
              </a:lnSpc>
              <a:spcBef>
                <a:spcPct val="0"/>
              </a:spcBef>
              <a:buFontTx/>
              <a:buNone/>
            </a:pPr>
            <a:r>
              <a:rPr lang="en-US" altLang="en-US" sz="3500">
                <a:solidFill>
                  <a:srgbClr val="FF6600"/>
                </a:solidFill>
                <a:latin typeface="Arial Narrow" panose="020B0604020202020204" pitchFamily="34" charset="0"/>
              </a:rPr>
              <a:t> </a:t>
            </a:r>
            <a:r>
              <a:rPr lang="en-US" altLang="en-US" sz="3500">
                <a:solidFill>
                  <a:srgbClr val="CC0000"/>
                </a:solidFill>
                <a:latin typeface="Arial Narrow" panose="020B0604020202020204" pitchFamily="34" charset="0"/>
              </a:rPr>
              <a:t>-2</a:t>
            </a:r>
          </a:p>
        </p:txBody>
      </p:sp>
      <p:sp>
        <p:nvSpPr>
          <p:cNvPr id="30737" name="Rectangle 21">
            <a:extLst>
              <a:ext uri="{FF2B5EF4-FFF2-40B4-BE49-F238E27FC236}">
                <a16:creationId xmlns:a16="http://schemas.microsoft.com/office/drawing/2014/main" id="{D249F249-6334-957A-48D1-051159451B9B}"/>
              </a:ext>
            </a:extLst>
          </p:cNvPr>
          <p:cNvSpPr>
            <a:spLocks noChangeArrowheads="1"/>
          </p:cNvSpPr>
          <p:nvPr/>
        </p:nvSpPr>
        <p:spPr bwMode="auto">
          <a:xfrm>
            <a:off x="7359650" y="4041775"/>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30738" name="Rectangle 22">
            <a:extLst>
              <a:ext uri="{FF2B5EF4-FFF2-40B4-BE49-F238E27FC236}">
                <a16:creationId xmlns:a16="http://schemas.microsoft.com/office/drawing/2014/main" id="{C321DBDC-FD19-2A4D-CF39-02BBE9DE5D0B}"/>
              </a:ext>
            </a:extLst>
          </p:cNvPr>
          <p:cNvSpPr>
            <a:spLocks noChangeArrowheads="1"/>
          </p:cNvSpPr>
          <p:nvPr/>
        </p:nvSpPr>
        <p:spPr bwMode="auto">
          <a:xfrm>
            <a:off x="7369175" y="6199188"/>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30739" name="Rectangle 23">
            <a:extLst>
              <a:ext uri="{FF2B5EF4-FFF2-40B4-BE49-F238E27FC236}">
                <a16:creationId xmlns:a16="http://schemas.microsoft.com/office/drawing/2014/main" id="{53320B02-3744-2969-F2EB-E002CA0E6366}"/>
              </a:ext>
            </a:extLst>
          </p:cNvPr>
          <p:cNvSpPr>
            <a:spLocks noChangeArrowheads="1"/>
          </p:cNvSpPr>
          <p:nvPr/>
        </p:nvSpPr>
        <p:spPr bwMode="auto">
          <a:xfrm>
            <a:off x="6434138" y="996950"/>
            <a:ext cx="411162"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30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20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10</a:t>
            </a:r>
          </a:p>
        </p:txBody>
      </p:sp>
      <p:sp>
        <p:nvSpPr>
          <p:cNvPr id="30740" name="Rectangle 24">
            <a:extLst>
              <a:ext uri="{FF2B5EF4-FFF2-40B4-BE49-F238E27FC236}">
                <a16:creationId xmlns:a16="http://schemas.microsoft.com/office/drawing/2014/main" id="{D87C4856-60C7-8D3E-69F7-4A369BC06C4E}"/>
              </a:ext>
            </a:extLst>
          </p:cNvPr>
          <p:cNvSpPr>
            <a:spLocks noChangeArrowheads="1"/>
          </p:cNvSpPr>
          <p:nvPr/>
        </p:nvSpPr>
        <p:spPr bwMode="auto">
          <a:xfrm rot="-5400000">
            <a:off x="5553869" y="1897857"/>
            <a:ext cx="1677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Total Utility (utils)</a:t>
            </a:r>
          </a:p>
        </p:txBody>
      </p:sp>
      <p:sp>
        <p:nvSpPr>
          <p:cNvPr id="30741" name="Rectangle 25">
            <a:extLst>
              <a:ext uri="{FF2B5EF4-FFF2-40B4-BE49-F238E27FC236}">
                <a16:creationId xmlns:a16="http://schemas.microsoft.com/office/drawing/2014/main" id="{18081BFE-92CE-A7F2-4258-6A9AE0C5A19F}"/>
              </a:ext>
            </a:extLst>
          </p:cNvPr>
          <p:cNvSpPr>
            <a:spLocks noChangeArrowheads="1"/>
          </p:cNvSpPr>
          <p:nvPr/>
        </p:nvSpPr>
        <p:spPr bwMode="auto">
          <a:xfrm rot="-5400000">
            <a:off x="5364163" y="4956175"/>
            <a:ext cx="2000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Marginal Utility (utils)</a:t>
            </a:r>
          </a:p>
        </p:txBody>
      </p:sp>
      <p:sp>
        <p:nvSpPr>
          <p:cNvPr id="30742" name="Rectangle 26">
            <a:extLst>
              <a:ext uri="{FF2B5EF4-FFF2-40B4-BE49-F238E27FC236}">
                <a16:creationId xmlns:a16="http://schemas.microsoft.com/office/drawing/2014/main" id="{C8EF3588-F54E-8202-098A-B15DAF7763B9}"/>
              </a:ext>
            </a:extLst>
          </p:cNvPr>
          <p:cNvSpPr>
            <a:spLocks noChangeArrowheads="1"/>
          </p:cNvSpPr>
          <p:nvPr/>
        </p:nvSpPr>
        <p:spPr bwMode="auto">
          <a:xfrm>
            <a:off x="6410325" y="4248150"/>
            <a:ext cx="423863"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10</a:t>
            </a:r>
          </a:p>
          <a:p>
            <a:pPr eaLnBrk="1" hangingPunct="1">
              <a:lnSpc>
                <a:spcPct val="100000"/>
              </a:lnSpc>
              <a:spcBef>
                <a:spcPct val="0"/>
              </a:spcBef>
              <a:buFontTx/>
              <a:buNone/>
            </a:pPr>
            <a:r>
              <a:rPr lang="en-US" altLang="en-US" sz="1600" b="1">
                <a:latin typeface="Arial" panose="020B0604020202020204" pitchFamily="34" charset="0"/>
              </a:rPr>
              <a:t>  8</a:t>
            </a:r>
          </a:p>
          <a:p>
            <a:pPr eaLnBrk="1" hangingPunct="1">
              <a:lnSpc>
                <a:spcPct val="100000"/>
              </a:lnSpc>
              <a:spcBef>
                <a:spcPct val="0"/>
              </a:spcBef>
              <a:buFontTx/>
              <a:buNone/>
            </a:pPr>
            <a:r>
              <a:rPr lang="en-US" altLang="en-US" sz="1600" b="1">
                <a:latin typeface="Arial" panose="020B0604020202020204" pitchFamily="34" charset="0"/>
              </a:rPr>
              <a:t>  6</a:t>
            </a:r>
          </a:p>
          <a:p>
            <a:pPr eaLnBrk="1" hangingPunct="1">
              <a:lnSpc>
                <a:spcPct val="100000"/>
              </a:lnSpc>
              <a:spcBef>
                <a:spcPct val="0"/>
              </a:spcBef>
              <a:buFontTx/>
              <a:buNone/>
            </a:pPr>
            <a:r>
              <a:rPr lang="en-US" altLang="en-US" sz="1600" b="1">
                <a:latin typeface="Arial" panose="020B0604020202020204" pitchFamily="34" charset="0"/>
              </a:rPr>
              <a:t>  4</a:t>
            </a:r>
          </a:p>
          <a:p>
            <a:pPr eaLnBrk="1" hangingPunct="1">
              <a:lnSpc>
                <a:spcPct val="100000"/>
              </a:lnSpc>
              <a:spcBef>
                <a:spcPct val="0"/>
              </a:spcBef>
              <a:buFontTx/>
              <a:buNone/>
            </a:pPr>
            <a:r>
              <a:rPr lang="en-US" altLang="en-US" sz="1600" b="1">
                <a:latin typeface="Arial" panose="020B0604020202020204" pitchFamily="34" charset="0"/>
              </a:rPr>
              <a:t>  2</a:t>
            </a:r>
          </a:p>
          <a:p>
            <a:pPr eaLnBrk="1" hangingPunct="1">
              <a:lnSpc>
                <a:spcPct val="100000"/>
              </a:lnSpc>
              <a:spcBef>
                <a:spcPct val="0"/>
              </a:spcBef>
              <a:buFontTx/>
              <a:buNone/>
            </a:pPr>
            <a:r>
              <a:rPr lang="en-US" altLang="en-US" sz="1600" b="1">
                <a:latin typeface="Arial" panose="020B0604020202020204" pitchFamily="34" charset="0"/>
              </a:rPr>
              <a:t>  0</a:t>
            </a:r>
          </a:p>
          <a:p>
            <a:pPr eaLnBrk="1" hangingPunct="1">
              <a:lnSpc>
                <a:spcPct val="100000"/>
              </a:lnSpc>
              <a:spcBef>
                <a:spcPct val="0"/>
              </a:spcBef>
              <a:buFontTx/>
              <a:buNone/>
            </a:pPr>
            <a:r>
              <a:rPr lang="en-US" altLang="en-US" sz="1600" b="1">
                <a:latin typeface="Arial" panose="020B0604020202020204" pitchFamily="34" charset="0"/>
              </a:rPr>
              <a:t> -2</a:t>
            </a:r>
          </a:p>
        </p:txBody>
      </p:sp>
      <p:sp>
        <p:nvSpPr>
          <p:cNvPr id="21531" name="Line 27">
            <a:extLst>
              <a:ext uri="{FF2B5EF4-FFF2-40B4-BE49-F238E27FC236}">
                <a16:creationId xmlns:a16="http://schemas.microsoft.com/office/drawing/2014/main" id="{DE4582D7-EB9B-3ECC-98CC-06C30C990C9A}"/>
              </a:ext>
            </a:extLst>
          </p:cNvPr>
          <p:cNvSpPr>
            <a:spLocks noChangeShapeType="1"/>
          </p:cNvSpPr>
          <p:nvPr/>
        </p:nvSpPr>
        <p:spPr bwMode="auto">
          <a:xfrm>
            <a:off x="6981825" y="4318000"/>
            <a:ext cx="2994025" cy="1668463"/>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21532" name="Rectangle 28">
            <a:extLst>
              <a:ext uri="{FF2B5EF4-FFF2-40B4-BE49-F238E27FC236}">
                <a16:creationId xmlns:a16="http://schemas.microsoft.com/office/drawing/2014/main" id="{E6184FCE-61B0-0E52-1FB1-66D76F9165E9}"/>
              </a:ext>
            </a:extLst>
          </p:cNvPr>
          <p:cNvSpPr>
            <a:spLocks noChangeArrowheads="1"/>
          </p:cNvSpPr>
          <p:nvPr/>
        </p:nvSpPr>
        <p:spPr bwMode="auto">
          <a:xfrm>
            <a:off x="9879013" y="604838"/>
            <a:ext cx="593725"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1" i="1">
                <a:latin typeface="Arial" panose="020B0604020202020204" pitchFamily="34" charset="0"/>
              </a:rPr>
              <a:t>TU</a:t>
            </a:r>
          </a:p>
        </p:txBody>
      </p:sp>
      <p:sp>
        <p:nvSpPr>
          <p:cNvPr id="21533" name="Rectangle 29">
            <a:extLst>
              <a:ext uri="{FF2B5EF4-FFF2-40B4-BE49-F238E27FC236}">
                <a16:creationId xmlns:a16="http://schemas.microsoft.com/office/drawing/2014/main" id="{1209C743-4366-A33F-BA30-555CD7B39B0B}"/>
              </a:ext>
            </a:extLst>
          </p:cNvPr>
          <p:cNvSpPr>
            <a:spLocks noChangeArrowheads="1"/>
          </p:cNvSpPr>
          <p:nvPr/>
        </p:nvSpPr>
        <p:spPr bwMode="auto">
          <a:xfrm>
            <a:off x="9825038" y="5562600"/>
            <a:ext cx="661987"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1" i="1">
                <a:latin typeface="Arial" panose="020B0604020202020204" pitchFamily="34" charset="0"/>
              </a:rPr>
              <a:t>MU</a:t>
            </a:r>
          </a:p>
        </p:txBody>
      </p:sp>
      <p:sp>
        <p:nvSpPr>
          <p:cNvPr id="30746" name="Oval 30">
            <a:extLst>
              <a:ext uri="{FF2B5EF4-FFF2-40B4-BE49-F238E27FC236}">
                <a16:creationId xmlns:a16="http://schemas.microsoft.com/office/drawing/2014/main" id="{A1B30A05-32CB-8580-B290-69D8669A5E81}"/>
              </a:ext>
            </a:extLst>
          </p:cNvPr>
          <p:cNvSpPr>
            <a:spLocks noChangeArrowheads="1"/>
          </p:cNvSpPr>
          <p:nvPr/>
        </p:nvSpPr>
        <p:spPr bwMode="auto">
          <a:xfrm>
            <a:off x="7040563" y="246380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47" name="Oval 31">
            <a:extLst>
              <a:ext uri="{FF2B5EF4-FFF2-40B4-BE49-F238E27FC236}">
                <a16:creationId xmlns:a16="http://schemas.microsoft.com/office/drawing/2014/main" id="{CEF264B7-04EE-87D4-6950-80B24C1EF62F}"/>
              </a:ext>
            </a:extLst>
          </p:cNvPr>
          <p:cNvSpPr>
            <a:spLocks noChangeArrowheads="1"/>
          </p:cNvSpPr>
          <p:nvPr/>
        </p:nvSpPr>
        <p:spPr bwMode="auto">
          <a:xfrm>
            <a:off x="7454900" y="19018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48" name="Oval 32">
            <a:extLst>
              <a:ext uri="{FF2B5EF4-FFF2-40B4-BE49-F238E27FC236}">
                <a16:creationId xmlns:a16="http://schemas.microsoft.com/office/drawing/2014/main" id="{8362948B-ED5D-9D8D-88BA-900F18E7A732}"/>
              </a:ext>
            </a:extLst>
          </p:cNvPr>
          <p:cNvSpPr>
            <a:spLocks noChangeArrowheads="1"/>
          </p:cNvSpPr>
          <p:nvPr/>
        </p:nvSpPr>
        <p:spPr bwMode="auto">
          <a:xfrm>
            <a:off x="7869238" y="153035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49" name="Oval 33">
            <a:extLst>
              <a:ext uri="{FF2B5EF4-FFF2-40B4-BE49-F238E27FC236}">
                <a16:creationId xmlns:a16="http://schemas.microsoft.com/office/drawing/2014/main" id="{348E2771-3CF1-A764-9700-B9E820D128E6}"/>
              </a:ext>
            </a:extLst>
          </p:cNvPr>
          <p:cNvSpPr>
            <a:spLocks noChangeArrowheads="1"/>
          </p:cNvSpPr>
          <p:nvPr/>
        </p:nvSpPr>
        <p:spPr bwMode="auto">
          <a:xfrm>
            <a:off x="8307388" y="12541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50" name="Oval 34">
            <a:extLst>
              <a:ext uri="{FF2B5EF4-FFF2-40B4-BE49-F238E27FC236}">
                <a16:creationId xmlns:a16="http://schemas.microsoft.com/office/drawing/2014/main" id="{AFBC2524-F496-F6E3-D8AC-F03038B9C1A2}"/>
              </a:ext>
            </a:extLst>
          </p:cNvPr>
          <p:cNvSpPr>
            <a:spLocks noChangeArrowheads="1"/>
          </p:cNvSpPr>
          <p:nvPr/>
        </p:nvSpPr>
        <p:spPr bwMode="auto">
          <a:xfrm>
            <a:off x="8745538" y="109696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51" name="Oval 35">
            <a:extLst>
              <a:ext uri="{FF2B5EF4-FFF2-40B4-BE49-F238E27FC236}">
                <a16:creationId xmlns:a16="http://schemas.microsoft.com/office/drawing/2014/main" id="{EE88062A-4E59-508A-1778-1CAB3E885A02}"/>
              </a:ext>
            </a:extLst>
          </p:cNvPr>
          <p:cNvSpPr>
            <a:spLocks noChangeArrowheads="1"/>
          </p:cNvSpPr>
          <p:nvPr/>
        </p:nvSpPr>
        <p:spPr bwMode="auto">
          <a:xfrm>
            <a:off x="9183688" y="110648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52" name="Oval 36">
            <a:extLst>
              <a:ext uri="{FF2B5EF4-FFF2-40B4-BE49-F238E27FC236}">
                <a16:creationId xmlns:a16="http://schemas.microsoft.com/office/drawing/2014/main" id="{7A2A4479-B666-27DA-4B7A-8581F7D33357}"/>
              </a:ext>
            </a:extLst>
          </p:cNvPr>
          <p:cNvSpPr>
            <a:spLocks noChangeArrowheads="1"/>
          </p:cNvSpPr>
          <p:nvPr/>
        </p:nvSpPr>
        <p:spPr bwMode="auto">
          <a:xfrm>
            <a:off x="6931025" y="421163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53" name="Oval 37">
            <a:extLst>
              <a:ext uri="{FF2B5EF4-FFF2-40B4-BE49-F238E27FC236}">
                <a16:creationId xmlns:a16="http://schemas.microsoft.com/office/drawing/2014/main" id="{CD79F656-0F0D-4916-4080-7A788A163325}"/>
              </a:ext>
            </a:extLst>
          </p:cNvPr>
          <p:cNvSpPr>
            <a:spLocks noChangeArrowheads="1"/>
          </p:cNvSpPr>
          <p:nvPr/>
        </p:nvSpPr>
        <p:spPr bwMode="auto">
          <a:xfrm>
            <a:off x="7345363" y="445928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54" name="Oval 38">
            <a:extLst>
              <a:ext uri="{FF2B5EF4-FFF2-40B4-BE49-F238E27FC236}">
                <a16:creationId xmlns:a16="http://schemas.microsoft.com/office/drawing/2014/main" id="{2DFF170E-8411-E733-5FB7-F70E9FD2F9FB}"/>
              </a:ext>
            </a:extLst>
          </p:cNvPr>
          <p:cNvSpPr>
            <a:spLocks noChangeArrowheads="1"/>
          </p:cNvSpPr>
          <p:nvPr/>
        </p:nvSpPr>
        <p:spPr bwMode="auto">
          <a:xfrm>
            <a:off x="7783513" y="473075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55" name="Oval 39">
            <a:extLst>
              <a:ext uri="{FF2B5EF4-FFF2-40B4-BE49-F238E27FC236}">
                <a16:creationId xmlns:a16="http://schemas.microsoft.com/office/drawing/2014/main" id="{34EB9585-847D-E9B4-DF14-E0EEA22C157A}"/>
              </a:ext>
            </a:extLst>
          </p:cNvPr>
          <p:cNvSpPr>
            <a:spLocks noChangeArrowheads="1"/>
          </p:cNvSpPr>
          <p:nvPr/>
        </p:nvSpPr>
        <p:spPr bwMode="auto">
          <a:xfrm>
            <a:off x="8269288" y="500221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56" name="Oval 40">
            <a:extLst>
              <a:ext uri="{FF2B5EF4-FFF2-40B4-BE49-F238E27FC236}">
                <a16:creationId xmlns:a16="http://schemas.microsoft.com/office/drawing/2014/main" id="{D5268623-9F83-579F-3A49-99910090BFBA}"/>
              </a:ext>
            </a:extLst>
          </p:cNvPr>
          <p:cNvSpPr>
            <a:spLocks noChangeArrowheads="1"/>
          </p:cNvSpPr>
          <p:nvPr/>
        </p:nvSpPr>
        <p:spPr bwMode="auto">
          <a:xfrm>
            <a:off x="8755063" y="524986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57" name="Oval 41">
            <a:extLst>
              <a:ext uri="{FF2B5EF4-FFF2-40B4-BE49-F238E27FC236}">
                <a16:creationId xmlns:a16="http://schemas.microsoft.com/office/drawing/2014/main" id="{33A62E91-28DF-00CA-28B0-C8349B26C762}"/>
              </a:ext>
            </a:extLst>
          </p:cNvPr>
          <p:cNvSpPr>
            <a:spLocks noChangeArrowheads="1"/>
          </p:cNvSpPr>
          <p:nvPr/>
        </p:nvSpPr>
        <p:spPr bwMode="auto">
          <a:xfrm>
            <a:off x="9193213" y="55213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nvGrpSpPr>
          <p:cNvPr id="21546" name="Group 42">
            <a:extLst>
              <a:ext uri="{FF2B5EF4-FFF2-40B4-BE49-F238E27FC236}">
                <a16:creationId xmlns:a16="http://schemas.microsoft.com/office/drawing/2014/main" id="{947F47F8-5EE1-E73C-0C16-B41F8891CFDE}"/>
              </a:ext>
            </a:extLst>
          </p:cNvPr>
          <p:cNvGrpSpPr>
            <a:grpSpLocks/>
          </p:cNvGrpSpPr>
          <p:nvPr/>
        </p:nvGrpSpPr>
        <p:grpSpPr bwMode="auto">
          <a:xfrm>
            <a:off x="9655175" y="1306513"/>
            <a:ext cx="244475" cy="4692650"/>
            <a:chOff x="5122" y="823"/>
            <a:chExt cx="154" cy="2956"/>
          </a:xfrm>
        </p:grpSpPr>
        <p:sp>
          <p:nvSpPr>
            <p:cNvPr id="30765" name="Oval 43">
              <a:extLst>
                <a:ext uri="{FF2B5EF4-FFF2-40B4-BE49-F238E27FC236}">
                  <a16:creationId xmlns:a16="http://schemas.microsoft.com/office/drawing/2014/main" id="{223CB5E5-3625-18BE-804F-609BF11D7A5F}"/>
                </a:ext>
              </a:extLst>
            </p:cNvPr>
            <p:cNvSpPr>
              <a:spLocks noChangeArrowheads="1"/>
            </p:cNvSpPr>
            <p:nvPr/>
          </p:nvSpPr>
          <p:spPr bwMode="auto">
            <a:xfrm>
              <a:off x="5146" y="823"/>
              <a:ext cx="130" cy="130"/>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0766" name="Oval 44">
              <a:extLst>
                <a:ext uri="{FF2B5EF4-FFF2-40B4-BE49-F238E27FC236}">
                  <a16:creationId xmlns:a16="http://schemas.microsoft.com/office/drawing/2014/main" id="{0845258B-374B-FD28-9F9F-5872FA859C5A}"/>
                </a:ext>
              </a:extLst>
            </p:cNvPr>
            <p:cNvSpPr>
              <a:spLocks noChangeArrowheads="1"/>
            </p:cNvSpPr>
            <p:nvPr/>
          </p:nvSpPr>
          <p:spPr bwMode="auto">
            <a:xfrm>
              <a:off x="5122" y="3649"/>
              <a:ext cx="130" cy="130"/>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pSp>
        <p:nvGrpSpPr>
          <p:cNvPr id="30759" name="Group 45">
            <a:extLst>
              <a:ext uri="{FF2B5EF4-FFF2-40B4-BE49-F238E27FC236}">
                <a16:creationId xmlns:a16="http://schemas.microsoft.com/office/drawing/2014/main" id="{060300F3-8A1B-8483-1AFA-58DAA6D56EEE}"/>
              </a:ext>
            </a:extLst>
          </p:cNvPr>
          <p:cNvGrpSpPr>
            <a:grpSpLocks/>
          </p:cNvGrpSpPr>
          <p:nvPr/>
        </p:nvGrpSpPr>
        <p:grpSpPr bwMode="auto">
          <a:xfrm>
            <a:off x="6765925" y="693738"/>
            <a:ext cx="3317875" cy="3016250"/>
            <a:chOff x="3126" y="593"/>
            <a:chExt cx="2090" cy="1900"/>
          </a:xfrm>
        </p:grpSpPr>
        <p:sp>
          <p:nvSpPr>
            <p:cNvPr id="30763" name="Line 46">
              <a:extLst>
                <a:ext uri="{FF2B5EF4-FFF2-40B4-BE49-F238E27FC236}">
                  <a16:creationId xmlns:a16="http://schemas.microsoft.com/office/drawing/2014/main" id="{9CE795AA-9095-6DE9-1A8D-CC3C1B8245A3}"/>
                </a:ext>
              </a:extLst>
            </p:cNvPr>
            <p:cNvSpPr>
              <a:spLocks noChangeShapeType="1"/>
            </p:cNvSpPr>
            <p:nvPr/>
          </p:nvSpPr>
          <p:spPr bwMode="auto">
            <a:xfrm>
              <a:off x="3143" y="593"/>
              <a:ext cx="0" cy="19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30764" name="Line 47">
              <a:extLst>
                <a:ext uri="{FF2B5EF4-FFF2-40B4-BE49-F238E27FC236}">
                  <a16:creationId xmlns:a16="http://schemas.microsoft.com/office/drawing/2014/main" id="{5A45491F-88B8-64A2-3D57-DB0EEBC16E54}"/>
                </a:ext>
              </a:extLst>
            </p:cNvPr>
            <p:cNvSpPr>
              <a:spLocks noChangeShapeType="1"/>
            </p:cNvSpPr>
            <p:nvPr/>
          </p:nvSpPr>
          <p:spPr bwMode="auto">
            <a:xfrm>
              <a:off x="3126" y="248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30760" name="Rectangle 48">
            <a:extLst>
              <a:ext uri="{FF2B5EF4-FFF2-40B4-BE49-F238E27FC236}">
                <a16:creationId xmlns:a16="http://schemas.microsoft.com/office/drawing/2014/main" id="{E476073C-4ECB-6781-C2DD-7ABD5AA397B7}"/>
              </a:ext>
            </a:extLst>
          </p:cNvPr>
          <p:cNvSpPr>
            <a:spLocks noChangeArrowheads="1"/>
          </p:cNvSpPr>
          <p:nvPr/>
        </p:nvSpPr>
        <p:spPr bwMode="auto">
          <a:xfrm>
            <a:off x="6635750" y="3673475"/>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0       1       2       3       4       5       6       7</a:t>
            </a:r>
          </a:p>
        </p:txBody>
      </p:sp>
      <p:sp>
        <p:nvSpPr>
          <p:cNvPr id="30761" name="Rectangle 49">
            <a:extLst>
              <a:ext uri="{FF2B5EF4-FFF2-40B4-BE49-F238E27FC236}">
                <a16:creationId xmlns:a16="http://schemas.microsoft.com/office/drawing/2014/main" id="{C31CE5AF-F405-808F-A7B5-B550747CD9E1}"/>
              </a:ext>
            </a:extLst>
          </p:cNvPr>
          <p:cNvSpPr>
            <a:spLocks noChangeArrowheads="1"/>
          </p:cNvSpPr>
          <p:nvPr/>
        </p:nvSpPr>
        <p:spPr bwMode="auto">
          <a:xfrm>
            <a:off x="6607175" y="6064250"/>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         1       2       3       4       5       6       7</a:t>
            </a:r>
          </a:p>
        </p:txBody>
      </p:sp>
      <p:sp>
        <p:nvSpPr>
          <p:cNvPr id="52" name="Rectangle 8">
            <a:extLst>
              <a:ext uri="{FF2B5EF4-FFF2-40B4-BE49-F238E27FC236}">
                <a16:creationId xmlns:a16="http://schemas.microsoft.com/office/drawing/2014/main" id="{14A50C0F-47B9-9003-1D77-ED053583E319}"/>
              </a:ext>
            </a:extLst>
          </p:cNvPr>
          <p:cNvSpPr>
            <a:spLocks noChangeArrowheads="1"/>
          </p:cNvSpPr>
          <p:nvPr/>
        </p:nvSpPr>
        <p:spPr bwMode="auto">
          <a:xfrm>
            <a:off x="3219450" y="1031875"/>
            <a:ext cx="133667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Yogurts</a:t>
            </a:r>
          </a:p>
          <a:p>
            <a:pPr algn="ctr" eaLnBrk="1" hangingPunct="1">
              <a:lnSpc>
                <a:spcPct val="100000"/>
              </a:lnSpc>
              <a:spcBef>
                <a:spcPct val="0"/>
              </a:spcBef>
              <a:buFontTx/>
              <a:buNone/>
            </a:pPr>
            <a:r>
              <a:rPr lang="en-US" altLang="en-US" sz="1800" b="1">
                <a:latin typeface="Arial" panose="020B0604020202020204" pitchFamily="34" charset="0"/>
              </a:rPr>
              <a:t>consumed</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1546"/>
                                        </p:tgtEl>
                                        <p:attrNameLst>
                                          <p:attrName>style.visibility</p:attrName>
                                        </p:attrNameLst>
                                      </p:cBhvr>
                                      <p:to>
                                        <p:strVal val="visible"/>
                                      </p:to>
                                    </p:set>
                                    <p:animEffect transition="in" filter="dissolve">
                                      <p:cBhvr>
                                        <p:cTn id="7" dur="500"/>
                                        <p:tgtEl>
                                          <p:spTgt spid="21546"/>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1531"/>
                                        </p:tgtEl>
                                        <p:attrNameLst>
                                          <p:attrName>style.visibility</p:attrName>
                                        </p:attrNameLst>
                                      </p:cBhvr>
                                      <p:to>
                                        <p:strVal val="visible"/>
                                      </p:to>
                                    </p:set>
                                    <p:animEffect transition="in" filter="wipe(left)">
                                      <p:cBhvr>
                                        <p:cTn id="11" dur="500"/>
                                        <p:tgtEl>
                                          <p:spTgt spid="21531"/>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21533"/>
                                        </p:tgtEl>
                                        <p:attrNameLst>
                                          <p:attrName>style.visibility</p:attrName>
                                        </p:attrNameLst>
                                      </p:cBhvr>
                                      <p:to>
                                        <p:strVal val="visible"/>
                                      </p:to>
                                    </p:set>
                                    <p:animEffect transition="in" filter="dissolve">
                                      <p:cBhvr>
                                        <p:cTn id="15" dur="500"/>
                                        <p:tgtEl>
                                          <p:spTgt spid="21533"/>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21532"/>
                                        </p:tgtEl>
                                        <p:attrNameLst>
                                          <p:attrName>style.visibility</p:attrName>
                                        </p:attrNameLst>
                                      </p:cBhvr>
                                      <p:to>
                                        <p:strVal val="visible"/>
                                      </p:to>
                                    </p:set>
                                    <p:animEffect transition="in" filter="dissolve">
                                      <p:cBhvr>
                                        <p:cTn id="19" dur="500"/>
                                        <p:tgtEl>
                                          <p:spTgt spid="21532"/>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wipe(up)">
                                      <p:cBhvr>
                                        <p:cTn id="2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32" grpId="0" autoUpdateAnimBg="0"/>
      <p:bldP spid="21533" grpId="0" autoUpdateAnimBg="0"/>
      <p:bldP spid="5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5" name="Group 2">
            <a:extLst>
              <a:ext uri="{FF2B5EF4-FFF2-40B4-BE49-F238E27FC236}">
                <a16:creationId xmlns:a16="http://schemas.microsoft.com/office/drawing/2014/main" id="{4866862D-CF9E-D29F-F02D-457297C01CA4}"/>
              </a:ext>
            </a:extLst>
          </p:cNvPr>
          <p:cNvGrpSpPr>
            <a:grpSpLocks/>
          </p:cNvGrpSpPr>
          <p:nvPr/>
        </p:nvGrpSpPr>
        <p:grpSpPr bwMode="auto">
          <a:xfrm>
            <a:off x="6802438" y="4286250"/>
            <a:ext cx="3328987" cy="2019300"/>
            <a:chOff x="3149" y="2820"/>
            <a:chExt cx="2097" cy="1272"/>
          </a:xfrm>
        </p:grpSpPr>
        <p:sp>
          <p:nvSpPr>
            <p:cNvPr id="31796" name="Line 3">
              <a:extLst>
                <a:ext uri="{FF2B5EF4-FFF2-40B4-BE49-F238E27FC236}">
                  <a16:creationId xmlns:a16="http://schemas.microsoft.com/office/drawing/2014/main" id="{E50F62A4-FF22-6DB4-37F7-6640E113A8EF}"/>
                </a:ext>
              </a:extLst>
            </p:cNvPr>
            <p:cNvSpPr>
              <a:spLocks noChangeShapeType="1"/>
            </p:cNvSpPr>
            <p:nvPr/>
          </p:nvSpPr>
          <p:spPr bwMode="auto">
            <a:xfrm>
              <a:off x="3149" y="2820"/>
              <a:ext cx="0" cy="1272"/>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31797" name="Line 4">
              <a:extLst>
                <a:ext uri="{FF2B5EF4-FFF2-40B4-BE49-F238E27FC236}">
                  <a16:creationId xmlns:a16="http://schemas.microsoft.com/office/drawing/2014/main" id="{52B343F6-79D5-409F-7EA0-6A7353934FAC}"/>
                </a:ext>
              </a:extLst>
            </p:cNvPr>
            <p:cNvSpPr>
              <a:spLocks noChangeShapeType="1"/>
            </p:cNvSpPr>
            <p:nvPr/>
          </p:nvSpPr>
          <p:spPr bwMode="auto">
            <a:xfrm>
              <a:off x="3156" y="366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pic>
        <p:nvPicPr>
          <p:cNvPr id="31746" name="Picture 5">
            <a:extLst>
              <a:ext uri="{FF2B5EF4-FFF2-40B4-BE49-F238E27FC236}">
                <a16:creationId xmlns:a16="http://schemas.microsoft.com/office/drawing/2014/main" id="{E6BBA374-8450-3945-DE08-DD377D690A05}"/>
              </a:ext>
            </a:extLst>
          </p:cNvPr>
          <p:cNvPicPr>
            <a:picLocks noChangeArrowheads="1"/>
          </p:cNvPicPr>
          <p:nvPr/>
        </p:nvPicPr>
        <p:blipFill>
          <a:blip r:embed="rId4">
            <a:extLst>
              <a:ext uri="{28A0092B-C50C-407E-A947-70E740481C1C}">
                <a14:useLocalDpi xmlns:a14="http://schemas.microsoft.com/office/drawing/2010/main" val="0"/>
              </a:ext>
            </a:extLst>
          </a:blip>
          <a:srcRect r="14734" b="50426"/>
          <a:stretch>
            <a:fillRect/>
          </a:stretch>
        </p:blipFill>
        <p:spPr bwMode="auto">
          <a:xfrm>
            <a:off x="6754813" y="1179513"/>
            <a:ext cx="3105150" cy="249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7" name="Rectangle 6">
            <a:extLst>
              <a:ext uri="{FF2B5EF4-FFF2-40B4-BE49-F238E27FC236}">
                <a16:creationId xmlns:a16="http://schemas.microsoft.com/office/drawing/2014/main" id="{8CC9327C-C590-7666-A7FE-0844988313B2}"/>
              </a:ext>
            </a:extLst>
          </p:cNvPr>
          <p:cNvSpPr>
            <a:spLocks noChangeArrowheads="1"/>
          </p:cNvSpPr>
          <p:nvPr/>
        </p:nvSpPr>
        <p:spPr bwMode="auto">
          <a:xfrm>
            <a:off x="3365500" y="34925"/>
            <a:ext cx="71723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400" b="1">
                <a:solidFill>
                  <a:srgbClr val="000099"/>
                </a:solidFill>
                <a:latin typeface="Times New Roman" panose="02020603050405020304" pitchFamily="18" charset="0"/>
              </a:rPr>
              <a:t>TOTAL AND MARGINAL UTILITY</a:t>
            </a:r>
          </a:p>
        </p:txBody>
      </p:sp>
      <p:sp>
        <p:nvSpPr>
          <p:cNvPr id="31748" name="Line 7">
            <a:extLst>
              <a:ext uri="{FF2B5EF4-FFF2-40B4-BE49-F238E27FC236}">
                <a16:creationId xmlns:a16="http://schemas.microsoft.com/office/drawing/2014/main" id="{04A50E05-58B3-4138-B34A-A12459863F0B}"/>
              </a:ext>
            </a:extLst>
          </p:cNvPr>
          <p:cNvSpPr>
            <a:spLocks noChangeShapeType="1"/>
          </p:cNvSpPr>
          <p:nvPr/>
        </p:nvSpPr>
        <p:spPr bwMode="auto">
          <a:xfrm>
            <a:off x="3357563" y="1733550"/>
            <a:ext cx="2809875"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31749" name="Rectangle 9">
            <a:extLst>
              <a:ext uri="{FF2B5EF4-FFF2-40B4-BE49-F238E27FC236}">
                <a16:creationId xmlns:a16="http://schemas.microsoft.com/office/drawing/2014/main" id="{E2103BD2-FA8C-7904-9BD6-B4BF16195CBB}"/>
              </a:ext>
            </a:extLst>
          </p:cNvPr>
          <p:cNvSpPr>
            <a:spLocks noChangeArrowheads="1"/>
          </p:cNvSpPr>
          <p:nvPr/>
        </p:nvSpPr>
        <p:spPr bwMode="auto">
          <a:xfrm>
            <a:off x="4408488" y="765175"/>
            <a:ext cx="8794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Total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31750" name="Rectangle 10">
            <a:extLst>
              <a:ext uri="{FF2B5EF4-FFF2-40B4-BE49-F238E27FC236}">
                <a16:creationId xmlns:a16="http://schemas.microsoft.com/office/drawing/2014/main" id="{563FA9FD-D79A-D367-8B40-FC5DAA4BA23B}"/>
              </a:ext>
            </a:extLst>
          </p:cNvPr>
          <p:cNvSpPr>
            <a:spLocks noChangeArrowheads="1"/>
          </p:cNvSpPr>
          <p:nvPr/>
        </p:nvSpPr>
        <p:spPr bwMode="auto">
          <a:xfrm>
            <a:off x="5218113" y="765175"/>
            <a:ext cx="11303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Marginal</a:t>
            </a:r>
          </a:p>
          <a:p>
            <a:pPr algn="ctr" eaLnBrk="1" hangingPunct="1">
              <a:lnSpc>
                <a:spcPct val="100000"/>
              </a:lnSpc>
              <a:spcBef>
                <a:spcPct val="0"/>
              </a:spcBef>
              <a:buFontTx/>
              <a:buNone/>
            </a:pPr>
            <a:r>
              <a:rPr lang="en-US" altLang="en-US" sz="1800" b="1">
                <a:latin typeface="Arial" panose="020B0604020202020204" pitchFamily="34" charset="0"/>
              </a:rPr>
              <a:t>Utility,</a:t>
            </a:r>
          </a:p>
          <a:p>
            <a:pPr algn="ctr" eaLnBrk="1" hangingPunct="1">
              <a:lnSpc>
                <a:spcPct val="100000"/>
              </a:lnSpc>
              <a:spcBef>
                <a:spcPct val="0"/>
              </a:spcBef>
              <a:buFontTx/>
              <a:buNone/>
            </a:pPr>
            <a:r>
              <a:rPr lang="en-US" altLang="en-US" sz="1800" b="1">
                <a:latin typeface="Arial" panose="020B0604020202020204" pitchFamily="34" charset="0"/>
              </a:rPr>
              <a:t>Utils</a:t>
            </a:r>
          </a:p>
        </p:txBody>
      </p:sp>
      <p:sp>
        <p:nvSpPr>
          <p:cNvPr id="31751" name="Rectangle 11">
            <a:extLst>
              <a:ext uri="{FF2B5EF4-FFF2-40B4-BE49-F238E27FC236}">
                <a16:creationId xmlns:a16="http://schemas.microsoft.com/office/drawing/2014/main" id="{48B83488-24DF-5C91-A9C6-C7EC14B2616E}"/>
              </a:ext>
            </a:extLst>
          </p:cNvPr>
          <p:cNvSpPr>
            <a:spLocks noChangeArrowheads="1"/>
          </p:cNvSpPr>
          <p:nvPr/>
        </p:nvSpPr>
        <p:spPr bwMode="auto">
          <a:xfrm>
            <a:off x="3644900" y="1885950"/>
            <a:ext cx="387350" cy="439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0</a:t>
            </a:r>
          </a:p>
          <a:p>
            <a:pPr eaLnBrk="1" hangingPunct="1">
              <a:lnSpc>
                <a:spcPct val="100000"/>
              </a:lnSpc>
              <a:spcBef>
                <a:spcPct val="0"/>
              </a:spcBef>
              <a:buFontTx/>
              <a:buNone/>
            </a:pPr>
            <a:r>
              <a:rPr lang="en-US" altLang="en-US" sz="3500">
                <a:latin typeface="Arial Narrow" panose="020B0604020202020204" pitchFamily="34" charset="0"/>
              </a:rPr>
              <a:t>1</a:t>
            </a:r>
          </a:p>
          <a:p>
            <a:pPr eaLnBrk="1" hangingPunct="1">
              <a:lnSpc>
                <a:spcPct val="100000"/>
              </a:lnSpc>
              <a:spcBef>
                <a:spcPct val="0"/>
              </a:spcBef>
              <a:buFontTx/>
              <a:buNone/>
            </a:pPr>
            <a:r>
              <a:rPr lang="en-US" altLang="en-US" sz="3500">
                <a:latin typeface="Arial Narrow" panose="020B0604020202020204" pitchFamily="34" charset="0"/>
              </a:rPr>
              <a:t>2</a:t>
            </a:r>
          </a:p>
          <a:p>
            <a:pPr eaLnBrk="1" hangingPunct="1">
              <a:lnSpc>
                <a:spcPct val="100000"/>
              </a:lnSpc>
              <a:spcBef>
                <a:spcPct val="0"/>
              </a:spcBef>
              <a:buFontTx/>
              <a:buNone/>
            </a:pPr>
            <a:r>
              <a:rPr lang="en-US" altLang="en-US" sz="3500">
                <a:latin typeface="Arial Narrow" panose="020B0604020202020204" pitchFamily="34" charset="0"/>
              </a:rPr>
              <a:t>3</a:t>
            </a:r>
          </a:p>
          <a:p>
            <a:pPr eaLnBrk="1" hangingPunct="1">
              <a:lnSpc>
                <a:spcPct val="100000"/>
              </a:lnSpc>
              <a:spcBef>
                <a:spcPct val="0"/>
              </a:spcBef>
              <a:buFontTx/>
              <a:buNone/>
            </a:pPr>
            <a:r>
              <a:rPr lang="en-US" altLang="en-US" sz="3500">
                <a:latin typeface="Arial Narrow" panose="020B0604020202020204" pitchFamily="34" charset="0"/>
              </a:rPr>
              <a:t>4</a:t>
            </a:r>
          </a:p>
          <a:p>
            <a:pPr eaLnBrk="1" hangingPunct="1">
              <a:lnSpc>
                <a:spcPct val="100000"/>
              </a:lnSpc>
              <a:spcBef>
                <a:spcPct val="0"/>
              </a:spcBef>
              <a:buFontTx/>
              <a:buNone/>
            </a:pPr>
            <a:r>
              <a:rPr lang="en-US" altLang="en-US" sz="3500">
                <a:latin typeface="Arial Narrow" panose="020B0604020202020204" pitchFamily="34" charset="0"/>
              </a:rPr>
              <a:t>5</a:t>
            </a:r>
          </a:p>
          <a:p>
            <a:pPr eaLnBrk="1" hangingPunct="1">
              <a:lnSpc>
                <a:spcPct val="100000"/>
              </a:lnSpc>
              <a:spcBef>
                <a:spcPct val="0"/>
              </a:spcBef>
              <a:buFontTx/>
              <a:buNone/>
            </a:pPr>
            <a:r>
              <a:rPr lang="en-US" altLang="en-US" sz="3500">
                <a:latin typeface="Arial Narrow" panose="020B0604020202020204" pitchFamily="34" charset="0"/>
              </a:rPr>
              <a:t>6</a:t>
            </a:r>
          </a:p>
          <a:p>
            <a:pPr eaLnBrk="1" hangingPunct="1">
              <a:lnSpc>
                <a:spcPct val="100000"/>
              </a:lnSpc>
              <a:spcBef>
                <a:spcPct val="0"/>
              </a:spcBef>
              <a:buFontTx/>
              <a:buNone/>
            </a:pPr>
            <a:r>
              <a:rPr lang="en-US" altLang="en-US" sz="3500">
                <a:latin typeface="Arial Narrow" panose="020B0604020202020204" pitchFamily="34" charset="0"/>
              </a:rPr>
              <a:t>7</a:t>
            </a:r>
          </a:p>
        </p:txBody>
      </p:sp>
      <p:sp>
        <p:nvSpPr>
          <p:cNvPr id="31752" name="Rectangle 12">
            <a:extLst>
              <a:ext uri="{FF2B5EF4-FFF2-40B4-BE49-F238E27FC236}">
                <a16:creationId xmlns:a16="http://schemas.microsoft.com/office/drawing/2014/main" id="{75DA4F7C-3BD8-EC3A-00E2-3FDC71183D67}"/>
              </a:ext>
            </a:extLst>
          </p:cNvPr>
          <p:cNvSpPr>
            <a:spLocks noChangeArrowheads="1"/>
          </p:cNvSpPr>
          <p:nvPr/>
        </p:nvSpPr>
        <p:spPr bwMode="auto">
          <a:xfrm>
            <a:off x="4468813" y="1885950"/>
            <a:ext cx="593725" cy="439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  0</a:t>
            </a:r>
          </a:p>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18</a:t>
            </a:r>
          </a:p>
          <a:p>
            <a:pPr eaLnBrk="1" hangingPunct="1">
              <a:lnSpc>
                <a:spcPct val="100000"/>
              </a:lnSpc>
              <a:spcBef>
                <a:spcPct val="0"/>
              </a:spcBef>
              <a:buFontTx/>
              <a:buNone/>
            </a:pPr>
            <a:r>
              <a:rPr lang="en-US" altLang="en-US" sz="3500">
                <a:latin typeface="Arial Narrow" panose="020B0604020202020204" pitchFamily="34" charset="0"/>
              </a:rPr>
              <a:t>24</a:t>
            </a:r>
          </a:p>
          <a:p>
            <a:pPr eaLnBrk="1" hangingPunct="1">
              <a:lnSpc>
                <a:spcPct val="100000"/>
              </a:lnSpc>
              <a:spcBef>
                <a:spcPct val="0"/>
              </a:spcBef>
              <a:buFontTx/>
              <a:buNone/>
            </a:pPr>
            <a:r>
              <a:rPr lang="en-US" altLang="en-US" sz="3500">
                <a:latin typeface="Arial Narrow" panose="020B0604020202020204" pitchFamily="34" charset="0"/>
              </a:rPr>
              <a:t>28</a:t>
            </a:r>
          </a:p>
          <a:p>
            <a:pPr eaLnBrk="1" hangingPunct="1">
              <a:lnSpc>
                <a:spcPct val="100000"/>
              </a:lnSpc>
              <a:spcBef>
                <a:spcPct val="0"/>
              </a:spcBef>
              <a:buFontTx/>
              <a:buNone/>
            </a:pPr>
            <a:r>
              <a:rPr lang="en-US" altLang="en-US" sz="3500">
                <a:latin typeface="Arial Narrow" panose="020B0604020202020204" pitchFamily="34" charset="0"/>
              </a:rPr>
              <a:t>30</a:t>
            </a:r>
          </a:p>
          <a:p>
            <a:pPr eaLnBrk="1" hangingPunct="1">
              <a:lnSpc>
                <a:spcPct val="100000"/>
              </a:lnSpc>
              <a:spcBef>
                <a:spcPct val="0"/>
              </a:spcBef>
              <a:buFontTx/>
              <a:buNone/>
            </a:pPr>
            <a:r>
              <a:rPr lang="en-US" altLang="en-US" sz="3500">
                <a:latin typeface="Arial Narrow" panose="020B0604020202020204" pitchFamily="34" charset="0"/>
              </a:rPr>
              <a:t>30</a:t>
            </a:r>
          </a:p>
          <a:p>
            <a:pPr eaLnBrk="1" hangingPunct="1">
              <a:lnSpc>
                <a:spcPct val="100000"/>
              </a:lnSpc>
              <a:spcBef>
                <a:spcPct val="0"/>
              </a:spcBef>
              <a:buFontTx/>
              <a:buNone/>
            </a:pPr>
            <a:r>
              <a:rPr lang="en-US" altLang="en-US" sz="3500">
                <a:solidFill>
                  <a:srgbClr val="CC0000"/>
                </a:solidFill>
                <a:latin typeface="Arial Narrow" panose="020B0604020202020204" pitchFamily="34" charset="0"/>
              </a:rPr>
              <a:t>28</a:t>
            </a:r>
          </a:p>
        </p:txBody>
      </p:sp>
      <p:sp>
        <p:nvSpPr>
          <p:cNvPr id="31753" name="AutoShape 13">
            <a:extLst>
              <a:ext uri="{FF2B5EF4-FFF2-40B4-BE49-F238E27FC236}">
                <a16:creationId xmlns:a16="http://schemas.microsoft.com/office/drawing/2014/main" id="{3ACFA4EE-213B-CF8C-9ED9-585A5ED75286}"/>
              </a:ext>
            </a:extLst>
          </p:cNvPr>
          <p:cNvSpPr>
            <a:spLocks noChangeArrowheads="1"/>
          </p:cNvSpPr>
          <p:nvPr/>
        </p:nvSpPr>
        <p:spPr bwMode="auto">
          <a:xfrm>
            <a:off x="5118100" y="22526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54" name="AutoShape 14">
            <a:extLst>
              <a:ext uri="{FF2B5EF4-FFF2-40B4-BE49-F238E27FC236}">
                <a16:creationId xmlns:a16="http://schemas.microsoft.com/office/drawing/2014/main" id="{A8A3B2F3-84D4-770E-D972-6B1467E1CAF0}"/>
              </a:ext>
            </a:extLst>
          </p:cNvPr>
          <p:cNvSpPr>
            <a:spLocks noChangeArrowheads="1"/>
          </p:cNvSpPr>
          <p:nvPr/>
        </p:nvSpPr>
        <p:spPr bwMode="auto">
          <a:xfrm>
            <a:off x="5118100" y="27860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55" name="AutoShape 15">
            <a:extLst>
              <a:ext uri="{FF2B5EF4-FFF2-40B4-BE49-F238E27FC236}">
                <a16:creationId xmlns:a16="http://schemas.microsoft.com/office/drawing/2014/main" id="{55302DA6-3558-62A5-18CB-BDDA225C1839}"/>
              </a:ext>
            </a:extLst>
          </p:cNvPr>
          <p:cNvSpPr>
            <a:spLocks noChangeArrowheads="1"/>
          </p:cNvSpPr>
          <p:nvPr/>
        </p:nvSpPr>
        <p:spPr bwMode="auto">
          <a:xfrm>
            <a:off x="5118100" y="33194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56" name="AutoShape 16">
            <a:extLst>
              <a:ext uri="{FF2B5EF4-FFF2-40B4-BE49-F238E27FC236}">
                <a16:creationId xmlns:a16="http://schemas.microsoft.com/office/drawing/2014/main" id="{6B60C691-3A80-4221-7710-159C376A20B1}"/>
              </a:ext>
            </a:extLst>
          </p:cNvPr>
          <p:cNvSpPr>
            <a:spLocks noChangeArrowheads="1"/>
          </p:cNvSpPr>
          <p:nvPr/>
        </p:nvSpPr>
        <p:spPr bwMode="auto">
          <a:xfrm>
            <a:off x="5118100" y="38528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57" name="AutoShape 17">
            <a:extLst>
              <a:ext uri="{FF2B5EF4-FFF2-40B4-BE49-F238E27FC236}">
                <a16:creationId xmlns:a16="http://schemas.microsoft.com/office/drawing/2014/main" id="{C61DA95C-E86A-303A-25A5-F33D859D3B8D}"/>
              </a:ext>
            </a:extLst>
          </p:cNvPr>
          <p:cNvSpPr>
            <a:spLocks noChangeArrowheads="1"/>
          </p:cNvSpPr>
          <p:nvPr/>
        </p:nvSpPr>
        <p:spPr bwMode="auto">
          <a:xfrm>
            <a:off x="5118100" y="43862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58" name="AutoShape 18">
            <a:extLst>
              <a:ext uri="{FF2B5EF4-FFF2-40B4-BE49-F238E27FC236}">
                <a16:creationId xmlns:a16="http://schemas.microsoft.com/office/drawing/2014/main" id="{DAB13A99-0B2E-315D-BE25-282323E0BE52}"/>
              </a:ext>
            </a:extLst>
          </p:cNvPr>
          <p:cNvSpPr>
            <a:spLocks noChangeArrowheads="1"/>
          </p:cNvSpPr>
          <p:nvPr/>
        </p:nvSpPr>
        <p:spPr bwMode="auto">
          <a:xfrm>
            <a:off x="5118100" y="49196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59" name="AutoShape 19">
            <a:extLst>
              <a:ext uri="{FF2B5EF4-FFF2-40B4-BE49-F238E27FC236}">
                <a16:creationId xmlns:a16="http://schemas.microsoft.com/office/drawing/2014/main" id="{B7B1D7EA-2A46-218F-DFF7-F0D8D118B70D}"/>
              </a:ext>
            </a:extLst>
          </p:cNvPr>
          <p:cNvSpPr>
            <a:spLocks noChangeArrowheads="1"/>
          </p:cNvSpPr>
          <p:nvPr/>
        </p:nvSpPr>
        <p:spPr bwMode="auto">
          <a:xfrm>
            <a:off x="5118100" y="5453063"/>
            <a:ext cx="379413" cy="439737"/>
          </a:xfrm>
          <a:prstGeom prst="homePlate">
            <a:avLst>
              <a:gd name="adj" fmla="val 33333"/>
            </a:avLst>
          </a:prstGeom>
          <a:gradFill rotWithShape="0">
            <a:gsLst>
              <a:gs pos="0">
                <a:srgbClr val="F7E955"/>
              </a:gs>
              <a:gs pos="100000">
                <a:srgbClr val="CC0000"/>
              </a:gs>
            </a:gsLst>
            <a:lin ang="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60" name="Rectangle 20">
            <a:extLst>
              <a:ext uri="{FF2B5EF4-FFF2-40B4-BE49-F238E27FC236}">
                <a16:creationId xmlns:a16="http://schemas.microsoft.com/office/drawing/2014/main" id="{90087035-043B-5BFC-0EE1-4C1F6225A652}"/>
              </a:ext>
            </a:extLst>
          </p:cNvPr>
          <p:cNvSpPr>
            <a:spLocks noChangeArrowheads="1"/>
          </p:cNvSpPr>
          <p:nvPr/>
        </p:nvSpPr>
        <p:spPr bwMode="auto">
          <a:xfrm>
            <a:off x="5505450" y="2152650"/>
            <a:ext cx="612775" cy="386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500">
                <a:latin typeface="Arial Narrow" panose="020B0604020202020204" pitchFamily="34" charset="0"/>
              </a:rPr>
              <a:t>10</a:t>
            </a:r>
          </a:p>
          <a:p>
            <a:pPr eaLnBrk="1" hangingPunct="1">
              <a:lnSpc>
                <a:spcPct val="100000"/>
              </a:lnSpc>
              <a:spcBef>
                <a:spcPct val="0"/>
              </a:spcBef>
              <a:buFontTx/>
              <a:buNone/>
            </a:pPr>
            <a:r>
              <a:rPr lang="en-US" altLang="en-US" sz="3500">
                <a:latin typeface="Arial Narrow" panose="020B0604020202020204" pitchFamily="34" charset="0"/>
              </a:rPr>
              <a:t>  8</a:t>
            </a:r>
          </a:p>
          <a:p>
            <a:pPr eaLnBrk="1" hangingPunct="1">
              <a:lnSpc>
                <a:spcPct val="100000"/>
              </a:lnSpc>
              <a:spcBef>
                <a:spcPct val="0"/>
              </a:spcBef>
              <a:buFontTx/>
              <a:buNone/>
            </a:pPr>
            <a:r>
              <a:rPr lang="en-US" altLang="en-US" sz="3500">
                <a:latin typeface="Arial Narrow" panose="020B0604020202020204" pitchFamily="34" charset="0"/>
              </a:rPr>
              <a:t>  6</a:t>
            </a:r>
          </a:p>
          <a:p>
            <a:pPr eaLnBrk="1" hangingPunct="1">
              <a:lnSpc>
                <a:spcPct val="100000"/>
              </a:lnSpc>
              <a:spcBef>
                <a:spcPct val="0"/>
              </a:spcBef>
              <a:buFontTx/>
              <a:buNone/>
            </a:pPr>
            <a:r>
              <a:rPr lang="en-US" altLang="en-US" sz="3500">
                <a:latin typeface="Arial Narrow" panose="020B0604020202020204" pitchFamily="34" charset="0"/>
              </a:rPr>
              <a:t>  4</a:t>
            </a:r>
          </a:p>
          <a:p>
            <a:pPr eaLnBrk="1" hangingPunct="1">
              <a:lnSpc>
                <a:spcPct val="100000"/>
              </a:lnSpc>
              <a:spcBef>
                <a:spcPct val="0"/>
              </a:spcBef>
              <a:buFontTx/>
              <a:buNone/>
            </a:pPr>
            <a:r>
              <a:rPr lang="en-US" altLang="en-US" sz="3500">
                <a:latin typeface="Arial Narrow" panose="020B0604020202020204" pitchFamily="34" charset="0"/>
              </a:rPr>
              <a:t>  2</a:t>
            </a:r>
          </a:p>
          <a:p>
            <a:pPr eaLnBrk="1" hangingPunct="1">
              <a:lnSpc>
                <a:spcPct val="100000"/>
              </a:lnSpc>
              <a:spcBef>
                <a:spcPct val="0"/>
              </a:spcBef>
              <a:buFontTx/>
              <a:buNone/>
            </a:pPr>
            <a:r>
              <a:rPr lang="en-US" altLang="en-US" sz="3500">
                <a:latin typeface="Arial Narrow" panose="020B0604020202020204" pitchFamily="34" charset="0"/>
              </a:rPr>
              <a:t>  0</a:t>
            </a:r>
            <a:endParaRPr lang="en-US" altLang="en-US" sz="3500">
              <a:solidFill>
                <a:srgbClr val="FF6600"/>
              </a:solidFill>
              <a:latin typeface="Arial Narrow" panose="020B0604020202020204" pitchFamily="34" charset="0"/>
            </a:endParaRPr>
          </a:p>
          <a:p>
            <a:pPr eaLnBrk="1" hangingPunct="1">
              <a:lnSpc>
                <a:spcPct val="100000"/>
              </a:lnSpc>
              <a:spcBef>
                <a:spcPct val="0"/>
              </a:spcBef>
              <a:buFontTx/>
              <a:buNone/>
            </a:pPr>
            <a:r>
              <a:rPr lang="en-US" altLang="en-US" sz="3500">
                <a:solidFill>
                  <a:srgbClr val="FF9933"/>
                </a:solidFill>
                <a:latin typeface="Arial Narrow" panose="020B0604020202020204" pitchFamily="34" charset="0"/>
              </a:rPr>
              <a:t> </a:t>
            </a:r>
            <a:r>
              <a:rPr lang="en-US" altLang="en-US" sz="3500">
                <a:solidFill>
                  <a:srgbClr val="CC0000"/>
                </a:solidFill>
                <a:latin typeface="Arial Narrow" panose="020B0604020202020204" pitchFamily="34" charset="0"/>
              </a:rPr>
              <a:t>-2</a:t>
            </a:r>
          </a:p>
        </p:txBody>
      </p:sp>
      <p:sp>
        <p:nvSpPr>
          <p:cNvPr id="31761" name="Rectangle 21">
            <a:extLst>
              <a:ext uri="{FF2B5EF4-FFF2-40B4-BE49-F238E27FC236}">
                <a16:creationId xmlns:a16="http://schemas.microsoft.com/office/drawing/2014/main" id="{A4B6B230-43B5-3447-87B6-96F22C269A82}"/>
              </a:ext>
            </a:extLst>
          </p:cNvPr>
          <p:cNvSpPr>
            <a:spLocks noChangeArrowheads="1"/>
          </p:cNvSpPr>
          <p:nvPr/>
        </p:nvSpPr>
        <p:spPr bwMode="auto">
          <a:xfrm>
            <a:off x="7359650" y="4041775"/>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31762" name="Rectangle 22">
            <a:extLst>
              <a:ext uri="{FF2B5EF4-FFF2-40B4-BE49-F238E27FC236}">
                <a16:creationId xmlns:a16="http://schemas.microsoft.com/office/drawing/2014/main" id="{18389F6B-B61D-E7C1-341A-0BA8AFBA1245}"/>
              </a:ext>
            </a:extLst>
          </p:cNvPr>
          <p:cNvSpPr>
            <a:spLocks noChangeArrowheads="1"/>
          </p:cNvSpPr>
          <p:nvPr/>
        </p:nvSpPr>
        <p:spPr bwMode="auto">
          <a:xfrm>
            <a:off x="7369175" y="6199188"/>
            <a:ext cx="2360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Units consumed per meal</a:t>
            </a:r>
          </a:p>
        </p:txBody>
      </p:sp>
      <p:sp>
        <p:nvSpPr>
          <p:cNvPr id="31763" name="Rectangle 23">
            <a:extLst>
              <a:ext uri="{FF2B5EF4-FFF2-40B4-BE49-F238E27FC236}">
                <a16:creationId xmlns:a16="http://schemas.microsoft.com/office/drawing/2014/main" id="{7A4C0D76-F4E8-EB3D-9301-8E9E2ADB54E1}"/>
              </a:ext>
            </a:extLst>
          </p:cNvPr>
          <p:cNvSpPr>
            <a:spLocks noChangeArrowheads="1"/>
          </p:cNvSpPr>
          <p:nvPr/>
        </p:nvSpPr>
        <p:spPr bwMode="auto">
          <a:xfrm>
            <a:off x="6434138" y="996950"/>
            <a:ext cx="411162"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30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20</a:t>
            </a: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endParaRPr lang="en-US" altLang="en-US" sz="1600" b="1">
              <a:latin typeface="Arial" panose="020B0604020202020204" pitchFamily="34" charset="0"/>
            </a:endParaRPr>
          </a:p>
          <a:p>
            <a:pPr eaLnBrk="1" hangingPunct="1">
              <a:lnSpc>
                <a:spcPct val="100000"/>
              </a:lnSpc>
              <a:spcBef>
                <a:spcPct val="0"/>
              </a:spcBef>
              <a:buFontTx/>
              <a:buNone/>
            </a:pPr>
            <a:r>
              <a:rPr lang="en-US" altLang="en-US" sz="1600" b="1">
                <a:latin typeface="Arial" panose="020B0604020202020204" pitchFamily="34" charset="0"/>
              </a:rPr>
              <a:t>10</a:t>
            </a:r>
          </a:p>
        </p:txBody>
      </p:sp>
      <p:sp>
        <p:nvSpPr>
          <p:cNvPr id="31764" name="Rectangle 24">
            <a:extLst>
              <a:ext uri="{FF2B5EF4-FFF2-40B4-BE49-F238E27FC236}">
                <a16:creationId xmlns:a16="http://schemas.microsoft.com/office/drawing/2014/main" id="{2035CE3B-F26A-94EE-1241-35BBA472F76E}"/>
              </a:ext>
            </a:extLst>
          </p:cNvPr>
          <p:cNvSpPr>
            <a:spLocks noChangeArrowheads="1"/>
          </p:cNvSpPr>
          <p:nvPr/>
        </p:nvSpPr>
        <p:spPr bwMode="auto">
          <a:xfrm rot="-5400000">
            <a:off x="5553869" y="1897857"/>
            <a:ext cx="1677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Total Utility (utils)</a:t>
            </a:r>
          </a:p>
        </p:txBody>
      </p:sp>
      <p:sp>
        <p:nvSpPr>
          <p:cNvPr id="31765" name="Rectangle 25">
            <a:extLst>
              <a:ext uri="{FF2B5EF4-FFF2-40B4-BE49-F238E27FC236}">
                <a16:creationId xmlns:a16="http://schemas.microsoft.com/office/drawing/2014/main" id="{97AAF6CB-5C91-F6E2-3B32-650F393B89B1}"/>
              </a:ext>
            </a:extLst>
          </p:cNvPr>
          <p:cNvSpPr>
            <a:spLocks noChangeArrowheads="1"/>
          </p:cNvSpPr>
          <p:nvPr/>
        </p:nvSpPr>
        <p:spPr bwMode="auto">
          <a:xfrm rot="-5400000">
            <a:off x="5364163" y="4956175"/>
            <a:ext cx="2000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a:latin typeface="Arial" panose="020B0604020202020204" pitchFamily="34" charset="0"/>
              </a:rPr>
              <a:t>Marginal Utility (utils)</a:t>
            </a:r>
          </a:p>
        </p:txBody>
      </p:sp>
      <p:sp>
        <p:nvSpPr>
          <p:cNvPr id="31766" name="Rectangle 26">
            <a:extLst>
              <a:ext uri="{FF2B5EF4-FFF2-40B4-BE49-F238E27FC236}">
                <a16:creationId xmlns:a16="http://schemas.microsoft.com/office/drawing/2014/main" id="{0B76F418-06E0-3CDD-DF4D-234480B83138}"/>
              </a:ext>
            </a:extLst>
          </p:cNvPr>
          <p:cNvSpPr>
            <a:spLocks noChangeArrowheads="1"/>
          </p:cNvSpPr>
          <p:nvPr/>
        </p:nvSpPr>
        <p:spPr bwMode="auto">
          <a:xfrm>
            <a:off x="6410325" y="4248150"/>
            <a:ext cx="423863"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b="1">
                <a:latin typeface="Arial" panose="020B0604020202020204" pitchFamily="34" charset="0"/>
              </a:rPr>
              <a:t>10</a:t>
            </a:r>
          </a:p>
          <a:p>
            <a:pPr eaLnBrk="1" hangingPunct="1">
              <a:lnSpc>
                <a:spcPct val="100000"/>
              </a:lnSpc>
              <a:spcBef>
                <a:spcPct val="0"/>
              </a:spcBef>
              <a:buFontTx/>
              <a:buNone/>
            </a:pPr>
            <a:r>
              <a:rPr lang="en-US" altLang="en-US" sz="1600" b="1">
                <a:latin typeface="Arial" panose="020B0604020202020204" pitchFamily="34" charset="0"/>
              </a:rPr>
              <a:t>  8</a:t>
            </a:r>
          </a:p>
          <a:p>
            <a:pPr eaLnBrk="1" hangingPunct="1">
              <a:lnSpc>
                <a:spcPct val="100000"/>
              </a:lnSpc>
              <a:spcBef>
                <a:spcPct val="0"/>
              </a:spcBef>
              <a:buFontTx/>
              <a:buNone/>
            </a:pPr>
            <a:r>
              <a:rPr lang="en-US" altLang="en-US" sz="1600" b="1">
                <a:latin typeface="Arial" panose="020B0604020202020204" pitchFamily="34" charset="0"/>
              </a:rPr>
              <a:t>  6</a:t>
            </a:r>
          </a:p>
          <a:p>
            <a:pPr eaLnBrk="1" hangingPunct="1">
              <a:lnSpc>
                <a:spcPct val="100000"/>
              </a:lnSpc>
              <a:spcBef>
                <a:spcPct val="0"/>
              </a:spcBef>
              <a:buFontTx/>
              <a:buNone/>
            </a:pPr>
            <a:r>
              <a:rPr lang="en-US" altLang="en-US" sz="1600" b="1">
                <a:latin typeface="Arial" panose="020B0604020202020204" pitchFamily="34" charset="0"/>
              </a:rPr>
              <a:t>  4</a:t>
            </a:r>
          </a:p>
          <a:p>
            <a:pPr eaLnBrk="1" hangingPunct="1">
              <a:lnSpc>
                <a:spcPct val="100000"/>
              </a:lnSpc>
              <a:spcBef>
                <a:spcPct val="0"/>
              </a:spcBef>
              <a:buFontTx/>
              <a:buNone/>
            </a:pPr>
            <a:r>
              <a:rPr lang="en-US" altLang="en-US" sz="1600" b="1">
                <a:latin typeface="Arial" panose="020B0604020202020204" pitchFamily="34" charset="0"/>
              </a:rPr>
              <a:t>  2</a:t>
            </a:r>
          </a:p>
          <a:p>
            <a:pPr eaLnBrk="1" hangingPunct="1">
              <a:lnSpc>
                <a:spcPct val="100000"/>
              </a:lnSpc>
              <a:spcBef>
                <a:spcPct val="0"/>
              </a:spcBef>
              <a:buFontTx/>
              <a:buNone/>
            </a:pPr>
            <a:r>
              <a:rPr lang="en-US" altLang="en-US" sz="1600" b="1">
                <a:latin typeface="Arial" panose="020B0604020202020204" pitchFamily="34" charset="0"/>
              </a:rPr>
              <a:t>  0</a:t>
            </a:r>
          </a:p>
          <a:p>
            <a:pPr eaLnBrk="1" hangingPunct="1">
              <a:lnSpc>
                <a:spcPct val="100000"/>
              </a:lnSpc>
              <a:spcBef>
                <a:spcPct val="0"/>
              </a:spcBef>
              <a:buFontTx/>
              <a:buNone/>
            </a:pPr>
            <a:r>
              <a:rPr lang="en-US" altLang="en-US" sz="1600" b="1">
                <a:latin typeface="Arial" panose="020B0604020202020204" pitchFamily="34" charset="0"/>
              </a:rPr>
              <a:t> -2</a:t>
            </a:r>
          </a:p>
        </p:txBody>
      </p:sp>
      <p:sp>
        <p:nvSpPr>
          <p:cNvPr id="31767" name="Line 27">
            <a:extLst>
              <a:ext uri="{FF2B5EF4-FFF2-40B4-BE49-F238E27FC236}">
                <a16:creationId xmlns:a16="http://schemas.microsoft.com/office/drawing/2014/main" id="{C2A17969-1FE8-0BFC-773C-F2BB44473E4A}"/>
              </a:ext>
            </a:extLst>
          </p:cNvPr>
          <p:cNvSpPr>
            <a:spLocks noChangeShapeType="1"/>
          </p:cNvSpPr>
          <p:nvPr/>
        </p:nvSpPr>
        <p:spPr bwMode="auto">
          <a:xfrm>
            <a:off x="6981825" y="4318000"/>
            <a:ext cx="2994025" cy="1668463"/>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31768" name="Rectangle 28">
            <a:extLst>
              <a:ext uri="{FF2B5EF4-FFF2-40B4-BE49-F238E27FC236}">
                <a16:creationId xmlns:a16="http://schemas.microsoft.com/office/drawing/2014/main" id="{45596FE4-A91C-9532-5E52-EF6E29F48F20}"/>
              </a:ext>
            </a:extLst>
          </p:cNvPr>
          <p:cNvSpPr>
            <a:spLocks noChangeArrowheads="1"/>
          </p:cNvSpPr>
          <p:nvPr/>
        </p:nvSpPr>
        <p:spPr bwMode="auto">
          <a:xfrm>
            <a:off x="9879013" y="604838"/>
            <a:ext cx="593725"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1" i="1">
                <a:latin typeface="Arial" panose="020B0604020202020204" pitchFamily="34" charset="0"/>
              </a:rPr>
              <a:t>TU</a:t>
            </a:r>
          </a:p>
        </p:txBody>
      </p:sp>
      <p:sp>
        <p:nvSpPr>
          <p:cNvPr id="31769" name="Rectangle 29">
            <a:extLst>
              <a:ext uri="{FF2B5EF4-FFF2-40B4-BE49-F238E27FC236}">
                <a16:creationId xmlns:a16="http://schemas.microsoft.com/office/drawing/2014/main" id="{CCA65700-4743-F240-CC03-81092A4EE7AF}"/>
              </a:ext>
            </a:extLst>
          </p:cNvPr>
          <p:cNvSpPr>
            <a:spLocks noChangeArrowheads="1"/>
          </p:cNvSpPr>
          <p:nvPr/>
        </p:nvSpPr>
        <p:spPr bwMode="auto">
          <a:xfrm>
            <a:off x="9825038" y="5562600"/>
            <a:ext cx="661987"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1" i="1">
                <a:latin typeface="Arial" panose="020B0604020202020204" pitchFamily="34" charset="0"/>
              </a:rPr>
              <a:t>MU</a:t>
            </a:r>
          </a:p>
        </p:txBody>
      </p:sp>
      <p:sp>
        <p:nvSpPr>
          <p:cNvPr id="31770" name="Oval 30">
            <a:extLst>
              <a:ext uri="{FF2B5EF4-FFF2-40B4-BE49-F238E27FC236}">
                <a16:creationId xmlns:a16="http://schemas.microsoft.com/office/drawing/2014/main" id="{9F7917DE-8354-F6C9-2A10-67EC2A5FC951}"/>
              </a:ext>
            </a:extLst>
          </p:cNvPr>
          <p:cNvSpPr>
            <a:spLocks noChangeArrowheads="1"/>
          </p:cNvSpPr>
          <p:nvPr/>
        </p:nvSpPr>
        <p:spPr bwMode="auto">
          <a:xfrm>
            <a:off x="7040563" y="246380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71" name="Oval 31">
            <a:extLst>
              <a:ext uri="{FF2B5EF4-FFF2-40B4-BE49-F238E27FC236}">
                <a16:creationId xmlns:a16="http://schemas.microsoft.com/office/drawing/2014/main" id="{1795802C-B4CC-2E0E-1196-6E66A299BF6C}"/>
              </a:ext>
            </a:extLst>
          </p:cNvPr>
          <p:cNvSpPr>
            <a:spLocks noChangeArrowheads="1"/>
          </p:cNvSpPr>
          <p:nvPr/>
        </p:nvSpPr>
        <p:spPr bwMode="auto">
          <a:xfrm>
            <a:off x="7454900" y="19018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72" name="Oval 32">
            <a:extLst>
              <a:ext uri="{FF2B5EF4-FFF2-40B4-BE49-F238E27FC236}">
                <a16:creationId xmlns:a16="http://schemas.microsoft.com/office/drawing/2014/main" id="{6A19FBE6-266C-281E-60FB-2459081E880F}"/>
              </a:ext>
            </a:extLst>
          </p:cNvPr>
          <p:cNvSpPr>
            <a:spLocks noChangeArrowheads="1"/>
          </p:cNvSpPr>
          <p:nvPr/>
        </p:nvSpPr>
        <p:spPr bwMode="auto">
          <a:xfrm>
            <a:off x="7869238" y="153035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73" name="Oval 33">
            <a:extLst>
              <a:ext uri="{FF2B5EF4-FFF2-40B4-BE49-F238E27FC236}">
                <a16:creationId xmlns:a16="http://schemas.microsoft.com/office/drawing/2014/main" id="{CD37B21F-13E1-ACD8-AEBA-74D129A51717}"/>
              </a:ext>
            </a:extLst>
          </p:cNvPr>
          <p:cNvSpPr>
            <a:spLocks noChangeArrowheads="1"/>
          </p:cNvSpPr>
          <p:nvPr/>
        </p:nvSpPr>
        <p:spPr bwMode="auto">
          <a:xfrm>
            <a:off x="8307388" y="12541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74" name="Oval 34">
            <a:extLst>
              <a:ext uri="{FF2B5EF4-FFF2-40B4-BE49-F238E27FC236}">
                <a16:creationId xmlns:a16="http://schemas.microsoft.com/office/drawing/2014/main" id="{C36AF40D-3D21-06E6-C467-721FEF7D1478}"/>
              </a:ext>
            </a:extLst>
          </p:cNvPr>
          <p:cNvSpPr>
            <a:spLocks noChangeArrowheads="1"/>
          </p:cNvSpPr>
          <p:nvPr/>
        </p:nvSpPr>
        <p:spPr bwMode="auto">
          <a:xfrm>
            <a:off x="8745538" y="109696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75" name="Oval 35">
            <a:extLst>
              <a:ext uri="{FF2B5EF4-FFF2-40B4-BE49-F238E27FC236}">
                <a16:creationId xmlns:a16="http://schemas.microsoft.com/office/drawing/2014/main" id="{47BC4819-F4F5-87A4-4461-F9C19305386A}"/>
              </a:ext>
            </a:extLst>
          </p:cNvPr>
          <p:cNvSpPr>
            <a:spLocks noChangeArrowheads="1"/>
          </p:cNvSpPr>
          <p:nvPr/>
        </p:nvSpPr>
        <p:spPr bwMode="auto">
          <a:xfrm>
            <a:off x="9183688" y="110648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76" name="Oval 36">
            <a:extLst>
              <a:ext uri="{FF2B5EF4-FFF2-40B4-BE49-F238E27FC236}">
                <a16:creationId xmlns:a16="http://schemas.microsoft.com/office/drawing/2014/main" id="{11A5AAF1-0A2A-EEBC-B27E-9BAE0EE47E60}"/>
              </a:ext>
            </a:extLst>
          </p:cNvPr>
          <p:cNvSpPr>
            <a:spLocks noChangeArrowheads="1"/>
          </p:cNvSpPr>
          <p:nvPr/>
        </p:nvSpPr>
        <p:spPr bwMode="auto">
          <a:xfrm>
            <a:off x="9693275" y="130651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77" name="Oval 37">
            <a:extLst>
              <a:ext uri="{FF2B5EF4-FFF2-40B4-BE49-F238E27FC236}">
                <a16:creationId xmlns:a16="http://schemas.microsoft.com/office/drawing/2014/main" id="{F22F2DC1-AA66-E6E5-90BA-0CB0C6FBFEF2}"/>
              </a:ext>
            </a:extLst>
          </p:cNvPr>
          <p:cNvSpPr>
            <a:spLocks noChangeArrowheads="1"/>
          </p:cNvSpPr>
          <p:nvPr/>
        </p:nvSpPr>
        <p:spPr bwMode="auto">
          <a:xfrm>
            <a:off x="6931025" y="421163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78" name="Oval 38">
            <a:extLst>
              <a:ext uri="{FF2B5EF4-FFF2-40B4-BE49-F238E27FC236}">
                <a16:creationId xmlns:a16="http://schemas.microsoft.com/office/drawing/2014/main" id="{CC20BCC7-2EA4-A5E7-37DA-46B986721067}"/>
              </a:ext>
            </a:extLst>
          </p:cNvPr>
          <p:cNvSpPr>
            <a:spLocks noChangeArrowheads="1"/>
          </p:cNvSpPr>
          <p:nvPr/>
        </p:nvSpPr>
        <p:spPr bwMode="auto">
          <a:xfrm>
            <a:off x="7345363" y="445928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79" name="Oval 39">
            <a:extLst>
              <a:ext uri="{FF2B5EF4-FFF2-40B4-BE49-F238E27FC236}">
                <a16:creationId xmlns:a16="http://schemas.microsoft.com/office/drawing/2014/main" id="{47F1E585-9BBA-A45A-5C7A-E793919BB7FC}"/>
              </a:ext>
            </a:extLst>
          </p:cNvPr>
          <p:cNvSpPr>
            <a:spLocks noChangeArrowheads="1"/>
          </p:cNvSpPr>
          <p:nvPr/>
        </p:nvSpPr>
        <p:spPr bwMode="auto">
          <a:xfrm>
            <a:off x="7783513" y="4730750"/>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80" name="Oval 40">
            <a:extLst>
              <a:ext uri="{FF2B5EF4-FFF2-40B4-BE49-F238E27FC236}">
                <a16:creationId xmlns:a16="http://schemas.microsoft.com/office/drawing/2014/main" id="{B0212E56-4500-CB68-E676-D49DD704A5CA}"/>
              </a:ext>
            </a:extLst>
          </p:cNvPr>
          <p:cNvSpPr>
            <a:spLocks noChangeArrowheads="1"/>
          </p:cNvSpPr>
          <p:nvPr/>
        </p:nvSpPr>
        <p:spPr bwMode="auto">
          <a:xfrm>
            <a:off x="8269288" y="500221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81" name="Oval 41">
            <a:extLst>
              <a:ext uri="{FF2B5EF4-FFF2-40B4-BE49-F238E27FC236}">
                <a16:creationId xmlns:a16="http://schemas.microsoft.com/office/drawing/2014/main" id="{2BF50BA1-9B63-B6BD-E3A6-2423293C37A7}"/>
              </a:ext>
            </a:extLst>
          </p:cNvPr>
          <p:cNvSpPr>
            <a:spLocks noChangeArrowheads="1"/>
          </p:cNvSpPr>
          <p:nvPr/>
        </p:nvSpPr>
        <p:spPr bwMode="auto">
          <a:xfrm>
            <a:off x="8755063" y="5249863"/>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82" name="Oval 42">
            <a:extLst>
              <a:ext uri="{FF2B5EF4-FFF2-40B4-BE49-F238E27FC236}">
                <a16:creationId xmlns:a16="http://schemas.microsoft.com/office/drawing/2014/main" id="{3434DC81-A186-2BA7-0C8F-F79554B254C3}"/>
              </a:ext>
            </a:extLst>
          </p:cNvPr>
          <p:cNvSpPr>
            <a:spLocks noChangeArrowheads="1"/>
          </p:cNvSpPr>
          <p:nvPr/>
        </p:nvSpPr>
        <p:spPr bwMode="auto">
          <a:xfrm>
            <a:off x="9193213" y="5521325"/>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31783" name="Oval 43">
            <a:extLst>
              <a:ext uri="{FF2B5EF4-FFF2-40B4-BE49-F238E27FC236}">
                <a16:creationId xmlns:a16="http://schemas.microsoft.com/office/drawing/2014/main" id="{9CBDC298-BE22-0A2D-8913-DBFA1805C290}"/>
              </a:ext>
            </a:extLst>
          </p:cNvPr>
          <p:cNvSpPr>
            <a:spLocks noChangeArrowheads="1"/>
          </p:cNvSpPr>
          <p:nvPr/>
        </p:nvSpPr>
        <p:spPr bwMode="auto">
          <a:xfrm>
            <a:off x="9655175" y="5792788"/>
            <a:ext cx="206375" cy="206375"/>
          </a:xfrm>
          <a:prstGeom prst="ellipse">
            <a:avLst/>
          </a:prstGeom>
          <a:solidFill>
            <a:srgbClr val="CC0000"/>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nvGrpSpPr>
          <p:cNvPr id="31784" name="Group 44">
            <a:extLst>
              <a:ext uri="{FF2B5EF4-FFF2-40B4-BE49-F238E27FC236}">
                <a16:creationId xmlns:a16="http://schemas.microsoft.com/office/drawing/2014/main" id="{8D51D58B-7994-E421-10AE-8B91D905E6E5}"/>
              </a:ext>
            </a:extLst>
          </p:cNvPr>
          <p:cNvGrpSpPr>
            <a:grpSpLocks/>
          </p:cNvGrpSpPr>
          <p:nvPr/>
        </p:nvGrpSpPr>
        <p:grpSpPr bwMode="auto">
          <a:xfrm>
            <a:off x="6765925" y="693738"/>
            <a:ext cx="3317875" cy="3016250"/>
            <a:chOff x="3126" y="593"/>
            <a:chExt cx="2090" cy="1900"/>
          </a:xfrm>
        </p:grpSpPr>
        <p:sp>
          <p:nvSpPr>
            <p:cNvPr id="31794" name="Line 45">
              <a:extLst>
                <a:ext uri="{FF2B5EF4-FFF2-40B4-BE49-F238E27FC236}">
                  <a16:creationId xmlns:a16="http://schemas.microsoft.com/office/drawing/2014/main" id="{6BBD4601-23B5-5F12-863C-05743CD1B6C4}"/>
                </a:ext>
              </a:extLst>
            </p:cNvPr>
            <p:cNvSpPr>
              <a:spLocks noChangeShapeType="1"/>
            </p:cNvSpPr>
            <p:nvPr/>
          </p:nvSpPr>
          <p:spPr bwMode="auto">
            <a:xfrm>
              <a:off x="3143" y="593"/>
              <a:ext cx="0" cy="19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sp>
          <p:nvSpPr>
            <p:cNvPr id="31795" name="Line 46">
              <a:extLst>
                <a:ext uri="{FF2B5EF4-FFF2-40B4-BE49-F238E27FC236}">
                  <a16:creationId xmlns:a16="http://schemas.microsoft.com/office/drawing/2014/main" id="{A5B2B63F-EE84-3E7E-4D8A-B64A7444DABC}"/>
                </a:ext>
              </a:extLst>
            </p:cNvPr>
            <p:cNvSpPr>
              <a:spLocks noChangeShapeType="1"/>
            </p:cNvSpPr>
            <p:nvPr/>
          </p:nvSpPr>
          <p:spPr bwMode="auto">
            <a:xfrm>
              <a:off x="3126" y="2483"/>
              <a:ext cx="209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31785" name="Rectangle 47">
            <a:extLst>
              <a:ext uri="{FF2B5EF4-FFF2-40B4-BE49-F238E27FC236}">
                <a16:creationId xmlns:a16="http://schemas.microsoft.com/office/drawing/2014/main" id="{4200DB75-F5B7-B7DF-747E-2B255C003CCB}"/>
              </a:ext>
            </a:extLst>
          </p:cNvPr>
          <p:cNvSpPr>
            <a:spLocks noChangeArrowheads="1"/>
          </p:cNvSpPr>
          <p:nvPr/>
        </p:nvSpPr>
        <p:spPr bwMode="auto">
          <a:xfrm>
            <a:off x="6635750" y="3673475"/>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0       1       2       3       4       5       6       7</a:t>
            </a:r>
          </a:p>
        </p:txBody>
      </p:sp>
      <p:sp>
        <p:nvSpPr>
          <p:cNvPr id="31786" name="Rectangle 48">
            <a:extLst>
              <a:ext uri="{FF2B5EF4-FFF2-40B4-BE49-F238E27FC236}">
                <a16:creationId xmlns:a16="http://schemas.microsoft.com/office/drawing/2014/main" id="{355C6AE5-30BD-5B3D-689C-A6A6E5328D3E}"/>
              </a:ext>
            </a:extLst>
          </p:cNvPr>
          <p:cNvSpPr>
            <a:spLocks noChangeArrowheads="1"/>
          </p:cNvSpPr>
          <p:nvPr/>
        </p:nvSpPr>
        <p:spPr bwMode="auto">
          <a:xfrm>
            <a:off x="6607175" y="6064250"/>
            <a:ext cx="32051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latin typeface="Arial" panose="020B0604020202020204" pitchFamily="34" charset="0"/>
              </a:rPr>
              <a:t>         1       2       3       4       5       6       7</a:t>
            </a:r>
          </a:p>
        </p:txBody>
      </p:sp>
      <p:sp>
        <p:nvSpPr>
          <p:cNvPr id="22577" name="Oval 49">
            <a:extLst>
              <a:ext uri="{FF2B5EF4-FFF2-40B4-BE49-F238E27FC236}">
                <a16:creationId xmlns:a16="http://schemas.microsoft.com/office/drawing/2014/main" id="{96F7C605-2D60-BFC5-991F-5BC90C2E0BB5}"/>
              </a:ext>
            </a:extLst>
          </p:cNvPr>
          <p:cNvSpPr>
            <a:spLocks noChangeArrowheads="1"/>
          </p:cNvSpPr>
          <p:nvPr/>
        </p:nvSpPr>
        <p:spPr bwMode="auto">
          <a:xfrm>
            <a:off x="5229225" y="1898650"/>
            <a:ext cx="1227138" cy="4386263"/>
          </a:xfrm>
          <a:prstGeom prst="ellipse">
            <a:avLst/>
          </a:prstGeom>
          <a:noFill/>
          <a:ln w="5715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nvGrpSpPr>
          <p:cNvPr id="22578" name="Group 50">
            <a:extLst>
              <a:ext uri="{FF2B5EF4-FFF2-40B4-BE49-F238E27FC236}">
                <a16:creationId xmlns:a16="http://schemas.microsoft.com/office/drawing/2014/main" id="{5C8FA13E-5952-7FB3-4C1D-8CD6E51CA907}"/>
              </a:ext>
            </a:extLst>
          </p:cNvPr>
          <p:cNvGrpSpPr>
            <a:grpSpLocks/>
          </p:cNvGrpSpPr>
          <p:nvPr/>
        </p:nvGrpSpPr>
        <p:grpSpPr bwMode="auto">
          <a:xfrm>
            <a:off x="6243638" y="1374775"/>
            <a:ext cx="4183062" cy="3813175"/>
            <a:chOff x="3001" y="857"/>
            <a:chExt cx="2635" cy="2402"/>
          </a:xfrm>
        </p:grpSpPr>
        <p:sp>
          <p:nvSpPr>
            <p:cNvPr id="31791" name="Freeform 51">
              <a:extLst>
                <a:ext uri="{FF2B5EF4-FFF2-40B4-BE49-F238E27FC236}">
                  <a16:creationId xmlns:a16="http://schemas.microsoft.com/office/drawing/2014/main" id="{7F605267-7D70-7DA2-4A37-EB5ED327CBAF}"/>
                </a:ext>
              </a:extLst>
            </p:cNvPr>
            <p:cNvSpPr>
              <a:spLocks/>
            </p:cNvSpPr>
            <p:nvPr/>
          </p:nvSpPr>
          <p:spPr bwMode="auto">
            <a:xfrm>
              <a:off x="3098" y="957"/>
              <a:ext cx="2538" cy="2302"/>
            </a:xfrm>
            <a:custGeom>
              <a:avLst/>
              <a:gdLst>
                <a:gd name="T0" fmla="*/ 0 w 10153"/>
                <a:gd name="T1" fmla="*/ 0 h 9210"/>
                <a:gd name="T2" fmla="*/ 0 w 10153"/>
                <a:gd name="T3" fmla="*/ 0 h 9210"/>
                <a:gd name="T4" fmla="*/ 0 w 10153"/>
                <a:gd name="T5" fmla="*/ 0 h 9210"/>
                <a:gd name="T6" fmla="*/ 0 w 10153"/>
                <a:gd name="T7" fmla="*/ 0 h 9210"/>
                <a:gd name="T8" fmla="*/ 0 w 10153"/>
                <a:gd name="T9" fmla="*/ 0 h 9210"/>
                <a:gd name="T10" fmla="*/ 0 w 10153"/>
                <a:gd name="T11" fmla="*/ 0 h 9210"/>
                <a:gd name="T12" fmla="*/ 0 w 10153"/>
                <a:gd name="T13" fmla="*/ 0 h 9210"/>
                <a:gd name="T14" fmla="*/ 0 w 10153"/>
                <a:gd name="T15" fmla="*/ 0 h 9210"/>
                <a:gd name="T16" fmla="*/ 0 w 10153"/>
                <a:gd name="T17" fmla="*/ 0 h 9210"/>
                <a:gd name="T18" fmla="*/ 0 w 10153"/>
                <a:gd name="T19" fmla="*/ 0 h 9210"/>
                <a:gd name="T20" fmla="*/ 0 w 10153"/>
                <a:gd name="T21" fmla="*/ 0 h 9210"/>
                <a:gd name="T22" fmla="*/ 0 w 10153"/>
                <a:gd name="T23" fmla="*/ 0 h 9210"/>
                <a:gd name="T24" fmla="*/ 0 w 10153"/>
                <a:gd name="T25" fmla="*/ 0 h 9210"/>
                <a:gd name="T26" fmla="*/ 0 w 10153"/>
                <a:gd name="T27" fmla="*/ 0 h 9210"/>
                <a:gd name="T28" fmla="*/ 0 w 10153"/>
                <a:gd name="T29" fmla="*/ 0 h 9210"/>
                <a:gd name="T30" fmla="*/ 0 w 10153"/>
                <a:gd name="T31" fmla="*/ 0 h 9210"/>
                <a:gd name="T32" fmla="*/ 0 w 10153"/>
                <a:gd name="T33" fmla="*/ 0 h 9210"/>
                <a:gd name="T34" fmla="*/ 0 w 10153"/>
                <a:gd name="T35" fmla="*/ 0 h 9210"/>
                <a:gd name="T36" fmla="*/ 0 w 10153"/>
                <a:gd name="T37" fmla="*/ 0 h 9210"/>
                <a:gd name="T38" fmla="*/ 0 w 10153"/>
                <a:gd name="T39" fmla="*/ 0 h 9210"/>
                <a:gd name="T40" fmla="*/ 0 w 10153"/>
                <a:gd name="T41" fmla="*/ 0 h 9210"/>
                <a:gd name="T42" fmla="*/ 0 w 10153"/>
                <a:gd name="T43" fmla="*/ 0 h 9210"/>
                <a:gd name="T44" fmla="*/ 0 w 10153"/>
                <a:gd name="T45" fmla="*/ 0 h 9210"/>
                <a:gd name="T46" fmla="*/ 0 w 10153"/>
                <a:gd name="T47" fmla="*/ 0 h 9210"/>
                <a:gd name="T48" fmla="*/ 0 w 10153"/>
                <a:gd name="T49" fmla="*/ 0 h 9210"/>
                <a:gd name="T50" fmla="*/ 0 w 10153"/>
                <a:gd name="T51" fmla="*/ 0 h 9210"/>
                <a:gd name="T52" fmla="*/ 0 w 10153"/>
                <a:gd name="T53" fmla="*/ 0 h 9210"/>
                <a:gd name="T54" fmla="*/ 0 w 10153"/>
                <a:gd name="T55" fmla="*/ 0 h 9210"/>
                <a:gd name="T56" fmla="*/ 0 w 10153"/>
                <a:gd name="T57" fmla="*/ 0 h 9210"/>
                <a:gd name="T58" fmla="*/ 0 w 10153"/>
                <a:gd name="T59" fmla="*/ 0 h 9210"/>
                <a:gd name="T60" fmla="*/ 0 w 10153"/>
                <a:gd name="T61" fmla="*/ 0 h 9210"/>
                <a:gd name="T62" fmla="*/ 0 w 10153"/>
                <a:gd name="T63" fmla="*/ 0 h 9210"/>
                <a:gd name="T64" fmla="*/ 0 w 10153"/>
                <a:gd name="T65" fmla="*/ 0 h 9210"/>
                <a:gd name="T66" fmla="*/ 0 w 10153"/>
                <a:gd name="T67" fmla="*/ 0 h 9210"/>
                <a:gd name="T68" fmla="*/ 0 w 10153"/>
                <a:gd name="T69" fmla="*/ 0 h 9210"/>
                <a:gd name="T70" fmla="*/ 0 w 10153"/>
                <a:gd name="T71" fmla="*/ 0 h 9210"/>
                <a:gd name="T72" fmla="*/ 0 w 10153"/>
                <a:gd name="T73" fmla="*/ 0 h 9210"/>
                <a:gd name="T74" fmla="*/ 0 w 10153"/>
                <a:gd name="T75" fmla="*/ 0 h 9210"/>
                <a:gd name="T76" fmla="*/ 0 w 10153"/>
                <a:gd name="T77" fmla="*/ 0 h 9210"/>
                <a:gd name="T78" fmla="*/ 0 w 10153"/>
                <a:gd name="T79" fmla="*/ 0 h 9210"/>
                <a:gd name="T80" fmla="*/ 0 w 10153"/>
                <a:gd name="T81" fmla="*/ 0 h 9210"/>
                <a:gd name="T82" fmla="*/ 0 w 10153"/>
                <a:gd name="T83" fmla="*/ 0 h 9210"/>
                <a:gd name="T84" fmla="*/ 0 w 10153"/>
                <a:gd name="T85" fmla="*/ 0 h 9210"/>
                <a:gd name="T86" fmla="*/ 0 w 10153"/>
                <a:gd name="T87" fmla="*/ 0 h 9210"/>
                <a:gd name="T88" fmla="*/ 0 w 10153"/>
                <a:gd name="T89" fmla="*/ 0 h 9210"/>
                <a:gd name="T90" fmla="*/ 0 w 10153"/>
                <a:gd name="T91" fmla="*/ 0 h 9210"/>
                <a:gd name="T92" fmla="*/ 0 w 10153"/>
                <a:gd name="T93" fmla="*/ 0 h 9210"/>
                <a:gd name="T94" fmla="*/ 0 w 10153"/>
                <a:gd name="T95" fmla="*/ 0 h 9210"/>
                <a:gd name="T96" fmla="*/ 0 w 10153"/>
                <a:gd name="T97" fmla="*/ 0 h 9210"/>
                <a:gd name="T98" fmla="*/ 0 w 10153"/>
                <a:gd name="T99" fmla="*/ 0 h 9210"/>
                <a:gd name="T100" fmla="*/ 0 w 10153"/>
                <a:gd name="T101" fmla="*/ 0 h 9210"/>
                <a:gd name="T102" fmla="*/ 0 w 10153"/>
                <a:gd name="T103" fmla="*/ 0 h 9210"/>
                <a:gd name="T104" fmla="*/ 0 w 10153"/>
                <a:gd name="T105" fmla="*/ 0 h 9210"/>
                <a:gd name="T106" fmla="*/ 0 w 10153"/>
                <a:gd name="T107" fmla="*/ 0 h 9210"/>
                <a:gd name="T108" fmla="*/ 0 w 10153"/>
                <a:gd name="T109" fmla="*/ 0 h 9210"/>
                <a:gd name="T110" fmla="*/ 0 w 10153"/>
                <a:gd name="T111" fmla="*/ 0 h 9210"/>
                <a:gd name="T112" fmla="*/ 0 w 10153"/>
                <a:gd name="T113" fmla="*/ 0 h 9210"/>
                <a:gd name="T114" fmla="*/ 0 w 10153"/>
                <a:gd name="T115" fmla="*/ 0 h 9210"/>
                <a:gd name="T116" fmla="*/ 0 w 10153"/>
                <a:gd name="T117" fmla="*/ 0 h 9210"/>
                <a:gd name="T118" fmla="*/ 0 w 10153"/>
                <a:gd name="T119" fmla="*/ 0 h 9210"/>
                <a:gd name="T120" fmla="*/ 0 w 10153"/>
                <a:gd name="T121" fmla="*/ 0 h 9210"/>
                <a:gd name="T122" fmla="*/ 0 w 10153"/>
                <a:gd name="T123" fmla="*/ 0 h 9210"/>
                <a:gd name="T124" fmla="*/ 0 w 10153"/>
                <a:gd name="T125" fmla="*/ 0 h 921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0153" h="9210">
                  <a:moveTo>
                    <a:pt x="1969" y="3139"/>
                  </a:moveTo>
                  <a:lnTo>
                    <a:pt x="1183" y="3139"/>
                  </a:lnTo>
                  <a:lnTo>
                    <a:pt x="1183" y="1892"/>
                  </a:lnTo>
                  <a:lnTo>
                    <a:pt x="0" y="3730"/>
                  </a:lnTo>
                  <a:lnTo>
                    <a:pt x="1183" y="5570"/>
                  </a:lnTo>
                  <a:lnTo>
                    <a:pt x="1183" y="4317"/>
                  </a:lnTo>
                  <a:lnTo>
                    <a:pt x="1969" y="4317"/>
                  </a:lnTo>
                  <a:lnTo>
                    <a:pt x="1961" y="6709"/>
                  </a:lnTo>
                  <a:lnTo>
                    <a:pt x="1969" y="6732"/>
                  </a:lnTo>
                  <a:lnTo>
                    <a:pt x="1995" y="6840"/>
                  </a:lnTo>
                  <a:lnTo>
                    <a:pt x="2030" y="6947"/>
                  </a:lnTo>
                  <a:lnTo>
                    <a:pt x="2098" y="7040"/>
                  </a:lnTo>
                  <a:lnTo>
                    <a:pt x="2165" y="7131"/>
                  </a:lnTo>
                  <a:lnTo>
                    <a:pt x="2257" y="7218"/>
                  </a:lnTo>
                  <a:lnTo>
                    <a:pt x="2350" y="7293"/>
                  </a:lnTo>
                  <a:lnTo>
                    <a:pt x="2452" y="7341"/>
                  </a:lnTo>
                  <a:lnTo>
                    <a:pt x="2570" y="7378"/>
                  </a:lnTo>
                  <a:lnTo>
                    <a:pt x="2688" y="7409"/>
                  </a:lnTo>
                  <a:lnTo>
                    <a:pt x="2815" y="7416"/>
                  </a:lnTo>
                  <a:lnTo>
                    <a:pt x="5436" y="7416"/>
                  </a:lnTo>
                  <a:lnTo>
                    <a:pt x="5436" y="8125"/>
                  </a:lnTo>
                  <a:lnTo>
                    <a:pt x="4065" y="8125"/>
                  </a:lnTo>
                  <a:lnTo>
                    <a:pt x="6086" y="9210"/>
                  </a:lnTo>
                  <a:lnTo>
                    <a:pt x="8099" y="8125"/>
                  </a:lnTo>
                  <a:lnTo>
                    <a:pt x="6729" y="8125"/>
                  </a:lnTo>
                  <a:lnTo>
                    <a:pt x="6729" y="7416"/>
                  </a:lnTo>
                  <a:lnTo>
                    <a:pt x="9317" y="7416"/>
                  </a:lnTo>
                  <a:lnTo>
                    <a:pt x="9333" y="7416"/>
                  </a:lnTo>
                  <a:lnTo>
                    <a:pt x="9451" y="7402"/>
                  </a:lnTo>
                  <a:lnTo>
                    <a:pt x="9577" y="7378"/>
                  </a:lnTo>
                  <a:lnTo>
                    <a:pt x="9687" y="7332"/>
                  </a:lnTo>
                  <a:lnTo>
                    <a:pt x="9790" y="7279"/>
                  </a:lnTo>
                  <a:lnTo>
                    <a:pt x="9892" y="7202"/>
                  </a:lnTo>
                  <a:lnTo>
                    <a:pt x="9968" y="7124"/>
                  </a:lnTo>
                  <a:lnTo>
                    <a:pt x="10043" y="7033"/>
                  </a:lnTo>
                  <a:lnTo>
                    <a:pt x="10102" y="6933"/>
                  </a:lnTo>
                  <a:lnTo>
                    <a:pt x="10137" y="6824"/>
                  </a:lnTo>
                  <a:lnTo>
                    <a:pt x="10153" y="6709"/>
                  </a:lnTo>
                  <a:lnTo>
                    <a:pt x="10153" y="707"/>
                  </a:lnTo>
                  <a:lnTo>
                    <a:pt x="10153" y="683"/>
                  </a:lnTo>
                  <a:lnTo>
                    <a:pt x="10127" y="576"/>
                  </a:lnTo>
                  <a:lnTo>
                    <a:pt x="10085" y="467"/>
                  </a:lnTo>
                  <a:lnTo>
                    <a:pt x="10027" y="369"/>
                  </a:lnTo>
                  <a:lnTo>
                    <a:pt x="9960" y="276"/>
                  </a:lnTo>
                  <a:lnTo>
                    <a:pt x="9875" y="198"/>
                  </a:lnTo>
                  <a:lnTo>
                    <a:pt x="9772" y="136"/>
                  </a:lnTo>
                  <a:lnTo>
                    <a:pt x="9663" y="75"/>
                  </a:lnTo>
                  <a:lnTo>
                    <a:pt x="9553" y="29"/>
                  </a:lnTo>
                  <a:lnTo>
                    <a:pt x="9434" y="7"/>
                  </a:lnTo>
                  <a:lnTo>
                    <a:pt x="9317" y="0"/>
                  </a:lnTo>
                  <a:lnTo>
                    <a:pt x="2815" y="0"/>
                  </a:lnTo>
                  <a:lnTo>
                    <a:pt x="2790" y="0"/>
                  </a:lnTo>
                  <a:lnTo>
                    <a:pt x="2662" y="14"/>
                  </a:lnTo>
                  <a:lnTo>
                    <a:pt x="2545" y="45"/>
                  </a:lnTo>
                  <a:lnTo>
                    <a:pt x="2442" y="83"/>
                  </a:lnTo>
                  <a:lnTo>
                    <a:pt x="2325" y="145"/>
                  </a:lnTo>
                  <a:lnTo>
                    <a:pt x="2233" y="214"/>
                  </a:lnTo>
                  <a:lnTo>
                    <a:pt x="2155" y="298"/>
                  </a:lnTo>
                  <a:lnTo>
                    <a:pt x="2081" y="392"/>
                  </a:lnTo>
                  <a:lnTo>
                    <a:pt x="2030" y="492"/>
                  </a:lnTo>
                  <a:lnTo>
                    <a:pt x="1987" y="599"/>
                  </a:lnTo>
                  <a:lnTo>
                    <a:pt x="1961" y="707"/>
                  </a:lnTo>
                  <a:lnTo>
                    <a:pt x="1969" y="3139"/>
                  </a:lnTo>
                  <a:close/>
                </a:path>
              </a:pathLst>
            </a:custGeom>
            <a:solidFill>
              <a:srgbClr val="000000"/>
            </a:solidFill>
            <a:ln w="0">
              <a:solidFill>
                <a:srgbClr val="000000"/>
              </a:solidFill>
              <a:prstDash val="solid"/>
              <a:round/>
              <a:headEnd/>
              <a:tailEnd/>
            </a:ln>
          </p:spPr>
          <p:txBody>
            <a:bodyPr/>
            <a:lstStyle/>
            <a:p>
              <a:endParaRPr lang="en-LK"/>
            </a:p>
          </p:txBody>
        </p:sp>
        <p:sp>
          <p:nvSpPr>
            <p:cNvPr id="31792" name="Freeform 52">
              <a:extLst>
                <a:ext uri="{FF2B5EF4-FFF2-40B4-BE49-F238E27FC236}">
                  <a16:creationId xmlns:a16="http://schemas.microsoft.com/office/drawing/2014/main" id="{C7455E51-4CB8-DA89-454B-F6565592E10A}"/>
                </a:ext>
              </a:extLst>
            </p:cNvPr>
            <p:cNvSpPr>
              <a:spLocks/>
            </p:cNvSpPr>
            <p:nvPr/>
          </p:nvSpPr>
          <p:spPr bwMode="auto">
            <a:xfrm>
              <a:off x="3001" y="857"/>
              <a:ext cx="2543" cy="2305"/>
            </a:xfrm>
            <a:custGeom>
              <a:avLst/>
              <a:gdLst>
                <a:gd name="T0" fmla="*/ 0 w 10170"/>
                <a:gd name="T1" fmla="*/ 0 h 9220"/>
                <a:gd name="T2" fmla="*/ 0 w 10170"/>
                <a:gd name="T3" fmla="*/ 0 h 9220"/>
                <a:gd name="T4" fmla="*/ 0 w 10170"/>
                <a:gd name="T5" fmla="*/ 0 h 9220"/>
                <a:gd name="T6" fmla="*/ 0 w 10170"/>
                <a:gd name="T7" fmla="*/ 0 h 9220"/>
                <a:gd name="T8" fmla="*/ 0 w 10170"/>
                <a:gd name="T9" fmla="*/ 0 h 9220"/>
                <a:gd name="T10" fmla="*/ 0 w 10170"/>
                <a:gd name="T11" fmla="*/ 0 h 9220"/>
                <a:gd name="T12" fmla="*/ 0 w 10170"/>
                <a:gd name="T13" fmla="*/ 0 h 9220"/>
                <a:gd name="T14" fmla="*/ 0 w 10170"/>
                <a:gd name="T15" fmla="*/ 0 h 9220"/>
                <a:gd name="T16" fmla="*/ 0 w 10170"/>
                <a:gd name="T17" fmla="*/ 0 h 9220"/>
                <a:gd name="T18" fmla="*/ 0 w 10170"/>
                <a:gd name="T19" fmla="*/ 0 h 9220"/>
                <a:gd name="T20" fmla="*/ 0 w 10170"/>
                <a:gd name="T21" fmla="*/ 0 h 9220"/>
                <a:gd name="T22" fmla="*/ 0 w 10170"/>
                <a:gd name="T23" fmla="*/ 0 h 9220"/>
                <a:gd name="T24" fmla="*/ 0 w 10170"/>
                <a:gd name="T25" fmla="*/ 0 h 9220"/>
                <a:gd name="T26" fmla="*/ 0 w 10170"/>
                <a:gd name="T27" fmla="*/ 0 h 9220"/>
                <a:gd name="T28" fmla="*/ 0 w 10170"/>
                <a:gd name="T29" fmla="*/ 0 h 9220"/>
                <a:gd name="T30" fmla="*/ 0 w 10170"/>
                <a:gd name="T31" fmla="*/ 0 h 9220"/>
                <a:gd name="T32" fmla="*/ 0 w 10170"/>
                <a:gd name="T33" fmla="*/ 0 h 9220"/>
                <a:gd name="T34" fmla="*/ 0 w 10170"/>
                <a:gd name="T35" fmla="*/ 0 h 9220"/>
                <a:gd name="T36" fmla="*/ 0 w 10170"/>
                <a:gd name="T37" fmla="*/ 0 h 9220"/>
                <a:gd name="T38" fmla="*/ 0 w 10170"/>
                <a:gd name="T39" fmla="*/ 0 h 9220"/>
                <a:gd name="T40" fmla="*/ 0 w 10170"/>
                <a:gd name="T41" fmla="*/ 0 h 9220"/>
                <a:gd name="T42" fmla="*/ 0 w 10170"/>
                <a:gd name="T43" fmla="*/ 0 h 9220"/>
                <a:gd name="T44" fmla="*/ 0 w 10170"/>
                <a:gd name="T45" fmla="*/ 0 h 9220"/>
                <a:gd name="T46" fmla="*/ 0 w 10170"/>
                <a:gd name="T47" fmla="*/ 0 h 9220"/>
                <a:gd name="T48" fmla="*/ 0 w 10170"/>
                <a:gd name="T49" fmla="*/ 0 h 9220"/>
                <a:gd name="T50" fmla="*/ 0 w 10170"/>
                <a:gd name="T51" fmla="*/ 0 h 9220"/>
                <a:gd name="T52" fmla="*/ 0 w 10170"/>
                <a:gd name="T53" fmla="*/ 0 h 9220"/>
                <a:gd name="T54" fmla="*/ 0 w 10170"/>
                <a:gd name="T55" fmla="*/ 0 h 9220"/>
                <a:gd name="T56" fmla="*/ 0 w 10170"/>
                <a:gd name="T57" fmla="*/ 0 h 9220"/>
                <a:gd name="T58" fmla="*/ 0 w 10170"/>
                <a:gd name="T59" fmla="*/ 0 h 9220"/>
                <a:gd name="T60" fmla="*/ 0 w 10170"/>
                <a:gd name="T61" fmla="*/ 0 h 9220"/>
                <a:gd name="T62" fmla="*/ 0 w 10170"/>
                <a:gd name="T63" fmla="*/ 0 h 9220"/>
                <a:gd name="T64" fmla="*/ 0 w 10170"/>
                <a:gd name="T65" fmla="*/ 0 h 9220"/>
                <a:gd name="T66" fmla="*/ 0 w 10170"/>
                <a:gd name="T67" fmla="*/ 0 h 9220"/>
                <a:gd name="T68" fmla="*/ 0 w 10170"/>
                <a:gd name="T69" fmla="*/ 0 h 9220"/>
                <a:gd name="T70" fmla="*/ 0 w 10170"/>
                <a:gd name="T71" fmla="*/ 0 h 9220"/>
                <a:gd name="T72" fmla="*/ 0 w 10170"/>
                <a:gd name="T73" fmla="*/ 0 h 9220"/>
                <a:gd name="T74" fmla="*/ 0 w 10170"/>
                <a:gd name="T75" fmla="*/ 0 h 9220"/>
                <a:gd name="T76" fmla="*/ 0 w 10170"/>
                <a:gd name="T77" fmla="*/ 0 h 9220"/>
                <a:gd name="T78" fmla="*/ 0 w 10170"/>
                <a:gd name="T79" fmla="*/ 0 h 9220"/>
                <a:gd name="T80" fmla="*/ 0 w 10170"/>
                <a:gd name="T81" fmla="*/ 0 h 9220"/>
                <a:gd name="T82" fmla="*/ 0 w 10170"/>
                <a:gd name="T83" fmla="*/ 0 h 9220"/>
                <a:gd name="T84" fmla="*/ 0 w 10170"/>
                <a:gd name="T85" fmla="*/ 0 h 9220"/>
                <a:gd name="T86" fmla="*/ 0 w 10170"/>
                <a:gd name="T87" fmla="*/ 0 h 9220"/>
                <a:gd name="T88" fmla="*/ 0 w 10170"/>
                <a:gd name="T89" fmla="*/ 0 h 9220"/>
                <a:gd name="T90" fmla="*/ 0 w 10170"/>
                <a:gd name="T91" fmla="*/ 0 h 9220"/>
                <a:gd name="T92" fmla="*/ 0 w 10170"/>
                <a:gd name="T93" fmla="*/ 0 h 9220"/>
                <a:gd name="T94" fmla="*/ 0 w 10170"/>
                <a:gd name="T95" fmla="*/ 0 h 9220"/>
                <a:gd name="T96" fmla="*/ 0 w 10170"/>
                <a:gd name="T97" fmla="*/ 0 h 9220"/>
                <a:gd name="T98" fmla="*/ 0 w 10170"/>
                <a:gd name="T99" fmla="*/ 0 h 9220"/>
                <a:gd name="T100" fmla="*/ 0 w 10170"/>
                <a:gd name="T101" fmla="*/ 0 h 9220"/>
                <a:gd name="T102" fmla="*/ 0 w 10170"/>
                <a:gd name="T103" fmla="*/ 0 h 9220"/>
                <a:gd name="T104" fmla="*/ 0 w 10170"/>
                <a:gd name="T105" fmla="*/ 0 h 9220"/>
                <a:gd name="T106" fmla="*/ 0 w 10170"/>
                <a:gd name="T107" fmla="*/ 0 h 9220"/>
                <a:gd name="T108" fmla="*/ 0 w 10170"/>
                <a:gd name="T109" fmla="*/ 0 h 9220"/>
                <a:gd name="T110" fmla="*/ 0 w 10170"/>
                <a:gd name="T111" fmla="*/ 0 h 9220"/>
                <a:gd name="T112" fmla="*/ 0 w 10170"/>
                <a:gd name="T113" fmla="*/ 0 h 9220"/>
                <a:gd name="T114" fmla="*/ 0 w 10170"/>
                <a:gd name="T115" fmla="*/ 0 h 9220"/>
                <a:gd name="T116" fmla="*/ 0 w 10170"/>
                <a:gd name="T117" fmla="*/ 0 h 9220"/>
                <a:gd name="T118" fmla="*/ 0 w 10170"/>
                <a:gd name="T119" fmla="*/ 0 h 9220"/>
                <a:gd name="T120" fmla="*/ 0 w 10170"/>
                <a:gd name="T121" fmla="*/ 0 h 9220"/>
                <a:gd name="T122" fmla="*/ 0 w 10170"/>
                <a:gd name="T123" fmla="*/ 0 h 9220"/>
                <a:gd name="T124" fmla="*/ 0 w 10170"/>
                <a:gd name="T125" fmla="*/ 0 h 922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0170" h="9220">
                  <a:moveTo>
                    <a:pt x="1977" y="3148"/>
                  </a:moveTo>
                  <a:lnTo>
                    <a:pt x="1190" y="3148"/>
                  </a:lnTo>
                  <a:lnTo>
                    <a:pt x="1190" y="1901"/>
                  </a:lnTo>
                  <a:lnTo>
                    <a:pt x="0" y="3741"/>
                  </a:lnTo>
                  <a:lnTo>
                    <a:pt x="1190" y="5571"/>
                  </a:lnTo>
                  <a:lnTo>
                    <a:pt x="1190" y="4325"/>
                  </a:lnTo>
                  <a:lnTo>
                    <a:pt x="1977" y="4325"/>
                  </a:lnTo>
                  <a:lnTo>
                    <a:pt x="1968" y="6720"/>
                  </a:lnTo>
                  <a:lnTo>
                    <a:pt x="1977" y="6733"/>
                  </a:lnTo>
                  <a:lnTo>
                    <a:pt x="2003" y="6849"/>
                  </a:lnTo>
                  <a:lnTo>
                    <a:pt x="2045" y="6949"/>
                  </a:lnTo>
                  <a:lnTo>
                    <a:pt x="2096" y="7057"/>
                  </a:lnTo>
                  <a:lnTo>
                    <a:pt x="2171" y="7142"/>
                  </a:lnTo>
                  <a:lnTo>
                    <a:pt x="2256" y="7226"/>
                  </a:lnTo>
                  <a:lnTo>
                    <a:pt x="2357" y="7296"/>
                  </a:lnTo>
                  <a:lnTo>
                    <a:pt x="2459" y="7349"/>
                  </a:lnTo>
                  <a:lnTo>
                    <a:pt x="2577" y="7388"/>
                  </a:lnTo>
                  <a:lnTo>
                    <a:pt x="2696" y="7411"/>
                  </a:lnTo>
                  <a:lnTo>
                    <a:pt x="2813" y="7426"/>
                  </a:lnTo>
                  <a:lnTo>
                    <a:pt x="5461" y="7471"/>
                  </a:lnTo>
                  <a:lnTo>
                    <a:pt x="5444" y="8135"/>
                  </a:lnTo>
                  <a:lnTo>
                    <a:pt x="4074" y="8135"/>
                  </a:lnTo>
                  <a:lnTo>
                    <a:pt x="6095" y="9220"/>
                  </a:lnTo>
                  <a:lnTo>
                    <a:pt x="8107" y="8135"/>
                  </a:lnTo>
                  <a:lnTo>
                    <a:pt x="6737" y="8135"/>
                  </a:lnTo>
                  <a:lnTo>
                    <a:pt x="6720" y="7471"/>
                  </a:lnTo>
                  <a:lnTo>
                    <a:pt x="9316" y="7426"/>
                  </a:lnTo>
                  <a:lnTo>
                    <a:pt x="9340" y="7426"/>
                  </a:lnTo>
                  <a:lnTo>
                    <a:pt x="9468" y="7411"/>
                  </a:lnTo>
                  <a:lnTo>
                    <a:pt x="9578" y="7388"/>
                  </a:lnTo>
                  <a:lnTo>
                    <a:pt x="9695" y="7335"/>
                  </a:lnTo>
                  <a:lnTo>
                    <a:pt x="9797" y="7280"/>
                  </a:lnTo>
                  <a:lnTo>
                    <a:pt x="9890" y="7204"/>
                  </a:lnTo>
                  <a:lnTo>
                    <a:pt x="9975" y="7126"/>
                  </a:lnTo>
                  <a:lnTo>
                    <a:pt x="10042" y="7035"/>
                  </a:lnTo>
                  <a:lnTo>
                    <a:pt x="10102" y="6933"/>
                  </a:lnTo>
                  <a:lnTo>
                    <a:pt x="10143" y="6827"/>
                  </a:lnTo>
                  <a:lnTo>
                    <a:pt x="10170" y="6720"/>
                  </a:lnTo>
                  <a:lnTo>
                    <a:pt x="10170" y="716"/>
                  </a:lnTo>
                  <a:lnTo>
                    <a:pt x="10160" y="684"/>
                  </a:lnTo>
                  <a:lnTo>
                    <a:pt x="10127" y="587"/>
                  </a:lnTo>
                  <a:lnTo>
                    <a:pt x="10093" y="470"/>
                  </a:lnTo>
                  <a:lnTo>
                    <a:pt x="10025" y="377"/>
                  </a:lnTo>
                  <a:lnTo>
                    <a:pt x="9958" y="285"/>
                  </a:lnTo>
                  <a:lnTo>
                    <a:pt x="9883" y="208"/>
                  </a:lnTo>
                  <a:lnTo>
                    <a:pt x="9780" y="140"/>
                  </a:lnTo>
                  <a:lnTo>
                    <a:pt x="9670" y="85"/>
                  </a:lnTo>
                  <a:lnTo>
                    <a:pt x="9560" y="40"/>
                  </a:lnTo>
                  <a:lnTo>
                    <a:pt x="9443" y="16"/>
                  </a:lnTo>
                  <a:lnTo>
                    <a:pt x="9316" y="0"/>
                  </a:lnTo>
                  <a:lnTo>
                    <a:pt x="2813" y="0"/>
                  </a:lnTo>
                  <a:lnTo>
                    <a:pt x="2788" y="0"/>
                  </a:lnTo>
                  <a:lnTo>
                    <a:pt x="2671" y="16"/>
                  </a:lnTo>
                  <a:lnTo>
                    <a:pt x="2553" y="46"/>
                  </a:lnTo>
                  <a:lnTo>
                    <a:pt x="2443" y="91"/>
                  </a:lnTo>
                  <a:lnTo>
                    <a:pt x="2333" y="153"/>
                  </a:lnTo>
                  <a:lnTo>
                    <a:pt x="2240" y="216"/>
                  </a:lnTo>
                  <a:lnTo>
                    <a:pt x="2155" y="301"/>
                  </a:lnTo>
                  <a:lnTo>
                    <a:pt x="2088" y="402"/>
                  </a:lnTo>
                  <a:lnTo>
                    <a:pt x="2036" y="500"/>
                  </a:lnTo>
                  <a:lnTo>
                    <a:pt x="1993" y="600"/>
                  </a:lnTo>
                  <a:lnTo>
                    <a:pt x="1968" y="716"/>
                  </a:lnTo>
                  <a:lnTo>
                    <a:pt x="1977" y="3148"/>
                  </a:lnTo>
                  <a:close/>
                </a:path>
              </a:pathLst>
            </a:custGeom>
            <a:solidFill>
              <a:srgbClr val="FFFF66"/>
            </a:solidFill>
            <a:ln w="0">
              <a:solidFill>
                <a:srgbClr val="000000"/>
              </a:solidFill>
              <a:prstDash val="solid"/>
              <a:round/>
              <a:headEnd/>
              <a:tailEnd/>
            </a:ln>
          </p:spPr>
          <p:txBody>
            <a:bodyPr/>
            <a:lstStyle/>
            <a:p>
              <a:endParaRPr lang="en-LK"/>
            </a:p>
          </p:txBody>
        </p:sp>
        <p:sp>
          <p:nvSpPr>
            <p:cNvPr id="31793" name="Rectangle 53">
              <a:extLst>
                <a:ext uri="{FF2B5EF4-FFF2-40B4-BE49-F238E27FC236}">
                  <a16:creationId xmlns:a16="http://schemas.microsoft.com/office/drawing/2014/main" id="{1F2BF9B8-8F79-9DEF-051D-1A953908ADCE}"/>
                </a:ext>
              </a:extLst>
            </p:cNvPr>
            <p:cNvSpPr>
              <a:spLocks noChangeArrowheads="1"/>
            </p:cNvSpPr>
            <p:nvPr/>
          </p:nvSpPr>
          <p:spPr bwMode="auto">
            <a:xfrm>
              <a:off x="3527" y="1028"/>
              <a:ext cx="1963"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000" b="1" i="1">
                  <a:solidFill>
                    <a:srgbClr val="CC0000"/>
                  </a:solidFill>
                  <a:latin typeface="Arial" panose="020B0604020202020204" pitchFamily="34" charset="0"/>
                </a:rPr>
                <a:t>Observe</a:t>
              </a:r>
            </a:p>
            <a:p>
              <a:pPr algn="ctr" eaLnBrk="1" hangingPunct="1">
                <a:lnSpc>
                  <a:spcPct val="100000"/>
                </a:lnSpc>
                <a:spcBef>
                  <a:spcPct val="0"/>
                </a:spcBef>
                <a:buFontTx/>
                <a:buNone/>
              </a:pPr>
              <a:r>
                <a:rPr lang="en-US" altLang="en-US" sz="4000" b="1" i="1">
                  <a:solidFill>
                    <a:srgbClr val="CC0000"/>
                  </a:solidFill>
                  <a:latin typeface="Arial" panose="020B0604020202020204" pitchFamily="34" charset="0"/>
                </a:rPr>
                <a:t>Diminishing</a:t>
              </a:r>
            </a:p>
            <a:p>
              <a:pPr algn="ctr" eaLnBrk="1" hangingPunct="1">
                <a:lnSpc>
                  <a:spcPct val="100000"/>
                </a:lnSpc>
                <a:spcBef>
                  <a:spcPct val="0"/>
                </a:spcBef>
                <a:buFontTx/>
                <a:buNone/>
              </a:pPr>
              <a:r>
                <a:rPr lang="en-US" altLang="en-US" sz="4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4000" b="1" i="1">
                  <a:solidFill>
                    <a:srgbClr val="CC0000"/>
                  </a:solidFill>
                  <a:latin typeface="Arial" panose="020B0604020202020204" pitchFamily="34" charset="0"/>
                </a:rPr>
                <a:t>Utility</a:t>
              </a:r>
            </a:p>
          </p:txBody>
        </p:sp>
      </p:grpSp>
      <p:pic>
        <p:nvPicPr>
          <p:cNvPr id="22582" name="Picture 54">
            <a:hlinkClick r:id="rId5"/>
            <a:extLst>
              <a:ext uri="{FF2B5EF4-FFF2-40B4-BE49-F238E27FC236}">
                <a16:creationId xmlns:a16="http://schemas.microsoft.com/office/drawing/2014/main" id="{C72A8207-7AAE-EC74-6B53-79C7C75C3C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98013" y="604838"/>
            <a:ext cx="274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Rectangle 8">
            <a:extLst>
              <a:ext uri="{FF2B5EF4-FFF2-40B4-BE49-F238E27FC236}">
                <a16:creationId xmlns:a16="http://schemas.microsoft.com/office/drawing/2014/main" id="{3A0B4A36-0953-0AAD-C521-EB7964E5200F}"/>
              </a:ext>
            </a:extLst>
          </p:cNvPr>
          <p:cNvSpPr>
            <a:spLocks noChangeArrowheads="1"/>
          </p:cNvSpPr>
          <p:nvPr/>
        </p:nvSpPr>
        <p:spPr bwMode="auto">
          <a:xfrm>
            <a:off x="3219450" y="1031875"/>
            <a:ext cx="133667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latin typeface="Arial" panose="020B0604020202020204" pitchFamily="34" charset="0"/>
              </a:rPr>
              <a:t>Yogurts</a:t>
            </a:r>
          </a:p>
          <a:p>
            <a:pPr algn="ctr" eaLnBrk="1" hangingPunct="1">
              <a:lnSpc>
                <a:spcPct val="100000"/>
              </a:lnSpc>
              <a:spcBef>
                <a:spcPct val="0"/>
              </a:spcBef>
              <a:buFontTx/>
              <a:buNone/>
            </a:pPr>
            <a:r>
              <a:rPr lang="en-US" altLang="en-US" sz="1800" b="1">
                <a:latin typeface="Arial" panose="020B0604020202020204" pitchFamily="34" charset="0"/>
              </a:rPr>
              <a:t>consumed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2578"/>
                                        </p:tgtEl>
                                        <p:attrNameLst>
                                          <p:attrName>style.visibility</p:attrName>
                                        </p:attrNameLst>
                                      </p:cBhvr>
                                      <p:to>
                                        <p:strVal val="visible"/>
                                      </p:to>
                                    </p:set>
                                    <p:animEffect transition="in" filter="dissolve">
                                      <p:cBhvr>
                                        <p:cTn id="7" dur="500"/>
                                        <p:tgtEl>
                                          <p:spTgt spid="22578"/>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22577"/>
                                        </p:tgtEl>
                                        <p:attrNameLst>
                                          <p:attrName>style.visibility</p:attrName>
                                        </p:attrNameLst>
                                      </p:cBhvr>
                                      <p:to>
                                        <p:strVal val="visible"/>
                                      </p:to>
                                    </p:set>
                                    <p:animEffect transition="in" filter="dissolve">
                                      <p:cBhvr>
                                        <p:cTn id="11" dur="500"/>
                                        <p:tgtEl>
                                          <p:spTgt spid="22577"/>
                                        </p:tgtEl>
                                      </p:cBhvr>
                                    </p:animEffect>
                                  </p:childTnLst>
                                  <p:subTnLst>
                                    <p:audio>
                                      <p:cMediaNode>
                                        <p:cTn display="0" masterRel="sameClick">
                                          <p:stCondLst>
                                            <p:cond evt="begin" delay="0">
                                              <p:tn val="9"/>
                                            </p:cond>
                                          </p:stCondLst>
                                          <p:endCondLst>
                                            <p:cond evt="onStopAudio" delay="0">
                                              <p:tgtEl>
                                                <p:sldTgt/>
                                              </p:tgtEl>
                                            </p:cond>
                                          </p:endCondLst>
                                        </p:cTn>
                                        <p:tgtEl>
                                          <p:sndTgt r:embed="rId2" name="DING.WAV"/>
                                        </p:tgtEl>
                                      </p:cMediaNode>
                                    </p:audio>
                                  </p:subTnLst>
                                </p:cTn>
                              </p:par>
                            </p:childTnLst>
                          </p:cTn>
                        </p:par>
                        <p:par>
                          <p:cTn id="12" fill="hold" nodeType="afterGroup">
                            <p:stCondLst>
                              <p:cond delay="1000"/>
                            </p:stCondLst>
                            <p:childTnLst>
                              <p:par>
                                <p:cTn id="13" presetID="23" presetClass="entr" presetSubtype="16" fill="hold" nodeType="afterEffect">
                                  <p:stCondLst>
                                    <p:cond delay="0"/>
                                  </p:stCondLst>
                                  <p:childTnLst>
                                    <p:set>
                                      <p:cBhvr>
                                        <p:cTn id="14" dur="1" fill="hold">
                                          <p:stCondLst>
                                            <p:cond delay="0"/>
                                          </p:stCondLst>
                                        </p:cTn>
                                        <p:tgtEl>
                                          <p:spTgt spid="22582"/>
                                        </p:tgtEl>
                                        <p:attrNameLst>
                                          <p:attrName>style.visibility</p:attrName>
                                        </p:attrNameLst>
                                      </p:cBhvr>
                                      <p:to>
                                        <p:strVal val="visible"/>
                                      </p:to>
                                    </p:set>
                                    <p:anim calcmode="lin" valueType="num">
                                      <p:cBhvr>
                                        <p:cTn id="15" dur="500" fill="hold"/>
                                        <p:tgtEl>
                                          <p:spTgt spid="22582"/>
                                        </p:tgtEl>
                                        <p:attrNameLst>
                                          <p:attrName>ppt_w</p:attrName>
                                        </p:attrNameLst>
                                      </p:cBhvr>
                                      <p:tavLst>
                                        <p:tav tm="0">
                                          <p:val>
                                            <p:fltVal val="0"/>
                                          </p:val>
                                        </p:tav>
                                        <p:tav tm="100000">
                                          <p:val>
                                            <p:strVal val="#ppt_w"/>
                                          </p:val>
                                        </p:tav>
                                      </p:tavLst>
                                    </p:anim>
                                    <p:anim calcmode="lin" valueType="num">
                                      <p:cBhvr>
                                        <p:cTn id="16" dur="500" fill="hold"/>
                                        <p:tgtEl>
                                          <p:spTgt spid="2258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childTnLst>
                          </p:cTn>
                        </p:par>
                        <p:par>
                          <p:cTn id="17" fill="hold" nodeType="afterGroup">
                            <p:stCondLst>
                              <p:cond delay="1500"/>
                            </p:stCondLst>
                            <p:childTnLst>
                              <p:par>
                                <p:cTn id="18" presetID="22" presetClass="entr" presetSubtype="1" fill="hold" nodeType="after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wipe(up)">
                                      <p:cBhvr>
                                        <p:cTn id="20"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46E6896B-E662-3110-9614-61FA5CC91617}"/>
              </a:ext>
            </a:extLst>
          </p:cNvPr>
          <p:cNvSpPr>
            <a:spLocks noChangeArrowheads="1"/>
          </p:cNvSpPr>
          <p:nvPr/>
        </p:nvSpPr>
        <p:spPr bwMode="auto">
          <a:xfrm>
            <a:off x="533400" y="228600"/>
            <a:ext cx="8618538"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200" b="1">
                <a:solidFill>
                  <a:srgbClr val="000099"/>
                </a:solidFill>
                <a:latin typeface="Times New Roman" panose="02020603050405020304" pitchFamily="18" charset="0"/>
              </a:rPr>
              <a:t>Law of Diminishing Marginal Utility</a:t>
            </a:r>
          </a:p>
        </p:txBody>
      </p:sp>
      <p:sp>
        <p:nvSpPr>
          <p:cNvPr id="32770" name="Rectangle 4">
            <a:extLst>
              <a:ext uri="{FF2B5EF4-FFF2-40B4-BE49-F238E27FC236}">
                <a16:creationId xmlns:a16="http://schemas.microsoft.com/office/drawing/2014/main" id="{BBD98DB5-F3C7-0E51-A3F2-833CDD7B4608}"/>
              </a:ext>
            </a:extLst>
          </p:cNvPr>
          <p:cNvSpPr>
            <a:spLocks noGrp="1" noChangeArrowheads="1"/>
          </p:cNvSpPr>
          <p:nvPr>
            <p:ph idx="1"/>
          </p:nvPr>
        </p:nvSpPr>
        <p:spPr>
          <a:xfrm>
            <a:off x="533400" y="1219200"/>
            <a:ext cx="10972800" cy="4530725"/>
          </a:xfrm>
        </p:spPr>
        <p:txBody>
          <a:bodyPr/>
          <a:lstStyle/>
          <a:p>
            <a:pPr eaLnBrk="1" hangingPunct="1"/>
            <a:r>
              <a:rPr lang="en-US" altLang="en-US" b="1">
                <a:latin typeface="Times New Roman" panose="02020603050405020304" pitchFamily="18" charset="0"/>
                <a:cs typeface="Times New Roman" panose="02020603050405020304" pitchFamily="18" charset="0"/>
              </a:rPr>
              <a:t>Law of diminishing marginal utility:</a:t>
            </a:r>
            <a:r>
              <a:rPr lang="en-US" altLang="en-US">
                <a:latin typeface="Times New Roman" panose="02020603050405020304" pitchFamily="18" charset="0"/>
                <a:cs typeface="Times New Roman" panose="02020603050405020304" pitchFamily="18" charset="0"/>
              </a:rPr>
              <a:t>  Added satisfaction declines as a consumer acquires additional units of a product.</a:t>
            </a:r>
          </a:p>
          <a:p>
            <a:pPr lvl="1" eaLnBrk="1" hangingPunct="1"/>
            <a:r>
              <a:rPr lang="en-US" altLang="en-US" b="1">
                <a:latin typeface="Times New Roman" panose="02020603050405020304" pitchFamily="18" charset="0"/>
                <a:cs typeface="Times New Roman" panose="02020603050405020304" pitchFamily="18" charset="0"/>
              </a:rPr>
              <a:t>e.g. Your desire for a car may be very strong?  What about for a second car?  A third?</a:t>
            </a:r>
          </a:p>
          <a:p>
            <a:pPr eaLnBrk="1" hangingPunct="1"/>
            <a:endParaRPr lang="en-US" altLang="en-US">
              <a:latin typeface="Times New Roman" panose="02020603050405020304" pitchFamily="18" charset="0"/>
              <a:cs typeface="Times New Roman" panose="02020603050405020304" pitchFamily="18" charset="0"/>
            </a:endParaRPr>
          </a:p>
          <a:p>
            <a:pPr eaLnBrk="1" hangingPunct="1"/>
            <a:r>
              <a:rPr lang="en-US" altLang="en-US">
                <a:latin typeface="Times New Roman" panose="02020603050405020304" pitchFamily="18" charset="0"/>
                <a:cs typeface="Times New Roman" panose="02020603050405020304" pitchFamily="18" charset="0"/>
              </a:rPr>
              <a:t>Additional units of a good/service are worth less and less to a consumer in money terms.</a:t>
            </a:r>
          </a:p>
          <a:p>
            <a:pPr lvl="2" eaLnBrk="1" hangingPunct="1"/>
            <a:endParaRPr lang="en-US" altLang="en-US" sz="2800" b="1">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2882"/>
                                        </p:tgtEl>
                                        <p:attrNameLst>
                                          <p:attrName>style.visibility</p:attrName>
                                        </p:attrNameLst>
                                      </p:cBhvr>
                                      <p:to>
                                        <p:strVal val="visible"/>
                                      </p:to>
                                    </p:set>
                                    <p:animEffect transition="in" filter="wipe(left)">
                                      <p:cBhvr>
                                        <p:cTn id="7" dur="500"/>
                                        <p:tgtEl>
                                          <p:spTgt spid="122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798" name="Rectangle 3379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00" name="Freeform: Shape 3379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3" name="Title 1">
            <a:extLst>
              <a:ext uri="{FF2B5EF4-FFF2-40B4-BE49-F238E27FC236}">
                <a16:creationId xmlns:a16="http://schemas.microsoft.com/office/drawing/2014/main" id="{C762FCD3-EA2D-0F5B-4CF5-A46F4B587938}"/>
              </a:ext>
            </a:extLst>
          </p:cNvPr>
          <p:cNvSpPr>
            <a:spLocks noGrp="1" noChangeArrowheads="1"/>
          </p:cNvSpPr>
          <p:nvPr>
            <p:ph type="title"/>
          </p:nvPr>
        </p:nvSpPr>
        <p:spPr>
          <a:xfrm>
            <a:off x="686834" y="1153572"/>
            <a:ext cx="3200400" cy="4461163"/>
          </a:xfrm>
        </p:spPr>
        <p:txBody>
          <a:bodyPr>
            <a:normAutofit/>
          </a:bodyPr>
          <a:lstStyle/>
          <a:p>
            <a:pPr eaLnBrk="1" hangingPunct="1"/>
            <a:r>
              <a:rPr lang="en-US" altLang="en-US">
                <a:solidFill>
                  <a:srgbClr val="FFFFFF"/>
                </a:solidFill>
                <a:latin typeface="Times New Roman" panose="02020603050405020304" pitchFamily="18" charset="0"/>
                <a:cs typeface="Times New Roman" panose="02020603050405020304" pitchFamily="18" charset="0"/>
              </a:rPr>
              <a:t>Consider this:</a:t>
            </a:r>
          </a:p>
        </p:txBody>
      </p:sp>
      <p:sp>
        <p:nvSpPr>
          <p:cNvPr id="33802" name="Arc 3380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434" name="Content Placeholder 2">
            <a:extLst>
              <a:ext uri="{FF2B5EF4-FFF2-40B4-BE49-F238E27FC236}">
                <a16:creationId xmlns:a16="http://schemas.microsoft.com/office/drawing/2014/main" id="{60D6B851-C368-9B3B-0F8F-8294A0B2B02F}"/>
              </a:ext>
            </a:extLst>
          </p:cNvPr>
          <p:cNvSpPr>
            <a:spLocks noGrp="1" noChangeArrowheads="1"/>
          </p:cNvSpPr>
          <p:nvPr>
            <p:ph idx="1"/>
          </p:nvPr>
        </p:nvSpPr>
        <p:spPr>
          <a:xfrm>
            <a:off x="4447308" y="591344"/>
            <a:ext cx="6906491" cy="5585619"/>
          </a:xfrm>
        </p:spPr>
        <p:txBody>
          <a:bodyPr anchor="ctr">
            <a:normAutofit/>
          </a:bodyPr>
          <a:lstStyle/>
          <a:p>
            <a:pPr eaLnBrk="1" hangingPunct="1">
              <a:defRPr/>
            </a:pPr>
            <a:r>
              <a:rPr lang="en-US" altLang="en-US" sz="3200" dirty="0">
                <a:latin typeface="Times New Roman" panose="02020603050405020304" pitchFamily="18" charset="0"/>
                <a:cs typeface="Times New Roman" panose="02020603050405020304" pitchFamily="18" charset="0"/>
              </a:rPr>
              <a:t>Newspaper vending machines normally allow one to take multiple papers; publishers allow this because they believe that people rarely take more than one paper because the marginal utility of the second paper is often zero, and it has little “shelf life.”</a:t>
            </a:r>
          </a:p>
          <a:p>
            <a:pPr marL="0" indent="0" eaLnBrk="1" hangingPunct="1">
              <a:buFont typeface="Arial" panose="020B0604020202020204" pitchFamily="34" charset="0"/>
              <a:buNone/>
              <a:defRPr/>
            </a:pPr>
            <a:endParaRPr lang="en-US" altLang="en-US"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823" name="Rectangle 3482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825" name="Rectangle 3482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827" name="Rectangle 3482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817" name="Title 1">
            <a:extLst>
              <a:ext uri="{FF2B5EF4-FFF2-40B4-BE49-F238E27FC236}">
                <a16:creationId xmlns:a16="http://schemas.microsoft.com/office/drawing/2014/main" id="{BE453B88-671B-FDE4-03E5-E99A820FDB86}"/>
              </a:ext>
            </a:extLst>
          </p:cNvPr>
          <p:cNvSpPr>
            <a:spLocks noGrp="1" noChangeArrowheads="1"/>
          </p:cNvSpPr>
          <p:nvPr>
            <p:ph type="title"/>
          </p:nvPr>
        </p:nvSpPr>
        <p:spPr>
          <a:xfrm>
            <a:off x="1115568" y="548640"/>
            <a:ext cx="10168128" cy="1179576"/>
          </a:xfrm>
        </p:spPr>
        <p:txBody>
          <a:bodyPr>
            <a:normAutofit fontScale="90000"/>
          </a:bodyPr>
          <a:lstStyle/>
          <a:p>
            <a:pPr eaLnBrk="1" hangingPunct="1"/>
            <a:r>
              <a:rPr lang="en-US" altLang="en-US" sz="2800" b="1" dirty="0">
                <a:latin typeface="Times New Roman" panose="02020603050405020304" pitchFamily="18" charset="0"/>
                <a:cs typeface="Times New Roman" panose="02020603050405020304" pitchFamily="18" charset="0"/>
              </a:rPr>
              <a:t>The theory of consumer behavior uses the law of diminishing marginal utility to explain how consumers allocate their income.</a:t>
            </a:r>
            <a:br>
              <a:rPr lang="en-US" altLang="en-US" sz="2800" dirty="0">
                <a:latin typeface="Times New Roman" panose="02020603050405020304" pitchFamily="18" charset="0"/>
                <a:cs typeface="Times New Roman" panose="02020603050405020304" pitchFamily="18" charset="0"/>
              </a:rPr>
            </a:br>
            <a:endParaRPr lang="en-US" altLang="en-US" sz="2800" dirty="0">
              <a:latin typeface="Times New Roman" panose="02020603050405020304" pitchFamily="18" charset="0"/>
              <a:cs typeface="Times New Roman" panose="02020603050405020304" pitchFamily="18" charset="0"/>
            </a:endParaRPr>
          </a:p>
        </p:txBody>
      </p:sp>
      <p:sp>
        <p:nvSpPr>
          <p:cNvPr id="34829" name="Rectangle 3482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818" name="Content Placeholder 2">
            <a:extLst>
              <a:ext uri="{FF2B5EF4-FFF2-40B4-BE49-F238E27FC236}">
                <a16:creationId xmlns:a16="http://schemas.microsoft.com/office/drawing/2014/main" id="{40F12B84-E08E-FE5B-552A-B82CB9A2676D}"/>
              </a:ext>
            </a:extLst>
          </p:cNvPr>
          <p:cNvSpPr>
            <a:spLocks noGrp="1" noChangeArrowheads="1"/>
          </p:cNvSpPr>
          <p:nvPr>
            <p:ph idx="1"/>
          </p:nvPr>
        </p:nvSpPr>
        <p:spPr>
          <a:xfrm>
            <a:off x="1115568" y="2481943"/>
            <a:ext cx="10168128" cy="3695020"/>
          </a:xfrm>
        </p:spPr>
        <p:txBody>
          <a:bodyPr>
            <a:normAutofit/>
          </a:bodyPr>
          <a:lstStyle/>
          <a:p>
            <a:pPr eaLnBrk="1" hangingPunct="1">
              <a:buFont typeface="Arial" panose="020B0604020202020204" pitchFamily="34" charset="0"/>
              <a:buNone/>
            </a:pPr>
            <a:r>
              <a:rPr lang="en-US" altLang="en-US" b="1" u="sng">
                <a:latin typeface="Times New Roman" panose="02020603050405020304" pitchFamily="18" charset="0"/>
                <a:cs typeface="Times New Roman" panose="02020603050405020304" pitchFamily="18" charset="0"/>
              </a:rPr>
              <a:t>Consumer Choice and the Budget Constraint</a:t>
            </a:r>
          </a:p>
          <a:p>
            <a:pPr eaLnBrk="1" hangingPunct="1">
              <a:buFont typeface="Arial" panose="020B0604020202020204" pitchFamily="34" charset="0"/>
              <a:buNone/>
            </a:pPr>
            <a:endParaRPr lang="en-US" altLang="en-US">
              <a:latin typeface="Times New Roman" panose="02020603050405020304" pitchFamily="18" charset="0"/>
              <a:cs typeface="Times New Roman" panose="02020603050405020304" pitchFamily="18" charset="0"/>
            </a:endParaRPr>
          </a:p>
          <a:p>
            <a:pPr eaLnBrk="1" hangingPunct="1"/>
            <a:r>
              <a:rPr lang="en-US" altLang="en-US" b="1" u="sng">
                <a:latin typeface="Times New Roman" panose="02020603050405020304" pitchFamily="18" charset="0"/>
                <a:cs typeface="Times New Roman" panose="02020603050405020304" pitchFamily="18" charset="0"/>
              </a:rPr>
              <a:t>Budget Constraint </a:t>
            </a:r>
            <a:r>
              <a:rPr lang="en-US" altLang="en-US">
                <a:latin typeface="Times New Roman" panose="02020603050405020304" pitchFamily="18" charset="0"/>
                <a:cs typeface="Times New Roman" panose="02020603050405020304" pitchFamily="18" charset="0"/>
              </a:rPr>
              <a:t>- Consumers’ incomes are limited because their individual resources are limited.  </a:t>
            </a:r>
          </a:p>
          <a:p>
            <a:pPr eaLnBrk="1" hangingPunct="1">
              <a:buFont typeface="Arial" panose="020B0604020202020204" pitchFamily="34" charset="0"/>
              <a:buNone/>
            </a:pPr>
            <a:endParaRPr lang="en-US" altLang="en-US">
              <a:latin typeface="Times New Roman" panose="02020603050405020304" pitchFamily="18" charset="0"/>
              <a:cs typeface="Times New Roman" panose="02020603050405020304" pitchFamily="18" charset="0"/>
            </a:endParaRPr>
          </a:p>
          <a:p>
            <a:pPr eaLnBrk="1" hangingPunct="1"/>
            <a:r>
              <a:rPr lang="en-US" altLang="en-US">
                <a:latin typeface="Times New Roman" panose="02020603050405020304" pitchFamily="18" charset="0"/>
                <a:cs typeface="Times New Roman" panose="02020603050405020304" pitchFamily="18" charset="0"/>
              </a:rPr>
              <a:t>Goods and services have prices and are scarce relative to the demand for them.  Consumers must choose among alternative goods with their limited money incomes.</a:t>
            </a:r>
          </a:p>
          <a:p>
            <a:pPr eaLnBrk="1" hangingPunct="1"/>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847" name="Rectangle 3584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849" name="Rectangle 3584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851" name="Rectangle 3585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41" name="Title 1">
            <a:extLst>
              <a:ext uri="{FF2B5EF4-FFF2-40B4-BE49-F238E27FC236}">
                <a16:creationId xmlns:a16="http://schemas.microsoft.com/office/drawing/2014/main" id="{6E1855A1-DC54-B105-6168-1AE86249B42F}"/>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US" sz="4000" b="1">
                <a:latin typeface="Times New Roman" panose="02020603050405020304" pitchFamily="18" charset="0"/>
                <a:cs typeface="Times New Roman" panose="02020603050405020304" pitchFamily="18" charset="0"/>
              </a:rPr>
              <a:t>Consumer Choice &amp; Budget Constraints</a:t>
            </a:r>
          </a:p>
        </p:txBody>
      </p:sp>
      <p:sp>
        <p:nvSpPr>
          <p:cNvPr id="35853" name="Rectangle 3585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5842" name="Content Placeholder 2">
            <a:extLst>
              <a:ext uri="{FF2B5EF4-FFF2-40B4-BE49-F238E27FC236}">
                <a16:creationId xmlns:a16="http://schemas.microsoft.com/office/drawing/2014/main" id="{1794AB02-2BF8-9971-A4BF-FC15C9837E61}"/>
              </a:ext>
            </a:extLst>
          </p:cNvPr>
          <p:cNvSpPr>
            <a:spLocks noGrp="1" noChangeArrowheads="1"/>
          </p:cNvSpPr>
          <p:nvPr>
            <p:ph idx="1"/>
          </p:nvPr>
        </p:nvSpPr>
        <p:spPr>
          <a:xfrm>
            <a:off x="591312" y="2481943"/>
            <a:ext cx="11271504" cy="3695020"/>
          </a:xfrm>
        </p:spPr>
        <p:txBody>
          <a:bodyPr>
            <a:normAutofit/>
          </a:bodyPr>
          <a:lstStyle/>
          <a:p>
            <a:pPr eaLnBrk="1" hangingPunct="1"/>
            <a:r>
              <a:rPr lang="en-US" altLang="en-US" sz="3200" b="1" u="sng">
                <a:latin typeface="Times New Roman" panose="02020603050405020304" pitchFamily="18" charset="0"/>
                <a:cs typeface="Times New Roman" panose="02020603050405020304" pitchFamily="18" charset="0"/>
              </a:rPr>
              <a:t>Rational Behavior  </a:t>
            </a:r>
            <a:r>
              <a:rPr lang="en-US" altLang="en-US" sz="3200">
                <a:latin typeface="Times New Roman" panose="02020603050405020304" pitchFamily="18" charset="0"/>
                <a:cs typeface="Times New Roman" panose="02020603050405020304" pitchFamily="18" charset="0"/>
              </a:rPr>
              <a:t>- we want the most from our money spent.</a:t>
            </a:r>
          </a:p>
          <a:p>
            <a:pPr eaLnBrk="1" hangingPunct="1"/>
            <a:r>
              <a:rPr lang="en-US" altLang="en-US" sz="3200" b="1" u="sng">
                <a:latin typeface="Times New Roman" panose="02020603050405020304" pitchFamily="18" charset="0"/>
                <a:cs typeface="Times New Roman" panose="02020603050405020304" pitchFamily="18" charset="0"/>
              </a:rPr>
              <a:t>Preferences</a:t>
            </a:r>
            <a:r>
              <a:rPr lang="en-US" altLang="en-US" sz="3200">
                <a:latin typeface="Times New Roman" panose="02020603050405020304" pitchFamily="18" charset="0"/>
                <a:cs typeface="Times New Roman" panose="02020603050405020304" pitchFamily="18" charset="0"/>
              </a:rPr>
              <a:t> – how much marginal utility will we get from more of a product?</a:t>
            </a:r>
          </a:p>
          <a:p>
            <a:pPr eaLnBrk="1" hangingPunct="1"/>
            <a:r>
              <a:rPr lang="en-US" altLang="en-US" sz="3200" b="1" u="sng">
                <a:latin typeface="Times New Roman" panose="02020603050405020304" pitchFamily="18" charset="0"/>
                <a:cs typeface="Times New Roman" panose="02020603050405020304" pitchFamily="18" charset="0"/>
              </a:rPr>
              <a:t>Budget Constraint </a:t>
            </a:r>
            <a:r>
              <a:rPr lang="en-US" altLang="en-US" sz="3200">
                <a:latin typeface="Times New Roman" panose="02020603050405020304" pitchFamily="18" charset="0"/>
                <a:cs typeface="Times New Roman" panose="02020603050405020304" pitchFamily="18" charset="0"/>
              </a:rPr>
              <a:t>– Everyone has one!</a:t>
            </a:r>
          </a:p>
          <a:p>
            <a:pPr eaLnBrk="1" hangingPunct="1"/>
            <a:r>
              <a:rPr lang="en-US" altLang="en-US" sz="3200" b="1" u="sng">
                <a:latin typeface="Times New Roman" panose="02020603050405020304" pitchFamily="18" charset="0"/>
                <a:cs typeface="Times New Roman" panose="02020603050405020304" pitchFamily="18" charset="0"/>
              </a:rPr>
              <a:t>Prices</a:t>
            </a:r>
            <a:r>
              <a:rPr lang="en-US" altLang="en-US" sz="3200">
                <a:latin typeface="Times New Roman" panose="02020603050405020304" pitchFamily="18" charset="0"/>
                <a:cs typeface="Times New Roman" panose="02020603050405020304" pitchFamily="18" charset="0"/>
              </a:rPr>
              <a:t> – Choose the “combination” of goods that most please you.</a:t>
            </a:r>
          </a:p>
          <a:p>
            <a:pPr eaLnBrk="1" hangingPunct="1"/>
            <a:endParaRPr lang="en-US" altLang="en-US" sz="3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0" name="Rectangle 2150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512" name="Rectangle 2151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514" name="Rectangle 2151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16" name="Rectangle 2151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505" name="Content Placeholder 2">
            <a:extLst>
              <a:ext uri="{FF2B5EF4-FFF2-40B4-BE49-F238E27FC236}">
                <a16:creationId xmlns:a16="http://schemas.microsoft.com/office/drawing/2014/main" id="{90C5A465-40BC-4456-90F7-4740C0F1BE43}"/>
              </a:ext>
            </a:extLst>
          </p:cNvPr>
          <p:cNvSpPr>
            <a:spLocks noGrp="1" noChangeArrowheads="1"/>
          </p:cNvSpPr>
          <p:nvPr>
            <p:ph idx="1"/>
          </p:nvPr>
        </p:nvSpPr>
        <p:spPr>
          <a:xfrm>
            <a:off x="1115568" y="2481943"/>
            <a:ext cx="10168128" cy="3695020"/>
          </a:xfrm>
        </p:spPr>
        <p:txBody>
          <a:bodyPr>
            <a:normAutofit lnSpcReduction="10000"/>
          </a:bodyPr>
          <a:lstStyle/>
          <a:p>
            <a:pPr algn="just" eaLnBrk="1" hangingPunct="1">
              <a:defRPr/>
            </a:pPr>
            <a:r>
              <a:rPr lang="en-US" altLang="en-US" sz="3200" dirty="0">
                <a:latin typeface="Times New Roman" panose="02020603050405020304" pitchFamily="18" charset="0"/>
                <a:cs typeface="Times New Roman" panose="02020603050405020304" pitchFamily="18" charset="0"/>
              </a:rPr>
              <a:t>It is the marginal utility per dollar spent that is equalized; that is, </a:t>
            </a:r>
            <a:r>
              <a:rPr lang="en-US" altLang="en-US" sz="3200" dirty="0">
                <a:solidFill>
                  <a:srgbClr val="FF0000"/>
                </a:solidFill>
                <a:latin typeface="Times New Roman" panose="02020603050405020304" pitchFamily="18" charset="0"/>
                <a:cs typeface="Times New Roman" panose="02020603050405020304" pitchFamily="18" charset="0"/>
              </a:rPr>
              <a:t>consumers compare the extra utility of each product with its cost.</a:t>
            </a:r>
            <a:endParaRPr lang="en-US" altLang="en-US" sz="3200" dirty="0">
              <a:latin typeface="Times New Roman" panose="02020603050405020304" pitchFamily="18" charset="0"/>
              <a:cs typeface="Times New Roman" panose="02020603050405020304" pitchFamily="18" charset="0"/>
            </a:endParaRPr>
          </a:p>
          <a:p>
            <a:pPr algn="just" eaLnBrk="1" hangingPunct="1">
              <a:defRPr/>
            </a:pPr>
            <a:r>
              <a:rPr lang="en-US" altLang="en-US" sz="3200" dirty="0">
                <a:solidFill>
                  <a:srgbClr val="FF0000"/>
                </a:solidFill>
                <a:latin typeface="Times New Roman" panose="02020603050405020304" pitchFamily="18" charset="0"/>
                <a:cs typeface="Times New Roman" panose="02020603050405020304" pitchFamily="18" charset="0"/>
              </a:rPr>
              <a:t>As long as one good provides more utility per dollar than another, the consumer will buy more of that good; </a:t>
            </a:r>
            <a:r>
              <a:rPr lang="en-US" altLang="en-US" sz="3200" dirty="0">
                <a:latin typeface="Times New Roman" panose="02020603050405020304" pitchFamily="18" charset="0"/>
                <a:cs typeface="Times New Roman" panose="02020603050405020304" pitchFamily="18" charset="0"/>
              </a:rPr>
              <a:t>as more of the first product is bought, its marginal utility diminishes until the amount of utility per dollar just equals that of the other product.</a:t>
            </a:r>
          </a:p>
          <a:p>
            <a:pPr algn="just" eaLnBrk="1" hangingPunct="1">
              <a:buFont typeface="Arial" panose="020B0604020202020204" pitchFamily="34" charset="0"/>
              <a:buNone/>
              <a:defRPr/>
            </a:pPr>
            <a:endParaRPr lang="en-US" altLang="en-US" sz="3200" dirty="0">
              <a:latin typeface="Times New Roman" panose="02020603050405020304" pitchFamily="18" charset="0"/>
              <a:cs typeface="Times New Roman" panose="02020603050405020304" pitchFamily="18" charset="0"/>
            </a:endParaRPr>
          </a:p>
          <a:p>
            <a:pPr marL="0" indent="0" algn="just" eaLnBrk="1" hangingPunct="1">
              <a:buFont typeface="Arial" panose="020B0604020202020204" pitchFamily="34" charset="0"/>
              <a:buNone/>
              <a:defRPr/>
            </a:pPr>
            <a:endParaRPr lang="en-US" alt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4935" name="Rectangle 12493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4937" name="Rectangle 124936">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4939" name="Rectangle 124938">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89" name="Rectangle 3">
            <a:extLst>
              <a:ext uri="{FF2B5EF4-FFF2-40B4-BE49-F238E27FC236}">
                <a16:creationId xmlns:a16="http://schemas.microsoft.com/office/drawing/2014/main" id="{BA6C39BE-46A0-01B3-D9C4-E1FC19ABA7F6}"/>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US" sz="4000" b="1">
                <a:latin typeface="Times New Roman" panose="02020603050405020304" pitchFamily="18" charset="0"/>
                <a:cs typeface="Times New Roman" panose="02020603050405020304" pitchFamily="18" charset="0"/>
              </a:rPr>
              <a:t>Marginal Utility and Demand</a:t>
            </a:r>
          </a:p>
        </p:txBody>
      </p:sp>
      <p:sp>
        <p:nvSpPr>
          <p:cNvPr id="124941" name="Rectangle 124940">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4930" name="Rectangle 2">
            <a:extLst>
              <a:ext uri="{FF2B5EF4-FFF2-40B4-BE49-F238E27FC236}">
                <a16:creationId xmlns:a16="http://schemas.microsoft.com/office/drawing/2014/main" id="{65056CC7-F778-CB7B-807C-5CA159F3BD9A}"/>
              </a:ext>
            </a:extLst>
          </p:cNvPr>
          <p:cNvSpPr>
            <a:spLocks noGrp="1" noChangeArrowheads="1"/>
          </p:cNvSpPr>
          <p:nvPr>
            <p:ph idx="1"/>
          </p:nvPr>
        </p:nvSpPr>
        <p:spPr>
          <a:xfrm>
            <a:off x="1115568" y="2481943"/>
            <a:ext cx="10168128" cy="3695020"/>
          </a:xfrm>
        </p:spPr>
        <p:txBody>
          <a:bodyPr rtlCol="0">
            <a:normAutofit lnSpcReduction="10000"/>
          </a:bodyPr>
          <a:lstStyle/>
          <a:p>
            <a:pPr eaLnBrk="1" fontAlgn="auto" hangingPunct="1">
              <a:spcAft>
                <a:spcPts val="0"/>
              </a:spcAft>
              <a:defRPr/>
            </a:pPr>
            <a:r>
              <a:rPr lang="en-US" altLang="en-US" b="1" dirty="0">
                <a:solidFill>
                  <a:srgbClr val="FF0000"/>
                </a:solidFill>
                <a:latin typeface="Times New Roman" panose="02020603050405020304" pitchFamily="18" charset="0"/>
                <a:cs typeface="Times New Roman" panose="02020603050405020304" pitchFamily="18" charset="0"/>
              </a:rPr>
              <a:t>From Diminishing Marginal Utility to Downward-Sloping Demand Curves</a:t>
            </a:r>
          </a:p>
          <a:p>
            <a:pPr marL="0" indent="0" eaLnBrk="1" fontAlgn="auto" hangingPunct="1">
              <a:spcAft>
                <a:spcPts val="0"/>
              </a:spcAft>
              <a:buFont typeface="Arial" panose="020B0604020202020204" pitchFamily="34" charset="0"/>
              <a:buNone/>
              <a:defRPr/>
            </a:pPr>
            <a:endParaRPr lang="en-US" altLang="en-US"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rPr>
              <a:t>Law of diminishing marginal utility  </a:t>
            </a: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800" dirty="0">
                <a:latin typeface="Times New Roman" panose="02020603050405020304" pitchFamily="18" charset="0"/>
                <a:cs typeface="Times New Roman" panose="02020603050405020304" pitchFamily="18" charset="0"/>
              </a:rPr>
              <a:t> negative slope of demand curves</a:t>
            </a:r>
          </a:p>
          <a:p>
            <a:pPr lvl="1" eaLnBrk="1" fontAlgn="auto" hangingPunct="1">
              <a:spcAft>
                <a:spcPts val="0"/>
              </a:spcAft>
              <a:defRPr/>
            </a:pPr>
            <a:endParaRPr lang="en-US" altLang="en-US" sz="2800"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 price   </a:t>
            </a:r>
            <a:r>
              <a:rPr lang="en-US" altLang="en-US" sz="2800" dirty="0">
                <a:latin typeface="Times New Roman" panose="02020603050405020304" pitchFamily="18" charset="0"/>
                <a:cs typeface="Times New Roman" panose="02020603050405020304" pitchFamily="18" charset="0"/>
                <a:sym typeface="WP IconicSymbolsB" pitchFamily="2" charset="2"/>
              </a:rPr>
              <a:t> </a:t>
            </a: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 quantity demanded  </a:t>
            </a:r>
            <a:r>
              <a:rPr lang="en-US" altLang="en-US" sz="2800" dirty="0">
                <a:latin typeface="Times New Roman" panose="02020603050405020304" pitchFamily="18" charset="0"/>
                <a:cs typeface="Times New Roman" panose="02020603050405020304" pitchFamily="18" charset="0"/>
                <a:sym typeface="WP IconicSymbolsB" pitchFamily="2" charset="2"/>
              </a:rPr>
              <a:t>  </a:t>
            </a: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 marginal utility</a:t>
            </a:r>
          </a:p>
          <a:p>
            <a:pPr marL="457200" lvl="1" indent="0" eaLnBrk="1" fontAlgn="auto" hangingPunct="1">
              <a:spcAft>
                <a:spcPts val="0"/>
              </a:spcAft>
              <a:buFont typeface="Arial" panose="020B0604020202020204" pitchFamily="34" charset="0"/>
              <a:buNone/>
              <a:defRPr/>
            </a:pPr>
            <a:endParaRPr lang="en-US" altLang="en-US" sz="2800" dirty="0">
              <a:latin typeface="Times New Roman" panose="02020603050405020304" pitchFamily="18" charset="0"/>
              <a:cs typeface="Times New Roman" panose="02020603050405020304" pitchFamily="18" charset="0"/>
              <a:sym typeface="Symbol" panose="05050102010706020507" pitchFamily="18" charset="2"/>
            </a:endParaRPr>
          </a:p>
          <a:p>
            <a:pPr lvl="1"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Restores equality between price and marginal utility</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047" name="Rectangle 8704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7049" name="Rectangle 8704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7051" name="Rectangle 8705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913" name="Rectangle 3">
            <a:extLst>
              <a:ext uri="{FF2B5EF4-FFF2-40B4-BE49-F238E27FC236}">
                <a16:creationId xmlns:a16="http://schemas.microsoft.com/office/drawing/2014/main" id="{252BE8A9-0C00-7399-2273-B75F7CA85E3F}"/>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US" sz="4000" b="1">
                <a:latin typeface="Times New Roman" panose="02020603050405020304" pitchFamily="18" charset="0"/>
                <a:cs typeface="Times New Roman" panose="02020603050405020304" pitchFamily="18" charset="0"/>
              </a:rPr>
              <a:t>Marginal Utility and Demand</a:t>
            </a:r>
          </a:p>
        </p:txBody>
      </p:sp>
      <p:sp>
        <p:nvSpPr>
          <p:cNvPr id="87053" name="Rectangle 8705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7042" name="Rectangle 2">
            <a:extLst>
              <a:ext uri="{FF2B5EF4-FFF2-40B4-BE49-F238E27FC236}">
                <a16:creationId xmlns:a16="http://schemas.microsoft.com/office/drawing/2014/main" id="{D73A71DC-BEAE-B8E1-3EE7-7AD6246B3D20}"/>
              </a:ext>
            </a:extLst>
          </p:cNvPr>
          <p:cNvSpPr>
            <a:spLocks noGrp="1" noChangeArrowheads="1"/>
          </p:cNvSpPr>
          <p:nvPr>
            <p:ph idx="1"/>
          </p:nvPr>
        </p:nvSpPr>
        <p:spPr>
          <a:xfrm>
            <a:off x="1115568" y="2481943"/>
            <a:ext cx="10168128" cy="3695020"/>
          </a:xfrm>
        </p:spPr>
        <p:txBody>
          <a:bodyPr rtlCol="0">
            <a:normAutofit/>
          </a:bodyPr>
          <a:lstStyle/>
          <a:p>
            <a:pPr eaLnBrk="1" fontAlgn="auto" hangingPunct="1">
              <a:spcAft>
                <a:spcPts val="0"/>
              </a:spcAft>
              <a:defRPr/>
            </a:pPr>
            <a:r>
              <a:rPr lang="en-US" altLang="en-US" b="1" dirty="0">
                <a:solidFill>
                  <a:srgbClr val="FF0000"/>
                </a:solidFill>
                <a:latin typeface="Times New Roman" panose="02020603050405020304" pitchFamily="18" charset="0"/>
                <a:cs typeface="Times New Roman" panose="02020603050405020304" pitchFamily="18" charset="0"/>
              </a:rPr>
              <a:t>From Diminishing Marginal Utility to Downward-Sloping Demand Curves</a:t>
            </a:r>
          </a:p>
          <a:p>
            <a:pPr marL="0" indent="0" eaLnBrk="1" fontAlgn="auto" hangingPunct="1">
              <a:spcAft>
                <a:spcPts val="0"/>
              </a:spcAft>
              <a:buFont typeface="Arial" panose="020B0604020202020204" pitchFamily="34" charset="0"/>
              <a:buNone/>
              <a:defRPr/>
            </a:pPr>
            <a:endParaRPr lang="en-US" altLang="en-US" dirty="0">
              <a:latin typeface="Times New Roman" panose="02020603050405020304" pitchFamily="18" charset="0"/>
              <a:cs typeface="Times New Roman" panose="02020603050405020304" pitchFamily="18" charset="0"/>
            </a:endParaRPr>
          </a:p>
          <a:p>
            <a:pPr lvl="1"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If successive units of a good yield smaller and smaller amounts of extra utility, then the consumer will buy additional units of the good only if its price falls.</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943" name="Rectangle 3994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945" name="Rectangle 3994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9947" name="Rectangle 3994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938" name="Title 3">
            <a:extLst>
              <a:ext uri="{FF2B5EF4-FFF2-40B4-BE49-F238E27FC236}">
                <a16:creationId xmlns:a16="http://schemas.microsoft.com/office/drawing/2014/main" id="{B607D52A-C069-C6ED-905E-D311B8D1D187}"/>
              </a:ext>
            </a:extLst>
          </p:cNvPr>
          <p:cNvSpPr>
            <a:spLocks noGrp="1" noChangeArrowheads="1"/>
          </p:cNvSpPr>
          <p:nvPr>
            <p:ph type="title"/>
          </p:nvPr>
        </p:nvSpPr>
        <p:spPr>
          <a:xfrm>
            <a:off x="1115568" y="548640"/>
            <a:ext cx="10168128" cy="1179576"/>
          </a:xfrm>
        </p:spPr>
        <p:txBody>
          <a:bodyPr>
            <a:normAutofit/>
          </a:bodyPr>
          <a:lstStyle/>
          <a:p>
            <a:r>
              <a:rPr lang="en-US" altLang="en-LK" sz="4000" b="1">
                <a:latin typeface="Times New Roman" panose="02020603050405020304" pitchFamily="18" charset="0"/>
                <a:cs typeface="Times New Roman" panose="02020603050405020304" pitchFamily="18" charset="0"/>
              </a:rPr>
              <a:t>Consumer Optimum for one product</a:t>
            </a:r>
            <a:endParaRPr lang="en-LK" altLang="en-LK" sz="4000"/>
          </a:p>
        </p:txBody>
      </p:sp>
      <p:sp>
        <p:nvSpPr>
          <p:cNvPr id="39949" name="Rectangle 3994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9937" name="Content Placeholder 2">
            <a:extLst>
              <a:ext uri="{FF2B5EF4-FFF2-40B4-BE49-F238E27FC236}">
                <a16:creationId xmlns:a16="http://schemas.microsoft.com/office/drawing/2014/main" id="{694DD2CD-1A5C-E628-4BB8-37DE776B8B96}"/>
              </a:ext>
            </a:extLst>
          </p:cNvPr>
          <p:cNvSpPr>
            <a:spLocks noGrp="1" noChangeArrowheads="1"/>
          </p:cNvSpPr>
          <p:nvPr>
            <p:ph idx="1"/>
          </p:nvPr>
        </p:nvSpPr>
        <p:spPr>
          <a:xfrm>
            <a:off x="1115568" y="2481943"/>
            <a:ext cx="10168128" cy="3695020"/>
          </a:xfrm>
        </p:spPr>
        <p:txBody>
          <a:bodyPr>
            <a:normAutofit/>
          </a:bodyPr>
          <a:lstStyle/>
          <a:p>
            <a:pPr marL="0" indent="0" algn="just">
              <a:buFont typeface="Arial" panose="020B0604020202020204" pitchFamily="34" charset="0"/>
              <a:buNone/>
            </a:pPr>
            <a:r>
              <a:rPr lang="en-US" altLang="en-LK" sz="3200" dirty="0">
                <a:latin typeface="Times New Roman" panose="02020603050405020304" pitchFamily="18" charset="0"/>
                <a:ea typeface="Lucida Bright" panose="02040602050505020304" pitchFamily="18" charset="77"/>
                <a:cs typeface="Times New Roman" panose="02020603050405020304" pitchFamily="18" charset="0"/>
              </a:rPr>
              <a:t>The Consumer will maximize his/her total satisfaction derived from the consumption of a particular product when the marginal utility from the consumption of that product equals zero.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F3A3E59A-D67A-55A6-8F52-1EBDA48C75BF}"/>
              </a:ext>
            </a:extLst>
          </p:cNvPr>
          <p:cNvSpPr>
            <a:spLocks noGrp="1" noChangeArrowheads="1"/>
          </p:cNvSpPr>
          <p:nvPr>
            <p:ph type="title"/>
          </p:nvPr>
        </p:nvSpPr>
        <p:spPr/>
        <p:txBody>
          <a:bodyPr/>
          <a:lstStyle/>
          <a:p>
            <a:r>
              <a:rPr lang="en-US" altLang="en-LK" b="1">
                <a:latin typeface="Times New Roman" panose="02020603050405020304" pitchFamily="18" charset="0"/>
                <a:cs typeface="Times New Roman" panose="02020603050405020304" pitchFamily="18" charset="0"/>
              </a:rPr>
              <a:t>Consumer’s Equilibrium Symbolically as follows</a:t>
            </a:r>
          </a:p>
        </p:txBody>
      </p:sp>
      <p:sp>
        <p:nvSpPr>
          <p:cNvPr id="3" name="Content Placeholder 2">
            <a:extLst>
              <a:ext uri="{FF2B5EF4-FFF2-40B4-BE49-F238E27FC236}">
                <a16:creationId xmlns:a16="http://schemas.microsoft.com/office/drawing/2014/main" id="{D0E8FEC0-9D15-EBDB-1373-3F909A7FB050}"/>
              </a:ext>
            </a:extLst>
          </p:cNvPr>
          <p:cNvSpPr>
            <a:spLocks noGrp="1"/>
          </p:cNvSpPr>
          <p:nvPr>
            <p:ph idx="1"/>
          </p:nvPr>
        </p:nvSpPr>
        <p:spPr/>
        <p:txBody>
          <a:bodyPr>
            <a:normAutofit/>
          </a:bodyPr>
          <a:lstStyle/>
          <a:p>
            <a:pPr>
              <a:defRPr/>
            </a:pPr>
            <a:endParaRPr lang="en-US" sz="3000" dirty="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endParaRPr>
          </a:p>
          <a:p>
            <a:pPr marL="0" indent="0">
              <a:buFont typeface="Arial" panose="020B0604020202020204" pitchFamily="34" charset="0"/>
              <a:buNone/>
              <a:defRPr/>
            </a:pPr>
            <a:endParaRPr lang="en-US" sz="3000" dirty="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endParaRPr>
          </a:p>
          <a:p>
            <a:pPr>
              <a:defRPr/>
            </a:pPr>
            <a:endParaRPr lang="en-US" sz="3000" dirty="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endParaRPr>
          </a:p>
          <a:p>
            <a:pPr marL="0" indent="0">
              <a:buFont typeface="Arial" panose="020B0604020202020204" pitchFamily="34" charset="0"/>
              <a:buNone/>
              <a:defRPr/>
            </a:pPr>
            <a:endParaRPr lang="en-US" sz="3000" dirty="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endParaRPr>
          </a:p>
          <a:p>
            <a:pPr>
              <a:defRPr/>
            </a:pPr>
            <a:r>
              <a:rPr lang="en-US" sz="3000" dirty="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At consumer’s equilibrium:</a:t>
            </a:r>
            <a:endParaRPr lang="en-US" sz="3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defRPr/>
            </a:pPr>
            <a:r>
              <a:rPr lang="en-US" sz="3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MU=P</a:t>
            </a:r>
          </a:p>
          <a:p>
            <a:pPr>
              <a:defRPr/>
            </a:pPr>
            <a:r>
              <a:rPr lang="en-US" sz="3000" dirty="0">
                <a:solidFill>
                  <a:srgbClr val="000000"/>
                </a:solidFill>
                <a:latin typeface="Times New Roman" panose="02020603050405020304" pitchFamily="18" charset="0"/>
                <a:ea typeface="Gill Sans MT" panose="020B0502020104020203" pitchFamily="34" charset="0"/>
                <a:cs typeface="Times New Roman" panose="02020603050405020304" pitchFamily="18" charset="0"/>
              </a:rPr>
              <a:t>re-write this as</a:t>
            </a:r>
          </a:p>
          <a:p>
            <a:pPr>
              <a:defRPr/>
            </a:pPr>
            <a:endParaRPr lang="en-US" sz="3000" dirty="0">
              <a:latin typeface="Times New Roman" panose="02020603050405020304" pitchFamily="18" charset="0"/>
              <a:cs typeface="Times New Roman" panose="02020603050405020304" pitchFamily="18" charset="0"/>
            </a:endParaRPr>
          </a:p>
        </p:txBody>
      </p:sp>
      <p:pic>
        <p:nvPicPr>
          <p:cNvPr id="40963" name="Picture 3">
            <a:extLst>
              <a:ext uri="{FF2B5EF4-FFF2-40B4-BE49-F238E27FC236}">
                <a16:creationId xmlns:a16="http://schemas.microsoft.com/office/drawing/2014/main" id="{614C4756-E608-0E64-5061-4C2208E03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4725" y="4949825"/>
            <a:ext cx="274320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Picture 4">
            <a:extLst>
              <a:ext uri="{FF2B5EF4-FFF2-40B4-BE49-F238E27FC236}">
                <a16:creationId xmlns:a16="http://schemas.microsoft.com/office/drawing/2014/main" id="{73C9A68B-5FDF-80BC-0584-E090B762F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425" y="1908175"/>
            <a:ext cx="29972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3F365CBD-FC96-341B-3037-077D68D91444}"/>
              </a:ext>
            </a:extLst>
          </p:cNvPr>
          <p:cNvSpPr>
            <a:spLocks noGrp="1" noChangeArrowheads="1"/>
          </p:cNvSpPr>
          <p:nvPr>
            <p:ph type="title"/>
          </p:nvPr>
        </p:nvSpPr>
        <p:spPr/>
        <p:txBody>
          <a:bodyPr/>
          <a:lstStyle/>
          <a:p>
            <a:r>
              <a:rPr lang="en-US" altLang="en-LK" b="1">
                <a:latin typeface="Times New Roman" panose="02020603050405020304" pitchFamily="18" charset="0"/>
                <a:cs typeface="Times New Roman" panose="02020603050405020304" pitchFamily="18" charset="0"/>
              </a:rPr>
              <a:t>Consumer Optimum for One Product</a:t>
            </a:r>
          </a:p>
        </p:txBody>
      </p:sp>
      <p:sp>
        <p:nvSpPr>
          <p:cNvPr id="3" name="Content Placeholder 2">
            <a:extLst>
              <a:ext uri="{FF2B5EF4-FFF2-40B4-BE49-F238E27FC236}">
                <a16:creationId xmlns:a16="http://schemas.microsoft.com/office/drawing/2014/main" id="{5B9088CB-B267-C787-2A5F-0BAC7CE4D83D}"/>
              </a:ext>
            </a:extLst>
          </p:cNvPr>
          <p:cNvSpPr>
            <a:spLocks noGrp="1"/>
          </p:cNvSpPr>
          <p:nvPr>
            <p:ph idx="1"/>
          </p:nvPr>
        </p:nvSpPr>
        <p:spPr>
          <a:xfrm>
            <a:off x="838200" y="1825624"/>
            <a:ext cx="10515600" cy="4831207"/>
          </a:xfrm>
        </p:spPr>
        <p:txBody>
          <a:bodyPr>
            <a:noAutofit/>
          </a:bodyPr>
          <a:lstStyle/>
          <a:p>
            <a:pPr marL="0" indent="0">
              <a:spcBef>
                <a:spcPts val="0"/>
              </a:spcBef>
              <a:spcAft>
                <a:spcPts val="0"/>
              </a:spcAft>
              <a:buClr>
                <a:srgbClr val="4E81BD"/>
              </a:buClr>
              <a:buSzPts val="1800"/>
              <a:buNone/>
              <a:defRPr/>
            </a:pPr>
            <a:r>
              <a:rPr lang="en-US" sz="2500" dirty="0">
                <a:solidFill>
                  <a:srgbClr val="000000"/>
                </a:solidFill>
                <a:uFill>
                  <a:solidFill>
                    <a:srgbClr val="000000"/>
                  </a:solidFill>
                </a:uFill>
                <a:latin typeface="Times New Roman" panose="02020603050405020304" pitchFamily="18" charset="0"/>
                <a:ea typeface="Lucida Sans Unicode" panose="020B0602030504020204" pitchFamily="34" charset="0"/>
                <a:cs typeface="Times New Roman" panose="02020603050405020304" pitchFamily="18" charset="0"/>
              </a:rPr>
              <a:t>If money is not sufficient, the consumer will consume as long as the marginal utility is greater than the price.</a:t>
            </a:r>
            <a:endParaRPr lang="en-US" sz="2500" dirty="0">
              <a:solidFill>
                <a:srgbClr val="000000"/>
              </a:solidFill>
              <a:uFill>
                <a:solidFill>
                  <a:srgbClr val="000000"/>
                </a:solidFill>
              </a:uFill>
              <a:latin typeface="Times New Roman" panose="02020603050405020304" pitchFamily="18" charset="0"/>
              <a:ea typeface="Wingdings 2" panose="05020102010507070707" pitchFamily="18" charset="2"/>
              <a:cs typeface="Times New Roman" panose="02020603050405020304" pitchFamily="18" charset="0"/>
            </a:endParaRPr>
          </a:p>
          <a:p>
            <a:pPr marL="0" indent="0">
              <a:spcBef>
                <a:spcPts val="0"/>
              </a:spcBef>
              <a:spcAft>
                <a:spcPts val="2190"/>
              </a:spcAft>
              <a:buClr>
                <a:srgbClr val="4E81BD"/>
              </a:buClr>
              <a:buSzPts val="1800"/>
              <a:buNone/>
              <a:defRPr/>
            </a:pPr>
            <a:endParaRPr lang="en-US" sz="2500" dirty="0">
              <a:solidFill>
                <a:srgbClr val="00B050"/>
              </a:solidFill>
              <a:uFill>
                <a:solidFill>
                  <a:srgbClr val="000000"/>
                </a:solidFill>
              </a:uFill>
              <a:latin typeface="Times New Roman" panose="02020603050405020304" pitchFamily="18" charset="0"/>
              <a:ea typeface="Lucida Sans Unicode" panose="020B0602030504020204" pitchFamily="34" charset="0"/>
              <a:cs typeface="Times New Roman" panose="02020603050405020304" pitchFamily="18" charset="0"/>
            </a:endParaRPr>
          </a:p>
          <a:p>
            <a:pPr marL="0" indent="0">
              <a:spcBef>
                <a:spcPts val="0"/>
              </a:spcBef>
              <a:spcAft>
                <a:spcPts val="2190"/>
              </a:spcAft>
              <a:buClr>
                <a:srgbClr val="4E81BD"/>
              </a:buClr>
              <a:buSzPts val="1800"/>
              <a:buNone/>
              <a:defRPr/>
            </a:pPr>
            <a:r>
              <a:rPr lang="en-US" sz="2500" dirty="0">
                <a:solidFill>
                  <a:srgbClr val="00B050"/>
                </a:solidFill>
                <a:uFill>
                  <a:solidFill>
                    <a:srgbClr val="000000"/>
                  </a:solidFill>
                </a:uFill>
                <a:latin typeface="Times New Roman" panose="02020603050405020304" pitchFamily="18" charset="0"/>
                <a:ea typeface="Lucida Sans Unicode" panose="020B0602030504020204" pitchFamily="34" charset="0"/>
                <a:cs typeface="Times New Roman" panose="02020603050405020304" pitchFamily="18" charset="0"/>
              </a:rPr>
              <a:t>Hence the general conditions for the consumer’s equilibrium or optimum purchasing rules are:</a:t>
            </a:r>
            <a:endParaRPr lang="en-US" sz="2500" dirty="0">
              <a:solidFill>
                <a:srgbClr val="000000"/>
              </a:solidFill>
              <a:uFill>
                <a:solidFill>
                  <a:srgbClr val="000000"/>
                </a:solidFill>
              </a:uFill>
              <a:latin typeface="Times New Roman" panose="02020603050405020304" pitchFamily="18" charset="0"/>
              <a:ea typeface="Wingdings 2" panose="05020102010507070707" pitchFamily="18" charset="2"/>
              <a:cs typeface="Times New Roman" panose="02020603050405020304" pitchFamily="18" charset="0"/>
            </a:endParaRPr>
          </a:p>
          <a:p>
            <a:pPr marL="0" indent="0">
              <a:buFont typeface="Arial" panose="020B0604020202020204" pitchFamily="34" charset="0"/>
              <a:buNone/>
              <a:defRPr/>
            </a:pPr>
            <a:r>
              <a:rPr lang="en-US" sz="2500" dirty="0">
                <a:latin typeface="Times New Roman" panose="02020603050405020304" pitchFamily="18" charset="0"/>
                <a:cs typeface="Times New Roman" panose="02020603050405020304" pitchFamily="18" charset="0"/>
              </a:rPr>
              <a:t>           </a:t>
            </a:r>
            <a:r>
              <a:rPr lang="en-US" sz="2500" dirty="0">
                <a:solidFill>
                  <a:srgbClr val="FF0000"/>
                </a:solidFill>
                <a:latin typeface="Times New Roman" panose="02020603050405020304" pitchFamily="18" charset="0"/>
                <a:ea typeface="Lucida Sans Unicode" panose="020B0602030504020204" pitchFamily="34" charset="0"/>
                <a:cs typeface="Times New Roman" panose="02020603050405020304" pitchFamily="18" charset="0"/>
              </a:rPr>
              <a:t>MU=P                                  Equilibrium condition 1</a:t>
            </a:r>
          </a:p>
          <a:p>
            <a:pPr marL="0" indent="0">
              <a:buFont typeface="Arial" panose="020B0604020202020204" pitchFamily="34" charset="0"/>
              <a:buNone/>
              <a:defRPr/>
            </a:pPr>
            <a:r>
              <a:rPr lang="en-US" sz="2500" dirty="0">
                <a:solidFill>
                  <a:srgbClr val="FF0000"/>
                </a:solidFill>
                <a:latin typeface="Times New Roman" panose="02020603050405020304" pitchFamily="18" charset="0"/>
                <a:ea typeface="Lucida Sans Unicode" panose="020B0602030504020204" pitchFamily="34" charset="0"/>
                <a:cs typeface="Times New Roman" panose="02020603050405020304" pitchFamily="18" charset="0"/>
              </a:rPr>
              <a:t>                                                       </a:t>
            </a:r>
          </a:p>
          <a:p>
            <a:pPr marL="0" indent="0">
              <a:buFont typeface="Arial" panose="020B0604020202020204" pitchFamily="34" charset="0"/>
              <a:buNone/>
              <a:defRPr/>
            </a:pPr>
            <a:r>
              <a:rPr lang="en-US" sz="2500" dirty="0">
                <a:solidFill>
                  <a:srgbClr val="FF0000"/>
                </a:solidFill>
                <a:latin typeface="Times New Roman" panose="02020603050405020304" pitchFamily="18" charset="0"/>
                <a:ea typeface="Lucida Sans Unicode" panose="020B0602030504020204" pitchFamily="34" charset="0"/>
                <a:cs typeface="Times New Roman" panose="02020603050405020304" pitchFamily="18" charset="0"/>
              </a:rPr>
              <a:t>           M =PQ                                  Equilibrium condition 2</a:t>
            </a:r>
          </a:p>
          <a:p>
            <a:pPr marL="0" indent="0">
              <a:buFont typeface="Arial" panose="020B0604020202020204" pitchFamily="34" charset="0"/>
              <a:buNone/>
              <a:defRPr/>
            </a:pPr>
            <a:endParaRPr lang="en-US" sz="2500" dirty="0">
              <a:solidFill>
                <a:srgbClr val="FF0000"/>
              </a:solidFill>
              <a:latin typeface="Times New Roman" panose="02020603050405020304" pitchFamily="18" charset="0"/>
              <a:ea typeface="Lucida Sans Unicode" panose="020B0602030504020204" pitchFamily="34" charset="0"/>
              <a:cs typeface="Times New Roman" panose="02020603050405020304" pitchFamily="18" charset="0"/>
            </a:endParaRPr>
          </a:p>
          <a:p>
            <a:pPr marL="0" indent="0">
              <a:spcBef>
                <a:spcPts val="0"/>
              </a:spcBef>
              <a:spcAft>
                <a:spcPts val="410"/>
              </a:spcAft>
              <a:buClr>
                <a:srgbClr val="4E81BD"/>
              </a:buClr>
              <a:buSzPts val="1800"/>
              <a:buNone/>
              <a:defRPr/>
            </a:pPr>
            <a:r>
              <a:rPr lang="en-US" sz="2500" dirty="0">
                <a:solidFill>
                  <a:srgbClr val="000000"/>
                </a:solidFill>
                <a:uFill>
                  <a:solidFill>
                    <a:srgbClr val="000000"/>
                  </a:solidFill>
                </a:uFill>
                <a:latin typeface="Times New Roman" panose="02020603050405020304" pitchFamily="18" charset="0"/>
                <a:ea typeface="Lucida Sans Unicode" panose="020B0602030504020204" pitchFamily="34" charset="0"/>
                <a:cs typeface="Times New Roman" panose="02020603050405020304" pitchFamily="18" charset="0"/>
              </a:rPr>
              <a:t>Where M denotes the amount of money he has.</a:t>
            </a:r>
            <a:endParaRPr lang="en-US" sz="2500" dirty="0">
              <a:solidFill>
                <a:srgbClr val="000000"/>
              </a:solidFill>
              <a:uFill>
                <a:solidFill>
                  <a:srgbClr val="000000"/>
                </a:solidFill>
              </a:uFill>
              <a:latin typeface="Times New Roman" panose="02020603050405020304" pitchFamily="18" charset="0"/>
              <a:ea typeface="Wingdings 2" panose="05020102010507070707" pitchFamily="18" charset="2"/>
              <a:cs typeface="Times New Roman" panose="02020603050405020304" pitchFamily="18" charset="0"/>
            </a:endParaRPr>
          </a:p>
          <a:p>
            <a:pPr marL="0" indent="0">
              <a:buFont typeface="Arial" panose="020B0604020202020204" pitchFamily="34" charset="0"/>
              <a:buNone/>
              <a:defRPr/>
            </a:pPr>
            <a:endParaRPr lang="en-US" sz="2500" dirty="0">
              <a:solidFill>
                <a:srgbClr val="FF0000"/>
              </a:solidFill>
              <a:latin typeface="Times New Roman" panose="02020603050405020304" pitchFamily="18" charset="0"/>
              <a:ea typeface="Lucida Sans Unicode" panose="020B0602030504020204" pitchFamily="34" charset="0"/>
              <a:cs typeface="Times New Roman" panose="02020603050405020304" pitchFamily="18" charset="0"/>
            </a:endParaRPr>
          </a:p>
          <a:p>
            <a:pPr marL="0" indent="0">
              <a:buFont typeface="Arial" panose="020B0604020202020204" pitchFamily="34" charset="0"/>
              <a:buNone/>
              <a:defRPr/>
            </a:pPr>
            <a:r>
              <a:rPr lang="en-US" sz="2500" dirty="0">
                <a:solidFill>
                  <a:srgbClr val="FF0000"/>
                </a:solidFill>
                <a:latin typeface="Times New Roman" panose="02020603050405020304" pitchFamily="18" charset="0"/>
                <a:ea typeface="Lucida Sans Unicode" panose="020B0602030504020204" pitchFamily="34" charset="0"/>
                <a:cs typeface="Times New Roman" panose="02020603050405020304" pitchFamily="18" charset="0"/>
              </a:rPr>
              <a:t>                                                         </a:t>
            </a:r>
          </a:p>
          <a:p>
            <a:pPr marL="0" indent="0">
              <a:buFont typeface="Arial" panose="020B0604020202020204" pitchFamily="34" charset="0"/>
              <a:buNone/>
              <a:defRPr/>
            </a:pPr>
            <a:r>
              <a:rPr lang="en-US" sz="2500" dirty="0">
                <a:solidFill>
                  <a:srgbClr val="FF0000"/>
                </a:solidFill>
                <a:latin typeface="Times New Roman" panose="02020603050405020304" pitchFamily="18" charset="0"/>
                <a:ea typeface="Lucida Sans Unicode" panose="020B0602030504020204" pitchFamily="34" charset="0"/>
                <a:cs typeface="Times New Roman" panose="02020603050405020304" pitchFamily="18" charset="0"/>
              </a:rPr>
              <a:t>                                                     </a:t>
            </a:r>
            <a:endParaRPr lang="en-US" sz="2500" dirty="0">
              <a:latin typeface="Times New Roman" panose="02020603050405020304" pitchFamily="18" charset="0"/>
              <a:cs typeface="Times New Roman" panose="02020603050405020304" pitchFamily="18" charset="0"/>
            </a:endParaRPr>
          </a:p>
        </p:txBody>
      </p:sp>
      <p:grpSp>
        <p:nvGrpSpPr>
          <p:cNvPr id="41987" name="Group 14">
            <a:extLst>
              <a:ext uri="{FF2B5EF4-FFF2-40B4-BE49-F238E27FC236}">
                <a16:creationId xmlns:a16="http://schemas.microsoft.com/office/drawing/2014/main" id="{4849C588-9397-685D-DF1D-C75BA49480A5}"/>
              </a:ext>
            </a:extLst>
          </p:cNvPr>
          <p:cNvGrpSpPr>
            <a:grpSpLocks/>
          </p:cNvGrpSpPr>
          <p:nvPr/>
        </p:nvGrpSpPr>
        <p:grpSpPr bwMode="auto">
          <a:xfrm>
            <a:off x="2932113" y="4218559"/>
            <a:ext cx="2332037" cy="1433513"/>
            <a:chOff x="0" y="0"/>
            <a:chExt cx="2331720" cy="1432560"/>
          </a:xfrm>
        </p:grpSpPr>
        <p:pic>
          <p:nvPicPr>
            <p:cNvPr id="41988" name="Picture 15">
              <a:extLst>
                <a:ext uri="{FF2B5EF4-FFF2-40B4-BE49-F238E27FC236}">
                  <a16:creationId xmlns:a16="http://schemas.microsoft.com/office/drawing/2014/main" id="{B9AC9CC9-FC4E-F7B1-D9F5-F28AE5F555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331720" cy="5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Shape 359">
              <a:extLst>
                <a:ext uri="{FF2B5EF4-FFF2-40B4-BE49-F238E27FC236}">
                  <a16:creationId xmlns:a16="http://schemas.microsoft.com/office/drawing/2014/main" id="{F26CDB3F-5785-3F8C-E839-6405857C6473}"/>
                </a:ext>
              </a:extLst>
            </p:cNvPr>
            <p:cNvSpPr/>
            <p:nvPr/>
          </p:nvSpPr>
          <p:spPr>
            <a:xfrm>
              <a:off x="52380" y="134848"/>
              <a:ext cx="1980931" cy="252244"/>
            </a:xfrm>
            <a:custGeom>
              <a:avLst/>
              <a:gdLst/>
              <a:ahLst/>
              <a:cxnLst/>
              <a:rect l="0" t="0" r="0" b="0"/>
              <a:pathLst>
                <a:path w="1981349" h="252293">
                  <a:moveTo>
                    <a:pt x="1754871" y="1786"/>
                  </a:moveTo>
                  <a:cubicBezTo>
                    <a:pt x="1761679" y="0"/>
                    <a:pt x="1769168" y="811"/>
                    <a:pt x="1775724" y="4643"/>
                  </a:cubicBezTo>
                  <a:lnTo>
                    <a:pt x="1981349" y="124811"/>
                  </a:lnTo>
                  <a:lnTo>
                    <a:pt x="1775531" y="244651"/>
                  </a:lnTo>
                  <a:cubicBezTo>
                    <a:pt x="1762407" y="252293"/>
                    <a:pt x="1745572" y="247848"/>
                    <a:pt x="1737929" y="234724"/>
                  </a:cubicBezTo>
                  <a:cubicBezTo>
                    <a:pt x="1730287" y="221598"/>
                    <a:pt x="1734733" y="204763"/>
                    <a:pt x="1747857" y="197121"/>
                  </a:cubicBezTo>
                  <a:lnTo>
                    <a:pt x="1825028" y="152187"/>
                  </a:lnTo>
                  <a:lnTo>
                    <a:pt x="0" y="150723"/>
                  </a:lnTo>
                  <a:lnTo>
                    <a:pt x="9" y="139724"/>
                  </a:lnTo>
                  <a:lnTo>
                    <a:pt x="1843895" y="141202"/>
                  </a:lnTo>
                  <a:lnTo>
                    <a:pt x="1862760" y="130217"/>
                  </a:lnTo>
                  <a:lnTo>
                    <a:pt x="17" y="128724"/>
                  </a:lnTo>
                  <a:lnTo>
                    <a:pt x="43" y="95723"/>
                  </a:lnTo>
                  <a:lnTo>
                    <a:pt x="1825072" y="97186"/>
                  </a:lnTo>
                  <a:lnTo>
                    <a:pt x="1747974" y="52129"/>
                  </a:lnTo>
                  <a:cubicBezTo>
                    <a:pt x="1734861" y="44466"/>
                    <a:pt x="1730443" y="27624"/>
                    <a:pt x="1738106" y="14511"/>
                  </a:cubicBezTo>
                  <a:cubicBezTo>
                    <a:pt x="1741937" y="7954"/>
                    <a:pt x="1748064" y="3571"/>
                    <a:pt x="1754871" y="1786"/>
                  </a:cubicBezTo>
                  <a:close/>
                </a:path>
              </a:pathLst>
            </a:custGeom>
            <a:ln w="0" cap="flat">
              <a:miter lim="127000"/>
            </a:ln>
          </p:spPr>
          <p:style>
            <a:lnRef idx="0">
              <a:srgbClr val="000000">
                <a:alpha val="0"/>
              </a:srgbClr>
            </a:lnRef>
            <a:fillRef idx="1">
              <a:srgbClr val="C0504D"/>
            </a:fillRef>
            <a:effectRef idx="0">
              <a:scrgbClr r="0" g="0" b="0"/>
            </a:effectRef>
            <a:fontRef idx="none"/>
          </p:style>
          <p:txBody>
            <a:bodyPr/>
            <a:lstStyle/>
            <a:p>
              <a:pPr>
                <a:defRPr/>
              </a:pPr>
              <a:endParaRPr lang="en-US"/>
            </a:p>
          </p:txBody>
        </p:sp>
        <p:pic>
          <p:nvPicPr>
            <p:cNvPr id="41990" name="Picture 17">
              <a:extLst>
                <a:ext uri="{FF2B5EF4-FFF2-40B4-BE49-F238E27FC236}">
                  <a16:creationId xmlns:a16="http://schemas.microsoft.com/office/drawing/2014/main" id="{CFB7C10D-08CA-D40A-FA49-F6BA353E7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2331720" cy="5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Shape 362">
              <a:extLst>
                <a:ext uri="{FF2B5EF4-FFF2-40B4-BE49-F238E27FC236}">
                  <a16:creationId xmlns:a16="http://schemas.microsoft.com/office/drawing/2014/main" id="{1D5D109A-4400-8286-347E-F984F2511DD8}"/>
                </a:ext>
              </a:extLst>
            </p:cNvPr>
            <p:cNvSpPr/>
            <p:nvPr/>
          </p:nvSpPr>
          <p:spPr>
            <a:xfrm>
              <a:off x="52380" y="972491"/>
              <a:ext cx="1980931" cy="252244"/>
            </a:xfrm>
            <a:custGeom>
              <a:avLst/>
              <a:gdLst/>
              <a:ahLst/>
              <a:cxnLst/>
              <a:rect l="0" t="0" r="0" b="0"/>
              <a:pathLst>
                <a:path w="1981349" h="252293">
                  <a:moveTo>
                    <a:pt x="1754871" y="1786"/>
                  </a:moveTo>
                  <a:cubicBezTo>
                    <a:pt x="1761679" y="0"/>
                    <a:pt x="1769168" y="811"/>
                    <a:pt x="1775724" y="4643"/>
                  </a:cubicBezTo>
                  <a:lnTo>
                    <a:pt x="1981349" y="124811"/>
                  </a:lnTo>
                  <a:lnTo>
                    <a:pt x="1775531" y="244651"/>
                  </a:lnTo>
                  <a:cubicBezTo>
                    <a:pt x="1762407" y="252293"/>
                    <a:pt x="1745572" y="247848"/>
                    <a:pt x="1737929" y="234723"/>
                  </a:cubicBezTo>
                  <a:cubicBezTo>
                    <a:pt x="1730287" y="221598"/>
                    <a:pt x="1734733" y="204763"/>
                    <a:pt x="1747857" y="197121"/>
                  </a:cubicBezTo>
                  <a:lnTo>
                    <a:pt x="1825030" y="152186"/>
                  </a:lnTo>
                  <a:lnTo>
                    <a:pt x="0" y="150723"/>
                  </a:lnTo>
                  <a:lnTo>
                    <a:pt x="9" y="139724"/>
                  </a:lnTo>
                  <a:lnTo>
                    <a:pt x="1843895" y="141202"/>
                  </a:lnTo>
                  <a:lnTo>
                    <a:pt x="1862760" y="130217"/>
                  </a:lnTo>
                  <a:lnTo>
                    <a:pt x="17" y="128724"/>
                  </a:lnTo>
                  <a:lnTo>
                    <a:pt x="43" y="95723"/>
                  </a:lnTo>
                  <a:lnTo>
                    <a:pt x="1825072" y="97186"/>
                  </a:lnTo>
                  <a:lnTo>
                    <a:pt x="1747974" y="52129"/>
                  </a:lnTo>
                  <a:cubicBezTo>
                    <a:pt x="1734861" y="44466"/>
                    <a:pt x="1730443" y="27624"/>
                    <a:pt x="1738106" y="14510"/>
                  </a:cubicBezTo>
                  <a:cubicBezTo>
                    <a:pt x="1741937" y="7954"/>
                    <a:pt x="1748064" y="3571"/>
                    <a:pt x="1754871" y="1786"/>
                  </a:cubicBezTo>
                  <a:close/>
                </a:path>
              </a:pathLst>
            </a:custGeom>
            <a:ln w="0" cap="flat">
              <a:miter lim="127000"/>
            </a:ln>
          </p:spPr>
          <p:style>
            <a:lnRef idx="0">
              <a:srgbClr val="000000">
                <a:alpha val="0"/>
              </a:srgbClr>
            </a:lnRef>
            <a:fillRef idx="1">
              <a:srgbClr val="C0504D"/>
            </a:fillRef>
            <a:effectRef idx="0">
              <a:scrgbClr r="0" g="0" b="0"/>
            </a:effectRef>
            <a:fontRef idx="none"/>
          </p:style>
          <p:txBody>
            <a:bodyPr/>
            <a:lstStyle/>
            <a:p>
              <a:pPr>
                <a:defRPr/>
              </a:pPr>
              <a:endParaRPr 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A2C7720B-565A-1839-9C10-FCF165BACCAC}"/>
              </a:ext>
            </a:extLst>
          </p:cNvPr>
          <p:cNvSpPr>
            <a:spLocks noGrp="1" noChangeArrowheads="1"/>
          </p:cNvSpPr>
          <p:nvPr>
            <p:ph type="title"/>
          </p:nvPr>
        </p:nvSpPr>
        <p:spPr/>
        <p:txBody>
          <a:bodyPr/>
          <a:lstStyle/>
          <a:p>
            <a:r>
              <a:rPr lang="en-US" altLang="en-LK" b="1">
                <a:latin typeface="Times New Roman" panose="02020603050405020304" pitchFamily="18" charset="0"/>
                <a:cs typeface="Times New Roman" panose="02020603050405020304" pitchFamily="18" charset="0"/>
              </a:rPr>
              <a:t>Derivation of Demand Curve</a:t>
            </a:r>
            <a:br>
              <a:rPr lang="en-US" altLang="en-LK" b="1">
                <a:latin typeface="Times New Roman" panose="02020603050405020304" pitchFamily="18" charset="0"/>
                <a:cs typeface="Times New Roman" panose="02020603050405020304" pitchFamily="18" charset="0"/>
              </a:rPr>
            </a:br>
            <a:endParaRPr lang="en-US" altLang="en-LK" b="1">
              <a:latin typeface="Times New Roman" panose="02020603050405020304" pitchFamily="18" charset="0"/>
              <a:cs typeface="Times New Roman" panose="02020603050405020304" pitchFamily="18" charset="0"/>
            </a:endParaRPr>
          </a:p>
        </p:txBody>
      </p:sp>
      <p:grpSp>
        <p:nvGrpSpPr>
          <p:cNvPr id="43010" name="Group 3">
            <a:extLst>
              <a:ext uri="{FF2B5EF4-FFF2-40B4-BE49-F238E27FC236}">
                <a16:creationId xmlns:a16="http://schemas.microsoft.com/office/drawing/2014/main" id="{94221D45-712E-E8CB-4208-90C041672C6E}"/>
              </a:ext>
            </a:extLst>
          </p:cNvPr>
          <p:cNvGrpSpPr>
            <a:grpSpLocks/>
          </p:cNvGrpSpPr>
          <p:nvPr/>
        </p:nvGrpSpPr>
        <p:grpSpPr bwMode="auto">
          <a:xfrm>
            <a:off x="2138363" y="1825625"/>
            <a:ext cx="7389812" cy="4191000"/>
            <a:chOff x="2952750" y="0"/>
            <a:chExt cx="7512049" cy="4219576"/>
          </a:xfrm>
        </p:grpSpPr>
        <p:sp>
          <p:nvSpPr>
            <p:cNvPr id="9" name="Shape 5665">
              <a:extLst>
                <a:ext uri="{FF2B5EF4-FFF2-40B4-BE49-F238E27FC236}">
                  <a16:creationId xmlns:a16="http://schemas.microsoft.com/office/drawing/2014/main" id="{4D5A5B21-1AFD-F2E0-D883-B4F945149ECC}"/>
                </a:ext>
              </a:extLst>
            </p:cNvPr>
            <p:cNvSpPr/>
            <p:nvPr/>
          </p:nvSpPr>
          <p:spPr>
            <a:xfrm>
              <a:off x="2959205" y="6393"/>
              <a:ext cx="2499713" cy="548226"/>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4BACC6"/>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10" name="Shape 5666">
              <a:extLst>
                <a:ext uri="{FF2B5EF4-FFF2-40B4-BE49-F238E27FC236}">
                  <a16:creationId xmlns:a16="http://schemas.microsoft.com/office/drawing/2014/main" id="{5612C1A5-93EE-E396-915C-69F25BDB39E2}"/>
                </a:ext>
              </a:extLst>
            </p:cNvPr>
            <p:cNvSpPr/>
            <p:nvPr/>
          </p:nvSpPr>
          <p:spPr>
            <a:xfrm>
              <a:off x="5458918" y="6393"/>
              <a:ext cx="2499714" cy="548226"/>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4BACC6"/>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11" name="Shape 5667">
              <a:extLst>
                <a:ext uri="{FF2B5EF4-FFF2-40B4-BE49-F238E27FC236}">
                  <a16:creationId xmlns:a16="http://schemas.microsoft.com/office/drawing/2014/main" id="{5C902BD9-2665-EACB-9937-8F03BBDB5DD8}"/>
                </a:ext>
              </a:extLst>
            </p:cNvPr>
            <p:cNvSpPr/>
            <p:nvPr/>
          </p:nvSpPr>
          <p:spPr>
            <a:xfrm>
              <a:off x="7958631" y="6393"/>
              <a:ext cx="2499713" cy="548226"/>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4BACC6"/>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12" name="Shape 5668">
              <a:extLst>
                <a:ext uri="{FF2B5EF4-FFF2-40B4-BE49-F238E27FC236}">
                  <a16:creationId xmlns:a16="http://schemas.microsoft.com/office/drawing/2014/main" id="{E511A479-57B2-E504-C0FF-DE9888567981}"/>
                </a:ext>
              </a:extLst>
            </p:cNvPr>
            <p:cNvSpPr/>
            <p:nvPr/>
          </p:nvSpPr>
          <p:spPr>
            <a:xfrm>
              <a:off x="2959205" y="554619"/>
              <a:ext cx="2499713" cy="549824"/>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D0E3EA"/>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13" name="Shape 5669">
              <a:extLst>
                <a:ext uri="{FF2B5EF4-FFF2-40B4-BE49-F238E27FC236}">
                  <a16:creationId xmlns:a16="http://schemas.microsoft.com/office/drawing/2014/main" id="{71257202-6724-CD73-8339-0E298FE375E2}"/>
                </a:ext>
              </a:extLst>
            </p:cNvPr>
            <p:cNvSpPr/>
            <p:nvPr/>
          </p:nvSpPr>
          <p:spPr>
            <a:xfrm>
              <a:off x="5458918" y="554619"/>
              <a:ext cx="2499714" cy="549824"/>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D0E3EA"/>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14" name="Shape 5670">
              <a:extLst>
                <a:ext uri="{FF2B5EF4-FFF2-40B4-BE49-F238E27FC236}">
                  <a16:creationId xmlns:a16="http://schemas.microsoft.com/office/drawing/2014/main" id="{E365B7B1-669F-A5AC-7931-9971B7279576}"/>
                </a:ext>
              </a:extLst>
            </p:cNvPr>
            <p:cNvSpPr/>
            <p:nvPr/>
          </p:nvSpPr>
          <p:spPr>
            <a:xfrm>
              <a:off x="7958631" y="554619"/>
              <a:ext cx="2499713" cy="549824"/>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D0E3EA"/>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15" name="Shape 5671">
              <a:extLst>
                <a:ext uri="{FF2B5EF4-FFF2-40B4-BE49-F238E27FC236}">
                  <a16:creationId xmlns:a16="http://schemas.microsoft.com/office/drawing/2014/main" id="{98FDBBA6-CCBE-C5CD-0CD6-82F173FBC38D}"/>
                </a:ext>
              </a:extLst>
            </p:cNvPr>
            <p:cNvSpPr/>
            <p:nvPr/>
          </p:nvSpPr>
          <p:spPr>
            <a:xfrm>
              <a:off x="2959205" y="1104443"/>
              <a:ext cx="2499713" cy="548225"/>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E9F0F5"/>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16" name="Shape 5672">
              <a:extLst>
                <a:ext uri="{FF2B5EF4-FFF2-40B4-BE49-F238E27FC236}">
                  <a16:creationId xmlns:a16="http://schemas.microsoft.com/office/drawing/2014/main" id="{CF87CBB5-7A0B-C420-FDFF-17BC41B1DDD1}"/>
                </a:ext>
              </a:extLst>
            </p:cNvPr>
            <p:cNvSpPr/>
            <p:nvPr/>
          </p:nvSpPr>
          <p:spPr>
            <a:xfrm>
              <a:off x="5458918" y="1104443"/>
              <a:ext cx="2499714" cy="548225"/>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E9F0F5"/>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17" name="Shape 5673">
              <a:extLst>
                <a:ext uri="{FF2B5EF4-FFF2-40B4-BE49-F238E27FC236}">
                  <a16:creationId xmlns:a16="http://schemas.microsoft.com/office/drawing/2014/main" id="{34523DCB-312A-5996-FD78-023E01CE76BA}"/>
                </a:ext>
              </a:extLst>
            </p:cNvPr>
            <p:cNvSpPr/>
            <p:nvPr/>
          </p:nvSpPr>
          <p:spPr>
            <a:xfrm>
              <a:off x="7958631" y="1104443"/>
              <a:ext cx="2499713" cy="548225"/>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E9F0F5"/>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18" name="Shape 5674">
              <a:extLst>
                <a:ext uri="{FF2B5EF4-FFF2-40B4-BE49-F238E27FC236}">
                  <a16:creationId xmlns:a16="http://schemas.microsoft.com/office/drawing/2014/main" id="{60309591-A8F7-A8FD-975B-6090A8B74983}"/>
                </a:ext>
              </a:extLst>
            </p:cNvPr>
            <p:cNvSpPr/>
            <p:nvPr/>
          </p:nvSpPr>
          <p:spPr>
            <a:xfrm>
              <a:off x="2959205" y="1652667"/>
              <a:ext cx="2499713" cy="548226"/>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D0E3EA"/>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19" name="Shape 5675">
              <a:extLst>
                <a:ext uri="{FF2B5EF4-FFF2-40B4-BE49-F238E27FC236}">
                  <a16:creationId xmlns:a16="http://schemas.microsoft.com/office/drawing/2014/main" id="{F7131DB1-206C-75C0-3950-D27B3280C2A0}"/>
                </a:ext>
              </a:extLst>
            </p:cNvPr>
            <p:cNvSpPr/>
            <p:nvPr/>
          </p:nvSpPr>
          <p:spPr>
            <a:xfrm>
              <a:off x="5458918" y="1652667"/>
              <a:ext cx="2499714" cy="548226"/>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D0E3EA"/>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20" name="Shape 5676">
              <a:extLst>
                <a:ext uri="{FF2B5EF4-FFF2-40B4-BE49-F238E27FC236}">
                  <a16:creationId xmlns:a16="http://schemas.microsoft.com/office/drawing/2014/main" id="{C918FDBF-A0F5-1FD0-8FEC-143DAFF3C04C}"/>
                </a:ext>
              </a:extLst>
            </p:cNvPr>
            <p:cNvSpPr/>
            <p:nvPr/>
          </p:nvSpPr>
          <p:spPr>
            <a:xfrm>
              <a:off x="7958631" y="1652667"/>
              <a:ext cx="2499713" cy="548226"/>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D0E3EA"/>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21" name="Shape 5677">
              <a:extLst>
                <a:ext uri="{FF2B5EF4-FFF2-40B4-BE49-F238E27FC236}">
                  <a16:creationId xmlns:a16="http://schemas.microsoft.com/office/drawing/2014/main" id="{18B4B7AF-F15C-5908-0A0A-F4D3E2D40474}"/>
                </a:ext>
              </a:extLst>
            </p:cNvPr>
            <p:cNvSpPr/>
            <p:nvPr/>
          </p:nvSpPr>
          <p:spPr>
            <a:xfrm>
              <a:off x="2959205" y="2200893"/>
              <a:ext cx="2499713" cy="549824"/>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E9F0F5"/>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22" name="Shape 5678">
              <a:extLst>
                <a:ext uri="{FF2B5EF4-FFF2-40B4-BE49-F238E27FC236}">
                  <a16:creationId xmlns:a16="http://schemas.microsoft.com/office/drawing/2014/main" id="{FF0A7C5A-52A2-90E7-A33A-9224759E2C76}"/>
                </a:ext>
              </a:extLst>
            </p:cNvPr>
            <p:cNvSpPr/>
            <p:nvPr/>
          </p:nvSpPr>
          <p:spPr>
            <a:xfrm>
              <a:off x="5458918" y="2200893"/>
              <a:ext cx="2499714" cy="549824"/>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E9F0F5"/>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23" name="Shape 5679">
              <a:extLst>
                <a:ext uri="{FF2B5EF4-FFF2-40B4-BE49-F238E27FC236}">
                  <a16:creationId xmlns:a16="http://schemas.microsoft.com/office/drawing/2014/main" id="{3CE10154-304A-9A88-20F6-40AFE636960D}"/>
                </a:ext>
              </a:extLst>
            </p:cNvPr>
            <p:cNvSpPr/>
            <p:nvPr/>
          </p:nvSpPr>
          <p:spPr>
            <a:xfrm>
              <a:off x="7958631" y="2200893"/>
              <a:ext cx="2499713" cy="549824"/>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E9F0F5"/>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24" name="Shape 5680">
              <a:extLst>
                <a:ext uri="{FF2B5EF4-FFF2-40B4-BE49-F238E27FC236}">
                  <a16:creationId xmlns:a16="http://schemas.microsoft.com/office/drawing/2014/main" id="{DAA6506F-56FE-F95E-DE26-E2B94BDC08B9}"/>
                </a:ext>
              </a:extLst>
            </p:cNvPr>
            <p:cNvSpPr/>
            <p:nvPr/>
          </p:nvSpPr>
          <p:spPr>
            <a:xfrm>
              <a:off x="2959205" y="2750717"/>
              <a:ext cx="2499713" cy="548225"/>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D0E3EA"/>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25" name="Shape 5681">
              <a:extLst>
                <a:ext uri="{FF2B5EF4-FFF2-40B4-BE49-F238E27FC236}">
                  <a16:creationId xmlns:a16="http://schemas.microsoft.com/office/drawing/2014/main" id="{0A9AC6E3-9FEB-9B99-504A-84B8A4B3FB67}"/>
                </a:ext>
              </a:extLst>
            </p:cNvPr>
            <p:cNvSpPr/>
            <p:nvPr/>
          </p:nvSpPr>
          <p:spPr>
            <a:xfrm>
              <a:off x="5458918" y="2750717"/>
              <a:ext cx="2499714" cy="548225"/>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D0E3EA"/>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26" name="Shape 5682">
              <a:extLst>
                <a:ext uri="{FF2B5EF4-FFF2-40B4-BE49-F238E27FC236}">
                  <a16:creationId xmlns:a16="http://schemas.microsoft.com/office/drawing/2014/main" id="{1B2AF5BB-3708-59B3-D9AF-5BF48A1F0DB0}"/>
                </a:ext>
              </a:extLst>
            </p:cNvPr>
            <p:cNvSpPr/>
            <p:nvPr/>
          </p:nvSpPr>
          <p:spPr>
            <a:xfrm>
              <a:off x="7958631" y="2750717"/>
              <a:ext cx="2499713" cy="548225"/>
            </a:xfrm>
            <a:custGeom>
              <a:avLst/>
              <a:gdLst/>
              <a:ahLst/>
              <a:cxnLst/>
              <a:rect l="0" t="0" r="0" b="0"/>
              <a:pathLst>
                <a:path w="2499783" h="548723">
                  <a:moveTo>
                    <a:pt x="0" y="0"/>
                  </a:moveTo>
                  <a:lnTo>
                    <a:pt x="2499783" y="0"/>
                  </a:lnTo>
                  <a:lnTo>
                    <a:pt x="2499783" y="548723"/>
                  </a:lnTo>
                  <a:lnTo>
                    <a:pt x="0" y="548723"/>
                  </a:lnTo>
                  <a:lnTo>
                    <a:pt x="0" y="0"/>
                  </a:lnTo>
                </a:path>
              </a:pathLst>
            </a:custGeom>
            <a:ln w="0" cap="flat">
              <a:miter lim="127000"/>
            </a:ln>
          </p:spPr>
          <p:style>
            <a:lnRef idx="0">
              <a:srgbClr val="000000">
                <a:alpha val="0"/>
              </a:srgbClr>
            </a:lnRef>
            <a:fillRef idx="1">
              <a:srgbClr val="D0E3EA"/>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30" name="Shape 480">
              <a:extLst>
                <a:ext uri="{FF2B5EF4-FFF2-40B4-BE49-F238E27FC236}">
                  <a16:creationId xmlns:a16="http://schemas.microsoft.com/office/drawing/2014/main" id="{E82DFB33-40CA-E745-B2E3-657C43707BBD}"/>
                </a:ext>
              </a:extLst>
            </p:cNvPr>
            <p:cNvSpPr/>
            <p:nvPr/>
          </p:nvSpPr>
          <p:spPr>
            <a:xfrm>
              <a:off x="5458918" y="0"/>
              <a:ext cx="0" cy="4219576"/>
            </a:xfrm>
            <a:custGeom>
              <a:avLst/>
              <a:gdLst/>
              <a:ahLst/>
              <a:cxnLst/>
              <a:rect l="0" t="0" r="0" b="0"/>
              <a:pathLst>
                <a:path h="4219576">
                  <a:moveTo>
                    <a:pt x="0" y="0"/>
                  </a:moveTo>
                  <a:lnTo>
                    <a:pt x="0" y="4219576"/>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31" name="Shape 481">
              <a:extLst>
                <a:ext uri="{FF2B5EF4-FFF2-40B4-BE49-F238E27FC236}">
                  <a16:creationId xmlns:a16="http://schemas.microsoft.com/office/drawing/2014/main" id="{10758310-1806-95EC-5C47-143342F2380F}"/>
                </a:ext>
              </a:extLst>
            </p:cNvPr>
            <p:cNvSpPr/>
            <p:nvPr/>
          </p:nvSpPr>
          <p:spPr>
            <a:xfrm>
              <a:off x="7958631" y="0"/>
              <a:ext cx="0" cy="4219576"/>
            </a:xfrm>
            <a:custGeom>
              <a:avLst/>
              <a:gdLst/>
              <a:ahLst/>
              <a:cxnLst/>
              <a:rect l="0" t="0" r="0" b="0"/>
              <a:pathLst>
                <a:path h="4219576">
                  <a:moveTo>
                    <a:pt x="0" y="0"/>
                  </a:moveTo>
                  <a:lnTo>
                    <a:pt x="0" y="4219576"/>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32" name="Shape 482">
              <a:extLst>
                <a:ext uri="{FF2B5EF4-FFF2-40B4-BE49-F238E27FC236}">
                  <a16:creationId xmlns:a16="http://schemas.microsoft.com/office/drawing/2014/main" id="{BCB8E0CC-2124-FC31-BEDE-53699A7A8B27}"/>
                </a:ext>
              </a:extLst>
            </p:cNvPr>
            <p:cNvSpPr/>
            <p:nvPr/>
          </p:nvSpPr>
          <p:spPr>
            <a:xfrm>
              <a:off x="2952750" y="554619"/>
              <a:ext cx="7512049" cy="0"/>
            </a:xfrm>
            <a:custGeom>
              <a:avLst/>
              <a:gdLst/>
              <a:ahLst/>
              <a:cxnLst/>
              <a:rect l="0" t="0" r="0" b="0"/>
              <a:pathLst>
                <a:path w="7512049">
                  <a:moveTo>
                    <a:pt x="0" y="0"/>
                  </a:moveTo>
                  <a:lnTo>
                    <a:pt x="7512049" y="0"/>
                  </a:lnTo>
                </a:path>
              </a:pathLst>
            </a:custGeom>
            <a:ln w="381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33" name="Shape 483">
              <a:extLst>
                <a:ext uri="{FF2B5EF4-FFF2-40B4-BE49-F238E27FC236}">
                  <a16:creationId xmlns:a16="http://schemas.microsoft.com/office/drawing/2014/main" id="{3EF8C05E-FE18-EC64-443D-EF6CFE1144A9}"/>
                </a:ext>
              </a:extLst>
            </p:cNvPr>
            <p:cNvSpPr/>
            <p:nvPr/>
          </p:nvSpPr>
          <p:spPr>
            <a:xfrm>
              <a:off x="2952750" y="1104443"/>
              <a:ext cx="7512049" cy="0"/>
            </a:xfrm>
            <a:custGeom>
              <a:avLst/>
              <a:gdLst/>
              <a:ahLst/>
              <a:cxnLst/>
              <a:rect l="0" t="0" r="0" b="0"/>
              <a:pathLst>
                <a:path w="7512049">
                  <a:moveTo>
                    <a:pt x="0" y="0"/>
                  </a:moveTo>
                  <a:lnTo>
                    <a:pt x="7512049" y="0"/>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34" name="Shape 484">
              <a:extLst>
                <a:ext uri="{FF2B5EF4-FFF2-40B4-BE49-F238E27FC236}">
                  <a16:creationId xmlns:a16="http://schemas.microsoft.com/office/drawing/2014/main" id="{7EEC74E1-7BE5-D858-596B-A49FCAB01F9E}"/>
                </a:ext>
              </a:extLst>
            </p:cNvPr>
            <p:cNvSpPr/>
            <p:nvPr/>
          </p:nvSpPr>
          <p:spPr>
            <a:xfrm>
              <a:off x="2952750" y="1652667"/>
              <a:ext cx="7512049" cy="0"/>
            </a:xfrm>
            <a:custGeom>
              <a:avLst/>
              <a:gdLst/>
              <a:ahLst/>
              <a:cxnLst/>
              <a:rect l="0" t="0" r="0" b="0"/>
              <a:pathLst>
                <a:path w="7512049">
                  <a:moveTo>
                    <a:pt x="0" y="0"/>
                  </a:moveTo>
                  <a:lnTo>
                    <a:pt x="7512049" y="0"/>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35" name="Shape 485">
              <a:extLst>
                <a:ext uri="{FF2B5EF4-FFF2-40B4-BE49-F238E27FC236}">
                  <a16:creationId xmlns:a16="http://schemas.microsoft.com/office/drawing/2014/main" id="{ACF17E04-AA69-7CF7-3A09-622259C6523E}"/>
                </a:ext>
              </a:extLst>
            </p:cNvPr>
            <p:cNvSpPr/>
            <p:nvPr/>
          </p:nvSpPr>
          <p:spPr>
            <a:xfrm>
              <a:off x="2952750" y="2200893"/>
              <a:ext cx="7512049" cy="0"/>
            </a:xfrm>
            <a:custGeom>
              <a:avLst/>
              <a:gdLst/>
              <a:ahLst/>
              <a:cxnLst/>
              <a:rect l="0" t="0" r="0" b="0"/>
              <a:pathLst>
                <a:path w="7512049">
                  <a:moveTo>
                    <a:pt x="0" y="0"/>
                  </a:moveTo>
                  <a:lnTo>
                    <a:pt x="7512049" y="0"/>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36" name="Shape 486">
              <a:extLst>
                <a:ext uri="{FF2B5EF4-FFF2-40B4-BE49-F238E27FC236}">
                  <a16:creationId xmlns:a16="http://schemas.microsoft.com/office/drawing/2014/main" id="{4031C4C1-1D62-9217-94C1-4A353C96A57B}"/>
                </a:ext>
              </a:extLst>
            </p:cNvPr>
            <p:cNvSpPr/>
            <p:nvPr/>
          </p:nvSpPr>
          <p:spPr>
            <a:xfrm>
              <a:off x="2952750" y="2750717"/>
              <a:ext cx="7512049" cy="0"/>
            </a:xfrm>
            <a:custGeom>
              <a:avLst/>
              <a:gdLst/>
              <a:ahLst/>
              <a:cxnLst/>
              <a:rect l="0" t="0" r="0" b="0"/>
              <a:pathLst>
                <a:path w="7512049">
                  <a:moveTo>
                    <a:pt x="0" y="0"/>
                  </a:moveTo>
                  <a:lnTo>
                    <a:pt x="7512049" y="0"/>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37" name="Shape 487">
              <a:extLst>
                <a:ext uri="{FF2B5EF4-FFF2-40B4-BE49-F238E27FC236}">
                  <a16:creationId xmlns:a16="http://schemas.microsoft.com/office/drawing/2014/main" id="{E0EF5B02-1A45-AFE8-DC98-31230BDF239A}"/>
                </a:ext>
              </a:extLst>
            </p:cNvPr>
            <p:cNvSpPr/>
            <p:nvPr/>
          </p:nvSpPr>
          <p:spPr>
            <a:xfrm>
              <a:off x="2952750" y="3298941"/>
              <a:ext cx="7512049" cy="0"/>
            </a:xfrm>
            <a:custGeom>
              <a:avLst/>
              <a:gdLst/>
              <a:ahLst/>
              <a:cxnLst/>
              <a:rect l="0" t="0" r="0" b="0"/>
              <a:pathLst>
                <a:path w="7512049">
                  <a:moveTo>
                    <a:pt x="0" y="0"/>
                  </a:moveTo>
                  <a:lnTo>
                    <a:pt x="7512049" y="0"/>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38" name="Shape 488">
              <a:extLst>
                <a:ext uri="{FF2B5EF4-FFF2-40B4-BE49-F238E27FC236}">
                  <a16:creationId xmlns:a16="http://schemas.microsoft.com/office/drawing/2014/main" id="{52A8ACDE-7EF9-89B7-5066-218BFD634AFD}"/>
                </a:ext>
              </a:extLst>
            </p:cNvPr>
            <p:cNvSpPr/>
            <p:nvPr/>
          </p:nvSpPr>
          <p:spPr>
            <a:xfrm>
              <a:off x="2959205" y="0"/>
              <a:ext cx="0" cy="4219576"/>
            </a:xfrm>
            <a:custGeom>
              <a:avLst/>
              <a:gdLst/>
              <a:ahLst/>
              <a:cxnLst/>
              <a:rect l="0" t="0" r="0" b="0"/>
              <a:pathLst>
                <a:path h="4219576">
                  <a:moveTo>
                    <a:pt x="0" y="0"/>
                  </a:moveTo>
                  <a:lnTo>
                    <a:pt x="0" y="4219576"/>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39" name="Shape 489">
              <a:extLst>
                <a:ext uri="{FF2B5EF4-FFF2-40B4-BE49-F238E27FC236}">
                  <a16:creationId xmlns:a16="http://schemas.microsoft.com/office/drawing/2014/main" id="{ACE92DB8-CC67-2E55-C8D6-1EBB8BDD4E4B}"/>
                </a:ext>
              </a:extLst>
            </p:cNvPr>
            <p:cNvSpPr/>
            <p:nvPr/>
          </p:nvSpPr>
          <p:spPr>
            <a:xfrm>
              <a:off x="10458344" y="0"/>
              <a:ext cx="0" cy="4219576"/>
            </a:xfrm>
            <a:custGeom>
              <a:avLst/>
              <a:gdLst/>
              <a:ahLst/>
              <a:cxnLst/>
              <a:rect l="0" t="0" r="0" b="0"/>
              <a:pathLst>
                <a:path h="4219576">
                  <a:moveTo>
                    <a:pt x="0" y="0"/>
                  </a:moveTo>
                  <a:lnTo>
                    <a:pt x="0" y="4219576"/>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40" name="Shape 490">
              <a:extLst>
                <a:ext uri="{FF2B5EF4-FFF2-40B4-BE49-F238E27FC236}">
                  <a16:creationId xmlns:a16="http://schemas.microsoft.com/office/drawing/2014/main" id="{A8792D5E-FB36-997F-8EAD-2243755B7F97}"/>
                </a:ext>
              </a:extLst>
            </p:cNvPr>
            <p:cNvSpPr/>
            <p:nvPr/>
          </p:nvSpPr>
          <p:spPr>
            <a:xfrm>
              <a:off x="2952750" y="6393"/>
              <a:ext cx="7512049" cy="0"/>
            </a:xfrm>
            <a:custGeom>
              <a:avLst/>
              <a:gdLst/>
              <a:ahLst/>
              <a:cxnLst/>
              <a:rect l="0" t="0" r="0" b="0"/>
              <a:pathLst>
                <a:path w="7512049">
                  <a:moveTo>
                    <a:pt x="0" y="0"/>
                  </a:moveTo>
                  <a:lnTo>
                    <a:pt x="7512049" y="0"/>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41" name="Shape 491">
              <a:extLst>
                <a:ext uri="{FF2B5EF4-FFF2-40B4-BE49-F238E27FC236}">
                  <a16:creationId xmlns:a16="http://schemas.microsoft.com/office/drawing/2014/main" id="{7901ED3A-33DD-1B98-82DE-3FCC97237450}"/>
                </a:ext>
              </a:extLst>
            </p:cNvPr>
            <p:cNvSpPr/>
            <p:nvPr/>
          </p:nvSpPr>
          <p:spPr>
            <a:xfrm>
              <a:off x="2952750" y="4213183"/>
              <a:ext cx="7512049" cy="0"/>
            </a:xfrm>
            <a:custGeom>
              <a:avLst/>
              <a:gdLst/>
              <a:ahLst/>
              <a:cxnLst/>
              <a:rect l="0" t="0" r="0" b="0"/>
              <a:pathLst>
                <a:path w="7512049">
                  <a:moveTo>
                    <a:pt x="0" y="0"/>
                  </a:moveTo>
                  <a:lnTo>
                    <a:pt x="7512049" y="0"/>
                  </a:lnTo>
                </a:path>
              </a:pathLst>
            </a:custGeom>
            <a:ln w="12700" cap="flat">
              <a:round/>
            </a:ln>
          </p:spPr>
          <p:style>
            <a:lnRef idx="1">
              <a:srgbClr val="FFFFFF"/>
            </a:lnRef>
            <a:fillRef idx="0">
              <a:srgbClr val="000000">
                <a:alpha val="0"/>
              </a:srgbClr>
            </a:fillRef>
            <a:effectRef idx="0">
              <a:scrgbClr r="0" g="0" b="0"/>
            </a:effectRef>
            <a:fontRef idx="none"/>
          </p:style>
          <p:txBody>
            <a:bodyPr/>
            <a:lstStyle/>
            <a:p>
              <a:pPr>
                <a:defRPr/>
              </a:pPr>
              <a:endParaRPr lang="en-US" sz="2500">
                <a:latin typeface="Times New Roman" panose="02020603050405020304" pitchFamily="18" charset="0"/>
                <a:cs typeface="Times New Roman" panose="02020603050405020304" pitchFamily="18" charset="0"/>
              </a:endParaRPr>
            </a:p>
          </p:txBody>
        </p:sp>
        <p:sp>
          <p:nvSpPr>
            <p:cNvPr id="43041" name="Rectangle 41">
              <a:extLst>
                <a:ext uri="{FF2B5EF4-FFF2-40B4-BE49-F238E27FC236}">
                  <a16:creationId xmlns:a16="http://schemas.microsoft.com/office/drawing/2014/main" id="{646E44F0-7841-B59F-7A89-D2C078EA4C5E}"/>
                </a:ext>
              </a:extLst>
            </p:cNvPr>
            <p:cNvSpPr>
              <a:spLocks noChangeArrowheads="1"/>
            </p:cNvSpPr>
            <p:nvPr/>
          </p:nvSpPr>
          <p:spPr bwMode="auto">
            <a:xfrm>
              <a:off x="3705543" y="81683"/>
              <a:ext cx="1481679" cy="610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FFFFFF"/>
                  </a:solidFill>
                  <a:latin typeface="Times New Roman" panose="02020603050405020304" pitchFamily="18" charset="0"/>
                  <a:ea typeface="Lucida Sans Unicode" panose="020B0602030504020204" pitchFamily="34" charset="0"/>
                  <a:cs typeface="Times New Roman" panose="02020603050405020304" pitchFamily="18" charset="0"/>
                </a:rPr>
                <a:t>Glasses</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42" name="Rectangle 42">
              <a:extLst>
                <a:ext uri="{FF2B5EF4-FFF2-40B4-BE49-F238E27FC236}">
                  <a16:creationId xmlns:a16="http://schemas.microsoft.com/office/drawing/2014/main" id="{0626AE98-B397-5F08-BBF9-347CD484A72C}"/>
                </a:ext>
              </a:extLst>
            </p:cNvPr>
            <p:cNvSpPr>
              <a:spLocks noChangeArrowheads="1"/>
            </p:cNvSpPr>
            <p:nvPr/>
          </p:nvSpPr>
          <p:spPr bwMode="auto">
            <a:xfrm>
              <a:off x="6472237" y="81683"/>
              <a:ext cx="629318" cy="610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FFFFFF"/>
                  </a:solidFill>
                  <a:latin typeface="Times New Roman" panose="02020603050405020304" pitchFamily="18" charset="0"/>
                  <a:ea typeface="Lucida Sans Unicode" panose="020B0602030504020204" pitchFamily="34" charset="0"/>
                  <a:cs typeface="Times New Roman" panose="02020603050405020304" pitchFamily="18" charset="0"/>
                </a:rPr>
                <a:t>MU</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43" name="Rectangle 43">
              <a:extLst>
                <a:ext uri="{FF2B5EF4-FFF2-40B4-BE49-F238E27FC236}">
                  <a16:creationId xmlns:a16="http://schemas.microsoft.com/office/drawing/2014/main" id="{40E2EB06-6F29-0964-941B-CE641277CD8B}"/>
                </a:ext>
              </a:extLst>
            </p:cNvPr>
            <p:cNvSpPr>
              <a:spLocks noChangeArrowheads="1"/>
            </p:cNvSpPr>
            <p:nvPr/>
          </p:nvSpPr>
          <p:spPr bwMode="auto">
            <a:xfrm>
              <a:off x="8854544" y="81683"/>
              <a:ext cx="941464" cy="610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FFFFFF"/>
                  </a:solidFill>
                  <a:latin typeface="Times New Roman" panose="02020603050405020304" pitchFamily="18" charset="0"/>
                  <a:ea typeface="Lucida Sans Unicode" panose="020B0602030504020204" pitchFamily="34" charset="0"/>
                  <a:cs typeface="Times New Roman" panose="02020603050405020304" pitchFamily="18" charset="0"/>
                </a:rPr>
                <a:t>Price</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44" name="Rectangle 44">
              <a:extLst>
                <a:ext uri="{FF2B5EF4-FFF2-40B4-BE49-F238E27FC236}">
                  <a16:creationId xmlns:a16="http://schemas.microsoft.com/office/drawing/2014/main" id="{BC2DD93F-9AE5-9709-6181-A2406636C275}"/>
                </a:ext>
              </a:extLst>
            </p:cNvPr>
            <p:cNvSpPr>
              <a:spLocks noChangeArrowheads="1"/>
            </p:cNvSpPr>
            <p:nvPr/>
          </p:nvSpPr>
          <p:spPr bwMode="auto">
            <a:xfrm>
              <a:off x="4112947" y="62750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1</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45" name="Rectangle 45">
              <a:extLst>
                <a:ext uri="{FF2B5EF4-FFF2-40B4-BE49-F238E27FC236}">
                  <a16:creationId xmlns:a16="http://schemas.microsoft.com/office/drawing/2014/main" id="{97FB8D97-2E40-11FE-B79C-6DBA83780B11}"/>
                </a:ext>
              </a:extLst>
            </p:cNvPr>
            <p:cNvSpPr>
              <a:spLocks noChangeArrowheads="1"/>
            </p:cNvSpPr>
            <p:nvPr/>
          </p:nvSpPr>
          <p:spPr bwMode="auto">
            <a:xfrm>
              <a:off x="6612730" y="62750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8</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46" name="Rectangle 46">
              <a:extLst>
                <a:ext uri="{FF2B5EF4-FFF2-40B4-BE49-F238E27FC236}">
                  <a16:creationId xmlns:a16="http://schemas.microsoft.com/office/drawing/2014/main" id="{1E6C0303-7172-362B-9EC7-158EDDEDD96D}"/>
                </a:ext>
              </a:extLst>
            </p:cNvPr>
            <p:cNvSpPr>
              <a:spLocks noChangeArrowheads="1"/>
            </p:cNvSpPr>
            <p:nvPr/>
          </p:nvSpPr>
          <p:spPr bwMode="auto">
            <a:xfrm>
              <a:off x="9112513" y="62750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8</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47" name="Rectangle 47">
              <a:extLst>
                <a:ext uri="{FF2B5EF4-FFF2-40B4-BE49-F238E27FC236}">
                  <a16:creationId xmlns:a16="http://schemas.microsoft.com/office/drawing/2014/main" id="{F1118180-1637-0985-7C0B-6009A96D41C4}"/>
                </a:ext>
              </a:extLst>
            </p:cNvPr>
            <p:cNvSpPr>
              <a:spLocks noChangeArrowheads="1"/>
            </p:cNvSpPr>
            <p:nvPr/>
          </p:nvSpPr>
          <p:spPr bwMode="auto">
            <a:xfrm>
              <a:off x="4112947" y="117614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2</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48" name="Rectangle 48">
              <a:extLst>
                <a:ext uri="{FF2B5EF4-FFF2-40B4-BE49-F238E27FC236}">
                  <a16:creationId xmlns:a16="http://schemas.microsoft.com/office/drawing/2014/main" id="{D0E7847C-E69E-A298-2BE8-C7903A939CA6}"/>
                </a:ext>
              </a:extLst>
            </p:cNvPr>
            <p:cNvSpPr>
              <a:spLocks noChangeArrowheads="1"/>
            </p:cNvSpPr>
            <p:nvPr/>
          </p:nvSpPr>
          <p:spPr bwMode="auto">
            <a:xfrm>
              <a:off x="6612730" y="117614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6</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49" name="Rectangle 49">
              <a:extLst>
                <a:ext uri="{FF2B5EF4-FFF2-40B4-BE49-F238E27FC236}">
                  <a16:creationId xmlns:a16="http://schemas.microsoft.com/office/drawing/2014/main" id="{81E688DF-B744-D3F6-2C6D-01763DD75BD8}"/>
                </a:ext>
              </a:extLst>
            </p:cNvPr>
            <p:cNvSpPr>
              <a:spLocks noChangeArrowheads="1"/>
            </p:cNvSpPr>
            <p:nvPr/>
          </p:nvSpPr>
          <p:spPr bwMode="auto">
            <a:xfrm>
              <a:off x="9112513" y="117614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6</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50" name="Rectangle 50">
              <a:extLst>
                <a:ext uri="{FF2B5EF4-FFF2-40B4-BE49-F238E27FC236}">
                  <a16:creationId xmlns:a16="http://schemas.microsoft.com/office/drawing/2014/main" id="{C5A51264-EC1A-AC29-CEF2-DEF973DAEBEE}"/>
                </a:ext>
              </a:extLst>
            </p:cNvPr>
            <p:cNvSpPr>
              <a:spLocks noChangeArrowheads="1"/>
            </p:cNvSpPr>
            <p:nvPr/>
          </p:nvSpPr>
          <p:spPr bwMode="auto">
            <a:xfrm>
              <a:off x="4112947" y="172478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3</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51" name="Rectangle 51">
              <a:extLst>
                <a:ext uri="{FF2B5EF4-FFF2-40B4-BE49-F238E27FC236}">
                  <a16:creationId xmlns:a16="http://schemas.microsoft.com/office/drawing/2014/main" id="{4A26D01B-4F93-9968-C98F-20DEF7483DCA}"/>
                </a:ext>
              </a:extLst>
            </p:cNvPr>
            <p:cNvSpPr>
              <a:spLocks noChangeArrowheads="1"/>
            </p:cNvSpPr>
            <p:nvPr/>
          </p:nvSpPr>
          <p:spPr bwMode="auto">
            <a:xfrm>
              <a:off x="6612730" y="172478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4</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52" name="Rectangle 52">
              <a:extLst>
                <a:ext uri="{FF2B5EF4-FFF2-40B4-BE49-F238E27FC236}">
                  <a16:creationId xmlns:a16="http://schemas.microsoft.com/office/drawing/2014/main" id="{7732F6BC-1CDC-24BB-FD08-45425361A953}"/>
                </a:ext>
              </a:extLst>
            </p:cNvPr>
            <p:cNvSpPr>
              <a:spLocks noChangeArrowheads="1"/>
            </p:cNvSpPr>
            <p:nvPr/>
          </p:nvSpPr>
          <p:spPr bwMode="auto">
            <a:xfrm>
              <a:off x="9112513" y="172478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4</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53" name="Rectangle 53">
              <a:extLst>
                <a:ext uri="{FF2B5EF4-FFF2-40B4-BE49-F238E27FC236}">
                  <a16:creationId xmlns:a16="http://schemas.microsoft.com/office/drawing/2014/main" id="{C4F1043C-2AE7-6706-85DB-5665EECD521E}"/>
                </a:ext>
              </a:extLst>
            </p:cNvPr>
            <p:cNvSpPr>
              <a:spLocks noChangeArrowheads="1"/>
            </p:cNvSpPr>
            <p:nvPr/>
          </p:nvSpPr>
          <p:spPr bwMode="auto">
            <a:xfrm>
              <a:off x="4112947" y="2273421"/>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4</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54" name="Rectangle 54">
              <a:extLst>
                <a:ext uri="{FF2B5EF4-FFF2-40B4-BE49-F238E27FC236}">
                  <a16:creationId xmlns:a16="http://schemas.microsoft.com/office/drawing/2014/main" id="{1A6F66C3-848E-475C-C054-1617DC40E70E}"/>
                </a:ext>
              </a:extLst>
            </p:cNvPr>
            <p:cNvSpPr>
              <a:spLocks noChangeArrowheads="1"/>
            </p:cNvSpPr>
            <p:nvPr/>
          </p:nvSpPr>
          <p:spPr bwMode="auto">
            <a:xfrm>
              <a:off x="6612730" y="2273421"/>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2</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55" name="Rectangle 55">
              <a:extLst>
                <a:ext uri="{FF2B5EF4-FFF2-40B4-BE49-F238E27FC236}">
                  <a16:creationId xmlns:a16="http://schemas.microsoft.com/office/drawing/2014/main" id="{147F8BDC-6B73-236B-B1EB-E0B4871B5673}"/>
                </a:ext>
              </a:extLst>
            </p:cNvPr>
            <p:cNvSpPr>
              <a:spLocks noChangeArrowheads="1"/>
            </p:cNvSpPr>
            <p:nvPr/>
          </p:nvSpPr>
          <p:spPr bwMode="auto">
            <a:xfrm>
              <a:off x="9112513" y="2273421"/>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2</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56" name="Rectangle 56">
              <a:extLst>
                <a:ext uri="{FF2B5EF4-FFF2-40B4-BE49-F238E27FC236}">
                  <a16:creationId xmlns:a16="http://schemas.microsoft.com/office/drawing/2014/main" id="{8D7ABADB-0366-2655-588B-C10C3802A3ED}"/>
                </a:ext>
              </a:extLst>
            </p:cNvPr>
            <p:cNvSpPr>
              <a:spLocks noChangeArrowheads="1"/>
            </p:cNvSpPr>
            <p:nvPr/>
          </p:nvSpPr>
          <p:spPr bwMode="auto">
            <a:xfrm>
              <a:off x="4112947" y="282206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5</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57" name="Rectangle 57">
              <a:extLst>
                <a:ext uri="{FF2B5EF4-FFF2-40B4-BE49-F238E27FC236}">
                  <a16:creationId xmlns:a16="http://schemas.microsoft.com/office/drawing/2014/main" id="{2957C864-9944-2D56-462A-07E2872458B5}"/>
                </a:ext>
              </a:extLst>
            </p:cNvPr>
            <p:cNvSpPr>
              <a:spLocks noChangeArrowheads="1"/>
            </p:cNvSpPr>
            <p:nvPr/>
          </p:nvSpPr>
          <p:spPr bwMode="auto">
            <a:xfrm>
              <a:off x="6612730" y="282206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0</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058" name="Rectangle 58">
              <a:extLst>
                <a:ext uri="{FF2B5EF4-FFF2-40B4-BE49-F238E27FC236}">
                  <a16:creationId xmlns:a16="http://schemas.microsoft.com/office/drawing/2014/main" id="{76C77D4F-F3BB-30FE-8632-CBB5B35E530E}"/>
                </a:ext>
              </a:extLst>
            </p:cNvPr>
            <p:cNvSpPr>
              <a:spLocks noChangeArrowheads="1"/>
            </p:cNvSpPr>
            <p:nvPr/>
          </p:nvSpPr>
          <p:spPr bwMode="auto">
            <a:xfrm>
              <a:off x="9112513" y="2822062"/>
              <a:ext cx="256203" cy="6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50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0</a:t>
              </a:r>
              <a:endParaRPr lang="en-US" altLang="en-LK" sz="25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F27958D2-E549-D46D-745D-F25754B9D598}"/>
              </a:ext>
            </a:extLst>
          </p:cNvPr>
          <p:cNvSpPr>
            <a:spLocks noGrp="1" noChangeArrowheads="1"/>
          </p:cNvSpPr>
          <p:nvPr>
            <p:ph type="title"/>
          </p:nvPr>
        </p:nvSpPr>
        <p:spPr/>
        <p:txBody>
          <a:bodyPr/>
          <a:lstStyle/>
          <a:p>
            <a:r>
              <a:rPr lang="en-US" altLang="en-LK" b="1">
                <a:latin typeface="Times New Roman" panose="02020603050405020304" pitchFamily="18" charset="0"/>
                <a:cs typeface="Times New Roman" panose="02020603050405020304" pitchFamily="18" charset="0"/>
              </a:rPr>
              <a:t>Derivation of Demand Curve</a:t>
            </a:r>
            <a:br>
              <a:rPr lang="en-US" altLang="en-LK" b="1">
                <a:latin typeface="Times New Roman" panose="02020603050405020304" pitchFamily="18" charset="0"/>
                <a:cs typeface="Times New Roman" panose="02020603050405020304" pitchFamily="18" charset="0"/>
              </a:rPr>
            </a:br>
            <a:endParaRPr lang="en-US" altLang="en-LK" b="1">
              <a:latin typeface="Times New Roman" panose="02020603050405020304" pitchFamily="18" charset="0"/>
              <a:cs typeface="Times New Roman" panose="02020603050405020304" pitchFamily="18" charset="0"/>
            </a:endParaRPr>
          </a:p>
        </p:txBody>
      </p:sp>
      <p:grpSp>
        <p:nvGrpSpPr>
          <p:cNvPr id="44034" name="Group 3">
            <a:extLst>
              <a:ext uri="{FF2B5EF4-FFF2-40B4-BE49-F238E27FC236}">
                <a16:creationId xmlns:a16="http://schemas.microsoft.com/office/drawing/2014/main" id="{9DDC42BC-1687-0E75-8282-560787266215}"/>
              </a:ext>
            </a:extLst>
          </p:cNvPr>
          <p:cNvGrpSpPr>
            <a:grpSpLocks/>
          </p:cNvGrpSpPr>
          <p:nvPr/>
        </p:nvGrpSpPr>
        <p:grpSpPr bwMode="auto">
          <a:xfrm>
            <a:off x="2641600" y="2351088"/>
            <a:ext cx="6613525" cy="3805237"/>
            <a:chOff x="0" y="0"/>
            <a:chExt cx="6614640" cy="3804487"/>
          </a:xfrm>
        </p:grpSpPr>
        <p:sp>
          <p:nvSpPr>
            <p:cNvPr id="44035" name="Rectangle 4">
              <a:extLst>
                <a:ext uri="{FF2B5EF4-FFF2-40B4-BE49-F238E27FC236}">
                  <a16:creationId xmlns:a16="http://schemas.microsoft.com/office/drawing/2014/main" id="{A21B09A0-37E7-15D0-2EE8-4EB790547CF1}"/>
                </a:ext>
              </a:extLst>
            </p:cNvPr>
            <p:cNvSpPr>
              <a:spLocks noChangeArrowheads="1"/>
            </p:cNvSpPr>
            <p:nvPr/>
          </p:nvSpPr>
          <p:spPr bwMode="auto">
            <a:xfrm>
              <a:off x="603631" y="3447077"/>
              <a:ext cx="137020" cy="329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1600">
                  <a:solidFill>
                    <a:srgbClr val="000000"/>
                  </a:solidFill>
                  <a:cs typeface="Calibri" panose="020F0502020204030204" pitchFamily="34" charset="0"/>
                </a:rPr>
                <a:t>0</a:t>
              </a:r>
              <a:endParaRPr lang="en-US" altLang="en-LK" sz="1100">
                <a:solidFill>
                  <a:srgbClr val="000000"/>
                </a:solidFill>
                <a:cs typeface="Calibri" panose="020F0502020204030204" pitchFamily="34" charset="0"/>
              </a:endParaRPr>
            </a:p>
          </p:txBody>
        </p:sp>
        <p:sp>
          <p:nvSpPr>
            <p:cNvPr id="6" name="Shape 532">
              <a:extLst>
                <a:ext uri="{FF2B5EF4-FFF2-40B4-BE49-F238E27FC236}">
                  <a16:creationId xmlns:a16="http://schemas.microsoft.com/office/drawing/2014/main" id="{01D129D7-42CD-40F7-9A90-0F349BEA59F0}"/>
                </a:ext>
              </a:extLst>
            </p:cNvPr>
            <p:cNvSpPr/>
            <p:nvPr/>
          </p:nvSpPr>
          <p:spPr>
            <a:xfrm>
              <a:off x="616054" y="22221"/>
              <a:ext cx="76213" cy="3380709"/>
            </a:xfrm>
            <a:custGeom>
              <a:avLst/>
              <a:gdLst/>
              <a:ahLst/>
              <a:cxnLst/>
              <a:rect l="0" t="0" r="0" b="0"/>
              <a:pathLst>
                <a:path w="76200" h="3381388">
                  <a:moveTo>
                    <a:pt x="38121" y="0"/>
                  </a:moveTo>
                  <a:lnTo>
                    <a:pt x="76200" y="76210"/>
                  </a:lnTo>
                  <a:lnTo>
                    <a:pt x="42863" y="76201"/>
                  </a:lnTo>
                  <a:lnTo>
                    <a:pt x="42018" y="3381388"/>
                  </a:lnTo>
                  <a:lnTo>
                    <a:pt x="32493" y="3381385"/>
                  </a:lnTo>
                  <a:lnTo>
                    <a:pt x="33338" y="76199"/>
                  </a:lnTo>
                  <a:lnTo>
                    <a:pt x="0" y="76190"/>
                  </a:lnTo>
                  <a:lnTo>
                    <a:pt x="38121"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a:defRPr/>
              </a:pPr>
              <a:endParaRPr lang="en-US"/>
            </a:p>
          </p:txBody>
        </p:sp>
        <p:sp>
          <p:nvSpPr>
            <p:cNvPr id="7" name="Shape 533">
              <a:extLst>
                <a:ext uri="{FF2B5EF4-FFF2-40B4-BE49-F238E27FC236}">
                  <a16:creationId xmlns:a16="http://schemas.microsoft.com/office/drawing/2014/main" id="{E3920399-CF38-4751-9FBF-F41568821006}"/>
                </a:ext>
              </a:extLst>
            </p:cNvPr>
            <p:cNvSpPr/>
            <p:nvPr/>
          </p:nvSpPr>
          <p:spPr>
            <a:xfrm>
              <a:off x="636695" y="3364837"/>
              <a:ext cx="5738192" cy="76185"/>
            </a:xfrm>
            <a:custGeom>
              <a:avLst/>
              <a:gdLst/>
              <a:ahLst/>
              <a:cxnLst/>
              <a:rect l="0" t="0" r="0" b="0"/>
              <a:pathLst>
                <a:path w="5738502" h="76200">
                  <a:moveTo>
                    <a:pt x="5662302" y="0"/>
                  </a:moveTo>
                  <a:lnTo>
                    <a:pt x="5738502" y="38100"/>
                  </a:lnTo>
                  <a:lnTo>
                    <a:pt x="5662302" y="76200"/>
                  </a:lnTo>
                  <a:lnTo>
                    <a:pt x="5662302" y="42863"/>
                  </a:lnTo>
                  <a:lnTo>
                    <a:pt x="0" y="42861"/>
                  </a:lnTo>
                  <a:lnTo>
                    <a:pt x="0" y="33336"/>
                  </a:lnTo>
                  <a:lnTo>
                    <a:pt x="5662302" y="33338"/>
                  </a:lnTo>
                  <a:lnTo>
                    <a:pt x="5662302"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pPr>
                <a:defRPr/>
              </a:pPr>
              <a:endParaRPr lang="en-US"/>
            </a:p>
          </p:txBody>
        </p:sp>
        <p:sp>
          <p:nvSpPr>
            <p:cNvPr id="8" name="Shape 534">
              <a:extLst>
                <a:ext uri="{FF2B5EF4-FFF2-40B4-BE49-F238E27FC236}">
                  <a16:creationId xmlns:a16="http://schemas.microsoft.com/office/drawing/2014/main" id="{1025A09D-25DB-8035-EB02-36965DAE90D5}"/>
                </a:ext>
              </a:extLst>
            </p:cNvPr>
            <p:cNvSpPr/>
            <p:nvPr/>
          </p:nvSpPr>
          <p:spPr>
            <a:xfrm>
              <a:off x="595413" y="403146"/>
              <a:ext cx="2894500" cy="2972801"/>
            </a:xfrm>
            <a:custGeom>
              <a:avLst/>
              <a:gdLst/>
              <a:ahLst/>
              <a:cxnLst/>
              <a:rect l="0" t="0" r="0" b="0"/>
              <a:pathLst>
                <a:path w="2895209" h="2972217">
                  <a:moveTo>
                    <a:pt x="0" y="0"/>
                  </a:moveTo>
                  <a:lnTo>
                    <a:pt x="2895209" y="2972217"/>
                  </a:lnTo>
                </a:path>
              </a:pathLst>
            </a:custGeom>
            <a:ln w="9525" cap="flat">
              <a:round/>
            </a:ln>
          </p:spPr>
          <p:style>
            <a:lnRef idx="1">
              <a:srgbClr val="000000"/>
            </a:lnRef>
            <a:fillRef idx="0">
              <a:srgbClr val="000000">
                <a:alpha val="0"/>
              </a:srgbClr>
            </a:fillRef>
            <a:effectRef idx="0">
              <a:scrgbClr r="0" g="0" b="0"/>
            </a:effectRef>
            <a:fontRef idx="none"/>
          </p:style>
          <p:txBody>
            <a:bodyPr/>
            <a:lstStyle/>
            <a:p>
              <a:pPr>
                <a:defRPr/>
              </a:pPr>
              <a:endParaRPr lang="en-US"/>
            </a:p>
          </p:txBody>
        </p:sp>
        <p:sp>
          <p:nvSpPr>
            <p:cNvPr id="44039" name="Rectangle 8">
              <a:extLst>
                <a:ext uri="{FF2B5EF4-FFF2-40B4-BE49-F238E27FC236}">
                  <a16:creationId xmlns:a16="http://schemas.microsoft.com/office/drawing/2014/main" id="{5977E1E0-756F-ED6C-66A9-A678BD712FC7}"/>
                </a:ext>
              </a:extLst>
            </p:cNvPr>
            <p:cNvSpPr>
              <a:spLocks noChangeArrowheads="1"/>
            </p:cNvSpPr>
            <p:nvPr/>
          </p:nvSpPr>
          <p:spPr bwMode="auto">
            <a:xfrm>
              <a:off x="5575830" y="3505200"/>
              <a:ext cx="1038810" cy="29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1600" b="1">
                  <a:solidFill>
                    <a:srgbClr val="000000"/>
                  </a:solidFill>
                  <a:latin typeface="Times New Roman" panose="02020603050405020304" pitchFamily="18" charset="0"/>
                  <a:cs typeface="Times New Roman" panose="02020603050405020304" pitchFamily="18" charset="0"/>
                </a:rPr>
                <a:t>Quantity</a:t>
              </a:r>
              <a:endParaRPr lang="en-US" altLang="en-LK" sz="1100">
                <a:solidFill>
                  <a:srgbClr val="000000"/>
                </a:solidFill>
                <a:cs typeface="Calibri" panose="020F0502020204030204" pitchFamily="34" charset="0"/>
              </a:endParaRPr>
            </a:p>
          </p:txBody>
        </p:sp>
        <p:sp>
          <p:nvSpPr>
            <p:cNvPr id="44040" name="Rectangle 9">
              <a:extLst>
                <a:ext uri="{FF2B5EF4-FFF2-40B4-BE49-F238E27FC236}">
                  <a16:creationId xmlns:a16="http://schemas.microsoft.com/office/drawing/2014/main" id="{3CFFADF9-A190-34DB-6010-99C43CB1B810}"/>
                </a:ext>
              </a:extLst>
            </p:cNvPr>
            <p:cNvSpPr>
              <a:spLocks noChangeArrowheads="1"/>
            </p:cNvSpPr>
            <p:nvPr/>
          </p:nvSpPr>
          <p:spPr bwMode="auto">
            <a:xfrm>
              <a:off x="0" y="0"/>
              <a:ext cx="601482" cy="29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1600" b="1">
                  <a:solidFill>
                    <a:srgbClr val="000000"/>
                  </a:solidFill>
                  <a:latin typeface="Times New Roman" panose="02020603050405020304" pitchFamily="18" charset="0"/>
                  <a:cs typeface="Times New Roman" panose="02020603050405020304" pitchFamily="18" charset="0"/>
                </a:rPr>
                <a:t>Price</a:t>
              </a:r>
              <a:endParaRPr lang="en-US" altLang="en-LK" sz="1100">
                <a:solidFill>
                  <a:srgbClr val="000000"/>
                </a:solidFill>
                <a:cs typeface="Calibri" panose="020F0502020204030204" pitchFamily="34" charset="0"/>
              </a:endParaRPr>
            </a:p>
          </p:txBody>
        </p:sp>
        <p:sp>
          <p:nvSpPr>
            <p:cNvPr id="11" name="Shape 537">
              <a:extLst>
                <a:ext uri="{FF2B5EF4-FFF2-40B4-BE49-F238E27FC236}">
                  <a16:creationId xmlns:a16="http://schemas.microsoft.com/office/drawing/2014/main" id="{6D416375-7D17-6FC6-8DF0-1D982011EE6D}"/>
                </a:ext>
              </a:extLst>
            </p:cNvPr>
            <p:cNvSpPr/>
            <p:nvPr/>
          </p:nvSpPr>
          <p:spPr>
            <a:xfrm>
              <a:off x="2194295" y="2004617"/>
              <a:ext cx="509674" cy="320612"/>
            </a:xfrm>
            <a:custGeom>
              <a:avLst/>
              <a:gdLst/>
              <a:ahLst/>
              <a:cxnLst/>
              <a:rect l="0" t="0" r="0" b="0"/>
              <a:pathLst>
                <a:path w="509106" h="321609">
                  <a:moveTo>
                    <a:pt x="226270" y="0"/>
                  </a:moveTo>
                  <a:cubicBezTo>
                    <a:pt x="351221" y="0"/>
                    <a:pt x="452519" y="95987"/>
                    <a:pt x="452539" y="214386"/>
                  </a:cubicBezTo>
                  <a:lnTo>
                    <a:pt x="452539" y="214406"/>
                  </a:lnTo>
                  <a:lnTo>
                    <a:pt x="509106" y="214406"/>
                  </a:lnTo>
                  <a:lnTo>
                    <a:pt x="395972" y="321609"/>
                  </a:lnTo>
                  <a:lnTo>
                    <a:pt x="282837" y="214406"/>
                  </a:lnTo>
                  <a:lnTo>
                    <a:pt x="339405" y="214406"/>
                  </a:lnTo>
                  <a:cubicBezTo>
                    <a:pt x="339405" y="155187"/>
                    <a:pt x="288745" y="107204"/>
                    <a:pt x="226270" y="107204"/>
                  </a:cubicBezTo>
                  <a:cubicBezTo>
                    <a:pt x="163773" y="107204"/>
                    <a:pt x="113135" y="155187"/>
                    <a:pt x="113135" y="214406"/>
                  </a:cubicBezTo>
                  <a:lnTo>
                    <a:pt x="0" y="214406"/>
                  </a:lnTo>
                  <a:cubicBezTo>
                    <a:pt x="0" y="95987"/>
                    <a:pt x="101298" y="0"/>
                    <a:pt x="226270" y="0"/>
                  </a:cubicBezTo>
                  <a:close/>
                </a:path>
              </a:pathLst>
            </a:custGeom>
            <a:ln w="0" cap="flat">
              <a:round/>
            </a:ln>
          </p:spPr>
          <p:style>
            <a:lnRef idx="0">
              <a:srgbClr val="000000">
                <a:alpha val="0"/>
              </a:srgbClr>
            </a:lnRef>
            <a:fillRef idx="1">
              <a:srgbClr val="FF0000"/>
            </a:fillRef>
            <a:effectRef idx="0">
              <a:scrgbClr r="0" g="0" b="0"/>
            </a:effectRef>
            <a:fontRef idx="none"/>
          </p:style>
          <p:txBody>
            <a:bodyPr/>
            <a:lstStyle/>
            <a:p>
              <a:pPr>
                <a:defRPr/>
              </a:pPr>
              <a:endParaRPr lang="en-US"/>
            </a:p>
          </p:txBody>
        </p:sp>
        <p:sp>
          <p:nvSpPr>
            <p:cNvPr id="12" name="Shape 538">
              <a:extLst>
                <a:ext uri="{FF2B5EF4-FFF2-40B4-BE49-F238E27FC236}">
                  <a16:creationId xmlns:a16="http://schemas.microsoft.com/office/drawing/2014/main" id="{787C4079-8FA0-7288-F0D4-0AB8B937CA05}"/>
                </a:ext>
              </a:extLst>
            </p:cNvPr>
            <p:cNvSpPr/>
            <p:nvPr/>
          </p:nvSpPr>
          <p:spPr>
            <a:xfrm>
              <a:off x="2194295" y="2004617"/>
              <a:ext cx="509674" cy="320612"/>
            </a:xfrm>
            <a:custGeom>
              <a:avLst/>
              <a:gdLst/>
              <a:ahLst/>
              <a:cxnLst/>
              <a:rect l="0" t="0" r="0" b="0"/>
              <a:pathLst>
                <a:path w="509107" h="321608">
                  <a:moveTo>
                    <a:pt x="339404" y="214406"/>
                  </a:moveTo>
                  <a:cubicBezTo>
                    <a:pt x="339404" y="155186"/>
                    <a:pt x="288745" y="107203"/>
                    <a:pt x="226270" y="107203"/>
                  </a:cubicBezTo>
                  <a:cubicBezTo>
                    <a:pt x="163773" y="107203"/>
                    <a:pt x="113135" y="155186"/>
                    <a:pt x="113135" y="214406"/>
                  </a:cubicBezTo>
                  <a:lnTo>
                    <a:pt x="0" y="214406"/>
                  </a:lnTo>
                  <a:cubicBezTo>
                    <a:pt x="0" y="95986"/>
                    <a:pt x="101298" y="0"/>
                    <a:pt x="226270" y="0"/>
                  </a:cubicBezTo>
                  <a:cubicBezTo>
                    <a:pt x="351220" y="0"/>
                    <a:pt x="452518" y="95986"/>
                    <a:pt x="452539" y="214386"/>
                  </a:cubicBezTo>
                  <a:lnTo>
                    <a:pt x="452539" y="214406"/>
                  </a:lnTo>
                  <a:lnTo>
                    <a:pt x="509107" y="214406"/>
                  </a:lnTo>
                  <a:lnTo>
                    <a:pt x="395972" y="321608"/>
                  </a:lnTo>
                  <a:lnTo>
                    <a:pt x="282837" y="214406"/>
                  </a:lnTo>
                  <a:lnTo>
                    <a:pt x="339404" y="214406"/>
                  </a:lnTo>
                  <a:close/>
                </a:path>
              </a:pathLst>
            </a:custGeom>
            <a:ln w="9525" cap="flat">
              <a:miter lim="101600"/>
            </a:ln>
          </p:spPr>
          <p:style>
            <a:lnRef idx="1">
              <a:srgbClr val="FF0000"/>
            </a:lnRef>
            <a:fillRef idx="0">
              <a:srgbClr val="000000">
                <a:alpha val="0"/>
              </a:srgbClr>
            </a:fillRef>
            <a:effectRef idx="0">
              <a:scrgbClr r="0" g="0" b="0"/>
            </a:effectRef>
            <a:fontRef idx="none"/>
          </p:style>
          <p:txBody>
            <a:bodyPr/>
            <a:lstStyle/>
            <a:p>
              <a:pPr>
                <a:defRPr/>
              </a:pPr>
              <a:endParaRPr lang="en-US"/>
            </a:p>
          </p:txBody>
        </p:sp>
        <p:sp>
          <p:nvSpPr>
            <p:cNvPr id="44043" name="Rectangle 12">
              <a:extLst>
                <a:ext uri="{FF2B5EF4-FFF2-40B4-BE49-F238E27FC236}">
                  <a16:creationId xmlns:a16="http://schemas.microsoft.com/office/drawing/2014/main" id="{327AFACC-C600-4A7E-AD75-BCD680A096F5}"/>
                </a:ext>
              </a:extLst>
            </p:cNvPr>
            <p:cNvSpPr>
              <a:spLocks noChangeArrowheads="1"/>
            </p:cNvSpPr>
            <p:nvPr/>
          </p:nvSpPr>
          <p:spPr bwMode="auto">
            <a:xfrm>
              <a:off x="3200650" y="2904292"/>
              <a:ext cx="338475" cy="22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1200" b="1">
                  <a:solidFill>
                    <a:srgbClr val="000000"/>
                  </a:solidFill>
                  <a:latin typeface="Times New Roman" panose="02020603050405020304" pitchFamily="18" charset="0"/>
                  <a:cs typeface="Times New Roman" panose="02020603050405020304" pitchFamily="18" charset="0"/>
                </a:rPr>
                <a:t>MU</a:t>
              </a:r>
              <a:endParaRPr lang="en-US" altLang="en-LK" sz="1100">
                <a:solidFill>
                  <a:srgbClr val="000000"/>
                </a:solidFill>
                <a:cs typeface="Calibri" panose="020F0502020204030204" pitchFamily="34" charset="0"/>
              </a:endParaRPr>
            </a:p>
          </p:txBody>
        </p:sp>
        <p:sp>
          <p:nvSpPr>
            <p:cNvPr id="14" name="Shape 5707">
              <a:extLst>
                <a:ext uri="{FF2B5EF4-FFF2-40B4-BE49-F238E27FC236}">
                  <a16:creationId xmlns:a16="http://schemas.microsoft.com/office/drawing/2014/main" id="{8CD3ADAB-1F1A-BAF2-DB07-FAD50BF57D41}"/>
                </a:ext>
              </a:extLst>
            </p:cNvPr>
            <p:cNvSpPr/>
            <p:nvPr/>
          </p:nvSpPr>
          <p:spPr>
            <a:xfrm>
              <a:off x="1340076" y="225381"/>
              <a:ext cx="1044751" cy="579323"/>
            </a:xfrm>
            <a:custGeom>
              <a:avLst/>
              <a:gdLst/>
              <a:ahLst/>
              <a:cxnLst/>
              <a:rect l="0" t="0" r="0" b="0"/>
              <a:pathLst>
                <a:path w="1045252" h="580478">
                  <a:moveTo>
                    <a:pt x="0" y="0"/>
                  </a:moveTo>
                  <a:lnTo>
                    <a:pt x="1045252" y="0"/>
                  </a:lnTo>
                  <a:lnTo>
                    <a:pt x="1045252" y="580478"/>
                  </a:lnTo>
                  <a:lnTo>
                    <a:pt x="0" y="580478"/>
                  </a:lnTo>
                  <a:lnTo>
                    <a:pt x="0" y="0"/>
                  </a:lnTo>
                </a:path>
              </a:pathLst>
            </a:custGeom>
            <a:ln w="0" cap="flat">
              <a:miter lim="101600"/>
            </a:ln>
          </p:spPr>
          <p:style>
            <a:lnRef idx="0">
              <a:srgbClr val="000000">
                <a:alpha val="0"/>
              </a:srgbClr>
            </a:lnRef>
            <a:fillRef idx="1">
              <a:srgbClr val="FFFFFF"/>
            </a:fillRef>
            <a:effectRef idx="0">
              <a:scrgbClr r="0" g="0" b="0"/>
            </a:effectRef>
            <a:fontRef idx="none"/>
          </p:style>
          <p:txBody>
            <a:bodyPr/>
            <a:lstStyle/>
            <a:p>
              <a:pPr>
                <a:defRPr/>
              </a:pPr>
              <a:endParaRPr lang="en-US"/>
            </a:p>
          </p:txBody>
        </p:sp>
        <p:sp>
          <p:nvSpPr>
            <p:cNvPr id="44045" name="Rectangle 14">
              <a:extLst>
                <a:ext uri="{FF2B5EF4-FFF2-40B4-BE49-F238E27FC236}">
                  <a16:creationId xmlns:a16="http://schemas.microsoft.com/office/drawing/2014/main" id="{4C4D628D-F12A-6CE3-1620-6CA22221B8EA}"/>
                </a:ext>
              </a:extLst>
            </p:cNvPr>
            <p:cNvSpPr>
              <a:spLocks noChangeArrowheads="1"/>
            </p:cNvSpPr>
            <p:nvPr/>
          </p:nvSpPr>
          <p:spPr bwMode="auto">
            <a:xfrm>
              <a:off x="1431164" y="271859"/>
              <a:ext cx="1036972" cy="494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400" b="1">
                  <a:solidFill>
                    <a:srgbClr val="000000"/>
                  </a:solidFill>
                  <a:cs typeface="Calibri" panose="020F0502020204030204" pitchFamily="34" charset="0"/>
                </a:rPr>
                <a:t>MU=P</a:t>
              </a:r>
              <a:endParaRPr lang="en-US" altLang="en-LK" sz="1100">
                <a:solidFill>
                  <a:srgbClr val="000000"/>
                </a:solidFill>
                <a:cs typeface="Calibri" panose="020F0502020204030204" pitchFamily="34" charset="0"/>
              </a:endParaRPr>
            </a:p>
          </p:txBody>
        </p:sp>
        <p:sp>
          <p:nvSpPr>
            <p:cNvPr id="16" name="Shape 542">
              <a:extLst>
                <a:ext uri="{FF2B5EF4-FFF2-40B4-BE49-F238E27FC236}">
                  <a16:creationId xmlns:a16="http://schemas.microsoft.com/office/drawing/2014/main" id="{E532C3EB-0FA8-F0C6-870A-E66DBDF87DF2}"/>
                </a:ext>
              </a:extLst>
            </p:cNvPr>
            <p:cNvSpPr/>
            <p:nvPr/>
          </p:nvSpPr>
          <p:spPr>
            <a:xfrm>
              <a:off x="636695" y="2444268"/>
              <a:ext cx="3337488" cy="0"/>
            </a:xfrm>
            <a:custGeom>
              <a:avLst/>
              <a:gdLst/>
              <a:ahLst/>
              <a:cxnLst/>
              <a:rect l="0" t="0" r="0" b="0"/>
              <a:pathLst>
                <a:path w="3337365" h="1">
                  <a:moveTo>
                    <a:pt x="0" y="0"/>
                  </a:moveTo>
                  <a:lnTo>
                    <a:pt x="3337365" y="1"/>
                  </a:lnTo>
                </a:path>
              </a:pathLst>
            </a:custGeom>
            <a:ln w="9525" cap="flat">
              <a:round/>
            </a:ln>
          </p:spPr>
          <p:style>
            <a:lnRef idx="1">
              <a:srgbClr val="000000"/>
            </a:lnRef>
            <a:fillRef idx="0">
              <a:srgbClr val="000000">
                <a:alpha val="0"/>
              </a:srgbClr>
            </a:fillRef>
            <a:effectRef idx="0">
              <a:scrgbClr r="0" g="0" b="0"/>
            </a:effectRef>
            <a:fontRef idx="none"/>
          </p:style>
          <p:txBody>
            <a:bodyPr/>
            <a:lstStyle/>
            <a:p>
              <a:pPr>
                <a:defRPr/>
              </a:pPr>
              <a:endParaRPr lang="en-US"/>
            </a:p>
          </p:txBody>
        </p:sp>
        <p:sp>
          <p:nvSpPr>
            <p:cNvPr id="44047" name="Rectangle 16">
              <a:extLst>
                <a:ext uri="{FF2B5EF4-FFF2-40B4-BE49-F238E27FC236}">
                  <a16:creationId xmlns:a16="http://schemas.microsoft.com/office/drawing/2014/main" id="{AF662844-DCA0-5EEB-A122-CE04A2855478}"/>
                </a:ext>
              </a:extLst>
            </p:cNvPr>
            <p:cNvSpPr>
              <a:spLocks noChangeArrowheads="1"/>
            </p:cNvSpPr>
            <p:nvPr/>
          </p:nvSpPr>
          <p:spPr bwMode="auto">
            <a:xfrm>
              <a:off x="4241576" y="2216084"/>
              <a:ext cx="515379" cy="412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2000">
                  <a:solidFill>
                    <a:srgbClr val="000000"/>
                  </a:solidFill>
                  <a:cs typeface="Calibri" panose="020F0502020204030204" pitchFamily="34" charset="0"/>
                </a:rPr>
                <a:t>P=4</a:t>
              </a:r>
              <a:endParaRPr lang="en-US" altLang="en-LK" sz="1100">
                <a:solidFill>
                  <a:srgbClr val="000000"/>
                </a:solidFill>
                <a:cs typeface="Calibri" panose="020F0502020204030204" pitchFamily="34" charset="0"/>
              </a:endParaRPr>
            </a:p>
          </p:txBody>
        </p:sp>
        <p:sp>
          <p:nvSpPr>
            <p:cNvPr id="44048" name="Rectangle 17">
              <a:extLst>
                <a:ext uri="{FF2B5EF4-FFF2-40B4-BE49-F238E27FC236}">
                  <a16:creationId xmlns:a16="http://schemas.microsoft.com/office/drawing/2014/main" id="{55BFFE39-6F84-2F29-41C5-F364DB9E9EA2}"/>
                </a:ext>
              </a:extLst>
            </p:cNvPr>
            <p:cNvSpPr>
              <a:spLocks noChangeArrowheads="1"/>
            </p:cNvSpPr>
            <p:nvPr/>
          </p:nvSpPr>
          <p:spPr bwMode="auto">
            <a:xfrm>
              <a:off x="2485069" y="3447077"/>
              <a:ext cx="137020" cy="329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7000"/>
                </a:lnSpc>
                <a:spcBef>
                  <a:spcPct val="0"/>
                </a:spcBef>
                <a:spcAft>
                  <a:spcPts val="800"/>
                </a:spcAft>
                <a:buFontTx/>
                <a:buNone/>
              </a:pPr>
              <a:r>
                <a:rPr lang="en-US" altLang="en-LK" sz="1600">
                  <a:solidFill>
                    <a:srgbClr val="000000"/>
                  </a:solidFill>
                  <a:cs typeface="Calibri" panose="020F0502020204030204" pitchFamily="34" charset="0"/>
                </a:rPr>
                <a:t>3</a:t>
              </a:r>
              <a:endParaRPr lang="en-US" altLang="en-LK" sz="1100">
                <a:solidFill>
                  <a:srgbClr val="000000"/>
                </a:solidFill>
                <a:cs typeface="Calibri" panose="020F0502020204030204" pitchFamily="34" charset="0"/>
              </a:endParaRPr>
            </a:p>
          </p:txBody>
        </p:sp>
        <p:sp>
          <p:nvSpPr>
            <p:cNvPr id="19" name="Shape 545">
              <a:extLst>
                <a:ext uri="{FF2B5EF4-FFF2-40B4-BE49-F238E27FC236}">
                  <a16:creationId xmlns:a16="http://schemas.microsoft.com/office/drawing/2014/main" id="{3F8A1940-3023-66F0-12C8-F7CE1C9BBCAE}"/>
                </a:ext>
              </a:extLst>
            </p:cNvPr>
            <p:cNvSpPr/>
            <p:nvPr/>
          </p:nvSpPr>
          <p:spPr>
            <a:xfrm>
              <a:off x="2569008" y="2444268"/>
              <a:ext cx="1588" cy="958661"/>
            </a:xfrm>
            <a:custGeom>
              <a:avLst/>
              <a:gdLst/>
              <a:ahLst/>
              <a:cxnLst/>
              <a:rect l="0" t="0" r="0" b="0"/>
              <a:pathLst>
                <a:path w="865" h="958005">
                  <a:moveTo>
                    <a:pt x="0" y="0"/>
                  </a:moveTo>
                  <a:lnTo>
                    <a:pt x="865" y="958005"/>
                  </a:lnTo>
                </a:path>
              </a:pathLst>
            </a:custGeom>
            <a:ln w="9525" cap="flat">
              <a:custDash>
                <a:ds d="75000" sp="75000"/>
              </a:custDash>
              <a:round/>
            </a:ln>
          </p:spPr>
          <p:style>
            <a:lnRef idx="1">
              <a:srgbClr val="000000"/>
            </a:lnRef>
            <a:fillRef idx="0">
              <a:srgbClr val="000000">
                <a:alpha val="0"/>
              </a:srgbClr>
            </a:fillRef>
            <a:effectRef idx="0">
              <a:scrgbClr r="0" g="0" b="0"/>
            </a:effectRef>
            <a:fontRef idx="none"/>
          </p:style>
          <p:txBody>
            <a:bodyPr/>
            <a:lstStyle/>
            <a:p>
              <a:pPr>
                <a:defRPr/>
              </a:pPr>
              <a:endParaRPr lang="en-US"/>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064" name="Rectangle 45063">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8" name="Title 1">
            <a:extLst>
              <a:ext uri="{FF2B5EF4-FFF2-40B4-BE49-F238E27FC236}">
                <a16:creationId xmlns:a16="http://schemas.microsoft.com/office/drawing/2014/main" id="{4C64C53C-8E3F-8D4C-EFB8-371D2E241A78}"/>
              </a:ext>
            </a:extLst>
          </p:cNvPr>
          <p:cNvSpPr>
            <a:spLocks noGrp="1" noChangeArrowheads="1"/>
          </p:cNvSpPr>
          <p:nvPr>
            <p:ph type="title"/>
          </p:nvPr>
        </p:nvSpPr>
        <p:spPr>
          <a:xfrm>
            <a:off x="411480" y="987552"/>
            <a:ext cx="4485861" cy="1088136"/>
          </a:xfrm>
        </p:spPr>
        <p:txBody>
          <a:bodyPr anchor="b">
            <a:normAutofit/>
          </a:bodyPr>
          <a:lstStyle/>
          <a:p>
            <a:r>
              <a:rPr lang="en-US" altLang="en-LK" sz="3600" b="1" dirty="0">
                <a:latin typeface="Times New Roman" panose="02020603050405020304" pitchFamily="18" charset="0"/>
                <a:cs typeface="Times New Roman" panose="02020603050405020304" pitchFamily="18" charset="0"/>
              </a:rPr>
              <a:t>Consumer Surplus</a:t>
            </a:r>
          </a:p>
        </p:txBody>
      </p:sp>
      <p:sp>
        <p:nvSpPr>
          <p:cNvPr id="45066" name="Rectangle 45065">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068" name="Rectangle 45067">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059" name="Content Placeholder 2">
            <a:extLst>
              <a:ext uri="{FF2B5EF4-FFF2-40B4-BE49-F238E27FC236}">
                <a16:creationId xmlns:a16="http://schemas.microsoft.com/office/drawing/2014/main" id="{0B80821E-977C-4910-9FA9-A15598CF4A87}"/>
              </a:ext>
            </a:extLst>
          </p:cNvPr>
          <p:cNvSpPr>
            <a:spLocks noGrp="1" noChangeArrowheads="1"/>
          </p:cNvSpPr>
          <p:nvPr>
            <p:ph idx="1"/>
          </p:nvPr>
        </p:nvSpPr>
        <p:spPr>
          <a:xfrm>
            <a:off x="411478" y="2688336"/>
            <a:ext cx="4782313" cy="3584448"/>
          </a:xfrm>
        </p:spPr>
        <p:txBody>
          <a:bodyPr anchor="t">
            <a:normAutofit/>
          </a:bodyPr>
          <a:lstStyle/>
          <a:p>
            <a:pPr algn="just"/>
            <a:r>
              <a:rPr lang="en-US" altLang="en-LK" sz="2400">
                <a:latin typeface="Times New Roman" panose="02020603050405020304" pitchFamily="18" charset="0"/>
                <a:ea typeface="Lucida Sans Unicode" panose="020B0602030504020204" pitchFamily="34" charset="0"/>
                <a:cs typeface="Times New Roman" panose="02020603050405020304" pitchFamily="18" charset="0"/>
              </a:rPr>
              <a:t>The difference between what a consumer is willing to pay for an addition unit of a good and the market price that he/she actually pays is referred to as “consumer surplus”.</a:t>
            </a:r>
          </a:p>
          <a:p>
            <a:pPr algn="just"/>
            <a:r>
              <a:rPr lang="en-US" altLang="en-LK" sz="2400">
                <a:latin typeface="Times New Roman" panose="02020603050405020304" pitchFamily="18" charset="0"/>
                <a:ea typeface="Lucida Sans Unicode" panose="020B0602030504020204" pitchFamily="34" charset="0"/>
                <a:cs typeface="Times New Roman" panose="02020603050405020304" pitchFamily="18" charset="0"/>
              </a:rPr>
              <a:t>The area between the demand curve and the price (line) measures the total consumer surplus</a:t>
            </a:r>
          </a:p>
        </p:txBody>
      </p:sp>
      <p:pic>
        <p:nvPicPr>
          <p:cNvPr id="5" name="Picture 4" descr="Woman browsing store shelves">
            <a:extLst>
              <a:ext uri="{FF2B5EF4-FFF2-40B4-BE49-F238E27FC236}">
                <a16:creationId xmlns:a16="http://schemas.microsoft.com/office/drawing/2014/main" id="{E73183F6-9B0E-9E74-0699-20EA795B57E5}"/>
              </a:ext>
            </a:extLst>
          </p:cNvPr>
          <p:cNvPicPr>
            <a:picLocks noChangeAspect="1"/>
          </p:cNvPicPr>
          <p:nvPr/>
        </p:nvPicPr>
        <p:blipFill rotWithShape="1">
          <a:blip r:embed="rId2"/>
          <a:srcRect l="21479" r="11517" b="-1"/>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CAF0C649-F712-A22D-6E0E-72C54498A99E}"/>
              </a:ext>
            </a:extLst>
          </p:cNvPr>
          <p:cNvSpPr>
            <a:spLocks noGrp="1" noChangeArrowheads="1"/>
          </p:cNvSpPr>
          <p:nvPr>
            <p:ph type="title"/>
          </p:nvPr>
        </p:nvSpPr>
        <p:spPr/>
        <p:txBody>
          <a:bodyPr/>
          <a:lstStyle/>
          <a:p>
            <a:r>
              <a:rPr lang="en-US" altLang="en-LK" b="1">
                <a:latin typeface="Times New Roman" panose="02020603050405020304" pitchFamily="18" charset="0"/>
                <a:cs typeface="Times New Roman" panose="02020603050405020304" pitchFamily="18" charset="0"/>
              </a:rPr>
              <a:t>Optimum Purchasing Rule</a:t>
            </a:r>
          </a:p>
        </p:txBody>
      </p:sp>
      <p:sp>
        <p:nvSpPr>
          <p:cNvPr id="3" name="Content Placeholder 2">
            <a:extLst>
              <a:ext uri="{FF2B5EF4-FFF2-40B4-BE49-F238E27FC236}">
                <a16:creationId xmlns:a16="http://schemas.microsoft.com/office/drawing/2014/main" id="{DD024DF5-4862-3225-6A7D-2E4038C9D938}"/>
              </a:ext>
            </a:extLst>
          </p:cNvPr>
          <p:cNvSpPr>
            <a:spLocks noGrp="1"/>
          </p:cNvSpPr>
          <p:nvPr>
            <p:ph idx="1"/>
          </p:nvPr>
        </p:nvSpPr>
        <p:spPr>
          <a:xfrm>
            <a:off x="838200" y="1825625"/>
            <a:ext cx="10515600" cy="4884738"/>
          </a:xfrm>
        </p:spPr>
        <p:txBody>
          <a:bodyPr>
            <a:normAutofit/>
          </a:bodyPr>
          <a:lstStyle/>
          <a:p>
            <a:pPr>
              <a:defRPr/>
            </a:pPr>
            <a:r>
              <a:rPr lang="en-US" sz="3000" dirty="0">
                <a:solidFill>
                  <a:srgbClr val="000000"/>
                </a:solidFill>
                <a:latin typeface="Times New Roman" panose="02020603050405020304" pitchFamily="18" charset="0"/>
                <a:ea typeface="Lucida Sans Unicode" panose="020B0602030504020204" pitchFamily="34" charset="0"/>
                <a:cs typeface="Times New Roman" panose="02020603050405020304" pitchFamily="18" charset="0"/>
              </a:rPr>
              <a:t>Purchase buns and socks until the</a:t>
            </a:r>
          </a:p>
          <a:p>
            <a:pPr>
              <a:defRPr/>
            </a:pPr>
            <a:endParaRPr lang="en-US" sz="3000" dirty="0">
              <a:solidFill>
                <a:srgbClr val="FF0000"/>
              </a:solidFill>
              <a:latin typeface="Times New Roman" panose="02020603050405020304" pitchFamily="18" charset="0"/>
              <a:ea typeface="Arial" panose="020B0604020202020204" pitchFamily="34" charset="0"/>
              <a:cs typeface="Times New Roman" panose="02020603050405020304" pitchFamily="18" charset="0"/>
            </a:endParaRPr>
          </a:p>
          <a:p>
            <a:pPr>
              <a:defRPr/>
            </a:pPr>
            <a:endParaRPr lang="en-US" sz="3000" dirty="0">
              <a:solidFill>
                <a:srgbClr val="FF0000"/>
              </a:solidFill>
              <a:latin typeface="Times New Roman" panose="02020603050405020304" pitchFamily="18" charset="0"/>
              <a:ea typeface="Arial" panose="020B0604020202020204" pitchFamily="34" charset="0"/>
              <a:cs typeface="Times New Roman" panose="02020603050405020304" pitchFamily="18" charset="0"/>
            </a:endParaRPr>
          </a:p>
          <a:p>
            <a:pPr>
              <a:defRPr/>
            </a:pPr>
            <a:endParaRPr lang="en-US" sz="3000" dirty="0">
              <a:solidFill>
                <a:srgbClr val="FF0000"/>
              </a:solidFill>
              <a:latin typeface="Times New Roman" panose="02020603050405020304" pitchFamily="18" charset="0"/>
              <a:ea typeface="Arial" panose="020B0604020202020204" pitchFamily="34" charset="0"/>
              <a:cs typeface="Times New Roman" panose="02020603050405020304" pitchFamily="18" charset="0"/>
            </a:endParaRPr>
          </a:p>
          <a:p>
            <a:pPr>
              <a:defRPr/>
            </a:pPr>
            <a:endParaRPr lang="en-US" sz="3000" dirty="0">
              <a:solidFill>
                <a:srgbClr val="FF0000"/>
              </a:solidFill>
              <a:latin typeface="Times New Roman" panose="02020603050405020304" pitchFamily="18" charset="0"/>
              <a:ea typeface="Arial" panose="020B0604020202020204" pitchFamily="34" charset="0"/>
              <a:cs typeface="Times New Roman" panose="02020603050405020304" pitchFamily="18" charset="0"/>
            </a:endParaRPr>
          </a:p>
          <a:p>
            <a:pPr>
              <a:defRPr/>
            </a:pPr>
            <a:endParaRPr lang="en-US" sz="3000" dirty="0">
              <a:solidFill>
                <a:srgbClr val="FF0000"/>
              </a:solidFill>
              <a:latin typeface="Times New Roman" panose="02020603050405020304" pitchFamily="18" charset="0"/>
              <a:ea typeface="Arial" panose="020B0604020202020204" pitchFamily="34" charset="0"/>
              <a:cs typeface="Times New Roman" panose="02020603050405020304" pitchFamily="18" charset="0"/>
            </a:endParaRPr>
          </a:p>
          <a:p>
            <a:pPr>
              <a:defRPr/>
            </a:pPr>
            <a:endParaRPr lang="en-US" sz="3000" dirty="0">
              <a:solidFill>
                <a:srgbClr val="FF0000"/>
              </a:solidFill>
              <a:latin typeface="Times New Roman" panose="02020603050405020304" pitchFamily="18" charset="0"/>
              <a:ea typeface="Arial" panose="020B0604020202020204" pitchFamily="34" charset="0"/>
              <a:cs typeface="Times New Roman" panose="02020603050405020304" pitchFamily="18" charset="0"/>
            </a:endParaRPr>
          </a:p>
          <a:p>
            <a:pPr>
              <a:defRPr/>
            </a:pPr>
            <a:r>
              <a:rPr lang="en-US" sz="3000"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When two or more goods are purchased, it is called, </a:t>
            </a:r>
            <a:endParaRPr lang="en-US" sz="3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639445" indent="0" algn="ctr">
              <a:lnSpc>
                <a:spcPct val="107000"/>
              </a:lnSpc>
              <a:spcBef>
                <a:spcPts val="0"/>
              </a:spcBef>
              <a:spcAft>
                <a:spcPts val="0"/>
              </a:spcAft>
              <a:buFont typeface="Arial" panose="020B0604020202020204" pitchFamily="34" charset="0"/>
              <a:buNone/>
              <a:defRPr/>
            </a:pPr>
            <a:r>
              <a:rPr lang="en-US" sz="3000" dirty="0" err="1">
                <a:solidFill>
                  <a:srgbClr val="FF0000"/>
                </a:solidFill>
                <a:latin typeface="Times New Roman" panose="02020603050405020304" pitchFamily="18" charset="0"/>
                <a:ea typeface="Arial" panose="020B0604020202020204" pitchFamily="34" charset="0"/>
                <a:cs typeface="Times New Roman" panose="02020603050405020304" pitchFamily="18" charset="0"/>
              </a:rPr>
              <a:t>Equi</a:t>
            </a:r>
            <a:r>
              <a:rPr lang="en-US" sz="3000"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 - Proportional Utility Rule</a:t>
            </a:r>
            <a:endParaRPr lang="en-US" sz="3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Font typeface="Arial" panose="020B0604020202020204" pitchFamily="34" charset="0"/>
              <a:buNone/>
              <a:defRPr/>
            </a:pPr>
            <a:endParaRPr lang="en-US" sz="3000" dirty="0">
              <a:latin typeface="Times New Roman" panose="02020603050405020304" pitchFamily="18" charset="0"/>
              <a:cs typeface="Times New Roman" panose="02020603050405020304" pitchFamily="18" charset="0"/>
            </a:endParaRPr>
          </a:p>
        </p:txBody>
      </p:sp>
      <p:pic>
        <p:nvPicPr>
          <p:cNvPr id="46083" name="Picture 5">
            <a:extLst>
              <a:ext uri="{FF2B5EF4-FFF2-40B4-BE49-F238E27FC236}">
                <a16:creationId xmlns:a16="http://schemas.microsoft.com/office/drawing/2014/main" id="{A4159AAD-64C3-1036-60BC-084D954E6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0288" y="2398713"/>
            <a:ext cx="65214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Content Placeholder 2">
            <a:extLst>
              <a:ext uri="{FF2B5EF4-FFF2-40B4-BE49-F238E27FC236}">
                <a16:creationId xmlns:a16="http://schemas.microsoft.com/office/drawing/2014/main" id="{D4902649-B7E1-790F-8363-241FC0253497}"/>
              </a:ext>
            </a:extLst>
          </p:cNvPr>
          <p:cNvSpPr>
            <a:spLocks noGrp="1" noChangeArrowheads="1"/>
          </p:cNvSpPr>
          <p:nvPr>
            <p:ph idx="1"/>
          </p:nvPr>
        </p:nvSpPr>
        <p:spPr/>
        <p:txBody>
          <a:bodyPr/>
          <a:lstStyle/>
          <a:p>
            <a:pPr marL="2322513" indent="0">
              <a:lnSpc>
                <a:spcPct val="105000"/>
              </a:lnSpc>
              <a:spcBef>
                <a:spcPct val="0"/>
              </a:spcBef>
              <a:buFont typeface="Arial" panose="020B0604020202020204" pitchFamily="34" charset="0"/>
              <a:buNone/>
            </a:pPr>
            <a:endParaRPr lang="en-US" altLang="en-LK" sz="1800" dirty="0">
              <a:solidFill>
                <a:srgbClr val="FF0000"/>
              </a:solidFill>
              <a:latin typeface="Arial" panose="020B0604020202020204" pitchFamily="34" charset="0"/>
              <a:cs typeface="Arial" panose="020B0604020202020204" pitchFamily="34" charset="0"/>
            </a:endParaRPr>
          </a:p>
          <a:p>
            <a:pPr marL="2322513" indent="0">
              <a:lnSpc>
                <a:spcPct val="105000"/>
              </a:lnSpc>
              <a:spcBef>
                <a:spcPct val="0"/>
              </a:spcBef>
              <a:buFont typeface="Arial" panose="020B0604020202020204" pitchFamily="34" charset="0"/>
              <a:buNone/>
            </a:pPr>
            <a:endParaRPr lang="en-US" altLang="en-LK" sz="1800" dirty="0">
              <a:solidFill>
                <a:srgbClr val="FF0000"/>
              </a:solidFill>
              <a:latin typeface="Arial" panose="020B0604020202020204" pitchFamily="34" charset="0"/>
              <a:cs typeface="Arial" panose="020B0604020202020204" pitchFamily="34" charset="0"/>
            </a:endParaRPr>
          </a:p>
          <a:p>
            <a:pPr marL="2322513" indent="0">
              <a:lnSpc>
                <a:spcPct val="105000"/>
              </a:lnSpc>
              <a:spcBef>
                <a:spcPct val="0"/>
              </a:spcBef>
              <a:buFont typeface="Arial" panose="020B0604020202020204" pitchFamily="34" charset="0"/>
              <a:buNone/>
            </a:pPr>
            <a:endParaRPr lang="en-US" altLang="en-LK" sz="1800" dirty="0">
              <a:solidFill>
                <a:srgbClr val="FF0000"/>
              </a:solidFill>
              <a:latin typeface="Arial" panose="020B0604020202020204" pitchFamily="34" charset="0"/>
              <a:cs typeface="Arial" panose="020B0604020202020204" pitchFamily="34" charset="0"/>
            </a:endParaRPr>
          </a:p>
          <a:p>
            <a:pPr marL="2322513" indent="0">
              <a:lnSpc>
                <a:spcPct val="105000"/>
              </a:lnSpc>
              <a:spcBef>
                <a:spcPct val="0"/>
              </a:spcBef>
              <a:buFont typeface="Arial" panose="020B0604020202020204" pitchFamily="34" charset="0"/>
              <a:buNone/>
            </a:pPr>
            <a:endParaRPr lang="en-US" altLang="en-LK" sz="1800" dirty="0">
              <a:solidFill>
                <a:srgbClr val="FF0000"/>
              </a:solidFill>
              <a:latin typeface="Arial" panose="020B0604020202020204" pitchFamily="34" charset="0"/>
              <a:cs typeface="Arial" panose="020B0604020202020204" pitchFamily="34" charset="0"/>
            </a:endParaRPr>
          </a:p>
          <a:p>
            <a:pPr marL="2322513" indent="0">
              <a:lnSpc>
                <a:spcPct val="105000"/>
              </a:lnSpc>
              <a:spcBef>
                <a:spcPct val="0"/>
              </a:spcBef>
              <a:buFont typeface="Arial" panose="020B0604020202020204" pitchFamily="34" charset="0"/>
              <a:buNone/>
            </a:pPr>
            <a:endParaRPr lang="en-US" altLang="en-LK" sz="1800" dirty="0">
              <a:solidFill>
                <a:srgbClr val="FF0000"/>
              </a:solidFill>
              <a:latin typeface="Arial" panose="020B0604020202020204" pitchFamily="34" charset="0"/>
              <a:cs typeface="Arial" panose="020B0604020202020204" pitchFamily="34" charset="0"/>
            </a:endParaRPr>
          </a:p>
          <a:p>
            <a:pPr marL="2322513" indent="0">
              <a:lnSpc>
                <a:spcPct val="105000"/>
              </a:lnSpc>
              <a:spcBef>
                <a:spcPct val="0"/>
              </a:spcBef>
              <a:buFont typeface="Arial" panose="020B0604020202020204" pitchFamily="34" charset="0"/>
              <a:buNone/>
            </a:pPr>
            <a:endParaRPr lang="en-US" altLang="en-LK" sz="1800" dirty="0">
              <a:solidFill>
                <a:srgbClr val="FF0000"/>
              </a:solidFill>
              <a:latin typeface="Arial" panose="020B0604020202020204" pitchFamily="34" charset="0"/>
              <a:cs typeface="Arial" panose="020B0604020202020204" pitchFamily="34" charset="0"/>
            </a:endParaRPr>
          </a:p>
          <a:p>
            <a:pPr marL="2322513" indent="0">
              <a:lnSpc>
                <a:spcPct val="105000"/>
              </a:lnSpc>
              <a:spcBef>
                <a:spcPct val="0"/>
              </a:spcBef>
              <a:buFont typeface="Arial" panose="020B0604020202020204" pitchFamily="34" charset="0"/>
              <a:buNone/>
            </a:pPr>
            <a:endParaRPr lang="en-US" altLang="en-LK" sz="1800" dirty="0">
              <a:solidFill>
                <a:srgbClr val="FF0000"/>
              </a:solidFill>
              <a:latin typeface="Arial" panose="020B0604020202020204" pitchFamily="34" charset="0"/>
              <a:cs typeface="Arial" panose="020B0604020202020204" pitchFamily="34" charset="0"/>
            </a:endParaRPr>
          </a:p>
          <a:p>
            <a:pPr marL="2322513" indent="0">
              <a:lnSpc>
                <a:spcPct val="105000"/>
              </a:lnSpc>
              <a:spcBef>
                <a:spcPct val="0"/>
              </a:spcBef>
              <a:buFont typeface="Arial" panose="020B0604020202020204" pitchFamily="34" charset="0"/>
              <a:buNone/>
            </a:pPr>
            <a:endParaRPr lang="en-US" altLang="en-LK" sz="1800" dirty="0">
              <a:solidFill>
                <a:srgbClr val="FF0000"/>
              </a:solidFill>
              <a:latin typeface="Arial" panose="020B0604020202020204" pitchFamily="34" charset="0"/>
              <a:cs typeface="Arial" panose="020B0604020202020204" pitchFamily="34" charset="0"/>
            </a:endParaRPr>
          </a:p>
          <a:p>
            <a:pPr marL="2322513" indent="0">
              <a:lnSpc>
                <a:spcPct val="105000"/>
              </a:lnSpc>
              <a:spcBef>
                <a:spcPct val="0"/>
              </a:spcBef>
              <a:buFont typeface="Arial" panose="020B0604020202020204" pitchFamily="34" charset="0"/>
              <a:buNone/>
            </a:pPr>
            <a:endParaRPr lang="en-US" altLang="en-LK" sz="1800" dirty="0">
              <a:solidFill>
                <a:srgbClr val="FF0000"/>
              </a:solidFill>
              <a:latin typeface="Arial" panose="020B0604020202020204" pitchFamily="34" charset="0"/>
              <a:cs typeface="Arial" panose="020B0604020202020204" pitchFamily="34" charset="0"/>
            </a:endParaRPr>
          </a:p>
          <a:p>
            <a:pPr marL="2322513" indent="0"/>
            <a:endParaRPr lang="en-US" altLang="en-LK" dirty="0"/>
          </a:p>
        </p:txBody>
      </p:sp>
      <p:pic>
        <p:nvPicPr>
          <p:cNvPr id="47106" name="Picture 3">
            <a:extLst>
              <a:ext uri="{FF2B5EF4-FFF2-40B4-BE49-F238E27FC236}">
                <a16:creationId xmlns:a16="http://schemas.microsoft.com/office/drawing/2014/main" id="{A652D285-4ADB-6B80-7544-E958674FD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6488" y="230188"/>
            <a:ext cx="7439025"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4">
            <a:extLst>
              <a:ext uri="{FF2B5EF4-FFF2-40B4-BE49-F238E27FC236}">
                <a16:creationId xmlns:a16="http://schemas.microsoft.com/office/drawing/2014/main" id="{EDB6BE87-493B-0AF7-9401-1D36980483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6866" y="4478337"/>
            <a:ext cx="6399212"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CC476557-2FFB-6179-538F-7CA5C79A4358}"/>
              </a:ext>
            </a:extLst>
          </p:cNvPr>
          <p:cNvSpPr>
            <a:spLocks noChangeArrowheads="1"/>
          </p:cNvSpPr>
          <p:nvPr/>
        </p:nvSpPr>
        <p:spPr bwMode="auto">
          <a:xfrm>
            <a:off x="381000" y="579438"/>
            <a:ext cx="112014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80000"/>
              </a:lnSpc>
              <a:spcBef>
                <a:spcPct val="0"/>
              </a:spcBef>
              <a:buFontTx/>
              <a:buNone/>
            </a:pPr>
            <a:r>
              <a:rPr lang="en-US" altLang="en-US" sz="5400" b="1">
                <a:latin typeface="Times New Roman" panose="02020603050405020304" pitchFamily="18" charset="0"/>
                <a:cs typeface="Times New Roman" panose="02020603050405020304" pitchFamily="18" charset="0"/>
              </a:rPr>
              <a:t>Consumer Choice and Budget Constraints</a:t>
            </a:r>
          </a:p>
        </p:txBody>
      </p:sp>
      <p:sp>
        <p:nvSpPr>
          <p:cNvPr id="23556" name="Rectangle 4">
            <a:extLst>
              <a:ext uri="{FF2B5EF4-FFF2-40B4-BE49-F238E27FC236}">
                <a16:creationId xmlns:a16="http://schemas.microsoft.com/office/drawing/2014/main" id="{67BC92ED-9CA7-3171-A40A-8AF2DCCA43AF}"/>
              </a:ext>
            </a:extLst>
          </p:cNvPr>
          <p:cNvSpPr>
            <a:spLocks noChangeArrowheads="1"/>
          </p:cNvSpPr>
          <p:nvPr/>
        </p:nvSpPr>
        <p:spPr bwMode="auto">
          <a:xfrm>
            <a:off x="533400" y="2201863"/>
            <a:ext cx="11734800" cy="341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338138" indent="-338138">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a:latin typeface="Times New Roman" panose="02020603050405020304" pitchFamily="18" charset="0"/>
                <a:cs typeface="Times New Roman" panose="02020603050405020304" pitchFamily="18" charset="0"/>
              </a:rPr>
              <a:t>For simplicity, assume the following for the typical consumer:</a:t>
            </a:r>
          </a:p>
          <a:p>
            <a:pPr lvl="1" eaLnBrk="1" hangingPunct="1">
              <a:lnSpc>
                <a:spcPct val="100000"/>
              </a:lnSpc>
              <a:spcBef>
                <a:spcPct val="0"/>
              </a:spcBef>
              <a:buFontTx/>
              <a:buChar char="•"/>
            </a:pPr>
            <a:r>
              <a:rPr lang="en-US" altLang="en-US" sz="3600">
                <a:latin typeface="Times New Roman" panose="02020603050405020304" pitchFamily="18" charset="0"/>
                <a:cs typeface="Times New Roman" panose="02020603050405020304" pitchFamily="18" charset="0"/>
              </a:rPr>
              <a:t>Rational Behavior – want to maximize total utility</a:t>
            </a:r>
          </a:p>
          <a:p>
            <a:pPr lvl="1" eaLnBrk="1" hangingPunct="1">
              <a:lnSpc>
                <a:spcPct val="100000"/>
              </a:lnSpc>
              <a:spcBef>
                <a:spcPct val="0"/>
              </a:spcBef>
              <a:buFontTx/>
              <a:buChar char="•"/>
            </a:pPr>
            <a:r>
              <a:rPr lang="en-US" altLang="en-US" sz="3600">
                <a:latin typeface="Times New Roman" panose="02020603050405020304" pitchFamily="18" charset="0"/>
                <a:cs typeface="Times New Roman" panose="02020603050405020304" pitchFamily="18" charset="0"/>
              </a:rPr>
              <a:t>Clear-cut Preferences</a:t>
            </a:r>
          </a:p>
          <a:p>
            <a:pPr lvl="1" eaLnBrk="1" hangingPunct="1">
              <a:lnSpc>
                <a:spcPct val="100000"/>
              </a:lnSpc>
              <a:spcBef>
                <a:spcPct val="0"/>
              </a:spcBef>
              <a:buFontTx/>
              <a:buChar char="•"/>
            </a:pPr>
            <a:r>
              <a:rPr lang="en-US" altLang="en-US" sz="3600">
                <a:latin typeface="Times New Roman" panose="02020603050405020304" pitchFamily="18" charset="0"/>
                <a:cs typeface="Times New Roman" panose="02020603050405020304" pitchFamily="18" charset="0"/>
              </a:rPr>
              <a:t>Budget Constraint (limited income)</a:t>
            </a:r>
          </a:p>
          <a:p>
            <a:pPr lvl="1" eaLnBrk="1" hangingPunct="1">
              <a:lnSpc>
                <a:spcPct val="100000"/>
              </a:lnSpc>
              <a:spcBef>
                <a:spcPct val="0"/>
              </a:spcBef>
              <a:buFontTx/>
              <a:buChar char="•"/>
            </a:pPr>
            <a:r>
              <a:rPr lang="en-US" altLang="en-US" sz="3600">
                <a:latin typeface="Times New Roman" panose="02020603050405020304" pitchFamily="18" charset="0"/>
                <a:cs typeface="Times New Roman" panose="02020603050405020304" pitchFamily="18" charset="0"/>
              </a:rPr>
              <a:t>Every good has a price tag</a:t>
            </a:r>
          </a:p>
          <a:p>
            <a:pPr eaLnBrk="1" hangingPunct="1">
              <a:lnSpc>
                <a:spcPct val="100000"/>
              </a:lnSpc>
              <a:spcBef>
                <a:spcPct val="0"/>
              </a:spcBef>
              <a:buFontTx/>
              <a:buChar char="•"/>
            </a:pPr>
            <a:r>
              <a:rPr lang="en-US" altLang="en-US" sz="3600">
                <a:latin typeface="Times New Roman" panose="02020603050405020304" pitchFamily="18" charset="0"/>
                <a:cs typeface="Times New Roman" panose="02020603050405020304" pitchFamily="18" charset="0"/>
              </a:rPr>
              <a:t>So, consumers must compromise!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wipe(left)">
                                      <p:cBhvr>
                                        <p:cTn id="7" dur="500"/>
                                        <p:tgtEl>
                                          <p:spTgt spid="235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556">
                                            <p:txEl>
                                              <p:pRg st="0" end="0"/>
                                            </p:txEl>
                                          </p:spTgt>
                                        </p:tgtEl>
                                        <p:attrNameLst>
                                          <p:attrName>style.visibility</p:attrName>
                                        </p:attrNameLst>
                                      </p:cBhvr>
                                      <p:to>
                                        <p:strVal val="visible"/>
                                      </p:to>
                                    </p:set>
                                    <p:animEffect transition="in" filter="wipe(left)">
                                      <p:cBhvr>
                                        <p:cTn id="12" dur="500"/>
                                        <p:tgtEl>
                                          <p:spTgt spid="23556">
                                            <p:txEl>
                                              <p:pRg st="0" end="0"/>
                                            </p:txEl>
                                          </p:spTgt>
                                        </p:tgtEl>
                                      </p:cBhvr>
                                    </p:animEffect>
                                  </p:childTnLst>
                                  <p:subTnLst>
                                    <p:animClr clrSpc="rgb" dir="cw">
                                      <p:cBhvr override="childStyle">
                                        <p:cTn dur="1" fill="hold" display="0" masterRel="nextClick" afterEffect="1"/>
                                        <p:tgtEl>
                                          <p:spTgt spid="23556">
                                            <p:txEl>
                                              <p:pRg st="0" end="0"/>
                                            </p:txEl>
                                          </p:spTgt>
                                        </p:tgtEl>
                                        <p:attrNameLst>
                                          <p:attrName>ppt_c</p:attrName>
                                        </p:attrNameLst>
                                      </p:cBhvr>
                                      <p:to>
                                        <a:schemeClr val="tx1"/>
                                      </p:to>
                                    </p:animClr>
                                  </p:subTnLst>
                                </p:cTn>
                              </p:par>
                              <p:par>
                                <p:cTn id="13" presetID="22" presetClass="entr" presetSubtype="8" fill="hold" nodeType="withEffect">
                                  <p:stCondLst>
                                    <p:cond delay="0"/>
                                  </p:stCondLst>
                                  <p:childTnLst>
                                    <p:set>
                                      <p:cBhvr>
                                        <p:cTn id="14" dur="1" fill="hold">
                                          <p:stCondLst>
                                            <p:cond delay="0"/>
                                          </p:stCondLst>
                                        </p:cTn>
                                        <p:tgtEl>
                                          <p:spTgt spid="23556">
                                            <p:txEl>
                                              <p:pRg st="1" end="1"/>
                                            </p:txEl>
                                          </p:spTgt>
                                        </p:tgtEl>
                                        <p:attrNameLst>
                                          <p:attrName>style.visibility</p:attrName>
                                        </p:attrNameLst>
                                      </p:cBhvr>
                                      <p:to>
                                        <p:strVal val="visible"/>
                                      </p:to>
                                    </p:set>
                                    <p:animEffect transition="in" filter="wipe(left)">
                                      <p:cBhvr>
                                        <p:cTn id="15" dur="500"/>
                                        <p:tgtEl>
                                          <p:spTgt spid="23556">
                                            <p:txEl>
                                              <p:pRg st="1" end="1"/>
                                            </p:txEl>
                                          </p:spTgt>
                                        </p:tgtEl>
                                      </p:cBhvr>
                                    </p:animEffect>
                                  </p:childTnLst>
                                  <p:subTnLst>
                                    <p:animClr clrSpc="rgb" dir="cw">
                                      <p:cBhvr override="childStyle">
                                        <p:cTn dur="1" fill="hold" display="0" masterRel="nextClick" afterEffect="1"/>
                                        <p:tgtEl>
                                          <p:spTgt spid="23556">
                                            <p:txEl>
                                              <p:pRg st="1" end="1"/>
                                            </p:txEl>
                                          </p:spTgt>
                                        </p:tgtEl>
                                        <p:attrNameLst>
                                          <p:attrName>ppt_c</p:attrName>
                                        </p:attrNameLst>
                                      </p:cBhvr>
                                      <p:to>
                                        <a:schemeClr val="tx1"/>
                                      </p:to>
                                    </p:animClr>
                                  </p:subTnLst>
                                </p:cTn>
                              </p:par>
                              <p:par>
                                <p:cTn id="16" presetID="22" presetClass="entr" presetSubtype="8" fill="hold" nodeType="withEffect">
                                  <p:stCondLst>
                                    <p:cond delay="0"/>
                                  </p:stCondLst>
                                  <p:childTnLst>
                                    <p:set>
                                      <p:cBhvr>
                                        <p:cTn id="17" dur="1" fill="hold">
                                          <p:stCondLst>
                                            <p:cond delay="0"/>
                                          </p:stCondLst>
                                        </p:cTn>
                                        <p:tgtEl>
                                          <p:spTgt spid="23556">
                                            <p:txEl>
                                              <p:pRg st="2" end="2"/>
                                            </p:txEl>
                                          </p:spTgt>
                                        </p:tgtEl>
                                        <p:attrNameLst>
                                          <p:attrName>style.visibility</p:attrName>
                                        </p:attrNameLst>
                                      </p:cBhvr>
                                      <p:to>
                                        <p:strVal val="visible"/>
                                      </p:to>
                                    </p:set>
                                    <p:animEffect transition="in" filter="wipe(left)">
                                      <p:cBhvr>
                                        <p:cTn id="18" dur="500"/>
                                        <p:tgtEl>
                                          <p:spTgt spid="23556">
                                            <p:txEl>
                                              <p:pRg st="2" end="2"/>
                                            </p:txEl>
                                          </p:spTgt>
                                        </p:tgtEl>
                                      </p:cBhvr>
                                    </p:animEffect>
                                  </p:childTnLst>
                                  <p:subTnLst>
                                    <p:animClr clrSpc="rgb" dir="cw">
                                      <p:cBhvr override="childStyle">
                                        <p:cTn dur="1" fill="hold" display="0" masterRel="nextClick" afterEffect="1"/>
                                        <p:tgtEl>
                                          <p:spTgt spid="23556">
                                            <p:txEl>
                                              <p:pRg st="2" end="2"/>
                                            </p:txEl>
                                          </p:spTgt>
                                        </p:tgtEl>
                                        <p:attrNameLst>
                                          <p:attrName>ppt_c</p:attrName>
                                        </p:attrNameLst>
                                      </p:cBhvr>
                                      <p:to>
                                        <a:schemeClr val="tx1"/>
                                      </p:to>
                                    </p:animClr>
                                  </p:subTnLst>
                                </p:cTn>
                              </p:par>
                              <p:par>
                                <p:cTn id="19" presetID="22" presetClass="entr" presetSubtype="8" fill="hold" nodeType="withEffect">
                                  <p:stCondLst>
                                    <p:cond delay="0"/>
                                  </p:stCondLst>
                                  <p:childTnLst>
                                    <p:set>
                                      <p:cBhvr>
                                        <p:cTn id="20" dur="1" fill="hold">
                                          <p:stCondLst>
                                            <p:cond delay="0"/>
                                          </p:stCondLst>
                                        </p:cTn>
                                        <p:tgtEl>
                                          <p:spTgt spid="23556">
                                            <p:txEl>
                                              <p:pRg st="3" end="3"/>
                                            </p:txEl>
                                          </p:spTgt>
                                        </p:tgtEl>
                                        <p:attrNameLst>
                                          <p:attrName>style.visibility</p:attrName>
                                        </p:attrNameLst>
                                      </p:cBhvr>
                                      <p:to>
                                        <p:strVal val="visible"/>
                                      </p:to>
                                    </p:set>
                                    <p:animEffect transition="in" filter="wipe(left)">
                                      <p:cBhvr>
                                        <p:cTn id="21" dur="500"/>
                                        <p:tgtEl>
                                          <p:spTgt spid="23556">
                                            <p:txEl>
                                              <p:pRg st="3" end="3"/>
                                            </p:txEl>
                                          </p:spTgt>
                                        </p:tgtEl>
                                      </p:cBhvr>
                                    </p:animEffect>
                                  </p:childTnLst>
                                  <p:subTnLst>
                                    <p:animClr clrSpc="rgb" dir="cw">
                                      <p:cBhvr override="childStyle">
                                        <p:cTn dur="1" fill="hold" display="0" masterRel="nextClick" afterEffect="1"/>
                                        <p:tgtEl>
                                          <p:spTgt spid="23556">
                                            <p:txEl>
                                              <p:pRg st="3" end="3"/>
                                            </p:txEl>
                                          </p:spTgt>
                                        </p:tgtEl>
                                        <p:attrNameLst>
                                          <p:attrName>ppt_c</p:attrName>
                                        </p:attrNameLst>
                                      </p:cBhvr>
                                      <p:to>
                                        <a:schemeClr val="tx1"/>
                                      </p:to>
                                    </p:animClr>
                                  </p:subTnLst>
                                </p:cTn>
                              </p:par>
                              <p:par>
                                <p:cTn id="22" presetID="22" presetClass="entr" presetSubtype="8" fill="hold" nodeType="withEffect">
                                  <p:stCondLst>
                                    <p:cond delay="0"/>
                                  </p:stCondLst>
                                  <p:childTnLst>
                                    <p:set>
                                      <p:cBhvr>
                                        <p:cTn id="23" dur="1" fill="hold">
                                          <p:stCondLst>
                                            <p:cond delay="0"/>
                                          </p:stCondLst>
                                        </p:cTn>
                                        <p:tgtEl>
                                          <p:spTgt spid="23556">
                                            <p:txEl>
                                              <p:pRg st="4" end="4"/>
                                            </p:txEl>
                                          </p:spTgt>
                                        </p:tgtEl>
                                        <p:attrNameLst>
                                          <p:attrName>style.visibility</p:attrName>
                                        </p:attrNameLst>
                                      </p:cBhvr>
                                      <p:to>
                                        <p:strVal val="visible"/>
                                      </p:to>
                                    </p:set>
                                    <p:animEffect transition="in" filter="wipe(left)">
                                      <p:cBhvr>
                                        <p:cTn id="24" dur="500"/>
                                        <p:tgtEl>
                                          <p:spTgt spid="23556">
                                            <p:txEl>
                                              <p:pRg st="4" end="4"/>
                                            </p:txEl>
                                          </p:spTgt>
                                        </p:tgtEl>
                                      </p:cBhvr>
                                    </p:animEffect>
                                  </p:childTnLst>
                                  <p:subTnLst>
                                    <p:animClr clrSpc="rgb" dir="cw">
                                      <p:cBhvr override="childStyle">
                                        <p:cTn dur="1" fill="hold" display="0" masterRel="nextClick" afterEffect="1"/>
                                        <p:tgtEl>
                                          <p:spTgt spid="23556">
                                            <p:txEl>
                                              <p:pRg st="4" end="4"/>
                                            </p:txEl>
                                          </p:spTgt>
                                        </p:tgtEl>
                                        <p:attrNameLst>
                                          <p:attrName>ppt_c</p:attrName>
                                        </p:attrNameLst>
                                      </p:cBhvr>
                                      <p:to>
                                        <a:schemeClr val="tx1"/>
                                      </p:to>
                                    </p:animClr>
                                  </p:sub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3556">
                                            <p:txEl>
                                              <p:pRg st="5" end="5"/>
                                            </p:txEl>
                                          </p:spTgt>
                                        </p:tgtEl>
                                        <p:attrNameLst>
                                          <p:attrName>style.visibility</p:attrName>
                                        </p:attrNameLst>
                                      </p:cBhvr>
                                      <p:to>
                                        <p:strVal val="visible"/>
                                      </p:to>
                                    </p:set>
                                    <p:animEffect transition="in" filter="wipe(left)">
                                      <p:cBhvr>
                                        <p:cTn id="29" dur="500"/>
                                        <p:tgtEl>
                                          <p:spTgt spid="23556">
                                            <p:txEl>
                                              <p:pRg st="5" end="5"/>
                                            </p:txEl>
                                          </p:spTgt>
                                        </p:tgtEl>
                                      </p:cBhvr>
                                    </p:animEffect>
                                  </p:childTnLst>
                                  <p:subTnLst>
                                    <p:animClr clrSpc="rgb" dir="cw">
                                      <p:cBhvr override="childStyle">
                                        <p:cTn dur="1" fill="hold" display="0" masterRel="nextClick" afterEffect="1"/>
                                        <p:tgtEl>
                                          <p:spTgt spid="23556">
                                            <p:txEl>
                                              <p:pRg st="5" end="5"/>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autoUpdateAnimBg="0"/>
      <p:bldP spid="2355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a:extLst>
              <a:ext uri="{FF2B5EF4-FFF2-40B4-BE49-F238E27FC236}">
                <a16:creationId xmlns:a16="http://schemas.microsoft.com/office/drawing/2014/main" id="{0A26633B-16CA-9459-6A5B-8011EAB66C1F}"/>
              </a:ext>
            </a:extLst>
          </p:cNvPr>
          <p:cNvSpPr>
            <a:spLocks noChangeArrowheads="1"/>
          </p:cNvSpPr>
          <p:nvPr/>
        </p:nvSpPr>
        <p:spPr bwMode="auto">
          <a:xfrm>
            <a:off x="609600" y="661988"/>
            <a:ext cx="6013450" cy="766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00" b="1">
                <a:latin typeface="Times New Roman" panose="02020603050405020304" pitchFamily="18" charset="0"/>
                <a:cs typeface="Times New Roman" panose="02020603050405020304" pitchFamily="18" charset="0"/>
              </a:rPr>
              <a:t>Utility Maximizing Rule</a:t>
            </a:r>
          </a:p>
        </p:txBody>
      </p:sp>
      <p:sp>
        <p:nvSpPr>
          <p:cNvPr id="25604" name="Rectangle 4">
            <a:extLst>
              <a:ext uri="{FF2B5EF4-FFF2-40B4-BE49-F238E27FC236}">
                <a16:creationId xmlns:a16="http://schemas.microsoft.com/office/drawing/2014/main" id="{A7864FB6-557D-DB44-0A3E-9D62F9E64D54}"/>
              </a:ext>
            </a:extLst>
          </p:cNvPr>
          <p:cNvSpPr>
            <a:spLocks noChangeArrowheads="1"/>
          </p:cNvSpPr>
          <p:nvPr/>
        </p:nvSpPr>
        <p:spPr bwMode="auto">
          <a:xfrm>
            <a:off x="609600" y="1498600"/>
            <a:ext cx="10287000" cy="292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600" b="1" i="1">
                <a:solidFill>
                  <a:srgbClr val="FF0000"/>
                </a:solidFill>
                <a:latin typeface="Times New Roman" panose="02020603050405020304" pitchFamily="18" charset="0"/>
              </a:rPr>
              <a:t>The consumer’s money income should be allocated so that the last dollar spent on each product yields the same amount of extra (marginal) utility.</a:t>
            </a:r>
          </a:p>
        </p:txBody>
      </p:sp>
      <p:sp>
        <p:nvSpPr>
          <p:cNvPr id="25605" name="Rectangle 5">
            <a:extLst>
              <a:ext uri="{FF2B5EF4-FFF2-40B4-BE49-F238E27FC236}">
                <a16:creationId xmlns:a16="http://schemas.microsoft.com/office/drawing/2014/main" id="{3720D6B3-4870-FC2C-DF39-0FEAFE673282}"/>
              </a:ext>
            </a:extLst>
          </p:cNvPr>
          <p:cNvSpPr>
            <a:spLocks noChangeArrowheads="1"/>
          </p:cNvSpPr>
          <p:nvPr/>
        </p:nvSpPr>
        <p:spPr bwMode="auto">
          <a:xfrm>
            <a:off x="6319838" y="5257800"/>
            <a:ext cx="3471862"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5400">
                <a:solidFill>
                  <a:srgbClr val="000099"/>
                </a:solidFill>
                <a:latin typeface="Times New Roman" panose="02020603050405020304" pitchFamily="18" charset="0"/>
                <a:cs typeface="Times New Roman" panose="02020603050405020304" pitchFamily="18" charset="0"/>
              </a:rPr>
              <a:t>illustrated...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wipe(left)">
                                      <p:cBhvr>
                                        <p:cTn id="7" dur="500"/>
                                        <p:tgtEl>
                                          <p:spTgt spid="25603"/>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5604"/>
                                        </p:tgtEl>
                                        <p:attrNameLst>
                                          <p:attrName>style.visibility</p:attrName>
                                        </p:attrNameLst>
                                      </p:cBhvr>
                                      <p:to>
                                        <p:strVal val="visible"/>
                                      </p:to>
                                    </p:set>
                                    <p:animEffect transition="in" filter="wipe(up)">
                                      <p:cBhvr>
                                        <p:cTn id="11" dur="500"/>
                                        <p:tgtEl>
                                          <p:spTgt spid="25604"/>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5605"/>
                                        </p:tgtEl>
                                        <p:attrNameLst>
                                          <p:attrName>style.visibility</p:attrName>
                                        </p:attrNameLst>
                                      </p:cBhvr>
                                      <p:to>
                                        <p:strVal val="visible"/>
                                      </p:to>
                                    </p:set>
                                    <p:animEffect transition="in" filter="wipe(left)">
                                      <p:cBhvr>
                                        <p:cTn id="15" dur="500"/>
                                        <p:tgtEl>
                                          <p:spTgt spid="2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utoUpdateAnimBg="0"/>
      <p:bldP spid="25604" grpId="0" autoUpdateAnimBg="0"/>
      <p:bldP spid="2560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F89006E-5194-115A-582D-70FB852B3A6A}"/>
              </a:ext>
            </a:extLst>
          </p:cNvPr>
          <p:cNvSpPr>
            <a:spLocks noChangeArrowheads="1"/>
          </p:cNvSpPr>
          <p:nvPr/>
        </p:nvSpPr>
        <p:spPr bwMode="auto">
          <a:xfrm>
            <a:off x="3484563" y="2743200"/>
            <a:ext cx="6748462"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p:txBody>
      </p:sp>
      <p:grpSp>
        <p:nvGrpSpPr>
          <p:cNvPr id="27651" name="Group 3">
            <a:extLst>
              <a:ext uri="{FF2B5EF4-FFF2-40B4-BE49-F238E27FC236}">
                <a16:creationId xmlns:a16="http://schemas.microsoft.com/office/drawing/2014/main" id="{02642A05-EC14-F461-CC29-50E153FCD4C3}"/>
              </a:ext>
            </a:extLst>
          </p:cNvPr>
          <p:cNvGrpSpPr>
            <a:grpSpLocks/>
          </p:cNvGrpSpPr>
          <p:nvPr/>
        </p:nvGrpSpPr>
        <p:grpSpPr bwMode="auto">
          <a:xfrm>
            <a:off x="2305050" y="604838"/>
            <a:ext cx="2636838" cy="1273175"/>
            <a:chOff x="372" y="76"/>
            <a:chExt cx="1661" cy="739"/>
          </a:xfrm>
        </p:grpSpPr>
        <p:sp>
          <p:nvSpPr>
            <p:cNvPr id="52241" name="AutoShape 4">
              <a:extLst>
                <a:ext uri="{FF2B5EF4-FFF2-40B4-BE49-F238E27FC236}">
                  <a16:creationId xmlns:a16="http://schemas.microsoft.com/office/drawing/2014/main" id="{BDAB3609-8364-88F9-3009-E7F028E5DD4A}"/>
                </a:ext>
              </a:extLst>
            </p:cNvPr>
            <p:cNvSpPr>
              <a:spLocks noChangeArrowheads="1"/>
            </p:cNvSpPr>
            <p:nvPr/>
          </p:nvSpPr>
          <p:spPr bwMode="auto">
            <a:xfrm>
              <a:off x="372" y="76"/>
              <a:ext cx="1661" cy="739"/>
            </a:xfrm>
            <a:prstGeom prst="star16">
              <a:avLst>
                <a:gd name="adj" fmla="val 37500"/>
              </a:avLst>
            </a:prstGeom>
            <a:gradFill rotWithShape="1">
              <a:gsLst>
                <a:gs pos="0">
                  <a:schemeClr val="bg1"/>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2242" name="Rectangle 5">
              <a:extLst>
                <a:ext uri="{FF2B5EF4-FFF2-40B4-BE49-F238E27FC236}">
                  <a16:creationId xmlns:a16="http://schemas.microsoft.com/office/drawing/2014/main" id="{881FFA68-D216-162F-A3A4-7726297D394D}"/>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gradFill rotWithShape="1">
                    <a:gsLst>
                      <a:gs pos="0">
                        <a:schemeClr val="bg1"/>
                      </a:gs>
                      <a:gs pos="100000">
                        <a:schemeClr val="folHlink"/>
                      </a:gs>
                    </a:gsLst>
                    <a:path path="shape">
                      <a:fillToRect l="50000" t="50000" r="50000" b="50000"/>
                    </a:path>
                  </a:gra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27654" name="Rectangle 6">
            <a:extLst>
              <a:ext uri="{FF2B5EF4-FFF2-40B4-BE49-F238E27FC236}">
                <a16:creationId xmlns:a16="http://schemas.microsoft.com/office/drawing/2014/main" id="{77F29683-D749-05C1-FEBE-67D066CEE40E}"/>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sp>
        <p:nvSpPr>
          <p:cNvPr id="27655" name="Rectangle 7">
            <a:extLst>
              <a:ext uri="{FF2B5EF4-FFF2-40B4-BE49-F238E27FC236}">
                <a16:creationId xmlns:a16="http://schemas.microsoft.com/office/drawing/2014/main" id="{DC0B55AB-1E64-8A85-3F43-0296BCA5FC68}"/>
              </a:ext>
            </a:extLst>
          </p:cNvPr>
          <p:cNvSpPr>
            <a:spLocks noChangeArrowheads="1"/>
          </p:cNvSpPr>
          <p:nvPr/>
        </p:nvSpPr>
        <p:spPr bwMode="auto">
          <a:xfrm>
            <a:off x="4111625" y="4378325"/>
            <a:ext cx="53959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000" b="1" i="1">
                <a:solidFill>
                  <a:srgbClr val="CC0000"/>
                </a:solidFill>
                <a:latin typeface="Arial" panose="020B0604020202020204" pitchFamily="34" charset="0"/>
              </a:rPr>
              <a:t>How should the $10 </a:t>
            </a:r>
          </a:p>
          <a:p>
            <a:pPr algn="ctr" eaLnBrk="1" hangingPunct="1">
              <a:lnSpc>
                <a:spcPct val="100000"/>
              </a:lnSpc>
              <a:spcBef>
                <a:spcPct val="0"/>
              </a:spcBef>
              <a:buFontTx/>
              <a:buNone/>
            </a:pPr>
            <a:r>
              <a:rPr lang="en-US" altLang="en-US" sz="4000" b="1" i="1">
                <a:solidFill>
                  <a:srgbClr val="CC0000"/>
                </a:solidFill>
                <a:latin typeface="Arial" panose="020B0604020202020204" pitchFamily="34" charset="0"/>
              </a:rPr>
              <a:t>income be allocated?</a:t>
            </a:r>
          </a:p>
        </p:txBody>
      </p:sp>
      <p:grpSp>
        <p:nvGrpSpPr>
          <p:cNvPr id="27656" name="Group 8">
            <a:extLst>
              <a:ext uri="{FF2B5EF4-FFF2-40B4-BE49-F238E27FC236}">
                <a16:creationId xmlns:a16="http://schemas.microsoft.com/office/drawing/2014/main" id="{ACF8850D-0D49-F8B0-37BC-1C93436AB408}"/>
              </a:ext>
            </a:extLst>
          </p:cNvPr>
          <p:cNvGrpSpPr>
            <a:grpSpLocks/>
          </p:cNvGrpSpPr>
          <p:nvPr/>
        </p:nvGrpSpPr>
        <p:grpSpPr bwMode="auto">
          <a:xfrm>
            <a:off x="3479800" y="1335088"/>
            <a:ext cx="7026275" cy="1370012"/>
            <a:chOff x="1236" y="845"/>
            <a:chExt cx="4426" cy="863"/>
          </a:xfrm>
        </p:grpSpPr>
        <p:sp>
          <p:nvSpPr>
            <p:cNvPr id="52237" name="Line 9">
              <a:extLst>
                <a:ext uri="{FF2B5EF4-FFF2-40B4-BE49-F238E27FC236}">
                  <a16:creationId xmlns:a16="http://schemas.microsoft.com/office/drawing/2014/main" id="{0DA97A0F-0FF2-7F70-E436-758BE8225F62}"/>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2238" name="Line 10">
              <a:extLst>
                <a:ext uri="{FF2B5EF4-FFF2-40B4-BE49-F238E27FC236}">
                  <a16:creationId xmlns:a16="http://schemas.microsoft.com/office/drawing/2014/main" id="{03F47E87-2BA3-A627-6A42-58C32871052A}"/>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2239" name="Line 11">
              <a:extLst>
                <a:ext uri="{FF2B5EF4-FFF2-40B4-BE49-F238E27FC236}">
                  <a16:creationId xmlns:a16="http://schemas.microsoft.com/office/drawing/2014/main" id="{7A835653-E0AE-1FBD-F4BE-38DE24F85D44}"/>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2240" name="Line 12">
              <a:extLst>
                <a:ext uri="{FF2B5EF4-FFF2-40B4-BE49-F238E27FC236}">
                  <a16:creationId xmlns:a16="http://schemas.microsoft.com/office/drawing/2014/main" id="{EB933142-EF80-34F4-B8C9-EED50A6DDD65}"/>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27661" name="Rectangle 13">
            <a:extLst>
              <a:ext uri="{FF2B5EF4-FFF2-40B4-BE49-F238E27FC236}">
                <a16:creationId xmlns:a16="http://schemas.microsoft.com/office/drawing/2014/main" id="{924220B6-C3C4-39DC-6823-1B9B4614220E}"/>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27662" name="Rectangle 14">
            <a:extLst>
              <a:ext uri="{FF2B5EF4-FFF2-40B4-BE49-F238E27FC236}">
                <a16:creationId xmlns:a16="http://schemas.microsoft.com/office/drawing/2014/main" id="{06FC104C-3E8D-18C5-CD1B-21108441EB4C}"/>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27663" name="Rectangle 15">
            <a:extLst>
              <a:ext uri="{FF2B5EF4-FFF2-40B4-BE49-F238E27FC236}">
                <a16:creationId xmlns:a16="http://schemas.microsoft.com/office/drawing/2014/main" id="{33E10050-9C4C-2726-941C-A9C967A0D085}"/>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27664" name="Rectangle 16">
            <a:extLst>
              <a:ext uri="{FF2B5EF4-FFF2-40B4-BE49-F238E27FC236}">
                <a16:creationId xmlns:a16="http://schemas.microsoft.com/office/drawing/2014/main" id="{8EC99A7A-22BA-5E5E-E61C-C9D641F35D12}"/>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27665" name="Rectangle 17">
            <a:extLst>
              <a:ext uri="{FF2B5EF4-FFF2-40B4-BE49-F238E27FC236}">
                <a16:creationId xmlns:a16="http://schemas.microsoft.com/office/drawing/2014/main" id="{38A0BCC1-A5BB-8874-55BA-6A4B39E1CC50}"/>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27666" name="Rectangle 18">
            <a:extLst>
              <a:ext uri="{FF2B5EF4-FFF2-40B4-BE49-F238E27FC236}">
                <a16:creationId xmlns:a16="http://schemas.microsoft.com/office/drawing/2014/main" id="{134C0420-3757-DA75-FC64-5713BA28ACBB}"/>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27667" name="Rectangle 19">
            <a:extLst>
              <a:ext uri="{FF2B5EF4-FFF2-40B4-BE49-F238E27FC236}">
                <a16:creationId xmlns:a16="http://schemas.microsoft.com/office/drawing/2014/main" id="{019627DB-15D2-11AB-782F-D8A347948DF9}"/>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7654"/>
                                        </p:tgtEl>
                                        <p:attrNameLst>
                                          <p:attrName>style.visibility</p:attrName>
                                        </p:attrNameLst>
                                      </p:cBhvr>
                                      <p:to>
                                        <p:strVal val="visible"/>
                                      </p:to>
                                    </p:set>
                                    <p:animEffect transition="in" filter="wipe(left)">
                                      <p:cBhvr>
                                        <p:cTn id="7" dur="500"/>
                                        <p:tgtEl>
                                          <p:spTgt spid="2765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7662"/>
                                        </p:tgtEl>
                                        <p:attrNameLst>
                                          <p:attrName>style.visibility</p:attrName>
                                        </p:attrNameLst>
                                      </p:cBhvr>
                                      <p:to>
                                        <p:strVal val="visible"/>
                                      </p:to>
                                    </p:set>
                                    <p:animEffect transition="in" filter="wipe(left)">
                                      <p:cBhvr>
                                        <p:cTn id="11" dur="500"/>
                                        <p:tgtEl>
                                          <p:spTgt spid="2766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7663"/>
                                        </p:tgtEl>
                                        <p:attrNameLst>
                                          <p:attrName>style.visibility</p:attrName>
                                        </p:attrNameLst>
                                      </p:cBhvr>
                                      <p:to>
                                        <p:strVal val="visible"/>
                                      </p:to>
                                    </p:set>
                                    <p:animEffect transition="in" filter="wipe(left)">
                                      <p:cBhvr>
                                        <p:cTn id="16" dur="500"/>
                                        <p:tgtEl>
                                          <p:spTgt spid="27663"/>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27661"/>
                                        </p:tgtEl>
                                        <p:attrNameLst>
                                          <p:attrName>style.visibility</p:attrName>
                                        </p:attrNameLst>
                                      </p:cBhvr>
                                      <p:to>
                                        <p:strVal val="visible"/>
                                      </p:to>
                                    </p:set>
                                    <p:animEffect transition="in" filter="wipe(up)">
                                      <p:cBhvr>
                                        <p:cTn id="20" dur="500"/>
                                        <p:tgtEl>
                                          <p:spTgt spid="27661"/>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27656"/>
                                        </p:tgtEl>
                                        <p:attrNameLst>
                                          <p:attrName>style.visibility</p:attrName>
                                        </p:attrNameLst>
                                      </p:cBhvr>
                                      <p:to>
                                        <p:strVal val="visible"/>
                                      </p:to>
                                    </p:set>
                                    <p:animEffect transition="in" filter="wipe(up)">
                                      <p:cBhvr>
                                        <p:cTn id="24" dur="1000"/>
                                        <p:tgtEl>
                                          <p:spTgt spid="27656"/>
                                        </p:tgtEl>
                                      </p:cBhvr>
                                    </p:animEffect>
                                  </p:childTnLst>
                                </p:cTn>
                              </p:par>
                            </p:childTnLst>
                          </p:cTn>
                        </p:par>
                        <p:par>
                          <p:cTn id="25" fill="hold" nodeType="afterGroup">
                            <p:stCondLst>
                              <p:cond delay="2000"/>
                            </p:stCondLst>
                            <p:childTnLst>
                              <p:par>
                                <p:cTn id="26" presetID="22" presetClass="entr" presetSubtype="1" fill="hold" nodeType="afterEffect">
                                  <p:stCondLst>
                                    <p:cond delay="0"/>
                                  </p:stCondLst>
                                  <p:childTnLst>
                                    <p:set>
                                      <p:cBhvr>
                                        <p:cTn id="27" dur="1" fill="hold">
                                          <p:stCondLst>
                                            <p:cond delay="0"/>
                                          </p:stCondLst>
                                        </p:cTn>
                                        <p:tgtEl>
                                          <p:spTgt spid="27664"/>
                                        </p:tgtEl>
                                        <p:attrNameLst>
                                          <p:attrName>style.visibility</p:attrName>
                                        </p:attrNameLst>
                                      </p:cBhvr>
                                      <p:to>
                                        <p:strVal val="visible"/>
                                      </p:to>
                                    </p:set>
                                    <p:animEffect transition="in" filter="wipe(up)">
                                      <p:cBhvr>
                                        <p:cTn id="28" dur="500"/>
                                        <p:tgtEl>
                                          <p:spTgt spid="27664"/>
                                        </p:tgtEl>
                                      </p:cBhvr>
                                    </p:animEffect>
                                  </p:childTnLst>
                                </p:cTn>
                              </p:par>
                            </p:childTnLst>
                          </p:cTn>
                        </p:par>
                        <p:par>
                          <p:cTn id="29" fill="hold" nodeType="afterGroup">
                            <p:stCondLst>
                              <p:cond delay="2500"/>
                            </p:stCondLst>
                            <p:childTnLst>
                              <p:par>
                                <p:cTn id="30" presetID="22" presetClass="entr" presetSubtype="1" fill="hold" nodeType="afterEffect">
                                  <p:stCondLst>
                                    <p:cond delay="0"/>
                                  </p:stCondLst>
                                  <p:childTnLst>
                                    <p:set>
                                      <p:cBhvr>
                                        <p:cTn id="31" dur="1" fill="hold">
                                          <p:stCondLst>
                                            <p:cond delay="0"/>
                                          </p:stCondLst>
                                        </p:cTn>
                                        <p:tgtEl>
                                          <p:spTgt spid="27665"/>
                                        </p:tgtEl>
                                        <p:attrNameLst>
                                          <p:attrName>style.visibility</p:attrName>
                                        </p:attrNameLst>
                                      </p:cBhvr>
                                      <p:to>
                                        <p:strVal val="visible"/>
                                      </p:to>
                                    </p:set>
                                    <p:animEffect transition="in" filter="wipe(up)">
                                      <p:cBhvr>
                                        <p:cTn id="32" dur="500"/>
                                        <p:tgtEl>
                                          <p:spTgt spid="276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27666"/>
                                        </p:tgtEl>
                                        <p:attrNameLst>
                                          <p:attrName>style.visibility</p:attrName>
                                        </p:attrNameLst>
                                      </p:cBhvr>
                                      <p:to>
                                        <p:strVal val="visible"/>
                                      </p:to>
                                    </p:set>
                                    <p:animEffect transition="in" filter="wipe(up)">
                                      <p:cBhvr>
                                        <p:cTn id="37" dur="500"/>
                                        <p:tgtEl>
                                          <p:spTgt spid="27666"/>
                                        </p:tgtEl>
                                      </p:cBhvr>
                                    </p:animEffect>
                                  </p:childTnLst>
                                </p:cTn>
                              </p:par>
                            </p:childTnLst>
                          </p:cTn>
                        </p:par>
                        <p:par>
                          <p:cTn id="38" fill="hold" nodeType="afterGroup">
                            <p:stCondLst>
                              <p:cond delay="500"/>
                            </p:stCondLst>
                            <p:childTnLst>
                              <p:par>
                                <p:cTn id="39" presetID="22" presetClass="entr" presetSubtype="1" fill="hold" nodeType="afterEffect">
                                  <p:stCondLst>
                                    <p:cond delay="0"/>
                                  </p:stCondLst>
                                  <p:childTnLst>
                                    <p:set>
                                      <p:cBhvr>
                                        <p:cTn id="40" dur="1" fill="hold">
                                          <p:stCondLst>
                                            <p:cond delay="0"/>
                                          </p:stCondLst>
                                        </p:cTn>
                                        <p:tgtEl>
                                          <p:spTgt spid="27667"/>
                                        </p:tgtEl>
                                        <p:attrNameLst>
                                          <p:attrName>style.visibility</p:attrName>
                                        </p:attrNameLst>
                                      </p:cBhvr>
                                      <p:to>
                                        <p:strVal val="visible"/>
                                      </p:to>
                                    </p:set>
                                    <p:animEffect transition="in" filter="wipe(up)">
                                      <p:cBhvr>
                                        <p:cTn id="41" dur="500"/>
                                        <p:tgtEl>
                                          <p:spTgt spid="27667"/>
                                        </p:tgtEl>
                                      </p:cBhvr>
                                    </p:animEffect>
                                  </p:childTnLst>
                                </p:cTn>
                              </p:par>
                            </p:childTnLst>
                          </p:cTn>
                        </p:par>
                        <p:par>
                          <p:cTn id="42" fill="hold" nodeType="afterGroup">
                            <p:stCondLst>
                              <p:cond delay="1000"/>
                            </p:stCondLst>
                            <p:childTnLst>
                              <p:par>
                                <p:cTn id="43" presetID="22" presetClass="entr" presetSubtype="1" fill="hold" nodeType="afterEffect">
                                  <p:stCondLst>
                                    <p:cond delay="0"/>
                                  </p:stCondLst>
                                  <p:childTnLst>
                                    <p:set>
                                      <p:cBhvr>
                                        <p:cTn id="44" dur="1" fill="hold">
                                          <p:stCondLst>
                                            <p:cond delay="0"/>
                                          </p:stCondLst>
                                        </p:cTn>
                                        <p:tgtEl>
                                          <p:spTgt spid="27650"/>
                                        </p:tgtEl>
                                        <p:attrNameLst>
                                          <p:attrName>style.visibility</p:attrName>
                                        </p:attrNameLst>
                                      </p:cBhvr>
                                      <p:to>
                                        <p:strVal val="visible"/>
                                      </p:to>
                                    </p:set>
                                    <p:animEffect transition="in" filter="wipe(up)">
                                      <p:cBhvr>
                                        <p:cTn id="45" dur="500"/>
                                        <p:tgtEl>
                                          <p:spTgt spid="2765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27651"/>
                                        </p:tgtEl>
                                        <p:attrNameLst>
                                          <p:attrName>style.visibility</p:attrName>
                                        </p:attrNameLst>
                                      </p:cBhvr>
                                      <p:to>
                                        <p:strVal val="visible"/>
                                      </p:to>
                                    </p:set>
                                    <p:animEffect transition="in" filter="dissolve">
                                      <p:cBhvr>
                                        <p:cTn id="50" dur="500"/>
                                        <p:tgtEl>
                                          <p:spTgt spid="27651"/>
                                        </p:tgtEl>
                                      </p:cBhvr>
                                    </p:animEffect>
                                  </p:childTnLst>
                                </p:cTn>
                              </p:par>
                            </p:childTnLst>
                          </p:cTn>
                        </p:par>
                        <p:par>
                          <p:cTn id="51" fill="hold" nodeType="afterGroup">
                            <p:stCondLst>
                              <p:cond delay="500"/>
                            </p:stCondLst>
                            <p:childTnLst>
                              <p:par>
                                <p:cTn id="52" presetID="22" presetClass="entr" presetSubtype="1" fill="hold" nodeType="afterEffect">
                                  <p:stCondLst>
                                    <p:cond delay="0"/>
                                  </p:stCondLst>
                                  <p:childTnLst>
                                    <p:set>
                                      <p:cBhvr>
                                        <p:cTn id="53" dur="1" fill="hold">
                                          <p:stCondLst>
                                            <p:cond delay="0"/>
                                          </p:stCondLst>
                                        </p:cTn>
                                        <p:tgtEl>
                                          <p:spTgt spid="27655"/>
                                        </p:tgtEl>
                                        <p:attrNameLst>
                                          <p:attrName>style.visibility</p:attrName>
                                        </p:attrNameLst>
                                      </p:cBhvr>
                                      <p:to>
                                        <p:strVal val="visible"/>
                                      </p:to>
                                    </p:set>
                                    <p:animEffect transition="in" filter="wipe(up)">
                                      <p:cBhvr>
                                        <p:cTn id="54" dur="500"/>
                                        <p:tgtEl>
                                          <p:spTgt spid="27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4" grpId="0" autoUpdateAnimBg="0"/>
      <p:bldP spid="27655" grpId="0" autoUpdateAnimBg="0"/>
      <p:bldP spid="27661" grpId="0" autoUpdateAnimBg="0"/>
      <p:bldP spid="27662" grpId="0" autoUpdateAnimBg="0"/>
      <p:bldP spid="27663" grpId="0" autoUpdateAnimBg="0"/>
      <p:bldP spid="27664" grpId="0" autoUpdateAnimBg="0"/>
      <p:bldP spid="27665" grpId="0" autoUpdateAnimBg="0"/>
      <p:bldP spid="27666" grpId="0" autoUpdateAnimBg="0"/>
      <p:bldP spid="27667"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C55A18EE-07B7-2E45-AE9A-15B80B1EF2F7}"/>
              </a:ext>
            </a:extLst>
          </p:cNvPr>
          <p:cNvSpPr>
            <a:spLocks noChangeArrowheads="1"/>
          </p:cNvSpPr>
          <p:nvPr/>
        </p:nvSpPr>
        <p:spPr bwMode="auto">
          <a:xfrm>
            <a:off x="3484563" y="2743200"/>
            <a:ext cx="6748462"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p:txBody>
      </p:sp>
      <p:grpSp>
        <p:nvGrpSpPr>
          <p:cNvPr id="53250" name="Group 3">
            <a:extLst>
              <a:ext uri="{FF2B5EF4-FFF2-40B4-BE49-F238E27FC236}">
                <a16:creationId xmlns:a16="http://schemas.microsoft.com/office/drawing/2014/main" id="{FC1171E0-770D-61D5-3DC1-A34B1903E55E}"/>
              </a:ext>
            </a:extLst>
          </p:cNvPr>
          <p:cNvGrpSpPr>
            <a:grpSpLocks/>
          </p:cNvGrpSpPr>
          <p:nvPr/>
        </p:nvGrpSpPr>
        <p:grpSpPr bwMode="auto">
          <a:xfrm>
            <a:off x="2305050" y="604838"/>
            <a:ext cx="2636838" cy="1273175"/>
            <a:chOff x="372" y="76"/>
            <a:chExt cx="1661" cy="739"/>
          </a:xfrm>
        </p:grpSpPr>
        <p:sp>
          <p:nvSpPr>
            <p:cNvPr id="53268" name="AutoShape 4">
              <a:extLst>
                <a:ext uri="{FF2B5EF4-FFF2-40B4-BE49-F238E27FC236}">
                  <a16:creationId xmlns:a16="http://schemas.microsoft.com/office/drawing/2014/main" id="{B3F5709C-F499-D256-1B14-8A412B3C0FCE}"/>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3269" name="Rectangle 5">
              <a:extLst>
                <a:ext uri="{FF2B5EF4-FFF2-40B4-BE49-F238E27FC236}">
                  <a16:creationId xmlns:a16="http://schemas.microsoft.com/office/drawing/2014/main" id="{6C58C880-4DE0-D383-E037-092E9E0C1279}"/>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53251" name="Rectangle 6">
            <a:extLst>
              <a:ext uri="{FF2B5EF4-FFF2-40B4-BE49-F238E27FC236}">
                <a16:creationId xmlns:a16="http://schemas.microsoft.com/office/drawing/2014/main" id="{C646ABEB-D806-5B39-FBC3-3FCF329F1C74}"/>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sp>
        <p:nvSpPr>
          <p:cNvPr id="28679" name="Rectangle 7">
            <a:extLst>
              <a:ext uri="{FF2B5EF4-FFF2-40B4-BE49-F238E27FC236}">
                <a16:creationId xmlns:a16="http://schemas.microsoft.com/office/drawing/2014/main" id="{6C153077-CA3C-A269-CBFF-BD88045FFCD8}"/>
              </a:ext>
            </a:extLst>
          </p:cNvPr>
          <p:cNvSpPr>
            <a:spLocks noChangeArrowheads="1"/>
          </p:cNvSpPr>
          <p:nvPr/>
        </p:nvSpPr>
        <p:spPr bwMode="auto">
          <a:xfrm>
            <a:off x="4146550" y="3930650"/>
            <a:ext cx="5683250" cy="175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5400" b="1" i="1">
                <a:solidFill>
                  <a:srgbClr val="CC0000"/>
                </a:solidFill>
                <a:latin typeface="Arial" panose="020B0604020202020204" pitchFamily="34" charset="0"/>
              </a:rPr>
              <a:t>Examine the two</a:t>
            </a:r>
          </a:p>
          <a:p>
            <a:pPr algn="ctr" eaLnBrk="1" hangingPunct="1">
              <a:lnSpc>
                <a:spcPct val="100000"/>
              </a:lnSpc>
              <a:spcBef>
                <a:spcPct val="0"/>
              </a:spcBef>
              <a:buFontTx/>
              <a:buNone/>
            </a:pPr>
            <a:r>
              <a:rPr lang="en-US" altLang="en-US" sz="5400" b="1" i="1">
                <a:solidFill>
                  <a:srgbClr val="CC0000"/>
                </a:solidFill>
                <a:latin typeface="Arial" panose="020B0604020202020204" pitchFamily="34" charset="0"/>
              </a:rPr>
              <a:t>marginal utilities</a:t>
            </a:r>
          </a:p>
        </p:txBody>
      </p:sp>
      <p:grpSp>
        <p:nvGrpSpPr>
          <p:cNvPr id="28680" name="Group 8">
            <a:extLst>
              <a:ext uri="{FF2B5EF4-FFF2-40B4-BE49-F238E27FC236}">
                <a16:creationId xmlns:a16="http://schemas.microsoft.com/office/drawing/2014/main" id="{98528788-2E37-A1E8-FAAE-28D509529259}"/>
              </a:ext>
            </a:extLst>
          </p:cNvPr>
          <p:cNvGrpSpPr>
            <a:grpSpLocks/>
          </p:cNvGrpSpPr>
          <p:nvPr/>
        </p:nvGrpSpPr>
        <p:grpSpPr bwMode="auto">
          <a:xfrm>
            <a:off x="5122863" y="2490788"/>
            <a:ext cx="4005262" cy="1144587"/>
            <a:chOff x="2267" y="1569"/>
            <a:chExt cx="2523" cy="721"/>
          </a:xfrm>
        </p:grpSpPr>
        <p:sp>
          <p:nvSpPr>
            <p:cNvPr id="53266" name="Oval 9">
              <a:extLst>
                <a:ext uri="{FF2B5EF4-FFF2-40B4-BE49-F238E27FC236}">
                  <a16:creationId xmlns:a16="http://schemas.microsoft.com/office/drawing/2014/main" id="{2ED8A486-DEC2-97F1-7EE5-A160618A192D}"/>
                </a:ext>
              </a:extLst>
            </p:cNvPr>
            <p:cNvSpPr>
              <a:spLocks noChangeArrowheads="1"/>
            </p:cNvSpPr>
            <p:nvPr/>
          </p:nvSpPr>
          <p:spPr bwMode="auto">
            <a:xfrm>
              <a:off x="2267" y="156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3267" name="Oval 10">
              <a:extLst>
                <a:ext uri="{FF2B5EF4-FFF2-40B4-BE49-F238E27FC236}">
                  <a16:creationId xmlns:a16="http://schemas.microsoft.com/office/drawing/2014/main" id="{569A572F-5923-799D-36E6-B6CF973F01E3}"/>
                </a:ext>
              </a:extLst>
            </p:cNvPr>
            <p:cNvSpPr>
              <a:spLocks noChangeArrowheads="1"/>
            </p:cNvSpPr>
            <p:nvPr/>
          </p:nvSpPr>
          <p:spPr bwMode="auto">
            <a:xfrm>
              <a:off x="4061" y="1575"/>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pSp>
        <p:nvGrpSpPr>
          <p:cNvPr id="53254" name="Group 11">
            <a:extLst>
              <a:ext uri="{FF2B5EF4-FFF2-40B4-BE49-F238E27FC236}">
                <a16:creationId xmlns:a16="http://schemas.microsoft.com/office/drawing/2014/main" id="{209E5CBA-2EF4-D8AC-B1F7-D9E25DACD74A}"/>
              </a:ext>
            </a:extLst>
          </p:cNvPr>
          <p:cNvGrpSpPr>
            <a:grpSpLocks/>
          </p:cNvGrpSpPr>
          <p:nvPr/>
        </p:nvGrpSpPr>
        <p:grpSpPr bwMode="auto">
          <a:xfrm>
            <a:off x="3479800" y="1335088"/>
            <a:ext cx="7026275" cy="1370012"/>
            <a:chOff x="1236" y="845"/>
            <a:chExt cx="4426" cy="863"/>
          </a:xfrm>
        </p:grpSpPr>
        <p:sp>
          <p:nvSpPr>
            <p:cNvPr id="53262" name="Line 12">
              <a:extLst>
                <a:ext uri="{FF2B5EF4-FFF2-40B4-BE49-F238E27FC236}">
                  <a16:creationId xmlns:a16="http://schemas.microsoft.com/office/drawing/2014/main" id="{CF018B8C-941A-E0A6-CC66-359F4A9F8BCC}"/>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3263" name="Line 13">
              <a:extLst>
                <a:ext uri="{FF2B5EF4-FFF2-40B4-BE49-F238E27FC236}">
                  <a16:creationId xmlns:a16="http://schemas.microsoft.com/office/drawing/2014/main" id="{932673E1-C988-F3C2-827E-18A6E7A8875B}"/>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3264" name="Line 14">
              <a:extLst>
                <a:ext uri="{FF2B5EF4-FFF2-40B4-BE49-F238E27FC236}">
                  <a16:creationId xmlns:a16="http://schemas.microsoft.com/office/drawing/2014/main" id="{7D8CE67F-02B5-A80D-FE11-9D3DB6A340DB}"/>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3265" name="Line 15">
              <a:extLst>
                <a:ext uri="{FF2B5EF4-FFF2-40B4-BE49-F238E27FC236}">
                  <a16:creationId xmlns:a16="http://schemas.microsoft.com/office/drawing/2014/main" id="{07850C84-3E52-9642-0F67-C995EE3B51D4}"/>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53255" name="Rectangle 16">
            <a:extLst>
              <a:ext uri="{FF2B5EF4-FFF2-40B4-BE49-F238E27FC236}">
                <a16:creationId xmlns:a16="http://schemas.microsoft.com/office/drawing/2014/main" id="{2B5EE5CC-A135-FFFA-57FF-1FAB265D1C14}"/>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53256" name="Rectangle 17">
            <a:extLst>
              <a:ext uri="{FF2B5EF4-FFF2-40B4-BE49-F238E27FC236}">
                <a16:creationId xmlns:a16="http://schemas.microsoft.com/office/drawing/2014/main" id="{671B837A-01E3-1AF9-94EF-5F3E57EE85D3}"/>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53257" name="Rectangle 18">
            <a:extLst>
              <a:ext uri="{FF2B5EF4-FFF2-40B4-BE49-F238E27FC236}">
                <a16:creationId xmlns:a16="http://schemas.microsoft.com/office/drawing/2014/main" id="{864A208A-F122-44A8-7594-2C8590172678}"/>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53258" name="Rectangle 19">
            <a:extLst>
              <a:ext uri="{FF2B5EF4-FFF2-40B4-BE49-F238E27FC236}">
                <a16:creationId xmlns:a16="http://schemas.microsoft.com/office/drawing/2014/main" id="{CD1DFE65-E983-BC7B-867B-66C7127E76D8}"/>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53259" name="Rectangle 20">
            <a:extLst>
              <a:ext uri="{FF2B5EF4-FFF2-40B4-BE49-F238E27FC236}">
                <a16:creationId xmlns:a16="http://schemas.microsoft.com/office/drawing/2014/main" id="{7D3D677F-3953-13C6-099E-0B168B8FC1EA}"/>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53260" name="Rectangle 21">
            <a:extLst>
              <a:ext uri="{FF2B5EF4-FFF2-40B4-BE49-F238E27FC236}">
                <a16:creationId xmlns:a16="http://schemas.microsoft.com/office/drawing/2014/main" id="{2A37C47F-DB8F-6002-CE74-5C445C6DEEC1}"/>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53261" name="Rectangle 22">
            <a:extLst>
              <a:ext uri="{FF2B5EF4-FFF2-40B4-BE49-F238E27FC236}">
                <a16:creationId xmlns:a16="http://schemas.microsoft.com/office/drawing/2014/main" id="{20191FBD-9F11-5777-9250-8AEEE8545FE1}"/>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8679"/>
                                        </p:tgtEl>
                                        <p:attrNameLst>
                                          <p:attrName>style.visibility</p:attrName>
                                        </p:attrNameLst>
                                      </p:cBhvr>
                                      <p:to>
                                        <p:strVal val="visible"/>
                                      </p:to>
                                    </p:set>
                                    <p:animEffect transition="in" filter="wipe(up)">
                                      <p:cBhvr>
                                        <p:cTn id="7" dur="500"/>
                                        <p:tgtEl>
                                          <p:spTgt spid="28679"/>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28680"/>
                                        </p:tgtEl>
                                        <p:attrNameLst>
                                          <p:attrName>style.visibility</p:attrName>
                                        </p:attrNameLst>
                                      </p:cBhvr>
                                      <p:to>
                                        <p:strVal val="visible"/>
                                      </p:to>
                                    </p:set>
                                    <p:animEffect transition="in" filter="dissolve">
                                      <p:cBhvr>
                                        <p:cTn id="11" dur="500"/>
                                        <p:tgtEl>
                                          <p:spTgt spid="2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9"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53300CC6-DB9E-4292-CD81-740E8CECBC5C}"/>
              </a:ext>
            </a:extLst>
          </p:cNvPr>
          <p:cNvSpPr>
            <a:spLocks noChangeArrowheads="1"/>
          </p:cNvSpPr>
          <p:nvPr/>
        </p:nvSpPr>
        <p:spPr bwMode="auto">
          <a:xfrm>
            <a:off x="3484563" y="2743200"/>
            <a:ext cx="6748462"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p:txBody>
      </p:sp>
      <p:grpSp>
        <p:nvGrpSpPr>
          <p:cNvPr id="54274" name="Group 3">
            <a:extLst>
              <a:ext uri="{FF2B5EF4-FFF2-40B4-BE49-F238E27FC236}">
                <a16:creationId xmlns:a16="http://schemas.microsoft.com/office/drawing/2014/main" id="{7957BAAF-F1FD-F7EB-3793-549BFD5F38BD}"/>
              </a:ext>
            </a:extLst>
          </p:cNvPr>
          <p:cNvGrpSpPr>
            <a:grpSpLocks/>
          </p:cNvGrpSpPr>
          <p:nvPr/>
        </p:nvGrpSpPr>
        <p:grpSpPr bwMode="auto">
          <a:xfrm>
            <a:off x="2305050" y="604838"/>
            <a:ext cx="2636838" cy="1273175"/>
            <a:chOff x="372" y="76"/>
            <a:chExt cx="1661" cy="739"/>
          </a:xfrm>
        </p:grpSpPr>
        <p:sp>
          <p:nvSpPr>
            <p:cNvPr id="54292" name="AutoShape 4">
              <a:extLst>
                <a:ext uri="{FF2B5EF4-FFF2-40B4-BE49-F238E27FC236}">
                  <a16:creationId xmlns:a16="http://schemas.microsoft.com/office/drawing/2014/main" id="{8E10F733-64CD-DE95-5216-B1F1EE710D20}"/>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4293" name="Rectangle 5">
              <a:extLst>
                <a:ext uri="{FF2B5EF4-FFF2-40B4-BE49-F238E27FC236}">
                  <a16:creationId xmlns:a16="http://schemas.microsoft.com/office/drawing/2014/main" id="{421E242B-1931-9436-FF0C-760BB1DF887A}"/>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54275" name="Rectangle 6">
            <a:extLst>
              <a:ext uri="{FF2B5EF4-FFF2-40B4-BE49-F238E27FC236}">
                <a16:creationId xmlns:a16="http://schemas.microsoft.com/office/drawing/2014/main" id="{D610DE5B-8306-6D3F-D0A1-6EE75824F8EE}"/>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sp>
        <p:nvSpPr>
          <p:cNvPr id="54276" name="Rectangle 7">
            <a:extLst>
              <a:ext uri="{FF2B5EF4-FFF2-40B4-BE49-F238E27FC236}">
                <a16:creationId xmlns:a16="http://schemas.microsoft.com/office/drawing/2014/main" id="{A173EEBC-ACD3-726A-E56C-B9B63E0C5C15}"/>
              </a:ext>
            </a:extLst>
          </p:cNvPr>
          <p:cNvSpPr>
            <a:spLocks noChangeArrowheads="1"/>
          </p:cNvSpPr>
          <p:nvPr/>
        </p:nvSpPr>
        <p:spPr bwMode="auto">
          <a:xfrm>
            <a:off x="4146550" y="3930650"/>
            <a:ext cx="5683250" cy="2582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5400" b="1" i="1">
                <a:solidFill>
                  <a:srgbClr val="CC0000"/>
                </a:solidFill>
                <a:latin typeface="Arial" panose="020B0604020202020204" pitchFamily="34" charset="0"/>
              </a:rPr>
              <a:t>Examine the two</a:t>
            </a:r>
          </a:p>
          <a:p>
            <a:pPr algn="ctr" eaLnBrk="1" hangingPunct="1">
              <a:lnSpc>
                <a:spcPct val="100000"/>
              </a:lnSpc>
              <a:spcBef>
                <a:spcPct val="0"/>
              </a:spcBef>
              <a:buFontTx/>
              <a:buNone/>
            </a:pPr>
            <a:r>
              <a:rPr lang="en-US" altLang="en-US" sz="5400" b="1" i="1">
                <a:solidFill>
                  <a:srgbClr val="CC0000"/>
                </a:solidFill>
                <a:latin typeface="Arial" panose="020B0604020202020204" pitchFamily="34" charset="0"/>
              </a:rPr>
              <a:t>marginal utilities</a:t>
            </a:r>
          </a:p>
          <a:p>
            <a:pPr algn="ctr" eaLnBrk="1" hangingPunct="1">
              <a:lnSpc>
                <a:spcPct val="100000"/>
              </a:lnSpc>
              <a:spcBef>
                <a:spcPct val="0"/>
              </a:spcBef>
              <a:buFontTx/>
              <a:buNone/>
            </a:pPr>
            <a:r>
              <a:rPr lang="en-US" altLang="en-US" sz="5400" b="1" i="1">
                <a:latin typeface="Arial" panose="020B0604020202020204" pitchFamily="34" charset="0"/>
              </a:rPr>
              <a:t>…per dollar</a:t>
            </a:r>
          </a:p>
        </p:txBody>
      </p:sp>
      <p:grpSp>
        <p:nvGrpSpPr>
          <p:cNvPr id="29704" name="Group 8">
            <a:extLst>
              <a:ext uri="{FF2B5EF4-FFF2-40B4-BE49-F238E27FC236}">
                <a16:creationId xmlns:a16="http://schemas.microsoft.com/office/drawing/2014/main" id="{5F15919F-4261-6239-36DA-1860346A0C48}"/>
              </a:ext>
            </a:extLst>
          </p:cNvPr>
          <p:cNvGrpSpPr>
            <a:grpSpLocks/>
          </p:cNvGrpSpPr>
          <p:nvPr/>
        </p:nvGrpSpPr>
        <p:grpSpPr bwMode="auto">
          <a:xfrm>
            <a:off x="6418263" y="2490788"/>
            <a:ext cx="4005262" cy="1144587"/>
            <a:chOff x="3083" y="1569"/>
            <a:chExt cx="2523" cy="721"/>
          </a:xfrm>
        </p:grpSpPr>
        <p:sp>
          <p:nvSpPr>
            <p:cNvPr id="54290" name="Oval 9">
              <a:extLst>
                <a:ext uri="{FF2B5EF4-FFF2-40B4-BE49-F238E27FC236}">
                  <a16:creationId xmlns:a16="http://schemas.microsoft.com/office/drawing/2014/main" id="{9BA34BD9-E841-616F-6CBC-C01AA18C21EC}"/>
                </a:ext>
              </a:extLst>
            </p:cNvPr>
            <p:cNvSpPr>
              <a:spLocks noChangeArrowheads="1"/>
            </p:cNvSpPr>
            <p:nvPr/>
          </p:nvSpPr>
          <p:spPr bwMode="auto">
            <a:xfrm>
              <a:off x="3083" y="156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4291" name="Oval 10">
              <a:extLst>
                <a:ext uri="{FF2B5EF4-FFF2-40B4-BE49-F238E27FC236}">
                  <a16:creationId xmlns:a16="http://schemas.microsoft.com/office/drawing/2014/main" id="{C7A7089F-19CC-10B3-0942-178BA805577B}"/>
                </a:ext>
              </a:extLst>
            </p:cNvPr>
            <p:cNvSpPr>
              <a:spLocks noChangeArrowheads="1"/>
            </p:cNvSpPr>
            <p:nvPr/>
          </p:nvSpPr>
          <p:spPr bwMode="auto">
            <a:xfrm>
              <a:off x="4877" y="1575"/>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pSp>
        <p:nvGrpSpPr>
          <p:cNvPr id="54278" name="Group 11">
            <a:extLst>
              <a:ext uri="{FF2B5EF4-FFF2-40B4-BE49-F238E27FC236}">
                <a16:creationId xmlns:a16="http://schemas.microsoft.com/office/drawing/2014/main" id="{4E5E199C-2D85-C07B-E78C-3E61A4B8D183}"/>
              </a:ext>
            </a:extLst>
          </p:cNvPr>
          <p:cNvGrpSpPr>
            <a:grpSpLocks/>
          </p:cNvGrpSpPr>
          <p:nvPr/>
        </p:nvGrpSpPr>
        <p:grpSpPr bwMode="auto">
          <a:xfrm>
            <a:off x="3479800" y="1335088"/>
            <a:ext cx="7026275" cy="1370012"/>
            <a:chOff x="1236" y="845"/>
            <a:chExt cx="4426" cy="863"/>
          </a:xfrm>
        </p:grpSpPr>
        <p:sp>
          <p:nvSpPr>
            <p:cNvPr id="54286" name="Line 12">
              <a:extLst>
                <a:ext uri="{FF2B5EF4-FFF2-40B4-BE49-F238E27FC236}">
                  <a16:creationId xmlns:a16="http://schemas.microsoft.com/office/drawing/2014/main" id="{835F828F-A24F-A243-E6C3-CD6261886EBF}"/>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4287" name="Line 13">
              <a:extLst>
                <a:ext uri="{FF2B5EF4-FFF2-40B4-BE49-F238E27FC236}">
                  <a16:creationId xmlns:a16="http://schemas.microsoft.com/office/drawing/2014/main" id="{BA3C258D-062B-4FB4-C9D2-7C03237109B8}"/>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4288" name="Line 14">
              <a:extLst>
                <a:ext uri="{FF2B5EF4-FFF2-40B4-BE49-F238E27FC236}">
                  <a16:creationId xmlns:a16="http://schemas.microsoft.com/office/drawing/2014/main" id="{2F66C817-DD14-BCB1-A772-CB0FEFC6C205}"/>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4289" name="Line 15">
              <a:extLst>
                <a:ext uri="{FF2B5EF4-FFF2-40B4-BE49-F238E27FC236}">
                  <a16:creationId xmlns:a16="http://schemas.microsoft.com/office/drawing/2014/main" id="{7E4A54C7-57F7-6A38-0BE9-C323F018542E}"/>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54279" name="Rectangle 16">
            <a:extLst>
              <a:ext uri="{FF2B5EF4-FFF2-40B4-BE49-F238E27FC236}">
                <a16:creationId xmlns:a16="http://schemas.microsoft.com/office/drawing/2014/main" id="{C3B220F3-BDE4-E7EB-5AF0-1F9C27C690AC}"/>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54280" name="Rectangle 17">
            <a:extLst>
              <a:ext uri="{FF2B5EF4-FFF2-40B4-BE49-F238E27FC236}">
                <a16:creationId xmlns:a16="http://schemas.microsoft.com/office/drawing/2014/main" id="{1B818639-E0FF-5FEA-CA0C-F9FAA73A12DC}"/>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54281" name="Rectangle 18">
            <a:extLst>
              <a:ext uri="{FF2B5EF4-FFF2-40B4-BE49-F238E27FC236}">
                <a16:creationId xmlns:a16="http://schemas.microsoft.com/office/drawing/2014/main" id="{5B4319BE-CB57-E502-8DDC-C2C59765CEA7}"/>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54282" name="Rectangle 19">
            <a:extLst>
              <a:ext uri="{FF2B5EF4-FFF2-40B4-BE49-F238E27FC236}">
                <a16:creationId xmlns:a16="http://schemas.microsoft.com/office/drawing/2014/main" id="{A7877DFE-63BA-306F-1BD8-84617A9028DE}"/>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54283" name="Rectangle 20">
            <a:extLst>
              <a:ext uri="{FF2B5EF4-FFF2-40B4-BE49-F238E27FC236}">
                <a16:creationId xmlns:a16="http://schemas.microsoft.com/office/drawing/2014/main" id="{4776D94B-C7B2-7EA5-7F9C-BBEB69626902}"/>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54284" name="Rectangle 21">
            <a:extLst>
              <a:ext uri="{FF2B5EF4-FFF2-40B4-BE49-F238E27FC236}">
                <a16:creationId xmlns:a16="http://schemas.microsoft.com/office/drawing/2014/main" id="{8D6DABCB-EF3A-D74F-206D-F52C6795C9B8}"/>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54285" name="Rectangle 22">
            <a:extLst>
              <a:ext uri="{FF2B5EF4-FFF2-40B4-BE49-F238E27FC236}">
                <a16:creationId xmlns:a16="http://schemas.microsoft.com/office/drawing/2014/main" id="{46C82F0E-AC85-9FBA-4C4C-843C80A13743}"/>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9704"/>
                                        </p:tgtEl>
                                        <p:attrNameLst>
                                          <p:attrName>style.visibility</p:attrName>
                                        </p:attrNameLst>
                                      </p:cBhvr>
                                      <p:to>
                                        <p:strVal val="visible"/>
                                      </p:to>
                                    </p:set>
                                    <p:animEffect transition="in" filter="dissolve">
                                      <p:cBhvr>
                                        <p:cTn id="7" dur="500"/>
                                        <p:tgtEl>
                                          <p:spTgt spid="29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9238C70A-758F-1A07-6EE7-7628C3323167}"/>
              </a:ext>
            </a:extLst>
          </p:cNvPr>
          <p:cNvSpPr>
            <a:spLocks noChangeArrowheads="1"/>
          </p:cNvSpPr>
          <p:nvPr/>
        </p:nvSpPr>
        <p:spPr bwMode="auto">
          <a:xfrm>
            <a:off x="3484563" y="2743200"/>
            <a:ext cx="6748462"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p:txBody>
      </p:sp>
      <p:grpSp>
        <p:nvGrpSpPr>
          <p:cNvPr id="55298" name="Group 3">
            <a:extLst>
              <a:ext uri="{FF2B5EF4-FFF2-40B4-BE49-F238E27FC236}">
                <a16:creationId xmlns:a16="http://schemas.microsoft.com/office/drawing/2014/main" id="{343DB81B-6CA1-D345-9BB0-42E371748694}"/>
              </a:ext>
            </a:extLst>
          </p:cNvPr>
          <p:cNvGrpSpPr>
            <a:grpSpLocks/>
          </p:cNvGrpSpPr>
          <p:nvPr/>
        </p:nvGrpSpPr>
        <p:grpSpPr bwMode="auto">
          <a:xfrm>
            <a:off x="2305050" y="604838"/>
            <a:ext cx="2636838" cy="1273175"/>
            <a:chOff x="372" y="76"/>
            <a:chExt cx="1661" cy="739"/>
          </a:xfrm>
        </p:grpSpPr>
        <p:sp>
          <p:nvSpPr>
            <p:cNvPr id="55317" name="AutoShape 4">
              <a:extLst>
                <a:ext uri="{FF2B5EF4-FFF2-40B4-BE49-F238E27FC236}">
                  <a16:creationId xmlns:a16="http://schemas.microsoft.com/office/drawing/2014/main" id="{96547B46-7E62-97FD-1F71-BF44EBDF2358}"/>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5318" name="Rectangle 5">
              <a:extLst>
                <a:ext uri="{FF2B5EF4-FFF2-40B4-BE49-F238E27FC236}">
                  <a16:creationId xmlns:a16="http://schemas.microsoft.com/office/drawing/2014/main" id="{876E314A-5087-645C-46D1-B808AF246D55}"/>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55299" name="Rectangle 6">
            <a:extLst>
              <a:ext uri="{FF2B5EF4-FFF2-40B4-BE49-F238E27FC236}">
                <a16:creationId xmlns:a16="http://schemas.microsoft.com/office/drawing/2014/main" id="{D7BCF4CE-8171-5D8D-BA1C-4C9032BC3362}"/>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sp>
        <p:nvSpPr>
          <p:cNvPr id="30727" name="Rectangle 7">
            <a:extLst>
              <a:ext uri="{FF2B5EF4-FFF2-40B4-BE49-F238E27FC236}">
                <a16:creationId xmlns:a16="http://schemas.microsoft.com/office/drawing/2014/main" id="{58477678-95D9-0B19-6752-90EFBFCA8C36}"/>
              </a:ext>
            </a:extLst>
          </p:cNvPr>
          <p:cNvSpPr>
            <a:spLocks noChangeArrowheads="1"/>
          </p:cNvSpPr>
          <p:nvPr/>
        </p:nvSpPr>
        <p:spPr bwMode="auto">
          <a:xfrm>
            <a:off x="4203700" y="3930650"/>
            <a:ext cx="5568950" cy="175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5400" b="1" i="1">
                <a:latin typeface="Arial" panose="020B0604020202020204" pitchFamily="34" charset="0"/>
              </a:rPr>
              <a:t>Decision:  Buy 1</a:t>
            </a:r>
          </a:p>
          <a:p>
            <a:pPr algn="ctr" eaLnBrk="1" hangingPunct="1">
              <a:lnSpc>
                <a:spcPct val="100000"/>
              </a:lnSpc>
              <a:spcBef>
                <a:spcPct val="0"/>
              </a:spcBef>
              <a:buFontTx/>
              <a:buNone/>
            </a:pPr>
            <a:r>
              <a:rPr lang="en-US" altLang="en-US" sz="5400" b="1" i="1">
                <a:latin typeface="Arial" panose="020B0604020202020204" pitchFamily="34" charset="0"/>
              </a:rPr>
              <a:t>Product B for $2</a:t>
            </a:r>
          </a:p>
        </p:txBody>
      </p:sp>
      <p:grpSp>
        <p:nvGrpSpPr>
          <p:cNvPr id="55301" name="Group 8">
            <a:extLst>
              <a:ext uri="{FF2B5EF4-FFF2-40B4-BE49-F238E27FC236}">
                <a16:creationId xmlns:a16="http://schemas.microsoft.com/office/drawing/2014/main" id="{CD13A16E-C64C-4E45-BE6A-4A4FDB09D8C7}"/>
              </a:ext>
            </a:extLst>
          </p:cNvPr>
          <p:cNvGrpSpPr>
            <a:grpSpLocks/>
          </p:cNvGrpSpPr>
          <p:nvPr/>
        </p:nvGrpSpPr>
        <p:grpSpPr bwMode="auto">
          <a:xfrm>
            <a:off x="6418263" y="2490788"/>
            <a:ext cx="4005262" cy="1144587"/>
            <a:chOff x="3083" y="1569"/>
            <a:chExt cx="2523" cy="721"/>
          </a:xfrm>
        </p:grpSpPr>
        <p:sp>
          <p:nvSpPr>
            <p:cNvPr id="55315" name="Oval 9">
              <a:extLst>
                <a:ext uri="{FF2B5EF4-FFF2-40B4-BE49-F238E27FC236}">
                  <a16:creationId xmlns:a16="http://schemas.microsoft.com/office/drawing/2014/main" id="{814C5788-DE5D-B453-0092-9188467A0928}"/>
                </a:ext>
              </a:extLst>
            </p:cNvPr>
            <p:cNvSpPr>
              <a:spLocks noChangeArrowheads="1"/>
            </p:cNvSpPr>
            <p:nvPr/>
          </p:nvSpPr>
          <p:spPr bwMode="auto">
            <a:xfrm>
              <a:off x="3083" y="156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5316" name="Oval 10">
              <a:extLst>
                <a:ext uri="{FF2B5EF4-FFF2-40B4-BE49-F238E27FC236}">
                  <a16:creationId xmlns:a16="http://schemas.microsoft.com/office/drawing/2014/main" id="{E9FC4267-23D5-F11B-BEA2-67F0FFBC1E34}"/>
                </a:ext>
              </a:extLst>
            </p:cNvPr>
            <p:cNvSpPr>
              <a:spLocks noChangeArrowheads="1"/>
            </p:cNvSpPr>
            <p:nvPr/>
          </p:nvSpPr>
          <p:spPr bwMode="auto">
            <a:xfrm>
              <a:off x="4877" y="1575"/>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aphicFrame>
        <p:nvGraphicFramePr>
          <p:cNvPr id="30731" name="Object 11">
            <a:hlinkClick r:id="" action="ppaction://ole?verb=0"/>
            <a:extLst>
              <a:ext uri="{FF2B5EF4-FFF2-40B4-BE49-F238E27FC236}">
                <a16:creationId xmlns:a16="http://schemas.microsoft.com/office/drawing/2014/main" id="{CCD578AA-835B-970D-F670-4814B34E4243}"/>
              </a:ext>
            </a:extLst>
          </p:cNvPr>
          <p:cNvGraphicFramePr>
            <a:graphicFrameLocks/>
          </p:cNvGraphicFramePr>
          <p:nvPr/>
        </p:nvGraphicFramePr>
        <p:xfrm>
          <a:off x="10058400" y="26447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30731" name="Object 11">
                        <a:hlinkClick r:id="" action="ppaction://ole?verb=0"/>
                        <a:extLst>
                          <a:ext uri="{FF2B5EF4-FFF2-40B4-BE49-F238E27FC236}">
                            <a16:creationId xmlns:a16="http://schemas.microsoft.com/office/drawing/2014/main" id="{CCD578AA-835B-970D-F670-4814B34E424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584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5303" name="Group 12">
            <a:extLst>
              <a:ext uri="{FF2B5EF4-FFF2-40B4-BE49-F238E27FC236}">
                <a16:creationId xmlns:a16="http://schemas.microsoft.com/office/drawing/2014/main" id="{FDC2389F-0E57-A319-1DD5-AB1BC5FCCD38}"/>
              </a:ext>
            </a:extLst>
          </p:cNvPr>
          <p:cNvGrpSpPr>
            <a:grpSpLocks/>
          </p:cNvGrpSpPr>
          <p:nvPr/>
        </p:nvGrpSpPr>
        <p:grpSpPr bwMode="auto">
          <a:xfrm>
            <a:off x="3479800" y="1335088"/>
            <a:ext cx="7026275" cy="1370012"/>
            <a:chOff x="1236" y="845"/>
            <a:chExt cx="4426" cy="863"/>
          </a:xfrm>
        </p:grpSpPr>
        <p:sp>
          <p:nvSpPr>
            <p:cNvPr id="55311" name="Line 13">
              <a:extLst>
                <a:ext uri="{FF2B5EF4-FFF2-40B4-BE49-F238E27FC236}">
                  <a16:creationId xmlns:a16="http://schemas.microsoft.com/office/drawing/2014/main" id="{19A71D37-36EA-E132-FAB1-E3CE39231930}"/>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5312" name="Line 14">
              <a:extLst>
                <a:ext uri="{FF2B5EF4-FFF2-40B4-BE49-F238E27FC236}">
                  <a16:creationId xmlns:a16="http://schemas.microsoft.com/office/drawing/2014/main" id="{AF129F01-61DC-D91B-D282-6DCADC94E209}"/>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5313" name="Line 15">
              <a:extLst>
                <a:ext uri="{FF2B5EF4-FFF2-40B4-BE49-F238E27FC236}">
                  <a16:creationId xmlns:a16="http://schemas.microsoft.com/office/drawing/2014/main" id="{E091F4E9-91C7-4CB1-3BBB-50C155E0A845}"/>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5314" name="Line 16">
              <a:extLst>
                <a:ext uri="{FF2B5EF4-FFF2-40B4-BE49-F238E27FC236}">
                  <a16:creationId xmlns:a16="http://schemas.microsoft.com/office/drawing/2014/main" id="{56AAEA1D-7668-0370-F5CC-021422E09983}"/>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55304" name="Rectangle 17">
            <a:extLst>
              <a:ext uri="{FF2B5EF4-FFF2-40B4-BE49-F238E27FC236}">
                <a16:creationId xmlns:a16="http://schemas.microsoft.com/office/drawing/2014/main" id="{E5F061C1-9F25-6B26-31FC-AC96515C0364}"/>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55305" name="Rectangle 18">
            <a:extLst>
              <a:ext uri="{FF2B5EF4-FFF2-40B4-BE49-F238E27FC236}">
                <a16:creationId xmlns:a16="http://schemas.microsoft.com/office/drawing/2014/main" id="{5D069252-CD0F-56CF-0085-8CA7EA59D784}"/>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55306" name="Rectangle 19">
            <a:extLst>
              <a:ext uri="{FF2B5EF4-FFF2-40B4-BE49-F238E27FC236}">
                <a16:creationId xmlns:a16="http://schemas.microsoft.com/office/drawing/2014/main" id="{838EA7CF-E79D-8544-9B3C-9A83D784C382}"/>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55307" name="Rectangle 20">
            <a:extLst>
              <a:ext uri="{FF2B5EF4-FFF2-40B4-BE49-F238E27FC236}">
                <a16:creationId xmlns:a16="http://schemas.microsoft.com/office/drawing/2014/main" id="{AD91769E-E3C2-0F4C-542B-F5DB93F48405}"/>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55308" name="Rectangle 21">
            <a:extLst>
              <a:ext uri="{FF2B5EF4-FFF2-40B4-BE49-F238E27FC236}">
                <a16:creationId xmlns:a16="http://schemas.microsoft.com/office/drawing/2014/main" id="{C54E8C04-038A-699A-3A3F-3A326726DB1D}"/>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55309" name="Rectangle 22">
            <a:extLst>
              <a:ext uri="{FF2B5EF4-FFF2-40B4-BE49-F238E27FC236}">
                <a16:creationId xmlns:a16="http://schemas.microsoft.com/office/drawing/2014/main" id="{6784E22F-BD8D-29D9-79E9-82FA77B8420C}"/>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55310" name="Rectangle 23">
            <a:extLst>
              <a:ext uri="{FF2B5EF4-FFF2-40B4-BE49-F238E27FC236}">
                <a16:creationId xmlns:a16="http://schemas.microsoft.com/office/drawing/2014/main" id="{809B05D0-F260-E168-DEF0-EC80BC7C976A}"/>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0727"/>
                                        </p:tgtEl>
                                        <p:attrNameLst>
                                          <p:attrName>style.visibility</p:attrName>
                                        </p:attrNameLst>
                                      </p:cBhvr>
                                      <p:to>
                                        <p:strVal val="visible"/>
                                      </p:to>
                                    </p:set>
                                    <p:animEffect transition="in" filter="wipe(up)">
                                      <p:cBhvr>
                                        <p:cTn id="7" dur="500"/>
                                        <p:tgtEl>
                                          <p:spTgt spid="30727"/>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0731"/>
                                        </p:tgtEl>
                                        <p:attrNameLst>
                                          <p:attrName>style.visibility</p:attrName>
                                        </p:attrNameLst>
                                      </p:cBhvr>
                                      <p:to>
                                        <p:strVal val="visible"/>
                                      </p:to>
                                    </p:set>
                                    <p:animEffect transition="in" filter="dissolve">
                                      <p:cBhvr>
                                        <p:cTn id="11" dur="500"/>
                                        <p:tgtEl>
                                          <p:spTgt spid="30731"/>
                                        </p:tgtEl>
                                      </p:cBhvr>
                                    </p:animEffect>
                                  </p:childTnLst>
                                  <p:subTnLst>
                                    <p:audio>
                                      <p:cMediaNode>
                                        <p:cTn display="0" masterRel="sameClick">
                                          <p:stCondLst>
                                            <p:cond evt="begin" delay="0">
                                              <p:tn val="9"/>
                                            </p:cond>
                                          </p:stCondLst>
                                          <p:endCondLst>
                                            <p:cond evt="onStopAudio" delay="0">
                                              <p:tgtEl>
                                                <p:sldTgt/>
                                              </p:tgtEl>
                                            </p:cond>
                                          </p:endCondLst>
                                        </p:cTn>
                                        <p:tgtEl>
                                          <p:sndTgt r:embed="rId2" name="DIN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AC5979FB-EB20-017E-FCFC-458D964AE35A}"/>
              </a:ext>
            </a:extLst>
          </p:cNvPr>
          <p:cNvSpPr>
            <a:spLocks noChangeArrowheads="1"/>
          </p:cNvSpPr>
          <p:nvPr/>
        </p:nvSpPr>
        <p:spPr bwMode="auto">
          <a:xfrm>
            <a:off x="3484563" y="2743200"/>
            <a:ext cx="6286500"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a:p>
            <a:pPr eaLnBrk="1" hangingPunct="1">
              <a:lnSpc>
                <a:spcPct val="100000"/>
              </a:lnSpc>
              <a:spcBef>
                <a:spcPct val="0"/>
              </a:spcBef>
              <a:buFontTx/>
              <a:buNone/>
            </a:pPr>
            <a:r>
              <a:rPr lang="en-US" altLang="en-US" sz="3600" b="1">
                <a:latin typeface="Arial" panose="020B0604020202020204" pitchFamily="34" charset="0"/>
              </a:rPr>
              <a:t>Second	  8	     8		 20	    10</a:t>
            </a:r>
          </a:p>
          <a:p>
            <a:pPr eaLnBrk="1" hangingPunct="1">
              <a:lnSpc>
                <a:spcPct val="100000"/>
              </a:lnSpc>
              <a:spcBef>
                <a:spcPct val="0"/>
              </a:spcBef>
              <a:buFontTx/>
              <a:buNone/>
            </a:pPr>
            <a:r>
              <a:rPr lang="en-US" altLang="en-US" sz="3600" b="1">
                <a:latin typeface="Arial" panose="020B0604020202020204" pitchFamily="34" charset="0"/>
              </a:rPr>
              <a:t>Third	     7	         7	 18	      9</a:t>
            </a:r>
          </a:p>
          <a:p>
            <a:pPr eaLnBrk="1" hangingPunct="1">
              <a:lnSpc>
                <a:spcPct val="100000"/>
              </a:lnSpc>
              <a:spcBef>
                <a:spcPct val="0"/>
              </a:spcBef>
              <a:buFontTx/>
              <a:buNone/>
            </a:pPr>
            <a:r>
              <a:rPr lang="en-US" altLang="en-US" sz="3600" b="1">
                <a:latin typeface="Arial" panose="020B0604020202020204" pitchFamily="34" charset="0"/>
              </a:rPr>
              <a:t>Fourth	 6	         6	 16	      8</a:t>
            </a:r>
          </a:p>
          <a:p>
            <a:pPr eaLnBrk="1" hangingPunct="1">
              <a:lnSpc>
                <a:spcPct val="100000"/>
              </a:lnSpc>
              <a:spcBef>
                <a:spcPct val="0"/>
              </a:spcBef>
              <a:buFontTx/>
              <a:buNone/>
            </a:pPr>
            <a:r>
              <a:rPr lang="en-US" altLang="en-US" sz="3600" b="1">
                <a:latin typeface="Arial" panose="020B0604020202020204" pitchFamily="34" charset="0"/>
              </a:rPr>
              <a:t>Fifth	     5	         5	 12	      6</a:t>
            </a:r>
          </a:p>
          <a:p>
            <a:pPr eaLnBrk="1" hangingPunct="1">
              <a:lnSpc>
                <a:spcPct val="100000"/>
              </a:lnSpc>
              <a:spcBef>
                <a:spcPct val="0"/>
              </a:spcBef>
              <a:buFontTx/>
              <a:buNone/>
            </a:pPr>
            <a:r>
              <a:rPr lang="en-US" altLang="en-US" sz="3600" b="1">
                <a:latin typeface="Arial" panose="020B0604020202020204" pitchFamily="34" charset="0"/>
              </a:rPr>
              <a:t>Sixth	     4	         4	   6	      3</a:t>
            </a:r>
          </a:p>
          <a:p>
            <a:pPr eaLnBrk="1" hangingPunct="1">
              <a:lnSpc>
                <a:spcPct val="100000"/>
              </a:lnSpc>
              <a:spcBef>
                <a:spcPct val="0"/>
              </a:spcBef>
              <a:buFontTx/>
              <a:buNone/>
            </a:pPr>
            <a:r>
              <a:rPr lang="en-US" altLang="en-US" sz="3600" b="1">
                <a:latin typeface="Arial" panose="020B0604020202020204" pitchFamily="34" charset="0"/>
              </a:rPr>
              <a:t>Seventh	  3	     3		   4	      2</a:t>
            </a:r>
          </a:p>
        </p:txBody>
      </p:sp>
      <p:grpSp>
        <p:nvGrpSpPr>
          <p:cNvPr id="56322" name="Group 3">
            <a:extLst>
              <a:ext uri="{FF2B5EF4-FFF2-40B4-BE49-F238E27FC236}">
                <a16:creationId xmlns:a16="http://schemas.microsoft.com/office/drawing/2014/main" id="{2ECB5F2C-9B2B-AA7B-86B5-429BB649C0A2}"/>
              </a:ext>
            </a:extLst>
          </p:cNvPr>
          <p:cNvGrpSpPr>
            <a:grpSpLocks/>
          </p:cNvGrpSpPr>
          <p:nvPr/>
        </p:nvGrpSpPr>
        <p:grpSpPr bwMode="auto">
          <a:xfrm>
            <a:off x="2305050" y="604838"/>
            <a:ext cx="2636838" cy="1273175"/>
            <a:chOff x="372" y="76"/>
            <a:chExt cx="1661" cy="739"/>
          </a:xfrm>
        </p:grpSpPr>
        <p:sp>
          <p:nvSpPr>
            <p:cNvPr id="56340" name="AutoShape 4">
              <a:extLst>
                <a:ext uri="{FF2B5EF4-FFF2-40B4-BE49-F238E27FC236}">
                  <a16:creationId xmlns:a16="http://schemas.microsoft.com/office/drawing/2014/main" id="{FB084AC8-D05D-7A44-6B83-A4A1256CE4A2}"/>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6341" name="Rectangle 5">
              <a:extLst>
                <a:ext uri="{FF2B5EF4-FFF2-40B4-BE49-F238E27FC236}">
                  <a16:creationId xmlns:a16="http://schemas.microsoft.com/office/drawing/2014/main" id="{657D867E-B59D-9714-3936-A0F204FB314F}"/>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56323" name="Rectangle 6">
            <a:extLst>
              <a:ext uri="{FF2B5EF4-FFF2-40B4-BE49-F238E27FC236}">
                <a16:creationId xmlns:a16="http://schemas.microsoft.com/office/drawing/2014/main" id="{2A43BFDF-4AA1-66EA-F63D-86F839B339C3}"/>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graphicFrame>
        <p:nvGraphicFramePr>
          <p:cNvPr id="56324" name="Object 7">
            <a:hlinkClick r:id="" action="ppaction://ole?verb=0"/>
            <a:extLst>
              <a:ext uri="{FF2B5EF4-FFF2-40B4-BE49-F238E27FC236}">
                <a16:creationId xmlns:a16="http://schemas.microsoft.com/office/drawing/2014/main" id="{E1783465-9D72-C0D1-8E3C-43C38314F07F}"/>
              </a:ext>
            </a:extLst>
          </p:cNvPr>
          <p:cNvGraphicFramePr>
            <a:graphicFrameLocks/>
          </p:cNvGraphicFramePr>
          <p:nvPr/>
        </p:nvGraphicFramePr>
        <p:xfrm>
          <a:off x="10058400" y="26447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56324" name="Object 7">
                        <a:hlinkClick r:id="" action="ppaction://ole?verb=0"/>
                        <a:extLst>
                          <a:ext uri="{FF2B5EF4-FFF2-40B4-BE49-F238E27FC236}">
                            <a16:creationId xmlns:a16="http://schemas.microsoft.com/office/drawing/2014/main" id="{E1783465-9D72-C0D1-8E3C-43C38314F07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1755" name="Group 11">
            <a:extLst>
              <a:ext uri="{FF2B5EF4-FFF2-40B4-BE49-F238E27FC236}">
                <a16:creationId xmlns:a16="http://schemas.microsoft.com/office/drawing/2014/main" id="{4876A555-F163-F22B-4B0A-9822BE099116}"/>
              </a:ext>
            </a:extLst>
          </p:cNvPr>
          <p:cNvGrpSpPr>
            <a:grpSpLocks/>
          </p:cNvGrpSpPr>
          <p:nvPr/>
        </p:nvGrpSpPr>
        <p:grpSpPr bwMode="auto">
          <a:xfrm>
            <a:off x="6418263" y="2490788"/>
            <a:ext cx="4005262" cy="1690687"/>
            <a:chOff x="3083" y="1569"/>
            <a:chExt cx="2523" cy="1065"/>
          </a:xfrm>
        </p:grpSpPr>
        <p:sp>
          <p:nvSpPr>
            <p:cNvPr id="56338" name="Oval 12">
              <a:extLst>
                <a:ext uri="{FF2B5EF4-FFF2-40B4-BE49-F238E27FC236}">
                  <a16:creationId xmlns:a16="http://schemas.microsoft.com/office/drawing/2014/main" id="{E2ACFC34-2753-EEDE-E08B-D3E7369B8257}"/>
                </a:ext>
              </a:extLst>
            </p:cNvPr>
            <p:cNvSpPr>
              <a:spLocks noChangeArrowheads="1"/>
            </p:cNvSpPr>
            <p:nvPr/>
          </p:nvSpPr>
          <p:spPr bwMode="auto">
            <a:xfrm>
              <a:off x="3083" y="156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6339" name="Oval 13">
              <a:extLst>
                <a:ext uri="{FF2B5EF4-FFF2-40B4-BE49-F238E27FC236}">
                  <a16:creationId xmlns:a16="http://schemas.microsoft.com/office/drawing/2014/main" id="{DA4129A3-F17A-1274-6F5C-00554828D692}"/>
                </a:ext>
              </a:extLst>
            </p:cNvPr>
            <p:cNvSpPr>
              <a:spLocks noChangeArrowheads="1"/>
            </p:cNvSpPr>
            <p:nvPr/>
          </p:nvSpPr>
          <p:spPr bwMode="auto">
            <a:xfrm>
              <a:off x="4877" y="191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pSp>
        <p:nvGrpSpPr>
          <p:cNvPr id="56326" name="Group 14">
            <a:extLst>
              <a:ext uri="{FF2B5EF4-FFF2-40B4-BE49-F238E27FC236}">
                <a16:creationId xmlns:a16="http://schemas.microsoft.com/office/drawing/2014/main" id="{E37E9CBD-16D8-1870-29D3-69D05CA67574}"/>
              </a:ext>
            </a:extLst>
          </p:cNvPr>
          <p:cNvGrpSpPr>
            <a:grpSpLocks/>
          </p:cNvGrpSpPr>
          <p:nvPr/>
        </p:nvGrpSpPr>
        <p:grpSpPr bwMode="auto">
          <a:xfrm>
            <a:off x="3479800" y="1335088"/>
            <a:ext cx="7026275" cy="1370012"/>
            <a:chOff x="1236" y="845"/>
            <a:chExt cx="4426" cy="863"/>
          </a:xfrm>
        </p:grpSpPr>
        <p:sp>
          <p:nvSpPr>
            <p:cNvPr id="56334" name="Line 15">
              <a:extLst>
                <a:ext uri="{FF2B5EF4-FFF2-40B4-BE49-F238E27FC236}">
                  <a16:creationId xmlns:a16="http://schemas.microsoft.com/office/drawing/2014/main" id="{CCD02DC5-B11F-C015-001D-A170673F1562}"/>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6335" name="Line 16">
              <a:extLst>
                <a:ext uri="{FF2B5EF4-FFF2-40B4-BE49-F238E27FC236}">
                  <a16:creationId xmlns:a16="http://schemas.microsoft.com/office/drawing/2014/main" id="{01F960B3-8ED5-9219-617B-D9D8F72EEDBF}"/>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6336" name="Line 17">
              <a:extLst>
                <a:ext uri="{FF2B5EF4-FFF2-40B4-BE49-F238E27FC236}">
                  <a16:creationId xmlns:a16="http://schemas.microsoft.com/office/drawing/2014/main" id="{A3E58388-52D4-93A9-AFD9-6C24D62B9335}"/>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6337" name="Line 18">
              <a:extLst>
                <a:ext uri="{FF2B5EF4-FFF2-40B4-BE49-F238E27FC236}">
                  <a16:creationId xmlns:a16="http://schemas.microsoft.com/office/drawing/2014/main" id="{DCD1A768-BFD7-88F0-E826-8A1DCF1F4DD6}"/>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56327" name="Rectangle 19">
            <a:extLst>
              <a:ext uri="{FF2B5EF4-FFF2-40B4-BE49-F238E27FC236}">
                <a16:creationId xmlns:a16="http://schemas.microsoft.com/office/drawing/2014/main" id="{D73F2E71-D91D-8204-BD23-8CA2F8555668}"/>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56328" name="Rectangle 20">
            <a:extLst>
              <a:ext uri="{FF2B5EF4-FFF2-40B4-BE49-F238E27FC236}">
                <a16:creationId xmlns:a16="http://schemas.microsoft.com/office/drawing/2014/main" id="{49E5A85C-DB2A-DCF3-EB21-6C228BEFF32D}"/>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56329" name="Rectangle 21">
            <a:extLst>
              <a:ext uri="{FF2B5EF4-FFF2-40B4-BE49-F238E27FC236}">
                <a16:creationId xmlns:a16="http://schemas.microsoft.com/office/drawing/2014/main" id="{6035A805-A276-2151-32A7-929ED6F5DA98}"/>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56330" name="Rectangle 22">
            <a:extLst>
              <a:ext uri="{FF2B5EF4-FFF2-40B4-BE49-F238E27FC236}">
                <a16:creationId xmlns:a16="http://schemas.microsoft.com/office/drawing/2014/main" id="{A5EE80E5-63BF-050D-5DD8-0E4AB6328327}"/>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56331" name="Rectangle 23">
            <a:extLst>
              <a:ext uri="{FF2B5EF4-FFF2-40B4-BE49-F238E27FC236}">
                <a16:creationId xmlns:a16="http://schemas.microsoft.com/office/drawing/2014/main" id="{C3783676-6734-CAB1-098E-003D3A25F7D9}"/>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56332" name="Rectangle 24">
            <a:extLst>
              <a:ext uri="{FF2B5EF4-FFF2-40B4-BE49-F238E27FC236}">
                <a16:creationId xmlns:a16="http://schemas.microsoft.com/office/drawing/2014/main" id="{E4E4C957-3968-687B-490A-7F1F920673D5}"/>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56333" name="Rectangle 25">
            <a:extLst>
              <a:ext uri="{FF2B5EF4-FFF2-40B4-BE49-F238E27FC236}">
                <a16:creationId xmlns:a16="http://schemas.microsoft.com/office/drawing/2014/main" id="{BBBAA0AE-FFBC-3253-264A-AD3C7706A075}"/>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1755"/>
                                        </p:tgtEl>
                                        <p:attrNameLst>
                                          <p:attrName>style.visibility</p:attrName>
                                        </p:attrNameLst>
                                      </p:cBhvr>
                                      <p:to>
                                        <p:strVal val="visible"/>
                                      </p:to>
                                    </p:set>
                                    <p:animEffect transition="in" filter="dissolve">
                                      <p:cBhvr>
                                        <p:cTn id="7" dur="500"/>
                                        <p:tgtEl>
                                          <p:spTgt spid="31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40FED6D6-E425-FE8B-D004-14DAE4D88076}"/>
              </a:ext>
            </a:extLst>
          </p:cNvPr>
          <p:cNvSpPr>
            <a:spLocks noChangeArrowheads="1"/>
          </p:cNvSpPr>
          <p:nvPr/>
        </p:nvSpPr>
        <p:spPr bwMode="auto">
          <a:xfrm>
            <a:off x="3484563" y="2743200"/>
            <a:ext cx="6286500"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a:p>
            <a:pPr eaLnBrk="1" hangingPunct="1">
              <a:lnSpc>
                <a:spcPct val="100000"/>
              </a:lnSpc>
              <a:spcBef>
                <a:spcPct val="0"/>
              </a:spcBef>
              <a:buFontTx/>
              <a:buNone/>
            </a:pPr>
            <a:r>
              <a:rPr lang="en-US" altLang="en-US" sz="3600" b="1">
                <a:latin typeface="Arial" panose="020B0604020202020204" pitchFamily="34" charset="0"/>
              </a:rPr>
              <a:t>Second	  8	     8		 20	    10</a:t>
            </a:r>
          </a:p>
          <a:p>
            <a:pPr eaLnBrk="1" hangingPunct="1">
              <a:lnSpc>
                <a:spcPct val="100000"/>
              </a:lnSpc>
              <a:spcBef>
                <a:spcPct val="0"/>
              </a:spcBef>
              <a:buFontTx/>
              <a:buNone/>
            </a:pPr>
            <a:r>
              <a:rPr lang="en-US" altLang="en-US" sz="3600" b="1">
                <a:latin typeface="Arial" panose="020B0604020202020204" pitchFamily="34" charset="0"/>
              </a:rPr>
              <a:t>Third	  7	     7		 18	         9</a:t>
            </a:r>
          </a:p>
          <a:p>
            <a:pPr eaLnBrk="1" hangingPunct="1">
              <a:lnSpc>
                <a:spcPct val="100000"/>
              </a:lnSpc>
              <a:spcBef>
                <a:spcPct val="0"/>
              </a:spcBef>
              <a:buFontTx/>
              <a:buNone/>
            </a:pPr>
            <a:r>
              <a:rPr lang="en-US" altLang="en-US" sz="3600" b="1">
                <a:latin typeface="Arial" panose="020B0604020202020204" pitchFamily="34" charset="0"/>
              </a:rPr>
              <a:t>Fourth	  6	     6		 16	      8</a:t>
            </a:r>
          </a:p>
          <a:p>
            <a:pPr eaLnBrk="1" hangingPunct="1">
              <a:lnSpc>
                <a:spcPct val="100000"/>
              </a:lnSpc>
              <a:spcBef>
                <a:spcPct val="0"/>
              </a:spcBef>
              <a:buFontTx/>
              <a:buNone/>
            </a:pPr>
            <a:r>
              <a:rPr lang="en-US" altLang="en-US" sz="3600" b="1">
                <a:latin typeface="Arial" panose="020B0604020202020204" pitchFamily="34" charset="0"/>
              </a:rPr>
              <a:t>Fifth	  5	     5		 12	      6</a:t>
            </a:r>
          </a:p>
          <a:p>
            <a:pPr eaLnBrk="1" hangingPunct="1">
              <a:lnSpc>
                <a:spcPct val="100000"/>
              </a:lnSpc>
              <a:spcBef>
                <a:spcPct val="0"/>
              </a:spcBef>
              <a:buFontTx/>
              <a:buNone/>
            </a:pPr>
            <a:r>
              <a:rPr lang="en-US" altLang="en-US" sz="3600" b="1">
                <a:latin typeface="Arial" panose="020B0604020202020204" pitchFamily="34" charset="0"/>
              </a:rPr>
              <a:t>Sixth	  4	     4		   6	      3</a:t>
            </a:r>
          </a:p>
          <a:p>
            <a:pPr eaLnBrk="1" hangingPunct="1">
              <a:lnSpc>
                <a:spcPct val="100000"/>
              </a:lnSpc>
              <a:spcBef>
                <a:spcPct val="0"/>
              </a:spcBef>
              <a:buFontTx/>
              <a:buNone/>
            </a:pPr>
            <a:r>
              <a:rPr lang="en-US" altLang="en-US" sz="3600" b="1">
                <a:latin typeface="Arial" panose="020B0604020202020204" pitchFamily="34" charset="0"/>
              </a:rPr>
              <a:t>Seventh	  3	     3		   4	      2</a:t>
            </a:r>
          </a:p>
        </p:txBody>
      </p:sp>
      <p:grpSp>
        <p:nvGrpSpPr>
          <p:cNvPr id="57346" name="Group 3">
            <a:extLst>
              <a:ext uri="{FF2B5EF4-FFF2-40B4-BE49-F238E27FC236}">
                <a16:creationId xmlns:a16="http://schemas.microsoft.com/office/drawing/2014/main" id="{526E350F-A86F-A7EC-32D5-60BE7773A5DA}"/>
              </a:ext>
            </a:extLst>
          </p:cNvPr>
          <p:cNvGrpSpPr>
            <a:grpSpLocks/>
          </p:cNvGrpSpPr>
          <p:nvPr/>
        </p:nvGrpSpPr>
        <p:grpSpPr bwMode="auto">
          <a:xfrm>
            <a:off x="2305050" y="604838"/>
            <a:ext cx="2636838" cy="1273175"/>
            <a:chOff x="372" y="76"/>
            <a:chExt cx="1661" cy="739"/>
          </a:xfrm>
        </p:grpSpPr>
        <p:sp>
          <p:nvSpPr>
            <p:cNvPr id="57367" name="AutoShape 4">
              <a:extLst>
                <a:ext uri="{FF2B5EF4-FFF2-40B4-BE49-F238E27FC236}">
                  <a16:creationId xmlns:a16="http://schemas.microsoft.com/office/drawing/2014/main" id="{300369AE-53C9-F46C-1500-5A3D911D40F4}"/>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7368" name="Rectangle 5">
              <a:extLst>
                <a:ext uri="{FF2B5EF4-FFF2-40B4-BE49-F238E27FC236}">
                  <a16:creationId xmlns:a16="http://schemas.microsoft.com/office/drawing/2014/main" id="{AF691AD7-8156-675B-A75B-16B6212CFE1C}"/>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57347" name="Rectangle 6">
            <a:extLst>
              <a:ext uri="{FF2B5EF4-FFF2-40B4-BE49-F238E27FC236}">
                <a16:creationId xmlns:a16="http://schemas.microsoft.com/office/drawing/2014/main" id="{39A1157F-3BCA-7214-8A73-62B250F49040}"/>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graphicFrame>
        <p:nvGraphicFramePr>
          <p:cNvPr id="57348" name="Object 7">
            <a:hlinkClick r:id="" action="ppaction://ole?verb=0"/>
            <a:extLst>
              <a:ext uri="{FF2B5EF4-FFF2-40B4-BE49-F238E27FC236}">
                <a16:creationId xmlns:a16="http://schemas.microsoft.com/office/drawing/2014/main" id="{FD07CCC5-C4A4-CC40-FA52-1F3C417DCB13}"/>
              </a:ext>
            </a:extLst>
          </p:cNvPr>
          <p:cNvGraphicFramePr>
            <a:graphicFrameLocks/>
          </p:cNvGraphicFramePr>
          <p:nvPr/>
        </p:nvGraphicFramePr>
        <p:xfrm>
          <a:off x="10058400" y="26447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57348" name="Object 7">
                        <a:hlinkClick r:id="" action="ppaction://ole?verb=0"/>
                        <a:extLst>
                          <a:ext uri="{FF2B5EF4-FFF2-40B4-BE49-F238E27FC236}">
                            <a16:creationId xmlns:a16="http://schemas.microsoft.com/office/drawing/2014/main" id="{FD07CCC5-C4A4-CC40-FA52-1F3C417DCB1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1752" name="Group 8">
            <a:extLst>
              <a:ext uri="{FF2B5EF4-FFF2-40B4-BE49-F238E27FC236}">
                <a16:creationId xmlns:a16="http://schemas.microsoft.com/office/drawing/2014/main" id="{A1F641EA-DA68-6647-FAC4-FF2832FB1141}"/>
              </a:ext>
            </a:extLst>
          </p:cNvPr>
          <p:cNvGrpSpPr>
            <a:grpSpLocks/>
          </p:cNvGrpSpPr>
          <p:nvPr/>
        </p:nvGrpSpPr>
        <p:grpSpPr bwMode="auto">
          <a:xfrm>
            <a:off x="2998788" y="3859213"/>
            <a:ext cx="7364412" cy="2665412"/>
            <a:chOff x="561" y="2199"/>
            <a:chExt cx="4639" cy="1679"/>
          </a:xfrm>
        </p:grpSpPr>
        <p:sp>
          <p:nvSpPr>
            <p:cNvPr id="57365" name="AutoShape 9">
              <a:extLst>
                <a:ext uri="{FF2B5EF4-FFF2-40B4-BE49-F238E27FC236}">
                  <a16:creationId xmlns:a16="http://schemas.microsoft.com/office/drawing/2014/main" id="{BDDDC861-A594-38FD-70D8-BBC1BAAB47FB}"/>
                </a:ext>
              </a:extLst>
            </p:cNvPr>
            <p:cNvSpPr>
              <a:spLocks noChangeArrowheads="1"/>
            </p:cNvSpPr>
            <p:nvPr/>
          </p:nvSpPr>
          <p:spPr bwMode="auto">
            <a:xfrm>
              <a:off x="561" y="2199"/>
              <a:ext cx="4639" cy="1679"/>
            </a:xfrm>
            <a:prstGeom prst="star16">
              <a:avLst>
                <a:gd name="adj" fmla="val 37500"/>
              </a:avLst>
            </a:prstGeom>
            <a:gradFill rotWithShape="1">
              <a:gsLst>
                <a:gs pos="0">
                  <a:schemeClr val="bg1"/>
                </a:gs>
                <a:gs pos="100000">
                  <a:srgbClr val="FFCC99"/>
                </a:gs>
              </a:gsLst>
              <a:path path="shape">
                <a:fillToRect l="50000" t="50000" r="50000" b="50000"/>
              </a:path>
            </a:gradFill>
            <a:ln w="76200">
              <a:solidFill>
                <a:schemeClr val="tx1"/>
              </a:solidFill>
              <a:miter lim="800000"/>
              <a:headEnd/>
              <a:tailEnd/>
            </a:ln>
            <a:effectLst>
              <a:outerShdw dist="107763" dir="2700000" algn="ctr" rotWithShape="0">
                <a:schemeClr val="bg2"/>
              </a:outerShdw>
            </a:effec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7366" name="Rectangle 10">
              <a:extLst>
                <a:ext uri="{FF2B5EF4-FFF2-40B4-BE49-F238E27FC236}">
                  <a16:creationId xmlns:a16="http://schemas.microsoft.com/office/drawing/2014/main" id="{C4C2C678-2904-618F-491C-7098F249FEF1}"/>
                </a:ext>
              </a:extLst>
            </p:cNvPr>
            <p:cNvSpPr>
              <a:spLocks noChangeArrowheads="1"/>
            </p:cNvSpPr>
            <p:nvPr/>
          </p:nvSpPr>
          <p:spPr bwMode="auto">
            <a:xfrm>
              <a:off x="1830" y="2475"/>
              <a:ext cx="2207" cy="987"/>
            </a:xfrm>
            <a:prstGeom prst="rect">
              <a:avLst/>
            </a:prstGeom>
            <a:noFill/>
            <a:ln>
              <a:noFill/>
            </a:ln>
            <a:effectLst/>
            <a:extLst>
              <a:ext uri="{909E8E84-426E-40DD-AFC4-6F175D3DCCD1}">
                <a14:hiddenFill xmlns:a14="http://schemas.microsoft.com/office/drawing/2010/main">
                  <a:gradFill rotWithShape="1">
                    <a:gsLst>
                      <a:gs pos="0">
                        <a:schemeClr val="bg1"/>
                      </a:gs>
                      <a:gs pos="100000">
                        <a:srgbClr val="FFCC99"/>
                      </a:gs>
                    </a:gsLst>
                    <a:path path="shape">
                      <a:fillToRect l="50000" t="50000" r="50000" b="50000"/>
                    </a:path>
                  </a:gra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b="1" i="1">
                  <a:latin typeface="Arial" panose="020B0604020202020204" pitchFamily="34" charset="0"/>
                </a:rPr>
                <a:t>What next?</a:t>
              </a:r>
            </a:p>
            <a:p>
              <a:pPr algn="ctr" eaLnBrk="1" hangingPunct="1">
                <a:lnSpc>
                  <a:spcPct val="100000"/>
                </a:lnSpc>
                <a:spcBef>
                  <a:spcPct val="0"/>
                </a:spcBef>
                <a:buFontTx/>
                <a:buNone/>
              </a:pPr>
              <a:endParaRPr lang="en-US" altLang="en-US" sz="4800" b="1" i="1">
                <a:solidFill>
                  <a:srgbClr val="FF6600"/>
                </a:solidFill>
                <a:latin typeface="Arial" panose="020B0604020202020204" pitchFamily="34" charset="0"/>
              </a:endParaRPr>
            </a:p>
          </p:txBody>
        </p:sp>
      </p:grpSp>
      <p:grpSp>
        <p:nvGrpSpPr>
          <p:cNvPr id="31755" name="Group 11">
            <a:extLst>
              <a:ext uri="{FF2B5EF4-FFF2-40B4-BE49-F238E27FC236}">
                <a16:creationId xmlns:a16="http://schemas.microsoft.com/office/drawing/2014/main" id="{BA82E408-E05D-C71B-F203-D1CD36306411}"/>
              </a:ext>
            </a:extLst>
          </p:cNvPr>
          <p:cNvGrpSpPr>
            <a:grpSpLocks/>
          </p:cNvGrpSpPr>
          <p:nvPr/>
        </p:nvGrpSpPr>
        <p:grpSpPr bwMode="auto">
          <a:xfrm>
            <a:off x="6418263" y="2490788"/>
            <a:ext cx="4005262" cy="1690687"/>
            <a:chOff x="3083" y="1569"/>
            <a:chExt cx="2523" cy="1065"/>
          </a:xfrm>
        </p:grpSpPr>
        <p:sp>
          <p:nvSpPr>
            <p:cNvPr id="57363" name="Oval 12">
              <a:extLst>
                <a:ext uri="{FF2B5EF4-FFF2-40B4-BE49-F238E27FC236}">
                  <a16:creationId xmlns:a16="http://schemas.microsoft.com/office/drawing/2014/main" id="{734AEAA7-0B5D-D872-B019-1F00C06AA96A}"/>
                </a:ext>
              </a:extLst>
            </p:cNvPr>
            <p:cNvSpPr>
              <a:spLocks noChangeArrowheads="1"/>
            </p:cNvSpPr>
            <p:nvPr/>
          </p:nvSpPr>
          <p:spPr bwMode="auto">
            <a:xfrm>
              <a:off x="3083" y="156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7364" name="Oval 13">
              <a:extLst>
                <a:ext uri="{FF2B5EF4-FFF2-40B4-BE49-F238E27FC236}">
                  <a16:creationId xmlns:a16="http://schemas.microsoft.com/office/drawing/2014/main" id="{BFC77BDC-4FF8-4408-7F84-947729DFCF3C}"/>
                </a:ext>
              </a:extLst>
            </p:cNvPr>
            <p:cNvSpPr>
              <a:spLocks noChangeArrowheads="1"/>
            </p:cNvSpPr>
            <p:nvPr/>
          </p:nvSpPr>
          <p:spPr bwMode="auto">
            <a:xfrm>
              <a:off x="4877" y="191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pSp>
        <p:nvGrpSpPr>
          <p:cNvPr id="57351" name="Group 14">
            <a:extLst>
              <a:ext uri="{FF2B5EF4-FFF2-40B4-BE49-F238E27FC236}">
                <a16:creationId xmlns:a16="http://schemas.microsoft.com/office/drawing/2014/main" id="{CB69CBE6-B1FA-68A4-18E0-37132F9D2201}"/>
              </a:ext>
            </a:extLst>
          </p:cNvPr>
          <p:cNvGrpSpPr>
            <a:grpSpLocks/>
          </p:cNvGrpSpPr>
          <p:nvPr/>
        </p:nvGrpSpPr>
        <p:grpSpPr bwMode="auto">
          <a:xfrm>
            <a:off x="3479800" y="1335088"/>
            <a:ext cx="7026275" cy="1370012"/>
            <a:chOff x="1236" y="845"/>
            <a:chExt cx="4426" cy="863"/>
          </a:xfrm>
        </p:grpSpPr>
        <p:sp>
          <p:nvSpPr>
            <p:cNvPr id="57359" name="Line 15">
              <a:extLst>
                <a:ext uri="{FF2B5EF4-FFF2-40B4-BE49-F238E27FC236}">
                  <a16:creationId xmlns:a16="http://schemas.microsoft.com/office/drawing/2014/main" id="{D5A396B0-583E-6B02-1EDD-ECF16495CDC3}"/>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7360" name="Line 16">
              <a:extLst>
                <a:ext uri="{FF2B5EF4-FFF2-40B4-BE49-F238E27FC236}">
                  <a16:creationId xmlns:a16="http://schemas.microsoft.com/office/drawing/2014/main" id="{64986A19-BC51-B4C7-6EA0-5C6A08B69680}"/>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7361" name="Line 17">
              <a:extLst>
                <a:ext uri="{FF2B5EF4-FFF2-40B4-BE49-F238E27FC236}">
                  <a16:creationId xmlns:a16="http://schemas.microsoft.com/office/drawing/2014/main" id="{56702D17-ADFD-2851-C90F-DFC2F3329415}"/>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7362" name="Line 18">
              <a:extLst>
                <a:ext uri="{FF2B5EF4-FFF2-40B4-BE49-F238E27FC236}">
                  <a16:creationId xmlns:a16="http://schemas.microsoft.com/office/drawing/2014/main" id="{C426F7F5-2DFD-1407-EC3E-21F08ECC31C0}"/>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57352" name="Rectangle 19">
            <a:extLst>
              <a:ext uri="{FF2B5EF4-FFF2-40B4-BE49-F238E27FC236}">
                <a16:creationId xmlns:a16="http://schemas.microsoft.com/office/drawing/2014/main" id="{E5A7D30B-F46C-94DD-5297-3F8D0B650CD5}"/>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57353" name="Rectangle 20">
            <a:extLst>
              <a:ext uri="{FF2B5EF4-FFF2-40B4-BE49-F238E27FC236}">
                <a16:creationId xmlns:a16="http://schemas.microsoft.com/office/drawing/2014/main" id="{9F1FECEC-4CDA-E04D-7F3A-AD0150EECB6C}"/>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57354" name="Rectangle 21">
            <a:extLst>
              <a:ext uri="{FF2B5EF4-FFF2-40B4-BE49-F238E27FC236}">
                <a16:creationId xmlns:a16="http://schemas.microsoft.com/office/drawing/2014/main" id="{553C40B5-00C8-CD61-44B7-8D95653830DE}"/>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57355" name="Rectangle 22">
            <a:extLst>
              <a:ext uri="{FF2B5EF4-FFF2-40B4-BE49-F238E27FC236}">
                <a16:creationId xmlns:a16="http://schemas.microsoft.com/office/drawing/2014/main" id="{FB3DC711-D739-4513-44B4-73816AA533A9}"/>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57356" name="Rectangle 23">
            <a:extLst>
              <a:ext uri="{FF2B5EF4-FFF2-40B4-BE49-F238E27FC236}">
                <a16:creationId xmlns:a16="http://schemas.microsoft.com/office/drawing/2014/main" id="{218F1145-B77F-3890-2B69-CAFA663B08DD}"/>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57357" name="Rectangle 24">
            <a:extLst>
              <a:ext uri="{FF2B5EF4-FFF2-40B4-BE49-F238E27FC236}">
                <a16:creationId xmlns:a16="http://schemas.microsoft.com/office/drawing/2014/main" id="{CE75CB7A-EBE0-8780-E7C9-62753B331B10}"/>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57358" name="Rectangle 25">
            <a:extLst>
              <a:ext uri="{FF2B5EF4-FFF2-40B4-BE49-F238E27FC236}">
                <a16:creationId xmlns:a16="http://schemas.microsoft.com/office/drawing/2014/main" id="{D646F271-CBF1-18B1-1CA3-72E134E4204D}"/>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1755"/>
                                        </p:tgtEl>
                                        <p:attrNameLst>
                                          <p:attrName>style.visibility</p:attrName>
                                        </p:attrNameLst>
                                      </p:cBhvr>
                                      <p:to>
                                        <p:strVal val="visible"/>
                                      </p:to>
                                    </p:set>
                                    <p:animEffect transition="in" filter="dissolve">
                                      <p:cBhvr>
                                        <p:cTn id="7" dur="500"/>
                                        <p:tgtEl>
                                          <p:spTgt spid="31755"/>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1752"/>
                                        </p:tgtEl>
                                        <p:attrNameLst>
                                          <p:attrName>style.visibility</p:attrName>
                                        </p:attrNameLst>
                                      </p:cBhvr>
                                      <p:to>
                                        <p:strVal val="visible"/>
                                      </p:to>
                                    </p:set>
                                    <p:animEffect transition="in" filter="dissolve">
                                      <p:cBhvr>
                                        <p:cTn id="11" dur="500"/>
                                        <p:tgtEl>
                                          <p:spTgt spid="3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8725EC76-F0F5-B4E4-272D-576D48CA2F2A}"/>
              </a:ext>
            </a:extLst>
          </p:cNvPr>
          <p:cNvSpPr>
            <a:spLocks noChangeArrowheads="1"/>
          </p:cNvSpPr>
          <p:nvPr/>
        </p:nvSpPr>
        <p:spPr bwMode="auto">
          <a:xfrm>
            <a:off x="3484563" y="2743200"/>
            <a:ext cx="6286500"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a:p>
            <a:pPr eaLnBrk="1" hangingPunct="1">
              <a:lnSpc>
                <a:spcPct val="100000"/>
              </a:lnSpc>
              <a:spcBef>
                <a:spcPct val="0"/>
              </a:spcBef>
              <a:buFontTx/>
              <a:buNone/>
            </a:pPr>
            <a:r>
              <a:rPr lang="en-US" altLang="en-US" sz="3600" b="1">
                <a:latin typeface="Arial" panose="020B0604020202020204" pitchFamily="34" charset="0"/>
              </a:rPr>
              <a:t>Second	  8	     8		 20	    10</a:t>
            </a:r>
          </a:p>
          <a:p>
            <a:pPr eaLnBrk="1" hangingPunct="1">
              <a:lnSpc>
                <a:spcPct val="100000"/>
              </a:lnSpc>
              <a:spcBef>
                <a:spcPct val="0"/>
              </a:spcBef>
              <a:buFontTx/>
              <a:buNone/>
            </a:pPr>
            <a:r>
              <a:rPr lang="en-US" altLang="en-US" sz="3600" b="1">
                <a:latin typeface="Arial" panose="020B0604020202020204" pitchFamily="34" charset="0"/>
              </a:rPr>
              <a:t>Third	  7	     7		 18	         9</a:t>
            </a:r>
          </a:p>
          <a:p>
            <a:pPr eaLnBrk="1" hangingPunct="1">
              <a:lnSpc>
                <a:spcPct val="100000"/>
              </a:lnSpc>
              <a:spcBef>
                <a:spcPct val="0"/>
              </a:spcBef>
              <a:buFontTx/>
              <a:buNone/>
            </a:pPr>
            <a:r>
              <a:rPr lang="en-US" altLang="en-US" sz="3600" b="1">
                <a:latin typeface="Arial" panose="020B0604020202020204" pitchFamily="34" charset="0"/>
              </a:rPr>
              <a:t>Fourth	  6	     6		 16	      8</a:t>
            </a:r>
          </a:p>
          <a:p>
            <a:pPr eaLnBrk="1" hangingPunct="1">
              <a:lnSpc>
                <a:spcPct val="100000"/>
              </a:lnSpc>
              <a:spcBef>
                <a:spcPct val="0"/>
              </a:spcBef>
              <a:buFontTx/>
              <a:buNone/>
            </a:pPr>
            <a:r>
              <a:rPr lang="en-US" altLang="en-US" sz="3600" b="1">
                <a:latin typeface="Arial" panose="020B0604020202020204" pitchFamily="34" charset="0"/>
              </a:rPr>
              <a:t>Fifth	  5	     5		 12	      6</a:t>
            </a:r>
          </a:p>
          <a:p>
            <a:pPr eaLnBrk="1" hangingPunct="1">
              <a:lnSpc>
                <a:spcPct val="100000"/>
              </a:lnSpc>
              <a:spcBef>
                <a:spcPct val="0"/>
              </a:spcBef>
              <a:buFontTx/>
              <a:buNone/>
            </a:pPr>
            <a:r>
              <a:rPr lang="en-US" altLang="en-US" sz="3600" b="1">
                <a:latin typeface="Arial" panose="020B0604020202020204" pitchFamily="34" charset="0"/>
              </a:rPr>
              <a:t>Sixth	  4	     4		   6	      3</a:t>
            </a:r>
          </a:p>
          <a:p>
            <a:pPr eaLnBrk="1" hangingPunct="1">
              <a:lnSpc>
                <a:spcPct val="100000"/>
              </a:lnSpc>
              <a:spcBef>
                <a:spcPct val="0"/>
              </a:spcBef>
              <a:buFontTx/>
              <a:buNone/>
            </a:pPr>
            <a:r>
              <a:rPr lang="en-US" altLang="en-US" sz="3600" b="1">
                <a:latin typeface="Arial" panose="020B0604020202020204" pitchFamily="34" charset="0"/>
              </a:rPr>
              <a:t>Seventh	  3	     3		   4	      2</a:t>
            </a:r>
          </a:p>
        </p:txBody>
      </p:sp>
      <p:grpSp>
        <p:nvGrpSpPr>
          <p:cNvPr id="58370" name="Group 3">
            <a:extLst>
              <a:ext uri="{FF2B5EF4-FFF2-40B4-BE49-F238E27FC236}">
                <a16:creationId xmlns:a16="http://schemas.microsoft.com/office/drawing/2014/main" id="{DA572183-8F3A-3BC1-3007-646D04E0458A}"/>
              </a:ext>
            </a:extLst>
          </p:cNvPr>
          <p:cNvGrpSpPr>
            <a:grpSpLocks/>
          </p:cNvGrpSpPr>
          <p:nvPr/>
        </p:nvGrpSpPr>
        <p:grpSpPr bwMode="auto">
          <a:xfrm>
            <a:off x="2305050" y="604838"/>
            <a:ext cx="2636838" cy="1273175"/>
            <a:chOff x="372" y="76"/>
            <a:chExt cx="1661" cy="739"/>
          </a:xfrm>
        </p:grpSpPr>
        <p:sp>
          <p:nvSpPr>
            <p:cNvPr id="58393" name="AutoShape 4">
              <a:extLst>
                <a:ext uri="{FF2B5EF4-FFF2-40B4-BE49-F238E27FC236}">
                  <a16:creationId xmlns:a16="http://schemas.microsoft.com/office/drawing/2014/main" id="{E6474AA1-00B2-524C-EAC3-3F913F93D5FF}"/>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8394" name="Rectangle 5">
              <a:extLst>
                <a:ext uri="{FF2B5EF4-FFF2-40B4-BE49-F238E27FC236}">
                  <a16:creationId xmlns:a16="http://schemas.microsoft.com/office/drawing/2014/main" id="{DE7F0C27-CB92-CBA8-C37A-BE0816F401F2}"/>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58371" name="Rectangle 6">
            <a:extLst>
              <a:ext uri="{FF2B5EF4-FFF2-40B4-BE49-F238E27FC236}">
                <a16:creationId xmlns:a16="http://schemas.microsoft.com/office/drawing/2014/main" id="{AE8C38E1-BEA9-C344-7F76-C3FA6E8FC094}"/>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graphicFrame>
        <p:nvGraphicFramePr>
          <p:cNvPr id="58372" name="Object 7">
            <a:hlinkClick r:id="" action="ppaction://ole?verb=0"/>
            <a:extLst>
              <a:ext uri="{FF2B5EF4-FFF2-40B4-BE49-F238E27FC236}">
                <a16:creationId xmlns:a16="http://schemas.microsoft.com/office/drawing/2014/main" id="{EE45F9FB-0250-B7A7-9BAA-CB759A67E70B}"/>
              </a:ext>
            </a:extLst>
          </p:cNvPr>
          <p:cNvGraphicFramePr>
            <a:graphicFrameLocks/>
          </p:cNvGraphicFramePr>
          <p:nvPr/>
        </p:nvGraphicFramePr>
        <p:xfrm>
          <a:off x="10058400" y="26447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58372" name="Object 7">
                        <a:hlinkClick r:id="" action="ppaction://ole?verb=0"/>
                        <a:extLst>
                          <a:ext uri="{FF2B5EF4-FFF2-40B4-BE49-F238E27FC236}">
                            <a16:creationId xmlns:a16="http://schemas.microsoft.com/office/drawing/2014/main" id="{EE45F9FB-0250-B7A7-9BAA-CB759A67E70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584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8373" name="Group 8">
            <a:extLst>
              <a:ext uri="{FF2B5EF4-FFF2-40B4-BE49-F238E27FC236}">
                <a16:creationId xmlns:a16="http://schemas.microsoft.com/office/drawing/2014/main" id="{4C4CD660-7782-CDEB-BCEC-E996BC7EE661}"/>
              </a:ext>
            </a:extLst>
          </p:cNvPr>
          <p:cNvGrpSpPr>
            <a:grpSpLocks/>
          </p:cNvGrpSpPr>
          <p:nvPr/>
        </p:nvGrpSpPr>
        <p:grpSpPr bwMode="auto">
          <a:xfrm>
            <a:off x="2998788" y="3859213"/>
            <a:ext cx="7364412" cy="2665412"/>
            <a:chOff x="561" y="2199"/>
            <a:chExt cx="4639" cy="1679"/>
          </a:xfrm>
        </p:grpSpPr>
        <p:sp>
          <p:nvSpPr>
            <p:cNvPr id="58391" name="AutoShape 9">
              <a:extLst>
                <a:ext uri="{FF2B5EF4-FFF2-40B4-BE49-F238E27FC236}">
                  <a16:creationId xmlns:a16="http://schemas.microsoft.com/office/drawing/2014/main" id="{EB4FAC41-3DA9-F8DD-279F-0F50EF5706A3}"/>
                </a:ext>
              </a:extLst>
            </p:cNvPr>
            <p:cNvSpPr>
              <a:spLocks noChangeArrowheads="1"/>
            </p:cNvSpPr>
            <p:nvPr/>
          </p:nvSpPr>
          <p:spPr bwMode="auto">
            <a:xfrm>
              <a:off x="561" y="2199"/>
              <a:ext cx="4639" cy="1679"/>
            </a:xfrm>
            <a:prstGeom prst="star16">
              <a:avLst>
                <a:gd name="adj" fmla="val 37500"/>
              </a:avLst>
            </a:prstGeom>
            <a:gradFill rotWithShape="1">
              <a:gsLst>
                <a:gs pos="0">
                  <a:srgbClr val="FFFFFF"/>
                </a:gs>
                <a:gs pos="100000">
                  <a:srgbClr val="FFCC99"/>
                </a:gs>
              </a:gsLst>
              <a:path path="shape">
                <a:fillToRect l="50000" t="50000" r="50000" b="50000"/>
              </a:path>
            </a:gradFill>
            <a:ln w="76200">
              <a:solidFill>
                <a:schemeClr val="tx1"/>
              </a:solidFill>
              <a:miter lim="800000"/>
              <a:headEnd/>
              <a:tailEnd/>
            </a:ln>
            <a:effectLst>
              <a:outerShdw dist="107763" dir="2700000" algn="ctr" rotWithShape="0">
                <a:schemeClr val="bg2"/>
              </a:outerShdw>
            </a:effec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8392" name="Rectangle 10">
              <a:extLst>
                <a:ext uri="{FF2B5EF4-FFF2-40B4-BE49-F238E27FC236}">
                  <a16:creationId xmlns:a16="http://schemas.microsoft.com/office/drawing/2014/main" id="{040161F3-8B32-5E3F-04D1-0372D095C2F2}"/>
                </a:ext>
              </a:extLst>
            </p:cNvPr>
            <p:cNvSpPr>
              <a:spLocks noChangeArrowheads="1"/>
            </p:cNvSpPr>
            <p:nvPr/>
          </p:nvSpPr>
          <p:spPr bwMode="auto">
            <a:xfrm>
              <a:off x="1377" y="2475"/>
              <a:ext cx="3115" cy="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b="1" i="1">
                  <a:latin typeface="Arial" panose="020B0604020202020204" pitchFamily="34" charset="0"/>
                </a:rPr>
                <a:t>What next?</a:t>
              </a:r>
            </a:p>
            <a:p>
              <a:pPr algn="ctr" eaLnBrk="1" hangingPunct="1">
                <a:lnSpc>
                  <a:spcPct val="100000"/>
                </a:lnSpc>
                <a:spcBef>
                  <a:spcPct val="0"/>
                </a:spcBef>
                <a:buFontTx/>
                <a:buNone/>
              </a:pPr>
              <a:r>
                <a:rPr lang="en-US" altLang="en-US" sz="4800" b="1" i="1">
                  <a:solidFill>
                    <a:srgbClr val="CC0000"/>
                  </a:solidFill>
                  <a:latin typeface="Arial" panose="020B0604020202020204" pitchFamily="34" charset="0"/>
                </a:rPr>
                <a:t>Buy one of each</a:t>
              </a:r>
            </a:p>
          </p:txBody>
        </p:sp>
      </p:grpSp>
      <p:grpSp>
        <p:nvGrpSpPr>
          <p:cNvPr id="58374" name="Group 11">
            <a:extLst>
              <a:ext uri="{FF2B5EF4-FFF2-40B4-BE49-F238E27FC236}">
                <a16:creationId xmlns:a16="http://schemas.microsoft.com/office/drawing/2014/main" id="{6B5D60EE-CAD3-5E09-5FCD-821E98609F5B}"/>
              </a:ext>
            </a:extLst>
          </p:cNvPr>
          <p:cNvGrpSpPr>
            <a:grpSpLocks/>
          </p:cNvGrpSpPr>
          <p:nvPr/>
        </p:nvGrpSpPr>
        <p:grpSpPr bwMode="auto">
          <a:xfrm>
            <a:off x="6418263" y="2490788"/>
            <a:ext cx="4005262" cy="1690687"/>
            <a:chOff x="3083" y="1569"/>
            <a:chExt cx="2523" cy="1065"/>
          </a:xfrm>
        </p:grpSpPr>
        <p:sp>
          <p:nvSpPr>
            <p:cNvPr id="58389" name="Oval 12">
              <a:extLst>
                <a:ext uri="{FF2B5EF4-FFF2-40B4-BE49-F238E27FC236}">
                  <a16:creationId xmlns:a16="http://schemas.microsoft.com/office/drawing/2014/main" id="{7528B2E0-5711-EF80-27ED-9AD197BB2E3B}"/>
                </a:ext>
              </a:extLst>
            </p:cNvPr>
            <p:cNvSpPr>
              <a:spLocks noChangeArrowheads="1"/>
            </p:cNvSpPr>
            <p:nvPr/>
          </p:nvSpPr>
          <p:spPr bwMode="auto">
            <a:xfrm>
              <a:off x="3083" y="156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8390" name="Oval 13">
              <a:extLst>
                <a:ext uri="{FF2B5EF4-FFF2-40B4-BE49-F238E27FC236}">
                  <a16:creationId xmlns:a16="http://schemas.microsoft.com/office/drawing/2014/main" id="{7643D18A-EA16-A3CC-51E5-8772C5F18C69}"/>
                </a:ext>
              </a:extLst>
            </p:cNvPr>
            <p:cNvSpPr>
              <a:spLocks noChangeArrowheads="1"/>
            </p:cNvSpPr>
            <p:nvPr/>
          </p:nvSpPr>
          <p:spPr bwMode="auto">
            <a:xfrm>
              <a:off x="4877" y="191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aphicFrame>
        <p:nvGraphicFramePr>
          <p:cNvPr id="32782" name="Object 14">
            <a:hlinkClick r:id="" action="ppaction://ole?verb=0"/>
            <a:extLst>
              <a:ext uri="{FF2B5EF4-FFF2-40B4-BE49-F238E27FC236}">
                <a16:creationId xmlns:a16="http://schemas.microsoft.com/office/drawing/2014/main" id="{C7D12510-BB6B-B1B9-FCF7-C776C5BCB78E}"/>
              </a:ext>
            </a:extLst>
          </p:cNvPr>
          <p:cNvGraphicFramePr>
            <a:graphicFrameLocks/>
          </p:cNvGraphicFramePr>
          <p:nvPr/>
        </p:nvGraphicFramePr>
        <p:xfrm>
          <a:off x="7188200" y="26447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32782" name="Object 14">
                        <a:hlinkClick r:id="" action="ppaction://ole?verb=0"/>
                        <a:extLst>
                          <a:ext uri="{FF2B5EF4-FFF2-40B4-BE49-F238E27FC236}">
                            <a16:creationId xmlns:a16="http://schemas.microsoft.com/office/drawing/2014/main" id="{C7D12510-BB6B-B1B9-FCF7-C776C5BCB78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882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83" name="Object 15">
            <a:hlinkClick r:id="" action="ppaction://ole?verb=0"/>
            <a:extLst>
              <a:ext uri="{FF2B5EF4-FFF2-40B4-BE49-F238E27FC236}">
                <a16:creationId xmlns:a16="http://schemas.microsoft.com/office/drawing/2014/main" id="{DB680FAE-B279-D01D-2634-AF9EFE479B15}"/>
              </a:ext>
            </a:extLst>
          </p:cNvPr>
          <p:cNvGraphicFramePr>
            <a:graphicFrameLocks/>
          </p:cNvGraphicFramePr>
          <p:nvPr/>
        </p:nvGraphicFramePr>
        <p:xfrm>
          <a:off x="10058400" y="31908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32783" name="Object 15">
                        <a:hlinkClick r:id="" action="ppaction://ole?verb=0"/>
                        <a:extLst>
                          <a:ext uri="{FF2B5EF4-FFF2-40B4-BE49-F238E27FC236}">
                            <a16:creationId xmlns:a16="http://schemas.microsoft.com/office/drawing/2014/main" id="{DB680FAE-B279-D01D-2634-AF9EFE479B15}"/>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58400" y="31908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8377" name="Group 16">
            <a:extLst>
              <a:ext uri="{FF2B5EF4-FFF2-40B4-BE49-F238E27FC236}">
                <a16:creationId xmlns:a16="http://schemas.microsoft.com/office/drawing/2014/main" id="{FCEE9666-5FB6-8656-1629-5725D88F87A6}"/>
              </a:ext>
            </a:extLst>
          </p:cNvPr>
          <p:cNvGrpSpPr>
            <a:grpSpLocks/>
          </p:cNvGrpSpPr>
          <p:nvPr/>
        </p:nvGrpSpPr>
        <p:grpSpPr bwMode="auto">
          <a:xfrm>
            <a:off x="3479800" y="1335088"/>
            <a:ext cx="7026275" cy="1370012"/>
            <a:chOff x="1236" y="845"/>
            <a:chExt cx="4426" cy="863"/>
          </a:xfrm>
        </p:grpSpPr>
        <p:sp>
          <p:nvSpPr>
            <p:cNvPr id="58385" name="Line 17">
              <a:extLst>
                <a:ext uri="{FF2B5EF4-FFF2-40B4-BE49-F238E27FC236}">
                  <a16:creationId xmlns:a16="http://schemas.microsoft.com/office/drawing/2014/main" id="{88C533A1-5C37-9495-F45A-9F3980F51150}"/>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8386" name="Line 18">
              <a:extLst>
                <a:ext uri="{FF2B5EF4-FFF2-40B4-BE49-F238E27FC236}">
                  <a16:creationId xmlns:a16="http://schemas.microsoft.com/office/drawing/2014/main" id="{6C261A11-62EE-E26D-719A-6708E752897B}"/>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8387" name="Line 19">
              <a:extLst>
                <a:ext uri="{FF2B5EF4-FFF2-40B4-BE49-F238E27FC236}">
                  <a16:creationId xmlns:a16="http://schemas.microsoft.com/office/drawing/2014/main" id="{98AC322F-3F17-CDFA-CEB3-74C7CD46B4CC}"/>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8388" name="Line 20">
              <a:extLst>
                <a:ext uri="{FF2B5EF4-FFF2-40B4-BE49-F238E27FC236}">
                  <a16:creationId xmlns:a16="http://schemas.microsoft.com/office/drawing/2014/main" id="{91525473-42D7-DBA5-1E97-ADD300B11861}"/>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58378" name="Rectangle 21">
            <a:extLst>
              <a:ext uri="{FF2B5EF4-FFF2-40B4-BE49-F238E27FC236}">
                <a16:creationId xmlns:a16="http://schemas.microsoft.com/office/drawing/2014/main" id="{B37A3DCA-11C0-A8CA-894B-61E3B772179C}"/>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58379" name="Rectangle 22">
            <a:extLst>
              <a:ext uri="{FF2B5EF4-FFF2-40B4-BE49-F238E27FC236}">
                <a16:creationId xmlns:a16="http://schemas.microsoft.com/office/drawing/2014/main" id="{64EE0826-DAB0-B5F4-2A6B-A716C31914C9}"/>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58380" name="Rectangle 23">
            <a:extLst>
              <a:ext uri="{FF2B5EF4-FFF2-40B4-BE49-F238E27FC236}">
                <a16:creationId xmlns:a16="http://schemas.microsoft.com/office/drawing/2014/main" id="{5D224854-477F-90DF-B490-704FBE96B091}"/>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58381" name="Rectangle 24">
            <a:extLst>
              <a:ext uri="{FF2B5EF4-FFF2-40B4-BE49-F238E27FC236}">
                <a16:creationId xmlns:a16="http://schemas.microsoft.com/office/drawing/2014/main" id="{8F75D66D-E4A0-D250-F84D-A9A889062497}"/>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58382" name="Rectangle 25">
            <a:extLst>
              <a:ext uri="{FF2B5EF4-FFF2-40B4-BE49-F238E27FC236}">
                <a16:creationId xmlns:a16="http://schemas.microsoft.com/office/drawing/2014/main" id="{ECB2FA7C-99FF-BE66-082D-0B28DB51F991}"/>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58383" name="Rectangle 26">
            <a:extLst>
              <a:ext uri="{FF2B5EF4-FFF2-40B4-BE49-F238E27FC236}">
                <a16:creationId xmlns:a16="http://schemas.microsoft.com/office/drawing/2014/main" id="{22995B80-6849-6CA9-5527-096632624E7A}"/>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58384" name="Rectangle 27">
            <a:extLst>
              <a:ext uri="{FF2B5EF4-FFF2-40B4-BE49-F238E27FC236}">
                <a16:creationId xmlns:a16="http://schemas.microsoft.com/office/drawing/2014/main" id="{413C1F55-07B0-84FD-679E-C9670EDFD5C5}"/>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2782"/>
                                        </p:tgtEl>
                                        <p:attrNameLst>
                                          <p:attrName>style.visibility</p:attrName>
                                        </p:attrNameLst>
                                      </p:cBhvr>
                                      <p:to>
                                        <p:strVal val="visible"/>
                                      </p:to>
                                    </p:set>
                                    <p:animEffect transition="in" filter="dissolve">
                                      <p:cBhvr>
                                        <p:cTn id="7" dur="500"/>
                                        <p:tgtEl>
                                          <p:spTgt spid="32782"/>
                                        </p:tgtEl>
                                      </p:cBhvr>
                                    </p:animEffect>
                                  </p:childTnLst>
                                  <p:subTnLst>
                                    <p:audio>
                                      <p:cMediaNode>
                                        <p:cTn display="0" masterRel="sameClick">
                                          <p:stCondLst>
                                            <p:cond evt="begin" delay="0">
                                              <p:tn val="5"/>
                                            </p:cond>
                                          </p:stCondLst>
                                          <p:endCondLst>
                                            <p:cond evt="onStopAudio" delay="0">
                                              <p:tgtEl>
                                                <p:sldTgt/>
                                              </p:tgtEl>
                                            </p:cond>
                                          </p:endCondLst>
                                        </p:cTn>
                                        <p:tgtEl>
                                          <p:sndTgt r:embed="rId2" name="DING.WAV"/>
                                        </p:tgtEl>
                                      </p:cMediaNode>
                                    </p:audio>
                                  </p:sub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2783"/>
                                        </p:tgtEl>
                                        <p:attrNameLst>
                                          <p:attrName>style.visibility</p:attrName>
                                        </p:attrNameLst>
                                      </p:cBhvr>
                                      <p:to>
                                        <p:strVal val="visible"/>
                                      </p:to>
                                    </p:set>
                                    <p:animEffect transition="in" filter="dissolve">
                                      <p:cBhvr>
                                        <p:cTn id="11" dur="500"/>
                                        <p:tgtEl>
                                          <p:spTgt spid="32783"/>
                                        </p:tgtEl>
                                      </p:cBhvr>
                                    </p:animEffect>
                                  </p:childTnLst>
                                  <p:subTnLst>
                                    <p:audio>
                                      <p:cMediaNode>
                                        <p:cTn display="0" masterRel="sameClick">
                                          <p:stCondLst>
                                            <p:cond evt="begin" delay="0">
                                              <p:tn val="9"/>
                                            </p:cond>
                                          </p:stCondLst>
                                          <p:endCondLst>
                                            <p:cond evt="onStopAudio" delay="0">
                                              <p:tgtEl>
                                                <p:sldTgt/>
                                              </p:tgtEl>
                                            </p:cond>
                                          </p:endCondLst>
                                        </p:cTn>
                                        <p:tgtEl>
                                          <p:sndTgt r:embed="rId2" name="DIN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1214A537-662D-0104-36A9-27B9BD54B863}"/>
              </a:ext>
            </a:extLst>
          </p:cNvPr>
          <p:cNvSpPr>
            <a:spLocks noChangeArrowheads="1"/>
          </p:cNvSpPr>
          <p:nvPr/>
        </p:nvSpPr>
        <p:spPr bwMode="auto">
          <a:xfrm>
            <a:off x="3484563" y="2743200"/>
            <a:ext cx="6286500"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a:p>
            <a:pPr eaLnBrk="1" hangingPunct="1">
              <a:lnSpc>
                <a:spcPct val="100000"/>
              </a:lnSpc>
              <a:spcBef>
                <a:spcPct val="0"/>
              </a:spcBef>
              <a:buFontTx/>
              <a:buNone/>
            </a:pPr>
            <a:r>
              <a:rPr lang="en-US" altLang="en-US" sz="3600" b="1">
                <a:latin typeface="Arial" panose="020B0604020202020204" pitchFamily="34" charset="0"/>
              </a:rPr>
              <a:t>Second	  8	     8		 20	    10</a:t>
            </a:r>
          </a:p>
          <a:p>
            <a:pPr eaLnBrk="1" hangingPunct="1">
              <a:lnSpc>
                <a:spcPct val="100000"/>
              </a:lnSpc>
              <a:spcBef>
                <a:spcPct val="0"/>
              </a:spcBef>
              <a:buFontTx/>
              <a:buNone/>
            </a:pPr>
            <a:r>
              <a:rPr lang="en-US" altLang="en-US" sz="3600" b="1">
                <a:latin typeface="Arial" panose="020B0604020202020204" pitchFamily="34" charset="0"/>
              </a:rPr>
              <a:t>Third	  7	     7		 18	         9</a:t>
            </a:r>
          </a:p>
          <a:p>
            <a:pPr eaLnBrk="1" hangingPunct="1">
              <a:lnSpc>
                <a:spcPct val="100000"/>
              </a:lnSpc>
              <a:spcBef>
                <a:spcPct val="0"/>
              </a:spcBef>
              <a:buFontTx/>
              <a:buNone/>
            </a:pPr>
            <a:r>
              <a:rPr lang="en-US" altLang="en-US" sz="3600" b="1">
                <a:latin typeface="Arial" panose="020B0604020202020204" pitchFamily="34" charset="0"/>
              </a:rPr>
              <a:t>Fourth	  6	     6		 16	      8</a:t>
            </a:r>
          </a:p>
          <a:p>
            <a:pPr eaLnBrk="1" hangingPunct="1">
              <a:lnSpc>
                <a:spcPct val="100000"/>
              </a:lnSpc>
              <a:spcBef>
                <a:spcPct val="0"/>
              </a:spcBef>
              <a:buFontTx/>
              <a:buNone/>
            </a:pPr>
            <a:r>
              <a:rPr lang="en-US" altLang="en-US" sz="3600" b="1">
                <a:latin typeface="Arial" panose="020B0604020202020204" pitchFamily="34" charset="0"/>
              </a:rPr>
              <a:t>Fifth	  5	     5		 12	      6</a:t>
            </a:r>
          </a:p>
          <a:p>
            <a:pPr eaLnBrk="1" hangingPunct="1">
              <a:lnSpc>
                <a:spcPct val="100000"/>
              </a:lnSpc>
              <a:spcBef>
                <a:spcPct val="0"/>
              </a:spcBef>
              <a:buFontTx/>
              <a:buNone/>
            </a:pPr>
            <a:r>
              <a:rPr lang="en-US" altLang="en-US" sz="3600" b="1">
                <a:latin typeface="Arial" panose="020B0604020202020204" pitchFamily="34" charset="0"/>
              </a:rPr>
              <a:t>Sixth	  4	     4		   6	      3</a:t>
            </a:r>
          </a:p>
          <a:p>
            <a:pPr eaLnBrk="1" hangingPunct="1">
              <a:lnSpc>
                <a:spcPct val="100000"/>
              </a:lnSpc>
              <a:spcBef>
                <a:spcPct val="0"/>
              </a:spcBef>
              <a:buFontTx/>
              <a:buNone/>
            </a:pPr>
            <a:r>
              <a:rPr lang="en-US" altLang="en-US" sz="3600" b="1">
                <a:latin typeface="Arial" panose="020B0604020202020204" pitchFamily="34" charset="0"/>
              </a:rPr>
              <a:t>Seventh	  3	     3		   4	      2</a:t>
            </a:r>
          </a:p>
        </p:txBody>
      </p:sp>
      <p:grpSp>
        <p:nvGrpSpPr>
          <p:cNvPr id="59394" name="Group 3">
            <a:extLst>
              <a:ext uri="{FF2B5EF4-FFF2-40B4-BE49-F238E27FC236}">
                <a16:creationId xmlns:a16="http://schemas.microsoft.com/office/drawing/2014/main" id="{82D4F689-22B9-5AE9-6A5B-8B87AA4454FB}"/>
              </a:ext>
            </a:extLst>
          </p:cNvPr>
          <p:cNvGrpSpPr>
            <a:grpSpLocks/>
          </p:cNvGrpSpPr>
          <p:nvPr/>
        </p:nvGrpSpPr>
        <p:grpSpPr bwMode="auto">
          <a:xfrm>
            <a:off x="2305050" y="604838"/>
            <a:ext cx="2636838" cy="1273175"/>
            <a:chOff x="372" y="76"/>
            <a:chExt cx="1661" cy="739"/>
          </a:xfrm>
        </p:grpSpPr>
        <p:sp>
          <p:nvSpPr>
            <p:cNvPr id="59417" name="AutoShape 4">
              <a:extLst>
                <a:ext uri="{FF2B5EF4-FFF2-40B4-BE49-F238E27FC236}">
                  <a16:creationId xmlns:a16="http://schemas.microsoft.com/office/drawing/2014/main" id="{E9EB2FDA-3346-3F4F-4C4C-07F17CDB7042}"/>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9418" name="Rectangle 5">
              <a:extLst>
                <a:ext uri="{FF2B5EF4-FFF2-40B4-BE49-F238E27FC236}">
                  <a16:creationId xmlns:a16="http://schemas.microsoft.com/office/drawing/2014/main" id="{521B5698-222C-4178-15FB-2FE0ABAA7A71}"/>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59395" name="Rectangle 6">
            <a:extLst>
              <a:ext uri="{FF2B5EF4-FFF2-40B4-BE49-F238E27FC236}">
                <a16:creationId xmlns:a16="http://schemas.microsoft.com/office/drawing/2014/main" id="{0BC0A7CE-B30A-F094-5676-57805219D7E3}"/>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graphicFrame>
        <p:nvGraphicFramePr>
          <p:cNvPr id="59396" name="Object 7">
            <a:hlinkClick r:id="" action="ppaction://ole?verb=0"/>
            <a:extLst>
              <a:ext uri="{FF2B5EF4-FFF2-40B4-BE49-F238E27FC236}">
                <a16:creationId xmlns:a16="http://schemas.microsoft.com/office/drawing/2014/main" id="{339F38D6-ADDF-DDDA-7F3B-03CBB7C36D71}"/>
              </a:ext>
            </a:extLst>
          </p:cNvPr>
          <p:cNvGraphicFramePr>
            <a:graphicFrameLocks/>
          </p:cNvGraphicFramePr>
          <p:nvPr/>
        </p:nvGraphicFramePr>
        <p:xfrm>
          <a:off x="10058400" y="26447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59396" name="Object 7">
                        <a:hlinkClick r:id="" action="ppaction://ole?verb=0"/>
                        <a:extLst>
                          <a:ext uri="{FF2B5EF4-FFF2-40B4-BE49-F238E27FC236}">
                            <a16:creationId xmlns:a16="http://schemas.microsoft.com/office/drawing/2014/main" id="{339F38D6-ADDF-DDDA-7F3B-03CBB7C36D7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3800" name="Group 8">
            <a:extLst>
              <a:ext uri="{FF2B5EF4-FFF2-40B4-BE49-F238E27FC236}">
                <a16:creationId xmlns:a16="http://schemas.microsoft.com/office/drawing/2014/main" id="{85D80535-64E8-5613-A705-387524CD29D4}"/>
              </a:ext>
            </a:extLst>
          </p:cNvPr>
          <p:cNvGrpSpPr>
            <a:grpSpLocks/>
          </p:cNvGrpSpPr>
          <p:nvPr/>
        </p:nvGrpSpPr>
        <p:grpSpPr bwMode="auto">
          <a:xfrm>
            <a:off x="6430963" y="3062288"/>
            <a:ext cx="4005262" cy="1690687"/>
            <a:chOff x="3083" y="1569"/>
            <a:chExt cx="2523" cy="1065"/>
          </a:xfrm>
        </p:grpSpPr>
        <p:sp>
          <p:nvSpPr>
            <p:cNvPr id="59415" name="Oval 9">
              <a:extLst>
                <a:ext uri="{FF2B5EF4-FFF2-40B4-BE49-F238E27FC236}">
                  <a16:creationId xmlns:a16="http://schemas.microsoft.com/office/drawing/2014/main" id="{9D472C6F-0B7A-AF9C-3050-2B60A54D5290}"/>
                </a:ext>
              </a:extLst>
            </p:cNvPr>
            <p:cNvSpPr>
              <a:spLocks noChangeArrowheads="1"/>
            </p:cNvSpPr>
            <p:nvPr/>
          </p:nvSpPr>
          <p:spPr bwMode="auto">
            <a:xfrm>
              <a:off x="3083" y="156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9416" name="Oval 10">
              <a:extLst>
                <a:ext uri="{FF2B5EF4-FFF2-40B4-BE49-F238E27FC236}">
                  <a16:creationId xmlns:a16="http://schemas.microsoft.com/office/drawing/2014/main" id="{9112383C-EB36-5A80-E7A0-B73A793DBE77}"/>
                </a:ext>
              </a:extLst>
            </p:cNvPr>
            <p:cNvSpPr>
              <a:spLocks noChangeArrowheads="1"/>
            </p:cNvSpPr>
            <p:nvPr/>
          </p:nvSpPr>
          <p:spPr bwMode="auto">
            <a:xfrm>
              <a:off x="4877" y="191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aphicFrame>
        <p:nvGraphicFramePr>
          <p:cNvPr id="59398" name="Object 11">
            <a:hlinkClick r:id="" action="ppaction://ole?verb=0"/>
            <a:extLst>
              <a:ext uri="{FF2B5EF4-FFF2-40B4-BE49-F238E27FC236}">
                <a16:creationId xmlns:a16="http://schemas.microsoft.com/office/drawing/2014/main" id="{C14C81AE-77CC-91D1-CF94-01D074967C1F}"/>
              </a:ext>
            </a:extLst>
          </p:cNvPr>
          <p:cNvGraphicFramePr>
            <a:graphicFrameLocks/>
          </p:cNvGraphicFramePr>
          <p:nvPr/>
        </p:nvGraphicFramePr>
        <p:xfrm>
          <a:off x="7188200" y="26447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59398" name="Object 11">
                        <a:hlinkClick r:id="" action="ppaction://ole?verb=0"/>
                        <a:extLst>
                          <a:ext uri="{FF2B5EF4-FFF2-40B4-BE49-F238E27FC236}">
                            <a16:creationId xmlns:a16="http://schemas.microsoft.com/office/drawing/2014/main" id="{C14C81AE-77CC-91D1-CF94-01D074967C1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82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9" name="Object 12">
            <a:hlinkClick r:id="" action="ppaction://ole?verb=0"/>
            <a:extLst>
              <a:ext uri="{FF2B5EF4-FFF2-40B4-BE49-F238E27FC236}">
                <a16:creationId xmlns:a16="http://schemas.microsoft.com/office/drawing/2014/main" id="{A1DB1335-86A4-A69C-A7C5-33F0E7F3B34D}"/>
              </a:ext>
            </a:extLst>
          </p:cNvPr>
          <p:cNvGraphicFramePr>
            <a:graphicFrameLocks/>
          </p:cNvGraphicFramePr>
          <p:nvPr/>
        </p:nvGraphicFramePr>
        <p:xfrm>
          <a:off x="10058400" y="31908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59399" name="Object 12">
                        <a:hlinkClick r:id="" action="ppaction://ole?verb=0"/>
                        <a:extLst>
                          <a:ext uri="{FF2B5EF4-FFF2-40B4-BE49-F238E27FC236}">
                            <a16:creationId xmlns:a16="http://schemas.microsoft.com/office/drawing/2014/main" id="{A1DB1335-86A4-A69C-A7C5-33F0E7F3B34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58400" y="31908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3805" name="Group 13">
            <a:extLst>
              <a:ext uri="{FF2B5EF4-FFF2-40B4-BE49-F238E27FC236}">
                <a16:creationId xmlns:a16="http://schemas.microsoft.com/office/drawing/2014/main" id="{205FE4F2-F64B-DA27-B717-25C6C813BA50}"/>
              </a:ext>
            </a:extLst>
          </p:cNvPr>
          <p:cNvGrpSpPr>
            <a:grpSpLocks/>
          </p:cNvGrpSpPr>
          <p:nvPr/>
        </p:nvGrpSpPr>
        <p:grpSpPr bwMode="auto">
          <a:xfrm>
            <a:off x="2973388" y="4062413"/>
            <a:ext cx="7364412" cy="2665412"/>
            <a:chOff x="561" y="2199"/>
            <a:chExt cx="4639" cy="1679"/>
          </a:xfrm>
        </p:grpSpPr>
        <p:sp>
          <p:nvSpPr>
            <p:cNvPr id="59413" name="AutoShape 14">
              <a:extLst>
                <a:ext uri="{FF2B5EF4-FFF2-40B4-BE49-F238E27FC236}">
                  <a16:creationId xmlns:a16="http://schemas.microsoft.com/office/drawing/2014/main" id="{20C8A5DC-0872-3D57-C11A-30DAC5BCD840}"/>
                </a:ext>
              </a:extLst>
            </p:cNvPr>
            <p:cNvSpPr>
              <a:spLocks noChangeArrowheads="1"/>
            </p:cNvSpPr>
            <p:nvPr/>
          </p:nvSpPr>
          <p:spPr bwMode="auto">
            <a:xfrm>
              <a:off x="561" y="2199"/>
              <a:ext cx="4639" cy="1679"/>
            </a:xfrm>
            <a:prstGeom prst="star16">
              <a:avLst>
                <a:gd name="adj" fmla="val 37500"/>
              </a:avLst>
            </a:prstGeom>
            <a:gradFill rotWithShape="1">
              <a:gsLst>
                <a:gs pos="0">
                  <a:srgbClr val="FFFFFF"/>
                </a:gs>
                <a:gs pos="100000">
                  <a:srgbClr val="FFCC99"/>
                </a:gs>
              </a:gsLst>
              <a:path path="shape">
                <a:fillToRect l="50000" t="50000" r="50000" b="50000"/>
              </a:path>
            </a:gradFill>
            <a:ln w="76200">
              <a:solidFill>
                <a:schemeClr val="tx1"/>
              </a:solidFill>
              <a:miter lim="800000"/>
              <a:headEnd/>
              <a:tailEnd/>
            </a:ln>
            <a:effectLst>
              <a:outerShdw dist="107763" dir="2700000" algn="ctr" rotWithShape="0">
                <a:schemeClr val="bg2"/>
              </a:outerShdw>
            </a:effec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59414" name="Rectangle 15">
              <a:extLst>
                <a:ext uri="{FF2B5EF4-FFF2-40B4-BE49-F238E27FC236}">
                  <a16:creationId xmlns:a16="http://schemas.microsoft.com/office/drawing/2014/main" id="{987D1485-34EE-4771-6264-516160E5D09C}"/>
                </a:ext>
              </a:extLst>
            </p:cNvPr>
            <p:cNvSpPr>
              <a:spLocks noChangeArrowheads="1"/>
            </p:cNvSpPr>
            <p:nvPr/>
          </p:nvSpPr>
          <p:spPr bwMode="auto">
            <a:xfrm>
              <a:off x="1905" y="2475"/>
              <a:ext cx="2058" cy="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b="1" i="1">
                  <a:latin typeface="Arial" panose="020B0604020202020204" pitchFamily="34" charset="0"/>
                </a:rPr>
                <a:t>and then...</a:t>
              </a:r>
            </a:p>
            <a:p>
              <a:pPr algn="ctr" eaLnBrk="1" hangingPunct="1">
                <a:lnSpc>
                  <a:spcPct val="100000"/>
                </a:lnSpc>
                <a:spcBef>
                  <a:spcPct val="0"/>
                </a:spcBef>
                <a:buFontTx/>
                <a:buNone/>
              </a:pPr>
              <a:r>
                <a:rPr lang="en-US" altLang="en-US" sz="4800" b="1" i="1">
                  <a:latin typeface="Arial" panose="020B0604020202020204" pitchFamily="34" charset="0"/>
                </a:rPr>
                <a:t>($5 left)</a:t>
              </a:r>
            </a:p>
          </p:txBody>
        </p:sp>
      </p:grpSp>
      <p:grpSp>
        <p:nvGrpSpPr>
          <p:cNvPr id="59401" name="Group 16">
            <a:extLst>
              <a:ext uri="{FF2B5EF4-FFF2-40B4-BE49-F238E27FC236}">
                <a16:creationId xmlns:a16="http://schemas.microsoft.com/office/drawing/2014/main" id="{EB07DA93-6985-190C-793E-CE240043FAEA}"/>
              </a:ext>
            </a:extLst>
          </p:cNvPr>
          <p:cNvGrpSpPr>
            <a:grpSpLocks/>
          </p:cNvGrpSpPr>
          <p:nvPr/>
        </p:nvGrpSpPr>
        <p:grpSpPr bwMode="auto">
          <a:xfrm>
            <a:off x="3479800" y="1335088"/>
            <a:ext cx="7026275" cy="1370012"/>
            <a:chOff x="1236" y="845"/>
            <a:chExt cx="4426" cy="863"/>
          </a:xfrm>
        </p:grpSpPr>
        <p:sp>
          <p:nvSpPr>
            <p:cNvPr id="59409" name="Line 17">
              <a:extLst>
                <a:ext uri="{FF2B5EF4-FFF2-40B4-BE49-F238E27FC236}">
                  <a16:creationId xmlns:a16="http://schemas.microsoft.com/office/drawing/2014/main" id="{E1B1AF10-EC75-817A-ADA0-1A0A44BDBCBE}"/>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9410" name="Line 18">
              <a:extLst>
                <a:ext uri="{FF2B5EF4-FFF2-40B4-BE49-F238E27FC236}">
                  <a16:creationId xmlns:a16="http://schemas.microsoft.com/office/drawing/2014/main" id="{93355985-DF11-1810-E54E-1617BC96B31E}"/>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9411" name="Line 19">
              <a:extLst>
                <a:ext uri="{FF2B5EF4-FFF2-40B4-BE49-F238E27FC236}">
                  <a16:creationId xmlns:a16="http://schemas.microsoft.com/office/drawing/2014/main" id="{8BCF847D-313B-1DDB-98E1-18B5F9D71981}"/>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59412" name="Line 20">
              <a:extLst>
                <a:ext uri="{FF2B5EF4-FFF2-40B4-BE49-F238E27FC236}">
                  <a16:creationId xmlns:a16="http://schemas.microsoft.com/office/drawing/2014/main" id="{6D351C42-2168-C01F-D089-D4A2A11A6478}"/>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59402" name="Rectangle 21">
            <a:extLst>
              <a:ext uri="{FF2B5EF4-FFF2-40B4-BE49-F238E27FC236}">
                <a16:creationId xmlns:a16="http://schemas.microsoft.com/office/drawing/2014/main" id="{2250AAC6-BBA6-80D4-FD67-A526BB5902EF}"/>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59403" name="Rectangle 22">
            <a:extLst>
              <a:ext uri="{FF2B5EF4-FFF2-40B4-BE49-F238E27FC236}">
                <a16:creationId xmlns:a16="http://schemas.microsoft.com/office/drawing/2014/main" id="{E4276A5E-6FF6-BECD-01E0-1D06015CE2F3}"/>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59404" name="Rectangle 23">
            <a:extLst>
              <a:ext uri="{FF2B5EF4-FFF2-40B4-BE49-F238E27FC236}">
                <a16:creationId xmlns:a16="http://schemas.microsoft.com/office/drawing/2014/main" id="{410E2DF1-E219-3475-C23F-DC22DD518D6D}"/>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59405" name="Rectangle 24">
            <a:extLst>
              <a:ext uri="{FF2B5EF4-FFF2-40B4-BE49-F238E27FC236}">
                <a16:creationId xmlns:a16="http://schemas.microsoft.com/office/drawing/2014/main" id="{1DED9A61-AF85-8D2E-C38F-310674ADF356}"/>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59406" name="Rectangle 25">
            <a:extLst>
              <a:ext uri="{FF2B5EF4-FFF2-40B4-BE49-F238E27FC236}">
                <a16:creationId xmlns:a16="http://schemas.microsoft.com/office/drawing/2014/main" id="{81E1B39D-C843-F090-C43B-F80E5E226581}"/>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59407" name="Rectangle 26">
            <a:extLst>
              <a:ext uri="{FF2B5EF4-FFF2-40B4-BE49-F238E27FC236}">
                <a16:creationId xmlns:a16="http://schemas.microsoft.com/office/drawing/2014/main" id="{ACF1C13D-03E3-C80F-CBE9-A0765466B3E6}"/>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59408" name="Rectangle 27">
            <a:extLst>
              <a:ext uri="{FF2B5EF4-FFF2-40B4-BE49-F238E27FC236}">
                <a16:creationId xmlns:a16="http://schemas.microsoft.com/office/drawing/2014/main" id="{DF6BDFBE-2228-178F-286B-ACFADF45F0BA}"/>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3805"/>
                                        </p:tgtEl>
                                        <p:attrNameLst>
                                          <p:attrName>style.visibility</p:attrName>
                                        </p:attrNameLst>
                                      </p:cBhvr>
                                      <p:to>
                                        <p:strVal val="visible"/>
                                      </p:to>
                                    </p:set>
                                    <p:animEffect transition="in" filter="dissolve">
                                      <p:cBhvr>
                                        <p:cTn id="7" dur="500"/>
                                        <p:tgtEl>
                                          <p:spTgt spid="33805"/>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3800"/>
                                        </p:tgtEl>
                                        <p:attrNameLst>
                                          <p:attrName>style.visibility</p:attrName>
                                        </p:attrNameLst>
                                      </p:cBhvr>
                                      <p:to>
                                        <p:strVal val="visible"/>
                                      </p:to>
                                    </p:set>
                                    <p:animEffect transition="in" filter="dissolve">
                                      <p:cBhvr>
                                        <p:cTn id="11" dur="500"/>
                                        <p:tgtEl>
                                          <p:spTgt spid="33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D6D05B3C-F447-F6C8-FD4E-8D58C8889F09}"/>
              </a:ext>
            </a:extLst>
          </p:cNvPr>
          <p:cNvSpPr>
            <a:spLocks noChangeArrowheads="1"/>
          </p:cNvSpPr>
          <p:nvPr/>
        </p:nvSpPr>
        <p:spPr bwMode="auto">
          <a:xfrm>
            <a:off x="3484563" y="2743200"/>
            <a:ext cx="6286500"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a:p>
            <a:pPr eaLnBrk="1" hangingPunct="1">
              <a:lnSpc>
                <a:spcPct val="100000"/>
              </a:lnSpc>
              <a:spcBef>
                <a:spcPct val="0"/>
              </a:spcBef>
              <a:buFontTx/>
              <a:buNone/>
            </a:pPr>
            <a:r>
              <a:rPr lang="en-US" altLang="en-US" sz="3600" b="1">
                <a:latin typeface="Arial" panose="020B0604020202020204" pitchFamily="34" charset="0"/>
              </a:rPr>
              <a:t>Second	  8	     8		 20	    10</a:t>
            </a:r>
          </a:p>
          <a:p>
            <a:pPr eaLnBrk="1" hangingPunct="1">
              <a:lnSpc>
                <a:spcPct val="100000"/>
              </a:lnSpc>
              <a:spcBef>
                <a:spcPct val="0"/>
              </a:spcBef>
              <a:buFontTx/>
              <a:buNone/>
            </a:pPr>
            <a:r>
              <a:rPr lang="en-US" altLang="en-US" sz="3600" b="1">
                <a:latin typeface="Arial" panose="020B0604020202020204" pitchFamily="34" charset="0"/>
              </a:rPr>
              <a:t>Third	  7	     7		 18	          9</a:t>
            </a:r>
          </a:p>
          <a:p>
            <a:pPr eaLnBrk="1" hangingPunct="1">
              <a:lnSpc>
                <a:spcPct val="100000"/>
              </a:lnSpc>
              <a:spcBef>
                <a:spcPct val="0"/>
              </a:spcBef>
              <a:buFontTx/>
              <a:buNone/>
            </a:pPr>
            <a:r>
              <a:rPr lang="en-US" altLang="en-US" sz="3600" b="1">
                <a:latin typeface="Arial" panose="020B0604020202020204" pitchFamily="34" charset="0"/>
              </a:rPr>
              <a:t>Fourth	  6	     6		 16	      8</a:t>
            </a:r>
          </a:p>
          <a:p>
            <a:pPr eaLnBrk="1" hangingPunct="1">
              <a:lnSpc>
                <a:spcPct val="100000"/>
              </a:lnSpc>
              <a:spcBef>
                <a:spcPct val="0"/>
              </a:spcBef>
              <a:buFontTx/>
              <a:buNone/>
            </a:pPr>
            <a:r>
              <a:rPr lang="en-US" altLang="en-US" sz="3600" b="1">
                <a:latin typeface="Arial" panose="020B0604020202020204" pitchFamily="34" charset="0"/>
              </a:rPr>
              <a:t>Fifth	  5	     5		 12	      6</a:t>
            </a:r>
          </a:p>
          <a:p>
            <a:pPr eaLnBrk="1" hangingPunct="1">
              <a:lnSpc>
                <a:spcPct val="100000"/>
              </a:lnSpc>
              <a:spcBef>
                <a:spcPct val="0"/>
              </a:spcBef>
              <a:buFontTx/>
              <a:buNone/>
            </a:pPr>
            <a:r>
              <a:rPr lang="en-US" altLang="en-US" sz="3600" b="1">
                <a:latin typeface="Arial" panose="020B0604020202020204" pitchFamily="34" charset="0"/>
              </a:rPr>
              <a:t>Sixth	  4	     4		   6	      3</a:t>
            </a:r>
          </a:p>
          <a:p>
            <a:pPr eaLnBrk="1" hangingPunct="1">
              <a:lnSpc>
                <a:spcPct val="100000"/>
              </a:lnSpc>
              <a:spcBef>
                <a:spcPct val="0"/>
              </a:spcBef>
              <a:buFontTx/>
              <a:buNone/>
            </a:pPr>
            <a:r>
              <a:rPr lang="en-US" altLang="en-US" sz="3600" b="1">
                <a:latin typeface="Arial" panose="020B0604020202020204" pitchFamily="34" charset="0"/>
              </a:rPr>
              <a:t>Seventh	  3	     3		   4	      2</a:t>
            </a:r>
          </a:p>
        </p:txBody>
      </p:sp>
      <p:grpSp>
        <p:nvGrpSpPr>
          <p:cNvPr id="60418" name="Group 3">
            <a:extLst>
              <a:ext uri="{FF2B5EF4-FFF2-40B4-BE49-F238E27FC236}">
                <a16:creationId xmlns:a16="http://schemas.microsoft.com/office/drawing/2014/main" id="{8B91C88E-5001-A41F-3BF9-D856B75075FC}"/>
              </a:ext>
            </a:extLst>
          </p:cNvPr>
          <p:cNvGrpSpPr>
            <a:grpSpLocks/>
          </p:cNvGrpSpPr>
          <p:nvPr/>
        </p:nvGrpSpPr>
        <p:grpSpPr bwMode="auto">
          <a:xfrm>
            <a:off x="2305050" y="604838"/>
            <a:ext cx="2636838" cy="1273175"/>
            <a:chOff x="372" y="76"/>
            <a:chExt cx="1661" cy="739"/>
          </a:xfrm>
        </p:grpSpPr>
        <p:sp>
          <p:nvSpPr>
            <p:cNvPr id="60442" name="AutoShape 4">
              <a:extLst>
                <a:ext uri="{FF2B5EF4-FFF2-40B4-BE49-F238E27FC236}">
                  <a16:creationId xmlns:a16="http://schemas.microsoft.com/office/drawing/2014/main" id="{FBF97B07-8D84-D891-F245-64A881692E43}"/>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0443" name="Rectangle 5">
              <a:extLst>
                <a:ext uri="{FF2B5EF4-FFF2-40B4-BE49-F238E27FC236}">
                  <a16:creationId xmlns:a16="http://schemas.microsoft.com/office/drawing/2014/main" id="{C593C942-5BA0-25AC-A4C1-8DBEFD321394}"/>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60419" name="Rectangle 6">
            <a:extLst>
              <a:ext uri="{FF2B5EF4-FFF2-40B4-BE49-F238E27FC236}">
                <a16:creationId xmlns:a16="http://schemas.microsoft.com/office/drawing/2014/main" id="{6F508429-D257-F890-BE28-0235BAE59CDD}"/>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graphicFrame>
        <p:nvGraphicFramePr>
          <p:cNvPr id="60420" name="Object 7">
            <a:hlinkClick r:id="" action="ppaction://ole?verb=0"/>
            <a:extLst>
              <a:ext uri="{FF2B5EF4-FFF2-40B4-BE49-F238E27FC236}">
                <a16:creationId xmlns:a16="http://schemas.microsoft.com/office/drawing/2014/main" id="{BF1259C0-92BF-1E49-24E5-26C23C011C7C}"/>
              </a:ext>
            </a:extLst>
          </p:cNvPr>
          <p:cNvGraphicFramePr>
            <a:graphicFrameLocks/>
          </p:cNvGraphicFramePr>
          <p:nvPr/>
        </p:nvGraphicFramePr>
        <p:xfrm>
          <a:off x="10058400" y="26447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60420" name="Object 7">
                        <a:hlinkClick r:id="" action="ppaction://ole?verb=0"/>
                        <a:extLst>
                          <a:ext uri="{FF2B5EF4-FFF2-40B4-BE49-F238E27FC236}">
                            <a16:creationId xmlns:a16="http://schemas.microsoft.com/office/drawing/2014/main" id="{BF1259C0-92BF-1E49-24E5-26C23C011C7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584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4824" name="Group 8">
            <a:extLst>
              <a:ext uri="{FF2B5EF4-FFF2-40B4-BE49-F238E27FC236}">
                <a16:creationId xmlns:a16="http://schemas.microsoft.com/office/drawing/2014/main" id="{DB7EC352-99A5-8328-D617-EAE95A2C3559}"/>
              </a:ext>
            </a:extLst>
          </p:cNvPr>
          <p:cNvGrpSpPr>
            <a:grpSpLocks/>
          </p:cNvGrpSpPr>
          <p:nvPr/>
        </p:nvGrpSpPr>
        <p:grpSpPr bwMode="auto">
          <a:xfrm>
            <a:off x="3049588" y="4125913"/>
            <a:ext cx="7364412" cy="2665412"/>
            <a:chOff x="561" y="2199"/>
            <a:chExt cx="4639" cy="1679"/>
          </a:xfrm>
        </p:grpSpPr>
        <p:sp>
          <p:nvSpPr>
            <p:cNvPr id="60440" name="AutoShape 9">
              <a:extLst>
                <a:ext uri="{FF2B5EF4-FFF2-40B4-BE49-F238E27FC236}">
                  <a16:creationId xmlns:a16="http://schemas.microsoft.com/office/drawing/2014/main" id="{04EB062E-3D4E-471F-3A38-05B7D1AC985F}"/>
                </a:ext>
              </a:extLst>
            </p:cNvPr>
            <p:cNvSpPr>
              <a:spLocks noChangeArrowheads="1"/>
            </p:cNvSpPr>
            <p:nvPr/>
          </p:nvSpPr>
          <p:spPr bwMode="auto">
            <a:xfrm>
              <a:off x="561" y="2199"/>
              <a:ext cx="4639" cy="1679"/>
            </a:xfrm>
            <a:prstGeom prst="star16">
              <a:avLst>
                <a:gd name="adj" fmla="val 37500"/>
              </a:avLst>
            </a:prstGeom>
            <a:gradFill rotWithShape="1">
              <a:gsLst>
                <a:gs pos="0">
                  <a:srgbClr val="FFFFFF"/>
                </a:gs>
                <a:gs pos="100000">
                  <a:srgbClr val="FFCC99"/>
                </a:gs>
              </a:gsLst>
              <a:path path="shape">
                <a:fillToRect l="50000" t="50000" r="50000" b="50000"/>
              </a:path>
            </a:gradFill>
            <a:ln w="76200">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0441" name="Rectangle 10">
              <a:extLst>
                <a:ext uri="{FF2B5EF4-FFF2-40B4-BE49-F238E27FC236}">
                  <a16:creationId xmlns:a16="http://schemas.microsoft.com/office/drawing/2014/main" id="{D34A291A-7E75-929B-01B3-F91CC4121031}"/>
                </a:ext>
              </a:extLst>
            </p:cNvPr>
            <p:cNvSpPr>
              <a:spLocks noChangeArrowheads="1"/>
            </p:cNvSpPr>
            <p:nvPr/>
          </p:nvSpPr>
          <p:spPr bwMode="auto">
            <a:xfrm>
              <a:off x="1744" y="2475"/>
              <a:ext cx="2380" cy="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b="1" i="1">
                  <a:latin typeface="Arial" panose="020B0604020202020204" pitchFamily="34" charset="0"/>
                </a:rPr>
                <a:t>third unit of </a:t>
              </a:r>
            </a:p>
            <a:p>
              <a:pPr algn="ctr" eaLnBrk="1" hangingPunct="1">
                <a:lnSpc>
                  <a:spcPct val="100000"/>
                </a:lnSpc>
                <a:spcBef>
                  <a:spcPct val="0"/>
                </a:spcBef>
                <a:buFontTx/>
                <a:buNone/>
              </a:pPr>
              <a:r>
                <a:rPr lang="en-US" altLang="en-US" sz="4800" b="1" i="1">
                  <a:latin typeface="Arial" panose="020B0604020202020204" pitchFamily="34" charset="0"/>
                </a:rPr>
                <a:t>product B</a:t>
              </a:r>
            </a:p>
          </p:txBody>
        </p:sp>
      </p:grpSp>
      <p:grpSp>
        <p:nvGrpSpPr>
          <p:cNvPr id="60422" name="Group 11">
            <a:extLst>
              <a:ext uri="{FF2B5EF4-FFF2-40B4-BE49-F238E27FC236}">
                <a16:creationId xmlns:a16="http://schemas.microsoft.com/office/drawing/2014/main" id="{6BF55760-B585-C2A0-180E-94F19B2AF2B2}"/>
              </a:ext>
            </a:extLst>
          </p:cNvPr>
          <p:cNvGrpSpPr>
            <a:grpSpLocks/>
          </p:cNvGrpSpPr>
          <p:nvPr/>
        </p:nvGrpSpPr>
        <p:grpSpPr bwMode="auto">
          <a:xfrm>
            <a:off x="6430963" y="3062288"/>
            <a:ext cx="4005262" cy="1690687"/>
            <a:chOff x="3083" y="1569"/>
            <a:chExt cx="2523" cy="1065"/>
          </a:xfrm>
        </p:grpSpPr>
        <p:sp>
          <p:nvSpPr>
            <p:cNvPr id="60438" name="Oval 12">
              <a:extLst>
                <a:ext uri="{FF2B5EF4-FFF2-40B4-BE49-F238E27FC236}">
                  <a16:creationId xmlns:a16="http://schemas.microsoft.com/office/drawing/2014/main" id="{C59FEAB9-2239-D6E4-C516-E781D50E6608}"/>
                </a:ext>
              </a:extLst>
            </p:cNvPr>
            <p:cNvSpPr>
              <a:spLocks noChangeArrowheads="1"/>
            </p:cNvSpPr>
            <p:nvPr/>
          </p:nvSpPr>
          <p:spPr bwMode="auto">
            <a:xfrm>
              <a:off x="3083" y="156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0439" name="Oval 13">
              <a:extLst>
                <a:ext uri="{FF2B5EF4-FFF2-40B4-BE49-F238E27FC236}">
                  <a16:creationId xmlns:a16="http://schemas.microsoft.com/office/drawing/2014/main" id="{F0F01AE5-B96E-E3E6-02FE-FDCEFDAF0A49}"/>
                </a:ext>
              </a:extLst>
            </p:cNvPr>
            <p:cNvSpPr>
              <a:spLocks noChangeArrowheads="1"/>
            </p:cNvSpPr>
            <p:nvPr/>
          </p:nvSpPr>
          <p:spPr bwMode="auto">
            <a:xfrm>
              <a:off x="4877" y="191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aphicFrame>
        <p:nvGraphicFramePr>
          <p:cNvPr id="34830" name="Object 14">
            <a:hlinkClick r:id="" action="ppaction://ole?verb=0"/>
            <a:extLst>
              <a:ext uri="{FF2B5EF4-FFF2-40B4-BE49-F238E27FC236}">
                <a16:creationId xmlns:a16="http://schemas.microsoft.com/office/drawing/2014/main" id="{F102D6DE-F183-50E8-4E0A-A1E8530701C2}"/>
              </a:ext>
            </a:extLst>
          </p:cNvPr>
          <p:cNvGraphicFramePr>
            <a:graphicFrameLocks/>
          </p:cNvGraphicFramePr>
          <p:nvPr/>
        </p:nvGraphicFramePr>
        <p:xfrm>
          <a:off x="10045700" y="37623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34830" name="Object 14">
                        <a:hlinkClick r:id="" action="ppaction://ole?verb=0"/>
                        <a:extLst>
                          <a:ext uri="{FF2B5EF4-FFF2-40B4-BE49-F238E27FC236}">
                            <a16:creationId xmlns:a16="http://schemas.microsoft.com/office/drawing/2014/main" id="{F102D6DE-F183-50E8-4E0A-A1E8530701C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5700" y="37623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424" name="Object 15">
            <a:hlinkClick r:id="" action="ppaction://ole?verb=0"/>
            <a:extLst>
              <a:ext uri="{FF2B5EF4-FFF2-40B4-BE49-F238E27FC236}">
                <a16:creationId xmlns:a16="http://schemas.microsoft.com/office/drawing/2014/main" id="{3887B589-C913-CB82-55B4-2F1E49048628}"/>
              </a:ext>
            </a:extLst>
          </p:cNvPr>
          <p:cNvGraphicFramePr>
            <a:graphicFrameLocks/>
          </p:cNvGraphicFramePr>
          <p:nvPr/>
        </p:nvGraphicFramePr>
        <p:xfrm>
          <a:off x="10058400" y="31908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60424" name="Object 15">
                        <a:hlinkClick r:id="" action="ppaction://ole?verb=0"/>
                        <a:extLst>
                          <a:ext uri="{FF2B5EF4-FFF2-40B4-BE49-F238E27FC236}">
                            <a16:creationId xmlns:a16="http://schemas.microsoft.com/office/drawing/2014/main" id="{3887B589-C913-CB82-55B4-2F1E49048628}"/>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58400" y="31908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425" name="Object 16">
            <a:hlinkClick r:id="" action="ppaction://ole?verb=0"/>
            <a:extLst>
              <a:ext uri="{FF2B5EF4-FFF2-40B4-BE49-F238E27FC236}">
                <a16:creationId xmlns:a16="http://schemas.microsoft.com/office/drawing/2014/main" id="{F26D2A96-E799-6460-4DDB-34D43B3BCB0D}"/>
              </a:ext>
            </a:extLst>
          </p:cNvPr>
          <p:cNvGraphicFramePr>
            <a:graphicFrameLocks/>
          </p:cNvGraphicFramePr>
          <p:nvPr/>
        </p:nvGraphicFramePr>
        <p:xfrm>
          <a:off x="7188200" y="26447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60425" name="Object 16">
                        <a:hlinkClick r:id="" action="ppaction://ole?verb=0"/>
                        <a:extLst>
                          <a:ext uri="{FF2B5EF4-FFF2-40B4-BE49-F238E27FC236}">
                            <a16:creationId xmlns:a16="http://schemas.microsoft.com/office/drawing/2014/main" id="{F26D2A96-E799-6460-4DDB-34D43B3BCB0D}"/>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82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0426" name="Group 17">
            <a:extLst>
              <a:ext uri="{FF2B5EF4-FFF2-40B4-BE49-F238E27FC236}">
                <a16:creationId xmlns:a16="http://schemas.microsoft.com/office/drawing/2014/main" id="{FAC517BF-D5BB-D529-24ED-12057400C333}"/>
              </a:ext>
            </a:extLst>
          </p:cNvPr>
          <p:cNvGrpSpPr>
            <a:grpSpLocks/>
          </p:cNvGrpSpPr>
          <p:nvPr/>
        </p:nvGrpSpPr>
        <p:grpSpPr bwMode="auto">
          <a:xfrm>
            <a:off x="3479800" y="1335088"/>
            <a:ext cx="7026275" cy="1370012"/>
            <a:chOff x="1236" y="845"/>
            <a:chExt cx="4426" cy="863"/>
          </a:xfrm>
        </p:grpSpPr>
        <p:sp>
          <p:nvSpPr>
            <p:cNvPr id="60434" name="Line 18">
              <a:extLst>
                <a:ext uri="{FF2B5EF4-FFF2-40B4-BE49-F238E27FC236}">
                  <a16:creationId xmlns:a16="http://schemas.microsoft.com/office/drawing/2014/main" id="{74988AC6-A79D-E982-1A83-58AB13CECC00}"/>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0435" name="Line 19">
              <a:extLst>
                <a:ext uri="{FF2B5EF4-FFF2-40B4-BE49-F238E27FC236}">
                  <a16:creationId xmlns:a16="http://schemas.microsoft.com/office/drawing/2014/main" id="{8F35AC38-2155-1271-AD54-EA6607A87EEA}"/>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0436" name="Line 20">
              <a:extLst>
                <a:ext uri="{FF2B5EF4-FFF2-40B4-BE49-F238E27FC236}">
                  <a16:creationId xmlns:a16="http://schemas.microsoft.com/office/drawing/2014/main" id="{3AEBB72C-6664-BCBD-5CFE-3F81DBC5C593}"/>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0437" name="Line 21">
              <a:extLst>
                <a:ext uri="{FF2B5EF4-FFF2-40B4-BE49-F238E27FC236}">
                  <a16:creationId xmlns:a16="http://schemas.microsoft.com/office/drawing/2014/main" id="{182B8C87-A2AE-D822-57F2-546660712B5F}"/>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60427" name="Rectangle 22">
            <a:extLst>
              <a:ext uri="{FF2B5EF4-FFF2-40B4-BE49-F238E27FC236}">
                <a16:creationId xmlns:a16="http://schemas.microsoft.com/office/drawing/2014/main" id="{634CE1B5-FE0F-D9EC-1152-9564564DFC46}"/>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60428" name="Rectangle 23">
            <a:extLst>
              <a:ext uri="{FF2B5EF4-FFF2-40B4-BE49-F238E27FC236}">
                <a16:creationId xmlns:a16="http://schemas.microsoft.com/office/drawing/2014/main" id="{746E0CEB-71EB-3264-39A8-3D9B0E0E3E31}"/>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60429" name="Rectangle 24">
            <a:extLst>
              <a:ext uri="{FF2B5EF4-FFF2-40B4-BE49-F238E27FC236}">
                <a16:creationId xmlns:a16="http://schemas.microsoft.com/office/drawing/2014/main" id="{B8C4DFBC-DF2E-5B8D-0056-1D2D50AB60C8}"/>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60430" name="Rectangle 25">
            <a:extLst>
              <a:ext uri="{FF2B5EF4-FFF2-40B4-BE49-F238E27FC236}">
                <a16:creationId xmlns:a16="http://schemas.microsoft.com/office/drawing/2014/main" id="{B5E22215-115F-F9FB-B2EC-90D09A6BBF83}"/>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60431" name="Rectangle 26">
            <a:extLst>
              <a:ext uri="{FF2B5EF4-FFF2-40B4-BE49-F238E27FC236}">
                <a16:creationId xmlns:a16="http://schemas.microsoft.com/office/drawing/2014/main" id="{52DE9FA2-03BD-08BB-2B03-D1BF6BD831E9}"/>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60432" name="Rectangle 27">
            <a:extLst>
              <a:ext uri="{FF2B5EF4-FFF2-40B4-BE49-F238E27FC236}">
                <a16:creationId xmlns:a16="http://schemas.microsoft.com/office/drawing/2014/main" id="{E30CAFA0-F45F-9033-94B3-0FA5D8F9A5B2}"/>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60433" name="Rectangle 28">
            <a:extLst>
              <a:ext uri="{FF2B5EF4-FFF2-40B4-BE49-F238E27FC236}">
                <a16:creationId xmlns:a16="http://schemas.microsoft.com/office/drawing/2014/main" id="{91DE852B-A5C0-8E31-D7F9-D15D0BE6D5A1}"/>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4824"/>
                                        </p:tgtEl>
                                        <p:attrNameLst>
                                          <p:attrName>style.visibility</p:attrName>
                                        </p:attrNameLst>
                                      </p:cBhvr>
                                      <p:to>
                                        <p:strVal val="visible"/>
                                      </p:to>
                                    </p:set>
                                    <p:animEffect transition="in" filter="dissolve">
                                      <p:cBhvr>
                                        <p:cTn id="7" dur="500"/>
                                        <p:tgtEl>
                                          <p:spTgt spid="34824"/>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4830"/>
                                        </p:tgtEl>
                                        <p:attrNameLst>
                                          <p:attrName>style.visibility</p:attrName>
                                        </p:attrNameLst>
                                      </p:cBhvr>
                                      <p:to>
                                        <p:strVal val="visible"/>
                                      </p:to>
                                    </p:set>
                                    <p:animEffect transition="in" filter="dissolve">
                                      <p:cBhvr>
                                        <p:cTn id="11" dur="500"/>
                                        <p:tgtEl>
                                          <p:spTgt spid="34830"/>
                                        </p:tgtEl>
                                      </p:cBhvr>
                                    </p:animEffect>
                                  </p:childTnLst>
                                  <p:subTnLst>
                                    <p:audio>
                                      <p:cMediaNode>
                                        <p:cTn display="0" masterRel="sameClick">
                                          <p:stCondLst>
                                            <p:cond evt="begin" delay="0">
                                              <p:tn val="9"/>
                                            </p:cond>
                                          </p:stCondLst>
                                          <p:endCondLst>
                                            <p:cond evt="onStopAudio" delay="0">
                                              <p:tgtEl>
                                                <p:sldTgt/>
                                              </p:tgtEl>
                                            </p:cond>
                                          </p:endCondLst>
                                        </p:cTn>
                                        <p:tgtEl>
                                          <p:sndTgt r:embed="rId2" name="DIN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AC604F64-D773-ACBD-1D7B-16083E8FC3FD}"/>
              </a:ext>
            </a:extLst>
          </p:cNvPr>
          <p:cNvSpPr>
            <a:spLocks noChangeArrowheads="1"/>
          </p:cNvSpPr>
          <p:nvPr/>
        </p:nvSpPr>
        <p:spPr bwMode="auto">
          <a:xfrm>
            <a:off x="3484563" y="2743200"/>
            <a:ext cx="6748462"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a:p>
            <a:pPr eaLnBrk="1" hangingPunct="1">
              <a:lnSpc>
                <a:spcPct val="100000"/>
              </a:lnSpc>
              <a:spcBef>
                <a:spcPct val="0"/>
              </a:spcBef>
              <a:buFontTx/>
              <a:buNone/>
            </a:pPr>
            <a:r>
              <a:rPr lang="en-US" altLang="en-US" sz="3600" b="1">
                <a:latin typeface="Arial" panose="020B0604020202020204" pitchFamily="34" charset="0"/>
              </a:rPr>
              <a:t>Second	  8	     8		 20	    10</a:t>
            </a:r>
          </a:p>
          <a:p>
            <a:pPr eaLnBrk="1" hangingPunct="1">
              <a:lnSpc>
                <a:spcPct val="100000"/>
              </a:lnSpc>
              <a:spcBef>
                <a:spcPct val="0"/>
              </a:spcBef>
              <a:buFontTx/>
              <a:buNone/>
            </a:pPr>
            <a:r>
              <a:rPr lang="en-US" altLang="en-US" sz="3600" b="1">
                <a:latin typeface="Arial" panose="020B0604020202020204" pitchFamily="34" charset="0"/>
              </a:rPr>
              <a:t>Third	  7	     7		 18	      9</a:t>
            </a:r>
          </a:p>
          <a:p>
            <a:pPr eaLnBrk="1" hangingPunct="1">
              <a:lnSpc>
                <a:spcPct val="100000"/>
              </a:lnSpc>
              <a:spcBef>
                <a:spcPct val="0"/>
              </a:spcBef>
              <a:buFontTx/>
              <a:buNone/>
            </a:pPr>
            <a:r>
              <a:rPr lang="en-US" altLang="en-US" sz="3600" b="1">
                <a:latin typeface="Arial" panose="020B0604020202020204" pitchFamily="34" charset="0"/>
              </a:rPr>
              <a:t>Fourth	  6	     6		 16	      8</a:t>
            </a:r>
          </a:p>
          <a:p>
            <a:pPr eaLnBrk="1" hangingPunct="1">
              <a:lnSpc>
                <a:spcPct val="100000"/>
              </a:lnSpc>
              <a:spcBef>
                <a:spcPct val="0"/>
              </a:spcBef>
              <a:buFontTx/>
              <a:buNone/>
            </a:pPr>
            <a:r>
              <a:rPr lang="en-US" altLang="en-US" sz="3600" b="1">
                <a:latin typeface="Arial" panose="020B0604020202020204" pitchFamily="34" charset="0"/>
              </a:rPr>
              <a:t>Fifth	  5	     5		 12	      6</a:t>
            </a:r>
          </a:p>
          <a:p>
            <a:pPr eaLnBrk="1" hangingPunct="1">
              <a:lnSpc>
                <a:spcPct val="100000"/>
              </a:lnSpc>
              <a:spcBef>
                <a:spcPct val="0"/>
              </a:spcBef>
              <a:buFontTx/>
              <a:buNone/>
            </a:pPr>
            <a:r>
              <a:rPr lang="en-US" altLang="en-US" sz="3600" b="1">
                <a:latin typeface="Arial" panose="020B0604020202020204" pitchFamily="34" charset="0"/>
              </a:rPr>
              <a:t>Sixth	  4	     4		   6	      3</a:t>
            </a:r>
          </a:p>
          <a:p>
            <a:pPr eaLnBrk="1" hangingPunct="1">
              <a:lnSpc>
                <a:spcPct val="100000"/>
              </a:lnSpc>
              <a:spcBef>
                <a:spcPct val="0"/>
              </a:spcBef>
              <a:buFontTx/>
              <a:buNone/>
            </a:pPr>
            <a:r>
              <a:rPr lang="en-US" altLang="en-US" sz="3600" b="1">
                <a:latin typeface="Arial" panose="020B0604020202020204" pitchFamily="34" charset="0"/>
              </a:rPr>
              <a:t>Seventh	  3	     3		   4	      2</a:t>
            </a:r>
          </a:p>
        </p:txBody>
      </p:sp>
      <p:grpSp>
        <p:nvGrpSpPr>
          <p:cNvPr id="61442" name="Group 3">
            <a:extLst>
              <a:ext uri="{FF2B5EF4-FFF2-40B4-BE49-F238E27FC236}">
                <a16:creationId xmlns:a16="http://schemas.microsoft.com/office/drawing/2014/main" id="{6B030AD6-3311-40C4-E2DF-CC66504ED25B}"/>
              </a:ext>
            </a:extLst>
          </p:cNvPr>
          <p:cNvGrpSpPr>
            <a:grpSpLocks/>
          </p:cNvGrpSpPr>
          <p:nvPr/>
        </p:nvGrpSpPr>
        <p:grpSpPr bwMode="auto">
          <a:xfrm>
            <a:off x="2305050" y="604838"/>
            <a:ext cx="2636838" cy="1273175"/>
            <a:chOff x="372" y="76"/>
            <a:chExt cx="1661" cy="739"/>
          </a:xfrm>
        </p:grpSpPr>
        <p:sp>
          <p:nvSpPr>
            <p:cNvPr id="61466" name="AutoShape 4">
              <a:extLst>
                <a:ext uri="{FF2B5EF4-FFF2-40B4-BE49-F238E27FC236}">
                  <a16:creationId xmlns:a16="http://schemas.microsoft.com/office/drawing/2014/main" id="{C2247744-53D9-5469-4BC6-7BEE7EEADBDC}"/>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1467" name="Rectangle 5">
              <a:extLst>
                <a:ext uri="{FF2B5EF4-FFF2-40B4-BE49-F238E27FC236}">
                  <a16:creationId xmlns:a16="http://schemas.microsoft.com/office/drawing/2014/main" id="{E265AB6C-06D6-D6D7-FD91-2B10413A4569}"/>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61443" name="Rectangle 6">
            <a:extLst>
              <a:ext uri="{FF2B5EF4-FFF2-40B4-BE49-F238E27FC236}">
                <a16:creationId xmlns:a16="http://schemas.microsoft.com/office/drawing/2014/main" id="{8C6C7654-5C0D-DE95-4152-271DE0902A49}"/>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graphicFrame>
        <p:nvGraphicFramePr>
          <p:cNvPr id="61444" name="Object 7">
            <a:hlinkClick r:id="" action="ppaction://ole?verb=0"/>
            <a:extLst>
              <a:ext uri="{FF2B5EF4-FFF2-40B4-BE49-F238E27FC236}">
                <a16:creationId xmlns:a16="http://schemas.microsoft.com/office/drawing/2014/main" id="{0E3E6AB4-4D2F-9BB8-89B0-B7CE66923926}"/>
              </a:ext>
            </a:extLst>
          </p:cNvPr>
          <p:cNvGraphicFramePr>
            <a:graphicFrameLocks/>
          </p:cNvGraphicFramePr>
          <p:nvPr/>
        </p:nvGraphicFramePr>
        <p:xfrm>
          <a:off x="10058400" y="26447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61444" name="Object 7">
                        <a:hlinkClick r:id="" action="ppaction://ole?verb=0"/>
                        <a:extLst>
                          <a:ext uri="{FF2B5EF4-FFF2-40B4-BE49-F238E27FC236}">
                            <a16:creationId xmlns:a16="http://schemas.microsoft.com/office/drawing/2014/main" id="{0E3E6AB4-4D2F-9BB8-89B0-B7CE6692392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5848" name="Group 8">
            <a:extLst>
              <a:ext uri="{FF2B5EF4-FFF2-40B4-BE49-F238E27FC236}">
                <a16:creationId xmlns:a16="http://schemas.microsoft.com/office/drawing/2014/main" id="{DB5B5EAC-E387-7762-0CD5-32B4BDC2A191}"/>
              </a:ext>
            </a:extLst>
          </p:cNvPr>
          <p:cNvGrpSpPr>
            <a:grpSpLocks/>
          </p:cNvGrpSpPr>
          <p:nvPr/>
        </p:nvGrpSpPr>
        <p:grpSpPr bwMode="auto">
          <a:xfrm>
            <a:off x="2205038" y="4048125"/>
            <a:ext cx="6291262" cy="2201863"/>
            <a:chOff x="429" y="2550"/>
            <a:chExt cx="3963" cy="1387"/>
          </a:xfrm>
        </p:grpSpPr>
        <p:sp>
          <p:nvSpPr>
            <p:cNvPr id="61464" name="AutoShape 9">
              <a:extLst>
                <a:ext uri="{FF2B5EF4-FFF2-40B4-BE49-F238E27FC236}">
                  <a16:creationId xmlns:a16="http://schemas.microsoft.com/office/drawing/2014/main" id="{D9FCCDD3-004E-1905-B9BD-526B18380B40}"/>
                </a:ext>
              </a:extLst>
            </p:cNvPr>
            <p:cNvSpPr>
              <a:spLocks noChangeArrowheads="1"/>
            </p:cNvSpPr>
            <p:nvPr/>
          </p:nvSpPr>
          <p:spPr bwMode="auto">
            <a:xfrm>
              <a:off x="429" y="2550"/>
              <a:ext cx="3963" cy="1387"/>
            </a:xfrm>
            <a:prstGeom prst="star16">
              <a:avLst>
                <a:gd name="adj" fmla="val 37500"/>
              </a:avLst>
            </a:prstGeom>
            <a:gradFill rotWithShape="1">
              <a:gsLst>
                <a:gs pos="0">
                  <a:srgbClr val="FFFFFF"/>
                </a:gs>
                <a:gs pos="100000">
                  <a:srgbClr val="FFCC99"/>
                </a:gs>
              </a:gsLst>
              <a:path path="shape">
                <a:fillToRect l="50000" t="50000" r="50000" b="50000"/>
              </a:path>
            </a:gradFill>
            <a:ln w="76200">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1465" name="Rectangle 10">
              <a:extLst>
                <a:ext uri="{FF2B5EF4-FFF2-40B4-BE49-F238E27FC236}">
                  <a16:creationId xmlns:a16="http://schemas.microsoft.com/office/drawing/2014/main" id="{68AD5E09-3BA3-1B67-02A3-D9EF2AAC5025}"/>
                </a:ext>
              </a:extLst>
            </p:cNvPr>
            <p:cNvSpPr>
              <a:spLocks noChangeArrowheads="1"/>
            </p:cNvSpPr>
            <p:nvPr/>
          </p:nvSpPr>
          <p:spPr bwMode="auto">
            <a:xfrm>
              <a:off x="1674" y="2771"/>
              <a:ext cx="1562" cy="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b="1" i="1">
                  <a:latin typeface="Arial" panose="020B0604020202020204" pitchFamily="34" charset="0"/>
                </a:rPr>
                <a:t>$3 left...</a:t>
              </a:r>
            </a:p>
          </p:txBody>
        </p:sp>
      </p:grpSp>
      <p:graphicFrame>
        <p:nvGraphicFramePr>
          <p:cNvPr id="61446" name="Object 11">
            <a:hlinkClick r:id="" action="ppaction://ole?verb=0"/>
            <a:extLst>
              <a:ext uri="{FF2B5EF4-FFF2-40B4-BE49-F238E27FC236}">
                <a16:creationId xmlns:a16="http://schemas.microsoft.com/office/drawing/2014/main" id="{E278B074-87B9-5490-A0E5-727820FC942D}"/>
              </a:ext>
            </a:extLst>
          </p:cNvPr>
          <p:cNvGraphicFramePr>
            <a:graphicFrameLocks/>
          </p:cNvGraphicFramePr>
          <p:nvPr/>
        </p:nvGraphicFramePr>
        <p:xfrm>
          <a:off x="10045700" y="37623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61446" name="Object 11">
                        <a:hlinkClick r:id="" action="ppaction://ole?verb=0"/>
                        <a:extLst>
                          <a:ext uri="{FF2B5EF4-FFF2-40B4-BE49-F238E27FC236}">
                            <a16:creationId xmlns:a16="http://schemas.microsoft.com/office/drawing/2014/main" id="{E278B074-87B9-5490-A0E5-727820FC942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5700" y="37623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7" name="Object 12">
            <a:hlinkClick r:id="" action="ppaction://ole?verb=0"/>
            <a:extLst>
              <a:ext uri="{FF2B5EF4-FFF2-40B4-BE49-F238E27FC236}">
                <a16:creationId xmlns:a16="http://schemas.microsoft.com/office/drawing/2014/main" id="{2512474C-1421-93F2-73B2-30A40C105AC4}"/>
              </a:ext>
            </a:extLst>
          </p:cNvPr>
          <p:cNvGraphicFramePr>
            <a:graphicFrameLocks/>
          </p:cNvGraphicFramePr>
          <p:nvPr/>
        </p:nvGraphicFramePr>
        <p:xfrm>
          <a:off x="10058400" y="31908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61447" name="Object 12">
                        <a:hlinkClick r:id="" action="ppaction://ole?verb=0"/>
                        <a:extLst>
                          <a:ext uri="{FF2B5EF4-FFF2-40B4-BE49-F238E27FC236}">
                            <a16:creationId xmlns:a16="http://schemas.microsoft.com/office/drawing/2014/main" id="{2512474C-1421-93F2-73B2-30A40C105AC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58400" y="31908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8" name="Object 13">
            <a:hlinkClick r:id="" action="ppaction://ole?verb=0"/>
            <a:extLst>
              <a:ext uri="{FF2B5EF4-FFF2-40B4-BE49-F238E27FC236}">
                <a16:creationId xmlns:a16="http://schemas.microsoft.com/office/drawing/2014/main" id="{6A8BAB4F-1EB1-08CA-B678-371F0FFD963B}"/>
              </a:ext>
            </a:extLst>
          </p:cNvPr>
          <p:cNvGraphicFramePr>
            <a:graphicFrameLocks/>
          </p:cNvGraphicFramePr>
          <p:nvPr/>
        </p:nvGraphicFramePr>
        <p:xfrm>
          <a:off x="7188200" y="26447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61448" name="Object 13">
                        <a:hlinkClick r:id="" action="ppaction://ole?verb=0"/>
                        <a:extLst>
                          <a:ext uri="{FF2B5EF4-FFF2-40B4-BE49-F238E27FC236}">
                            <a16:creationId xmlns:a16="http://schemas.microsoft.com/office/drawing/2014/main" id="{6A8BAB4F-1EB1-08CA-B678-371F0FFD963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82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5854" name="Group 14">
            <a:extLst>
              <a:ext uri="{FF2B5EF4-FFF2-40B4-BE49-F238E27FC236}">
                <a16:creationId xmlns:a16="http://schemas.microsoft.com/office/drawing/2014/main" id="{DFBBD041-5036-D08D-2DE1-0C3200F2D716}"/>
              </a:ext>
            </a:extLst>
          </p:cNvPr>
          <p:cNvGrpSpPr>
            <a:grpSpLocks/>
          </p:cNvGrpSpPr>
          <p:nvPr/>
        </p:nvGrpSpPr>
        <p:grpSpPr bwMode="auto">
          <a:xfrm>
            <a:off x="6430963" y="3062288"/>
            <a:ext cx="4005262" cy="2211387"/>
            <a:chOff x="3091" y="1929"/>
            <a:chExt cx="2523" cy="1393"/>
          </a:xfrm>
        </p:grpSpPr>
        <p:sp>
          <p:nvSpPr>
            <p:cNvPr id="61462" name="Oval 15">
              <a:extLst>
                <a:ext uri="{FF2B5EF4-FFF2-40B4-BE49-F238E27FC236}">
                  <a16:creationId xmlns:a16="http://schemas.microsoft.com/office/drawing/2014/main" id="{27ED346B-0E5D-A892-766C-D86AB2D33464}"/>
                </a:ext>
              </a:extLst>
            </p:cNvPr>
            <p:cNvSpPr>
              <a:spLocks noChangeArrowheads="1"/>
            </p:cNvSpPr>
            <p:nvPr/>
          </p:nvSpPr>
          <p:spPr bwMode="auto">
            <a:xfrm>
              <a:off x="3091" y="192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1463" name="Oval 16">
              <a:extLst>
                <a:ext uri="{FF2B5EF4-FFF2-40B4-BE49-F238E27FC236}">
                  <a16:creationId xmlns:a16="http://schemas.microsoft.com/office/drawing/2014/main" id="{5B6B250E-329A-CD99-B74C-A228FFA85932}"/>
                </a:ext>
              </a:extLst>
            </p:cNvPr>
            <p:cNvSpPr>
              <a:spLocks noChangeArrowheads="1"/>
            </p:cNvSpPr>
            <p:nvPr/>
          </p:nvSpPr>
          <p:spPr bwMode="auto">
            <a:xfrm>
              <a:off x="4885" y="2607"/>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pSp>
        <p:nvGrpSpPr>
          <p:cNvPr id="61450" name="Group 17">
            <a:extLst>
              <a:ext uri="{FF2B5EF4-FFF2-40B4-BE49-F238E27FC236}">
                <a16:creationId xmlns:a16="http://schemas.microsoft.com/office/drawing/2014/main" id="{6AF1E71A-6B86-C746-2097-7581483F7851}"/>
              </a:ext>
            </a:extLst>
          </p:cNvPr>
          <p:cNvGrpSpPr>
            <a:grpSpLocks/>
          </p:cNvGrpSpPr>
          <p:nvPr/>
        </p:nvGrpSpPr>
        <p:grpSpPr bwMode="auto">
          <a:xfrm>
            <a:off x="3479800" y="1335088"/>
            <a:ext cx="7026275" cy="1370012"/>
            <a:chOff x="1236" y="845"/>
            <a:chExt cx="4426" cy="863"/>
          </a:xfrm>
        </p:grpSpPr>
        <p:sp>
          <p:nvSpPr>
            <p:cNvPr id="61458" name="Line 18">
              <a:extLst>
                <a:ext uri="{FF2B5EF4-FFF2-40B4-BE49-F238E27FC236}">
                  <a16:creationId xmlns:a16="http://schemas.microsoft.com/office/drawing/2014/main" id="{3C654135-3307-A172-A5C4-C87462CF4E5B}"/>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1459" name="Line 19">
              <a:extLst>
                <a:ext uri="{FF2B5EF4-FFF2-40B4-BE49-F238E27FC236}">
                  <a16:creationId xmlns:a16="http://schemas.microsoft.com/office/drawing/2014/main" id="{9B177113-8681-0041-8AC7-70B5D18FCFEA}"/>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1460" name="Line 20">
              <a:extLst>
                <a:ext uri="{FF2B5EF4-FFF2-40B4-BE49-F238E27FC236}">
                  <a16:creationId xmlns:a16="http://schemas.microsoft.com/office/drawing/2014/main" id="{A9A9F07F-BA92-E41C-295A-23E2C6DABF77}"/>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1461" name="Line 21">
              <a:extLst>
                <a:ext uri="{FF2B5EF4-FFF2-40B4-BE49-F238E27FC236}">
                  <a16:creationId xmlns:a16="http://schemas.microsoft.com/office/drawing/2014/main" id="{A15781E5-161A-878A-1296-C322BE7553C7}"/>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61451" name="Rectangle 22">
            <a:extLst>
              <a:ext uri="{FF2B5EF4-FFF2-40B4-BE49-F238E27FC236}">
                <a16:creationId xmlns:a16="http://schemas.microsoft.com/office/drawing/2014/main" id="{92734CFA-55F3-BA70-EFEE-5B98F05E35D4}"/>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61452" name="Rectangle 23">
            <a:extLst>
              <a:ext uri="{FF2B5EF4-FFF2-40B4-BE49-F238E27FC236}">
                <a16:creationId xmlns:a16="http://schemas.microsoft.com/office/drawing/2014/main" id="{BC557DBC-26F9-5263-D12E-F9187BBCA2C6}"/>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61453" name="Rectangle 24">
            <a:extLst>
              <a:ext uri="{FF2B5EF4-FFF2-40B4-BE49-F238E27FC236}">
                <a16:creationId xmlns:a16="http://schemas.microsoft.com/office/drawing/2014/main" id="{B4175B74-B88C-51B4-5325-A410A5E42682}"/>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61454" name="Rectangle 25">
            <a:extLst>
              <a:ext uri="{FF2B5EF4-FFF2-40B4-BE49-F238E27FC236}">
                <a16:creationId xmlns:a16="http://schemas.microsoft.com/office/drawing/2014/main" id="{17FBBD69-0FB9-527E-FD51-BF7F0555E404}"/>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61455" name="Rectangle 26">
            <a:extLst>
              <a:ext uri="{FF2B5EF4-FFF2-40B4-BE49-F238E27FC236}">
                <a16:creationId xmlns:a16="http://schemas.microsoft.com/office/drawing/2014/main" id="{6E50F758-281E-DA30-B895-FAD6E8836649}"/>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61456" name="Rectangle 27">
            <a:extLst>
              <a:ext uri="{FF2B5EF4-FFF2-40B4-BE49-F238E27FC236}">
                <a16:creationId xmlns:a16="http://schemas.microsoft.com/office/drawing/2014/main" id="{E283DCA7-685A-5CA7-3A48-D05DD11ADE5C}"/>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61457" name="Rectangle 28">
            <a:extLst>
              <a:ext uri="{FF2B5EF4-FFF2-40B4-BE49-F238E27FC236}">
                <a16:creationId xmlns:a16="http://schemas.microsoft.com/office/drawing/2014/main" id="{922C9565-0841-C072-9D4A-85C4B4D0BDD6}"/>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5854"/>
                                        </p:tgtEl>
                                        <p:attrNameLst>
                                          <p:attrName>style.visibility</p:attrName>
                                        </p:attrNameLst>
                                      </p:cBhvr>
                                      <p:to>
                                        <p:strVal val="visible"/>
                                      </p:to>
                                    </p:set>
                                    <p:animEffect transition="in" filter="dissolve">
                                      <p:cBhvr>
                                        <p:cTn id="7" dur="500"/>
                                        <p:tgtEl>
                                          <p:spTgt spid="35854"/>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5848"/>
                                        </p:tgtEl>
                                        <p:attrNameLst>
                                          <p:attrName>style.visibility</p:attrName>
                                        </p:attrNameLst>
                                      </p:cBhvr>
                                      <p:to>
                                        <p:strVal val="visible"/>
                                      </p:to>
                                    </p:set>
                                    <p:animEffect transition="in" filter="dissolve">
                                      <p:cBhvr>
                                        <p:cTn id="11" dur="500"/>
                                        <p:tgtEl>
                                          <p:spTgt spid="35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754344CD-E27B-C018-693E-B0D05CDE0791}"/>
              </a:ext>
            </a:extLst>
          </p:cNvPr>
          <p:cNvSpPr>
            <a:spLocks noChangeArrowheads="1"/>
          </p:cNvSpPr>
          <p:nvPr/>
        </p:nvSpPr>
        <p:spPr bwMode="auto">
          <a:xfrm>
            <a:off x="3484563" y="2743200"/>
            <a:ext cx="6748462"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a:p>
            <a:pPr eaLnBrk="1" hangingPunct="1">
              <a:lnSpc>
                <a:spcPct val="100000"/>
              </a:lnSpc>
              <a:spcBef>
                <a:spcPct val="0"/>
              </a:spcBef>
              <a:buFontTx/>
              <a:buNone/>
            </a:pPr>
            <a:r>
              <a:rPr lang="en-US" altLang="en-US" sz="3600" b="1">
                <a:latin typeface="Arial" panose="020B0604020202020204" pitchFamily="34" charset="0"/>
              </a:rPr>
              <a:t>Second	  8	     8		 20	    10</a:t>
            </a:r>
          </a:p>
          <a:p>
            <a:pPr eaLnBrk="1" hangingPunct="1">
              <a:lnSpc>
                <a:spcPct val="100000"/>
              </a:lnSpc>
              <a:spcBef>
                <a:spcPct val="0"/>
              </a:spcBef>
              <a:buFontTx/>
              <a:buNone/>
            </a:pPr>
            <a:r>
              <a:rPr lang="en-US" altLang="en-US" sz="3600" b="1">
                <a:latin typeface="Arial" panose="020B0604020202020204" pitchFamily="34" charset="0"/>
              </a:rPr>
              <a:t>Third	  7	     7		 18	      9</a:t>
            </a:r>
          </a:p>
          <a:p>
            <a:pPr eaLnBrk="1" hangingPunct="1">
              <a:lnSpc>
                <a:spcPct val="100000"/>
              </a:lnSpc>
              <a:spcBef>
                <a:spcPct val="0"/>
              </a:spcBef>
              <a:buFontTx/>
              <a:buNone/>
            </a:pPr>
            <a:r>
              <a:rPr lang="en-US" altLang="en-US" sz="3600" b="1">
                <a:latin typeface="Arial" panose="020B0604020202020204" pitchFamily="34" charset="0"/>
              </a:rPr>
              <a:t>Fourth	  6	     6		 16	      8</a:t>
            </a:r>
          </a:p>
          <a:p>
            <a:pPr eaLnBrk="1" hangingPunct="1">
              <a:lnSpc>
                <a:spcPct val="100000"/>
              </a:lnSpc>
              <a:spcBef>
                <a:spcPct val="0"/>
              </a:spcBef>
              <a:buFontTx/>
              <a:buNone/>
            </a:pPr>
            <a:r>
              <a:rPr lang="en-US" altLang="en-US" sz="3600" b="1">
                <a:latin typeface="Arial" panose="020B0604020202020204" pitchFamily="34" charset="0"/>
              </a:rPr>
              <a:t>Fifth	  5	     5		 12	      6</a:t>
            </a:r>
          </a:p>
          <a:p>
            <a:pPr eaLnBrk="1" hangingPunct="1">
              <a:lnSpc>
                <a:spcPct val="100000"/>
              </a:lnSpc>
              <a:spcBef>
                <a:spcPct val="0"/>
              </a:spcBef>
              <a:buFontTx/>
              <a:buNone/>
            </a:pPr>
            <a:r>
              <a:rPr lang="en-US" altLang="en-US" sz="3600" b="1">
                <a:latin typeface="Arial" panose="020B0604020202020204" pitchFamily="34" charset="0"/>
              </a:rPr>
              <a:t>Sixth	  4	     4		   6	      3</a:t>
            </a:r>
          </a:p>
          <a:p>
            <a:pPr eaLnBrk="1" hangingPunct="1">
              <a:lnSpc>
                <a:spcPct val="100000"/>
              </a:lnSpc>
              <a:spcBef>
                <a:spcPct val="0"/>
              </a:spcBef>
              <a:buFontTx/>
              <a:buNone/>
            </a:pPr>
            <a:r>
              <a:rPr lang="en-US" altLang="en-US" sz="3600" b="1">
                <a:latin typeface="Arial" panose="020B0604020202020204" pitchFamily="34" charset="0"/>
              </a:rPr>
              <a:t>Seventh	  3	     3		   4	      2</a:t>
            </a:r>
          </a:p>
        </p:txBody>
      </p:sp>
      <p:grpSp>
        <p:nvGrpSpPr>
          <p:cNvPr id="62466" name="Group 3">
            <a:extLst>
              <a:ext uri="{FF2B5EF4-FFF2-40B4-BE49-F238E27FC236}">
                <a16:creationId xmlns:a16="http://schemas.microsoft.com/office/drawing/2014/main" id="{A9C10183-0240-ECA1-D785-E4B797D25FAE}"/>
              </a:ext>
            </a:extLst>
          </p:cNvPr>
          <p:cNvGrpSpPr>
            <a:grpSpLocks/>
          </p:cNvGrpSpPr>
          <p:nvPr/>
        </p:nvGrpSpPr>
        <p:grpSpPr bwMode="auto">
          <a:xfrm>
            <a:off x="2305050" y="604838"/>
            <a:ext cx="2636838" cy="1273175"/>
            <a:chOff x="372" y="76"/>
            <a:chExt cx="1661" cy="739"/>
          </a:xfrm>
        </p:grpSpPr>
        <p:sp>
          <p:nvSpPr>
            <p:cNvPr id="62492" name="AutoShape 4">
              <a:extLst>
                <a:ext uri="{FF2B5EF4-FFF2-40B4-BE49-F238E27FC236}">
                  <a16:creationId xmlns:a16="http://schemas.microsoft.com/office/drawing/2014/main" id="{9D9F6E4C-2580-10FB-3D42-220A0F63D7C3}"/>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2493" name="Rectangle 5">
              <a:extLst>
                <a:ext uri="{FF2B5EF4-FFF2-40B4-BE49-F238E27FC236}">
                  <a16:creationId xmlns:a16="http://schemas.microsoft.com/office/drawing/2014/main" id="{9F5A49B2-510A-C21E-A384-F7FCBB5EEABE}"/>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62467" name="Rectangle 6">
            <a:extLst>
              <a:ext uri="{FF2B5EF4-FFF2-40B4-BE49-F238E27FC236}">
                <a16:creationId xmlns:a16="http://schemas.microsoft.com/office/drawing/2014/main" id="{D6676555-7A00-5B09-CEBD-96EA2FA5F9EE}"/>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graphicFrame>
        <p:nvGraphicFramePr>
          <p:cNvPr id="62468" name="Object 7">
            <a:hlinkClick r:id="" action="ppaction://ole?verb=0"/>
            <a:extLst>
              <a:ext uri="{FF2B5EF4-FFF2-40B4-BE49-F238E27FC236}">
                <a16:creationId xmlns:a16="http://schemas.microsoft.com/office/drawing/2014/main" id="{5A3B79A9-3E1D-3C17-BFDE-B274D8369D94}"/>
              </a:ext>
            </a:extLst>
          </p:cNvPr>
          <p:cNvGraphicFramePr>
            <a:graphicFrameLocks/>
          </p:cNvGraphicFramePr>
          <p:nvPr/>
        </p:nvGraphicFramePr>
        <p:xfrm>
          <a:off x="10058400" y="26447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62468" name="Object 7">
                        <a:hlinkClick r:id="" action="ppaction://ole?verb=0"/>
                        <a:extLst>
                          <a:ext uri="{FF2B5EF4-FFF2-40B4-BE49-F238E27FC236}">
                            <a16:creationId xmlns:a16="http://schemas.microsoft.com/office/drawing/2014/main" id="{5A3B79A9-3E1D-3C17-BFDE-B274D8369D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584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2469" name="Group 8">
            <a:extLst>
              <a:ext uri="{FF2B5EF4-FFF2-40B4-BE49-F238E27FC236}">
                <a16:creationId xmlns:a16="http://schemas.microsoft.com/office/drawing/2014/main" id="{7F9CB664-BBE4-FCD9-5023-04E5216C6128}"/>
              </a:ext>
            </a:extLst>
          </p:cNvPr>
          <p:cNvGrpSpPr>
            <a:grpSpLocks/>
          </p:cNvGrpSpPr>
          <p:nvPr/>
        </p:nvGrpSpPr>
        <p:grpSpPr bwMode="auto">
          <a:xfrm>
            <a:off x="2205038" y="4048125"/>
            <a:ext cx="6291262" cy="2201863"/>
            <a:chOff x="429" y="2550"/>
            <a:chExt cx="3963" cy="1387"/>
          </a:xfrm>
        </p:grpSpPr>
        <p:sp>
          <p:nvSpPr>
            <p:cNvPr id="62490" name="AutoShape 9">
              <a:extLst>
                <a:ext uri="{FF2B5EF4-FFF2-40B4-BE49-F238E27FC236}">
                  <a16:creationId xmlns:a16="http://schemas.microsoft.com/office/drawing/2014/main" id="{85E400EF-67F2-5E07-7930-B070498308EC}"/>
                </a:ext>
              </a:extLst>
            </p:cNvPr>
            <p:cNvSpPr>
              <a:spLocks noChangeArrowheads="1"/>
            </p:cNvSpPr>
            <p:nvPr/>
          </p:nvSpPr>
          <p:spPr bwMode="auto">
            <a:xfrm>
              <a:off x="429" y="2550"/>
              <a:ext cx="3963" cy="1387"/>
            </a:xfrm>
            <a:prstGeom prst="star16">
              <a:avLst>
                <a:gd name="adj" fmla="val 37500"/>
              </a:avLst>
            </a:prstGeom>
            <a:gradFill rotWithShape="1">
              <a:gsLst>
                <a:gs pos="0">
                  <a:srgbClr val="FFFFFF"/>
                </a:gs>
                <a:gs pos="100000">
                  <a:srgbClr val="FFCC99"/>
                </a:gs>
              </a:gsLst>
              <a:path path="shape">
                <a:fillToRect l="50000" t="50000" r="50000" b="50000"/>
              </a:path>
            </a:gradFill>
            <a:ln w="76200">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2491" name="Rectangle 10">
              <a:extLst>
                <a:ext uri="{FF2B5EF4-FFF2-40B4-BE49-F238E27FC236}">
                  <a16:creationId xmlns:a16="http://schemas.microsoft.com/office/drawing/2014/main" id="{E61E40E5-2D0A-3DF0-D785-8665134F8D43}"/>
                </a:ext>
              </a:extLst>
            </p:cNvPr>
            <p:cNvSpPr>
              <a:spLocks noChangeArrowheads="1"/>
            </p:cNvSpPr>
            <p:nvPr/>
          </p:nvSpPr>
          <p:spPr bwMode="auto">
            <a:xfrm>
              <a:off x="1493" y="2771"/>
              <a:ext cx="1927" cy="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b="1" i="1">
                  <a:latin typeface="Arial" panose="020B0604020202020204" pitchFamily="34" charset="0"/>
                </a:rPr>
                <a:t>$3 left...</a:t>
              </a:r>
            </a:p>
            <a:p>
              <a:pPr algn="ctr" eaLnBrk="1" hangingPunct="1">
                <a:lnSpc>
                  <a:spcPct val="100000"/>
                </a:lnSpc>
                <a:spcBef>
                  <a:spcPct val="0"/>
                </a:spcBef>
                <a:buFontTx/>
                <a:buNone/>
              </a:pPr>
              <a:r>
                <a:rPr lang="en-US" altLang="en-US" sz="4800" b="1" i="1">
                  <a:solidFill>
                    <a:srgbClr val="000099"/>
                  </a:solidFill>
                  <a:latin typeface="Arial" panose="020B0604020202020204" pitchFamily="34" charset="0"/>
                </a:rPr>
                <a:t>Buy both!</a:t>
              </a:r>
            </a:p>
          </p:txBody>
        </p:sp>
      </p:grpSp>
      <p:graphicFrame>
        <p:nvGraphicFramePr>
          <p:cNvPr id="62470" name="Object 11">
            <a:hlinkClick r:id="" action="ppaction://ole?verb=0"/>
            <a:extLst>
              <a:ext uri="{FF2B5EF4-FFF2-40B4-BE49-F238E27FC236}">
                <a16:creationId xmlns:a16="http://schemas.microsoft.com/office/drawing/2014/main" id="{CC915436-116B-1999-FCBF-342F66E9FBAE}"/>
              </a:ext>
            </a:extLst>
          </p:cNvPr>
          <p:cNvGraphicFramePr>
            <a:graphicFrameLocks/>
          </p:cNvGraphicFramePr>
          <p:nvPr/>
        </p:nvGraphicFramePr>
        <p:xfrm>
          <a:off x="10045700" y="37623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62470" name="Object 11">
                        <a:hlinkClick r:id="" action="ppaction://ole?verb=0"/>
                        <a:extLst>
                          <a:ext uri="{FF2B5EF4-FFF2-40B4-BE49-F238E27FC236}">
                            <a16:creationId xmlns:a16="http://schemas.microsoft.com/office/drawing/2014/main" id="{CC915436-116B-1999-FCBF-342F66E9FBA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5700" y="37623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1" name="Object 12">
            <a:hlinkClick r:id="" action="ppaction://ole?verb=0"/>
            <a:extLst>
              <a:ext uri="{FF2B5EF4-FFF2-40B4-BE49-F238E27FC236}">
                <a16:creationId xmlns:a16="http://schemas.microsoft.com/office/drawing/2014/main" id="{D1823646-93B6-9C3E-5B04-99BA8A2A3BB9}"/>
              </a:ext>
            </a:extLst>
          </p:cNvPr>
          <p:cNvGraphicFramePr>
            <a:graphicFrameLocks/>
          </p:cNvGraphicFramePr>
          <p:nvPr/>
        </p:nvGraphicFramePr>
        <p:xfrm>
          <a:off x="10058400" y="31908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62471" name="Object 12">
                        <a:hlinkClick r:id="" action="ppaction://ole?verb=0"/>
                        <a:extLst>
                          <a:ext uri="{FF2B5EF4-FFF2-40B4-BE49-F238E27FC236}">
                            <a16:creationId xmlns:a16="http://schemas.microsoft.com/office/drawing/2014/main" id="{D1823646-93B6-9C3E-5B04-99BA8A2A3BB9}"/>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58400" y="31908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2" name="Object 13">
            <a:hlinkClick r:id="" action="ppaction://ole?verb=0"/>
            <a:extLst>
              <a:ext uri="{FF2B5EF4-FFF2-40B4-BE49-F238E27FC236}">
                <a16:creationId xmlns:a16="http://schemas.microsoft.com/office/drawing/2014/main" id="{559D806E-7634-2ABE-2670-4D30C7BFE762}"/>
              </a:ext>
            </a:extLst>
          </p:cNvPr>
          <p:cNvGraphicFramePr>
            <a:graphicFrameLocks/>
          </p:cNvGraphicFramePr>
          <p:nvPr/>
        </p:nvGraphicFramePr>
        <p:xfrm>
          <a:off x="7188200" y="26447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62472" name="Object 13">
                        <a:hlinkClick r:id="" action="ppaction://ole?verb=0"/>
                        <a:extLst>
                          <a:ext uri="{FF2B5EF4-FFF2-40B4-BE49-F238E27FC236}">
                            <a16:creationId xmlns:a16="http://schemas.microsoft.com/office/drawing/2014/main" id="{559D806E-7634-2ABE-2670-4D30C7BFE762}"/>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82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2473" name="Group 14">
            <a:extLst>
              <a:ext uri="{FF2B5EF4-FFF2-40B4-BE49-F238E27FC236}">
                <a16:creationId xmlns:a16="http://schemas.microsoft.com/office/drawing/2014/main" id="{4CA93240-38E6-BB8B-4531-7FABF4EE995D}"/>
              </a:ext>
            </a:extLst>
          </p:cNvPr>
          <p:cNvGrpSpPr>
            <a:grpSpLocks/>
          </p:cNvGrpSpPr>
          <p:nvPr/>
        </p:nvGrpSpPr>
        <p:grpSpPr bwMode="auto">
          <a:xfrm>
            <a:off x="6430963" y="3062288"/>
            <a:ext cx="4005262" cy="2211387"/>
            <a:chOff x="3091" y="1929"/>
            <a:chExt cx="2523" cy="1393"/>
          </a:xfrm>
        </p:grpSpPr>
        <p:sp>
          <p:nvSpPr>
            <p:cNvPr id="62488" name="Oval 15">
              <a:extLst>
                <a:ext uri="{FF2B5EF4-FFF2-40B4-BE49-F238E27FC236}">
                  <a16:creationId xmlns:a16="http://schemas.microsoft.com/office/drawing/2014/main" id="{9274B980-2518-1E69-D6B7-CAB57ED94E37}"/>
                </a:ext>
              </a:extLst>
            </p:cNvPr>
            <p:cNvSpPr>
              <a:spLocks noChangeArrowheads="1"/>
            </p:cNvSpPr>
            <p:nvPr/>
          </p:nvSpPr>
          <p:spPr bwMode="auto">
            <a:xfrm>
              <a:off x="3091" y="192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2489" name="Oval 16">
              <a:extLst>
                <a:ext uri="{FF2B5EF4-FFF2-40B4-BE49-F238E27FC236}">
                  <a16:creationId xmlns:a16="http://schemas.microsoft.com/office/drawing/2014/main" id="{9A88C6CE-E27C-80C2-E153-FE220313902C}"/>
                </a:ext>
              </a:extLst>
            </p:cNvPr>
            <p:cNvSpPr>
              <a:spLocks noChangeArrowheads="1"/>
            </p:cNvSpPr>
            <p:nvPr/>
          </p:nvSpPr>
          <p:spPr bwMode="auto">
            <a:xfrm>
              <a:off x="4885" y="2607"/>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aphicFrame>
        <p:nvGraphicFramePr>
          <p:cNvPr id="36881" name="Object 17">
            <a:hlinkClick r:id="" action="ppaction://ole?verb=0"/>
            <a:extLst>
              <a:ext uri="{FF2B5EF4-FFF2-40B4-BE49-F238E27FC236}">
                <a16:creationId xmlns:a16="http://schemas.microsoft.com/office/drawing/2014/main" id="{45AF9BEF-A059-FAE0-710A-DDDB7BF24140}"/>
              </a:ext>
            </a:extLst>
          </p:cNvPr>
          <p:cNvGraphicFramePr>
            <a:graphicFrameLocks/>
          </p:cNvGraphicFramePr>
          <p:nvPr/>
        </p:nvGraphicFramePr>
        <p:xfrm>
          <a:off x="10045700" y="43211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36881" name="Object 17">
                        <a:hlinkClick r:id="" action="ppaction://ole?verb=0"/>
                        <a:extLst>
                          <a:ext uri="{FF2B5EF4-FFF2-40B4-BE49-F238E27FC236}">
                            <a16:creationId xmlns:a16="http://schemas.microsoft.com/office/drawing/2014/main" id="{45AF9BEF-A059-FAE0-710A-DDDB7BF24140}"/>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45700" y="43211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82" name="Object 18">
            <a:hlinkClick r:id="" action="ppaction://ole?verb=0"/>
            <a:extLst>
              <a:ext uri="{FF2B5EF4-FFF2-40B4-BE49-F238E27FC236}">
                <a16:creationId xmlns:a16="http://schemas.microsoft.com/office/drawing/2014/main" id="{4EB77DD3-8A3D-FFDE-5F8A-9FD161FF3B2B}"/>
              </a:ext>
            </a:extLst>
          </p:cNvPr>
          <p:cNvGraphicFramePr>
            <a:graphicFrameLocks/>
          </p:cNvGraphicFramePr>
          <p:nvPr/>
        </p:nvGraphicFramePr>
        <p:xfrm>
          <a:off x="7188200" y="3203575"/>
          <a:ext cx="365125" cy="650875"/>
        </p:xfrm>
        <a:graphic>
          <a:graphicData uri="http://schemas.openxmlformats.org/presentationml/2006/ole">
            <mc:AlternateContent xmlns:mc="http://schemas.openxmlformats.org/markup-compatibility/2006">
              <mc:Choice xmlns:v="urn:schemas-microsoft-com:vml" Requires="v">
                <p:oleObj name="Clip" r:id="rId3" imgW="1905000" imgH="2794000" progId="MS_ClipArt_Gallery.2">
                  <p:embed/>
                </p:oleObj>
              </mc:Choice>
              <mc:Fallback>
                <p:oleObj name="Clip" r:id="rId3" imgW="1905000" imgH="2794000" progId="MS_ClipArt_Gallery.2">
                  <p:embed/>
                  <p:pic>
                    <p:nvPicPr>
                      <p:cNvPr id="36882" name="Object 18">
                        <a:hlinkClick r:id="" action="ppaction://ole?verb=0"/>
                        <a:extLst>
                          <a:ext uri="{FF2B5EF4-FFF2-40B4-BE49-F238E27FC236}">
                            <a16:creationId xmlns:a16="http://schemas.microsoft.com/office/drawing/2014/main" id="{4EB77DD3-8A3D-FFDE-5F8A-9FD161FF3B2B}"/>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88200" y="32035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2476" name="Group 19">
            <a:extLst>
              <a:ext uri="{FF2B5EF4-FFF2-40B4-BE49-F238E27FC236}">
                <a16:creationId xmlns:a16="http://schemas.microsoft.com/office/drawing/2014/main" id="{2D5E3C6E-F322-7F1E-2EB1-07EE8C4DD0F8}"/>
              </a:ext>
            </a:extLst>
          </p:cNvPr>
          <p:cNvGrpSpPr>
            <a:grpSpLocks/>
          </p:cNvGrpSpPr>
          <p:nvPr/>
        </p:nvGrpSpPr>
        <p:grpSpPr bwMode="auto">
          <a:xfrm>
            <a:off x="3479800" y="1335088"/>
            <a:ext cx="7026275" cy="1370012"/>
            <a:chOff x="1236" y="845"/>
            <a:chExt cx="4426" cy="863"/>
          </a:xfrm>
        </p:grpSpPr>
        <p:sp>
          <p:nvSpPr>
            <p:cNvPr id="62484" name="Line 20">
              <a:extLst>
                <a:ext uri="{FF2B5EF4-FFF2-40B4-BE49-F238E27FC236}">
                  <a16:creationId xmlns:a16="http://schemas.microsoft.com/office/drawing/2014/main" id="{CF139AFE-5CD8-F146-68F3-C3489FF8BF2E}"/>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2485" name="Line 21">
              <a:extLst>
                <a:ext uri="{FF2B5EF4-FFF2-40B4-BE49-F238E27FC236}">
                  <a16:creationId xmlns:a16="http://schemas.microsoft.com/office/drawing/2014/main" id="{CA01844D-6079-C7CF-0A79-3DBF1E697260}"/>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2486" name="Line 22">
              <a:extLst>
                <a:ext uri="{FF2B5EF4-FFF2-40B4-BE49-F238E27FC236}">
                  <a16:creationId xmlns:a16="http://schemas.microsoft.com/office/drawing/2014/main" id="{E7DDBF88-5065-F62D-A58E-BF5CED29AE64}"/>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2487" name="Line 23">
              <a:extLst>
                <a:ext uri="{FF2B5EF4-FFF2-40B4-BE49-F238E27FC236}">
                  <a16:creationId xmlns:a16="http://schemas.microsoft.com/office/drawing/2014/main" id="{7F69BB37-D8DE-C501-8028-7E02F0FFBD7F}"/>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62477" name="Rectangle 24">
            <a:extLst>
              <a:ext uri="{FF2B5EF4-FFF2-40B4-BE49-F238E27FC236}">
                <a16:creationId xmlns:a16="http://schemas.microsoft.com/office/drawing/2014/main" id="{0D5F8937-5C8B-921C-275F-C56D9250EDFA}"/>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62478" name="Rectangle 25">
            <a:extLst>
              <a:ext uri="{FF2B5EF4-FFF2-40B4-BE49-F238E27FC236}">
                <a16:creationId xmlns:a16="http://schemas.microsoft.com/office/drawing/2014/main" id="{C39B5963-9730-2FB1-B31D-60514018C5DA}"/>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62479" name="Rectangle 26">
            <a:extLst>
              <a:ext uri="{FF2B5EF4-FFF2-40B4-BE49-F238E27FC236}">
                <a16:creationId xmlns:a16="http://schemas.microsoft.com/office/drawing/2014/main" id="{09197F31-C1F7-3939-0A4C-8F6B9CDB229D}"/>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62480" name="Rectangle 27">
            <a:extLst>
              <a:ext uri="{FF2B5EF4-FFF2-40B4-BE49-F238E27FC236}">
                <a16:creationId xmlns:a16="http://schemas.microsoft.com/office/drawing/2014/main" id="{AE52937C-1F1E-12F1-F66F-FC7B4190B843}"/>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62481" name="Rectangle 28">
            <a:extLst>
              <a:ext uri="{FF2B5EF4-FFF2-40B4-BE49-F238E27FC236}">
                <a16:creationId xmlns:a16="http://schemas.microsoft.com/office/drawing/2014/main" id="{D8ACF336-88C7-4F06-CEDC-05D6E902341C}"/>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62482" name="Rectangle 29">
            <a:extLst>
              <a:ext uri="{FF2B5EF4-FFF2-40B4-BE49-F238E27FC236}">
                <a16:creationId xmlns:a16="http://schemas.microsoft.com/office/drawing/2014/main" id="{50C066DC-F067-205D-DED1-BED7DA542CD5}"/>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62483" name="Rectangle 30">
            <a:extLst>
              <a:ext uri="{FF2B5EF4-FFF2-40B4-BE49-F238E27FC236}">
                <a16:creationId xmlns:a16="http://schemas.microsoft.com/office/drawing/2014/main" id="{E49AD33D-B925-7675-3267-23B0D0661B09}"/>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6881"/>
                                        </p:tgtEl>
                                        <p:attrNameLst>
                                          <p:attrName>style.visibility</p:attrName>
                                        </p:attrNameLst>
                                      </p:cBhvr>
                                      <p:to>
                                        <p:strVal val="visible"/>
                                      </p:to>
                                    </p:set>
                                    <p:animEffect transition="in" filter="dissolve">
                                      <p:cBhvr>
                                        <p:cTn id="7" dur="500"/>
                                        <p:tgtEl>
                                          <p:spTgt spid="36881"/>
                                        </p:tgtEl>
                                      </p:cBhvr>
                                    </p:animEffect>
                                  </p:childTnLst>
                                  <p:subTnLst>
                                    <p:audio>
                                      <p:cMediaNode>
                                        <p:cTn display="0" masterRel="sameClick">
                                          <p:stCondLst>
                                            <p:cond evt="begin" delay="0">
                                              <p:tn val="5"/>
                                            </p:cond>
                                          </p:stCondLst>
                                          <p:endCondLst>
                                            <p:cond evt="onStopAudio" delay="0">
                                              <p:tgtEl>
                                                <p:sldTgt/>
                                              </p:tgtEl>
                                            </p:cond>
                                          </p:endCondLst>
                                        </p:cTn>
                                        <p:tgtEl>
                                          <p:sndTgt r:embed="rId2" name="DING.WAV"/>
                                        </p:tgtEl>
                                      </p:cMediaNode>
                                    </p:audio>
                                  </p:sub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6882"/>
                                        </p:tgtEl>
                                        <p:attrNameLst>
                                          <p:attrName>style.visibility</p:attrName>
                                        </p:attrNameLst>
                                      </p:cBhvr>
                                      <p:to>
                                        <p:strVal val="visible"/>
                                      </p:to>
                                    </p:set>
                                    <p:animEffect transition="in" filter="dissolve">
                                      <p:cBhvr>
                                        <p:cTn id="11" dur="500"/>
                                        <p:tgtEl>
                                          <p:spTgt spid="36882"/>
                                        </p:tgtEl>
                                      </p:cBhvr>
                                    </p:animEffect>
                                  </p:childTnLst>
                                  <p:subTnLst>
                                    <p:audio>
                                      <p:cMediaNode>
                                        <p:cTn display="0" masterRel="sameClick">
                                          <p:stCondLst>
                                            <p:cond evt="begin" delay="0">
                                              <p:tn val="9"/>
                                            </p:cond>
                                          </p:stCondLst>
                                          <p:endCondLst>
                                            <p:cond evt="onStopAudio" delay="0">
                                              <p:tgtEl>
                                                <p:sldTgt/>
                                              </p:tgtEl>
                                            </p:cond>
                                          </p:endCondLst>
                                        </p:cTn>
                                        <p:tgtEl>
                                          <p:sndTgt r:embed="rId2" name="DIN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C39DAB2D-2A61-FFAA-259B-B09E752CB2D2}"/>
              </a:ext>
            </a:extLst>
          </p:cNvPr>
          <p:cNvSpPr>
            <a:spLocks noChangeArrowheads="1"/>
          </p:cNvSpPr>
          <p:nvPr/>
        </p:nvSpPr>
        <p:spPr bwMode="auto">
          <a:xfrm>
            <a:off x="3484563" y="2743200"/>
            <a:ext cx="6748462"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latin typeface="Arial" panose="020B0604020202020204" pitchFamily="34" charset="0"/>
              </a:rPr>
              <a:t>First       10	   10		 24	    12</a:t>
            </a:r>
          </a:p>
          <a:p>
            <a:pPr eaLnBrk="1" hangingPunct="1">
              <a:lnSpc>
                <a:spcPct val="100000"/>
              </a:lnSpc>
              <a:spcBef>
                <a:spcPct val="0"/>
              </a:spcBef>
              <a:buFontTx/>
              <a:buNone/>
            </a:pPr>
            <a:r>
              <a:rPr lang="en-US" altLang="en-US" sz="3600" b="1">
                <a:latin typeface="Arial" panose="020B0604020202020204" pitchFamily="34" charset="0"/>
              </a:rPr>
              <a:t>Second	  8	     8		 20	    10</a:t>
            </a:r>
          </a:p>
          <a:p>
            <a:pPr eaLnBrk="1" hangingPunct="1">
              <a:lnSpc>
                <a:spcPct val="100000"/>
              </a:lnSpc>
              <a:spcBef>
                <a:spcPct val="0"/>
              </a:spcBef>
              <a:buFontTx/>
              <a:buNone/>
            </a:pPr>
            <a:r>
              <a:rPr lang="en-US" altLang="en-US" sz="3600" b="1">
                <a:latin typeface="Arial" panose="020B0604020202020204" pitchFamily="34" charset="0"/>
              </a:rPr>
              <a:t>Third	  7	     7		 18	      9</a:t>
            </a:r>
          </a:p>
          <a:p>
            <a:pPr eaLnBrk="1" hangingPunct="1">
              <a:lnSpc>
                <a:spcPct val="100000"/>
              </a:lnSpc>
              <a:spcBef>
                <a:spcPct val="0"/>
              </a:spcBef>
              <a:buFontTx/>
              <a:buNone/>
            </a:pPr>
            <a:r>
              <a:rPr lang="en-US" altLang="en-US" sz="3600" b="1">
                <a:latin typeface="Arial" panose="020B0604020202020204" pitchFamily="34" charset="0"/>
              </a:rPr>
              <a:t>Fourth	  6	     6		 16	      8</a:t>
            </a:r>
          </a:p>
          <a:p>
            <a:pPr eaLnBrk="1" hangingPunct="1">
              <a:lnSpc>
                <a:spcPct val="100000"/>
              </a:lnSpc>
              <a:spcBef>
                <a:spcPct val="0"/>
              </a:spcBef>
              <a:buFontTx/>
              <a:buNone/>
            </a:pPr>
            <a:r>
              <a:rPr lang="en-US" altLang="en-US" sz="3600" b="1">
                <a:latin typeface="Arial" panose="020B0604020202020204" pitchFamily="34" charset="0"/>
              </a:rPr>
              <a:t>Fifth	  5	     5		 12	      6</a:t>
            </a:r>
          </a:p>
          <a:p>
            <a:pPr eaLnBrk="1" hangingPunct="1">
              <a:lnSpc>
                <a:spcPct val="100000"/>
              </a:lnSpc>
              <a:spcBef>
                <a:spcPct val="0"/>
              </a:spcBef>
              <a:buFontTx/>
              <a:buNone/>
            </a:pPr>
            <a:r>
              <a:rPr lang="en-US" altLang="en-US" sz="3600" b="1">
                <a:latin typeface="Arial" panose="020B0604020202020204" pitchFamily="34" charset="0"/>
              </a:rPr>
              <a:t>Sixth	  4	     4		   6	      3</a:t>
            </a:r>
          </a:p>
          <a:p>
            <a:pPr eaLnBrk="1" hangingPunct="1">
              <a:lnSpc>
                <a:spcPct val="100000"/>
              </a:lnSpc>
              <a:spcBef>
                <a:spcPct val="0"/>
              </a:spcBef>
              <a:buFontTx/>
              <a:buNone/>
            </a:pPr>
            <a:r>
              <a:rPr lang="en-US" altLang="en-US" sz="3600" b="1">
                <a:latin typeface="Arial" panose="020B0604020202020204" pitchFamily="34" charset="0"/>
              </a:rPr>
              <a:t>Seventh	  3	     3		   4	      2</a:t>
            </a:r>
          </a:p>
        </p:txBody>
      </p:sp>
      <p:grpSp>
        <p:nvGrpSpPr>
          <p:cNvPr id="63490" name="Group 3">
            <a:extLst>
              <a:ext uri="{FF2B5EF4-FFF2-40B4-BE49-F238E27FC236}">
                <a16:creationId xmlns:a16="http://schemas.microsoft.com/office/drawing/2014/main" id="{5D3550AC-E7CF-CFC5-3CAC-0D54ABB46D79}"/>
              </a:ext>
            </a:extLst>
          </p:cNvPr>
          <p:cNvGrpSpPr>
            <a:grpSpLocks/>
          </p:cNvGrpSpPr>
          <p:nvPr/>
        </p:nvGrpSpPr>
        <p:grpSpPr bwMode="auto">
          <a:xfrm>
            <a:off x="2305050" y="604838"/>
            <a:ext cx="2636838" cy="1273175"/>
            <a:chOff x="372" y="76"/>
            <a:chExt cx="1661" cy="739"/>
          </a:xfrm>
        </p:grpSpPr>
        <p:sp>
          <p:nvSpPr>
            <p:cNvPr id="63516" name="AutoShape 4">
              <a:extLst>
                <a:ext uri="{FF2B5EF4-FFF2-40B4-BE49-F238E27FC236}">
                  <a16:creationId xmlns:a16="http://schemas.microsoft.com/office/drawing/2014/main" id="{28146B0E-7D88-9D2A-E26C-25C48C15E663}"/>
                </a:ext>
              </a:extLst>
            </p:cNvPr>
            <p:cNvSpPr>
              <a:spLocks noChangeArrowheads="1"/>
            </p:cNvSpPr>
            <p:nvPr/>
          </p:nvSpPr>
          <p:spPr bwMode="auto">
            <a:xfrm>
              <a:off x="372" y="76"/>
              <a:ext cx="1661" cy="739"/>
            </a:xfrm>
            <a:prstGeom prst="star16">
              <a:avLst>
                <a:gd name="adj" fmla="val 37500"/>
              </a:avLst>
            </a:prstGeom>
            <a:gradFill rotWithShape="1">
              <a:gsLst>
                <a:gs pos="0">
                  <a:srgbClr val="FFFFFF"/>
                </a:gs>
                <a:gs pos="100000">
                  <a:schemeClr val="folHlink"/>
                </a:gs>
              </a:gsLst>
              <a:path path="shape">
                <a:fillToRect l="50000" t="50000" r="50000" b="50000"/>
              </a:path>
            </a:gra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3517" name="Rectangle 5">
              <a:extLst>
                <a:ext uri="{FF2B5EF4-FFF2-40B4-BE49-F238E27FC236}">
                  <a16:creationId xmlns:a16="http://schemas.microsoft.com/office/drawing/2014/main" id="{11FB8DFE-35A7-39C2-C5FE-5B0FC3BFC64F}"/>
                </a:ext>
              </a:extLst>
            </p:cNvPr>
            <p:cNvSpPr>
              <a:spLocks noChangeArrowheads="1"/>
            </p:cNvSpPr>
            <p:nvPr/>
          </p:nvSpPr>
          <p:spPr bwMode="auto">
            <a:xfrm>
              <a:off x="524" y="291"/>
              <a:ext cx="1363" cy="29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00" b="1" i="1">
                  <a:latin typeface="Arial" panose="020B0604020202020204" pitchFamily="34" charset="0"/>
                </a:rPr>
                <a:t>$ 10 income</a:t>
              </a:r>
            </a:p>
          </p:txBody>
        </p:sp>
      </p:grpSp>
      <p:sp>
        <p:nvSpPr>
          <p:cNvPr id="63491" name="Rectangle 6">
            <a:extLst>
              <a:ext uri="{FF2B5EF4-FFF2-40B4-BE49-F238E27FC236}">
                <a16:creationId xmlns:a16="http://schemas.microsoft.com/office/drawing/2014/main" id="{D22098BA-8C41-57B5-8A33-77E1D00CDF9A}"/>
              </a:ext>
            </a:extLst>
          </p:cNvPr>
          <p:cNvSpPr>
            <a:spLocks noChangeArrowheads="1"/>
          </p:cNvSpPr>
          <p:nvPr/>
        </p:nvSpPr>
        <p:spPr bwMode="auto">
          <a:xfrm>
            <a:off x="3333750" y="71438"/>
            <a:ext cx="71707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900" b="1">
                <a:solidFill>
                  <a:srgbClr val="000099"/>
                </a:solidFill>
                <a:latin typeface="Times New Roman" panose="02020603050405020304" pitchFamily="18" charset="0"/>
              </a:rPr>
              <a:t>UTILITY MAXIMIZING COMBINATION</a:t>
            </a:r>
          </a:p>
        </p:txBody>
      </p:sp>
      <p:graphicFrame>
        <p:nvGraphicFramePr>
          <p:cNvPr id="63492" name="Object 7">
            <a:hlinkClick r:id="" action="ppaction://ole?verb=0"/>
            <a:extLst>
              <a:ext uri="{FF2B5EF4-FFF2-40B4-BE49-F238E27FC236}">
                <a16:creationId xmlns:a16="http://schemas.microsoft.com/office/drawing/2014/main" id="{AFE045B1-2FD2-0C9C-D1EB-D7C425DB100B}"/>
              </a:ext>
            </a:extLst>
          </p:cNvPr>
          <p:cNvGraphicFramePr>
            <a:graphicFrameLocks/>
          </p:cNvGraphicFramePr>
          <p:nvPr/>
        </p:nvGraphicFramePr>
        <p:xfrm>
          <a:off x="10058400" y="26447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63492" name="Object 7">
                        <a:hlinkClick r:id="" action="ppaction://ole?verb=0"/>
                        <a:extLst>
                          <a:ext uri="{FF2B5EF4-FFF2-40B4-BE49-F238E27FC236}">
                            <a16:creationId xmlns:a16="http://schemas.microsoft.com/office/drawing/2014/main" id="{AFE045B1-2FD2-0C9C-D1EB-D7C425DB100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3" name="Object 8">
            <a:hlinkClick r:id="" action="ppaction://ole?verb=0"/>
            <a:extLst>
              <a:ext uri="{FF2B5EF4-FFF2-40B4-BE49-F238E27FC236}">
                <a16:creationId xmlns:a16="http://schemas.microsoft.com/office/drawing/2014/main" id="{56728C68-F8A7-7477-0EA8-0F1930D6FEAF}"/>
              </a:ext>
            </a:extLst>
          </p:cNvPr>
          <p:cNvGraphicFramePr>
            <a:graphicFrameLocks/>
          </p:cNvGraphicFramePr>
          <p:nvPr/>
        </p:nvGraphicFramePr>
        <p:xfrm>
          <a:off x="10045700" y="37623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63493" name="Object 8">
                        <a:hlinkClick r:id="" action="ppaction://ole?verb=0"/>
                        <a:extLst>
                          <a:ext uri="{FF2B5EF4-FFF2-40B4-BE49-F238E27FC236}">
                            <a16:creationId xmlns:a16="http://schemas.microsoft.com/office/drawing/2014/main" id="{56728C68-F8A7-7477-0EA8-0F1930D6FEA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5700" y="37623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4" name="Object 9">
            <a:hlinkClick r:id="" action="ppaction://ole?verb=0"/>
            <a:extLst>
              <a:ext uri="{FF2B5EF4-FFF2-40B4-BE49-F238E27FC236}">
                <a16:creationId xmlns:a16="http://schemas.microsoft.com/office/drawing/2014/main" id="{1AB00765-268E-D786-A752-4AF0A9778030}"/>
              </a:ext>
            </a:extLst>
          </p:cNvPr>
          <p:cNvGraphicFramePr>
            <a:graphicFrameLocks/>
          </p:cNvGraphicFramePr>
          <p:nvPr/>
        </p:nvGraphicFramePr>
        <p:xfrm>
          <a:off x="10058400" y="31908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63494" name="Object 9">
                        <a:hlinkClick r:id="" action="ppaction://ole?verb=0"/>
                        <a:extLst>
                          <a:ext uri="{FF2B5EF4-FFF2-40B4-BE49-F238E27FC236}">
                            <a16:creationId xmlns:a16="http://schemas.microsoft.com/office/drawing/2014/main" id="{1AB00765-268E-D786-A752-4AF0A977803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58400" y="31908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5" name="Object 10">
            <a:hlinkClick r:id="" action="ppaction://ole?verb=0"/>
            <a:extLst>
              <a:ext uri="{FF2B5EF4-FFF2-40B4-BE49-F238E27FC236}">
                <a16:creationId xmlns:a16="http://schemas.microsoft.com/office/drawing/2014/main" id="{C1D60C69-A336-CD95-50DE-E2CA87EE52D3}"/>
              </a:ext>
            </a:extLst>
          </p:cNvPr>
          <p:cNvGraphicFramePr>
            <a:graphicFrameLocks/>
          </p:cNvGraphicFramePr>
          <p:nvPr/>
        </p:nvGraphicFramePr>
        <p:xfrm>
          <a:off x="7188200" y="26447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63495" name="Object 10">
                        <a:hlinkClick r:id="" action="ppaction://ole?verb=0"/>
                        <a:extLst>
                          <a:ext uri="{FF2B5EF4-FFF2-40B4-BE49-F238E27FC236}">
                            <a16:creationId xmlns:a16="http://schemas.microsoft.com/office/drawing/2014/main" id="{C1D60C69-A336-CD95-50DE-E2CA87EE52D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8200" y="26447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3496" name="Group 11">
            <a:extLst>
              <a:ext uri="{FF2B5EF4-FFF2-40B4-BE49-F238E27FC236}">
                <a16:creationId xmlns:a16="http://schemas.microsoft.com/office/drawing/2014/main" id="{7A71EE06-31BE-79EB-7B0F-7EBA693903EF}"/>
              </a:ext>
            </a:extLst>
          </p:cNvPr>
          <p:cNvGrpSpPr>
            <a:grpSpLocks/>
          </p:cNvGrpSpPr>
          <p:nvPr/>
        </p:nvGrpSpPr>
        <p:grpSpPr bwMode="auto">
          <a:xfrm>
            <a:off x="6430963" y="3062288"/>
            <a:ext cx="4005262" cy="2211387"/>
            <a:chOff x="3091" y="1929"/>
            <a:chExt cx="2523" cy="1393"/>
          </a:xfrm>
        </p:grpSpPr>
        <p:sp>
          <p:nvSpPr>
            <p:cNvPr id="63514" name="Oval 12">
              <a:extLst>
                <a:ext uri="{FF2B5EF4-FFF2-40B4-BE49-F238E27FC236}">
                  <a16:creationId xmlns:a16="http://schemas.microsoft.com/office/drawing/2014/main" id="{4D850C4F-1AC6-EEE3-B848-E0E10D0548E9}"/>
                </a:ext>
              </a:extLst>
            </p:cNvPr>
            <p:cNvSpPr>
              <a:spLocks noChangeArrowheads="1"/>
            </p:cNvSpPr>
            <p:nvPr/>
          </p:nvSpPr>
          <p:spPr bwMode="auto">
            <a:xfrm>
              <a:off x="3091" y="1929"/>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3515" name="Oval 13">
              <a:extLst>
                <a:ext uri="{FF2B5EF4-FFF2-40B4-BE49-F238E27FC236}">
                  <a16:creationId xmlns:a16="http://schemas.microsoft.com/office/drawing/2014/main" id="{A64A8B3E-674D-0F29-CC27-E9D73BC4AD68}"/>
                </a:ext>
              </a:extLst>
            </p:cNvPr>
            <p:cNvSpPr>
              <a:spLocks noChangeArrowheads="1"/>
            </p:cNvSpPr>
            <p:nvPr/>
          </p:nvSpPr>
          <p:spPr bwMode="auto">
            <a:xfrm>
              <a:off x="4885" y="2607"/>
              <a:ext cx="729" cy="715"/>
            </a:xfrm>
            <a:prstGeom prst="ellipse">
              <a:avLst/>
            </a:prstGeom>
            <a:noFill/>
            <a:ln w="508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grpSp>
      <p:graphicFrame>
        <p:nvGraphicFramePr>
          <p:cNvPr id="63497" name="Object 14">
            <a:hlinkClick r:id="" action="ppaction://ole?verb=0"/>
            <a:extLst>
              <a:ext uri="{FF2B5EF4-FFF2-40B4-BE49-F238E27FC236}">
                <a16:creationId xmlns:a16="http://schemas.microsoft.com/office/drawing/2014/main" id="{F07A87D8-A6A5-1F51-8F0C-5308E096E55D}"/>
              </a:ext>
            </a:extLst>
          </p:cNvPr>
          <p:cNvGraphicFramePr>
            <a:graphicFrameLocks/>
          </p:cNvGraphicFramePr>
          <p:nvPr/>
        </p:nvGraphicFramePr>
        <p:xfrm>
          <a:off x="10045700" y="43211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63497" name="Object 14">
                        <a:hlinkClick r:id="" action="ppaction://ole?verb=0"/>
                        <a:extLst>
                          <a:ext uri="{FF2B5EF4-FFF2-40B4-BE49-F238E27FC236}">
                            <a16:creationId xmlns:a16="http://schemas.microsoft.com/office/drawing/2014/main" id="{F07A87D8-A6A5-1F51-8F0C-5308E096E55D}"/>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5700" y="43211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8" name="Object 15">
            <a:hlinkClick r:id="" action="ppaction://ole?verb=0"/>
            <a:extLst>
              <a:ext uri="{FF2B5EF4-FFF2-40B4-BE49-F238E27FC236}">
                <a16:creationId xmlns:a16="http://schemas.microsoft.com/office/drawing/2014/main" id="{7D2BE1BB-FA5C-74DD-9B5C-1317694DBE55}"/>
              </a:ext>
            </a:extLst>
          </p:cNvPr>
          <p:cNvGraphicFramePr>
            <a:graphicFrameLocks/>
          </p:cNvGraphicFramePr>
          <p:nvPr/>
        </p:nvGraphicFramePr>
        <p:xfrm>
          <a:off x="7188200" y="3203575"/>
          <a:ext cx="365125" cy="650875"/>
        </p:xfrm>
        <a:graphic>
          <a:graphicData uri="http://schemas.openxmlformats.org/presentationml/2006/ole">
            <mc:AlternateContent xmlns:mc="http://schemas.openxmlformats.org/markup-compatibility/2006">
              <mc:Choice xmlns:v="urn:schemas-microsoft-com:vml" Requires="v">
                <p:oleObj name="Clip" r:id="rId2" imgW="1905000" imgH="2794000" progId="MS_ClipArt_Gallery.2">
                  <p:embed/>
                </p:oleObj>
              </mc:Choice>
              <mc:Fallback>
                <p:oleObj name="Clip" r:id="rId2" imgW="1905000" imgH="2794000" progId="MS_ClipArt_Gallery.2">
                  <p:embed/>
                  <p:pic>
                    <p:nvPicPr>
                      <p:cNvPr id="63498" name="Object 15">
                        <a:hlinkClick r:id="" action="ppaction://ole?verb=0"/>
                        <a:extLst>
                          <a:ext uri="{FF2B5EF4-FFF2-40B4-BE49-F238E27FC236}">
                            <a16:creationId xmlns:a16="http://schemas.microsoft.com/office/drawing/2014/main" id="{7D2BE1BB-FA5C-74DD-9B5C-1317694DBE55}"/>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88200" y="3203575"/>
                        <a:ext cx="3651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7904" name="Group 16">
            <a:extLst>
              <a:ext uri="{FF2B5EF4-FFF2-40B4-BE49-F238E27FC236}">
                <a16:creationId xmlns:a16="http://schemas.microsoft.com/office/drawing/2014/main" id="{38E24A4F-1AE7-F60A-6528-527DB81A5258}"/>
              </a:ext>
            </a:extLst>
          </p:cNvPr>
          <p:cNvGrpSpPr>
            <a:grpSpLocks/>
          </p:cNvGrpSpPr>
          <p:nvPr/>
        </p:nvGrpSpPr>
        <p:grpSpPr bwMode="auto">
          <a:xfrm>
            <a:off x="1906588" y="3467100"/>
            <a:ext cx="6613525" cy="3036888"/>
            <a:chOff x="241" y="2184"/>
            <a:chExt cx="4166" cy="1913"/>
          </a:xfrm>
        </p:grpSpPr>
        <p:sp>
          <p:nvSpPr>
            <p:cNvPr id="63512" name="AutoShape 17">
              <a:extLst>
                <a:ext uri="{FF2B5EF4-FFF2-40B4-BE49-F238E27FC236}">
                  <a16:creationId xmlns:a16="http://schemas.microsoft.com/office/drawing/2014/main" id="{F2FF0CA4-FD96-1BFC-70C0-ECD092E9AD4E}"/>
                </a:ext>
              </a:extLst>
            </p:cNvPr>
            <p:cNvSpPr>
              <a:spLocks noChangeArrowheads="1"/>
            </p:cNvSpPr>
            <p:nvPr/>
          </p:nvSpPr>
          <p:spPr bwMode="auto">
            <a:xfrm>
              <a:off x="241" y="2184"/>
              <a:ext cx="4166" cy="1913"/>
            </a:xfrm>
            <a:prstGeom prst="star16">
              <a:avLst>
                <a:gd name="adj" fmla="val 37500"/>
              </a:avLst>
            </a:prstGeom>
            <a:gradFill rotWithShape="1">
              <a:gsLst>
                <a:gs pos="0">
                  <a:srgbClr val="FFFFFF"/>
                </a:gs>
                <a:gs pos="100000">
                  <a:srgbClr val="FFCC99"/>
                </a:gs>
              </a:gsLst>
              <a:path path="shape">
                <a:fillToRect l="50000" t="50000" r="50000" b="50000"/>
              </a:path>
            </a:gradFill>
            <a:ln w="76200">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LK" altLang="en-LK" sz="1800">
                <a:latin typeface="Arial" panose="020B0604020202020204" pitchFamily="34" charset="0"/>
              </a:endParaRPr>
            </a:p>
          </p:txBody>
        </p:sp>
        <p:sp>
          <p:nvSpPr>
            <p:cNvPr id="63513" name="Rectangle 18">
              <a:extLst>
                <a:ext uri="{FF2B5EF4-FFF2-40B4-BE49-F238E27FC236}">
                  <a16:creationId xmlns:a16="http://schemas.microsoft.com/office/drawing/2014/main" id="{8F66B4F4-5F4B-8F89-F666-0C480BC955E3}"/>
                </a:ext>
              </a:extLst>
            </p:cNvPr>
            <p:cNvSpPr>
              <a:spLocks noChangeArrowheads="1"/>
            </p:cNvSpPr>
            <p:nvPr/>
          </p:nvSpPr>
          <p:spPr bwMode="auto">
            <a:xfrm>
              <a:off x="879" y="2521"/>
              <a:ext cx="2873" cy="1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i="1">
                  <a:solidFill>
                    <a:srgbClr val="CC0000"/>
                  </a:solidFill>
                  <a:latin typeface="Arial" panose="020B0604020202020204" pitchFamily="34" charset="0"/>
                </a:rPr>
                <a:t>Income is gone...</a:t>
              </a:r>
            </a:p>
            <a:p>
              <a:pPr algn="ctr" eaLnBrk="1" hangingPunct="1">
                <a:lnSpc>
                  <a:spcPct val="100000"/>
                </a:lnSpc>
                <a:spcBef>
                  <a:spcPct val="0"/>
                </a:spcBef>
                <a:buFontTx/>
                <a:buNone/>
              </a:pPr>
              <a:r>
                <a:rPr lang="en-US" altLang="en-US" b="1" i="1">
                  <a:latin typeface="Arial" panose="020B0604020202020204" pitchFamily="34" charset="0"/>
                </a:rPr>
                <a:t>the last dollar spent on</a:t>
              </a:r>
            </a:p>
            <a:p>
              <a:pPr algn="ctr" eaLnBrk="1" hangingPunct="1">
                <a:lnSpc>
                  <a:spcPct val="100000"/>
                </a:lnSpc>
                <a:spcBef>
                  <a:spcPct val="0"/>
                </a:spcBef>
                <a:buFontTx/>
                <a:buNone/>
              </a:pPr>
              <a:r>
                <a:rPr lang="en-US" altLang="en-US" b="1" i="1">
                  <a:latin typeface="Arial" panose="020B0604020202020204" pitchFamily="34" charset="0"/>
                </a:rPr>
                <a:t>each good gave the same</a:t>
              </a:r>
            </a:p>
            <a:p>
              <a:pPr algn="ctr" eaLnBrk="1" hangingPunct="1">
                <a:lnSpc>
                  <a:spcPct val="100000"/>
                </a:lnSpc>
                <a:spcBef>
                  <a:spcPct val="0"/>
                </a:spcBef>
                <a:buFontTx/>
                <a:buNone/>
              </a:pPr>
              <a:r>
                <a:rPr lang="en-US" altLang="en-US" b="1" i="1">
                  <a:latin typeface="Arial" panose="020B0604020202020204" pitchFamily="34" charset="0"/>
                </a:rPr>
                <a:t>utility (8) per dollar</a:t>
              </a:r>
            </a:p>
          </p:txBody>
        </p:sp>
      </p:grpSp>
      <p:grpSp>
        <p:nvGrpSpPr>
          <p:cNvPr id="63500" name="Group 19">
            <a:extLst>
              <a:ext uri="{FF2B5EF4-FFF2-40B4-BE49-F238E27FC236}">
                <a16:creationId xmlns:a16="http://schemas.microsoft.com/office/drawing/2014/main" id="{CCA53F73-E2AA-4848-A57E-B76BBE4F83BC}"/>
              </a:ext>
            </a:extLst>
          </p:cNvPr>
          <p:cNvGrpSpPr>
            <a:grpSpLocks/>
          </p:cNvGrpSpPr>
          <p:nvPr/>
        </p:nvGrpSpPr>
        <p:grpSpPr bwMode="auto">
          <a:xfrm>
            <a:off x="3479800" y="1335088"/>
            <a:ext cx="7026275" cy="1370012"/>
            <a:chOff x="1236" y="845"/>
            <a:chExt cx="4426" cy="863"/>
          </a:xfrm>
        </p:grpSpPr>
        <p:sp>
          <p:nvSpPr>
            <p:cNvPr id="63508" name="Line 20">
              <a:extLst>
                <a:ext uri="{FF2B5EF4-FFF2-40B4-BE49-F238E27FC236}">
                  <a16:creationId xmlns:a16="http://schemas.microsoft.com/office/drawing/2014/main" id="{1A84CD03-EB9F-C49C-267C-B13BD027FE73}"/>
                </a:ext>
              </a:extLst>
            </p:cNvPr>
            <p:cNvSpPr>
              <a:spLocks noChangeShapeType="1"/>
            </p:cNvSpPr>
            <p:nvPr/>
          </p:nvSpPr>
          <p:spPr bwMode="auto">
            <a:xfrm>
              <a:off x="2976"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3509" name="Line 21">
              <a:extLst>
                <a:ext uri="{FF2B5EF4-FFF2-40B4-BE49-F238E27FC236}">
                  <a16:creationId xmlns:a16="http://schemas.microsoft.com/office/drawing/2014/main" id="{6A5FD395-9440-3529-AE20-0A001E91F7D1}"/>
                </a:ext>
              </a:extLst>
            </p:cNvPr>
            <p:cNvSpPr>
              <a:spLocks noChangeShapeType="1"/>
            </p:cNvSpPr>
            <p:nvPr/>
          </p:nvSpPr>
          <p:spPr bwMode="auto">
            <a:xfrm>
              <a:off x="3872"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3510" name="Line 22">
              <a:extLst>
                <a:ext uri="{FF2B5EF4-FFF2-40B4-BE49-F238E27FC236}">
                  <a16:creationId xmlns:a16="http://schemas.microsoft.com/office/drawing/2014/main" id="{7872AB3E-DF9F-3BB7-6A92-984788E97954}"/>
                </a:ext>
              </a:extLst>
            </p:cNvPr>
            <p:cNvSpPr>
              <a:spLocks noChangeShapeType="1"/>
            </p:cNvSpPr>
            <p:nvPr/>
          </p:nvSpPr>
          <p:spPr bwMode="auto">
            <a:xfrm>
              <a:off x="4718" y="845"/>
              <a:ext cx="0" cy="85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63511" name="Line 23">
              <a:extLst>
                <a:ext uri="{FF2B5EF4-FFF2-40B4-BE49-F238E27FC236}">
                  <a16:creationId xmlns:a16="http://schemas.microsoft.com/office/drawing/2014/main" id="{6F73DDFF-158B-785F-D5B2-DD10627F120C}"/>
                </a:ext>
              </a:extLst>
            </p:cNvPr>
            <p:cNvSpPr>
              <a:spLocks noChangeShapeType="1"/>
            </p:cNvSpPr>
            <p:nvPr/>
          </p:nvSpPr>
          <p:spPr bwMode="auto">
            <a:xfrm>
              <a:off x="1236" y="1708"/>
              <a:ext cx="442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LK"/>
            </a:p>
          </p:txBody>
        </p:sp>
      </p:grpSp>
      <p:sp>
        <p:nvSpPr>
          <p:cNvPr id="63501" name="Rectangle 24">
            <a:extLst>
              <a:ext uri="{FF2B5EF4-FFF2-40B4-BE49-F238E27FC236}">
                <a16:creationId xmlns:a16="http://schemas.microsoft.com/office/drawing/2014/main" id="{F375DB32-AECD-97BB-3213-0293FB515FAB}"/>
              </a:ext>
            </a:extLst>
          </p:cNvPr>
          <p:cNvSpPr>
            <a:spLocks noChangeArrowheads="1"/>
          </p:cNvSpPr>
          <p:nvPr/>
        </p:nvSpPr>
        <p:spPr bwMode="auto">
          <a:xfrm>
            <a:off x="3522663" y="1808163"/>
            <a:ext cx="13271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i="1">
                <a:latin typeface="Arial" panose="020B0604020202020204" pitchFamily="34" charset="0"/>
              </a:rPr>
              <a:t>Unit of</a:t>
            </a:r>
          </a:p>
          <a:p>
            <a:pPr algn="ctr" eaLnBrk="1" hangingPunct="1">
              <a:lnSpc>
                <a:spcPct val="100000"/>
              </a:lnSpc>
              <a:spcBef>
                <a:spcPct val="0"/>
              </a:spcBef>
              <a:buFontTx/>
              <a:buNone/>
            </a:pPr>
            <a:r>
              <a:rPr lang="en-US" altLang="en-US" sz="2400" b="1" i="1">
                <a:latin typeface="Arial" panose="020B0604020202020204" pitchFamily="34" charset="0"/>
              </a:rPr>
              <a:t>product</a:t>
            </a:r>
          </a:p>
        </p:txBody>
      </p:sp>
      <p:sp>
        <p:nvSpPr>
          <p:cNvPr id="63502" name="Rectangle 25">
            <a:extLst>
              <a:ext uri="{FF2B5EF4-FFF2-40B4-BE49-F238E27FC236}">
                <a16:creationId xmlns:a16="http://schemas.microsoft.com/office/drawing/2014/main" id="{39CB2A8A-D018-208B-06FF-433AA083B8EE}"/>
              </a:ext>
            </a:extLst>
          </p:cNvPr>
          <p:cNvSpPr>
            <a:spLocks noChangeArrowheads="1"/>
          </p:cNvSpPr>
          <p:nvPr/>
        </p:nvSpPr>
        <p:spPr bwMode="auto">
          <a:xfrm>
            <a:off x="5303838" y="484188"/>
            <a:ext cx="186848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Product A:</a:t>
            </a:r>
          </a:p>
          <a:p>
            <a:pPr algn="ctr" eaLnBrk="1" hangingPunct="1">
              <a:lnSpc>
                <a:spcPct val="100000"/>
              </a:lnSpc>
              <a:spcBef>
                <a:spcPct val="0"/>
              </a:spcBef>
              <a:buFontTx/>
              <a:buNone/>
            </a:pPr>
            <a:r>
              <a:rPr lang="en-US" altLang="en-US" sz="2600" b="1" u="sng">
                <a:solidFill>
                  <a:srgbClr val="CC0000"/>
                </a:solidFill>
                <a:latin typeface="Arial" panose="020B0604020202020204" pitchFamily="34" charset="0"/>
              </a:rPr>
              <a:t>Price = $1</a:t>
            </a:r>
          </a:p>
        </p:txBody>
      </p:sp>
      <p:sp>
        <p:nvSpPr>
          <p:cNvPr id="63503" name="Rectangle 26">
            <a:extLst>
              <a:ext uri="{FF2B5EF4-FFF2-40B4-BE49-F238E27FC236}">
                <a16:creationId xmlns:a16="http://schemas.microsoft.com/office/drawing/2014/main" id="{B5FA6ACC-C06D-FCC6-2F75-F89D9E533057}"/>
              </a:ext>
            </a:extLst>
          </p:cNvPr>
          <p:cNvSpPr>
            <a:spLocks noChangeArrowheads="1"/>
          </p:cNvSpPr>
          <p:nvPr/>
        </p:nvSpPr>
        <p:spPr bwMode="auto">
          <a:xfrm>
            <a:off x="8051800" y="484188"/>
            <a:ext cx="18875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Product B:</a:t>
            </a:r>
          </a:p>
          <a:p>
            <a:pPr algn="ctr" eaLnBrk="1" hangingPunct="1">
              <a:lnSpc>
                <a:spcPct val="100000"/>
              </a:lnSpc>
              <a:spcBef>
                <a:spcPct val="0"/>
              </a:spcBef>
              <a:buFontTx/>
              <a:buNone/>
            </a:pPr>
            <a:r>
              <a:rPr lang="en-US" altLang="en-US" sz="2600" b="1" u="sng">
                <a:solidFill>
                  <a:srgbClr val="000099"/>
                </a:solidFill>
                <a:latin typeface="Arial" panose="020B0604020202020204" pitchFamily="34" charset="0"/>
              </a:rPr>
              <a:t>Price = $2</a:t>
            </a:r>
          </a:p>
        </p:txBody>
      </p:sp>
      <p:sp>
        <p:nvSpPr>
          <p:cNvPr id="63504" name="Rectangle 27">
            <a:extLst>
              <a:ext uri="{FF2B5EF4-FFF2-40B4-BE49-F238E27FC236}">
                <a16:creationId xmlns:a16="http://schemas.microsoft.com/office/drawing/2014/main" id="{C06F7CFB-47A3-3C26-B4D6-86E4B0D61D65}"/>
              </a:ext>
            </a:extLst>
          </p:cNvPr>
          <p:cNvSpPr>
            <a:spLocks noChangeArrowheads="1"/>
          </p:cNvSpPr>
          <p:nvPr/>
        </p:nvSpPr>
        <p:spPr bwMode="auto">
          <a:xfrm>
            <a:off x="5018088" y="1549400"/>
            <a:ext cx="12366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utils</a:t>
            </a:r>
          </a:p>
        </p:txBody>
      </p:sp>
      <p:sp>
        <p:nvSpPr>
          <p:cNvPr id="63505" name="Rectangle 28">
            <a:extLst>
              <a:ext uri="{FF2B5EF4-FFF2-40B4-BE49-F238E27FC236}">
                <a16:creationId xmlns:a16="http://schemas.microsoft.com/office/drawing/2014/main" id="{2211F1E8-51DF-F6AE-63C2-DEA2CD5FB7B5}"/>
              </a:ext>
            </a:extLst>
          </p:cNvPr>
          <p:cNvSpPr>
            <a:spLocks noChangeArrowheads="1"/>
          </p:cNvSpPr>
          <p:nvPr/>
        </p:nvSpPr>
        <p:spPr bwMode="auto">
          <a:xfrm>
            <a:off x="6200775" y="1274763"/>
            <a:ext cx="1433513"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CC0000"/>
                </a:solidFill>
                <a:latin typeface="Arial" panose="020B0604020202020204" pitchFamily="34" charset="0"/>
              </a:rPr>
              <a:t>(MU/price)</a:t>
            </a:r>
          </a:p>
        </p:txBody>
      </p:sp>
      <p:sp>
        <p:nvSpPr>
          <p:cNvPr id="63506" name="Rectangle 29">
            <a:extLst>
              <a:ext uri="{FF2B5EF4-FFF2-40B4-BE49-F238E27FC236}">
                <a16:creationId xmlns:a16="http://schemas.microsoft.com/office/drawing/2014/main" id="{39677153-7162-1928-461D-A35F45693F0A}"/>
              </a:ext>
            </a:extLst>
          </p:cNvPr>
          <p:cNvSpPr>
            <a:spLocks noChangeArrowheads="1"/>
          </p:cNvSpPr>
          <p:nvPr/>
        </p:nvSpPr>
        <p:spPr bwMode="auto">
          <a:xfrm>
            <a:off x="7727950" y="1558925"/>
            <a:ext cx="1236663"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utils</a:t>
            </a:r>
          </a:p>
        </p:txBody>
      </p:sp>
      <p:sp>
        <p:nvSpPr>
          <p:cNvPr id="63507" name="Rectangle 30">
            <a:extLst>
              <a:ext uri="{FF2B5EF4-FFF2-40B4-BE49-F238E27FC236}">
                <a16:creationId xmlns:a16="http://schemas.microsoft.com/office/drawing/2014/main" id="{4488AABE-5DAF-1ABD-5654-ED05EEC0860D}"/>
              </a:ext>
            </a:extLst>
          </p:cNvPr>
          <p:cNvSpPr>
            <a:spLocks noChangeArrowheads="1"/>
          </p:cNvSpPr>
          <p:nvPr/>
        </p:nvSpPr>
        <p:spPr bwMode="auto">
          <a:xfrm>
            <a:off x="9012238" y="1284288"/>
            <a:ext cx="1433512"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Marginal</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utility per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dollar</a:t>
            </a:r>
          </a:p>
          <a:p>
            <a:pPr algn="ctr" eaLnBrk="1" hangingPunct="1">
              <a:lnSpc>
                <a:spcPct val="100000"/>
              </a:lnSpc>
              <a:spcBef>
                <a:spcPct val="0"/>
              </a:spcBef>
              <a:buFontTx/>
              <a:buNone/>
            </a:pPr>
            <a:r>
              <a:rPr lang="en-US" altLang="en-US" sz="2000" b="1" i="1">
                <a:solidFill>
                  <a:srgbClr val="000099"/>
                </a:solidFill>
                <a:latin typeface="Arial" panose="020B0604020202020204" pitchFamily="34" charset="0"/>
              </a:rPr>
              <a:t>(MU/price)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7904"/>
                                        </p:tgtEl>
                                        <p:attrNameLst>
                                          <p:attrName>style.visibility</p:attrName>
                                        </p:attrNameLst>
                                      </p:cBhvr>
                                      <p:to>
                                        <p:strVal val="visible"/>
                                      </p:to>
                                    </p:set>
                                    <p:animEffect transition="in" filter="dissolve">
                                      <p:cBhvr>
                                        <p:cTn id="7" dur="500"/>
                                        <p:tgtEl>
                                          <p:spTgt spid="37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D9BFCE09-D5E0-BBE6-2089-E000B575A552}"/>
              </a:ext>
            </a:extLst>
          </p:cNvPr>
          <p:cNvSpPr>
            <a:spLocks noChangeArrowheads="1"/>
          </p:cNvSpPr>
          <p:nvPr/>
        </p:nvSpPr>
        <p:spPr bwMode="auto">
          <a:xfrm>
            <a:off x="2514600" y="1817688"/>
            <a:ext cx="7859713" cy="1001712"/>
          </a:xfrm>
          <a:prstGeom prst="rect">
            <a:avLst/>
          </a:prstGeom>
          <a:solidFill>
            <a:srgbClr val="CCFFCC"/>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37931725" indent="-37474525">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Times New Roman" panose="02020603050405020304" pitchFamily="18" charset="0"/>
              <a:cs typeface="Times New Roman" panose="02020603050405020304" pitchFamily="18" charset="0"/>
            </a:endParaRPr>
          </a:p>
        </p:txBody>
      </p:sp>
      <p:grpSp>
        <p:nvGrpSpPr>
          <p:cNvPr id="64514" name="Group 12">
            <a:extLst>
              <a:ext uri="{FF2B5EF4-FFF2-40B4-BE49-F238E27FC236}">
                <a16:creationId xmlns:a16="http://schemas.microsoft.com/office/drawing/2014/main" id="{0463BAC7-F03F-28A7-1CD5-2EF70FFC2738}"/>
              </a:ext>
            </a:extLst>
          </p:cNvPr>
          <p:cNvGrpSpPr>
            <a:grpSpLocks/>
          </p:cNvGrpSpPr>
          <p:nvPr/>
        </p:nvGrpSpPr>
        <p:grpSpPr bwMode="auto">
          <a:xfrm>
            <a:off x="2819400" y="1879600"/>
            <a:ext cx="3810000" cy="774700"/>
            <a:chOff x="2043" y="1184"/>
            <a:chExt cx="1646" cy="488"/>
          </a:xfrm>
        </p:grpSpPr>
        <p:sp>
          <p:nvSpPr>
            <p:cNvPr id="64585" name="Text Box 13">
              <a:extLst>
                <a:ext uri="{FF2B5EF4-FFF2-40B4-BE49-F238E27FC236}">
                  <a16:creationId xmlns:a16="http://schemas.microsoft.com/office/drawing/2014/main" id="{6DD1FE4C-5145-031C-4E73-A51C7C7B300A}"/>
                </a:ext>
              </a:extLst>
            </p:cNvPr>
            <p:cNvSpPr txBox="1">
              <a:spLocks noChangeArrowheads="1"/>
            </p:cNvSpPr>
            <p:nvPr/>
          </p:nvSpPr>
          <p:spPr bwMode="auto">
            <a:xfrm>
              <a:off x="2436" y="1184"/>
              <a:ext cx="59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37931725" indent="-37474525">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85000"/>
                </a:lnSpc>
                <a:spcBef>
                  <a:spcPct val="0"/>
                </a:spcBef>
                <a:buFontTx/>
                <a:buNone/>
              </a:pPr>
              <a:r>
                <a:rPr lang="en-US" altLang="en-US" sz="1800" b="1">
                  <a:latin typeface="Times New Roman" panose="02020603050405020304" pitchFamily="18" charset="0"/>
                  <a:cs typeface="Times New Roman" panose="02020603050405020304" pitchFamily="18" charset="0"/>
                </a:rPr>
                <a:t>Product A:</a:t>
              </a:r>
            </a:p>
            <a:p>
              <a:pPr algn="ctr" eaLnBrk="1" hangingPunct="1">
                <a:lnSpc>
                  <a:spcPct val="85000"/>
                </a:lnSpc>
                <a:spcBef>
                  <a:spcPct val="0"/>
                </a:spcBef>
                <a:buFontTx/>
                <a:buNone/>
              </a:pPr>
              <a:r>
                <a:rPr lang="en-US" altLang="en-US" sz="1800" b="1">
                  <a:latin typeface="Times New Roman" panose="02020603050405020304" pitchFamily="18" charset="0"/>
                  <a:cs typeface="Times New Roman" panose="02020603050405020304" pitchFamily="18" charset="0"/>
                </a:rPr>
                <a:t>Price = Rs 5</a:t>
              </a:r>
            </a:p>
          </p:txBody>
        </p:sp>
        <p:sp>
          <p:nvSpPr>
            <p:cNvPr id="64586" name="Line 14">
              <a:extLst>
                <a:ext uri="{FF2B5EF4-FFF2-40B4-BE49-F238E27FC236}">
                  <a16:creationId xmlns:a16="http://schemas.microsoft.com/office/drawing/2014/main" id="{2D2DE17A-A969-90A2-E4C3-81355EBE3421}"/>
                </a:ext>
              </a:extLst>
            </p:cNvPr>
            <p:cNvSpPr>
              <a:spLocks noChangeShapeType="1"/>
            </p:cNvSpPr>
            <p:nvPr/>
          </p:nvSpPr>
          <p:spPr bwMode="auto">
            <a:xfrm>
              <a:off x="2043" y="1672"/>
              <a:ext cx="1646" cy="0"/>
            </a:xfrm>
            <a:prstGeom prst="line">
              <a:avLst/>
            </a:prstGeom>
            <a:noFill/>
            <a:ln w="57150">
              <a:solidFill>
                <a:srgbClr val="990033"/>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64515" name="Group 15">
            <a:extLst>
              <a:ext uri="{FF2B5EF4-FFF2-40B4-BE49-F238E27FC236}">
                <a16:creationId xmlns:a16="http://schemas.microsoft.com/office/drawing/2014/main" id="{9DC902E7-52A5-0581-E2FC-CEFA00B39222}"/>
              </a:ext>
            </a:extLst>
          </p:cNvPr>
          <p:cNvGrpSpPr>
            <a:grpSpLocks/>
          </p:cNvGrpSpPr>
          <p:nvPr/>
        </p:nvGrpSpPr>
        <p:grpSpPr bwMode="auto">
          <a:xfrm>
            <a:off x="6629400" y="1876425"/>
            <a:ext cx="3844925" cy="774700"/>
            <a:chOff x="3896" y="1182"/>
            <a:chExt cx="1646" cy="488"/>
          </a:xfrm>
        </p:grpSpPr>
        <p:sp>
          <p:nvSpPr>
            <p:cNvPr id="64583" name="Text Box 16">
              <a:extLst>
                <a:ext uri="{FF2B5EF4-FFF2-40B4-BE49-F238E27FC236}">
                  <a16:creationId xmlns:a16="http://schemas.microsoft.com/office/drawing/2014/main" id="{5055C096-9E42-0A88-0090-BACB1E35B6DE}"/>
                </a:ext>
              </a:extLst>
            </p:cNvPr>
            <p:cNvSpPr txBox="1">
              <a:spLocks noChangeArrowheads="1"/>
            </p:cNvSpPr>
            <p:nvPr/>
          </p:nvSpPr>
          <p:spPr bwMode="auto">
            <a:xfrm>
              <a:off x="4291" y="1182"/>
              <a:ext cx="588"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37931725" indent="-37474525">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85000"/>
                </a:lnSpc>
                <a:spcBef>
                  <a:spcPct val="0"/>
                </a:spcBef>
                <a:buFontTx/>
                <a:buNone/>
              </a:pPr>
              <a:r>
                <a:rPr lang="en-US" altLang="en-US" sz="1800" b="1">
                  <a:latin typeface="Times New Roman" panose="02020603050405020304" pitchFamily="18" charset="0"/>
                  <a:cs typeface="Times New Roman" panose="02020603050405020304" pitchFamily="18" charset="0"/>
                </a:rPr>
                <a:t>Product B:</a:t>
              </a:r>
            </a:p>
            <a:p>
              <a:pPr algn="ctr" eaLnBrk="1" hangingPunct="1">
                <a:lnSpc>
                  <a:spcPct val="85000"/>
                </a:lnSpc>
                <a:spcBef>
                  <a:spcPct val="0"/>
                </a:spcBef>
                <a:buFontTx/>
                <a:buNone/>
              </a:pPr>
              <a:r>
                <a:rPr lang="en-US" altLang="en-US" sz="1800" b="1">
                  <a:latin typeface="Times New Roman" panose="02020603050405020304" pitchFamily="18" charset="0"/>
                  <a:cs typeface="Times New Roman" panose="02020603050405020304" pitchFamily="18" charset="0"/>
                </a:rPr>
                <a:t>Price = Rs 3</a:t>
              </a:r>
            </a:p>
          </p:txBody>
        </p:sp>
        <p:sp>
          <p:nvSpPr>
            <p:cNvPr id="64584" name="Line 17">
              <a:extLst>
                <a:ext uri="{FF2B5EF4-FFF2-40B4-BE49-F238E27FC236}">
                  <a16:creationId xmlns:a16="http://schemas.microsoft.com/office/drawing/2014/main" id="{1F7CCD85-BDB0-325C-C94B-53766A3FD905}"/>
                </a:ext>
              </a:extLst>
            </p:cNvPr>
            <p:cNvSpPr>
              <a:spLocks noChangeShapeType="1"/>
            </p:cNvSpPr>
            <p:nvPr/>
          </p:nvSpPr>
          <p:spPr bwMode="auto">
            <a:xfrm>
              <a:off x="3896" y="1670"/>
              <a:ext cx="1646" cy="0"/>
            </a:xfrm>
            <a:prstGeom prst="line">
              <a:avLst/>
            </a:prstGeom>
            <a:noFill/>
            <a:ln w="57150">
              <a:solidFill>
                <a:srgbClr val="669900"/>
              </a:solidFill>
              <a:round/>
              <a:headEnd/>
              <a:tailEnd/>
            </a:ln>
            <a:extLst>
              <a:ext uri="{909E8E84-426E-40DD-AFC4-6F175D3DCCD1}">
                <a14:hiddenFill xmlns:a14="http://schemas.microsoft.com/office/drawing/2010/main">
                  <a:noFill/>
                </a14:hiddenFill>
              </a:ext>
            </a:extLst>
          </p:spPr>
          <p:txBody>
            <a:bodyPr/>
            <a:lstStyle/>
            <a:p>
              <a:endParaRPr lang="en-LK"/>
            </a:p>
          </p:txBody>
        </p:sp>
      </p:grpSp>
      <p:graphicFrame>
        <p:nvGraphicFramePr>
          <p:cNvPr id="25" name="Table 24">
            <a:extLst>
              <a:ext uri="{FF2B5EF4-FFF2-40B4-BE49-F238E27FC236}">
                <a16:creationId xmlns:a16="http://schemas.microsoft.com/office/drawing/2014/main" id="{67B2549F-C503-781F-F094-FF2C6FB15537}"/>
              </a:ext>
            </a:extLst>
          </p:cNvPr>
          <p:cNvGraphicFramePr>
            <a:graphicFrameLocks noGrp="1"/>
          </p:cNvGraphicFramePr>
          <p:nvPr/>
        </p:nvGraphicFramePr>
        <p:xfrm>
          <a:off x="2514600" y="2876550"/>
          <a:ext cx="7859712" cy="3448050"/>
        </p:xfrm>
        <a:graphic>
          <a:graphicData uri="http://schemas.openxmlformats.org/drawingml/2006/table">
            <a:tbl>
              <a:tblPr/>
              <a:tblGrid>
                <a:gridCol w="982464">
                  <a:extLst>
                    <a:ext uri="{9D8B030D-6E8A-4147-A177-3AD203B41FA5}">
                      <a16:colId xmlns:a16="http://schemas.microsoft.com/office/drawing/2014/main" val="20000"/>
                    </a:ext>
                  </a:extLst>
                </a:gridCol>
                <a:gridCol w="982464">
                  <a:extLst>
                    <a:ext uri="{9D8B030D-6E8A-4147-A177-3AD203B41FA5}">
                      <a16:colId xmlns:a16="http://schemas.microsoft.com/office/drawing/2014/main" val="20001"/>
                    </a:ext>
                  </a:extLst>
                </a:gridCol>
                <a:gridCol w="982464">
                  <a:extLst>
                    <a:ext uri="{9D8B030D-6E8A-4147-A177-3AD203B41FA5}">
                      <a16:colId xmlns:a16="http://schemas.microsoft.com/office/drawing/2014/main" val="20002"/>
                    </a:ext>
                  </a:extLst>
                </a:gridCol>
                <a:gridCol w="982464">
                  <a:extLst>
                    <a:ext uri="{9D8B030D-6E8A-4147-A177-3AD203B41FA5}">
                      <a16:colId xmlns:a16="http://schemas.microsoft.com/office/drawing/2014/main" val="20003"/>
                    </a:ext>
                  </a:extLst>
                </a:gridCol>
                <a:gridCol w="982464">
                  <a:extLst>
                    <a:ext uri="{9D8B030D-6E8A-4147-A177-3AD203B41FA5}">
                      <a16:colId xmlns:a16="http://schemas.microsoft.com/office/drawing/2014/main" val="20004"/>
                    </a:ext>
                  </a:extLst>
                </a:gridCol>
                <a:gridCol w="982464">
                  <a:extLst>
                    <a:ext uri="{9D8B030D-6E8A-4147-A177-3AD203B41FA5}">
                      <a16:colId xmlns:a16="http://schemas.microsoft.com/office/drawing/2014/main" val="20005"/>
                    </a:ext>
                  </a:extLst>
                </a:gridCol>
                <a:gridCol w="982464">
                  <a:extLst>
                    <a:ext uri="{9D8B030D-6E8A-4147-A177-3AD203B41FA5}">
                      <a16:colId xmlns:a16="http://schemas.microsoft.com/office/drawing/2014/main" val="20006"/>
                    </a:ext>
                  </a:extLst>
                </a:gridCol>
                <a:gridCol w="982464">
                  <a:extLst>
                    <a:ext uri="{9D8B030D-6E8A-4147-A177-3AD203B41FA5}">
                      <a16:colId xmlns:a16="http://schemas.microsoft.com/office/drawing/2014/main" val="20007"/>
                    </a:ext>
                  </a:extLst>
                </a:gridCol>
              </a:tblGrid>
              <a:tr h="574675">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sng"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Unit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sng"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TU</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1" i="0" u="sng"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1" i="0" u="sng"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sng"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Unit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sng"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TU</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1" i="0" u="sng"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1" i="0" u="sng"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74675">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22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extLst>
                  <a:ext uri="{0D108BD9-81ED-4DB2-BD59-A6C34878D82A}">
                    <a16:rowId xmlns:a16="http://schemas.microsoft.com/office/drawing/2014/main" val="10001"/>
                  </a:ext>
                </a:extLst>
              </a:tr>
              <a:tr h="574675">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32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16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extLst>
                  <a:ext uri="{0D108BD9-81ED-4DB2-BD59-A6C34878D82A}">
                    <a16:rowId xmlns:a16="http://schemas.microsoft.com/office/drawing/2014/main" val="10002"/>
                  </a:ext>
                </a:extLst>
              </a:tr>
              <a:tr h="574675">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3</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40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3</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20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extLst>
                  <a:ext uri="{0D108BD9-81ED-4DB2-BD59-A6C34878D82A}">
                    <a16:rowId xmlns:a16="http://schemas.microsoft.com/office/drawing/2014/main" val="10003"/>
                  </a:ext>
                </a:extLst>
              </a:tr>
              <a:tr h="574675">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46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22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7EAE9"/>
                    </a:solidFill>
                  </a:tcPr>
                </a:tc>
                <a:extLst>
                  <a:ext uri="{0D108BD9-81ED-4DB2-BD59-A6C34878D82A}">
                    <a16:rowId xmlns:a16="http://schemas.microsoft.com/office/drawing/2014/main" val="10004"/>
                  </a:ext>
                </a:extLst>
              </a:tr>
              <a:tr h="574675">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48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rPr>
                        <a:t>20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lvl1pPr>
                        <a:spcBef>
                          <a:spcPct val="20000"/>
                        </a:spcBef>
                        <a:buClr>
                          <a:schemeClr val="accent1"/>
                        </a:buClr>
                        <a:buSzPct val="85000"/>
                        <a:buFont typeface="Wingdings 2" panose="05020102010507070707" pitchFamily="18" charset="2"/>
                        <a:defRPr sz="2300">
                          <a:solidFill>
                            <a:schemeClr val="tx1"/>
                          </a:solidFill>
                          <a:latin typeface="Georgia" panose="02040502050405020303" pitchFamily="18" charset="0"/>
                          <a:ea typeface="ＭＳ Ｐゴシック" panose="020B0600070205080204" pitchFamily="34" charset="-128"/>
                        </a:defRPr>
                      </a:lvl1pPr>
                      <a:lvl2pPr marL="37931725" indent="-37474525">
                        <a:spcBef>
                          <a:spcPct val="20000"/>
                        </a:spcBef>
                        <a:buClr>
                          <a:schemeClr val="accent2"/>
                        </a:buClr>
                        <a:buSzPct val="70000"/>
                        <a:buFont typeface="Wingdings" panose="05000000000000000000" pitchFamily="2" charset="2"/>
                        <a:defRPr sz="2000">
                          <a:solidFill>
                            <a:schemeClr val="tx2"/>
                          </a:solidFill>
                          <a:latin typeface="Georgia" panose="02040502050405020303" pitchFamily="18" charset="0"/>
                          <a:ea typeface="ＭＳ Ｐゴシック" panose="020B0600070205080204" pitchFamily="34" charset="-128"/>
                        </a:defRPr>
                      </a:lvl2pPr>
                      <a:lvl3pPr>
                        <a:spcBef>
                          <a:spcPct val="20000"/>
                        </a:spcBef>
                        <a:defRPr>
                          <a:solidFill>
                            <a:schemeClr val="tx1"/>
                          </a:solidFill>
                          <a:latin typeface="Georgia" panose="02040502050405020303" pitchFamily="18" charset="0"/>
                          <a:ea typeface="ＭＳ Ｐゴシック" panose="020B0600070205080204" pitchFamily="34" charset="-128"/>
                        </a:defRPr>
                      </a:lvl3pPr>
                      <a:lvl4pPr>
                        <a:spcBef>
                          <a:spcPct val="20000"/>
                        </a:spcBef>
                        <a:defRPr>
                          <a:solidFill>
                            <a:schemeClr val="tx2"/>
                          </a:solidFill>
                          <a:latin typeface="Georgia" panose="02040502050405020303" pitchFamily="18" charset="0"/>
                          <a:ea typeface="ＭＳ Ｐゴシック" panose="020B0600070205080204" pitchFamily="34" charset="-128"/>
                        </a:defRPr>
                      </a:lvl4pPr>
                      <a:lvl5pPr>
                        <a:spcBef>
                          <a:spcPct val="20000"/>
                        </a:spcBef>
                        <a:defRPr sz="1600">
                          <a:solidFill>
                            <a:schemeClr val="tx1"/>
                          </a:solidFill>
                          <a:latin typeface="Georgia" panose="02040502050405020303" pitchFamily="18" charset="0"/>
                          <a:ea typeface="ＭＳ Ｐゴシック" panose="020B0600070205080204" pitchFamily="34" charset="-128"/>
                        </a:defRPr>
                      </a:lvl5pPr>
                      <a:lvl6pPr marL="4572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6pPr>
                      <a:lvl7pPr marL="9144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7pPr>
                      <a:lvl8pPr marL="13716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8pPr>
                      <a:lvl9pPr marL="1828800" fontAlgn="base">
                        <a:spcBef>
                          <a:spcPct val="20000"/>
                        </a:spcBef>
                        <a:spcAft>
                          <a:spcPct val="0"/>
                        </a:spcAft>
                        <a:defRPr sz="16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ea typeface="ＭＳ Ｐゴシック" panose="020B0600070205080204" pitchFamily="34" charset="-128"/>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D3CF"/>
                    </a:solidFill>
                  </a:tcPr>
                </a:tc>
                <a:extLst>
                  <a:ext uri="{0D108BD9-81ED-4DB2-BD59-A6C34878D82A}">
                    <a16:rowId xmlns:a16="http://schemas.microsoft.com/office/drawing/2014/main" val="10005"/>
                  </a:ext>
                </a:extLst>
              </a:tr>
            </a:tbl>
          </a:graphicData>
        </a:graphic>
      </p:graphicFrame>
      <p:sp>
        <p:nvSpPr>
          <p:cNvPr id="64581" name="Text Box 4">
            <a:extLst>
              <a:ext uri="{FF2B5EF4-FFF2-40B4-BE49-F238E27FC236}">
                <a16:creationId xmlns:a16="http://schemas.microsoft.com/office/drawing/2014/main" id="{B42192F8-5005-4BCF-4801-9729854DD03A}"/>
              </a:ext>
            </a:extLst>
          </p:cNvPr>
          <p:cNvSpPr txBox="1">
            <a:spLocks noChangeArrowheads="1"/>
          </p:cNvSpPr>
          <p:nvPr/>
        </p:nvSpPr>
        <p:spPr bwMode="auto">
          <a:xfrm>
            <a:off x="2668588" y="744538"/>
            <a:ext cx="723741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37931725" indent="-37474525">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85000"/>
              </a:lnSpc>
              <a:spcBef>
                <a:spcPct val="0"/>
              </a:spcBef>
              <a:buFontTx/>
              <a:buNone/>
            </a:pPr>
            <a:r>
              <a:rPr lang="en-US" altLang="en-US" sz="2400" b="1" i="1" u="sng">
                <a:solidFill>
                  <a:srgbClr val="990033"/>
                </a:solidFill>
                <a:latin typeface="Times New Roman" panose="02020603050405020304" pitchFamily="18" charset="0"/>
                <a:cs typeface="Times New Roman" panose="02020603050405020304" pitchFamily="18" charset="0"/>
              </a:rPr>
              <a:t>Given TU, and an income/budget constraint of Rs26 </a:t>
            </a:r>
            <a:r>
              <a:rPr lang="en-US" altLang="en-US" sz="2400" b="1">
                <a:latin typeface="Times New Roman" panose="02020603050405020304" pitchFamily="18" charset="0"/>
                <a:cs typeface="Times New Roman" panose="02020603050405020304" pitchFamily="18" charset="0"/>
              </a:rPr>
              <a:t> find the Utility-Maximizing Combination of A and B</a:t>
            </a:r>
          </a:p>
        </p:txBody>
      </p:sp>
      <p:sp>
        <p:nvSpPr>
          <p:cNvPr id="64582" name="Rectangle 3">
            <a:extLst>
              <a:ext uri="{FF2B5EF4-FFF2-40B4-BE49-F238E27FC236}">
                <a16:creationId xmlns:a16="http://schemas.microsoft.com/office/drawing/2014/main" id="{51A64FD1-1541-6CF0-A026-18BFBE058842}"/>
              </a:ext>
            </a:extLst>
          </p:cNvPr>
          <p:cNvSpPr>
            <a:spLocks noGrp="1" noChangeArrowheads="1"/>
          </p:cNvSpPr>
          <p:nvPr>
            <p:ph type="title"/>
          </p:nvPr>
        </p:nvSpPr>
        <p:spPr>
          <a:xfrm>
            <a:off x="1143000" y="53975"/>
            <a:ext cx="8459788" cy="708025"/>
          </a:xfrm>
        </p:spPr>
        <p:txBody>
          <a:bodyPr/>
          <a:lstStyle/>
          <a:p>
            <a:pPr eaLnBrk="1" hangingPunct="1"/>
            <a:r>
              <a:rPr lang="en-US" altLang="en-US" sz="4100">
                <a:latin typeface="Times New Roman" panose="02020603050405020304" pitchFamily="18" charset="0"/>
                <a:cs typeface="Times New Roman" panose="02020603050405020304" pitchFamily="18" charset="0"/>
              </a:rPr>
              <a:t>Two-Good Practice Problem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542" name="Rectangle 65541">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37" name="Title 1">
            <a:extLst>
              <a:ext uri="{FF2B5EF4-FFF2-40B4-BE49-F238E27FC236}">
                <a16:creationId xmlns:a16="http://schemas.microsoft.com/office/drawing/2014/main" id="{879DCF7B-58E2-1561-B3CD-1786CB3AF2C6}"/>
              </a:ext>
            </a:extLst>
          </p:cNvPr>
          <p:cNvSpPr>
            <a:spLocks noGrp="1" noChangeArrowheads="1"/>
          </p:cNvSpPr>
          <p:nvPr>
            <p:ph type="title"/>
          </p:nvPr>
        </p:nvSpPr>
        <p:spPr>
          <a:xfrm>
            <a:off x="841248" y="685800"/>
            <a:ext cx="10506456" cy="1157005"/>
          </a:xfrm>
        </p:spPr>
        <p:txBody>
          <a:bodyPr anchor="b">
            <a:normAutofit fontScale="90000"/>
          </a:bodyPr>
          <a:lstStyle/>
          <a:p>
            <a:r>
              <a:rPr lang="en-GB" altLang="en-LK" sz="2400" dirty="0">
                <a:latin typeface="Times New Roman" panose="02020603050405020304" pitchFamily="18" charset="0"/>
                <a:cs typeface="Times New Roman" panose="02020603050405020304" pitchFamily="18" charset="0"/>
              </a:rPr>
              <a:t>Sunil has Rs. 40 to spend on either product “A” or product “B” and wants to maximize his utility. Suppose that the price of both products is Rs. 5. The following table shows the total utility associated with the consumption of product A and product B in various amounts. </a:t>
            </a:r>
            <a:endParaRPr lang="en-LK" altLang="en-LK" sz="2400" dirty="0">
              <a:latin typeface="Times New Roman" panose="02020603050405020304" pitchFamily="18" charset="0"/>
              <a:cs typeface="Times New Roman" panose="02020603050405020304" pitchFamily="18" charset="0"/>
            </a:endParaRPr>
          </a:p>
        </p:txBody>
      </p:sp>
      <p:sp>
        <p:nvSpPr>
          <p:cNvPr id="65544" name="Rectangle 65543">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546" name="Rectangle 65545">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0304A1BC-9587-C395-630F-6C87C188906D}"/>
              </a:ext>
            </a:extLst>
          </p:cNvPr>
          <p:cNvGraphicFramePr>
            <a:graphicFrameLocks noGrp="1"/>
          </p:cNvGraphicFramePr>
          <p:nvPr>
            <p:ph idx="1"/>
            <p:extLst>
              <p:ext uri="{D42A27DB-BD31-4B8C-83A1-F6EECF244321}">
                <p14:modId xmlns:p14="http://schemas.microsoft.com/office/powerpoint/2010/main" val="1361064759"/>
              </p:ext>
            </p:extLst>
          </p:nvPr>
        </p:nvGraphicFramePr>
        <p:xfrm>
          <a:off x="944362" y="2295252"/>
          <a:ext cx="10294132" cy="3876949"/>
        </p:xfrm>
        <a:graphic>
          <a:graphicData uri="http://schemas.openxmlformats.org/drawingml/2006/table">
            <a:tbl>
              <a:tblPr firstRow="1" firstCol="1" bandRow="1">
                <a:tableStyleId>{5940675A-B579-460E-94D1-54222C63F5DA}</a:tableStyleId>
              </a:tblPr>
              <a:tblGrid>
                <a:gridCol w="2559500">
                  <a:extLst>
                    <a:ext uri="{9D8B030D-6E8A-4147-A177-3AD203B41FA5}">
                      <a16:colId xmlns:a16="http://schemas.microsoft.com/office/drawing/2014/main" val="20000"/>
                    </a:ext>
                  </a:extLst>
                </a:gridCol>
                <a:gridCol w="3811338">
                  <a:extLst>
                    <a:ext uri="{9D8B030D-6E8A-4147-A177-3AD203B41FA5}">
                      <a16:colId xmlns:a16="http://schemas.microsoft.com/office/drawing/2014/main" val="20001"/>
                    </a:ext>
                  </a:extLst>
                </a:gridCol>
                <a:gridCol w="3923294">
                  <a:extLst>
                    <a:ext uri="{9D8B030D-6E8A-4147-A177-3AD203B41FA5}">
                      <a16:colId xmlns:a16="http://schemas.microsoft.com/office/drawing/2014/main" val="20002"/>
                    </a:ext>
                  </a:extLst>
                </a:gridCol>
              </a:tblGrid>
              <a:tr h="1129719">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Quantity</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Total Utility (Product A)</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Total Utility (Product B)</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extLst>
                  <a:ext uri="{0D108BD9-81ED-4DB2-BD59-A6C34878D82A}">
                    <a16:rowId xmlns:a16="http://schemas.microsoft.com/office/drawing/2014/main" val="10000"/>
                  </a:ext>
                </a:extLst>
              </a:tr>
              <a:tr h="549446">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1</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140</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180</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extLst>
                  <a:ext uri="{0D108BD9-81ED-4DB2-BD59-A6C34878D82A}">
                    <a16:rowId xmlns:a16="http://schemas.microsoft.com/office/drawing/2014/main" val="10001"/>
                  </a:ext>
                </a:extLst>
              </a:tr>
              <a:tr h="549446">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2</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260</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340</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extLst>
                  <a:ext uri="{0D108BD9-81ED-4DB2-BD59-A6C34878D82A}">
                    <a16:rowId xmlns:a16="http://schemas.microsoft.com/office/drawing/2014/main" val="10002"/>
                  </a:ext>
                </a:extLst>
              </a:tr>
              <a:tr h="549446">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3</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360</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460</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extLst>
                  <a:ext uri="{0D108BD9-81ED-4DB2-BD59-A6C34878D82A}">
                    <a16:rowId xmlns:a16="http://schemas.microsoft.com/office/drawing/2014/main" val="10003"/>
                  </a:ext>
                </a:extLst>
              </a:tr>
              <a:tr h="549446">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4</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440</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520</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extLst>
                  <a:ext uri="{0D108BD9-81ED-4DB2-BD59-A6C34878D82A}">
                    <a16:rowId xmlns:a16="http://schemas.microsoft.com/office/drawing/2014/main" val="10004"/>
                  </a:ext>
                </a:extLst>
              </a:tr>
              <a:tr h="549446">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5</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a:effectLst/>
                          <a:latin typeface="Times New Roman" panose="02020603050405020304" pitchFamily="18" charset="0"/>
                          <a:cs typeface="Times New Roman" panose="02020603050405020304" pitchFamily="18" charset="0"/>
                        </a:rPr>
                        <a:t>500</a:t>
                      </a:r>
                      <a:endParaRPr lang="en-LK" sz="2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tc>
                  <a:txBody>
                    <a:bodyPr/>
                    <a:lstStyle/>
                    <a:p>
                      <a:pPr marL="457200" algn="ctr">
                        <a:lnSpc>
                          <a:spcPct val="150000"/>
                        </a:lnSpc>
                      </a:pPr>
                      <a:r>
                        <a:rPr lang="en-US" sz="2500" dirty="0">
                          <a:effectLst/>
                          <a:latin typeface="Times New Roman" panose="02020603050405020304" pitchFamily="18" charset="0"/>
                          <a:cs typeface="Times New Roman" panose="02020603050405020304" pitchFamily="18" charset="0"/>
                        </a:rPr>
                        <a:t>540</a:t>
                      </a:r>
                      <a:endParaRPr lang="en-LK" sz="2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534" marR="72534"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B2353-7A23-B41D-7D0D-4211A805969C}"/>
              </a:ext>
            </a:extLst>
          </p:cNvPr>
          <p:cNvSpPr>
            <a:spLocks noGrp="1"/>
          </p:cNvSpPr>
          <p:nvPr>
            <p:ph type="title"/>
          </p:nvPr>
        </p:nvSpPr>
        <p:spPr/>
        <p:txBody>
          <a:bodyPr/>
          <a:lstStyle/>
          <a:p>
            <a:r>
              <a:rPr lang="en-LK" dirty="0">
                <a:latin typeface="Times New Roman" panose="02020603050405020304" pitchFamily="18" charset="0"/>
                <a:cs typeface="Times New Roman" panose="02020603050405020304" pitchFamily="18" charset="0"/>
              </a:rPr>
              <a:t>Question</a:t>
            </a:r>
          </a:p>
        </p:txBody>
      </p:sp>
      <p:sp>
        <p:nvSpPr>
          <p:cNvPr id="3" name="Content Placeholder 2">
            <a:extLst>
              <a:ext uri="{FF2B5EF4-FFF2-40B4-BE49-F238E27FC236}">
                <a16:creationId xmlns:a16="http://schemas.microsoft.com/office/drawing/2014/main" id="{25507932-A154-2B51-EDB8-40720CDEBCB8}"/>
              </a:ext>
            </a:extLst>
          </p:cNvPr>
          <p:cNvSpPr>
            <a:spLocks noGrp="1"/>
          </p:cNvSpPr>
          <p:nvPr>
            <p:ph idx="1"/>
          </p:nvPr>
        </p:nvSpPr>
        <p:spPr>
          <a:xfrm>
            <a:off x="606552" y="1557400"/>
            <a:ext cx="10515600" cy="5087239"/>
          </a:xfrm>
        </p:spPr>
        <p:txBody>
          <a:bodyPr>
            <a:noAutofit/>
          </a:bodyPr>
          <a:lstStyle/>
          <a:p>
            <a:pPr marL="0" indent="0">
              <a:lnSpc>
                <a:spcPct val="170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Kamal has Rs. 12 to spend on either product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or product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“Y”</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and wants to maximize his utility. Suppose that the price of product X is Rs. 2 and Y is Rs. 1. The following table shows the total utilities associated with the consumption of product X and product Y in various amounts.</a:t>
            </a:r>
            <a:endParaRPr lang="en-LK"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LK" sz="1600" dirty="0">
              <a:latin typeface="Times New Roman" panose="02020603050405020304" pitchFamily="18" charset="0"/>
              <a:cs typeface="Times New Roman" panose="02020603050405020304" pitchFamily="18" charset="0"/>
            </a:endParaRPr>
          </a:p>
          <a:p>
            <a:pPr marL="0" indent="0">
              <a:buNone/>
            </a:pPr>
            <a:endParaRPr lang="en-LK" sz="1600" dirty="0">
              <a:latin typeface="Times New Roman" panose="02020603050405020304" pitchFamily="18" charset="0"/>
              <a:cs typeface="Times New Roman" panose="02020603050405020304" pitchFamily="18" charset="0"/>
            </a:endParaRPr>
          </a:p>
          <a:p>
            <a:pPr marL="0" indent="0">
              <a:buNone/>
            </a:pPr>
            <a:endParaRPr lang="en-LK" sz="1600" dirty="0">
              <a:latin typeface="Times New Roman" panose="02020603050405020304" pitchFamily="18" charset="0"/>
              <a:cs typeface="Times New Roman" panose="02020603050405020304" pitchFamily="18" charset="0"/>
            </a:endParaRPr>
          </a:p>
          <a:p>
            <a:pPr marL="0" indent="0">
              <a:buNone/>
            </a:pPr>
            <a:endParaRPr lang="en-LK" sz="1600" dirty="0">
              <a:latin typeface="Times New Roman" panose="02020603050405020304" pitchFamily="18" charset="0"/>
              <a:cs typeface="Times New Roman" panose="02020603050405020304" pitchFamily="18" charset="0"/>
            </a:endParaRPr>
          </a:p>
          <a:p>
            <a:pPr marL="0" indent="0">
              <a:buNone/>
            </a:pPr>
            <a:endParaRPr lang="en-LK" sz="1600" dirty="0">
              <a:latin typeface="Times New Roman" panose="02020603050405020304" pitchFamily="18" charset="0"/>
              <a:cs typeface="Times New Roman" panose="02020603050405020304" pitchFamily="18" charset="0"/>
            </a:endParaRPr>
          </a:p>
          <a:p>
            <a:pPr marL="0" lvl="0" indent="0">
              <a:lnSpc>
                <a:spcPct val="150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Calculate the marginal utilities for both Product X and Product Y. </a:t>
            </a:r>
            <a:endParaRPr lang="en-LK" sz="1600" dirty="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nSpc>
                <a:spcPct val="150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Calculate the marginal utility per rupee spent for each quantity.</a:t>
            </a:r>
          </a:p>
          <a:p>
            <a:pPr marL="0" lvl="0" indent="0">
              <a:lnSpc>
                <a:spcPct val="150000"/>
              </a:lnSpc>
              <a:buNone/>
            </a:pP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Determine the number of units of Product X and Product Y that would maximize Kamal’s utility. </a:t>
            </a:r>
            <a:endParaRPr lang="en-LK" sz="16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B14D90BB-026B-2EA8-1A05-DD7CD30D6E23}"/>
              </a:ext>
            </a:extLst>
          </p:cNvPr>
          <p:cNvGraphicFramePr>
            <a:graphicFrameLocks noGrp="1"/>
          </p:cNvGraphicFramePr>
          <p:nvPr>
            <p:extLst>
              <p:ext uri="{D42A27DB-BD31-4B8C-83A1-F6EECF244321}">
                <p14:modId xmlns:p14="http://schemas.microsoft.com/office/powerpoint/2010/main" val="3855820829"/>
              </p:ext>
            </p:extLst>
          </p:nvPr>
        </p:nvGraphicFramePr>
        <p:xfrm>
          <a:off x="1607820" y="2892011"/>
          <a:ext cx="8097012" cy="1690500"/>
        </p:xfrm>
        <a:graphic>
          <a:graphicData uri="http://schemas.openxmlformats.org/drawingml/2006/table">
            <a:tbl>
              <a:tblPr firstRow="1" firstCol="1" bandRow="1">
                <a:tableStyleId>{5940675A-B579-460E-94D1-54222C63F5DA}</a:tableStyleId>
              </a:tblPr>
              <a:tblGrid>
                <a:gridCol w="2293620">
                  <a:extLst>
                    <a:ext uri="{9D8B030D-6E8A-4147-A177-3AD203B41FA5}">
                      <a16:colId xmlns:a16="http://schemas.microsoft.com/office/drawing/2014/main" val="3872656873"/>
                    </a:ext>
                  </a:extLst>
                </a:gridCol>
                <a:gridCol w="2889504">
                  <a:extLst>
                    <a:ext uri="{9D8B030D-6E8A-4147-A177-3AD203B41FA5}">
                      <a16:colId xmlns:a16="http://schemas.microsoft.com/office/drawing/2014/main" val="1571875103"/>
                    </a:ext>
                  </a:extLst>
                </a:gridCol>
                <a:gridCol w="2913888">
                  <a:extLst>
                    <a:ext uri="{9D8B030D-6E8A-4147-A177-3AD203B41FA5}">
                      <a16:colId xmlns:a16="http://schemas.microsoft.com/office/drawing/2014/main" val="2547078479"/>
                    </a:ext>
                  </a:extLst>
                </a:gridCol>
              </a:tblGrid>
              <a:tr h="0">
                <a:tc>
                  <a:txBody>
                    <a:bodyPr/>
                    <a:lstStyle/>
                    <a:p>
                      <a:pPr marL="457200" algn="l">
                        <a:lnSpc>
                          <a:spcPct val="150000"/>
                        </a:lnSpc>
                        <a:buNone/>
                      </a:pPr>
                      <a:r>
                        <a:rPr lang="en-US" sz="1400" dirty="0">
                          <a:effectLst/>
                          <a:latin typeface="Times New Roman" panose="02020603050405020304" pitchFamily="18" charset="0"/>
                          <a:cs typeface="Times New Roman" panose="02020603050405020304" pitchFamily="18" charset="0"/>
                        </a:rPr>
                        <a:t>Quantity</a:t>
                      </a:r>
                      <a:endParaRPr lang="en-L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Total Utility (Product X)</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Total Utility (Product Y)</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33302644"/>
                  </a:ext>
                </a:extLst>
              </a:tr>
              <a:tr h="0">
                <a:tc>
                  <a:txBody>
                    <a:bodyPr/>
                    <a:lstStyle/>
                    <a:p>
                      <a:pPr marL="457200" algn="l">
                        <a:lnSpc>
                          <a:spcPct val="150000"/>
                        </a:lnSpc>
                        <a:buNone/>
                      </a:pPr>
                      <a:r>
                        <a:rPr lang="en-US" sz="1400" dirty="0">
                          <a:effectLst/>
                          <a:latin typeface="Times New Roman" panose="02020603050405020304" pitchFamily="18" charset="0"/>
                          <a:cs typeface="Times New Roman" panose="02020603050405020304" pitchFamily="18" charset="0"/>
                        </a:rPr>
                        <a:t>1</a:t>
                      </a:r>
                      <a:endParaRPr lang="en-L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10</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8</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63307390"/>
                  </a:ext>
                </a:extLst>
              </a:tr>
              <a:tr h="0">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2</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18</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15</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66278949"/>
                  </a:ext>
                </a:extLst>
              </a:tr>
              <a:tr h="0">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3</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24</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21</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60055672"/>
                  </a:ext>
                </a:extLst>
              </a:tr>
              <a:tr h="0">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4</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28</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26</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9043278"/>
                  </a:ext>
                </a:extLst>
              </a:tr>
              <a:tr h="0">
                <a:tc>
                  <a:txBody>
                    <a:bodyPr/>
                    <a:lstStyle/>
                    <a:p>
                      <a:pPr marL="457200" algn="l">
                        <a:lnSpc>
                          <a:spcPct val="150000"/>
                        </a:lnSpc>
                        <a:buNone/>
                      </a:pPr>
                      <a:r>
                        <a:rPr lang="en-US" sz="1400" dirty="0">
                          <a:effectLst/>
                          <a:latin typeface="Times New Roman" panose="02020603050405020304" pitchFamily="18" charset="0"/>
                          <a:cs typeface="Times New Roman" panose="02020603050405020304" pitchFamily="18" charset="0"/>
                        </a:rPr>
                        <a:t>5</a:t>
                      </a:r>
                      <a:endParaRPr lang="en-L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a:effectLst/>
                          <a:latin typeface="Times New Roman" panose="02020603050405020304" pitchFamily="18" charset="0"/>
                          <a:cs typeface="Times New Roman" panose="02020603050405020304" pitchFamily="18" charset="0"/>
                        </a:rPr>
                        <a:t>31</a:t>
                      </a:r>
                      <a:endParaRPr lang="en-LK"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l">
                        <a:lnSpc>
                          <a:spcPct val="150000"/>
                        </a:lnSpc>
                        <a:buNone/>
                      </a:pPr>
                      <a:r>
                        <a:rPr lang="en-US" sz="1400" dirty="0">
                          <a:effectLst/>
                          <a:latin typeface="Times New Roman" panose="02020603050405020304" pitchFamily="18" charset="0"/>
                          <a:cs typeface="Times New Roman" panose="02020603050405020304" pitchFamily="18" charset="0"/>
                        </a:rPr>
                        <a:t>30</a:t>
                      </a:r>
                      <a:endParaRPr lang="en-LK"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80699280"/>
                  </a:ext>
                </a:extLst>
              </a:tr>
            </a:tbl>
          </a:graphicData>
        </a:graphic>
      </p:graphicFrame>
    </p:spTree>
    <p:extLst>
      <p:ext uri="{BB962C8B-B14F-4D97-AF65-F5344CB8AC3E}">
        <p14:creationId xmlns:p14="http://schemas.microsoft.com/office/powerpoint/2010/main" val="28975387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568" name="Rectangle 6656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6570" name="Freeform: Shape 6656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6572" name="Freeform: Shape 6657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561" name="Title 1">
            <a:extLst>
              <a:ext uri="{FF2B5EF4-FFF2-40B4-BE49-F238E27FC236}">
                <a16:creationId xmlns:a16="http://schemas.microsoft.com/office/drawing/2014/main" id="{77606424-1924-E04D-2F26-95E63AB52155}"/>
              </a:ext>
            </a:extLst>
          </p:cNvPr>
          <p:cNvSpPr>
            <a:spLocks noGrp="1" noChangeArrowheads="1"/>
          </p:cNvSpPr>
          <p:nvPr>
            <p:ph type="title"/>
          </p:nvPr>
        </p:nvSpPr>
        <p:spPr>
          <a:xfrm>
            <a:off x="154685" y="846961"/>
            <a:ext cx="5086886" cy="4526280"/>
          </a:xfrm>
        </p:spPr>
        <p:txBody>
          <a:bodyPr>
            <a:normAutofit/>
          </a:bodyPr>
          <a:lstStyle/>
          <a:p>
            <a:pPr eaLnBrk="1" hangingPunct="1"/>
            <a:r>
              <a:rPr lang="en-US" altLang="en-US" sz="4000" b="1" dirty="0">
                <a:latin typeface="Times New Roman" panose="02020603050405020304" pitchFamily="18" charset="0"/>
                <a:cs typeface="Times New Roman" panose="02020603050405020304" pitchFamily="18" charset="0"/>
              </a:rPr>
              <a:t>Utility maximization and the demand curve</a:t>
            </a:r>
          </a:p>
        </p:txBody>
      </p:sp>
      <p:sp>
        <p:nvSpPr>
          <p:cNvPr id="66574" name="Rectangle 6657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6562" name="Content Placeholder 2">
            <a:extLst>
              <a:ext uri="{FF2B5EF4-FFF2-40B4-BE49-F238E27FC236}">
                <a16:creationId xmlns:a16="http://schemas.microsoft.com/office/drawing/2014/main" id="{886A8B72-FD53-9066-B923-B76BC342D27E}"/>
              </a:ext>
            </a:extLst>
          </p:cNvPr>
          <p:cNvSpPr>
            <a:spLocks noGrp="1" noChangeArrowheads="1"/>
          </p:cNvSpPr>
          <p:nvPr>
            <p:ph idx="1"/>
          </p:nvPr>
        </p:nvSpPr>
        <p:spPr>
          <a:xfrm>
            <a:off x="5434149" y="932687"/>
            <a:ext cx="6332735" cy="5287137"/>
          </a:xfrm>
        </p:spPr>
        <p:txBody>
          <a:bodyPr anchor="ctr">
            <a:normAutofit fontScale="92500" lnSpcReduction="10000"/>
          </a:bodyPr>
          <a:lstStyle/>
          <a:p>
            <a:pPr algn="just" eaLnBrk="1" hangingPunct="1"/>
            <a:r>
              <a:rPr lang="en-US" altLang="en-LK" dirty="0">
                <a:latin typeface="Times New Roman" panose="02020603050405020304" pitchFamily="18" charset="0"/>
                <a:cs typeface="Times New Roman" panose="02020603050405020304" pitchFamily="18" charset="0"/>
              </a:rPr>
              <a:t>When the price of product X falls, the quantity demanded of product X will increase.</a:t>
            </a:r>
          </a:p>
          <a:p>
            <a:pPr algn="just" eaLnBrk="1" hangingPunct="1"/>
            <a:r>
              <a:rPr lang="en-US" altLang="en-LK" dirty="0">
                <a:latin typeface="Times New Roman" panose="02020603050405020304" pitchFamily="18" charset="0"/>
                <a:cs typeface="Times New Roman" panose="02020603050405020304" pitchFamily="18" charset="0"/>
              </a:rPr>
              <a:t>Before the price of product X falls, we can get a combination of product X with other products, maximizing the utility of the consumer. This combination will give the quantity demanded of the product X at that given price.</a:t>
            </a:r>
          </a:p>
          <a:p>
            <a:pPr algn="just" eaLnBrk="1" hangingPunct="1"/>
            <a:r>
              <a:rPr lang="en-US" altLang="en-LK" dirty="0">
                <a:latin typeface="Times New Roman" panose="02020603050405020304" pitchFamily="18" charset="0"/>
                <a:cs typeface="Times New Roman" panose="02020603050405020304" pitchFamily="18" charset="0"/>
              </a:rPr>
              <a:t>When the price of product X falls, we will have a new combination of product X with other products, maximizing the utility of the consumer. This combination will give a more significant quantity demanded of product X at that lower price.</a:t>
            </a:r>
          </a:p>
        </p:txBody>
      </p:sp>
      <p:sp>
        <p:nvSpPr>
          <p:cNvPr id="66563" name="Slide Number Placeholder 4">
            <a:extLst>
              <a:ext uri="{FF2B5EF4-FFF2-40B4-BE49-F238E27FC236}">
                <a16:creationId xmlns:a16="http://schemas.microsoft.com/office/drawing/2014/main" id="{E27EBFD2-CC80-B417-8534-574F12934AEB}"/>
              </a:ext>
            </a:extLst>
          </p:cNvPr>
          <p:cNvSpPr>
            <a:spLocks noGrp="1" noChangeArrowheads="1"/>
          </p:cNvSpPr>
          <p:nvPr>
            <p:ph type="sldNum" sz="quarter" idx="12"/>
          </p:nvPr>
        </p:nvSpPr>
        <p:spPr bwMode="auto">
          <a:xfrm>
            <a:off x="10351362" y="6356350"/>
            <a:ext cx="1002437"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nchorCtr="0" compatLnSpc="1">
            <a:prstTxWarp prst="textNoShape">
              <a:avLst/>
            </a:prstTxWarp>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ts val="600"/>
              </a:spcAft>
              <a:buFontTx/>
              <a:buNone/>
            </a:pPr>
            <a:fld id="{8996DD80-CDBE-A648-BCE9-2C555A64E315}" type="slidenum">
              <a:rPr lang="en-US" altLang="en-US" sz="1800">
                <a:solidFill>
                  <a:schemeClr val="tx1">
                    <a:lumMod val="50000"/>
                    <a:lumOff val="50000"/>
                  </a:schemeClr>
                </a:solidFill>
                <a:latin typeface="Arial" panose="020B0604020202020204" pitchFamily="34" charset="0"/>
                <a:ea typeface="MS PGothic" panose="020B0600070205080204" pitchFamily="34" charset="-128"/>
              </a:rPr>
              <a:pPr fontAlgn="base">
                <a:spcBef>
                  <a:spcPct val="0"/>
                </a:spcBef>
                <a:spcAft>
                  <a:spcPts val="600"/>
                </a:spcAft>
                <a:buFontTx/>
                <a:buNone/>
              </a:pPr>
              <a:t>52</a:t>
            </a:fld>
            <a:endParaRPr lang="en-US" altLang="en-US" sz="1800">
              <a:solidFill>
                <a:schemeClr val="tx1">
                  <a:lumMod val="50000"/>
                  <a:lumOff val="50000"/>
                </a:schemeClr>
              </a:solidFill>
              <a:latin typeface="Arial" panose="020B0604020202020204" pitchFamily="34" charset="0"/>
              <a:ea typeface="MS PGothic" panose="020B0600070205080204" pitchFamily="34" charset="-128"/>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591" name="Rectangle 67590">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7593" name="Freeform: Shape 67592">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7595" name="Freeform: Shape 67594">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585" name="Rectangle 2">
            <a:extLst>
              <a:ext uri="{FF2B5EF4-FFF2-40B4-BE49-F238E27FC236}">
                <a16:creationId xmlns:a16="http://schemas.microsoft.com/office/drawing/2014/main" id="{5DECD9DD-D8D8-21A2-36A2-E4A530277BB7}"/>
              </a:ext>
            </a:extLst>
          </p:cNvPr>
          <p:cNvSpPr>
            <a:spLocks noGrp="1" noChangeArrowheads="1"/>
          </p:cNvSpPr>
          <p:nvPr>
            <p:ph type="title"/>
          </p:nvPr>
        </p:nvSpPr>
        <p:spPr>
          <a:xfrm>
            <a:off x="621792" y="1161288"/>
            <a:ext cx="4061670" cy="4526280"/>
          </a:xfrm>
        </p:spPr>
        <p:txBody>
          <a:bodyPr>
            <a:normAutofit/>
          </a:bodyPr>
          <a:lstStyle/>
          <a:p>
            <a:pPr eaLnBrk="1" hangingPunct="1"/>
            <a:r>
              <a:rPr lang="en-US" altLang="en-US" sz="4000" b="1" dirty="0">
                <a:latin typeface="Times New Roman" panose="02020603050405020304" pitchFamily="18" charset="0"/>
                <a:cs typeface="Times New Roman" panose="02020603050405020304" pitchFamily="18" charset="0"/>
              </a:rPr>
              <a:t>Income and Substitution Effects</a:t>
            </a:r>
          </a:p>
        </p:txBody>
      </p:sp>
      <p:sp>
        <p:nvSpPr>
          <p:cNvPr id="67597" name="Rectangle 67596">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7586" name="Rectangle 3">
            <a:extLst>
              <a:ext uri="{FF2B5EF4-FFF2-40B4-BE49-F238E27FC236}">
                <a16:creationId xmlns:a16="http://schemas.microsoft.com/office/drawing/2014/main" id="{852B4344-5B77-4654-83EC-B860412155C0}"/>
              </a:ext>
            </a:extLst>
          </p:cNvPr>
          <p:cNvSpPr>
            <a:spLocks noGrp="1" noChangeArrowheads="1"/>
          </p:cNvSpPr>
          <p:nvPr>
            <p:ph idx="1"/>
          </p:nvPr>
        </p:nvSpPr>
        <p:spPr>
          <a:xfrm>
            <a:off x="5434149" y="932688"/>
            <a:ext cx="6272577" cy="4992624"/>
          </a:xfrm>
        </p:spPr>
        <p:txBody>
          <a:bodyPr anchor="ctr">
            <a:normAutofit/>
          </a:bodyPr>
          <a:lstStyle/>
          <a:p>
            <a:pPr algn="just" eaLnBrk="1" hangingPunct="1">
              <a:buSzPct val="125000"/>
            </a:pPr>
            <a:r>
              <a:rPr lang="en-US" altLang="en-US" sz="3200" b="1" dirty="0">
                <a:solidFill>
                  <a:srgbClr val="FF0000"/>
                </a:solidFill>
                <a:latin typeface="Times New Roman" panose="02020603050405020304" pitchFamily="18" charset="0"/>
                <a:cs typeface="Times New Roman" panose="02020603050405020304" pitchFamily="18" charset="0"/>
              </a:rPr>
              <a:t>Income effect</a:t>
            </a:r>
          </a:p>
          <a:p>
            <a:pPr marL="457200" lvl="1" indent="0" algn="just" eaLnBrk="1" hangingPunct="1">
              <a:buClr>
                <a:srgbClr val="3399FF"/>
              </a:buClr>
              <a:buSzPct val="125000"/>
              <a:buFont typeface="Arial" panose="020B0604020202020204" pitchFamily="34" charset="0"/>
              <a:buNone/>
            </a:pPr>
            <a:r>
              <a:rPr lang="en-US" altLang="en-US" sz="3200" dirty="0">
                <a:latin typeface="Times New Roman" panose="02020603050405020304" pitchFamily="18" charset="0"/>
                <a:cs typeface="Times New Roman" panose="02020603050405020304" pitchFamily="18" charset="0"/>
              </a:rPr>
              <a:t>The impact that a price change has on a consumer’s real income/ purchasing power</a:t>
            </a:r>
          </a:p>
          <a:p>
            <a:pPr algn="just" eaLnBrk="1" hangingPunct="1">
              <a:buSzPct val="125000"/>
            </a:pPr>
            <a:r>
              <a:rPr lang="en-US" altLang="en-US" sz="3200" b="1" dirty="0">
                <a:solidFill>
                  <a:srgbClr val="FF0000"/>
                </a:solidFill>
                <a:latin typeface="Times New Roman" panose="02020603050405020304" pitchFamily="18" charset="0"/>
                <a:cs typeface="Times New Roman" panose="02020603050405020304" pitchFamily="18" charset="0"/>
              </a:rPr>
              <a:t>Substitution effect</a:t>
            </a:r>
          </a:p>
          <a:p>
            <a:pPr marL="457200" lvl="1" indent="0" algn="just" eaLnBrk="1" hangingPunct="1">
              <a:buClr>
                <a:srgbClr val="3399FF"/>
              </a:buClr>
              <a:buSzPct val="125000"/>
              <a:buFont typeface="Arial" panose="020B0604020202020204" pitchFamily="34" charset="0"/>
              <a:buNone/>
            </a:pPr>
            <a:r>
              <a:rPr lang="en-US" altLang="en-US" sz="3200" dirty="0">
                <a:latin typeface="Times New Roman" panose="02020603050405020304" pitchFamily="18" charset="0"/>
                <a:cs typeface="Times New Roman" panose="02020603050405020304" pitchFamily="18" charset="0"/>
              </a:rPr>
              <a:t>The impact that a change in a product’s price has on its relative expensiveness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638" name="Rectangle 6963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9640" name="Freeform: Shape 6963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9642" name="Freeform: Shape 6964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633" name="Title 1">
            <a:extLst>
              <a:ext uri="{FF2B5EF4-FFF2-40B4-BE49-F238E27FC236}">
                <a16:creationId xmlns:a16="http://schemas.microsoft.com/office/drawing/2014/main" id="{B7709FCF-6A9B-7901-3517-080608C21D3A}"/>
              </a:ext>
            </a:extLst>
          </p:cNvPr>
          <p:cNvSpPr>
            <a:spLocks noGrp="1" noChangeArrowheads="1"/>
          </p:cNvSpPr>
          <p:nvPr>
            <p:ph type="title"/>
          </p:nvPr>
        </p:nvSpPr>
        <p:spPr>
          <a:xfrm>
            <a:off x="1524003" y="1999615"/>
            <a:ext cx="9144000" cy="2764028"/>
          </a:xfrm>
        </p:spPr>
        <p:txBody>
          <a:bodyPr vert="horz" lIns="91440" tIns="45720" rIns="91440" bIns="45720" rtlCol="0" anchor="ctr">
            <a:normAutofit/>
          </a:bodyPr>
          <a:lstStyle/>
          <a:p>
            <a:pPr algn="ctr"/>
            <a:r>
              <a:rPr lang="en-US" altLang="en-LK" sz="7200" b="1" kern="1200" dirty="0">
                <a:solidFill>
                  <a:schemeClr val="tx1"/>
                </a:solidFill>
                <a:latin typeface="Times New Roman" panose="02020603050405020304" pitchFamily="18" charset="0"/>
                <a:cs typeface="Times New Roman" panose="02020603050405020304" pitchFamily="18" charset="0"/>
              </a:rPr>
              <a:t>Thank you</a:t>
            </a:r>
          </a:p>
        </p:txBody>
      </p:sp>
      <p:sp>
        <p:nvSpPr>
          <p:cNvPr id="69644" name="Rectangle 6964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200</TotalTime>
  <Words>3980</Words>
  <Application>Microsoft Macintosh PowerPoint</Application>
  <PresentationFormat>Widescreen</PresentationFormat>
  <Paragraphs>992</Paragraphs>
  <Slides>54</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54</vt:i4>
      </vt:variant>
    </vt:vector>
  </HeadingPairs>
  <TitlesOfParts>
    <vt:vector size="63" baseType="lpstr">
      <vt:lpstr>Aptos</vt:lpstr>
      <vt:lpstr>Aptos Display</vt:lpstr>
      <vt:lpstr>Arial</vt:lpstr>
      <vt:lpstr>Arial Narrow</vt:lpstr>
      <vt:lpstr>Calibri</vt:lpstr>
      <vt:lpstr>Times New Roman</vt:lpstr>
      <vt:lpstr>Wingdings</vt:lpstr>
      <vt:lpstr>Office Theme</vt:lpstr>
      <vt:lpstr>Clip</vt:lpstr>
      <vt:lpstr>Consumer Behavior and Utility Maximization</vt:lpstr>
      <vt:lpstr>Let’s go to the buffet</vt:lpstr>
      <vt:lpstr>Learning Objectives</vt:lpstr>
      <vt:lpstr>Introduction to the Theory of Consumer Behavior </vt:lpstr>
      <vt:lpstr>PowerPoint Presentation</vt:lpstr>
      <vt:lpstr>Two Types of Approach</vt:lpstr>
      <vt:lpstr>Utility: A Tool to Analyze Purchase Decisions</vt:lpstr>
      <vt:lpstr>Utility: A Tool to Analyze Purchase Decisions</vt:lpstr>
      <vt:lpstr>Explanation of the Law: </vt:lpstr>
      <vt:lpstr>Explanation of the Law: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Consider this:</vt:lpstr>
      <vt:lpstr>The theory of consumer behavior uses the law of diminishing marginal utility to explain how consumers allocate their income. </vt:lpstr>
      <vt:lpstr>Consumer Choice &amp; Budget Constraints</vt:lpstr>
      <vt:lpstr>PowerPoint Presentation</vt:lpstr>
      <vt:lpstr>Marginal Utility and Demand</vt:lpstr>
      <vt:lpstr>Marginal Utility and Demand</vt:lpstr>
      <vt:lpstr>Consumer Optimum for one product</vt:lpstr>
      <vt:lpstr>Consumer’s Equilibrium Symbolically as follows</vt:lpstr>
      <vt:lpstr>Consumer Optimum for One Product</vt:lpstr>
      <vt:lpstr>Derivation of Demand Curve </vt:lpstr>
      <vt:lpstr>Derivation of Demand Curve </vt:lpstr>
      <vt:lpstr>Consumer Surplus</vt:lpstr>
      <vt:lpstr>Optimum Purchasing Rule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Two-Good Practice Problem</vt:lpstr>
      <vt:lpstr>Sunil has Rs. 40 to spend on either product “A” or product “B” and wants to maximize his utility. Suppose that the price of both products is Rs. 5. The following table shows the total utility associated with the consumption of product A and product B in various amounts. </vt:lpstr>
      <vt:lpstr>Question</vt:lpstr>
      <vt:lpstr>Utility maximization and the demand curve</vt:lpstr>
      <vt:lpstr>Income and Substitution Effects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Chathuranga Adhikari</dc:creator>
  <cp:lastModifiedBy>Mr. Chathuranga Adhikari</cp:lastModifiedBy>
  <cp:revision>11</cp:revision>
  <dcterms:created xsi:type="dcterms:W3CDTF">2025-04-15T05:18:33Z</dcterms:created>
  <dcterms:modified xsi:type="dcterms:W3CDTF">2026-10-05T04:09:02Z</dcterms:modified>
</cp:coreProperties>
</file>