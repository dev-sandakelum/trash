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6" r:id="rId10"/>
    <p:sldId id="268" r:id="rId11"/>
    <p:sldId id="264" r:id="rId12"/>
    <p:sldId id="267" r:id="rId13"/>
    <p:sldId id="269" r:id="rId14"/>
    <p:sldId id="271" r:id="rId15"/>
    <p:sldId id="270" r:id="rId16"/>
    <p:sldId id="265" r:id="rId17"/>
    <p:sldId id="272" r:id="rId18"/>
    <p:sldId id="273" r:id="rId19"/>
    <p:sldId id="310" r:id="rId20"/>
    <p:sldId id="311" r:id="rId21"/>
    <p:sldId id="312" r:id="rId22"/>
    <p:sldId id="274" r:id="rId23"/>
    <p:sldId id="275" r:id="rId24"/>
    <p:sldId id="313" r:id="rId25"/>
    <p:sldId id="314" r:id="rId26"/>
    <p:sldId id="315" r:id="rId27"/>
    <p:sldId id="324" r:id="rId28"/>
    <p:sldId id="345" r:id="rId29"/>
    <p:sldId id="347" r:id="rId30"/>
    <p:sldId id="346" r:id="rId31"/>
    <p:sldId id="348" r:id="rId32"/>
    <p:sldId id="340" r:id="rId33"/>
    <p:sldId id="339" r:id="rId34"/>
    <p:sldId id="338" r:id="rId35"/>
    <p:sldId id="341" r:id="rId36"/>
    <p:sldId id="342" r:id="rId37"/>
    <p:sldId id="343" r:id="rId38"/>
    <p:sldId id="344" r:id="rId39"/>
    <p:sldId id="349" r:id="rId40"/>
    <p:sldId id="351" r:id="rId41"/>
    <p:sldId id="35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74"/>
  </p:normalViewPr>
  <p:slideViewPr>
    <p:cSldViewPr snapToGrid="0">
      <p:cViewPr varScale="1">
        <p:scale>
          <a:sx n="88" d="100"/>
          <a:sy n="88" d="100"/>
        </p:scale>
        <p:origin x="176"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_rels/data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B9D551-A50E-480F-8B0C-1CD034BE5194}" type="doc">
      <dgm:prSet loTypeId="urn:microsoft.com/office/officeart/2016/7/layout/VerticalSolidActionList" loCatId="List" qsTypeId="urn:microsoft.com/office/officeart/2005/8/quickstyle/simple5#1" qsCatId="simple" csTypeId="urn:microsoft.com/office/officeart/2005/8/colors/colorful2#1" csCatId="colorful" phldr="1"/>
      <dgm:spPr/>
      <dgm:t>
        <a:bodyPr/>
        <a:lstStyle/>
        <a:p>
          <a:endParaRPr lang="en-US"/>
        </a:p>
      </dgm:t>
    </dgm:pt>
    <dgm:pt modelId="{A2832D62-AB77-4E80-9E39-F7D38FE900E5}">
      <dgm:prSet custT="1"/>
      <dgm:spPr/>
      <dgm:t>
        <a:bodyPr/>
        <a:lstStyle/>
        <a:p>
          <a:r>
            <a:rPr lang="en-US" sz="2000" dirty="0">
              <a:latin typeface="Times New Roman" panose="02020603050405020304" pitchFamily="18" charset="0"/>
              <a:cs typeface="Times New Roman" panose="02020603050405020304" pitchFamily="18" charset="0"/>
            </a:rPr>
            <a:t>Point B</a:t>
          </a:r>
        </a:p>
      </dgm:t>
    </dgm:pt>
    <dgm:pt modelId="{1F21BA40-9020-43D6-B7AF-9ED0C9EACFCA}" type="parTrans" cxnId="{D0E2420A-BC0B-4224-9219-FA750B4B62C5}">
      <dgm:prSet/>
      <dgm:spPr/>
      <dgm:t>
        <a:bodyPr/>
        <a:lstStyle/>
        <a:p>
          <a:endParaRPr lang="en-US" sz="2000">
            <a:latin typeface="Times New Roman" panose="02020603050405020304" pitchFamily="18" charset="0"/>
            <a:cs typeface="Times New Roman" panose="02020603050405020304" pitchFamily="18" charset="0"/>
          </a:endParaRPr>
        </a:p>
      </dgm:t>
    </dgm:pt>
    <dgm:pt modelId="{FD385098-AF9B-484E-AD21-0810BBEF5FB4}" type="sibTrans" cxnId="{D0E2420A-BC0B-4224-9219-FA750B4B62C5}">
      <dgm:prSet/>
      <dgm:spPr/>
      <dgm:t>
        <a:bodyPr/>
        <a:lstStyle/>
        <a:p>
          <a:endParaRPr lang="en-US" sz="2000">
            <a:latin typeface="Times New Roman" panose="02020603050405020304" pitchFamily="18" charset="0"/>
            <a:cs typeface="Times New Roman" panose="02020603050405020304" pitchFamily="18" charset="0"/>
          </a:endParaRPr>
        </a:p>
      </dgm:t>
    </dgm:pt>
    <dgm:pt modelId="{8BEBEA3B-90F7-46DB-80DF-6C4653B37CAD}">
      <dgm:prSet custT="1"/>
      <dgm:spPr/>
      <dgm:t>
        <a:bodyPr/>
        <a:lstStyle/>
        <a:p>
          <a:r>
            <a:rPr lang="en-US" sz="2000">
              <a:latin typeface="Times New Roman" panose="02020603050405020304" pitchFamily="18" charset="0"/>
              <a:cs typeface="Times New Roman" panose="02020603050405020304" pitchFamily="18" charset="0"/>
            </a:rPr>
            <a:t>All the resources are being used to produce capital goods</a:t>
          </a:r>
        </a:p>
      </dgm:t>
    </dgm:pt>
    <dgm:pt modelId="{0649602C-DD63-4F0D-8568-DA42171C96E6}" type="parTrans" cxnId="{B6697245-2E04-4233-836C-C0EC10A82403}">
      <dgm:prSet/>
      <dgm:spPr/>
      <dgm:t>
        <a:bodyPr/>
        <a:lstStyle/>
        <a:p>
          <a:endParaRPr lang="en-US" sz="2000">
            <a:latin typeface="Times New Roman" panose="02020603050405020304" pitchFamily="18" charset="0"/>
            <a:cs typeface="Times New Roman" panose="02020603050405020304" pitchFamily="18" charset="0"/>
          </a:endParaRPr>
        </a:p>
      </dgm:t>
    </dgm:pt>
    <dgm:pt modelId="{D6F97C38-5353-4DEC-8858-F8850797285D}" type="sibTrans" cxnId="{B6697245-2E04-4233-836C-C0EC10A82403}">
      <dgm:prSet/>
      <dgm:spPr/>
      <dgm:t>
        <a:bodyPr/>
        <a:lstStyle/>
        <a:p>
          <a:endParaRPr lang="en-US" sz="2000">
            <a:latin typeface="Times New Roman" panose="02020603050405020304" pitchFamily="18" charset="0"/>
            <a:cs typeface="Times New Roman" panose="02020603050405020304" pitchFamily="18" charset="0"/>
          </a:endParaRPr>
        </a:p>
      </dgm:t>
    </dgm:pt>
    <dgm:pt modelId="{3CC4D682-ABD1-4836-861F-2864AE67E198}">
      <dgm:prSet custT="1"/>
      <dgm:spPr/>
      <dgm:t>
        <a:bodyPr/>
        <a:lstStyle/>
        <a:p>
          <a:r>
            <a:rPr lang="en-US" sz="2000" dirty="0">
              <a:latin typeface="Times New Roman" panose="02020603050405020304" pitchFamily="18" charset="0"/>
              <a:cs typeface="Times New Roman" panose="02020603050405020304" pitchFamily="18" charset="0"/>
            </a:rPr>
            <a:t>Point A</a:t>
          </a:r>
        </a:p>
      </dgm:t>
    </dgm:pt>
    <dgm:pt modelId="{2097CA5C-EB22-4BA2-929F-98E5D209A9BE}" type="parTrans" cxnId="{ED35BF12-7215-45A5-AB0D-2C75F19424ED}">
      <dgm:prSet/>
      <dgm:spPr/>
      <dgm:t>
        <a:bodyPr/>
        <a:lstStyle/>
        <a:p>
          <a:endParaRPr lang="en-US" sz="2000">
            <a:latin typeface="Times New Roman" panose="02020603050405020304" pitchFamily="18" charset="0"/>
            <a:cs typeface="Times New Roman" panose="02020603050405020304" pitchFamily="18" charset="0"/>
          </a:endParaRPr>
        </a:p>
      </dgm:t>
    </dgm:pt>
    <dgm:pt modelId="{4409A79B-E39F-42F3-BC83-1260F83933E1}" type="sibTrans" cxnId="{ED35BF12-7215-45A5-AB0D-2C75F19424ED}">
      <dgm:prSet/>
      <dgm:spPr/>
      <dgm:t>
        <a:bodyPr/>
        <a:lstStyle/>
        <a:p>
          <a:endParaRPr lang="en-US" sz="2000">
            <a:latin typeface="Times New Roman" panose="02020603050405020304" pitchFamily="18" charset="0"/>
            <a:cs typeface="Times New Roman" panose="02020603050405020304" pitchFamily="18" charset="0"/>
          </a:endParaRPr>
        </a:p>
      </dgm:t>
    </dgm:pt>
    <dgm:pt modelId="{E607FFB8-1D3C-4759-9792-B1A0F3390B83}">
      <dgm:prSet custT="1"/>
      <dgm:spPr/>
      <dgm:t>
        <a:bodyPr/>
        <a:lstStyle/>
        <a:p>
          <a:r>
            <a:rPr lang="en-US" sz="2000">
              <a:latin typeface="Times New Roman" panose="02020603050405020304" pitchFamily="18" charset="0"/>
              <a:cs typeface="Times New Roman" panose="02020603050405020304" pitchFamily="18" charset="0"/>
            </a:rPr>
            <a:t>All the resources are being use to produce consumer goods</a:t>
          </a:r>
        </a:p>
      </dgm:t>
    </dgm:pt>
    <dgm:pt modelId="{459AA5AA-2397-47FA-AB74-C2C6F4E5E099}" type="parTrans" cxnId="{9F7FF492-8D2B-475F-84B2-FCFF411AD284}">
      <dgm:prSet/>
      <dgm:spPr/>
      <dgm:t>
        <a:bodyPr/>
        <a:lstStyle/>
        <a:p>
          <a:endParaRPr lang="en-US" sz="2000">
            <a:latin typeface="Times New Roman" panose="02020603050405020304" pitchFamily="18" charset="0"/>
            <a:cs typeface="Times New Roman" panose="02020603050405020304" pitchFamily="18" charset="0"/>
          </a:endParaRPr>
        </a:p>
      </dgm:t>
    </dgm:pt>
    <dgm:pt modelId="{D091C9F5-164F-4D7A-AF9F-FFB227BB5A66}" type="sibTrans" cxnId="{9F7FF492-8D2B-475F-84B2-FCFF411AD284}">
      <dgm:prSet/>
      <dgm:spPr/>
      <dgm:t>
        <a:bodyPr/>
        <a:lstStyle/>
        <a:p>
          <a:endParaRPr lang="en-US" sz="2000">
            <a:latin typeface="Times New Roman" panose="02020603050405020304" pitchFamily="18" charset="0"/>
            <a:cs typeface="Times New Roman" panose="02020603050405020304" pitchFamily="18" charset="0"/>
          </a:endParaRPr>
        </a:p>
      </dgm:t>
    </dgm:pt>
    <dgm:pt modelId="{5F8D826F-454D-4538-A02C-F76EB616C809}">
      <dgm:prSet custT="1"/>
      <dgm:spPr/>
      <dgm:t>
        <a:bodyPr/>
        <a:lstStyle/>
        <a:p>
          <a:r>
            <a:rPr lang="en-US" sz="2000" dirty="0">
              <a:latin typeface="Times New Roman" panose="02020603050405020304" pitchFamily="18" charset="0"/>
              <a:cs typeface="Times New Roman" panose="02020603050405020304" pitchFamily="18" charset="0"/>
            </a:rPr>
            <a:t>Point C &amp; D</a:t>
          </a:r>
        </a:p>
      </dgm:t>
    </dgm:pt>
    <dgm:pt modelId="{D367E48A-15AC-43CB-9679-6D201D31C7A0}" type="parTrans" cxnId="{4ABA319B-C91D-477C-8A72-2E2DE23B4D64}">
      <dgm:prSet/>
      <dgm:spPr/>
      <dgm:t>
        <a:bodyPr/>
        <a:lstStyle/>
        <a:p>
          <a:endParaRPr lang="en-US" sz="2000">
            <a:latin typeface="Times New Roman" panose="02020603050405020304" pitchFamily="18" charset="0"/>
            <a:cs typeface="Times New Roman" panose="02020603050405020304" pitchFamily="18" charset="0"/>
          </a:endParaRPr>
        </a:p>
      </dgm:t>
    </dgm:pt>
    <dgm:pt modelId="{C2467C88-858B-4E6D-8DA3-8E9770F3069D}" type="sibTrans" cxnId="{4ABA319B-C91D-477C-8A72-2E2DE23B4D64}">
      <dgm:prSet/>
      <dgm:spPr/>
      <dgm:t>
        <a:bodyPr/>
        <a:lstStyle/>
        <a:p>
          <a:endParaRPr lang="en-US" sz="2000">
            <a:latin typeface="Times New Roman" panose="02020603050405020304" pitchFamily="18" charset="0"/>
            <a:cs typeface="Times New Roman" panose="02020603050405020304" pitchFamily="18" charset="0"/>
          </a:endParaRPr>
        </a:p>
      </dgm:t>
    </dgm:pt>
    <dgm:pt modelId="{E2E83184-6C3D-4A3F-917F-1F5ADF803148}">
      <dgm:prSet custT="1"/>
      <dgm:spPr/>
      <dgm:t>
        <a:bodyPr/>
        <a:lstStyle/>
        <a:p>
          <a:r>
            <a:rPr lang="en-US" sz="2000">
              <a:latin typeface="Times New Roman" panose="02020603050405020304" pitchFamily="18" charset="0"/>
              <a:cs typeface="Times New Roman" panose="02020603050405020304" pitchFamily="18" charset="0"/>
            </a:rPr>
            <a:t>Both goods are produced and production is efficient.</a:t>
          </a:r>
        </a:p>
      </dgm:t>
    </dgm:pt>
    <dgm:pt modelId="{61C859BF-2627-4F53-9F51-476C986D1818}" type="parTrans" cxnId="{9667273A-9E68-42DE-A3E7-63853C19CF8E}">
      <dgm:prSet/>
      <dgm:spPr/>
      <dgm:t>
        <a:bodyPr/>
        <a:lstStyle/>
        <a:p>
          <a:endParaRPr lang="en-US" sz="2000">
            <a:latin typeface="Times New Roman" panose="02020603050405020304" pitchFamily="18" charset="0"/>
            <a:cs typeface="Times New Roman" panose="02020603050405020304" pitchFamily="18" charset="0"/>
          </a:endParaRPr>
        </a:p>
      </dgm:t>
    </dgm:pt>
    <dgm:pt modelId="{089CB2F6-E513-45C2-A2B1-85253DE8D0C7}" type="sibTrans" cxnId="{9667273A-9E68-42DE-A3E7-63853C19CF8E}">
      <dgm:prSet/>
      <dgm:spPr/>
      <dgm:t>
        <a:bodyPr/>
        <a:lstStyle/>
        <a:p>
          <a:endParaRPr lang="en-US" sz="2000">
            <a:latin typeface="Times New Roman" panose="02020603050405020304" pitchFamily="18" charset="0"/>
            <a:cs typeface="Times New Roman" panose="02020603050405020304" pitchFamily="18" charset="0"/>
          </a:endParaRPr>
        </a:p>
      </dgm:t>
    </dgm:pt>
    <dgm:pt modelId="{89FA71D6-EF55-4DD9-9439-7499168FEA8B}">
      <dgm:prSet custT="1"/>
      <dgm:spPr/>
      <dgm:t>
        <a:bodyPr/>
        <a:lstStyle/>
        <a:p>
          <a:r>
            <a:rPr lang="en-US" sz="2000" dirty="0">
              <a:latin typeface="Times New Roman" panose="02020603050405020304" pitchFamily="18" charset="0"/>
              <a:cs typeface="Times New Roman" panose="02020603050405020304" pitchFamily="18" charset="0"/>
            </a:rPr>
            <a:t>Point E</a:t>
          </a:r>
        </a:p>
      </dgm:t>
    </dgm:pt>
    <dgm:pt modelId="{5DECB806-B53C-4BCD-AF1F-1095CFBD1DD3}" type="parTrans" cxnId="{4D3B1236-105D-40F2-B770-E818F20B4948}">
      <dgm:prSet/>
      <dgm:spPr/>
      <dgm:t>
        <a:bodyPr/>
        <a:lstStyle/>
        <a:p>
          <a:endParaRPr lang="en-US" sz="2000">
            <a:latin typeface="Times New Roman" panose="02020603050405020304" pitchFamily="18" charset="0"/>
            <a:cs typeface="Times New Roman" panose="02020603050405020304" pitchFamily="18" charset="0"/>
          </a:endParaRPr>
        </a:p>
      </dgm:t>
    </dgm:pt>
    <dgm:pt modelId="{A902961B-B594-4D40-AD3E-84379FE3C03A}" type="sibTrans" cxnId="{4D3B1236-105D-40F2-B770-E818F20B4948}">
      <dgm:prSet/>
      <dgm:spPr/>
      <dgm:t>
        <a:bodyPr/>
        <a:lstStyle/>
        <a:p>
          <a:endParaRPr lang="en-US" sz="2000">
            <a:latin typeface="Times New Roman" panose="02020603050405020304" pitchFamily="18" charset="0"/>
            <a:cs typeface="Times New Roman" panose="02020603050405020304" pitchFamily="18" charset="0"/>
          </a:endParaRPr>
        </a:p>
      </dgm:t>
    </dgm:pt>
    <dgm:pt modelId="{AEE09611-4F87-4553-809D-B7B7AF5BFF9C}">
      <dgm:prSet custT="1"/>
      <dgm:spPr/>
      <dgm:t>
        <a:bodyPr/>
        <a:lstStyle/>
        <a:p>
          <a:r>
            <a:rPr lang="en-US" sz="2000">
              <a:latin typeface="Times New Roman" panose="02020603050405020304" pitchFamily="18" charset="0"/>
              <a:cs typeface="Times New Roman" panose="02020603050405020304" pitchFamily="18" charset="0"/>
            </a:rPr>
            <a:t>Point E (any point inside the frontier) -  production is inefficient</a:t>
          </a:r>
        </a:p>
      </dgm:t>
    </dgm:pt>
    <dgm:pt modelId="{3DEF0BB6-0D39-4191-B832-403FD80A4D41}" type="parTrans" cxnId="{0122807D-8EC6-4423-A92C-A4839673A3CC}">
      <dgm:prSet/>
      <dgm:spPr/>
      <dgm:t>
        <a:bodyPr/>
        <a:lstStyle/>
        <a:p>
          <a:endParaRPr lang="en-US" sz="2000">
            <a:latin typeface="Times New Roman" panose="02020603050405020304" pitchFamily="18" charset="0"/>
            <a:cs typeface="Times New Roman" panose="02020603050405020304" pitchFamily="18" charset="0"/>
          </a:endParaRPr>
        </a:p>
      </dgm:t>
    </dgm:pt>
    <dgm:pt modelId="{9F5C81D1-4384-4B61-B25F-E3FE97A1388F}" type="sibTrans" cxnId="{0122807D-8EC6-4423-A92C-A4839673A3CC}">
      <dgm:prSet/>
      <dgm:spPr/>
      <dgm:t>
        <a:bodyPr/>
        <a:lstStyle/>
        <a:p>
          <a:endParaRPr lang="en-US" sz="2000">
            <a:latin typeface="Times New Roman" panose="02020603050405020304" pitchFamily="18" charset="0"/>
            <a:cs typeface="Times New Roman" panose="02020603050405020304" pitchFamily="18" charset="0"/>
          </a:endParaRPr>
        </a:p>
      </dgm:t>
    </dgm:pt>
    <dgm:pt modelId="{98A928C5-C57D-4B21-BF5D-349ED0C7B921}">
      <dgm:prSet custT="1"/>
      <dgm:spPr/>
      <dgm:t>
        <a:bodyPr/>
        <a:lstStyle/>
        <a:p>
          <a:r>
            <a:rPr lang="en-US" sz="2000" dirty="0">
              <a:latin typeface="Times New Roman" panose="02020603050405020304" pitchFamily="18" charset="0"/>
              <a:cs typeface="Times New Roman" panose="02020603050405020304" pitchFamily="18" charset="0"/>
            </a:rPr>
            <a:t>Point F</a:t>
          </a:r>
        </a:p>
      </dgm:t>
    </dgm:pt>
    <dgm:pt modelId="{46C5063C-B485-419E-AD68-D228469E9744}" type="parTrans" cxnId="{417CAA95-AD19-47E3-B046-EADB02314D79}">
      <dgm:prSet/>
      <dgm:spPr/>
      <dgm:t>
        <a:bodyPr/>
        <a:lstStyle/>
        <a:p>
          <a:endParaRPr lang="en-US" sz="2000">
            <a:latin typeface="Times New Roman" panose="02020603050405020304" pitchFamily="18" charset="0"/>
            <a:cs typeface="Times New Roman" panose="02020603050405020304" pitchFamily="18" charset="0"/>
          </a:endParaRPr>
        </a:p>
      </dgm:t>
    </dgm:pt>
    <dgm:pt modelId="{E1D7696A-1355-4B23-A318-A0D71A5C970C}" type="sibTrans" cxnId="{417CAA95-AD19-47E3-B046-EADB02314D79}">
      <dgm:prSet/>
      <dgm:spPr/>
      <dgm:t>
        <a:bodyPr/>
        <a:lstStyle/>
        <a:p>
          <a:endParaRPr lang="en-US" sz="2000">
            <a:latin typeface="Times New Roman" panose="02020603050405020304" pitchFamily="18" charset="0"/>
            <a:cs typeface="Times New Roman" panose="02020603050405020304" pitchFamily="18" charset="0"/>
          </a:endParaRPr>
        </a:p>
      </dgm:t>
    </dgm:pt>
    <dgm:pt modelId="{BCE058A0-9974-4EA4-8330-087F0845E3DD}">
      <dgm:prSet custT="1"/>
      <dgm:spPr/>
      <dgm:t>
        <a:bodyPr/>
        <a:lstStyle/>
        <a:p>
          <a:r>
            <a:rPr lang="en-US" sz="2000">
              <a:latin typeface="Times New Roman" panose="02020603050405020304" pitchFamily="18" charset="0"/>
              <a:cs typeface="Times New Roman" panose="02020603050405020304" pitchFamily="18" charset="0"/>
            </a:rPr>
            <a:t>Unattainable point</a:t>
          </a:r>
        </a:p>
      </dgm:t>
    </dgm:pt>
    <dgm:pt modelId="{AEEFE063-B82C-4B9A-B698-90E657B0CA4B}" type="parTrans" cxnId="{082364D5-D6A9-49DF-8F0C-115A8B7FC4E0}">
      <dgm:prSet/>
      <dgm:spPr/>
      <dgm:t>
        <a:bodyPr/>
        <a:lstStyle/>
        <a:p>
          <a:endParaRPr lang="en-US" sz="2000">
            <a:latin typeface="Times New Roman" panose="02020603050405020304" pitchFamily="18" charset="0"/>
            <a:cs typeface="Times New Roman" panose="02020603050405020304" pitchFamily="18" charset="0"/>
          </a:endParaRPr>
        </a:p>
      </dgm:t>
    </dgm:pt>
    <dgm:pt modelId="{13FAEDE7-79F5-44F6-BFA3-C1FDD5E5B29E}" type="sibTrans" cxnId="{082364D5-D6A9-49DF-8F0C-115A8B7FC4E0}">
      <dgm:prSet/>
      <dgm:spPr/>
      <dgm:t>
        <a:bodyPr/>
        <a:lstStyle/>
        <a:p>
          <a:endParaRPr lang="en-US" sz="2000">
            <a:latin typeface="Times New Roman" panose="02020603050405020304" pitchFamily="18" charset="0"/>
            <a:cs typeface="Times New Roman" panose="02020603050405020304" pitchFamily="18" charset="0"/>
          </a:endParaRPr>
        </a:p>
      </dgm:t>
    </dgm:pt>
    <dgm:pt modelId="{9CBE3326-C5D4-4E0A-8798-B582AD6777AE}" type="pres">
      <dgm:prSet presAssocID="{BCB9D551-A50E-480F-8B0C-1CD034BE5194}" presName="Name0" presStyleCnt="0">
        <dgm:presLayoutVars>
          <dgm:dir/>
          <dgm:animLvl val="lvl"/>
          <dgm:resizeHandles val="exact"/>
        </dgm:presLayoutVars>
      </dgm:prSet>
      <dgm:spPr/>
    </dgm:pt>
    <dgm:pt modelId="{8BD4ACDC-FE9B-4556-AE1B-9E6AB5BC86B4}" type="pres">
      <dgm:prSet presAssocID="{A2832D62-AB77-4E80-9E39-F7D38FE900E5}" presName="linNode" presStyleCnt="0"/>
      <dgm:spPr/>
    </dgm:pt>
    <dgm:pt modelId="{8FEDB1CB-8058-4C52-A523-11580EB89E44}" type="pres">
      <dgm:prSet presAssocID="{A2832D62-AB77-4E80-9E39-F7D38FE900E5}" presName="parentText" presStyleLbl="alignNode1" presStyleIdx="0" presStyleCnt="5" custLinFactNeighborX="264">
        <dgm:presLayoutVars>
          <dgm:chMax val="1"/>
          <dgm:bulletEnabled/>
        </dgm:presLayoutVars>
      </dgm:prSet>
      <dgm:spPr/>
    </dgm:pt>
    <dgm:pt modelId="{FDC6875F-A971-491B-80D4-540F3CE6C30D}" type="pres">
      <dgm:prSet presAssocID="{A2832D62-AB77-4E80-9E39-F7D38FE900E5}" presName="descendantText" presStyleLbl="alignAccFollowNode1" presStyleIdx="0" presStyleCnt="5">
        <dgm:presLayoutVars>
          <dgm:bulletEnabled/>
        </dgm:presLayoutVars>
      </dgm:prSet>
      <dgm:spPr/>
    </dgm:pt>
    <dgm:pt modelId="{E43FB277-535B-4F29-A436-2C84993A3F0F}" type="pres">
      <dgm:prSet presAssocID="{FD385098-AF9B-484E-AD21-0810BBEF5FB4}" presName="sp" presStyleCnt="0"/>
      <dgm:spPr/>
    </dgm:pt>
    <dgm:pt modelId="{CC9E2EAC-9241-467F-9514-ED59F77CFF4F}" type="pres">
      <dgm:prSet presAssocID="{3CC4D682-ABD1-4836-861F-2864AE67E198}" presName="linNode" presStyleCnt="0"/>
      <dgm:spPr/>
    </dgm:pt>
    <dgm:pt modelId="{0064D698-A4B8-49C5-8230-999E28EE927D}" type="pres">
      <dgm:prSet presAssocID="{3CC4D682-ABD1-4836-861F-2864AE67E198}" presName="parentText" presStyleLbl="alignNode1" presStyleIdx="1" presStyleCnt="5">
        <dgm:presLayoutVars>
          <dgm:chMax val="1"/>
          <dgm:bulletEnabled/>
        </dgm:presLayoutVars>
      </dgm:prSet>
      <dgm:spPr/>
    </dgm:pt>
    <dgm:pt modelId="{85E7890F-6E87-4E96-AFB2-B07AB26AABD8}" type="pres">
      <dgm:prSet presAssocID="{3CC4D682-ABD1-4836-861F-2864AE67E198}" presName="descendantText" presStyleLbl="alignAccFollowNode1" presStyleIdx="1" presStyleCnt="5">
        <dgm:presLayoutVars>
          <dgm:bulletEnabled/>
        </dgm:presLayoutVars>
      </dgm:prSet>
      <dgm:spPr/>
    </dgm:pt>
    <dgm:pt modelId="{96BA0A34-AB16-4028-95FD-6DE0E79E6F01}" type="pres">
      <dgm:prSet presAssocID="{4409A79B-E39F-42F3-BC83-1260F83933E1}" presName="sp" presStyleCnt="0"/>
      <dgm:spPr/>
    </dgm:pt>
    <dgm:pt modelId="{0937C2CB-373F-403E-B989-7AB43CE59E8C}" type="pres">
      <dgm:prSet presAssocID="{5F8D826F-454D-4538-A02C-F76EB616C809}" presName="linNode" presStyleCnt="0"/>
      <dgm:spPr/>
    </dgm:pt>
    <dgm:pt modelId="{8ABD6E0F-624E-49BB-96D3-980F249D0CA6}" type="pres">
      <dgm:prSet presAssocID="{5F8D826F-454D-4538-A02C-F76EB616C809}" presName="parentText" presStyleLbl="alignNode1" presStyleIdx="2" presStyleCnt="5">
        <dgm:presLayoutVars>
          <dgm:chMax val="1"/>
          <dgm:bulletEnabled/>
        </dgm:presLayoutVars>
      </dgm:prSet>
      <dgm:spPr/>
    </dgm:pt>
    <dgm:pt modelId="{73839243-2836-4715-9E87-FB4FD4A55BB9}" type="pres">
      <dgm:prSet presAssocID="{5F8D826F-454D-4538-A02C-F76EB616C809}" presName="descendantText" presStyleLbl="alignAccFollowNode1" presStyleIdx="2" presStyleCnt="5">
        <dgm:presLayoutVars>
          <dgm:bulletEnabled/>
        </dgm:presLayoutVars>
      </dgm:prSet>
      <dgm:spPr/>
    </dgm:pt>
    <dgm:pt modelId="{A2ECAC96-CA13-4404-B1D7-32AAA102A4F8}" type="pres">
      <dgm:prSet presAssocID="{C2467C88-858B-4E6D-8DA3-8E9770F3069D}" presName="sp" presStyleCnt="0"/>
      <dgm:spPr/>
    </dgm:pt>
    <dgm:pt modelId="{782E3208-7548-4E7B-AA9A-B7B291872FEA}" type="pres">
      <dgm:prSet presAssocID="{89FA71D6-EF55-4DD9-9439-7499168FEA8B}" presName="linNode" presStyleCnt="0"/>
      <dgm:spPr/>
    </dgm:pt>
    <dgm:pt modelId="{1CBDEDD7-C45C-4115-B470-DDDAA333EA39}" type="pres">
      <dgm:prSet presAssocID="{89FA71D6-EF55-4DD9-9439-7499168FEA8B}" presName="parentText" presStyleLbl="alignNode1" presStyleIdx="3" presStyleCnt="5">
        <dgm:presLayoutVars>
          <dgm:chMax val="1"/>
          <dgm:bulletEnabled/>
        </dgm:presLayoutVars>
      </dgm:prSet>
      <dgm:spPr/>
    </dgm:pt>
    <dgm:pt modelId="{27DC7AD0-EBA1-4460-BBE4-B254CD492D7A}" type="pres">
      <dgm:prSet presAssocID="{89FA71D6-EF55-4DD9-9439-7499168FEA8B}" presName="descendantText" presStyleLbl="alignAccFollowNode1" presStyleIdx="3" presStyleCnt="5">
        <dgm:presLayoutVars>
          <dgm:bulletEnabled/>
        </dgm:presLayoutVars>
      </dgm:prSet>
      <dgm:spPr/>
    </dgm:pt>
    <dgm:pt modelId="{C15143CA-4579-434D-BFB8-2A3B55993F6A}" type="pres">
      <dgm:prSet presAssocID="{A902961B-B594-4D40-AD3E-84379FE3C03A}" presName="sp" presStyleCnt="0"/>
      <dgm:spPr/>
    </dgm:pt>
    <dgm:pt modelId="{926C7E65-DEE3-4AF0-B544-4314437D15A5}" type="pres">
      <dgm:prSet presAssocID="{98A928C5-C57D-4B21-BF5D-349ED0C7B921}" presName="linNode" presStyleCnt="0"/>
      <dgm:spPr/>
    </dgm:pt>
    <dgm:pt modelId="{12F50437-A152-4E9D-AC8F-015496AA08DF}" type="pres">
      <dgm:prSet presAssocID="{98A928C5-C57D-4B21-BF5D-349ED0C7B921}" presName="parentText" presStyleLbl="alignNode1" presStyleIdx="4" presStyleCnt="5">
        <dgm:presLayoutVars>
          <dgm:chMax val="1"/>
          <dgm:bulletEnabled/>
        </dgm:presLayoutVars>
      </dgm:prSet>
      <dgm:spPr/>
    </dgm:pt>
    <dgm:pt modelId="{F5D0D642-328B-42DF-A05F-909910BC1976}" type="pres">
      <dgm:prSet presAssocID="{98A928C5-C57D-4B21-BF5D-349ED0C7B921}" presName="descendantText" presStyleLbl="alignAccFollowNode1" presStyleIdx="4" presStyleCnt="5">
        <dgm:presLayoutVars>
          <dgm:bulletEnabled/>
        </dgm:presLayoutVars>
      </dgm:prSet>
      <dgm:spPr/>
    </dgm:pt>
  </dgm:ptLst>
  <dgm:cxnLst>
    <dgm:cxn modelId="{3F7DA606-9FBF-4CBB-AC12-3E22100885BA}" type="presOf" srcId="{89FA71D6-EF55-4DD9-9439-7499168FEA8B}" destId="{1CBDEDD7-C45C-4115-B470-DDDAA333EA39}" srcOrd="0" destOrd="0" presId="urn:microsoft.com/office/officeart/2016/7/layout/VerticalSolidActionList"/>
    <dgm:cxn modelId="{D0E2420A-BC0B-4224-9219-FA750B4B62C5}" srcId="{BCB9D551-A50E-480F-8B0C-1CD034BE5194}" destId="{A2832D62-AB77-4E80-9E39-F7D38FE900E5}" srcOrd="0" destOrd="0" parTransId="{1F21BA40-9020-43D6-B7AF-9ED0C9EACFCA}" sibTransId="{FD385098-AF9B-484E-AD21-0810BBEF5FB4}"/>
    <dgm:cxn modelId="{4B92140C-2488-41AF-B523-BE402A3A13EE}" type="presOf" srcId="{5F8D826F-454D-4538-A02C-F76EB616C809}" destId="{8ABD6E0F-624E-49BB-96D3-980F249D0CA6}" srcOrd="0" destOrd="0" presId="urn:microsoft.com/office/officeart/2016/7/layout/VerticalSolidActionList"/>
    <dgm:cxn modelId="{ED35BF12-7215-45A5-AB0D-2C75F19424ED}" srcId="{BCB9D551-A50E-480F-8B0C-1CD034BE5194}" destId="{3CC4D682-ABD1-4836-861F-2864AE67E198}" srcOrd="1" destOrd="0" parTransId="{2097CA5C-EB22-4BA2-929F-98E5D209A9BE}" sibTransId="{4409A79B-E39F-42F3-BC83-1260F83933E1}"/>
    <dgm:cxn modelId="{7EB1D735-223A-4394-94DF-CC95105BE571}" type="presOf" srcId="{E2E83184-6C3D-4A3F-917F-1F5ADF803148}" destId="{73839243-2836-4715-9E87-FB4FD4A55BB9}" srcOrd="0" destOrd="0" presId="urn:microsoft.com/office/officeart/2016/7/layout/VerticalSolidActionList"/>
    <dgm:cxn modelId="{4D3B1236-105D-40F2-B770-E818F20B4948}" srcId="{BCB9D551-A50E-480F-8B0C-1CD034BE5194}" destId="{89FA71D6-EF55-4DD9-9439-7499168FEA8B}" srcOrd="3" destOrd="0" parTransId="{5DECB806-B53C-4BCD-AF1F-1095CFBD1DD3}" sibTransId="{A902961B-B594-4D40-AD3E-84379FE3C03A}"/>
    <dgm:cxn modelId="{9667273A-9E68-42DE-A3E7-63853C19CF8E}" srcId="{5F8D826F-454D-4538-A02C-F76EB616C809}" destId="{E2E83184-6C3D-4A3F-917F-1F5ADF803148}" srcOrd="0" destOrd="0" parTransId="{61C859BF-2627-4F53-9F51-476C986D1818}" sibTransId="{089CB2F6-E513-45C2-A2B1-85253DE8D0C7}"/>
    <dgm:cxn modelId="{99A45D44-5E8D-4DA8-BC7F-E374123DE39D}" type="presOf" srcId="{98A928C5-C57D-4B21-BF5D-349ED0C7B921}" destId="{12F50437-A152-4E9D-AC8F-015496AA08DF}" srcOrd="0" destOrd="0" presId="urn:microsoft.com/office/officeart/2016/7/layout/VerticalSolidActionList"/>
    <dgm:cxn modelId="{B6697245-2E04-4233-836C-C0EC10A82403}" srcId="{A2832D62-AB77-4E80-9E39-F7D38FE900E5}" destId="{8BEBEA3B-90F7-46DB-80DF-6C4653B37CAD}" srcOrd="0" destOrd="0" parTransId="{0649602C-DD63-4F0D-8568-DA42171C96E6}" sibTransId="{D6F97C38-5353-4DEC-8858-F8850797285D}"/>
    <dgm:cxn modelId="{9B2D0271-F4B2-45AD-9331-703D9F7737BC}" type="presOf" srcId="{A2832D62-AB77-4E80-9E39-F7D38FE900E5}" destId="{8FEDB1CB-8058-4C52-A523-11580EB89E44}" srcOrd="0" destOrd="0" presId="urn:microsoft.com/office/officeart/2016/7/layout/VerticalSolidActionList"/>
    <dgm:cxn modelId="{A85E907C-D8FF-4808-BC0A-4410B78F95E9}" type="presOf" srcId="{3CC4D682-ABD1-4836-861F-2864AE67E198}" destId="{0064D698-A4B8-49C5-8230-999E28EE927D}" srcOrd="0" destOrd="0" presId="urn:microsoft.com/office/officeart/2016/7/layout/VerticalSolidActionList"/>
    <dgm:cxn modelId="{0122807D-8EC6-4423-A92C-A4839673A3CC}" srcId="{89FA71D6-EF55-4DD9-9439-7499168FEA8B}" destId="{AEE09611-4F87-4553-809D-B7B7AF5BFF9C}" srcOrd="0" destOrd="0" parTransId="{3DEF0BB6-0D39-4191-B832-403FD80A4D41}" sibTransId="{9F5C81D1-4384-4B61-B25F-E3FE97A1388F}"/>
    <dgm:cxn modelId="{96A6188F-89F7-49B1-8DB3-CD90CECF5FB4}" type="presOf" srcId="{BCE058A0-9974-4EA4-8330-087F0845E3DD}" destId="{F5D0D642-328B-42DF-A05F-909910BC1976}" srcOrd="0" destOrd="0" presId="urn:microsoft.com/office/officeart/2016/7/layout/VerticalSolidActionList"/>
    <dgm:cxn modelId="{9F7FF492-8D2B-475F-84B2-FCFF411AD284}" srcId="{3CC4D682-ABD1-4836-861F-2864AE67E198}" destId="{E607FFB8-1D3C-4759-9792-B1A0F3390B83}" srcOrd="0" destOrd="0" parTransId="{459AA5AA-2397-47FA-AB74-C2C6F4E5E099}" sibTransId="{D091C9F5-164F-4D7A-AF9F-FFB227BB5A66}"/>
    <dgm:cxn modelId="{417CAA95-AD19-47E3-B046-EADB02314D79}" srcId="{BCB9D551-A50E-480F-8B0C-1CD034BE5194}" destId="{98A928C5-C57D-4B21-BF5D-349ED0C7B921}" srcOrd="4" destOrd="0" parTransId="{46C5063C-B485-419E-AD68-D228469E9744}" sibTransId="{E1D7696A-1355-4B23-A318-A0D71A5C970C}"/>
    <dgm:cxn modelId="{4ABA319B-C91D-477C-8A72-2E2DE23B4D64}" srcId="{BCB9D551-A50E-480F-8B0C-1CD034BE5194}" destId="{5F8D826F-454D-4538-A02C-F76EB616C809}" srcOrd="2" destOrd="0" parTransId="{D367E48A-15AC-43CB-9679-6D201D31C7A0}" sibTransId="{C2467C88-858B-4E6D-8DA3-8E9770F3069D}"/>
    <dgm:cxn modelId="{9E9473A0-8394-4500-9270-9F9C491257B4}" type="presOf" srcId="{AEE09611-4F87-4553-809D-B7B7AF5BFF9C}" destId="{27DC7AD0-EBA1-4460-BBE4-B254CD492D7A}" srcOrd="0" destOrd="0" presId="urn:microsoft.com/office/officeart/2016/7/layout/VerticalSolidActionList"/>
    <dgm:cxn modelId="{D049DAC9-78F8-4195-9F22-2F5150387959}" type="presOf" srcId="{E607FFB8-1D3C-4759-9792-B1A0F3390B83}" destId="{85E7890F-6E87-4E96-AFB2-B07AB26AABD8}" srcOrd="0" destOrd="0" presId="urn:microsoft.com/office/officeart/2016/7/layout/VerticalSolidActionList"/>
    <dgm:cxn modelId="{082364D5-D6A9-49DF-8F0C-115A8B7FC4E0}" srcId="{98A928C5-C57D-4B21-BF5D-349ED0C7B921}" destId="{BCE058A0-9974-4EA4-8330-087F0845E3DD}" srcOrd="0" destOrd="0" parTransId="{AEEFE063-B82C-4B9A-B698-90E657B0CA4B}" sibTransId="{13FAEDE7-79F5-44F6-BFA3-C1FDD5E5B29E}"/>
    <dgm:cxn modelId="{02AAFAF5-C774-434C-824E-93AB5AF66148}" type="presOf" srcId="{8BEBEA3B-90F7-46DB-80DF-6C4653B37CAD}" destId="{FDC6875F-A971-491B-80D4-540F3CE6C30D}" srcOrd="0" destOrd="0" presId="urn:microsoft.com/office/officeart/2016/7/layout/VerticalSolidActionList"/>
    <dgm:cxn modelId="{054A83F8-D96E-4CD9-8470-D233E42D5E29}" type="presOf" srcId="{BCB9D551-A50E-480F-8B0C-1CD034BE5194}" destId="{9CBE3326-C5D4-4E0A-8798-B582AD6777AE}" srcOrd="0" destOrd="0" presId="urn:microsoft.com/office/officeart/2016/7/layout/VerticalSolidActionList"/>
    <dgm:cxn modelId="{FEED2A9A-EEC0-4426-95FB-2A36E9C8F024}" type="presParOf" srcId="{9CBE3326-C5D4-4E0A-8798-B582AD6777AE}" destId="{8BD4ACDC-FE9B-4556-AE1B-9E6AB5BC86B4}" srcOrd="0" destOrd="0" presId="urn:microsoft.com/office/officeart/2016/7/layout/VerticalSolidActionList"/>
    <dgm:cxn modelId="{DE44C0F6-3E39-48EA-9C73-1EA380BFB0FD}" type="presParOf" srcId="{8BD4ACDC-FE9B-4556-AE1B-9E6AB5BC86B4}" destId="{8FEDB1CB-8058-4C52-A523-11580EB89E44}" srcOrd="0" destOrd="0" presId="urn:microsoft.com/office/officeart/2016/7/layout/VerticalSolidActionList"/>
    <dgm:cxn modelId="{6D877467-49F2-4984-A71D-F5732F16BAD4}" type="presParOf" srcId="{8BD4ACDC-FE9B-4556-AE1B-9E6AB5BC86B4}" destId="{FDC6875F-A971-491B-80D4-540F3CE6C30D}" srcOrd="1" destOrd="0" presId="urn:microsoft.com/office/officeart/2016/7/layout/VerticalSolidActionList"/>
    <dgm:cxn modelId="{72D88162-E54F-4882-90D3-308E4B1479F4}" type="presParOf" srcId="{9CBE3326-C5D4-4E0A-8798-B582AD6777AE}" destId="{E43FB277-535B-4F29-A436-2C84993A3F0F}" srcOrd="1" destOrd="0" presId="urn:microsoft.com/office/officeart/2016/7/layout/VerticalSolidActionList"/>
    <dgm:cxn modelId="{6192E238-D27A-4235-B7D6-C2D3BD2BD843}" type="presParOf" srcId="{9CBE3326-C5D4-4E0A-8798-B582AD6777AE}" destId="{CC9E2EAC-9241-467F-9514-ED59F77CFF4F}" srcOrd="2" destOrd="0" presId="urn:microsoft.com/office/officeart/2016/7/layout/VerticalSolidActionList"/>
    <dgm:cxn modelId="{40BC8820-EA8A-481D-8442-95950A4D0ED2}" type="presParOf" srcId="{CC9E2EAC-9241-467F-9514-ED59F77CFF4F}" destId="{0064D698-A4B8-49C5-8230-999E28EE927D}" srcOrd="0" destOrd="0" presId="urn:microsoft.com/office/officeart/2016/7/layout/VerticalSolidActionList"/>
    <dgm:cxn modelId="{57BAF45E-5ECA-4A7C-B05E-FFDE2888ED7C}" type="presParOf" srcId="{CC9E2EAC-9241-467F-9514-ED59F77CFF4F}" destId="{85E7890F-6E87-4E96-AFB2-B07AB26AABD8}" srcOrd="1" destOrd="0" presId="urn:microsoft.com/office/officeart/2016/7/layout/VerticalSolidActionList"/>
    <dgm:cxn modelId="{1D1358DB-E03F-4B96-AF5F-7B960FF7B778}" type="presParOf" srcId="{9CBE3326-C5D4-4E0A-8798-B582AD6777AE}" destId="{96BA0A34-AB16-4028-95FD-6DE0E79E6F01}" srcOrd="3" destOrd="0" presId="urn:microsoft.com/office/officeart/2016/7/layout/VerticalSolidActionList"/>
    <dgm:cxn modelId="{7C1BD81B-153B-48EC-B180-6ED54BF8810C}" type="presParOf" srcId="{9CBE3326-C5D4-4E0A-8798-B582AD6777AE}" destId="{0937C2CB-373F-403E-B989-7AB43CE59E8C}" srcOrd="4" destOrd="0" presId="urn:microsoft.com/office/officeart/2016/7/layout/VerticalSolidActionList"/>
    <dgm:cxn modelId="{D29F23E7-61DC-429C-9D0B-0E921374D442}" type="presParOf" srcId="{0937C2CB-373F-403E-B989-7AB43CE59E8C}" destId="{8ABD6E0F-624E-49BB-96D3-980F249D0CA6}" srcOrd="0" destOrd="0" presId="urn:microsoft.com/office/officeart/2016/7/layout/VerticalSolidActionList"/>
    <dgm:cxn modelId="{578E5F12-BA01-4100-A9AA-018AA4B69A5A}" type="presParOf" srcId="{0937C2CB-373F-403E-B989-7AB43CE59E8C}" destId="{73839243-2836-4715-9E87-FB4FD4A55BB9}" srcOrd="1" destOrd="0" presId="urn:microsoft.com/office/officeart/2016/7/layout/VerticalSolidActionList"/>
    <dgm:cxn modelId="{69EFB6EA-76F0-4EE1-83B8-CD4269BC192B}" type="presParOf" srcId="{9CBE3326-C5D4-4E0A-8798-B582AD6777AE}" destId="{A2ECAC96-CA13-4404-B1D7-32AAA102A4F8}" srcOrd="5" destOrd="0" presId="urn:microsoft.com/office/officeart/2016/7/layout/VerticalSolidActionList"/>
    <dgm:cxn modelId="{61FF6792-86D3-4A73-AD4C-A519D8F8B00C}" type="presParOf" srcId="{9CBE3326-C5D4-4E0A-8798-B582AD6777AE}" destId="{782E3208-7548-4E7B-AA9A-B7B291872FEA}" srcOrd="6" destOrd="0" presId="urn:microsoft.com/office/officeart/2016/7/layout/VerticalSolidActionList"/>
    <dgm:cxn modelId="{569B996A-2516-4442-8E4A-CBB2EA3120A0}" type="presParOf" srcId="{782E3208-7548-4E7B-AA9A-B7B291872FEA}" destId="{1CBDEDD7-C45C-4115-B470-DDDAA333EA39}" srcOrd="0" destOrd="0" presId="urn:microsoft.com/office/officeart/2016/7/layout/VerticalSolidActionList"/>
    <dgm:cxn modelId="{98293C80-F458-43AF-AC44-D059128CB6F2}" type="presParOf" srcId="{782E3208-7548-4E7B-AA9A-B7B291872FEA}" destId="{27DC7AD0-EBA1-4460-BBE4-B254CD492D7A}" srcOrd="1" destOrd="0" presId="urn:microsoft.com/office/officeart/2016/7/layout/VerticalSolidActionList"/>
    <dgm:cxn modelId="{A2E86609-B47F-4893-935D-CD374819102C}" type="presParOf" srcId="{9CBE3326-C5D4-4E0A-8798-B582AD6777AE}" destId="{C15143CA-4579-434D-BFB8-2A3B55993F6A}" srcOrd="7" destOrd="0" presId="urn:microsoft.com/office/officeart/2016/7/layout/VerticalSolidActionList"/>
    <dgm:cxn modelId="{6AE8FCED-E6F3-40E4-9B90-C534E82B733C}" type="presParOf" srcId="{9CBE3326-C5D4-4E0A-8798-B582AD6777AE}" destId="{926C7E65-DEE3-4AF0-B544-4314437D15A5}" srcOrd="8" destOrd="0" presId="urn:microsoft.com/office/officeart/2016/7/layout/VerticalSolidActionList"/>
    <dgm:cxn modelId="{3C3CBD7F-0838-4218-B4A5-8BC6571E25C8}" type="presParOf" srcId="{926C7E65-DEE3-4AF0-B544-4314437D15A5}" destId="{12F50437-A152-4E9D-AC8F-015496AA08DF}" srcOrd="0" destOrd="0" presId="urn:microsoft.com/office/officeart/2016/7/layout/VerticalSolidActionList"/>
    <dgm:cxn modelId="{1DD12E75-EABA-4618-8647-FCDB060092E8}" type="presParOf" srcId="{926C7E65-DEE3-4AF0-B544-4314437D15A5}" destId="{F5D0D642-328B-42DF-A05F-909910BC1976}"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62C4CE-7739-4D7D-AA55-1C6758959E0E}" type="doc">
      <dgm:prSet loTypeId="urn:microsoft.com/office/officeart/2018/5/layout/CenteredIconLabelDescriptionList" loCatId="icon" qsTypeId="urn:microsoft.com/office/officeart/2005/8/quickstyle/simple1#1" qsCatId="simple" csTypeId="urn:microsoft.com/office/officeart/2018/5/colors/Iconchunking_neutralbg_colorful1" csCatId="colorful" phldr="1"/>
      <dgm:spPr/>
      <dgm:t>
        <a:bodyPr/>
        <a:lstStyle/>
        <a:p>
          <a:endParaRPr lang="en-US"/>
        </a:p>
      </dgm:t>
    </dgm:pt>
    <dgm:pt modelId="{6688ECCD-EBC3-4179-A028-A309BFF07C7C}">
      <dgm:prSet/>
      <dgm:spPr/>
      <dgm:t>
        <a:bodyPr/>
        <a:lstStyle/>
        <a:p>
          <a:pPr>
            <a:defRPr b="1"/>
          </a:pPr>
          <a:r>
            <a:rPr lang="en-US" b="1" dirty="0">
              <a:latin typeface="Times New Roman" panose="02020603050405020304" pitchFamily="18" charset="0"/>
              <a:cs typeface="Times New Roman" panose="02020603050405020304" pitchFamily="18" charset="0"/>
            </a:rPr>
            <a:t>Productive Efficiency</a:t>
          </a:r>
          <a:endParaRPr lang="en-US" dirty="0">
            <a:latin typeface="Times New Roman" panose="02020603050405020304" pitchFamily="18" charset="0"/>
            <a:cs typeface="Times New Roman" panose="02020603050405020304" pitchFamily="18" charset="0"/>
          </a:endParaRPr>
        </a:p>
      </dgm:t>
    </dgm:pt>
    <dgm:pt modelId="{8E38FB8C-75C9-43CD-85F2-DD20236AED51}" type="parTrans" cxnId="{B0D863FC-5803-42DF-A613-2BD62C1D83B8}">
      <dgm:prSet/>
      <dgm:spPr/>
      <dgm:t>
        <a:bodyPr/>
        <a:lstStyle/>
        <a:p>
          <a:endParaRPr lang="en-US">
            <a:latin typeface="Times New Roman" panose="02020603050405020304" pitchFamily="18" charset="0"/>
            <a:cs typeface="Times New Roman" panose="02020603050405020304" pitchFamily="18" charset="0"/>
          </a:endParaRPr>
        </a:p>
      </dgm:t>
    </dgm:pt>
    <dgm:pt modelId="{029636E4-7947-4D80-932D-B87B09DFC31B}" type="sibTrans" cxnId="{B0D863FC-5803-42DF-A613-2BD62C1D83B8}">
      <dgm:prSet/>
      <dgm:spPr/>
      <dgm:t>
        <a:bodyPr/>
        <a:lstStyle/>
        <a:p>
          <a:endParaRPr lang="en-US">
            <a:latin typeface="Times New Roman" panose="02020603050405020304" pitchFamily="18" charset="0"/>
            <a:cs typeface="Times New Roman" panose="02020603050405020304" pitchFamily="18" charset="0"/>
          </a:endParaRPr>
        </a:p>
      </dgm:t>
    </dgm:pt>
    <dgm:pt modelId="{3E69095D-E16D-4EDD-AB03-A24BB35A3F17}">
      <dgm:prSet/>
      <dgm:spPr/>
      <dgm:t>
        <a:bodyPr/>
        <a:lstStyle/>
        <a:p>
          <a:r>
            <a:rPr lang="en-US" b="1">
              <a:latin typeface="Times New Roman" panose="02020603050405020304" pitchFamily="18" charset="0"/>
              <a:cs typeface="Times New Roman" panose="02020603050405020304" pitchFamily="18" charset="0"/>
            </a:rPr>
            <a:t>Products are being produced in the least costly way. </a:t>
          </a:r>
          <a:endParaRPr lang="en-US">
            <a:latin typeface="Times New Roman" panose="02020603050405020304" pitchFamily="18" charset="0"/>
            <a:cs typeface="Times New Roman" panose="02020603050405020304" pitchFamily="18" charset="0"/>
          </a:endParaRPr>
        </a:p>
      </dgm:t>
    </dgm:pt>
    <dgm:pt modelId="{CC62203A-636D-4BC1-8EF6-5160ED1FC53A}" type="parTrans" cxnId="{DE1832B2-1159-4508-B1FF-AB28182B973E}">
      <dgm:prSet/>
      <dgm:spPr/>
      <dgm:t>
        <a:bodyPr/>
        <a:lstStyle/>
        <a:p>
          <a:endParaRPr lang="en-US">
            <a:latin typeface="Times New Roman" panose="02020603050405020304" pitchFamily="18" charset="0"/>
            <a:cs typeface="Times New Roman" panose="02020603050405020304" pitchFamily="18" charset="0"/>
          </a:endParaRPr>
        </a:p>
      </dgm:t>
    </dgm:pt>
    <dgm:pt modelId="{5E764DFB-67CD-401E-847D-B40810573334}" type="sibTrans" cxnId="{DE1832B2-1159-4508-B1FF-AB28182B973E}">
      <dgm:prSet/>
      <dgm:spPr/>
      <dgm:t>
        <a:bodyPr/>
        <a:lstStyle/>
        <a:p>
          <a:endParaRPr lang="en-US">
            <a:latin typeface="Times New Roman" panose="02020603050405020304" pitchFamily="18" charset="0"/>
            <a:cs typeface="Times New Roman" panose="02020603050405020304" pitchFamily="18" charset="0"/>
          </a:endParaRPr>
        </a:p>
      </dgm:t>
    </dgm:pt>
    <dgm:pt modelId="{546E6CDB-84CA-4688-88F5-8323E3C32B64}">
      <dgm:prSet/>
      <dgm:spPr/>
      <dgm:t>
        <a:bodyPr/>
        <a:lstStyle/>
        <a:p>
          <a:r>
            <a:rPr lang="en-US" b="1">
              <a:latin typeface="Times New Roman" panose="02020603050405020304" pitchFamily="18" charset="0"/>
              <a:cs typeface="Times New Roman" panose="02020603050405020304" pitchFamily="18" charset="0"/>
            </a:rPr>
            <a:t>This is any point ON the Production Possibilities Curve</a:t>
          </a:r>
          <a:endParaRPr lang="en-US">
            <a:latin typeface="Times New Roman" panose="02020603050405020304" pitchFamily="18" charset="0"/>
            <a:cs typeface="Times New Roman" panose="02020603050405020304" pitchFamily="18" charset="0"/>
          </a:endParaRPr>
        </a:p>
      </dgm:t>
    </dgm:pt>
    <dgm:pt modelId="{FDE3F1B3-D4BF-454B-80C2-8244EFF08D33}" type="parTrans" cxnId="{2401305D-1FBF-4A94-A9BF-2621DB371336}">
      <dgm:prSet/>
      <dgm:spPr/>
      <dgm:t>
        <a:bodyPr/>
        <a:lstStyle/>
        <a:p>
          <a:endParaRPr lang="en-US">
            <a:latin typeface="Times New Roman" panose="02020603050405020304" pitchFamily="18" charset="0"/>
            <a:cs typeface="Times New Roman" panose="02020603050405020304" pitchFamily="18" charset="0"/>
          </a:endParaRPr>
        </a:p>
      </dgm:t>
    </dgm:pt>
    <dgm:pt modelId="{197A5292-BCC6-4CC1-886F-4F36FA4BA23D}" type="sibTrans" cxnId="{2401305D-1FBF-4A94-A9BF-2621DB371336}">
      <dgm:prSet/>
      <dgm:spPr/>
      <dgm:t>
        <a:bodyPr/>
        <a:lstStyle/>
        <a:p>
          <a:endParaRPr lang="en-US">
            <a:latin typeface="Times New Roman" panose="02020603050405020304" pitchFamily="18" charset="0"/>
            <a:cs typeface="Times New Roman" panose="02020603050405020304" pitchFamily="18" charset="0"/>
          </a:endParaRPr>
        </a:p>
      </dgm:t>
    </dgm:pt>
    <dgm:pt modelId="{65EBAC25-D09F-473D-8F68-088ECE3023D8}">
      <dgm:prSet/>
      <dgm:spPr/>
      <dgm:t>
        <a:bodyPr/>
        <a:lstStyle/>
        <a:p>
          <a:pPr>
            <a:defRPr b="1"/>
          </a:pPr>
          <a:r>
            <a:rPr lang="en-US" b="1">
              <a:latin typeface="Times New Roman" panose="02020603050405020304" pitchFamily="18" charset="0"/>
              <a:cs typeface="Times New Roman" panose="02020603050405020304" pitchFamily="18" charset="0"/>
            </a:rPr>
            <a:t>Allocative Efficiency </a:t>
          </a:r>
          <a:endParaRPr lang="en-US">
            <a:latin typeface="Times New Roman" panose="02020603050405020304" pitchFamily="18" charset="0"/>
            <a:cs typeface="Times New Roman" panose="02020603050405020304" pitchFamily="18" charset="0"/>
          </a:endParaRPr>
        </a:p>
      </dgm:t>
    </dgm:pt>
    <dgm:pt modelId="{DFB62263-AE46-4689-AF82-6593CBEC3033}" type="parTrans" cxnId="{5A7D7B37-6B20-4014-80A9-DE15E39C05EA}">
      <dgm:prSet/>
      <dgm:spPr/>
      <dgm:t>
        <a:bodyPr/>
        <a:lstStyle/>
        <a:p>
          <a:endParaRPr lang="en-US">
            <a:latin typeface="Times New Roman" panose="02020603050405020304" pitchFamily="18" charset="0"/>
            <a:cs typeface="Times New Roman" panose="02020603050405020304" pitchFamily="18" charset="0"/>
          </a:endParaRPr>
        </a:p>
      </dgm:t>
    </dgm:pt>
    <dgm:pt modelId="{83BEED58-D39E-445A-BBE4-B45A64D8ECA5}" type="sibTrans" cxnId="{5A7D7B37-6B20-4014-80A9-DE15E39C05EA}">
      <dgm:prSet/>
      <dgm:spPr/>
      <dgm:t>
        <a:bodyPr/>
        <a:lstStyle/>
        <a:p>
          <a:endParaRPr lang="en-US">
            <a:latin typeface="Times New Roman" panose="02020603050405020304" pitchFamily="18" charset="0"/>
            <a:cs typeface="Times New Roman" panose="02020603050405020304" pitchFamily="18" charset="0"/>
          </a:endParaRPr>
        </a:p>
      </dgm:t>
    </dgm:pt>
    <dgm:pt modelId="{F5CBABCE-7D29-4722-B7C1-A868BF0A28B5}">
      <dgm:prSet/>
      <dgm:spPr/>
      <dgm:t>
        <a:bodyPr/>
        <a:lstStyle/>
        <a:p>
          <a:r>
            <a:rPr lang="en-US" b="1">
              <a:latin typeface="Times New Roman" panose="02020603050405020304" pitchFamily="18" charset="0"/>
              <a:cs typeface="Times New Roman" panose="02020603050405020304" pitchFamily="18" charset="0"/>
            </a:rPr>
            <a:t>The products being produced are the ones most desired by society.</a:t>
          </a:r>
          <a:endParaRPr lang="en-US">
            <a:latin typeface="Times New Roman" panose="02020603050405020304" pitchFamily="18" charset="0"/>
            <a:cs typeface="Times New Roman" panose="02020603050405020304" pitchFamily="18" charset="0"/>
          </a:endParaRPr>
        </a:p>
      </dgm:t>
    </dgm:pt>
    <dgm:pt modelId="{A0EB673C-8152-4562-B83E-E245B42C7222}" type="parTrans" cxnId="{BAADD3B0-3FB4-4463-BAEF-E21019CD3C4C}">
      <dgm:prSet/>
      <dgm:spPr/>
      <dgm:t>
        <a:bodyPr/>
        <a:lstStyle/>
        <a:p>
          <a:endParaRPr lang="en-US">
            <a:latin typeface="Times New Roman" panose="02020603050405020304" pitchFamily="18" charset="0"/>
            <a:cs typeface="Times New Roman" panose="02020603050405020304" pitchFamily="18" charset="0"/>
          </a:endParaRPr>
        </a:p>
      </dgm:t>
    </dgm:pt>
    <dgm:pt modelId="{E592E48B-26C7-44AC-B98A-C86F45A6923A}" type="sibTrans" cxnId="{BAADD3B0-3FB4-4463-BAEF-E21019CD3C4C}">
      <dgm:prSet/>
      <dgm:spPr/>
      <dgm:t>
        <a:bodyPr/>
        <a:lstStyle/>
        <a:p>
          <a:endParaRPr lang="en-US">
            <a:latin typeface="Times New Roman" panose="02020603050405020304" pitchFamily="18" charset="0"/>
            <a:cs typeface="Times New Roman" panose="02020603050405020304" pitchFamily="18" charset="0"/>
          </a:endParaRPr>
        </a:p>
      </dgm:t>
    </dgm:pt>
    <dgm:pt modelId="{33662AAE-F9E9-4FBD-A3CB-222F296D09A2}">
      <dgm:prSet/>
      <dgm:spPr/>
      <dgm:t>
        <a:bodyPr/>
        <a:lstStyle/>
        <a:p>
          <a:r>
            <a:rPr lang="en-US" b="1">
              <a:latin typeface="Times New Roman" panose="02020603050405020304" pitchFamily="18" charset="0"/>
              <a:cs typeface="Times New Roman" panose="02020603050405020304" pitchFamily="18" charset="0"/>
            </a:rPr>
            <a:t>This </a:t>
          </a:r>
          <a:r>
            <a:rPr lang="en-US" b="1" i="1">
              <a:latin typeface="Times New Roman" panose="02020603050405020304" pitchFamily="18" charset="0"/>
              <a:cs typeface="Times New Roman" panose="02020603050405020304" pitchFamily="18" charset="0"/>
            </a:rPr>
            <a:t>optimal</a:t>
          </a:r>
          <a:r>
            <a:rPr lang="en-US" b="1">
              <a:latin typeface="Times New Roman" panose="02020603050405020304" pitchFamily="18" charset="0"/>
              <a:cs typeface="Times New Roman" panose="02020603050405020304" pitchFamily="18" charset="0"/>
            </a:rPr>
            <a:t> point on the PPC depends on the desires of society.</a:t>
          </a:r>
          <a:endParaRPr lang="en-US">
            <a:latin typeface="Times New Roman" panose="02020603050405020304" pitchFamily="18" charset="0"/>
            <a:cs typeface="Times New Roman" panose="02020603050405020304" pitchFamily="18" charset="0"/>
          </a:endParaRPr>
        </a:p>
      </dgm:t>
    </dgm:pt>
    <dgm:pt modelId="{B0A025B9-C830-4549-8C3C-3733EFBB5F93}" type="parTrans" cxnId="{4615B4A4-7781-4140-85CF-2D47D7F06074}">
      <dgm:prSet/>
      <dgm:spPr/>
      <dgm:t>
        <a:bodyPr/>
        <a:lstStyle/>
        <a:p>
          <a:endParaRPr lang="en-US">
            <a:latin typeface="Times New Roman" panose="02020603050405020304" pitchFamily="18" charset="0"/>
            <a:cs typeface="Times New Roman" panose="02020603050405020304" pitchFamily="18" charset="0"/>
          </a:endParaRPr>
        </a:p>
      </dgm:t>
    </dgm:pt>
    <dgm:pt modelId="{E86F4CF6-91A1-4055-9104-0D25D6D43013}" type="sibTrans" cxnId="{4615B4A4-7781-4140-85CF-2D47D7F06074}">
      <dgm:prSet/>
      <dgm:spPr/>
      <dgm:t>
        <a:bodyPr/>
        <a:lstStyle/>
        <a:p>
          <a:endParaRPr lang="en-US">
            <a:latin typeface="Times New Roman" panose="02020603050405020304" pitchFamily="18" charset="0"/>
            <a:cs typeface="Times New Roman" panose="02020603050405020304" pitchFamily="18" charset="0"/>
          </a:endParaRPr>
        </a:p>
      </dgm:t>
    </dgm:pt>
    <dgm:pt modelId="{D145657B-2F21-4A13-910A-A0A8818F38B2}" type="pres">
      <dgm:prSet presAssocID="{BB62C4CE-7739-4D7D-AA55-1C6758959E0E}" presName="root" presStyleCnt="0">
        <dgm:presLayoutVars>
          <dgm:dir/>
          <dgm:resizeHandles val="exact"/>
        </dgm:presLayoutVars>
      </dgm:prSet>
      <dgm:spPr/>
    </dgm:pt>
    <dgm:pt modelId="{17F30499-D956-4C28-9D72-260B64495172}" type="pres">
      <dgm:prSet presAssocID="{6688ECCD-EBC3-4179-A028-A309BFF07C7C}" presName="compNode" presStyleCnt="0"/>
      <dgm:spPr/>
    </dgm:pt>
    <dgm:pt modelId="{F270FFEA-552F-4D2E-A492-708DC89B240A}" type="pres">
      <dgm:prSet presAssocID="{6688ECCD-EBC3-4179-A028-A309BFF07C7C}"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Graph with Upward Trend"/>
        </a:ext>
      </dgm:extLst>
    </dgm:pt>
    <dgm:pt modelId="{0DE43BBB-CD45-4735-8DAF-8D7604C7FE79}" type="pres">
      <dgm:prSet presAssocID="{6688ECCD-EBC3-4179-A028-A309BFF07C7C}" presName="iconSpace" presStyleCnt="0"/>
      <dgm:spPr/>
    </dgm:pt>
    <dgm:pt modelId="{901C485C-9E3A-4505-87A0-8A133A86912D}" type="pres">
      <dgm:prSet presAssocID="{6688ECCD-EBC3-4179-A028-A309BFF07C7C}" presName="parTx" presStyleLbl="revTx" presStyleIdx="0" presStyleCnt="4">
        <dgm:presLayoutVars>
          <dgm:chMax val="0"/>
          <dgm:chPref val="0"/>
        </dgm:presLayoutVars>
      </dgm:prSet>
      <dgm:spPr/>
    </dgm:pt>
    <dgm:pt modelId="{36BE10E9-17C8-41CC-B065-553EBA9982A9}" type="pres">
      <dgm:prSet presAssocID="{6688ECCD-EBC3-4179-A028-A309BFF07C7C}" presName="txSpace" presStyleCnt="0"/>
      <dgm:spPr/>
    </dgm:pt>
    <dgm:pt modelId="{FC82175F-F0F9-4259-972C-C710BFB3B5C8}" type="pres">
      <dgm:prSet presAssocID="{6688ECCD-EBC3-4179-A028-A309BFF07C7C}" presName="desTx" presStyleLbl="revTx" presStyleIdx="1" presStyleCnt="4">
        <dgm:presLayoutVars/>
      </dgm:prSet>
      <dgm:spPr/>
    </dgm:pt>
    <dgm:pt modelId="{541ED3D3-BA6F-460E-88D8-1304D36E655C}" type="pres">
      <dgm:prSet presAssocID="{029636E4-7947-4D80-932D-B87B09DFC31B}" presName="sibTrans" presStyleCnt="0"/>
      <dgm:spPr/>
    </dgm:pt>
    <dgm:pt modelId="{EF8AC6F5-E914-49F7-8CD7-483522A41640}" type="pres">
      <dgm:prSet presAssocID="{65EBAC25-D09F-473D-8F68-088ECE3023D8}" presName="compNode" presStyleCnt="0"/>
      <dgm:spPr/>
    </dgm:pt>
    <dgm:pt modelId="{4DDBD7F5-5344-4001-9728-D892D9A304C4}" type="pres">
      <dgm:prSet presAssocID="{65EBAC25-D09F-473D-8F68-088ECE3023D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ctory"/>
        </a:ext>
      </dgm:extLst>
    </dgm:pt>
    <dgm:pt modelId="{733F4E21-B3EB-412D-A3C3-D36FD1BCF86C}" type="pres">
      <dgm:prSet presAssocID="{65EBAC25-D09F-473D-8F68-088ECE3023D8}" presName="iconSpace" presStyleCnt="0"/>
      <dgm:spPr/>
    </dgm:pt>
    <dgm:pt modelId="{9C7582B1-4202-434B-80F1-969DE995CE7F}" type="pres">
      <dgm:prSet presAssocID="{65EBAC25-D09F-473D-8F68-088ECE3023D8}" presName="parTx" presStyleLbl="revTx" presStyleIdx="2" presStyleCnt="4">
        <dgm:presLayoutVars>
          <dgm:chMax val="0"/>
          <dgm:chPref val="0"/>
        </dgm:presLayoutVars>
      </dgm:prSet>
      <dgm:spPr/>
    </dgm:pt>
    <dgm:pt modelId="{4E458EBC-16C6-4D09-A043-AEA164929E38}" type="pres">
      <dgm:prSet presAssocID="{65EBAC25-D09F-473D-8F68-088ECE3023D8}" presName="txSpace" presStyleCnt="0"/>
      <dgm:spPr/>
    </dgm:pt>
    <dgm:pt modelId="{9C021F9E-0360-4AFA-8E34-BC194F97EE4C}" type="pres">
      <dgm:prSet presAssocID="{65EBAC25-D09F-473D-8F68-088ECE3023D8}" presName="desTx" presStyleLbl="revTx" presStyleIdx="3" presStyleCnt="4">
        <dgm:presLayoutVars/>
      </dgm:prSet>
      <dgm:spPr/>
    </dgm:pt>
  </dgm:ptLst>
  <dgm:cxnLst>
    <dgm:cxn modelId="{77EED912-8529-4BAB-8672-7FED3A6894EC}" type="presOf" srcId="{65EBAC25-D09F-473D-8F68-088ECE3023D8}" destId="{9C7582B1-4202-434B-80F1-969DE995CE7F}" srcOrd="0" destOrd="0" presId="urn:microsoft.com/office/officeart/2018/5/layout/CenteredIconLabelDescriptionList"/>
    <dgm:cxn modelId="{8BB2F019-358D-41C6-A56C-2FA56D82AAB4}" type="presOf" srcId="{F5CBABCE-7D29-4722-B7C1-A868BF0A28B5}" destId="{9C021F9E-0360-4AFA-8E34-BC194F97EE4C}" srcOrd="0" destOrd="0" presId="urn:microsoft.com/office/officeart/2018/5/layout/CenteredIconLabelDescriptionList"/>
    <dgm:cxn modelId="{5089DB21-D449-4441-B287-EFCED829EB62}" type="presOf" srcId="{546E6CDB-84CA-4688-88F5-8323E3C32B64}" destId="{FC82175F-F0F9-4259-972C-C710BFB3B5C8}" srcOrd="0" destOrd="1" presId="urn:microsoft.com/office/officeart/2018/5/layout/CenteredIconLabelDescriptionList"/>
    <dgm:cxn modelId="{5A7D7B37-6B20-4014-80A9-DE15E39C05EA}" srcId="{BB62C4CE-7739-4D7D-AA55-1C6758959E0E}" destId="{65EBAC25-D09F-473D-8F68-088ECE3023D8}" srcOrd="1" destOrd="0" parTransId="{DFB62263-AE46-4689-AF82-6593CBEC3033}" sibTransId="{83BEED58-D39E-445A-BBE4-B45A64D8ECA5}"/>
    <dgm:cxn modelId="{2401305D-1FBF-4A94-A9BF-2621DB371336}" srcId="{6688ECCD-EBC3-4179-A028-A309BFF07C7C}" destId="{546E6CDB-84CA-4688-88F5-8323E3C32B64}" srcOrd="1" destOrd="0" parTransId="{FDE3F1B3-D4BF-454B-80C2-8244EFF08D33}" sibTransId="{197A5292-BCC6-4CC1-886F-4F36FA4BA23D}"/>
    <dgm:cxn modelId="{92EF9262-47FC-49B9-8B65-2123334A31BB}" type="presOf" srcId="{6688ECCD-EBC3-4179-A028-A309BFF07C7C}" destId="{901C485C-9E3A-4505-87A0-8A133A86912D}" srcOrd="0" destOrd="0" presId="urn:microsoft.com/office/officeart/2018/5/layout/CenteredIconLabelDescriptionList"/>
    <dgm:cxn modelId="{A5ED5880-E624-462C-A5AB-73C629A324BD}" type="presOf" srcId="{3E69095D-E16D-4EDD-AB03-A24BB35A3F17}" destId="{FC82175F-F0F9-4259-972C-C710BFB3B5C8}" srcOrd="0" destOrd="0" presId="urn:microsoft.com/office/officeart/2018/5/layout/CenteredIconLabelDescriptionList"/>
    <dgm:cxn modelId="{4615B4A4-7781-4140-85CF-2D47D7F06074}" srcId="{65EBAC25-D09F-473D-8F68-088ECE3023D8}" destId="{33662AAE-F9E9-4FBD-A3CB-222F296D09A2}" srcOrd="1" destOrd="0" parTransId="{B0A025B9-C830-4549-8C3C-3733EFBB5F93}" sibTransId="{E86F4CF6-91A1-4055-9104-0D25D6D43013}"/>
    <dgm:cxn modelId="{BAADD3B0-3FB4-4463-BAEF-E21019CD3C4C}" srcId="{65EBAC25-D09F-473D-8F68-088ECE3023D8}" destId="{F5CBABCE-7D29-4722-B7C1-A868BF0A28B5}" srcOrd="0" destOrd="0" parTransId="{A0EB673C-8152-4562-B83E-E245B42C7222}" sibTransId="{E592E48B-26C7-44AC-B98A-C86F45A6923A}"/>
    <dgm:cxn modelId="{DE1832B2-1159-4508-B1FF-AB28182B973E}" srcId="{6688ECCD-EBC3-4179-A028-A309BFF07C7C}" destId="{3E69095D-E16D-4EDD-AB03-A24BB35A3F17}" srcOrd="0" destOrd="0" parTransId="{CC62203A-636D-4BC1-8EF6-5160ED1FC53A}" sibTransId="{5E764DFB-67CD-401E-847D-B40810573334}"/>
    <dgm:cxn modelId="{D54A07BD-A474-4E33-AAAE-18F8C0E0EDDF}" type="presOf" srcId="{33662AAE-F9E9-4FBD-A3CB-222F296D09A2}" destId="{9C021F9E-0360-4AFA-8E34-BC194F97EE4C}" srcOrd="0" destOrd="1" presId="urn:microsoft.com/office/officeart/2018/5/layout/CenteredIconLabelDescriptionList"/>
    <dgm:cxn modelId="{9EB537F0-B5B1-4C14-A917-4D4E95F59F57}" type="presOf" srcId="{BB62C4CE-7739-4D7D-AA55-1C6758959E0E}" destId="{D145657B-2F21-4A13-910A-A0A8818F38B2}" srcOrd="0" destOrd="0" presId="urn:microsoft.com/office/officeart/2018/5/layout/CenteredIconLabelDescriptionList"/>
    <dgm:cxn modelId="{B0D863FC-5803-42DF-A613-2BD62C1D83B8}" srcId="{BB62C4CE-7739-4D7D-AA55-1C6758959E0E}" destId="{6688ECCD-EBC3-4179-A028-A309BFF07C7C}" srcOrd="0" destOrd="0" parTransId="{8E38FB8C-75C9-43CD-85F2-DD20236AED51}" sibTransId="{029636E4-7947-4D80-932D-B87B09DFC31B}"/>
    <dgm:cxn modelId="{66D57F10-33C5-47FB-98D5-9567C4475B9A}" type="presParOf" srcId="{D145657B-2F21-4A13-910A-A0A8818F38B2}" destId="{17F30499-D956-4C28-9D72-260B64495172}" srcOrd="0" destOrd="0" presId="urn:microsoft.com/office/officeart/2018/5/layout/CenteredIconLabelDescriptionList"/>
    <dgm:cxn modelId="{10BE5BD1-3CD6-4F27-BCD6-B474BFA3A704}" type="presParOf" srcId="{17F30499-D956-4C28-9D72-260B64495172}" destId="{F270FFEA-552F-4D2E-A492-708DC89B240A}" srcOrd="0" destOrd="0" presId="urn:microsoft.com/office/officeart/2018/5/layout/CenteredIconLabelDescriptionList"/>
    <dgm:cxn modelId="{98D033C7-381F-49B1-BEE0-2F746AED7652}" type="presParOf" srcId="{17F30499-D956-4C28-9D72-260B64495172}" destId="{0DE43BBB-CD45-4735-8DAF-8D7604C7FE79}" srcOrd="1" destOrd="0" presId="urn:microsoft.com/office/officeart/2018/5/layout/CenteredIconLabelDescriptionList"/>
    <dgm:cxn modelId="{A004F858-EB8E-4FD9-A703-2A2D5DB3E7CB}" type="presParOf" srcId="{17F30499-D956-4C28-9D72-260B64495172}" destId="{901C485C-9E3A-4505-87A0-8A133A86912D}" srcOrd="2" destOrd="0" presId="urn:microsoft.com/office/officeart/2018/5/layout/CenteredIconLabelDescriptionList"/>
    <dgm:cxn modelId="{3E212F81-DCB1-44F1-AE20-B5A3B162F83B}" type="presParOf" srcId="{17F30499-D956-4C28-9D72-260B64495172}" destId="{36BE10E9-17C8-41CC-B065-553EBA9982A9}" srcOrd="3" destOrd="0" presId="urn:microsoft.com/office/officeart/2018/5/layout/CenteredIconLabelDescriptionList"/>
    <dgm:cxn modelId="{DC31E30E-F813-4DB5-9284-C427289C6FA7}" type="presParOf" srcId="{17F30499-D956-4C28-9D72-260B64495172}" destId="{FC82175F-F0F9-4259-972C-C710BFB3B5C8}" srcOrd="4" destOrd="0" presId="urn:microsoft.com/office/officeart/2018/5/layout/CenteredIconLabelDescriptionList"/>
    <dgm:cxn modelId="{8961AC26-7D47-4242-BC9C-4592F88F6E52}" type="presParOf" srcId="{D145657B-2F21-4A13-910A-A0A8818F38B2}" destId="{541ED3D3-BA6F-460E-88D8-1304D36E655C}" srcOrd="1" destOrd="0" presId="urn:microsoft.com/office/officeart/2018/5/layout/CenteredIconLabelDescriptionList"/>
    <dgm:cxn modelId="{3932D19D-24CD-4208-BB58-849D6B1578A5}" type="presParOf" srcId="{D145657B-2F21-4A13-910A-A0A8818F38B2}" destId="{EF8AC6F5-E914-49F7-8CD7-483522A41640}" srcOrd="2" destOrd="0" presId="urn:microsoft.com/office/officeart/2018/5/layout/CenteredIconLabelDescriptionList"/>
    <dgm:cxn modelId="{3FA37DAA-1975-4CE8-8087-A84D9ED8227C}" type="presParOf" srcId="{EF8AC6F5-E914-49F7-8CD7-483522A41640}" destId="{4DDBD7F5-5344-4001-9728-D892D9A304C4}" srcOrd="0" destOrd="0" presId="urn:microsoft.com/office/officeart/2018/5/layout/CenteredIconLabelDescriptionList"/>
    <dgm:cxn modelId="{349CA19B-6D5D-4ACE-9EBD-263BD15273B2}" type="presParOf" srcId="{EF8AC6F5-E914-49F7-8CD7-483522A41640}" destId="{733F4E21-B3EB-412D-A3C3-D36FD1BCF86C}" srcOrd="1" destOrd="0" presId="urn:microsoft.com/office/officeart/2018/5/layout/CenteredIconLabelDescriptionList"/>
    <dgm:cxn modelId="{8C3CE088-FC52-4B5D-A2FE-33BDB80DBC8F}" type="presParOf" srcId="{EF8AC6F5-E914-49F7-8CD7-483522A41640}" destId="{9C7582B1-4202-434B-80F1-969DE995CE7F}" srcOrd="2" destOrd="0" presId="urn:microsoft.com/office/officeart/2018/5/layout/CenteredIconLabelDescriptionList"/>
    <dgm:cxn modelId="{E93B9A49-E916-4A39-A2DB-1A3C2F095A13}" type="presParOf" srcId="{EF8AC6F5-E914-49F7-8CD7-483522A41640}" destId="{4E458EBC-16C6-4D09-A043-AEA164929E38}" srcOrd="3" destOrd="0" presId="urn:microsoft.com/office/officeart/2018/5/layout/CenteredIconLabelDescriptionList"/>
    <dgm:cxn modelId="{7C60CEA6-1021-40DF-85B4-9EDE1AC48EBA}" type="presParOf" srcId="{EF8AC6F5-E914-49F7-8CD7-483522A41640}" destId="{9C021F9E-0360-4AFA-8E34-BC194F97EE4C}"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C6875F-A971-491B-80D4-540F3CE6C30D}">
      <dsp:nvSpPr>
        <dsp:cNvPr id="0" name=""/>
        <dsp:cNvSpPr/>
      </dsp:nvSpPr>
      <dsp:spPr>
        <a:xfrm>
          <a:off x="1119933" y="1743"/>
          <a:ext cx="4479734" cy="764784"/>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919" tIns="194255" rIns="86919" bIns="194255"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All the resources are being used to produce capital goods</a:t>
          </a:r>
        </a:p>
      </dsp:txBody>
      <dsp:txXfrm>
        <a:off x="1119933" y="1743"/>
        <a:ext cx="4479734" cy="764784"/>
      </dsp:txXfrm>
    </dsp:sp>
    <dsp:sp modelId="{8FEDB1CB-8058-4C52-A523-11580EB89E44}">
      <dsp:nvSpPr>
        <dsp:cNvPr id="0" name=""/>
        <dsp:cNvSpPr/>
      </dsp:nvSpPr>
      <dsp:spPr>
        <a:xfrm>
          <a:off x="11826" y="1743"/>
          <a:ext cx="1119933" cy="76478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9263" tIns="75544" rIns="59263" bIns="75544"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Point B</a:t>
          </a:r>
        </a:p>
      </dsp:txBody>
      <dsp:txXfrm>
        <a:off x="11826" y="1743"/>
        <a:ext cx="1119933" cy="764784"/>
      </dsp:txXfrm>
    </dsp:sp>
    <dsp:sp modelId="{85E7890F-6E87-4E96-AFB2-B07AB26AABD8}">
      <dsp:nvSpPr>
        <dsp:cNvPr id="0" name=""/>
        <dsp:cNvSpPr/>
      </dsp:nvSpPr>
      <dsp:spPr>
        <a:xfrm>
          <a:off x="1119933" y="812414"/>
          <a:ext cx="4479734" cy="764784"/>
        </a:xfrm>
        <a:prstGeom prst="rect">
          <a:avLst/>
        </a:prstGeom>
        <a:solidFill>
          <a:schemeClr val="accent2">
            <a:tint val="40000"/>
            <a:alpha val="90000"/>
            <a:hueOff val="1683681"/>
            <a:satOff val="-15558"/>
            <a:lumOff val="-1754"/>
            <a:alphaOff val="0"/>
          </a:schemeClr>
        </a:solidFill>
        <a:ln w="12700" cap="flat" cmpd="sng" algn="ctr">
          <a:solidFill>
            <a:schemeClr val="accent2">
              <a:tint val="40000"/>
              <a:alpha val="90000"/>
              <a:hueOff val="1683681"/>
              <a:satOff val="-15558"/>
              <a:lumOff val="-1754"/>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919" tIns="194255" rIns="86919" bIns="194255"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All the resources are being use to produce consumer goods</a:t>
          </a:r>
        </a:p>
      </dsp:txBody>
      <dsp:txXfrm>
        <a:off x="1119933" y="812414"/>
        <a:ext cx="4479734" cy="764784"/>
      </dsp:txXfrm>
    </dsp:sp>
    <dsp:sp modelId="{0064D698-A4B8-49C5-8230-999E28EE927D}">
      <dsp:nvSpPr>
        <dsp:cNvPr id="0" name=""/>
        <dsp:cNvSpPr/>
      </dsp:nvSpPr>
      <dsp:spPr>
        <a:xfrm>
          <a:off x="0" y="812414"/>
          <a:ext cx="1119933" cy="764784"/>
        </a:xfrm>
        <a:prstGeom prst="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w="12700" cap="flat" cmpd="sng" algn="ctr">
          <a:solidFill>
            <a:schemeClr val="accent2">
              <a:hueOff val="1610903"/>
              <a:satOff val="-4623"/>
              <a:lumOff val="-740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9263" tIns="75544" rIns="59263" bIns="75544"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Point A</a:t>
          </a:r>
        </a:p>
      </dsp:txBody>
      <dsp:txXfrm>
        <a:off x="0" y="812414"/>
        <a:ext cx="1119933" cy="764784"/>
      </dsp:txXfrm>
    </dsp:sp>
    <dsp:sp modelId="{73839243-2836-4715-9E87-FB4FD4A55BB9}">
      <dsp:nvSpPr>
        <dsp:cNvPr id="0" name=""/>
        <dsp:cNvSpPr/>
      </dsp:nvSpPr>
      <dsp:spPr>
        <a:xfrm>
          <a:off x="1119933" y="1623085"/>
          <a:ext cx="4479734" cy="764784"/>
        </a:xfrm>
        <a:prstGeom prst="rect">
          <a:avLst/>
        </a:prstGeom>
        <a:solidFill>
          <a:schemeClr val="accent2">
            <a:tint val="40000"/>
            <a:alpha val="90000"/>
            <a:hueOff val="3367362"/>
            <a:satOff val="-31116"/>
            <a:lumOff val="-3508"/>
            <a:alphaOff val="0"/>
          </a:schemeClr>
        </a:solidFill>
        <a:ln w="12700" cap="flat" cmpd="sng" algn="ctr">
          <a:solidFill>
            <a:schemeClr val="accent2">
              <a:tint val="40000"/>
              <a:alpha val="90000"/>
              <a:hueOff val="3367362"/>
              <a:satOff val="-31116"/>
              <a:lumOff val="-3508"/>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919" tIns="194255" rIns="86919" bIns="194255"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Both goods are produced and production is efficient.</a:t>
          </a:r>
        </a:p>
      </dsp:txBody>
      <dsp:txXfrm>
        <a:off x="1119933" y="1623085"/>
        <a:ext cx="4479734" cy="764784"/>
      </dsp:txXfrm>
    </dsp:sp>
    <dsp:sp modelId="{8ABD6E0F-624E-49BB-96D3-980F249D0CA6}">
      <dsp:nvSpPr>
        <dsp:cNvPr id="0" name=""/>
        <dsp:cNvSpPr/>
      </dsp:nvSpPr>
      <dsp:spPr>
        <a:xfrm>
          <a:off x="0" y="1623085"/>
          <a:ext cx="1119933" cy="764784"/>
        </a:xfrm>
        <a:prstGeom prst="rect">
          <a:avLst/>
        </a:prstGeom>
        <a:gradFill rotWithShape="0">
          <a:gsLst>
            <a:gs pos="0">
              <a:schemeClr val="accent2">
                <a:hueOff val="3221806"/>
                <a:satOff val="-9246"/>
                <a:lumOff val="-14805"/>
                <a:alphaOff val="0"/>
                <a:satMod val="103000"/>
                <a:lumMod val="102000"/>
                <a:tint val="94000"/>
              </a:schemeClr>
            </a:gs>
            <a:gs pos="50000">
              <a:schemeClr val="accent2">
                <a:hueOff val="3221806"/>
                <a:satOff val="-9246"/>
                <a:lumOff val="-14805"/>
                <a:alphaOff val="0"/>
                <a:satMod val="110000"/>
                <a:lumMod val="100000"/>
                <a:shade val="100000"/>
              </a:schemeClr>
            </a:gs>
            <a:gs pos="100000">
              <a:schemeClr val="accent2">
                <a:hueOff val="3221806"/>
                <a:satOff val="-9246"/>
                <a:lumOff val="-14805"/>
                <a:alphaOff val="0"/>
                <a:lumMod val="99000"/>
                <a:satMod val="120000"/>
                <a:shade val="78000"/>
              </a:schemeClr>
            </a:gs>
          </a:gsLst>
          <a:lin ang="5400000" scaled="0"/>
        </a:gradFill>
        <a:ln w="12700" cap="flat" cmpd="sng" algn="ctr">
          <a:solidFill>
            <a:schemeClr val="accent2">
              <a:hueOff val="3221806"/>
              <a:satOff val="-9246"/>
              <a:lumOff val="-1480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9263" tIns="75544" rIns="59263" bIns="75544"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Point C &amp; D</a:t>
          </a:r>
        </a:p>
      </dsp:txBody>
      <dsp:txXfrm>
        <a:off x="0" y="1623085"/>
        <a:ext cx="1119933" cy="764784"/>
      </dsp:txXfrm>
    </dsp:sp>
    <dsp:sp modelId="{27DC7AD0-EBA1-4460-BBE4-B254CD492D7A}">
      <dsp:nvSpPr>
        <dsp:cNvPr id="0" name=""/>
        <dsp:cNvSpPr/>
      </dsp:nvSpPr>
      <dsp:spPr>
        <a:xfrm>
          <a:off x="1119933" y="2433756"/>
          <a:ext cx="4479734" cy="764784"/>
        </a:xfrm>
        <a:prstGeom prst="rect">
          <a:avLst/>
        </a:prstGeom>
        <a:solidFill>
          <a:schemeClr val="accent2">
            <a:tint val="40000"/>
            <a:alpha val="90000"/>
            <a:hueOff val="5051043"/>
            <a:satOff val="-46674"/>
            <a:lumOff val="-5261"/>
            <a:alphaOff val="0"/>
          </a:schemeClr>
        </a:solidFill>
        <a:ln w="12700" cap="flat" cmpd="sng" algn="ctr">
          <a:solidFill>
            <a:schemeClr val="accent2">
              <a:tint val="40000"/>
              <a:alpha val="90000"/>
              <a:hueOff val="5051043"/>
              <a:satOff val="-46674"/>
              <a:lumOff val="-526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919" tIns="194255" rIns="86919" bIns="194255"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Point E (any point inside the frontier) -  production is inefficient</a:t>
          </a:r>
        </a:p>
      </dsp:txBody>
      <dsp:txXfrm>
        <a:off x="1119933" y="2433756"/>
        <a:ext cx="4479734" cy="764784"/>
      </dsp:txXfrm>
    </dsp:sp>
    <dsp:sp modelId="{1CBDEDD7-C45C-4115-B470-DDDAA333EA39}">
      <dsp:nvSpPr>
        <dsp:cNvPr id="0" name=""/>
        <dsp:cNvSpPr/>
      </dsp:nvSpPr>
      <dsp:spPr>
        <a:xfrm>
          <a:off x="0" y="2433756"/>
          <a:ext cx="1119933" cy="764784"/>
        </a:xfrm>
        <a:prstGeom prst="rect">
          <a:avLst/>
        </a:prstGeom>
        <a:gradFill rotWithShape="0">
          <a:gsLst>
            <a:gs pos="0">
              <a:schemeClr val="accent2">
                <a:hueOff val="4832709"/>
                <a:satOff val="-13870"/>
                <a:lumOff val="-22207"/>
                <a:alphaOff val="0"/>
                <a:satMod val="103000"/>
                <a:lumMod val="102000"/>
                <a:tint val="94000"/>
              </a:schemeClr>
            </a:gs>
            <a:gs pos="50000">
              <a:schemeClr val="accent2">
                <a:hueOff val="4832709"/>
                <a:satOff val="-13870"/>
                <a:lumOff val="-22207"/>
                <a:alphaOff val="0"/>
                <a:satMod val="110000"/>
                <a:lumMod val="100000"/>
                <a:shade val="100000"/>
              </a:schemeClr>
            </a:gs>
            <a:gs pos="100000">
              <a:schemeClr val="accent2">
                <a:hueOff val="4832709"/>
                <a:satOff val="-13870"/>
                <a:lumOff val="-22207"/>
                <a:alphaOff val="0"/>
                <a:lumMod val="99000"/>
                <a:satMod val="120000"/>
                <a:shade val="78000"/>
              </a:schemeClr>
            </a:gs>
          </a:gsLst>
          <a:lin ang="5400000" scaled="0"/>
        </a:gradFill>
        <a:ln w="12700" cap="flat" cmpd="sng" algn="ctr">
          <a:solidFill>
            <a:schemeClr val="accent2">
              <a:hueOff val="4832709"/>
              <a:satOff val="-13870"/>
              <a:lumOff val="-2220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9263" tIns="75544" rIns="59263" bIns="75544"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Point E</a:t>
          </a:r>
        </a:p>
      </dsp:txBody>
      <dsp:txXfrm>
        <a:off x="0" y="2433756"/>
        <a:ext cx="1119933" cy="764784"/>
      </dsp:txXfrm>
    </dsp:sp>
    <dsp:sp modelId="{F5D0D642-328B-42DF-A05F-909910BC1976}">
      <dsp:nvSpPr>
        <dsp:cNvPr id="0" name=""/>
        <dsp:cNvSpPr/>
      </dsp:nvSpPr>
      <dsp:spPr>
        <a:xfrm>
          <a:off x="1119933" y="3244427"/>
          <a:ext cx="4479734" cy="764784"/>
        </a:xfrm>
        <a:prstGeom prst="rect">
          <a:avLst/>
        </a:prstGeom>
        <a:solidFill>
          <a:schemeClr val="accent2">
            <a:tint val="40000"/>
            <a:alpha val="90000"/>
            <a:hueOff val="6734724"/>
            <a:satOff val="-62232"/>
            <a:lumOff val="-7015"/>
            <a:alphaOff val="0"/>
          </a:schemeClr>
        </a:solidFill>
        <a:ln w="12700" cap="flat" cmpd="sng" algn="ctr">
          <a:solidFill>
            <a:schemeClr val="accent2">
              <a:tint val="40000"/>
              <a:alpha val="90000"/>
              <a:hueOff val="6734724"/>
              <a:satOff val="-62232"/>
              <a:lumOff val="-701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919" tIns="194255" rIns="86919" bIns="194255"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Unattainable point</a:t>
          </a:r>
        </a:p>
      </dsp:txBody>
      <dsp:txXfrm>
        <a:off x="1119933" y="3244427"/>
        <a:ext cx="4479734" cy="764784"/>
      </dsp:txXfrm>
    </dsp:sp>
    <dsp:sp modelId="{12F50437-A152-4E9D-AC8F-015496AA08DF}">
      <dsp:nvSpPr>
        <dsp:cNvPr id="0" name=""/>
        <dsp:cNvSpPr/>
      </dsp:nvSpPr>
      <dsp:spPr>
        <a:xfrm>
          <a:off x="0" y="3244427"/>
          <a:ext cx="1119933" cy="764784"/>
        </a:xfrm>
        <a:prstGeom prst="rect">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w="12700" cap="flat" cmpd="sng" algn="ctr">
          <a:solidFill>
            <a:schemeClr val="accent2">
              <a:hueOff val="6443612"/>
              <a:satOff val="-18493"/>
              <a:lumOff val="-2960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9263" tIns="75544" rIns="59263" bIns="75544"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Point F</a:t>
          </a:r>
        </a:p>
      </dsp:txBody>
      <dsp:txXfrm>
        <a:off x="0" y="3244427"/>
        <a:ext cx="1119933" cy="7647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70FFEA-552F-4D2E-A492-708DC89B240A}">
      <dsp:nvSpPr>
        <dsp:cNvPr id="0" name=""/>
        <dsp:cNvSpPr/>
      </dsp:nvSpPr>
      <dsp:spPr>
        <a:xfrm>
          <a:off x="2169914" y="433509"/>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1C485C-9E3A-4505-87A0-8A133A86912D}">
      <dsp:nvSpPr>
        <dsp:cNvPr id="0" name=""/>
        <dsp:cNvSpPr/>
      </dsp:nvSpPr>
      <dsp:spPr>
        <a:xfrm>
          <a:off x="765914" y="208851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b="1" kern="1200" dirty="0">
              <a:latin typeface="Times New Roman" panose="02020603050405020304" pitchFamily="18" charset="0"/>
              <a:cs typeface="Times New Roman" panose="02020603050405020304" pitchFamily="18" charset="0"/>
            </a:rPr>
            <a:t>Productive Efficiency</a:t>
          </a:r>
          <a:endParaRPr lang="en-US" sz="3600" kern="1200" dirty="0">
            <a:latin typeface="Times New Roman" panose="02020603050405020304" pitchFamily="18" charset="0"/>
            <a:cs typeface="Times New Roman" panose="02020603050405020304" pitchFamily="18" charset="0"/>
          </a:endParaRPr>
        </a:p>
      </dsp:txBody>
      <dsp:txXfrm>
        <a:off x="765914" y="2088517"/>
        <a:ext cx="4320000" cy="648000"/>
      </dsp:txXfrm>
    </dsp:sp>
    <dsp:sp modelId="{FC82175F-F0F9-4259-972C-C710BFB3B5C8}">
      <dsp:nvSpPr>
        <dsp:cNvPr id="0" name=""/>
        <dsp:cNvSpPr/>
      </dsp:nvSpPr>
      <dsp:spPr>
        <a:xfrm>
          <a:off x="765914" y="2803033"/>
          <a:ext cx="4320000" cy="956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latin typeface="Times New Roman" panose="02020603050405020304" pitchFamily="18" charset="0"/>
              <a:cs typeface="Times New Roman" panose="02020603050405020304" pitchFamily="18" charset="0"/>
            </a:rPr>
            <a:t>Products are being produced in the least costly way. </a:t>
          </a:r>
          <a:endParaRPr lang="en-US" sz="1700" kern="1200">
            <a:latin typeface="Times New Roman" panose="02020603050405020304" pitchFamily="18" charset="0"/>
            <a:cs typeface="Times New Roman" panose="02020603050405020304" pitchFamily="18" charset="0"/>
          </a:endParaRPr>
        </a:p>
        <a:p>
          <a:pPr marL="0" lvl="0" indent="0" algn="ctr" defTabSz="755650">
            <a:lnSpc>
              <a:spcPct val="90000"/>
            </a:lnSpc>
            <a:spcBef>
              <a:spcPct val="0"/>
            </a:spcBef>
            <a:spcAft>
              <a:spcPct val="35000"/>
            </a:spcAft>
            <a:buNone/>
          </a:pPr>
          <a:r>
            <a:rPr lang="en-US" sz="1700" b="1" kern="1200">
              <a:latin typeface="Times New Roman" panose="02020603050405020304" pitchFamily="18" charset="0"/>
              <a:cs typeface="Times New Roman" panose="02020603050405020304" pitchFamily="18" charset="0"/>
            </a:rPr>
            <a:t>This is any point ON the Production Possibilities Curve</a:t>
          </a:r>
          <a:endParaRPr lang="en-US" sz="1700" kern="1200">
            <a:latin typeface="Times New Roman" panose="02020603050405020304" pitchFamily="18" charset="0"/>
            <a:cs typeface="Times New Roman" panose="02020603050405020304" pitchFamily="18" charset="0"/>
          </a:endParaRPr>
        </a:p>
      </dsp:txBody>
      <dsp:txXfrm>
        <a:off x="765914" y="2803033"/>
        <a:ext cx="4320000" cy="956262"/>
      </dsp:txXfrm>
    </dsp:sp>
    <dsp:sp modelId="{4DDBD7F5-5344-4001-9728-D892D9A304C4}">
      <dsp:nvSpPr>
        <dsp:cNvPr id="0" name=""/>
        <dsp:cNvSpPr/>
      </dsp:nvSpPr>
      <dsp:spPr>
        <a:xfrm>
          <a:off x="7245914" y="433509"/>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7582B1-4202-434B-80F1-969DE995CE7F}">
      <dsp:nvSpPr>
        <dsp:cNvPr id="0" name=""/>
        <dsp:cNvSpPr/>
      </dsp:nvSpPr>
      <dsp:spPr>
        <a:xfrm>
          <a:off x="5841914" y="208851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b="1" kern="1200">
              <a:latin typeface="Times New Roman" panose="02020603050405020304" pitchFamily="18" charset="0"/>
              <a:cs typeface="Times New Roman" panose="02020603050405020304" pitchFamily="18" charset="0"/>
            </a:rPr>
            <a:t>Allocative Efficiency </a:t>
          </a:r>
          <a:endParaRPr lang="en-US" sz="3600" kern="1200">
            <a:latin typeface="Times New Roman" panose="02020603050405020304" pitchFamily="18" charset="0"/>
            <a:cs typeface="Times New Roman" panose="02020603050405020304" pitchFamily="18" charset="0"/>
          </a:endParaRPr>
        </a:p>
      </dsp:txBody>
      <dsp:txXfrm>
        <a:off x="5841914" y="2088517"/>
        <a:ext cx="4320000" cy="648000"/>
      </dsp:txXfrm>
    </dsp:sp>
    <dsp:sp modelId="{9C021F9E-0360-4AFA-8E34-BC194F97EE4C}">
      <dsp:nvSpPr>
        <dsp:cNvPr id="0" name=""/>
        <dsp:cNvSpPr/>
      </dsp:nvSpPr>
      <dsp:spPr>
        <a:xfrm>
          <a:off x="5841914" y="2803033"/>
          <a:ext cx="4320000" cy="956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latin typeface="Times New Roman" panose="02020603050405020304" pitchFamily="18" charset="0"/>
              <a:cs typeface="Times New Roman" panose="02020603050405020304" pitchFamily="18" charset="0"/>
            </a:rPr>
            <a:t>The products being produced are the ones most desired by society.</a:t>
          </a:r>
          <a:endParaRPr lang="en-US" sz="1700" kern="1200">
            <a:latin typeface="Times New Roman" panose="02020603050405020304" pitchFamily="18" charset="0"/>
            <a:cs typeface="Times New Roman" panose="02020603050405020304" pitchFamily="18" charset="0"/>
          </a:endParaRPr>
        </a:p>
        <a:p>
          <a:pPr marL="0" lvl="0" indent="0" algn="ctr" defTabSz="755650">
            <a:lnSpc>
              <a:spcPct val="90000"/>
            </a:lnSpc>
            <a:spcBef>
              <a:spcPct val="0"/>
            </a:spcBef>
            <a:spcAft>
              <a:spcPct val="35000"/>
            </a:spcAft>
            <a:buNone/>
          </a:pPr>
          <a:r>
            <a:rPr lang="en-US" sz="1700" b="1" kern="1200">
              <a:latin typeface="Times New Roman" panose="02020603050405020304" pitchFamily="18" charset="0"/>
              <a:cs typeface="Times New Roman" panose="02020603050405020304" pitchFamily="18" charset="0"/>
            </a:rPr>
            <a:t>This </a:t>
          </a:r>
          <a:r>
            <a:rPr lang="en-US" sz="1700" b="1" i="1" kern="1200">
              <a:latin typeface="Times New Roman" panose="02020603050405020304" pitchFamily="18" charset="0"/>
              <a:cs typeface="Times New Roman" panose="02020603050405020304" pitchFamily="18" charset="0"/>
            </a:rPr>
            <a:t>optimal</a:t>
          </a:r>
          <a:r>
            <a:rPr lang="en-US" sz="1700" b="1" kern="1200">
              <a:latin typeface="Times New Roman" panose="02020603050405020304" pitchFamily="18" charset="0"/>
              <a:cs typeface="Times New Roman" panose="02020603050405020304" pitchFamily="18" charset="0"/>
            </a:rPr>
            <a:t> point on the PPC depends on the desires of society.</a:t>
          </a:r>
          <a:endParaRPr lang="en-US" sz="1700" kern="1200">
            <a:latin typeface="Times New Roman" panose="02020603050405020304" pitchFamily="18" charset="0"/>
            <a:cs typeface="Times New Roman" panose="02020603050405020304" pitchFamily="18" charset="0"/>
          </a:endParaRPr>
        </a:p>
      </dsp:txBody>
      <dsp:txXfrm>
        <a:off x="5841914" y="2803033"/>
        <a:ext cx="4320000" cy="956262"/>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CE4D1-29EA-4794-A54D-F9C2E60962DF}" type="datetimeFigureOut">
              <a:rPr lang="en-US" smtClean="0"/>
              <a:t>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36689-62DA-433D-A5EA-3ADB10555B8C}" type="slidenum">
              <a:rPr lang="en-US" smtClean="0"/>
              <a:t>‹#›</a:t>
            </a:fld>
            <a:endParaRPr lang="en-US"/>
          </a:p>
        </p:txBody>
      </p:sp>
    </p:spTree>
    <p:extLst>
      <p:ext uri="{BB962C8B-B14F-4D97-AF65-F5344CB8AC3E}">
        <p14:creationId xmlns:p14="http://schemas.microsoft.com/office/powerpoint/2010/main" val="2953831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F36689-62DA-433D-A5EA-3ADB10555B8C}" type="slidenum">
              <a:rPr lang="en-US" smtClean="0"/>
              <a:t>22</a:t>
            </a:fld>
            <a:endParaRPr lang="en-US"/>
          </a:p>
        </p:txBody>
      </p:sp>
    </p:spTree>
    <p:extLst>
      <p:ext uri="{BB962C8B-B14F-4D97-AF65-F5344CB8AC3E}">
        <p14:creationId xmlns:p14="http://schemas.microsoft.com/office/powerpoint/2010/main" val="1067597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E267-227E-D01B-51E5-062AB113AC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83015B-BCC9-CE5D-67DF-34890C5447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99C2DB-BFE3-271D-821A-D0278A6AAA4A}"/>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5" name="Footer Placeholder 4">
            <a:extLst>
              <a:ext uri="{FF2B5EF4-FFF2-40B4-BE49-F238E27FC236}">
                <a16:creationId xmlns:a16="http://schemas.microsoft.com/office/drawing/2014/main" id="{E2C98FB0-CEE9-B8E3-65A4-2AB5AEEAED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5851FC-A63A-38BE-9BF5-F439C1CB4CC7}"/>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1419353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2DDB5-DB44-6EEA-1F02-94E67D3A0B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A0B2F5-99DA-039E-4803-352F6EF372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E2785-672E-197F-79E1-796BCA7EBD96}"/>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5" name="Footer Placeholder 4">
            <a:extLst>
              <a:ext uri="{FF2B5EF4-FFF2-40B4-BE49-F238E27FC236}">
                <a16:creationId xmlns:a16="http://schemas.microsoft.com/office/drawing/2014/main" id="{CA2B97BA-0E28-F265-D7C9-0518D9C17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0CA13-479A-D4DC-6548-BED8C06287BA}"/>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2599940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4852C-393C-8DC6-1D51-2E677FBA21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8BAB9C-8DFA-3393-F0CC-4D710CF265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904464-FB42-9549-E0B5-856676D5C932}"/>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5" name="Footer Placeholder 4">
            <a:extLst>
              <a:ext uri="{FF2B5EF4-FFF2-40B4-BE49-F238E27FC236}">
                <a16:creationId xmlns:a16="http://schemas.microsoft.com/office/drawing/2014/main" id="{66E51C16-D65E-2834-1C60-88B9E4785D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0A5B1-2D9C-80E2-FDCB-B6D5D064A938}"/>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1425279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C2CAE-8CB2-0B05-889F-4BE72B0F30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1FE14-56A6-4B0C-1721-6975444DC3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F74C66-D6B8-6ED0-430D-421C87BB26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7C62BC-3633-1988-707F-C03EB0758236}"/>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6" name="Footer Placeholder 5">
            <a:extLst>
              <a:ext uri="{FF2B5EF4-FFF2-40B4-BE49-F238E27FC236}">
                <a16:creationId xmlns:a16="http://schemas.microsoft.com/office/drawing/2014/main" id="{33651DB5-2BBF-55B1-A61B-EDE68E5BD1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3FBB93-7018-C3F1-15D7-A8D688C50241}"/>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361692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8E7B4-16BF-5EAA-0317-D0420085F3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680047-808D-08B9-70A7-00CA1E970D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9AF08C-C51D-2F92-3A11-F3519A3E57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21AD3-A595-59EF-5C6F-57FD30357A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49E56B-7C5B-DF06-9E8A-D861EB8B11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274C70-AD35-84D8-0BCD-26395D32BD34}"/>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8" name="Footer Placeholder 7">
            <a:extLst>
              <a:ext uri="{FF2B5EF4-FFF2-40B4-BE49-F238E27FC236}">
                <a16:creationId xmlns:a16="http://schemas.microsoft.com/office/drawing/2014/main" id="{80A5A1F8-0619-7F61-54D6-7A03CC2230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010B95-FC7F-0FA8-7E63-33587F854D2E}"/>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2319171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10130-9881-70AA-C264-229E4FDD6E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466F75-0963-8576-DDFF-3C462367BC0C}"/>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4" name="Footer Placeholder 3">
            <a:extLst>
              <a:ext uri="{FF2B5EF4-FFF2-40B4-BE49-F238E27FC236}">
                <a16:creationId xmlns:a16="http://schemas.microsoft.com/office/drawing/2014/main" id="{AFC0A849-6232-9AEB-AE34-3DF37BC0F5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CD9757-B9E7-CA18-189E-9EB29952B41E}"/>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1479266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0716C9-187D-6528-94A3-67CB1168B459}"/>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3" name="Footer Placeholder 2">
            <a:extLst>
              <a:ext uri="{FF2B5EF4-FFF2-40B4-BE49-F238E27FC236}">
                <a16:creationId xmlns:a16="http://schemas.microsoft.com/office/drawing/2014/main" id="{A2112054-AB2B-CD94-B9B3-CDD6BCC885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810F99-4F6F-EAA5-D030-EE605648E65A}"/>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3735981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FC5EA-44F0-C410-99F6-6690484B09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A9DFD9-6545-350C-B575-D7F97913F4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770514-EC6F-5D48-F889-BF793DDC24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CBC052-0448-D455-EAC4-6A058F0A401B}"/>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6" name="Footer Placeholder 5">
            <a:extLst>
              <a:ext uri="{FF2B5EF4-FFF2-40B4-BE49-F238E27FC236}">
                <a16:creationId xmlns:a16="http://schemas.microsoft.com/office/drawing/2014/main" id="{EEBAEC52-F056-2A8F-48E9-C67907AB0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9594C8-00B5-98F9-FE4F-FC4CB4C18004}"/>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4033962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8C1E8-2504-BD0B-E00E-2B3C9E3193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087A4E-8C8B-1A28-E5F2-6C9890F102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4110CC-9658-701E-59C8-7125AB195C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D894FE-E2B6-4217-84F4-D952CC829627}"/>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6" name="Footer Placeholder 5">
            <a:extLst>
              <a:ext uri="{FF2B5EF4-FFF2-40B4-BE49-F238E27FC236}">
                <a16:creationId xmlns:a16="http://schemas.microsoft.com/office/drawing/2014/main" id="{73687BB7-0AA5-0A68-39A6-71832AD124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06CA47-8B93-D1CF-7BED-D99DA6AA1B60}"/>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850815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2C6AD-812C-6548-93BE-C752892C46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020393-AD12-F4D7-EBA6-2F7B0C0D0B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F7D102-3732-B924-1AFE-74EBF7FDAFFF}"/>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5" name="Footer Placeholder 4">
            <a:extLst>
              <a:ext uri="{FF2B5EF4-FFF2-40B4-BE49-F238E27FC236}">
                <a16:creationId xmlns:a16="http://schemas.microsoft.com/office/drawing/2014/main" id="{B438052E-77D4-2329-B5F0-4B82C164F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6E6C5-A118-A060-CEE0-5DB3086F7A44}"/>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2486222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9D9AB1-340A-B301-1D22-AE1861BE25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EB30B4-0E4C-8687-426C-DB24322390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92B35-FAD3-FB5A-4755-90572D3A30B2}"/>
              </a:ext>
            </a:extLst>
          </p:cNvPr>
          <p:cNvSpPr>
            <a:spLocks noGrp="1"/>
          </p:cNvSpPr>
          <p:nvPr>
            <p:ph type="dt" sz="half" idx="10"/>
          </p:nvPr>
        </p:nvSpPr>
        <p:spPr/>
        <p:txBody>
          <a:bodyPr/>
          <a:lstStyle/>
          <a:p>
            <a:fld id="{C8833CA1-DE60-47C1-9C14-ACDB62E1285C}" type="datetimeFigureOut">
              <a:rPr lang="en-US" smtClean="0"/>
              <a:t>8/20/26</a:t>
            </a:fld>
            <a:endParaRPr lang="en-US"/>
          </a:p>
        </p:txBody>
      </p:sp>
      <p:sp>
        <p:nvSpPr>
          <p:cNvPr id="5" name="Footer Placeholder 4">
            <a:extLst>
              <a:ext uri="{FF2B5EF4-FFF2-40B4-BE49-F238E27FC236}">
                <a16:creationId xmlns:a16="http://schemas.microsoft.com/office/drawing/2014/main" id="{77BDAFC5-267F-5BDF-45E9-D39F84F2A4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6C07B-0D4C-A63C-A58A-40D42CD37C31}"/>
              </a:ext>
            </a:extLst>
          </p:cNvPr>
          <p:cNvSpPr>
            <a:spLocks noGrp="1"/>
          </p:cNvSpPr>
          <p:nvPr>
            <p:ph type="sldNum" sz="quarter" idx="12"/>
          </p:nvPr>
        </p:nvSpPr>
        <p:spPr/>
        <p:txBody>
          <a:bodyPr/>
          <a:lstStyle/>
          <a:p>
            <a:fld id="{985DF836-BE27-4D21-8AC1-F6D973EBC5C5}" type="slidenum">
              <a:rPr lang="en-US" smtClean="0"/>
              <a:t>‹#›</a:t>
            </a:fld>
            <a:endParaRPr lang="en-US"/>
          </a:p>
        </p:txBody>
      </p:sp>
    </p:spTree>
    <p:extLst>
      <p:ext uri="{BB962C8B-B14F-4D97-AF65-F5344CB8AC3E}">
        <p14:creationId xmlns:p14="http://schemas.microsoft.com/office/powerpoint/2010/main" val="1930086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D2853D-37C3-EF6A-67BD-E90C74CDAC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D3ED5F-D07A-7785-3550-C1B14A8A7E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3D4A45-8358-07E1-A371-28AEDDE7E8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833CA1-DE60-47C1-9C14-ACDB62E1285C}" type="datetimeFigureOut">
              <a:rPr lang="en-US" smtClean="0"/>
              <a:t>8/20/26</a:t>
            </a:fld>
            <a:endParaRPr lang="en-US"/>
          </a:p>
        </p:txBody>
      </p:sp>
      <p:sp>
        <p:nvSpPr>
          <p:cNvPr id="5" name="Footer Placeholder 4">
            <a:extLst>
              <a:ext uri="{FF2B5EF4-FFF2-40B4-BE49-F238E27FC236}">
                <a16:creationId xmlns:a16="http://schemas.microsoft.com/office/drawing/2014/main" id="{E64A35DA-729B-3D14-16F8-574F093CB0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C9C22AD-B449-B4C6-ABE6-351C222026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5DF836-BE27-4D21-8AC1-F6D973EBC5C5}" type="slidenum">
              <a:rPr lang="en-US" smtClean="0"/>
              <a:t>‹#›</a:t>
            </a:fld>
            <a:endParaRPr lang="en-US"/>
          </a:p>
        </p:txBody>
      </p:sp>
    </p:spTree>
    <p:extLst>
      <p:ext uri="{BB962C8B-B14F-4D97-AF65-F5344CB8AC3E}">
        <p14:creationId xmlns:p14="http://schemas.microsoft.com/office/powerpoint/2010/main" val="4237667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180DE06-7362-4888-AADA-7AADD57AC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16FFB-804C-B65D-BE5C-0B0E6C7F385E}"/>
              </a:ext>
            </a:extLst>
          </p:cNvPr>
          <p:cNvSpPr>
            <a:spLocks noGrp="1"/>
          </p:cNvSpPr>
          <p:nvPr>
            <p:ph type="ctrTitle"/>
          </p:nvPr>
        </p:nvSpPr>
        <p:spPr>
          <a:xfrm>
            <a:off x="7139379" y="1137081"/>
            <a:ext cx="4544041" cy="2478859"/>
          </a:xfrm>
        </p:spPr>
        <p:txBody>
          <a:bodyPr>
            <a:normAutofit/>
          </a:bodyPr>
          <a:lstStyle/>
          <a:p>
            <a:pPr algn="l"/>
            <a:r>
              <a:rPr lang="en-US" sz="4400" b="1" dirty="0">
                <a:solidFill>
                  <a:srgbClr val="FF0000"/>
                </a:solidFill>
                <a:latin typeface="Times New Roman" panose="02020603050405020304" pitchFamily="18" charset="0"/>
                <a:cs typeface="Times New Roman" panose="02020603050405020304" pitchFamily="18" charset="0"/>
              </a:rPr>
              <a:t>Production Possibility Curve (PPC)</a:t>
            </a:r>
          </a:p>
        </p:txBody>
      </p:sp>
      <p:grpSp>
        <p:nvGrpSpPr>
          <p:cNvPr id="14" name="Group 13">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15" name="Straight Connector 14">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3" name="Subtitle 2">
            <a:extLst>
              <a:ext uri="{FF2B5EF4-FFF2-40B4-BE49-F238E27FC236}">
                <a16:creationId xmlns:a16="http://schemas.microsoft.com/office/drawing/2014/main" id="{7F9B381D-E2ED-9ACA-D435-1704291A0C28}"/>
              </a:ext>
            </a:extLst>
          </p:cNvPr>
          <p:cNvSpPr>
            <a:spLocks noGrp="1"/>
          </p:cNvSpPr>
          <p:nvPr>
            <p:ph type="subTitle" idx="1"/>
          </p:nvPr>
        </p:nvSpPr>
        <p:spPr>
          <a:xfrm>
            <a:off x="7494025" y="5924897"/>
            <a:ext cx="4544041" cy="735676"/>
          </a:xfrm>
        </p:spPr>
        <p:txBody>
          <a:bodyPr>
            <a:normAutofit/>
          </a:bodyPr>
          <a:lstStyle/>
          <a:p>
            <a:pPr algn="r"/>
            <a:r>
              <a:rPr lang="en-LK" sz="1600" b="1" dirty="0">
                <a:latin typeface="Times New Roman" panose="02020603050405020304" pitchFamily="18" charset="0"/>
                <a:cs typeface="Times New Roman" panose="02020603050405020304" pitchFamily="18" charset="0"/>
              </a:rPr>
              <a:t>Chathuranga Adhikari</a:t>
            </a:r>
          </a:p>
          <a:p>
            <a:pPr algn="r"/>
            <a:r>
              <a:rPr lang="en-LK" sz="1600" b="1" i="1" dirty="0">
                <a:latin typeface="Times New Roman" panose="02020603050405020304" pitchFamily="18" charset="0"/>
                <a:cs typeface="Times New Roman" panose="02020603050405020304" pitchFamily="18" charset="0"/>
              </a:rPr>
              <a:t>B.com (Sp)(Hons), M.com</a:t>
            </a:r>
            <a:endParaRPr lang="en-LK" sz="1600" i="1" dirty="0">
              <a:latin typeface="Times New Roman" panose="02020603050405020304" pitchFamily="18" charset="0"/>
              <a:cs typeface="Times New Roman" panose="02020603050405020304" pitchFamily="18" charset="0"/>
            </a:endParaRPr>
          </a:p>
          <a:p>
            <a:pPr algn="r"/>
            <a:endParaRPr lang="en-US" sz="100"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372533"/>
            <a:ext cx="6116779" cy="606872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466AE5D-442A-F830-37D5-22CB8D2C3821}"/>
              </a:ext>
            </a:extLst>
          </p:cNvPr>
          <p:cNvPicPr>
            <a:picLocks noChangeAspect="1"/>
          </p:cNvPicPr>
          <p:nvPr/>
        </p:nvPicPr>
        <p:blipFill>
          <a:blip r:embed="rId2"/>
          <a:srcRect l="43333" t="23333" r="10222" b="3704"/>
          <a:stretch>
            <a:fillRect/>
          </a:stretch>
        </p:blipFill>
        <p:spPr>
          <a:xfrm>
            <a:off x="1356579" y="612553"/>
            <a:ext cx="4780867" cy="5632894"/>
          </a:xfrm>
          <a:prstGeom prst="rect">
            <a:avLst/>
          </a:prstGeom>
        </p:spPr>
      </p:pic>
    </p:spTree>
    <p:extLst>
      <p:ext uri="{BB962C8B-B14F-4D97-AF65-F5344CB8AC3E}">
        <p14:creationId xmlns:p14="http://schemas.microsoft.com/office/powerpoint/2010/main" val="1244663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6C3C38-5B83-1CF5-2D73-418A2E81A7FD}"/>
              </a:ext>
            </a:extLst>
          </p:cNvPr>
          <p:cNvSpPr>
            <a:spLocks noGrp="1"/>
          </p:cNvSpPr>
          <p:nvPr>
            <p:ph type="title"/>
          </p:nvPr>
        </p:nvSpPr>
        <p:spPr>
          <a:xfrm>
            <a:off x="572493" y="238539"/>
            <a:ext cx="11018520" cy="1434415"/>
          </a:xfrm>
        </p:spPr>
        <p:txBody>
          <a:bodyPr anchor="b">
            <a:normAutofit/>
          </a:bodyPr>
          <a:lstStyle/>
          <a:p>
            <a:r>
              <a:rPr lang="en-US" sz="5400" b="1">
                <a:latin typeface="Times New Roman" panose="02020603050405020304" pitchFamily="18" charset="0"/>
                <a:cs typeface="Times New Roman" panose="02020603050405020304" pitchFamily="18" charset="0"/>
              </a:rPr>
              <a:t>Learning Outcomes</a:t>
            </a:r>
          </a:p>
        </p:txBody>
      </p:sp>
      <p:sp>
        <p:nvSpPr>
          <p:cNvPr id="1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B52736B-B231-2F58-BCB5-0C364343FEDC}"/>
              </a:ext>
            </a:extLst>
          </p:cNvPr>
          <p:cNvSpPr>
            <a:spLocks noGrp="1"/>
          </p:cNvSpPr>
          <p:nvPr>
            <p:ph idx="1"/>
          </p:nvPr>
        </p:nvSpPr>
        <p:spPr>
          <a:xfrm>
            <a:off x="572493" y="2071316"/>
            <a:ext cx="6713552" cy="4119172"/>
          </a:xfrm>
        </p:spPr>
        <p:txBody>
          <a:bodyPr anchor="t">
            <a:normAutofit/>
          </a:bodyPr>
          <a:lstStyle/>
          <a:p>
            <a:pPr algn="just">
              <a:lnSpc>
                <a:spcPct val="150000"/>
              </a:lnSpc>
            </a:pPr>
            <a:r>
              <a:rPr lang="en-US" sz="2200" dirty="0">
                <a:latin typeface="Times New Roman" panose="02020603050405020304" pitchFamily="18" charset="0"/>
                <a:cs typeface="Times New Roman" panose="02020603050405020304" pitchFamily="18" charset="0"/>
              </a:rPr>
              <a:t>Understand what a production possibility curve is</a:t>
            </a:r>
          </a:p>
          <a:p>
            <a:pPr algn="just">
              <a:lnSpc>
                <a:spcPct val="150000"/>
              </a:lnSpc>
            </a:pPr>
            <a:r>
              <a:rPr lang="en-US" sz="2200" dirty="0">
                <a:latin typeface="Times New Roman" panose="02020603050405020304" pitchFamily="18" charset="0"/>
                <a:cs typeface="Times New Roman" panose="02020603050405020304" pitchFamily="18" charset="0"/>
              </a:rPr>
              <a:t>Assumptions of the production possibility curve</a:t>
            </a:r>
          </a:p>
          <a:p>
            <a:pPr algn="just">
              <a:lnSpc>
                <a:spcPct val="150000"/>
              </a:lnSpc>
              <a:spcBef>
                <a:spcPct val="0"/>
              </a:spcBef>
            </a:pPr>
            <a:r>
              <a:rPr kumimoji="1" lang="en-US" altLang="en-US" sz="2200" dirty="0">
                <a:latin typeface="Times New Roman" panose="02020603050405020304" pitchFamily="18" charset="0"/>
                <a:cs typeface="Times New Roman" panose="02020603050405020304" pitchFamily="18" charset="0"/>
              </a:rPr>
              <a:t>Define opportunity cost and apply it to daily situations</a:t>
            </a:r>
          </a:p>
          <a:p>
            <a:pPr algn="just">
              <a:lnSpc>
                <a:spcPct val="150000"/>
              </a:lnSpc>
              <a:spcBef>
                <a:spcPct val="0"/>
              </a:spcBef>
            </a:pPr>
            <a:r>
              <a:rPr kumimoji="1" lang="en-US" altLang="en-US" sz="2200" dirty="0">
                <a:latin typeface="Times New Roman" panose="02020603050405020304" pitchFamily="18" charset="0"/>
                <a:cs typeface="Times New Roman" panose="02020603050405020304" pitchFamily="18" charset="0"/>
              </a:rPr>
              <a:t>Understand how to graph and analyze a PPF.</a:t>
            </a:r>
          </a:p>
          <a:p>
            <a:pPr algn="just">
              <a:lnSpc>
                <a:spcPct val="150000"/>
              </a:lnSpc>
              <a:spcBef>
                <a:spcPct val="0"/>
              </a:spcBef>
            </a:pPr>
            <a:r>
              <a:rPr kumimoji="1" lang="en-US" altLang="en-US" sz="2200" dirty="0">
                <a:latin typeface="Times New Roman" panose="02020603050405020304" pitchFamily="18" charset="0"/>
                <a:cs typeface="Times New Roman" panose="02020603050405020304" pitchFamily="18" charset="0"/>
              </a:rPr>
              <a:t>Explain how preferences influence our production decisions.</a:t>
            </a:r>
          </a:p>
          <a:p>
            <a:pPr algn="just">
              <a:lnSpc>
                <a:spcPct val="150000"/>
              </a:lnSpc>
            </a:pPr>
            <a:endParaRPr lang="en-US" sz="2200" dirty="0">
              <a:latin typeface="Times New Roman" panose="02020603050405020304" pitchFamily="18" charset="0"/>
              <a:cs typeface="Times New Roman" panose="02020603050405020304" pitchFamily="18" charset="0"/>
            </a:endParaRPr>
          </a:p>
          <a:p>
            <a:pPr algn="just">
              <a:lnSpc>
                <a:spcPct val="150000"/>
              </a:lnSpc>
            </a:pPr>
            <a:endParaRPr lang="en-US" sz="2200" dirty="0">
              <a:latin typeface="Times New Roman" panose="02020603050405020304" pitchFamily="18" charset="0"/>
              <a:cs typeface="Times New Roman" panose="02020603050405020304" pitchFamily="18" charset="0"/>
            </a:endParaRPr>
          </a:p>
        </p:txBody>
      </p:sp>
      <p:pic>
        <p:nvPicPr>
          <p:cNvPr id="5" name="Picture 4" descr="Desk with productivity items">
            <a:extLst>
              <a:ext uri="{FF2B5EF4-FFF2-40B4-BE49-F238E27FC236}">
                <a16:creationId xmlns:a16="http://schemas.microsoft.com/office/drawing/2014/main" id="{9A81A142-5FB2-1E34-193E-CC9B3F18EA5E}"/>
              </a:ext>
            </a:extLst>
          </p:cNvPr>
          <p:cNvPicPr>
            <a:picLocks noChangeAspect="1"/>
          </p:cNvPicPr>
          <p:nvPr/>
        </p:nvPicPr>
        <p:blipFill>
          <a:blip r:embed="rId2"/>
          <a:srcRect l="25306" r="10478"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291698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574ED-84B8-D70D-CD2C-2F950847D12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From Scarcity to production possibility curve</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82A45D-1317-83E3-10A5-0C228766E13D}"/>
              </a:ext>
            </a:extLst>
          </p:cNvPr>
          <p:cNvSpPr>
            <a:spLocks noGrp="1"/>
          </p:cNvSpPr>
          <p:nvPr>
            <p:ph idx="1"/>
          </p:nvPr>
        </p:nvSpPr>
        <p:spPr/>
        <p:txBody>
          <a:bodyPr>
            <a:normAutofit fontScale="92500"/>
          </a:bodyPr>
          <a:lstStyle/>
          <a:p>
            <a:pPr algn="just"/>
            <a:r>
              <a:rPr lang="en-US" sz="2400" dirty="0">
                <a:latin typeface="Times New Roman" panose="02020603050405020304" pitchFamily="18" charset="0"/>
                <a:cs typeface="Times New Roman" panose="02020603050405020304" pitchFamily="18" charset="0"/>
              </a:rPr>
              <a:t>In economics, it’s the primary study of how the scarce resources of the economy should be used to satisfy unlimited human wants. If so, those resources should be utilizing more efficient way. </a:t>
            </a:r>
          </a:p>
          <a:p>
            <a:pPr algn="just"/>
            <a:r>
              <a:rPr lang="en-US" sz="2400" dirty="0">
                <a:latin typeface="Times New Roman" panose="02020603050405020304" pitchFamily="18" charset="0"/>
                <a:cs typeface="Times New Roman" panose="02020603050405020304" pitchFamily="18" charset="0"/>
              </a:rPr>
              <a:t>In order to gain the maximum outcome from the available resources, society must use its resources in a way that achieves both the targets of </a:t>
            </a:r>
            <a:r>
              <a:rPr lang="en-US" sz="2400" b="1" dirty="0">
                <a:latin typeface="Times New Roman" panose="02020603050405020304" pitchFamily="18" charset="0"/>
                <a:cs typeface="Times New Roman" panose="02020603050405020304" pitchFamily="18" charset="0"/>
              </a:rPr>
              <a:t>full employment </a:t>
            </a:r>
            <a:r>
              <a:rPr lang="en-US" sz="2400" dirty="0">
                <a:latin typeface="Times New Roman" panose="02020603050405020304" pitchFamily="18" charset="0"/>
                <a:cs typeface="Times New Roman" panose="02020603050405020304" pitchFamily="18" charset="0"/>
              </a:rPr>
              <a:t>and </a:t>
            </a:r>
            <a:r>
              <a:rPr lang="en-US" sz="2400" b="1" dirty="0">
                <a:latin typeface="Times New Roman" panose="02020603050405020304" pitchFamily="18" charset="0"/>
                <a:cs typeface="Times New Roman" panose="02020603050405020304" pitchFamily="18" charset="0"/>
              </a:rPr>
              <a:t>full production</a:t>
            </a: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Here, full employment means utilizing all the resources that can be used for current production. This doesn’t affect sustainability since it uses the specific terms of current resources instead of existing resources</a:t>
            </a:r>
          </a:p>
          <a:p>
            <a:pPr algn="just"/>
            <a:r>
              <a:rPr lang="en-US" sz="2400" dirty="0">
                <a:latin typeface="Times New Roman" panose="02020603050405020304" pitchFamily="18" charset="0"/>
                <a:cs typeface="Times New Roman" panose="02020603050405020304" pitchFamily="18" charset="0"/>
              </a:rPr>
              <a:t>Full production means every production factor used in the production process must contribute to its maximum to meet the physical needs of the customers. </a:t>
            </a:r>
          </a:p>
          <a:p>
            <a:pPr algn="just"/>
            <a:r>
              <a:rPr lang="en-US" sz="2400" dirty="0">
                <a:latin typeface="Times New Roman" panose="02020603050405020304" pitchFamily="18" charset="0"/>
                <a:cs typeface="Times New Roman" panose="02020603050405020304" pitchFamily="18" charset="0"/>
              </a:rPr>
              <a:t>However, this does not always happened, under employment situation also happen.</a:t>
            </a:r>
          </a:p>
        </p:txBody>
      </p:sp>
    </p:spTree>
    <p:extLst>
      <p:ext uri="{BB962C8B-B14F-4D97-AF65-F5344CB8AC3E}">
        <p14:creationId xmlns:p14="http://schemas.microsoft.com/office/powerpoint/2010/main" val="2594429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E0610-3EB5-AC42-16B5-770D70CB97E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From Scarcity to production possibility curve</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B607A8-03AE-7AA7-BD49-79A520E17A6E}"/>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At any given time, due to the scarcity of the resources available in the economic system, even an economy geared towards full employment and full production can’t produce unlimited products or services. </a:t>
            </a:r>
          </a:p>
          <a:p>
            <a:pPr algn="just"/>
            <a:r>
              <a:rPr lang="en-US" sz="2400" dirty="0">
                <a:latin typeface="Times New Roman" panose="02020603050405020304" pitchFamily="18" charset="0"/>
                <a:cs typeface="Times New Roman" panose="02020603050405020304" pitchFamily="18" charset="0"/>
              </a:rPr>
              <a:t>Therefore, the economy must decide which goods and services to produce and which not to produce using limited resources. This is fundamentally a question of choice. </a:t>
            </a:r>
          </a:p>
          <a:p>
            <a:pPr algn="just"/>
            <a:r>
              <a:rPr lang="en-US" sz="2400" dirty="0">
                <a:latin typeface="Times New Roman" panose="02020603050405020304" pitchFamily="18" charset="0"/>
                <a:cs typeface="Times New Roman" panose="02020603050405020304" pitchFamily="18" charset="0"/>
              </a:rPr>
              <a:t>So, the economy has developed a very simple model to analyze choice and the consequences of choice. This can be introduced as the production possibilities model.</a:t>
            </a:r>
          </a:p>
          <a:p>
            <a:pPr algn="just"/>
            <a:r>
              <a:rPr lang="en-US" sz="2400" dirty="0">
                <a:latin typeface="Times New Roman" panose="02020603050405020304" pitchFamily="18" charset="0"/>
                <a:cs typeface="Times New Roman" panose="02020603050405020304" pitchFamily="18" charset="0"/>
              </a:rPr>
              <a:t>This model can be presented in the form of a table or a graph.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5227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1465C-7359-3EC8-C7FE-FBFDB94633D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Production Possibility Curve (PPC)</a:t>
            </a:r>
          </a:p>
        </p:txBody>
      </p:sp>
      <p:sp>
        <p:nvSpPr>
          <p:cNvPr id="7" name="Content Placeholder 6">
            <a:extLst>
              <a:ext uri="{FF2B5EF4-FFF2-40B4-BE49-F238E27FC236}">
                <a16:creationId xmlns:a16="http://schemas.microsoft.com/office/drawing/2014/main" id="{2A1BAE9C-9014-8555-177D-4CDDAAEAACF5}"/>
              </a:ext>
            </a:extLst>
          </p:cNvPr>
          <p:cNvSpPr>
            <a:spLocks noGrp="1"/>
          </p:cNvSpPr>
          <p:nvPr>
            <p:ph idx="1"/>
          </p:nvPr>
        </p:nvSpPr>
        <p:spPr>
          <a:xfrm>
            <a:off x="6096000" y="2141537"/>
            <a:ext cx="5786120" cy="4351338"/>
          </a:xfrm>
        </p:spPr>
        <p:txBody>
          <a:bodyPr>
            <a:normAutofit/>
          </a:bodyPr>
          <a:lstStyle/>
          <a:p>
            <a:r>
              <a:rPr lang="en-US" sz="2400" dirty="0">
                <a:latin typeface="Times New Roman" panose="02020603050405020304" pitchFamily="18" charset="0"/>
                <a:cs typeface="Times New Roman" panose="02020603050405020304" pitchFamily="18" charset="0"/>
              </a:rPr>
              <a:t>A production possibilities Curve (PPC) is a graphical representation of all possible maximum combinations of total output that could be produced. </a:t>
            </a:r>
          </a:p>
        </p:txBody>
      </p:sp>
      <p:pic>
        <p:nvPicPr>
          <p:cNvPr id="9" name="Picture 8">
            <a:extLst>
              <a:ext uri="{FF2B5EF4-FFF2-40B4-BE49-F238E27FC236}">
                <a16:creationId xmlns:a16="http://schemas.microsoft.com/office/drawing/2014/main" id="{DC23FBEE-CC86-C66A-EBE7-65A7E8261F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354" y="1785220"/>
            <a:ext cx="3377184" cy="4523014"/>
          </a:xfrm>
          <a:prstGeom prst="rect">
            <a:avLst/>
          </a:prstGeom>
        </p:spPr>
      </p:pic>
      <p:pic>
        <p:nvPicPr>
          <p:cNvPr id="13" name="Picture 12" descr="Using a well-labelled diagram, explain the four uses of a production  possibility frontier (PPF). | Homework.Study.com">
            <a:extLst>
              <a:ext uri="{FF2B5EF4-FFF2-40B4-BE49-F238E27FC236}">
                <a16:creationId xmlns:a16="http://schemas.microsoft.com/office/drawing/2014/main" id="{5EE827D0-4B2C-FEFA-F07B-61AA7BBFC4E1}"/>
              </a:ext>
            </a:extLst>
          </p:cNvPr>
          <p:cNvPicPr>
            <a:picLocks noChangeAspect="1"/>
          </p:cNvPicPr>
          <p:nvPr/>
        </p:nvPicPr>
        <p:blipFill>
          <a:blip r:embed="rId3"/>
          <a:stretch>
            <a:fillRect/>
          </a:stretch>
        </p:blipFill>
        <p:spPr>
          <a:xfrm>
            <a:off x="7091679" y="3429000"/>
            <a:ext cx="3189883" cy="2732005"/>
          </a:xfrm>
          <a:prstGeom prst="rect">
            <a:avLst/>
          </a:prstGeom>
        </p:spPr>
      </p:pic>
      <p:sp>
        <p:nvSpPr>
          <p:cNvPr id="15" name="Arrow: Right 14">
            <a:extLst>
              <a:ext uri="{FF2B5EF4-FFF2-40B4-BE49-F238E27FC236}">
                <a16:creationId xmlns:a16="http://schemas.microsoft.com/office/drawing/2014/main" id="{19CECBCB-4D1A-9F98-6077-72630E2F5737}"/>
              </a:ext>
            </a:extLst>
          </p:cNvPr>
          <p:cNvSpPr/>
          <p:nvPr/>
        </p:nvSpPr>
        <p:spPr>
          <a:xfrm>
            <a:off x="4686790" y="3608004"/>
            <a:ext cx="1531129" cy="537276"/>
          </a:xfrm>
          <a:prstGeom prst="rightArrow">
            <a:avLst>
              <a:gd name="adj1" fmla="val 42436"/>
              <a:gd name="adj2" fmla="val 575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124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66E59-AA8F-8E97-84E6-C422313D3A5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Assumptions of Production Possibility Curve </a:t>
            </a:r>
          </a:p>
        </p:txBody>
      </p:sp>
      <p:sp>
        <p:nvSpPr>
          <p:cNvPr id="3" name="Content Placeholder 2">
            <a:extLst>
              <a:ext uri="{FF2B5EF4-FFF2-40B4-BE49-F238E27FC236}">
                <a16:creationId xmlns:a16="http://schemas.microsoft.com/office/drawing/2014/main" id="{96CACB5A-6086-7BC8-8B0C-C8163C1BF91B}"/>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There are 04 assumptions that need to be considered when developing the production possibility curve</a:t>
            </a:r>
          </a:p>
          <a:p>
            <a:pPr marL="457200" lvl="1" indent="0">
              <a:lnSpc>
                <a:spcPct val="150000"/>
              </a:lnSpc>
              <a:buNone/>
            </a:pPr>
            <a:r>
              <a:rPr lang="en-US" dirty="0">
                <a:latin typeface="Times New Roman" panose="02020603050405020304" pitchFamily="18" charset="0"/>
                <a:cs typeface="Times New Roman" panose="02020603050405020304" pitchFamily="18" charset="0"/>
              </a:rPr>
              <a:t>01. Resources are fixed over the period under consideration.</a:t>
            </a:r>
          </a:p>
          <a:p>
            <a:pPr marL="457200" lvl="1" indent="0">
              <a:lnSpc>
                <a:spcPct val="150000"/>
              </a:lnSpc>
              <a:buNone/>
            </a:pPr>
            <a:r>
              <a:rPr lang="en-US" dirty="0">
                <a:latin typeface="Times New Roman" panose="02020603050405020304" pitchFamily="18" charset="0"/>
                <a:cs typeface="Times New Roman" panose="02020603050405020304" pitchFamily="18" charset="0"/>
              </a:rPr>
              <a:t>02. Resources are used to achieve full employment and productive efficiency. </a:t>
            </a:r>
          </a:p>
          <a:p>
            <a:pPr marL="457200" lvl="1" indent="0">
              <a:lnSpc>
                <a:spcPct val="150000"/>
              </a:lnSpc>
              <a:buNone/>
            </a:pPr>
            <a:r>
              <a:rPr lang="en-US" dirty="0">
                <a:latin typeface="Times New Roman" panose="02020603050405020304" pitchFamily="18" charset="0"/>
                <a:cs typeface="Times New Roman" panose="02020603050405020304" pitchFamily="18" charset="0"/>
              </a:rPr>
              <a:t>03. Technology also remained unchanged over the period under consideration. </a:t>
            </a:r>
          </a:p>
          <a:p>
            <a:pPr marL="457200" lvl="1" indent="0">
              <a:lnSpc>
                <a:spcPct val="150000"/>
              </a:lnSpc>
              <a:buNone/>
            </a:pPr>
            <a:r>
              <a:rPr lang="en-US" dirty="0">
                <a:latin typeface="Times New Roman" panose="02020603050405020304" pitchFamily="18" charset="0"/>
                <a:cs typeface="Times New Roman" panose="02020603050405020304" pitchFamily="18" charset="0"/>
              </a:rPr>
              <a:t>04. Producing only two products.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2847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6C25-34D3-6681-15E8-C983DA9248E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Example 01 </a:t>
            </a:r>
          </a:p>
        </p:txBody>
      </p:sp>
      <p:sp>
        <p:nvSpPr>
          <p:cNvPr id="3" name="Content Placeholder 2">
            <a:extLst>
              <a:ext uri="{FF2B5EF4-FFF2-40B4-BE49-F238E27FC236}">
                <a16:creationId xmlns:a16="http://schemas.microsoft.com/office/drawing/2014/main" id="{092C07C5-E4E9-101E-BB4C-4692F91A4C28}"/>
              </a:ext>
            </a:extLst>
          </p:cNvPr>
          <p:cNvSpPr>
            <a:spLocks noGrp="1"/>
          </p:cNvSpPr>
          <p:nvPr>
            <p:ph idx="1"/>
          </p:nvPr>
        </p:nvSpPr>
        <p:spPr>
          <a:xfrm>
            <a:off x="838200" y="1406013"/>
            <a:ext cx="10515600" cy="4770950"/>
          </a:xfrm>
        </p:spPr>
        <p:txBody>
          <a:bodyPr>
            <a:norm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Under the assumption that all resources are used at maximum efficiency at a given level of technology, the quantities of units of goods X and Y that can be produced are as shown in the table below;</a:t>
            </a:r>
          </a:p>
        </p:txBody>
      </p:sp>
      <p:graphicFrame>
        <p:nvGraphicFramePr>
          <p:cNvPr id="4" name="Table 3">
            <a:extLst>
              <a:ext uri="{FF2B5EF4-FFF2-40B4-BE49-F238E27FC236}">
                <a16:creationId xmlns:a16="http://schemas.microsoft.com/office/drawing/2014/main" id="{880CF3F3-D817-716E-1E54-5A7A02C02844}"/>
              </a:ext>
            </a:extLst>
          </p:cNvPr>
          <p:cNvGraphicFramePr>
            <a:graphicFrameLocks noGrp="1"/>
          </p:cNvGraphicFramePr>
          <p:nvPr>
            <p:extLst>
              <p:ext uri="{D42A27DB-BD31-4B8C-83A1-F6EECF244321}">
                <p14:modId xmlns:p14="http://schemas.microsoft.com/office/powerpoint/2010/main" val="3250547289"/>
              </p:ext>
            </p:extLst>
          </p:nvPr>
        </p:nvGraphicFramePr>
        <p:xfrm>
          <a:off x="3352473" y="3212844"/>
          <a:ext cx="6040284" cy="2595880"/>
        </p:xfrm>
        <a:graphic>
          <a:graphicData uri="http://schemas.openxmlformats.org/drawingml/2006/table">
            <a:tbl>
              <a:tblPr firstRow="1" bandRow="1">
                <a:tableStyleId>{5C22544A-7EE6-4342-B048-85BDC9FD1C3A}</a:tableStyleId>
              </a:tblPr>
              <a:tblGrid>
                <a:gridCol w="1427261">
                  <a:extLst>
                    <a:ext uri="{9D8B030D-6E8A-4147-A177-3AD203B41FA5}">
                      <a16:colId xmlns:a16="http://schemas.microsoft.com/office/drawing/2014/main" val="4255263823"/>
                    </a:ext>
                  </a:extLst>
                </a:gridCol>
                <a:gridCol w="2253280">
                  <a:extLst>
                    <a:ext uri="{9D8B030D-6E8A-4147-A177-3AD203B41FA5}">
                      <a16:colId xmlns:a16="http://schemas.microsoft.com/office/drawing/2014/main" val="2530441766"/>
                    </a:ext>
                  </a:extLst>
                </a:gridCol>
                <a:gridCol w="2359743">
                  <a:extLst>
                    <a:ext uri="{9D8B030D-6E8A-4147-A177-3AD203B41FA5}">
                      <a16:colId xmlns:a16="http://schemas.microsoft.com/office/drawing/2014/main" val="3134307019"/>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Point </a:t>
                      </a:r>
                    </a:p>
                  </a:txBody>
                  <a:tcPr/>
                </a:tc>
                <a:tc>
                  <a:txBody>
                    <a:bodyPr/>
                    <a:lstStyle/>
                    <a:p>
                      <a:pPr algn="ctr"/>
                      <a:r>
                        <a:rPr lang="en-US" dirty="0">
                          <a:latin typeface="Times New Roman" panose="02020603050405020304" pitchFamily="18" charset="0"/>
                          <a:cs typeface="Times New Roman" panose="02020603050405020304" pitchFamily="18" charset="0"/>
                        </a:rPr>
                        <a:t>Smart Phones</a:t>
                      </a:r>
                    </a:p>
                  </a:txBody>
                  <a:tcPr/>
                </a:tc>
                <a:tc>
                  <a:txBody>
                    <a:bodyPr/>
                    <a:lstStyle/>
                    <a:p>
                      <a:pPr algn="ctr"/>
                      <a:r>
                        <a:rPr lang="en-US" dirty="0">
                          <a:latin typeface="Times New Roman" panose="02020603050405020304" pitchFamily="18" charset="0"/>
                          <a:cs typeface="Times New Roman" panose="02020603050405020304" pitchFamily="18" charset="0"/>
                        </a:rPr>
                        <a:t>Laptops</a:t>
                      </a:r>
                    </a:p>
                  </a:txBody>
                  <a:tcPr/>
                </a:tc>
                <a:extLst>
                  <a:ext uri="{0D108BD9-81ED-4DB2-BD59-A6C34878D82A}">
                    <a16:rowId xmlns:a16="http://schemas.microsoft.com/office/drawing/2014/main" val="3813682004"/>
                  </a:ext>
                </a:extLst>
              </a:tr>
              <a:tr h="370840">
                <a:tc>
                  <a:txBody>
                    <a:bodyPr/>
                    <a:lstStyle/>
                    <a:p>
                      <a:pPr algn="ctr"/>
                      <a:r>
                        <a:rPr lang="en-US" dirty="0">
                          <a:latin typeface="Times New Roman" panose="02020603050405020304" pitchFamily="18" charset="0"/>
                          <a:cs typeface="Times New Roman" panose="02020603050405020304" pitchFamily="18" charset="0"/>
                        </a:rPr>
                        <a:t>A</a:t>
                      </a:r>
                    </a:p>
                  </a:txBody>
                  <a:tcPr/>
                </a:tc>
                <a:tc>
                  <a:txBody>
                    <a:bodyPr/>
                    <a:lstStyle/>
                    <a:p>
                      <a:pPr algn="ctr"/>
                      <a:r>
                        <a:rPr lang="en-US" dirty="0">
                          <a:latin typeface="Times New Roman" panose="02020603050405020304" pitchFamily="18" charset="0"/>
                          <a:cs typeface="Times New Roman" panose="02020603050405020304" pitchFamily="18" charset="0"/>
                        </a:rPr>
                        <a:t>0</a:t>
                      </a:r>
                    </a:p>
                  </a:txBody>
                  <a:tcPr/>
                </a:tc>
                <a:tc>
                  <a:txBody>
                    <a:bodyPr/>
                    <a:lstStyle/>
                    <a:p>
                      <a:pPr algn="ctr"/>
                      <a:r>
                        <a:rPr lang="en-US" dirty="0">
                          <a:latin typeface="Times New Roman" panose="02020603050405020304" pitchFamily="18" charset="0"/>
                          <a:cs typeface="Times New Roman" panose="02020603050405020304" pitchFamily="18" charset="0"/>
                        </a:rPr>
                        <a:t>15</a:t>
                      </a:r>
                    </a:p>
                  </a:txBody>
                  <a:tcPr/>
                </a:tc>
                <a:extLst>
                  <a:ext uri="{0D108BD9-81ED-4DB2-BD59-A6C34878D82A}">
                    <a16:rowId xmlns:a16="http://schemas.microsoft.com/office/drawing/2014/main" val="3084409700"/>
                  </a:ext>
                </a:extLst>
              </a:tr>
              <a:tr h="370840">
                <a:tc>
                  <a:txBody>
                    <a:bodyPr/>
                    <a:lstStyle/>
                    <a:p>
                      <a:pPr algn="ctr"/>
                      <a:r>
                        <a:rPr lang="en-US" dirty="0">
                          <a:latin typeface="Times New Roman" panose="02020603050405020304" pitchFamily="18" charset="0"/>
                          <a:cs typeface="Times New Roman" panose="02020603050405020304" pitchFamily="18" charset="0"/>
                        </a:rPr>
                        <a:t>B</a:t>
                      </a:r>
                    </a:p>
                  </a:txBody>
                  <a:tcPr/>
                </a:tc>
                <a:tc>
                  <a:txBody>
                    <a:bodyPr/>
                    <a:lstStyle/>
                    <a:p>
                      <a:pPr algn="ctr"/>
                      <a:r>
                        <a:rPr lang="en-US" dirty="0">
                          <a:latin typeface="Times New Roman" panose="02020603050405020304" pitchFamily="18" charset="0"/>
                          <a:cs typeface="Times New Roman" panose="02020603050405020304" pitchFamily="18" charset="0"/>
                        </a:rPr>
                        <a:t>1</a:t>
                      </a:r>
                    </a:p>
                  </a:txBody>
                  <a:tcPr/>
                </a:tc>
                <a:tc>
                  <a:txBody>
                    <a:bodyPr/>
                    <a:lstStyle/>
                    <a:p>
                      <a:pPr algn="ctr"/>
                      <a:r>
                        <a:rPr lang="en-US" dirty="0">
                          <a:latin typeface="Times New Roman" panose="02020603050405020304" pitchFamily="18" charset="0"/>
                          <a:cs typeface="Times New Roman" panose="02020603050405020304" pitchFamily="18" charset="0"/>
                        </a:rPr>
                        <a:t>14</a:t>
                      </a:r>
                    </a:p>
                  </a:txBody>
                  <a:tcPr/>
                </a:tc>
                <a:extLst>
                  <a:ext uri="{0D108BD9-81ED-4DB2-BD59-A6C34878D82A}">
                    <a16:rowId xmlns:a16="http://schemas.microsoft.com/office/drawing/2014/main" val="3216171861"/>
                  </a:ext>
                </a:extLst>
              </a:tr>
              <a:tr h="370840">
                <a:tc>
                  <a:txBody>
                    <a:bodyPr/>
                    <a:lstStyle/>
                    <a:p>
                      <a:pPr algn="ctr"/>
                      <a:r>
                        <a:rPr lang="en-US" dirty="0">
                          <a:latin typeface="Times New Roman" panose="02020603050405020304" pitchFamily="18" charset="0"/>
                          <a:cs typeface="Times New Roman" panose="02020603050405020304" pitchFamily="18" charset="0"/>
                        </a:rPr>
                        <a:t>C</a:t>
                      </a:r>
                    </a:p>
                  </a:txBody>
                  <a:tcPr/>
                </a:tc>
                <a:tc>
                  <a:txBody>
                    <a:bodyPr/>
                    <a:lstStyle/>
                    <a:p>
                      <a:pPr algn="ctr"/>
                      <a:r>
                        <a:rPr lang="en-US" dirty="0">
                          <a:latin typeface="Times New Roman" panose="02020603050405020304" pitchFamily="18" charset="0"/>
                          <a:cs typeface="Times New Roman" panose="02020603050405020304" pitchFamily="18" charset="0"/>
                        </a:rPr>
                        <a:t>2</a:t>
                      </a:r>
                    </a:p>
                  </a:txBody>
                  <a:tcPr/>
                </a:tc>
                <a:tc>
                  <a:txBody>
                    <a:bodyPr/>
                    <a:lstStyle/>
                    <a:p>
                      <a:pPr algn="ctr"/>
                      <a:r>
                        <a:rPr lang="en-US" dirty="0">
                          <a:latin typeface="Times New Roman" panose="02020603050405020304" pitchFamily="18" charset="0"/>
                          <a:cs typeface="Times New Roman" panose="02020603050405020304" pitchFamily="18" charset="0"/>
                        </a:rPr>
                        <a:t>12</a:t>
                      </a:r>
                    </a:p>
                  </a:txBody>
                  <a:tcPr/>
                </a:tc>
                <a:extLst>
                  <a:ext uri="{0D108BD9-81ED-4DB2-BD59-A6C34878D82A}">
                    <a16:rowId xmlns:a16="http://schemas.microsoft.com/office/drawing/2014/main" val="2287341844"/>
                  </a:ext>
                </a:extLst>
              </a:tr>
              <a:tr h="370840">
                <a:tc>
                  <a:txBody>
                    <a:bodyPr/>
                    <a:lstStyle/>
                    <a:p>
                      <a:pPr algn="ctr"/>
                      <a:r>
                        <a:rPr lang="en-US" dirty="0">
                          <a:latin typeface="Times New Roman" panose="02020603050405020304" pitchFamily="18" charset="0"/>
                          <a:cs typeface="Times New Roman" panose="02020603050405020304" pitchFamily="18" charset="0"/>
                        </a:rPr>
                        <a:t>D</a:t>
                      </a:r>
                    </a:p>
                  </a:txBody>
                  <a:tcPr/>
                </a:tc>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r>
                        <a:rPr lang="en-US" dirty="0">
                          <a:latin typeface="Times New Roman" panose="02020603050405020304" pitchFamily="18" charset="0"/>
                          <a:cs typeface="Times New Roman" panose="02020603050405020304" pitchFamily="18" charset="0"/>
                        </a:rPr>
                        <a:t>9</a:t>
                      </a:r>
                    </a:p>
                  </a:txBody>
                  <a:tcPr/>
                </a:tc>
                <a:extLst>
                  <a:ext uri="{0D108BD9-81ED-4DB2-BD59-A6C34878D82A}">
                    <a16:rowId xmlns:a16="http://schemas.microsoft.com/office/drawing/2014/main" val="3348321722"/>
                  </a:ext>
                </a:extLst>
              </a:tr>
              <a:tr h="370840">
                <a:tc>
                  <a:txBody>
                    <a:bodyPr/>
                    <a:lstStyle/>
                    <a:p>
                      <a:pPr algn="ctr"/>
                      <a:r>
                        <a:rPr lang="en-US" dirty="0">
                          <a:latin typeface="Times New Roman" panose="02020603050405020304" pitchFamily="18" charset="0"/>
                          <a:cs typeface="Times New Roman" panose="02020603050405020304" pitchFamily="18" charset="0"/>
                        </a:rPr>
                        <a:t>E</a:t>
                      </a:r>
                    </a:p>
                  </a:txBody>
                  <a:tcPr/>
                </a:tc>
                <a:tc>
                  <a:txBody>
                    <a:bodyPr/>
                    <a:lstStyle/>
                    <a:p>
                      <a:pPr algn="ctr"/>
                      <a:r>
                        <a:rPr lang="en-US" dirty="0">
                          <a:latin typeface="Times New Roman" panose="02020603050405020304" pitchFamily="18" charset="0"/>
                          <a:cs typeface="Times New Roman" panose="02020603050405020304" pitchFamily="18" charset="0"/>
                        </a:rPr>
                        <a:t>4</a:t>
                      </a:r>
                    </a:p>
                  </a:txBody>
                  <a:tcPr/>
                </a:tc>
                <a:tc>
                  <a:txBody>
                    <a:bodyPr/>
                    <a:lstStyle/>
                    <a:p>
                      <a:pPr algn="ctr"/>
                      <a:r>
                        <a:rPr lang="en-US" dirty="0">
                          <a:latin typeface="Times New Roman" panose="02020603050405020304" pitchFamily="18" charset="0"/>
                          <a:cs typeface="Times New Roman" panose="02020603050405020304" pitchFamily="18" charset="0"/>
                        </a:rPr>
                        <a:t>5</a:t>
                      </a:r>
                    </a:p>
                  </a:txBody>
                  <a:tcPr/>
                </a:tc>
                <a:extLst>
                  <a:ext uri="{0D108BD9-81ED-4DB2-BD59-A6C34878D82A}">
                    <a16:rowId xmlns:a16="http://schemas.microsoft.com/office/drawing/2014/main" val="2146013633"/>
                  </a:ext>
                </a:extLst>
              </a:tr>
              <a:tr h="370840">
                <a:tc>
                  <a:txBody>
                    <a:bodyPr/>
                    <a:lstStyle/>
                    <a:p>
                      <a:pPr algn="ctr"/>
                      <a:r>
                        <a:rPr lang="en-US" dirty="0">
                          <a:latin typeface="Times New Roman" panose="02020603050405020304" pitchFamily="18" charset="0"/>
                          <a:cs typeface="Times New Roman" panose="02020603050405020304" pitchFamily="18" charset="0"/>
                        </a:rPr>
                        <a:t>F</a:t>
                      </a:r>
                    </a:p>
                  </a:txBody>
                  <a:tcPr/>
                </a:tc>
                <a:tc>
                  <a:txBody>
                    <a:bodyPr/>
                    <a:lstStyle/>
                    <a:p>
                      <a:pPr algn="ctr"/>
                      <a:r>
                        <a:rPr lang="en-US" dirty="0">
                          <a:latin typeface="Times New Roman" panose="02020603050405020304" pitchFamily="18" charset="0"/>
                          <a:cs typeface="Times New Roman" panose="02020603050405020304" pitchFamily="18" charset="0"/>
                        </a:rPr>
                        <a:t>5</a:t>
                      </a:r>
                    </a:p>
                  </a:txBody>
                  <a:tcPr/>
                </a:tc>
                <a:tc>
                  <a:txBody>
                    <a:bodyPr/>
                    <a:lstStyle/>
                    <a:p>
                      <a:pPr algn="ctr"/>
                      <a:r>
                        <a:rPr lang="en-US" dirty="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1847666812"/>
                  </a:ext>
                </a:extLst>
              </a:tr>
            </a:tbl>
          </a:graphicData>
        </a:graphic>
      </p:graphicFrame>
    </p:spTree>
    <p:extLst>
      <p:ext uri="{BB962C8B-B14F-4D97-AF65-F5344CB8AC3E}">
        <p14:creationId xmlns:p14="http://schemas.microsoft.com/office/powerpoint/2010/main" val="2038012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C213-457A-FA5A-8AD0-0C77C8FA76FF}"/>
              </a:ext>
            </a:extLst>
          </p:cNvPr>
          <p:cNvSpPr>
            <a:spLocks noGrp="1"/>
          </p:cNvSpPr>
          <p:nvPr>
            <p:ph type="title"/>
          </p:nvPr>
        </p:nvSpPr>
        <p:spPr>
          <a:xfrm>
            <a:off x="838200" y="365126"/>
            <a:ext cx="10515600" cy="834410"/>
          </a:xfrm>
        </p:spPr>
        <p:txBody>
          <a:bodyPr/>
          <a:lstStyle/>
          <a:p>
            <a:r>
              <a:rPr lang="en-US" b="1" dirty="0">
                <a:latin typeface="Times New Roman" panose="02020603050405020304" pitchFamily="18" charset="0"/>
                <a:cs typeface="Times New Roman" panose="02020603050405020304" pitchFamily="18" charset="0"/>
              </a:rPr>
              <a:t>Example (Cont.)</a:t>
            </a:r>
          </a:p>
        </p:txBody>
      </p:sp>
      <p:sp>
        <p:nvSpPr>
          <p:cNvPr id="3" name="Content Placeholder 2">
            <a:extLst>
              <a:ext uri="{FF2B5EF4-FFF2-40B4-BE49-F238E27FC236}">
                <a16:creationId xmlns:a16="http://schemas.microsoft.com/office/drawing/2014/main" id="{2524EEB4-D4F4-610C-676D-668718155F80}"/>
              </a:ext>
            </a:extLst>
          </p:cNvPr>
          <p:cNvSpPr>
            <a:spLocks noGrp="1"/>
          </p:cNvSpPr>
          <p:nvPr>
            <p:ph idx="1"/>
          </p:nvPr>
        </p:nvSpPr>
        <p:spPr>
          <a:xfrm>
            <a:off x="838200" y="1347020"/>
            <a:ext cx="10515600" cy="5289754"/>
          </a:xfrm>
        </p:spPr>
        <p:txBody>
          <a:bodyPr>
            <a:noAutofit/>
          </a:bodyPr>
          <a:lstStyle/>
          <a:p>
            <a:pPr algn="just">
              <a:lnSpc>
                <a:spcPct val="100000"/>
              </a:lnSpc>
            </a:pPr>
            <a:r>
              <a:rPr lang="en-US" sz="2000" dirty="0">
                <a:latin typeface="Times New Roman" panose="02020603050405020304" pitchFamily="18" charset="0"/>
                <a:cs typeface="Times New Roman" panose="02020603050405020304" pitchFamily="18" charset="0"/>
              </a:rPr>
              <a:t>Point A indicates that when all the resources are directed to producing only Laptops, as a result, none of the smartphones can be produced. </a:t>
            </a:r>
          </a:p>
          <a:p>
            <a:pPr algn="just">
              <a:lnSpc>
                <a:spcPct val="100000"/>
              </a:lnSpc>
            </a:pPr>
            <a:r>
              <a:rPr lang="en-US" sz="2000" dirty="0">
                <a:latin typeface="Times New Roman" panose="02020603050405020304" pitchFamily="18" charset="0"/>
                <a:cs typeface="Times New Roman" panose="02020603050405020304" pitchFamily="18" charset="0"/>
              </a:rPr>
              <a:t>Conversely, point F shows that when all the resources are directed to producing only smartphones, as a result, none of the laptops can be produced. </a:t>
            </a:r>
          </a:p>
          <a:p>
            <a:pPr algn="just">
              <a:lnSpc>
                <a:spcPct val="100000"/>
              </a:lnSpc>
            </a:pPr>
            <a:r>
              <a:rPr lang="en-US" sz="2000" dirty="0">
                <a:latin typeface="Times New Roman" panose="02020603050405020304" pitchFamily="18" charset="0"/>
                <a:cs typeface="Times New Roman" panose="02020603050405020304" pitchFamily="18" charset="0"/>
              </a:rPr>
              <a:t>Thus, if all resources are allocated to producing both smartphones and laptops, rather than producing only one of them, there are many alternative combinations of goods that can be produced, represented by points B, C, D, and E.</a:t>
            </a:r>
          </a:p>
          <a:p>
            <a:pPr algn="just">
              <a:lnSpc>
                <a:spcPct val="100000"/>
              </a:lnSpc>
            </a:pPr>
            <a:r>
              <a:rPr lang="en-US" sz="2000" dirty="0">
                <a:latin typeface="Times New Roman" panose="02020603050405020304" pitchFamily="18" charset="0"/>
                <a:cs typeface="Times New Roman" panose="02020603050405020304" pitchFamily="18" charset="0"/>
              </a:rPr>
              <a:t>Further, the table shows that when resources are used to increase the number of smartphones, as a result, it will reduce the number of laptops produced. Similarly, when more resources are used to produce more laptops, on the other hand, it decreases the number of smart phone are producing</a:t>
            </a:r>
          </a:p>
          <a:p>
            <a:pPr>
              <a:lnSpc>
                <a:spcPct val="100000"/>
              </a:lnSpc>
            </a:pPr>
            <a:r>
              <a:rPr lang="en-US" sz="2000" dirty="0">
                <a:latin typeface="Times New Roman" panose="02020603050405020304" pitchFamily="18" charset="0"/>
                <a:cs typeface="Times New Roman" panose="02020603050405020304" pitchFamily="18" charset="0"/>
              </a:rPr>
              <a:t>Based on this, we can conclude that, </a:t>
            </a:r>
            <a:r>
              <a:rPr lang="en-US" sz="2000" b="1" u="sng" dirty="0">
                <a:latin typeface="Times New Roman" panose="02020603050405020304" pitchFamily="18" charset="0"/>
                <a:cs typeface="Times New Roman" panose="02020603050405020304" pitchFamily="18" charset="0"/>
              </a:rPr>
              <a:t>in a given situation, if the economy has achieved full employment and production efficiency, it is possible to produce more of one good only by sacrificing the production of another good</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525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FEF71C-1473-7F5E-8540-05A540ADE855}"/>
              </a:ext>
            </a:extLst>
          </p:cNvPr>
          <p:cNvSpPr>
            <a:spLocks noGrp="1"/>
          </p:cNvSpPr>
          <p:nvPr>
            <p:ph type="title"/>
          </p:nvPr>
        </p:nvSpPr>
        <p:spPr>
          <a:xfrm>
            <a:off x="6739128" y="638089"/>
            <a:ext cx="4818888" cy="1476801"/>
          </a:xfrm>
        </p:spPr>
        <p:txBody>
          <a:bodyPr anchor="b">
            <a:normAutofit fontScale="90000"/>
          </a:bodyPr>
          <a:lstStyle/>
          <a:p>
            <a:r>
              <a:rPr lang="en-US" sz="5000" b="1" dirty="0">
                <a:latin typeface="Times New Roman" panose="02020603050405020304" pitchFamily="18" charset="0"/>
                <a:cs typeface="Times New Roman" panose="02020603050405020304" pitchFamily="18" charset="0"/>
              </a:rPr>
              <a:t>Production Possibility Curve</a:t>
            </a:r>
          </a:p>
        </p:txBody>
      </p:sp>
      <p:sp>
        <p:nvSpPr>
          <p:cNvPr id="26"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4F37FFD-9999-42D1-1CB9-6A12B28F47B1}"/>
              </a:ext>
            </a:extLst>
          </p:cNvPr>
          <p:cNvSpPr>
            <a:spLocks noGrp="1"/>
          </p:cNvSpPr>
          <p:nvPr>
            <p:ph idx="1"/>
          </p:nvPr>
        </p:nvSpPr>
        <p:spPr>
          <a:xfrm>
            <a:off x="6396736" y="2664886"/>
            <a:ext cx="5452886" cy="3550789"/>
          </a:xfrm>
        </p:spPr>
        <p:txBody>
          <a:bodyPr anchor="t">
            <a:normAutofit/>
          </a:bodyPr>
          <a:lstStyle/>
          <a:p>
            <a:pPr algn="just"/>
            <a:r>
              <a:rPr lang="en-US" altLang="en-US" sz="2200" dirty="0">
                <a:latin typeface="Times New Roman" panose="02020603050405020304" pitchFamily="18" charset="0"/>
                <a:cs typeface="Times New Roman" panose="02020603050405020304" pitchFamily="18" charset="0"/>
              </a:rPr>
              <a:t>The frontier shows the limit of what can be produced – all possible combinations when all resources are fully utilized.</a:t>
            </a:r>
          </a:p>
          <a:p>
            <a:pPr algn="just"/>
            <a:endParaRPr lang="en-US" sz="2200"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38114B69-31C4-53ED-843F-2BF22E3BD1CA}"/>
              </a:ext>
            </a:extLst>
          </p:cNvPr>
          <p:cNvGrpSpPr/>
          <p:nvPr/>
        </p:nvGrpSpPr>
        <p:grpSpPr>
          <a:xfrm>
            <a:off x="633984" y="1723233"/>
            <a:ext cx="5161282" cy="4492442"/>
            <a:chOff x="686401" y="2673203"/>
            <a:chExt cx="5085135" cy="4184797"/>
          </a:xfrm>
        </p:grpSpPr>
        <p:grpSp>
          <p:nvGrpSpPr>
            <p:cNvPr id="12" name="Group 11">
              <a:extLst>
                <a:ext uri="{FF2B5EF4-FFF2-40B4-BE49-F238E27FC236}">
                  <a16:creationId xmlns:a16="http://schemas.microsoft.com/office/drawing/2014/main" id="{681D5D42-3E38-2514-2CA6-644C81EFBD33}"/>
                </a:ext>
              </a:extLst>
            </p:cNvPr>
            <p:cNvGrpSpPr/>
            <p:nvPr/>
          </p:nvGrpSpPr>
          <p:grpSpPr>
            <a:xfrm>
              <a:off x="686401" y="2673203"/>
              <a:ext cx="5085135" cy="4184797"/>
              <a:chOff x="273446" y="2477729"/>
              <a:chExt cx="5085135" cy="4184797"/>
            </a:xfrm>
          </p:grpSpPr>
          <p:grpSp>
            <p:nvGrpSpPr>
              <p:cNvPr id="10" name="Group 9">
                <a:extLst>
                  <a:ext uri="{FF2B5EF4-FFF2-40B4-BE49-F238E27FC236}">
                    <a16:creationId xmlns:a16="http://schemas.microsoft.com/office/drawing/2014/main" id="{91070C55-4E07-C2ED-82A6-374676241B0A}"/>
                  </a:ext>
                </a:extLst>
              </p:cNvPr>
              <p:cNvGrpSpPr/>
              <p:nvPr/>
            </p:nvGrpSpPr>
            <p:grpSpPr>
              <a:xfrm>
                <a:off x="1917290" y="2477729"/>
                <a:ext cx="3441291" cy="2713703"/>
                <a:chOff x="1917290" y="2477729"/>
                <a:chExt cx="3441291" cy="2713703"/>
              </a:xfrm>
            </p:grpSpPr>
            <p:cxnSp>
              <p:nvCxnSpPr>
                <p:cNvPr id="7" name="Straight Arrow Connector 6">
                  <a:extLst>
                    <a:ext uri="{FF2B5EF4-FFF2-40B4-BE49-F238E27FC236}">
                      <a16:creationId xmlns:a16="http://schemas.microsoft.com/office/drawing/2014/main" id="{E4C9BBDE-185A-990A-3AB5-E55C26684571}"/>
                    </a:ext>
                  </a:extLst>
                </p:cNvPr>
                <p:cNvCxnSpPr/>
                <p:nvPr/>
              </p:nvCxnSpPr>
              <p:spPr>
                <a:xfrm>
                  <a:off x="1927123" y="5191432"/>
                  <a:ext cx="343145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FF6FC3F-F0D3-2ADE-F0FE-018AEBFA0A74}"/>
                    </a:ext>
                  </a:extLst>
                </p:cNvPr>
                <p:cNvCxnSpPr/>
                <p:nvPr/>
              </p:nvCxnSpPr>
              <p:spPr>
                <a:xfrm flipV="1">
                  <a:off x="1917290" y="2477729"/>
                  <a:ext cx="0" cy="267437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1" name="Arc 10">
                <a:extLst>
                  <a:ext uri="{FF2B5EF4-FFF2-40B4-BE49-F238E27FC236}">
                    <a16:creationId xmlns:a16="http://schemas.microsoft.com/office/drawing/2014/main" id="{A37B85B5-4B2C-F82B-3F3A-617E5D93CAA9}"/>
                  </a:ext>
                </a:extLst>
              </p:cNvPr>
              <p:cNvSpPr/>
              <p:nvPr/>
            </p:nvSpPr>
            <p:spPr>
              <a:xfrm rot="2466662">
                <a:off x="273446" y="3183408"/>
                <a:ext cx="3451117" cy="3479118"/>
              </a:xfrm>
              <a:prstGeom prst="arc">
                <a:avLst>
                  <a:gd name="adj1" fmla="val 13584836"/>
                  <a:gd name="adj2" fmla="val 19655986"/>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16" name="TextBox 15">
              <a:extLst>
                <a:ext uri="{FF2B5EF4-FFF2-40B4-BE49-F238E27FC236}">
                  <a16:creationId xmlns:a16="http://schemas.microsoft.com/office/drawing/2014/main" id="{BD053EA0-E867-E519-FF56-FBD66210ADB2}"/>
                </a:ext>
              </a:extLst>
            </p:cNvPr>
            <p:cNvSpPr txBox="1"/>
            <p:nvPr/>
          </p:nvSpPr>
          <p:spPr>
            <a:xfrm>
              <a:off x="5153262" y="5521844"/>
              <a:ext cx="572729" cy="369332"/>
            </a:xfrm>
            <a:prstGeom prst="rect">
              <a:avLst/>
            </a:prstGeom>
            <a:noFill/>
          </p:spPr>
          <p:txBody>
            <a:bodyPr wrap="square" rtlCol="0">
              <a:spAutoFit/>
            </a:bodyPr>
            <a:lstStyle/>
            <a:p>
              <a:pPr defTabSz="978408">
                <a:spcAft>
                  <a:spcPts val="600"/>
                </a:spcAft>
              </a:pPr>
              <a:r>
                <a:rPr lang="en-US" sz="1926" kern="1200">
                  <a:solidFill>
                    <a:schemeClr val="tx1"/>
                  </a:solidFill>
                  <a:latin typeface="Times New Roman" panose="02020603050405020304" pitchFamily="18" charset="0"/>
                  <a:ea typeface="+mn-ea"/>
                  <a:cs typeface="Times New Roman" panose="02020603050405020304" pitchFamily="18" charset="0"/>
                </a:rPr>
                <a:t>Y</a:t>
              </a:r>
              <a:endParaRPr lang="en-US">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4E15C019-14A1-B8A3-1306-D6FBF7C1A27B}"/>
                </a:ext>
              </a:extLst>
            </p:cNvPr>
            <p:cNvSpPr txBox="1"/>
            <p:nvPr/>
          </p:nvSpPr>
          <p:spPr>
            <a:xfrm>
              <a:off x="1413335" y="2943130"/>
              <a:ext cx="572729" cy="369332"/>
            </a:xfrm>
            <a:prstGeom prst="rect">
              <a:avLst/>
            </a:prstGeom>
            <a:noFill/>
          </p:spPr>
          <p:txBody>
            <a:bodyPr wrap="square" rtlCol="0">
              <a:spAutoFit/>
            </a:bodyPr>
            <a:lstStyle/>
            <a:p>
              <a:pPr defTabSz="978408">
                <a:spcAft>
                  <a:spcPts val="600"/>
                </a:spcAft>
              </a:pPr>
              <a:r>
                <a:rPr lang="en-US" sz="1926" kern="1200">
                  <a:solidFill>
                    <a:schemeClr val="tx1"/>
                  </a:solidFill>
                  <a:latin typeface="Times New Roman" panose="02020603050405020304" pitchFamily="18" charset="0"/>
                  <a:ea typeface="+mn-ea"/>
                  <a:cs typeface="Times New Roman" panose="02020603050405020304" pitchFamily="18" charset="0"/>
                </a:rPr>
                <a:t>X</a:t>
              </a:r>
              <a:endParaRPr lang="en-US">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526304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82E9D-8E09-80AD-6B6B-D33FB1981FD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Production Possibility Curve</a:t>
            </a:r>
          </a:p>
        </p:txBody>
      </p:sp>
      <p:sp>
        <p:nvSpPr>
          <p:cNvPr id="3" name="Content Placeholder 2">
            <a:extLst>
              <a:ext uri="{FF2B5EF4-FFF2-40B4-BE49-F238E27FC236}">
                <a16:creationId xmlns:a16="http://schemas.microsoft.com/office/drawing/2014/main" id="{18F686D8-4B62-C5C2-C03D-C7D66AE42490}"/>
              </a:ext>
            </a:extLst>
          </p:cNvPr>
          <p:cNvSpPr>
            <a:spLocks noGrp="1"/>
          </p:cNvSpPr>
          <p:nvPr>
            <p:ph idx="1"/>
          </p:nvPr>
        </p:nvSpPr>
        <p:spPr/>
        <p:txBody>
          <a:bodyPr/>
          <a:lstStyle/>
          <a:p>
            <a:r>
              <a:rPr lang="en-US" altLang="en-US" dirty="0">
                <a:solidFill>
                  <a:schemeClr val="accent1">
                    <a:lumMod val="50000"/>
                  </a:schemeClr>
                </a:solidFill>
                <a:latin typeface="Times New Roman" panose="02020603050405020304" pitchFamily="18" charset="0"/>
                <a:cs typeface="Times New Roman" panose="02020603050405020304" pitchFamily="18" charset="0"/>
              </a:rPr>
              <a:t>Usually, a point is chosen where both items are being produced</a:t>
            </a:r>
            <a:endParaRPr lang="en-US" dirty="0">
              <a:solidFill>
                <a:schemeClr val="accent1">
                  <a:lumMod val="50000"/>
                </a:schemeClr>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Because </a:t>
            </a:r>
            <a:r>
              <a:rPr lang="en-US" altLang="en-US" b="1" kern="0" dirty="0">
                <a:latin typeface="Times New Roman" panose="02020603050405020304" pitchFamily="18" charset="0"/>
                <a:cs typeface="Times New Roman" panose="02020603050405020304" pitchFamily="18" charset="0"/>
              </a:rPr>
              <a:t>Production may occur anywhere on or within the frontier.</a:t>
            </a:r>
          </a:p>
          <a:p>
            <a:pPr marL="0" indent="0">
              <a:buNone/>
            </a:pPr>
            <a:endParaRPr lang="en-US" altLang="en-US" b="1" kern="0" dirty="0">
              <a:latin typeface="Times New Roman" panose="02020603050405020304" pitchFamily="18" charset="0"/>
              <a:cs typeface="Times New Roman" panose="02020603050405020304" pitchFamily="18" charset="0"/>
            </a:endParaRPr>
          </a:p>
          <a:p>
            <a:pPr marL="0" indent="0">
              <a:buNone/>
            </a:pPr>
            <a:r>
              <a:rPr lang="en-US" b="1" kern="0" dirty="0">
                <a:solidFill>
                  <a:srgbClr val="FF0000"/>
                </a:solidFill>
                <a:latin typeface="Times New Roman" panose="02020603050405020304" pitchFamily="18" charset="0"/>
                <a:cs typeface="Times New Roman" panose="02020603050405020304" pitchFamily="18" charset="0"/>
              </a:rPr>
              <a:t>It may NOT occur beyond the frontier– there are not enough resources to do so.</a:t>
            </a:r>
          </a:p>
          <a:p>
            <a:pPr marL="0" indent="0">
              <a:buNone/>
            </a:pPr>
            <a:endParaRPr lang="en-US" altLang="en-US" b="1" kern="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796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22ECFF-B100-D881-13DA-C17ED63ED9B7}"/>
              </a:ext>
            </a:extLst>
          </p:cNvPr>
          <p:cNvSpPr>
            <a:spLocks noGrp="1"/>
          </p:cNvSpPr>
          <p:nvPr>
            <p:ph type="title"/>
          </p:nvPr>
        </p:nvSpPr>
        <p:spPr>
          <a:xfrm>
            <a:off x="6739128" y="638089"/>
            <a:ext cx="4818888" cy="1476801"/>
          </a:xfrm>
        </p:spPr>
        <p:txBody>
          <a:bodyPr anchor="b">
            <a:normAutofit/>
          </a:bodyPr>
          <a:lstStyle/>
          <a:p>
            <a:r>
              <a:rPr lang="en-US" b="1" dirty="0">
                <a:latin typeface="Times New Roman" panose="02020603050405020304" pitchFamily="18" charset="0"/>
                <a:cs typeface="Times New Roman" panose="02020603050405020304" pitchFamily="18" charset="0"/>
              </a:rPr>
              <a:t>Example 02</a:t>
            </a:r>
          </a:p>
        </p:txBody>
      </p:sp>
      <p:pic>
        <p:nvPicPr>
          <p:cNvPr id="8" name="Picture 7" descr="Understanding Production Possibility Curves | PDF | Business Economics |  Trade">
            <a:extLst>
              <a:ext uri="{FF2B5EF4-FFF2-40B4-BE49-F238E27FC236}">
                <a16:creationId xmlns:a16="http://schemas.microsoft.com/office/drawing/2014/main" id="{0C322E53-E054-0D84-4985-DAD9B05C6B58}"/>
              </a:ext>
            </a:extLst>
          </p:cNvPr>
          <p:cNvPicPr>
            <a:picLocks noChangeAspect="1"/>
          </p:cNvPicPr>
          <p:nvPr/>
        </p:nvPicPr>
        <p:blipFill>
          <a:blip r:embed="rId2"/>
          <a:srcRect l="6544" t="47136" r="6015" b="8815"/>
          <a:stretch>
            <a:fillRect/>
          </a:stretch>
        </p:blipFill>
        <p:spPr>
          <a:xfrm>
            <a:off x="0" y="2114890"/>
            <a:ext cx="5458968" cy="3666656"/>
          </a:xfrm>
          <a:prstGeom prst="rect">
            <a:avLst/>
          </a:prstGeom>
        </p:spPr>
      </p:pic>
      <p:sp>
        <p:nvSpPr>
          <p:cNvPr id="34"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Content Placeholder 5">
            <a:extLst>
              <a:ext uri="{FF2B5EF4-FFF2-40B4-BE49-F238E27FC236}">
                <a16:creationId xmlns:a16="http://schemas.microsoft.com/office/drawing/2014/main" id="{26FBF1A3-7198-FD03-668F-B2BD7A34B0CC}"/>
              </a:ext>
            </a:extLst>
          </p:cNvPr>
          <p:cNvGraphicFramePr/>
          <p:nvPr>
            <p:extLst>
              <p:ext uri="{D42A27DB-BD31-4B8C-83A1-F6EECF244321}">
                <p14:modId xmlns:p14="http://schemas.microsoft.com/office/powerpoint/2010/main" val="2925822572"/>
              </p:ext>
            </p:extLst>
          </p:nvPr>
        </p:nvGraphicFramePr>
        <p:xfrm>
          <a:off x="6025650" y="2480967"/>
          <a:ext cx="5599668" cy="4010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4664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F7E22B-3503-654A-374D-C591DA5D9447}"/>
              </a:ext>
            </a:extLst>
          </p:cNvPr>
          <p:cNvSpPr>
            <a:spLocks noGrp="1"/>
          </p:cNvSpPr>
          <p:nvPr>
            <p:ph type="title"/>
          </p:nvPr>
        </p:nvSpPr>
        <p:spPr>
          <a:xfrm>
            <a:off x="6739128" y="638089"/>
            <a:ext cx="4818888" cy="1476801"/>
          </a:xfrm>
        </p:spPr>
        <p:txBody>
          <a:bodyPr anchor="b">
            <a:normAutofit/>
          </a:bodyPr>
          <a:lstStyle/>
          <a:p>
            <a:r>
              <a:rPr lang="en-US" sz="4000" b="1" dirty="0">
                <a:latin typeface="Times New Roman" panose="02020603050405020304" pitchFamily="18" charset="0"/>
                <a:cs typeface="Times New Roman" panose="02020603050405020304" pitchFamily="18" charset="0"/>
              </a:rPr>
              <a:t>Efficient Production</a:t>
            </a:r>
          </a:p>
        </p:txBody>
      </p:sp>
      <p:pic>
        <p:nvPicPr>
          <p:cNvPr id="15" name="Picture 14" descr="Education resources for teachers, schools &amp; students | EzyEducation">
            <a:extLst>
              <a:ext uri="{FF2B5EF4-FFF2-40B4-BE49-F238E27FC236}">
                <a16:creationId xmlns:a16="http://schemas.microsoft.com/office/drawing/2014/main" id="{F81099D7-F738-3C25-0168-73F4E16DA831}"/>
              </a:ext>
            </a:extLst>
          </p:cNvPr>
          <p:cNvPicPr>
            <a:picLocks noChangeAspect="1"/>
          </p:cNvPicPr>
          <p:nvPr/>
        </p:nvPicPr>
        <p:blipFill>
          <a:blip r:embed="rId2"/>
          <a:srcRect l="33445" t="23787" r="33000"/>
          <a:stretch>
            <a:fillRect/>
          </a:stretch>
        </p:blipFill>
        <p:spPr>
          <a:xfrm>
            <a:off x="630936" y="964722"/>
            <a:ext cx="5458968" cy="4928556"/>
          </a:xfrm>
          <a:prstGeom prst="rect">
            <a:avLst/>
          </a:prstGeom>
        </p:spPr>
      </p:pic>
      <p:sp>
        <p:nvSpPr>
          <p:cNvPr id="22"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46E8F7D-8CEC-5C02-4234-76D623AA7FFB}"/>
              </a:ext>
            </a:extLst>
          </p:cNvPr>
          <p:cNvSpPr>
            <a:spLocks noGrp="1"/>
          </p:cNvSpPr>
          <p:nvPr>
            <p:ph idx="1"/>
          </p:nvPr>
        </p:nvSpPr>
        <p:spPr>
          <a:xfrm>
            <a:off x="6739128" y="2664886"/>
            <a:ext cx="4818888" cy="3550789"/>
          </a:xfrm>
        </p:spPr>
        <p:txBody>
          <a:bodyPr anchor="t">
            <a:normAutofit fontScale="85000" lnSpcReduction="20000"/>
          </a:bodyPr>
          <a:lstStyle/>
          <a:p>
            <a:pPr algn="just">
              <a:lnSpc>
                <a:spcPct val="150000"/>
              </a:lnSpc>
            </a:pPr>
            <a:r>
              <a:rPr lang="en-US" sz="2200" kern="0" dirty="0">
                <a:latin typeface="Times New Roman" panose="02020603050405020304" pitchFamily="18" charset="0"/>
                <a:cs typeface="Times New Roman" panose="02020603050405020304" pitchFamily="18" charset="0"/>
              </a:rPr>
              <a:t>Efficient production means that all resources are being fully employed to produce the most goods and services possible.</a:t>
            </a:r>
          </a:p>
          <a:p>
            <a:pPr algn="just">
              <a:lnSpc>
                <a:spcPct val="150000"/>
              </a:lnSpc>
            </a:pPr>
            <a:r>
              <a:rPr lang="en-US" sz="2200" dirty="0">
                <a:latin typeface="Times New Roman" panose="02020603050405020304" pitchFamily="18" charset="0"/>
                <a:cs typeface="Times New Roman" panose="02020603050405020304" pitchFamily="18" charset="0"/>
              </a:rPr>
              <a:t>Points inside the curve represent underemployment or unemployment</a:t>
            </a:r>
            <a:endParaRPr lang="en-US" sz="2200" kern="0" dirty="0">
              <a:latin typeface="Times New Roman" panose="02020603050405020304" pitchFamily="18" charset="0"/>
              <a:cs typeface="Times New Roman" panose="02020603050405020304" pitchFamily="18" charset="0"/>
            </a:endParaRPr>
          </a:p>
          <a:p>
            <a:pPr algn="just">
              <a:lnSpc>
                <a:spcPct val="150000"/>
              </a:lnSpc>
            </a:pPr>
            <a:r>
              <a:rPr lang="en-US" sz="2200" kern="0" dirty="0">
                <a:latin typeface="Times New Roman" panose="02020603050405020304" pitchFamily="18" charset="0"/>
                <a:cs typeface="Times New Roman" panose="02020603050405020304" pitchFamily="18" charset="0"/>
              </a:rPr>
              <a:t>Therefore, it is impossible to produce more of one item without producing less of the other.</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405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3C75A0-E942-3AD8-424E-C3A898277877}"/>
              </a:ext>
            </a:extLst>
          </p:cNvPr>
          <p:cNvSpPr>
            <a:spLocks noGrp="1"/>
          </p:cNvSpPr>
          <p:nvPr>
            <p:ph type="title"/>
          </p:nvPr>
        </p:nvSpPr>
        <p:spPr>
          <a:xfrm>
            <a:off x="6739128" y="638089"/>
            <a:ext cx="5137912" cy="1476801"/>
          </a:xfrm>
        </p:spPr>
        <p:txBody>
          <a:bodyPr anchor="b">
            <a:normAutofit/>
          </a:bodyPr>
          <a:lstStyle/>
          <a:p>
            <a:r>
              <a:rPr lang="en-US" sz="4000" b="1" dirty="0">
                <a:latin typeface="Times New Roman" panose="02020603050405020304" pitchFamily="18" charset="0"/>
                <a:cs typeface="Times New Roman" panose="02020603050405020304" pitchFamily="18" charset="0"/>
              </a:rPr>
              <a:t>Inefficient Production</a:t>
            </a:r>
          </a:p>
        </p:txBody>
      </p:sp>
      <p:pic>
        <p:nvPicPr>
          <p:cNvPr id="7" name="Picture 6" descr="Education resources for teachers, schools &amp; students | EzyEducation">
            <a:extLst>
              <a:ext uri="{FF2B5EF4-FFF2-40B4-BE49-F238E27FC236}">
                <a16:creationId xmlns:a16="http://schemas.microsoft.com/office/drawing/2014/main" id="{DBE3B55B-09D2-E699-A788-ED7D0EC8B16C}"/>
              </a:ext>
            </a:extLst>
          </p:cNvPr>
          <p:cNvPicPr>
            <a:picLocks noChangeAspect="1"/>
          </p:cNvPicPr>
          <p:nvPr/>
        </p:nvPicPr>
        <p:blipFill>
          <a:blip r:embed="rId2"/>
          <a:srcRect t="24694" r="66667"/>
          <a:stretch>
            <a:fillRect/>
          </a:stretch>
        </p:blipFill>
        <p:spPr>
          <a:xfrm>
            <a:off x="630936" y="977832"/>
            <a:ext cx="5458968" cy="4902336"/>
          </a:xfrm>
          <a:prstGeom prst="rect">
            <a:avLst/>
          </a:prstGeom>
        </p:spPr>
      </p:pic>
      <p:sp>
        <p:nvSpPr>
          <p:cNvPr id="14"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C6A85B06-C929-C83F-9B14-C6409C63200F}"/>
              </a:ext>
            </a:extLst>
          </p:cNvPr>
          <p:cNvSpPr>
            <a:spLocks noGrp="1"/>
          </p:cNvSpPr>
          <p:nvPr>
            <p:ph idx="1"/>
          </p:nvPr>
        </p:nvSpPr>
        <p:spPr>
          <a:xfrm>
            <a:off x="6739128" y="2664886"/>
            <a:ext cx="4818888" cy="3550789"/>
          </a:xfrm>
        </p:spPr>
        <p:txBody>
          <a:bodyPr anchor="t">
            <a:normAutofit/>
          </a:bodyPr>
          <a:lstStyle/>
          <a:p>
            <a:pPr algn="just">
              <a:lnSpc>
                <a:spcPct val="150000"/>
              </a:lnSpc>
            </a:pPr>
            <a:r>
              <a:rPr lang="en-US" sz="2200" dirty="0">
                <a:latin typeface="Times New Roman" panose="02020603050405020304" pitchFamily="18" charset="0"/>
                <a:cs typeface="Times New Roman" panose="02020603050405020304" pitchFamily="18" charset="0"/>
              </a:rPr>
              <a:t>Inefficient production means not all resources are being fully employed – it is still possible to increase the production of both goods.</a:t>
            </a:r>
          </a:p>
          <a:p>
            <a:pPr algn="just">
              <a:lnSpc>
                <a:spcPct val="150000"/>
              </a:lnSpc>
            </a:pPr>
            <a:r>
              <a:rPr lang="en-US" altLang="en-US" sz="2200" dirty="0">
                <a:latin typeface="Times New Roman" panose="02020603050405020304" pitchFamily="18" charset="0"/>
                <a:cs typeface="Times New Roman" panose="02020603050405020304" pitchFamily="18" charset="0"/>
              </a:rPr>
              <a:t>This could occur during a recession or depression, or in a developing country.</a:t>
            </a:r>
          </a:p>
          <a:p>
            <a:endParaRPr lang="en-US" sz="2200" dirty="0"/>
          </a:p>
        </p:txBody>
      </p:sp>
    </p:spTree>
    <p:extLst>
      <p:ext uri="{BB962C8B-B14F-4D97-AF65-F5344CB8AC3E}">
        <p14:creationId xmlns:p14="http://schemas.microsoft.com/office/powerpoint/2010/main" val="2897285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61738-33E5-00C4-0B22-7787A87DE0E4}"/>
              </a:ext>
            </a:extLst>
          </p:cNvPr>
          <p:cNvSpPr>
            <a:spLocks noGrp="1"/>
          </p:cNvSpPr>
          <p:nvPr>
            <p:ph type="title"/>
          </p:nvPr>
        </p:nvSpPr>
        <p:spPr>
          <a:xfrm>
            <a:off x="6739128" y="638089"/>
            <a:ext cx="4818888" cy="1476801"/>
          </a:xfrm>
        </p:spPr>
        <p:txBody>
          <a:bodyPr anchor="b">
            <a:normAutofit/>
          </a:bodyPr>
          <a:lstStyle/>
          <a:p>
            <a:r>
              <a:rPr lang="en-US" sz="4000" b="1" dirty="0">
                <a:latin typeface="Times New Roman" panose="02020603050405020304" pitchFamily="18" charset="0"/>
                <a:cs typeface="Times New Roman" panose="02020603050405020304" pitchFamily="18" charset="0"/>
              </a:rPr>
              <a:t>Unattainable Points</a:t>
            </a:r>
          </a:p>
        </p:txBody>
      </p:sp>
      <p:pic>
        <p:nvPicPr>
          <p:cNvPr id="5" name="Picture 4" descr="Education resources for teachers, schools &amp; students | EzyEducation">
            <a:extLst>
              <a:ext uri="{FF2B5EF4-FFF2-40B4-BE49-F238E27FC236}">
                <a16:creationId xmlns:a16="http://schemas.microsoft.com/office/drawing/2014/main" id="{2E4D8F15-F227-480D-7F78-965714AEFE10}"/>
              </a:ext>
            </a:extLst>
          </p:cNvPr>
          <p:cNvPicPr>
            <a:picLocks noChangeAspect="1"/>
          </p:cNvPicPr>
          <p:nvPr/>
        </p:nvPicPr>
        <p:blipFill>
          <a:blip r:embed="rId2"/>
          <a:srcRect l="66666" t="24135" r="1" b="560"/>
          <a:stretch>
            <a:fillRect/>
          </a:stretch>
        </p:blipFill>
        <p:spPr>
          <a:xfrm>
            <a:off x="630936" y="977866"/>
            <a:ext cx="5458968" cy="4902267"/>
          </a:xfrm>
          <a:prstGeom prst="rect">
            <a:avLst/>
          </a:prstGeom>
        </p:spPr>
      </p:pic>
      <p:sp>
        <p:nvSpPr>
          <p:cNvPr id="12"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A441E43-0105-A312-4873-F7DD328E328E}"/>
              </a:ext>
            </a:extLst>
          </p:cNvPr>
          <p:cNvSpPr>
            <a:spLocks noGrp="1"/>
          </p:cNvSpPr>
          <p:nvPr>
            <p:ph idx="1"/>
          </p:nvPr>
        </p:nvSpPr>
        <p:spPr>
          <a:xfrm>
            <a:off x="6739128" y="2664886"/>
            <a:ext cx="4818888" cy="3550789"/>
          </a:xfrm>
        </p:spPr>
        <p:txBody>
          <a:bodyPr anchor="t">
            <a:normAutofit/>
          </a:bodyPr>
          <a:lstStyle/>
          <a:p>
            <a:pPr algn="just">
              <a:lnSpc>
                <a:spcPct val="150000"/>
              </a:lnSpc>
            </a:pPr>
            <a:r>
              <a:rPr lang="en-US" sz="2200" dirty="0">
                <a:latin typeface="Times New Roman" panose="02020603050405020304" pitchFamily="18" charset="0"/>
                <a:cs typeface="Times New Roman" panose="02020603050405020304" pitchFamily="18" charset="0"/>
              </a:rPr>
              <a:t>Any point outside the PP curve is impossible. More of both goods cannot be produced with the current resources</a:t>
            </a:r>
          </a:p>
        </p:txBody>
      </p:sp>
    </p:spTree>
    <p:extLst>
      <p:ext uri="{BB962C8B-B14F-4D97-AF65-F5344CB8AC3E}">
        <p14:creationId xmlns:p14="http://schemas.microsoft.com/office/powerpoint/2010/main" val="1322271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Production possibility frontier shows trade-offs">
            <a:extLst>
              <a:ext uri="{FF2B5EF4-FFF2-40B4-BE49-F238E27FC236}">
                <a16:creationId xmlns:a16="http://schemas.microsoft.com/office/drawing/2014/main" id="{5AF49415-2FCC-3B85-5C04-3C654280712D}"/>
              </a:ext>
            </a:extLst>
          </p:cNvPr>
          <p:cNvPicPr>
            <a:picLocks noChangeAspect="1"/>
          </p:cNvPicPr>
          <p:nvPr/>
        </p:nvPicPr>
        <p:blipFill>
          <a:blip r:embed="rId2"/>
          <a:stretch>
            <a:fillRect/>
          </a:stretch>
        </p:blipFill>
        <p:spPr>
          <a:xfrm>
            <a:off x="3310467" y="643467"/>
            <a:ext cx="5571065" cy="5571065"/>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8834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descr="Production Possibility Frontier (PPF) | Meaning, Graph &amp; Examples">
            <a:extLst>
              <a:ext uri="{FF2B5EF4-FFF2-40B4-BE49-F238E27FC236}">
                <a16:creationId xmlns:a16="http://schemas.microsoft.com/office/drawing/2014/main" id="{297B9536-93A0-DF1F-7927-F877EA0E0741}"/>
              </a:ext>
            </a:extLst>
          </p:cNvPr>
          <p:cNvPicPr>
            <a:picLocks noChangeAspect="1"/>
          </p:cNvPicPr>
          <p:nvPr/>
        </p:nvPicPr>
        <p:blipFill>
          <a:blip r:embed="rId2"/>
          <a:stretch>
            <a:fillRect/>
          </a:stretch>
        </p:blipFill>
        <p:spPr>
          <a:xfrm>
            <a:off x="2021840" y="681037"/>
            <a:ext cx="7512775" cy="5843270"/>
          </a:xfrm>
          <a:prstGeom prst="rect">
            <a:avLst/>
          </a:prstGeom>
        </p:spPr>
      </p:pic>
    </p:spTree>
    <p:extLst>
      <p:ext uri="{BB962C8B-B14F-4D97-AF65-F5344CB8AC3E}">
        <p14:creationId xmlns:p14="http://schemas.microsoft.com/office/powerpoint/2010/main" val="1285098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6B319-FFC2-22B5-9716-ABDE1333E2A9}"/>
              </a:ext>
            </a:extLst>
          </p:cNvPr>
          <p:cNvSpPr>
            <a:spLocks noGrp="1"/>
          </p:cNvSpPr>
          <p:nvPr>
            <p:ph type="title"/>
          </p:nvPr>
        </p:nvSpPr>
        <p:spPr/>
        <p:txBody>
          <a:bodyPr>
            <a:normAutofit fontScale="90000"/>
          </a:bodyPr>
          <a:lstStyle/>
          <a:p>
            <a:r>
              <a:rPr lang="en-US" altLang="en-US" b="1" kern="0" dirty="0">
                <a:latin typeface="Times New Roman" panose="02020603050405020304" pitchFamily="18" charset="0"/>
                <a:cs typeface="Times New Roman" panose="02020603050405020304" pitchFamily="18" charset="0"/>
              </a:rPr>
              <a:t>The PPF can be used to show tradeoffs/choices.</a:t>
            </a:r>
            <a:br>
              <a:rPr lang="en-US" altLang="en-US" b="1" kern="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5E2959-E81E-5DA5-EB29-C4C060AD3E98}"/>
              </a:ext>
            </a:extLst>
          </p:cNvPr>
          <p:cNvSpPr>
            <a:spLocks noGrp="1"/>
          </p:cNvSpPr>
          <p:nvPr>
            <p:ph idx="1"/>
          </p:nvPr>
        </p:nvSpPr>
        <p:spPr>
          <a:xfrm>
            <a:off x="990555" y="2815093"/>
            <a:ext cx="4414520" cy="2437156"/>
          </a:xfrm>
        </p:spPr>
        <p:txBody>
          <a:bodyPr/>
          <a:lstStyle/>
          <a:p>
            <a:pPr>
              <a:lnSpc>
                <a:spcPct val="150000"/>
              </a:lnSpc>
            </a:pPr>
            <a:r>
              <a:rPr lang="en-US" b="1" kern="0" dirty="0">
                <a:solidFill>
                  <a:srgbClr val="FF0000"/>
                </a:solidFill>
                <a:latin typeface="Times New Roman" panose="02020603050405020304" pitchFamily="18" charset="0"/>
                <a:cs typeface="Times New Roman" panose="02020603050405020304" pitchFamily="18" charset="0"/>
              </a:rPr>
              <a:t>Any two or more points on the frontier represent tradeoffs.</a:t>
            </a:r>
          </a:p>
          <a:p>
            <a:endParaRPr lang="en-US"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ED8EFDE9-9512-CD30-FF10-93E4D8829638}"/>
              </a:ext>
            </a:extLst>
          </p:cNvPr>
          <p:cNvGrpSpPr/>
          <p:nvPr/>
        </p:nvGrpSpPr>
        <p:grpSpPr>
          <a:xfrm>
            <a:off x="5510649" y="2815093"/>
            <a:ext cx="5085135" cy="4184797"/>
            <a:chOff x="686401" y="2673203"/>
            <a:chExt cx="5085135" cy="4184797"/>
          </a:xfrm>
        </p:grpSpPr>
        <p:grpSp>
          <p:nvGrpSpPr>
            <p:cNvPr id="5" name="Group 4">
              <a:extLst>
                <a:ext uri="{FF2B5EF4-FFF2-40B4-BE49-F238E27FC236}">
                  <a16:creationId xmlns:a16="http://schemas.microsoft.com/office/drawing/2014/main" id="{0DC6FE22-DAC4-AC47-900E-EBDA8E6B36D5}"/>
                </a:ext>
              </a:extLst>
            </p:cNvPr>
            <p:cNvGrpSpPr/>
            <p:nvPr/>
          </p:nvGrpSpPr>
          <p:grpSpPr>
            <a:xfrm>
              <a:off x="686401" y="2673203"/>
              <a:ext cx="5085135" cy="4184797"/>
              <a:chOff x="273446" y="2477729"/>
              <a:chExt cx="5085135" cy="4184797"/>
            </a:xfrm>
          </p:grpSpPr>
          <p:grpSp>
            <p:nvGrpSpPr>
              <p:cNvPr id="8" name="Group 7">
                <a:extLst>
                  <a:ext uri="{FF2B5EF4-FFF2-40B4-BE49-F238E27FC236}">
                    <a16:creationId xmlns:a16="http://schemas.microsoft.com/office/drawing/2014/main" id="{40364E2C-4361-1600-3CC7-B0FFC24523A2}"/>
                  </a:ext>
                </a:extLst>
              </p:cNvPr>
              <p:cNvGrpSpPr/>
              <p:nvPr/>
            </p:nvGrpSpPr>
            <p:grpSpPr>
              <a:xfrm>
                <a:off x="1917290" y="2477729"/>
                <a:ext cx="3441291" cy="2713703"/>
                <a:chOff x="1917290" y="2477729"/>
                <a:chExt cx="3441291" cy="2713703"/>
              </a:xfrm>
            </p:grpSpPr>
            <p:cxnSp>
              <p:nvCxnSpPr>
                <p:cNvPr id="10" name="Straight Arrow Connector 9">
                  <a:extLst>
                    <a:ext uri="{FF2B5EF4-FFF2-40B4-BE49-F238E27FC236}">
                      <a16:creationId xmlns:a16="http://schemas.microsoft.com/office/drawing/2014/main" id="{9BCA11C3-9332-1F41-22CA-271AD4C82F9A}"/>
                    </a:ext>
                  </a:extLst>
                </p:cNvPr>
                <p:cNvCxnSpPr/>
                <p:nvPr/>
              </p:nvCxnSpPr>
              <p:spPr>
                <a:xfrm>
                  <a:off x="1927123" y="5191432"/>
                  <a:ext cx="343145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5DE5817-A8FE-9656-3747-542A8FD2D434}"/>
                    </a:ext>
                  </a:extLst>
                </p:cNvPr>
                <p:cNvCxnSpPr/>
                <p:nvPr/>
              </p:nvCxnSpPr>
              <p:spPr>
                <a:xfrm flipV="1">
                  <a:off x="1917290" y="2477729"/>
                  <a:ext cx="0" cy="267437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9" name="Arc 8">
                <a:extLst>
                  <a:ext uri="{FF2B5EF4-FFF2-40B4-BE49-F238E27FC236}">
                    <a16:creationId xmlns:a16="http://schemas.microsoft.com/office/drawing/2014/main" id="{2E3ED0E3-3365-49D2-93A2-F4FC509F663C}"/>
                  </a:ext>
                </a:extLst>
              </p:cNvPr>
              <p:cNvSpPr/>
              <p:nvPr/>
            </p:nvSpPr>
            <p:spPr>
              <a:xfrm rot="2466662">
                <a:off x="273446" y="3183408"/>
                <a:ext cx="3451117" cy="3479118"/>
              </a:xfrm>
              <a:prstGeom prst="arc">
                <a:avLst>
                  <a:gd name="adj1" fmla="val 13584836"/>
                  <a:gd name="adj2" fmla="val 19655986"/>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38B253EF-FB8C-11E0-4E10-821075789E87}"/>
                </a:ext>
              </a:extLst>
            </p:cNvPr>
            <p:cNvSpPr txBox="1"/>
            <p:nvPr/>
          </p:nvSpPr>
          <p:spPr>
            <a:xfrm>
              <a:off x="5153262" y="5521844"/>
              <a:ext cx="5727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Y</a:t>
              </a:r>
            </a:p>
          </p:txBody>
        </p:sp>
        <p:sp>
          <p:nvSpPr>
            <p:cNvPr id="7" name="TextBox 6">
              <a:extLst>
                <a:ext uri="{FF2B5EF4-FFF2-40B4-BE49-F238E27FC236}">
                  <a16:creationId xmlns:a16="http://schemas.microsoft.com/office/drawing/2014/main" id="{89E46537-5B6C-DAF8-D435-731EC8BEA184}"/>
                </a:ext>
              </a:extLst>
            </p:cNvPr>
            <p:cNvSpPr txBox="1"/>
            <p:nvPr/>
          </p:nvSpPr>
          <p:spPr>
            <a:xfrm>
              <a:off x="1413335" y="2943130"/>
              <a:ext cx="5727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X</a:t>
              </a:r>
            </a:p>
          </p:txBody>
        </p:sp>
      </p:grpSp>
      <p:sp>
        <p:nvSpPr>
          <p:cNvPr id="12" name="Oval 11">
            <a:extLst>
              <a:ext uri="{FF2B5EF4-FFF2-40B4-BE49-F238E27FC236}">
                <a16:creationId xmlns:a16="http://schemas.microsoft.com/office/drawing/2014/main" id="{DF6C28A5-B0DA-6935-411F-684FD6FDC902}"/>
              </a:ext>
            </a:extLst>
          </p:cNvPr>
          <p:cNvSpPr/>
          <p:nvPr/>
        </p:nvSpPr>
        <p:spPr>
          <a:xfrm>
            <a:off x="7780326" y="3479676"/>
            <a:ext cx="283773" cy="2601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4" name="Oval 23">
            <a:extLst>
              <a:ext uri="{FF2B5EF4-FFF2-40B4-BE49-F238E27FC236}">
                <a16:creationId xmlns:a16="http://schemas.microsoft.com/office/drawing/2014/main" id="{5B8D1320-5D7E-3C25-5408-22D1C7A32C27}"/>
              </a:ext>
            </a:extLst>
          </p:cNvPr>
          <p:cNvSpPr/>
          <p:nvPr/>
        </p:nvSpPr>
        <p:spPr>
          <a:xfrm>
            <a:off x="8738168" y="4555799"/>
            <a:ext cx="283773" cy="2601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9513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C0A95-54CD-6EC1-8157-A7DB17D72796}"/>
              </a:ext>
            </a:extLst>
          </p:cNvPr>
          <p:cNvSpPr>
            <a:spLocks noGrp="1"/>
          </p:cNvSpPr>
          <p:nvPr>
            <p:ph type="title"/>
          </p:nvPr>
        </p:nvSpPr>
        <p:spPr/>
        <p:txBody>
          <a:bodyPr>
            <a:normAutofit fontScale="90000"/>
          </a:bodyPr>
          <a:lstStyle/>
          <a:p>
            <a:r>
              <a:rPr lang="en-US" b="1" kern="0" dirty="0">
                <a:solidFill>
                  <a:srgbClr val="FF0000"/>
                </a:solidFill>
                <a:latin typeface="Times New Roman" panose="02020603050405020304" pitchFamily="18" charset="0"/>
                <a:cs typeface="Times New Roman" panose="02020603050405020304" pitchFamily="18" charset="0"/>
              </a:rPr>
              <a:t>The PPF can be used to show the opportunity cost of choosing one alternative over the other.</a:t>
            </a:r>
            <a:br>
              <a:rPr lang="en-US" b="1" kern="0" dirty="0">
                <a:solidFill>
                  <a:srgbClr val="FF0000"/>
                </a:solidFill>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724E65C-B285-AF52-6F85-253916B30482}"/>
              </a:ext>
            </a:extLst>
          </p:cNvPr>
          <p:cNvSpPr>
            <a:spLocks noGrp="1"/>
          </p:cNvSpPr>
          <p:nvPr>
            <p:ph idx="1"/>
          </p:nvPr>
        </p:nvSpPr>
        <p:spPr/>
        <p:txBody>
          <a:bodyPr/>
          <a:lstStyle/>
          <a:p>
            <a:endParaRPr lang="en-US" b="1" kern="0" dirty="0">
              <a:solidFill>
                <a:srgbClr val="FF0000"/>
              </a:solidFill>
              <a:latin typeface="Times New Roman" panose="02020603050405020304" pitchFamily="18" charset="0"/>
              <a:cs typeface="Times New Roman" panose="02020603050405020304" pitchFamily="18" charset="0"/>
            </a:endParaRPr>
          </a:p>
          <a:p>
            <a:endParaRPr lang="en-US" dirty="0"/>
          </a:p>
        </p:txBody>
      </p:sp>
      <p:pic>
        <p:nvPicPr>
          <p:cNvPr id="7" name="Picture 6">
            <a:extLst>
              <a:ext uri="{FF2B5EF4-FFF2-40B4-BE49-F238E27FC236}">
                <a16:creationId xmlns:a16="http://schemas.microsoft.com/office/drawing/2014/main" id="{D443368B-C480-91AD-E02C-F823AEF46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6787" y="1690688"/>
            <a:ext cx="8032954" cy="4381612"/>
          </a:xfrm>
          <a:prstGeom prst="rect">
            <a:avLst/>
          </a:prstGeom>
        </p:spPr>
      </p:pic>
    </p:spTree>
    <p:extLst>
      <p:ext uri="{BB962C8B-B14F-4D97-AF65-F5344CB8AC3E}">
        <p14:creationId xmlns:p14="http://schemas.microsoft.com/office/powerpoint/2010/main" val="2564073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a:extLst>
              <a:ext uri="{FF2B5EF4-FFF2-40B4-BE49-F238E27FC236}">
                <a16:creationId xmlns:a16="http://schemas.microsoft.com/office/drawing/2014/main" id="{EF3BE682-025B-917A-549C-C0F0F0F6FF3F}"/>
              </a:ext>
            </a:extLst>
          </p:cNvPr>
          <p:cNvSpPr>
            <a:spLocks noChangeArrowheads="1"/>
          </p:cNvSpPr>
          <p:nvPr/>
        </p:nvSpPr>
        <p:spPr bwMode="auto">
          <a:xfrm>
            <a:off x="4140200" y="1016000"/>
            <a:ext cx="6223000" cy="495300"/>
          </a:xfrm>
          <a:prstGeom prst="rect">
            <a:avLst/>
          </a:prstGeom>
          <a:gradFill rotWithShape="0">
            <a:gsLst>
              <a:gs pos="0">
                <a:srgbClr val="0033CC"/>
              </a:gs>
              <a:gs pos="100000">
                <a:srgbClr val="002287"/>
              </a:gs>
            </a:gsLst>
            <a:lin ang="5400000" scaled="1"/>
          </a:gra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p>
        </p:txBody>
      </p:sp>
      <p:grpSp>
        <p:nvGrpSpPr>
          <p:cNvPr id="44035" name="Group 5">
            <a:extLst>
              <a:ext uri="{FF2B5EF4-FFF2-40B4-BE49-F238E27FC236}">
                <a16:creationId xmlns:a16="http://schemas.microsoft.com/office/drawing/2014/main" id="{9870C2AA-DC2A-25FB-A46C-FEB68AA43B7E}"/>
              </a:ext>
            </a:extLst>
          </p:cNvPr>
          <p:cNvGrpSpPr>
            <a:grpSpLocks/>
          </p:cNvGrpSpPr>
          <p:nvPr/>
        </p:nvGrpSpPr>
        <p:grpSpPr bwMode="auto">
          <a:xfrm>
            <a:off x="4144964" y="1019175"/>
            <a:ext cx="6213475" cy="1379538"/>
            <a:chOff x="-3" y="-3"/>
            <a:chExt cx="3466" cy="1389"/>
          </a:xfrm>
        </p:grpSpPr>
        <p:grpSp>
          <p:nvGrpSpPr>
            <p:cNvPr id="44044" name="Group 6">
              <a:extLst>
                <a:ext uri="{FF2B5EF4-FFF2-40B4-BE49-F238E27FC236}">
                  <a16:creationId xmlns:a16="http://schemas.microsoft.com/office/drawing/2014/main" id="{77DC9FFE-9797-BF26-EE41-AF17CAF05825}"/>
                </a:ext>
              </a:extLst>
            </p:cNvPr>
            <p:cNvGrpSpPr>
              <a:grpSpLocks/>
            </p:cNvGrpSpPr>
            <p:nvPr/>
          </p:nvGrpSpPr>
          <p:grpSpPr bwMode="auto">
            <a:xfrm>
              <a:off x="0" y="0"/>
              <a:ext cx="3460" cy="1383"/>
              <a:chOff x="0" y="0"/>
              <a:chExt cx="3460" cy="1383"/>
            </a:xfrm>
          </p:grpSpPr>
          <p:grpSp>
            <p:nvGrpSpPr>
              <p:cNvPr id="44046" name="Group 7">
                <a:extLst>
                  <a:ext uri="{FF2B5EF4-FFF2-40B4-BE49-F238E27FC236}">
                    <a16:creationId xmlns:a16="http://schemas.microsoft.com/office/drawing/2014/main" id="{BCC94D17-3A32-6270-CD9A-64F2F6EB19F0}"/>
                  </a:ext>
                </a:extLst>
              </p:cNvPr>
              <p:cNvGrpSpPr>
                <a:grpSpLocks/>
              </p:cNvGrpSpPr>
              <p:nvPr/>
            </p:nvGrpSpPr>
            <p:grpSpPr bwMode="auto">
              <a:xfrm>
                <a:off x="0" y="0"/>
                <a:ext cx="580" cy="461"/>
                <a:chOff x="0" y="0"/>
                <a:chExt cx="580" cy="461"/>
              </a:xfrm>
            </p:grpSpPr>
            <p:sp>
              <p:nvSpPr>
                <p:cNvPr id="44098" name="Rectangle 8">
                  <a:extLst>
                    <a:ext uri="{FF2B5EF4-FFF2-40B4-BE49-F238E27FC236}">
                      <a16:creationId xmlns:a16="http://schemas.microsoft.com/office/drawing/2014/main" id="{39B90137-9A18-0E5E-67FD-AEDF1061B5F1}"/>
                    </a:ext>
                  </a:extLst>
                </p:cNvPr>
                <p:cNvSpPr>
                  <a:spLocks noChangeArrowheads="1"/>
                </p:cNvSpPr>
                <p:nvPr/>
              </p:nvSpPr>
              <p:spPr bwMode="auto">
                <a:xfrm>
                  <a:off x="43" y="0"/>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dirty="0">
                      <a:solidFill>
                        <a:schemeClr val="bg1"/>
                      </a:solidFill>
                      <a:cs typeface="Times New Roman" panose="02020603050405020304" pitchFamily="18" charset="0"/>
                    </a:rPr>
                    <a:t>A</a:t>
                  </a:r>
                  <a:endParaRPr kumimoji="1" lang="en-US" altLang="en-US" sz="1800" b="1" dirty="0">
                    <a:solidFill>
                      <a:schemeClr val="bg1"/>
                    </a:solidFill>
                    <a:cs typeface="Times New Roman" panose="02020603050405020304" pitchFamily="18" charset="0"/>
                  </a:endParaRPr>
                </a:p>
                <a:p>
                  <a:pPr algn="ctr">
                    <a:spcBef>
                      <a:spcPct val="0"/>
                    </a:spcBef>
                    <a:buFontTx/>
                    <a:buNone/>
                  </a:pPr>
                  <a:endParaRPr kumimoji="1" lang="en-US" altLang="en-US" sz="3600" b="1" dirty="0">
                    <a:solidFill>
                      <a:schemeClr val="bg1"/>
                    </a:solidFill>
                  </a:endParaRPr>
                </a:p>
              </p:txBody>
            </p:sp>
            <p:sp>
              <p:nvSpPr>
                <p:cNvPr id="44099" name="Rectangle 9">
                  <a:extLst>
                    <a:ext uri="{FF2B5EF4-FFF2-40B4-BE49-F238E27FC236}">
                      <a16:creationId xmlns:a16="http://schemas.microsoft.com/office/drawing/2014/main" id="{70241CCA-6B4D-0694-72DD-8110217CF136}"/>
                    </a:ext>
                  </a:extLst>
                </p:cNvPr>
                <p:cNvSpPr>
                  <a:spLocks noChangeArrowheads="1"/>
                </p:cNvSpPr>
                <p:nvPr/>
              </p:nvSpPr>
              <p:spPr bwMode="auto">
                <a:xfrm>
                  <a:off x="0" y="0"/>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47" name="Group 10">
                <a:extLst>
                  <a:ext uri="{FF2B5EF4-FFF2-40B4-BE49-F238E27FC236}">
                    <a16:creationId xmlns:a16="http://schemas.microsoft.com/office/drawing/2014/main" id="{1A176799-D927-84BE-8795-0A54A900ABE1}"/>
                  </a:ext>
                </a:extLst>
              </p:cNvPr>
              <p:cNvGrpSpPr>
                <a:grpSpLocks/>
              </p:cNvGrpSpPr>
              <p:nvPr/>
            </p:nvGrpSpPr>
            <p:grpSpPr bwMode="auto">
              <a:xfrm>
                <a:off x="580" y="0"/>
                <a:ext cx="580" cy="461"/>
                <a:chOff x="580" y="0"/>
                <a:chExt cx="580" cy="461"/>
              </a:xfrm>
            </p:grpSpPr>
            <p:sp>
              <p:nvSpPr>
                <p:cNvPr id="44096" name="Rectangle 11">
                  <a:extLst>
                    <a:ext uri="{FF2B5EF4-FFF2-40B4-BE49-F238E27FC236}">
                      <a16:creationId xmlns:a16="http://schemas.microsoft.com/office/drawing/2014/main" id="{8A4A554B-995F-B771-6E7B-33867650BC02}"/>
                    </a:ext>
                  </a:extLst>
                </p:cNvPr>
                <p:cNvSpPr>
                  <a:spLocks noChangeArrowheads="1"/>
                </p:cNvSpPr>
                <p:nvPr/>
              </p:nvSpPr>
              <p:spPr bwMode="auto">
                <a:xfrm>
                  <a:off x="623" y="0"/>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solidFill>
                        <a:schemeClr val="bg1"/>
                      </a:solidFill>
                      <a:cs typeface="Times New Roman" panose="02020603050405020304" pitchFamily="18" charset="0"/>
                    </a:rPr>
                    <a:t>B</a:t>
                  </a:r>
                  <a:endParaRPr kumimoji="1" lang="en-US" altLang="en-US" sz="1800" b="1">
                    <a:solidFill>
                      <a:schemeClr val="bg1"/>
                    </a:solidFill>
                    <a:cs typeface="Times New Roman" panose="02020603050405020304" pitchFamily="18" charset="0"/>
                  </a:endParaRPr>
                </a:p>
                <a:p>
                  <a:pPr algn="ctr">
                    <a:spcBef>
                      <a:spcPct val="0"/>
                    </a:spcBef>
                    <a:buFontTx/>
                    <a:buNone/>
                  </a:pPr>
                  <a:endParaRPr kumimoji="1" lang="en-US" altLang="en-US" sz="3600" b="1"/>
                </a:p>
              </p:txBody>
            </p:sp>
            <p:sp>
              <p:nvSpPr>
                <p:cNvPr id="44097" name="Rectangle 12">
                  <a:extLst>
                    <a:ext uri="{FF2B5EF4-FFF2-40B4-BE49-F238E27FC236}">
                      <a16:creationId xmlns:a16="http://schemas.microsoft.com/office/drawing/2014/main" id="{9222F3ED-1AFA-D978-F40D-038695CEBD69}"/>
                    </a:ext>
                  </a:extLst>
                </p:cNvPr>
                <p:cNvSpPr>
                  <a:spLocks noChangeArrowheads="1"/>
                </p:cNvSpPr>
                <p:nvPr/>
              </p:nvSpPr>
              <p:spPr bwMode="auto">
                <a:xfrm>
                  <a:off x="580" y="0"/>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48" name="Group 13">
                <a:extLst>
                  <a:ext uri="{FF2B5EF4-FFF2-40B4-BE49-F238E27FC236}">
                    <a16:creationId xmlns:a16="http://schemas.microsoft.com/office/drawing/2014/main" id="{AC9F9AB2-2BAE-A9B2-B785-F3E96F6C8073}"/>
                  </a:ext>
                </a:extLst>
              </p:cNvPr>
              <p:cNvGrpSpPr>
                <a:grpSpLocks/>
              </p:cNvGrpSpPr>
              <p:nvPr/>
            </p:nvGrpSpPr>
            <p:grpSpPr bwMode="auto">
              <a:xfrm>
                <a:off x="1160" y="0"/>
                <a:ext cx="580" cy="461"/>
                <a:chOff x="1160" y="0"/>
                <a:chExt cx="580" cy="461"/>
              </a:xfrm>
            </p:grpSpPr>
            <p:sp>
              <p:nvSpPr>
                <p:cNvPr id="44094" name="Rectangle 14">
                  <a:extLst>
                    <a:ext uri="{FF2B5EF4-FFF2-40B4-BE49-F238E27FC236}">
                      <a16:creationId xmlns:a16="http://schemas.microsoft.com/office/drawing/2014/main" id="{A802463E-74DA-7406-DA70-A7C0CCA5A937}"/>
                    </a:ext>
                  </a:extLst>
                </p:cNvPr>
                <p:cNvSpPr>
                  <a:spLocks noChangeArrowheads="1"/>
                </p:cNvSpPr>
                <p:nvPr/>
              </p:nvSpPr>
              <p:spPr bwMode="auto">
                <a:xfrm>
                  <a:off x="1203" y="0"/>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solidFill>
                        <a:schemeClr val="bg1"/>
                      </a:solidFill>
                      <a:cs typeface="Times New Roman" panose="02020603050405020304" pitchFamily="18" charset="0"/>
                    </a:rPr>
                    <a:t>C</a:t>
                  </a:r>
                  <a:endParaRPr kumimoji="1" lang="en-US" altLang="en-US" sz="1800" b="1">
                    <a:solidFill>
                      <a:schemeClr val="bg1"/>
                    </a:solidFill>
                    <a:cs typeface="Times New Roman" panose="02020603050405020304" pitchFamily="18" charset="0"/>
                  </a:endParaRPr>
                </a:p>
                <a:p>
                  <a:pPr algn="ctr">
                    <a:spcBef>
                      <a:spcPct val="0"/>
                    </a:spcBef>
                    <a:buFontTx/>
                    <a:buNone/>
                  </a:pPr>
                  <a:endParaRPr kumimoji="1" lang="en-US" altLang="en-US" sz="3600" b="1">
                    <a:solidFill>
                      <a:schemeClr val="bg1"/>
                    </a:solidFill>
                  </a:endParaRPr>
                </a:p>
              </p:txBody>
            </p:sp>
            <p:sp>
              <p:nvSpPr>
                <p:cNvPr id="44095" name="Rectangle 15">
                  <a:extLst>
                    <a:ext uri="{FF2B5EF4-FFF2-40B4-BE49-F238E27FC236}">
                      <a16:creationId xmlns:a16="http://schemas.microsoft.com/office/drawing/2014/main" id="{E0C2A0B1-94EB-0A0C-4EC3-74D307896B04}"/>
                    </a:ext>
                  </a:extLst>
                </p:cNvPr>
                <p:cNvSpPr>
                  <a:spLocks noChangeArrowheads="1"/>
                </p:cNvSpPr>
                <p:nvPr/>
              </p:nvSpPr>
              <p:spPr bwMode="auto">
                <a:xfrm>
                  <a:off x="1160" y="0"/>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49" name="Group 16">
                <a:extLst>
                  <a:ext uri="{FF2B5EF4-FFF2-40B4-BE49-F238E27FC236}">
                    <a16:creationId xmlns:a16="http://schemas.microsoft.com/office/drawing/2014/main" id="{0BF9DEEE-3156-7D32-6D01-A3554274383E}"/>
                  </a:ext>
                </a:extLst>
              </p:cNvPr>
              <p:cNvGrpSpPr>
                <a:grpSpLocks/>
              </p:cNvGrpSpPr>
              <p:nvPr/>
            </p:nvGrpSpPr>
            <p:grpSpPr bwMode="auto">
              <a:xfrm>
                <a:off x="1740" y="0"/>
                <a:ext cx="580" cy="461"/>
                <a:chOff x="1740" y="0"/>
                <a:chExt cx="580" cy="461"/>
              </a:xfrm>
            </p:grpSpPr>
            <p:sp>
              <p:nvSpPr>
                <p:cNvPr id="44092" name="Rectangle 17">
                  <a:extLst>
                    <a:ext uri="{FF2B5EF4-FFF2-40B4-BE49-F238E27FC236}">
                      <a16:creationId xmlns:a16="http://schemas.microsoft.com/office/drawing/2014/main" id="{45807B5D-8264-6867-6A82-A53B8D7E8A60}"/>
                    </a:ext>
                  </a:extLst>
                </p:cNvPr>
                <p:cNvSpPr>
                  <a:spLocks noChangeArrowheads="1"/>
                </p:cNvSpPr>
                <p:nvPr/>
              </p:nvSpPr>
              <p:spPr bwMode="auto">
                <a:xfrm>
                  <a:off x="1783" y="0"/>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solidFill>
                        <a:schemeClr val="bg1"/>
                      </a:solidFill>
                      <a:cs typeface="Times New Roman" panose="02020603050405020304" pitchFamily="18" charset="0"/>
                    </a:rPr>
                    <a:t>D</a:t>
                  </a:r>
                  <a:endParaRPr kumimoji="1" lang="en-US" altLang="en-US" sz="1800" b="1">
                    <a:solidFill>
                      <a:schemeClr val="bg1"/>
                    </a:solidFill>
                    <a:cs typeface="Times New Roman" panose="02020603050405020304" pitchFamily="18" charset="0"/>
                  </a:endParaRPr>
                </a:p>
                <a:p>
                  <a:pPr algn="ctr">
                    <a:spcBef>
                      <a:spcPct val="0"/>
                    </a:spcBef>
                    <a:buFontTx/>
                    <a:buNone/>
                  </a:pPr>
                  <a:endParaRPr kumimoji="1" lang="en-US" altLang="en-US" sz="3600" b="1"/>
                </a:p>
              </p:txBody>
            </p:sp>
            <p:sp>
              <p:nvSpPr>
                <p:cNvPr id="44093" name="Rectangle 18">
                  <a:extLst>
                    <a:ext uri="{FF2B5EF4-FFF2-40B4-BE49-F238E27FC236}">
                      <a16:creationId xmlns:a16="http://schemas.microsoft.com/office/drawing/2014/main" id="{90173AD9-2191-FAC2-468C-95B00A50E3B6}"/>
                    </a:ext>
                  </a:extLst>
                </p:cNvPr>
                <p:cNvSpPr>
                  <a:spLocks noChangeArrowheads="1"/>
                </p:cNvSpPr>
                <p:nvPr/>
              </p:nvSpPr>
              <p:spPr bwMode="auto">
                <a:xfrm>
                  <a:off x="1740" y="0"/>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0" name="Group 19">
                <a:extLst>
                  <a:ext uri="{FF2B5EF4-FFF2-40B4-BE49-F238E27FC236}">
                    <a16:creationId xmlns:a16="http://schemas.microsoft.com/office/drawing/2014/main" id="{F3B15385-FECE-4AC8-1709-8CA512CF32CF}"/>
                  </a:ext>
                </a:extLst>
              </p:cNvPr>
              <p:cNvGrpSpPr>
                <a:grpSpLocks/>
              </p:cNvGrpSpPr>
              <p:nvPr/>
            </p:nvGrpSpPr>
            <p:grpSpPr bwMode="auto">
              <a:xfrm>
                <a:off x="2320" y="0"/>
                <a:ext cx="580" cy="461"/>
                <a:chOff x="2320" y="0"/>
                <a:chExt cx="580" cy="461"/>
              </a:xfrm>
            </p:grpSpPr>
            <p:sp>
              <p:nvSpPr>
                <p:cNvPr id="44090" name="Rectangle 20">
                  <a:extLst>
                    <a:ext uri="{FF2B5EF4-FFF2-40B4-BE49-F238E27FC236}">
                      <a16:creationId xmlns:a16="http://schemas.microsoft.com/office/drawing/2014/main" id="{A92CC97B-F0FC-968B-5820-7B9C0498C93A}"/>
                    </a:ext>
                  </a:extLst>
                </p:cNvPr>
                <p:cNvSpPr>
                  <a:spLocks noChangeArrowheads="1"/>
                </p:cNvSpPr>
                <p:nvPr/>
              </p:nvSpPr>
              <p:spPr bwMode="auto">
                <a:xfrm>
                  <a:off x="2363" y="0"/>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solidFill>
                        <a:schemeClr val="bg1"/>
                      </a:solidFill>
                      <a:cs typeface="Times New Roman" panose="02020603050405020304" pitchFamily="18" charset="0"/>
                    </a:rPr>
                    <a:t>E</a:t>
                  </a:r>
                  <a:endParaRPr kumimoji="1" lang="en-US" altLang="en-US" sz="1800" b="1">
                    <a:solidFill>
                      <a:schemeClr val="bg1"/>
                    </a:solidFill>
                    <a:cs typeface="Times New Roman" panose="02020603050405020304" pitchFamily="18" charset="0"/>
                  </a:endParaRPr>
                </a:p>
                <a:p>
                  <a:pPr algn="ctr">
                    <a:spcBef>
                      <a:spcPct val="0"/>
                    </a:spcBef>
                    <a:buFontTx/>
                    <a:buNone/>
                  </a:pPr>
                  <a:endParaRPr kumimoji="1" lang="en-US" altLang="en-US" sz="3600" b="1"/>
                </a:p>
              </p:txBody>
            </p:sp>
            <p:sp>
              <p:nvSpPr>
                <p:cNvPr id="44091" name="Rectangle 21">
                  <a:extLst>
                    <a:ext uri="{FF2B5EF4-FFF2-40B4-BE49-F238E27FC236}">
                      <a16:creationId xmlns:a16="http://schemas.microsoft.com/office/drawing/2014/main" id="{CB19E0B0-2E3D-CFA5-5A80-FBB707195E23}"/>
                    </a:ext>
                  </a:extLst>
                </p:cNvPr>
                <p:cNvSpPr>
                  <a:spLocks noChangeArrowheads="1"/>
                </p:cNvSpPr>
                <p:nvPr/>
              </p:nvSpPr>
              <p:spPr bwMode="auto">
                <a:xfrm>
                  <a:off x="2320" y="0"/>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1" name="Group 22">
                <a:extLst>
                  <a:ext uri="{FF2B5EF4-FFF2-40B4-BE49-F238E27FC236}">
                    <a16:creationId xmlns:a16="http://schemas.microsoft.com/office/drawing/2014/main" id="{E9EE5450-E3D0-5DBB-FA53-B7BE13DB9D4E}"/>
                  </a:ext>
                </a:extLst>
              </p:cNvPr>
              <p:cNvGrpSpPr>
                <a:grpSpLocks/>
              </p:cNvGrpSpPr>
              <p:nvPr/>
            </p:nvGrpSpPr>
            <p:grpSpPr bwMode="auto">
              <a:xfrm>
                <a:off x="2900" y="0"/>
                <a:ext cx="560" cy="461"/>
                <a:chOff x="2900" y="0"/>
                <a:chExt cx="560" cy="461"/>
              </a:xfrm>
            </p:grpSpPr>
            <p:sp>
              <p:nvSpPr>
                <p:cNvPr id="44088" name="Rectangle 23">
                  <a:extLst>
                    <a:ext uri="{FF2B5EF4-FFF2-40B4-BE49-F238E27FC236}">
                      <a16:creationId xmlns:a16="http://schemas.microsoft.com/office/drawing/2014/main" id="{26F84899-CB70-4953-89FA-5F344633AAF9}"/>
                    </a:ext>
                  </a:extLst>
                </p:cNvPr>
                <p:cNvSpPr>
                  <a:spLocks noChangeArrowheads="1"/>
                </p:cNvSpPr>
                <p:nvPr/>
              </p:nvSpPr>
              <p:spPr bwMode="auto">
                <a:xfrm>
                  <a:off x="2943" y="0"/>
                  <a:ext cx="47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f</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89" name="Rectangle 24">
                  <a:extLst>
                    <a:ext uri="{FF2B5EF4-FFF2-40B4-BE49-F238E27FC236}">
                      <a16:creationId xmlns:a16="http://schemas.microsoft.com/office/drawing/2014/main" id="{6E3560F0-19E2-0FF4-0E78-F7B8009922DF}"/>
                    </a:ext>
                  </a:extLst>
                </p:cNvPr>
                <p:cNvSpPr>
                  <a:spLocks noChangeArrowheads="1"/>
                </p:cNvSpPr>
                <p:nvPr/>
              </p:nvSpPr>
              <p:spPr bwMode="auto">
                <a:xfrm>
                  <a:off x="2900" y="0"/>
                  <a:ext cx="56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2" name="Group 25">
                <a:extLst>
                  <a:ext uri="{FF2B5EF4-FFF2-40B4-BE49-F238E27FC236}">
                    <a16:creationId xmlns:a16="http://schemas.microsoft.com/office/drawing/2014/main" id="{EE16820A-D25D-3F8E-E9AF-205754DAFD9B}"/>
                  </a:ext>
                </a:extLst>
              </p:cNvPr>
              <p:cNvGrpSpPr>
                <a:grpSpLocks/>
              </p:cNvGrpSpPr>
              <p:nvPr/>
            </p:nvGrpSpPr>
            <p:grpSpPr bwMode="auto">
              <a:xfrm>
                <a:off x="0" y="461"/>
                <a:ext cx="580" cy="461"/>
                <a:chOff x="0" y="461"/>
                <a:chExt cx="580" cy="461"/>
              </a:xfrm>
            </p:grpSpPr>
            <p:sp>
              <p:nvSpPr>
                <p:cNvPr id="44086" name="Rectangle 26">
                  <a:extLst>
                    <a:ext uri="{FF2B5EF4-FFF2-40B4-BE49-F238E27FC236}">
                      <a16:creationId xmlns:a16="http://schemas.microsoft.com/office/drawing/2014/main" id="{6DBCB9F3-7236-E17D-597E-C588C039A908}"/>
                    </a:ext>
                  </a:extLst>
                </p:cNvPr>
                <p:cNvSpPr>
                  <a:spLocks noChangeArrowheads="1"/>
                </p:cNvSpPr>
                <p:nvPr/>
              </p:nvSpPr>
              <p:spPr bwMode="auto">
                <a:xfrm>
                  <a:off x="43" y="461"/>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14</a:t>
                  </a:r>
                  <a:endParaRPr kumimoji="1" lang="en-US" altLang="en-US" sz="4800" b="1"/>
                </a:p>
              </p:txBody>
            </p:sp>
            <p:sp>
              <p:nvSpPr>
                <p:cNvPr id="44087" name="Rectangle 27">
                  <a:extLst>
                    <a:ext uri="{FF2B5EF4-FFF2-40B4-BE49-F238E27FC236}">
                      <a16:creationId xmlns:a16="http://schemas.microsoft.com/office/drawing/2014/main" id="{DAF4712A-3462-56C0-FF91-0BD0FAD3ECD9}"/>
                    </a:ext>
                  </a:extLst>
                </p:cNvPr>
                <p:cNvSpPr>
                  <a:spLocks noChangeArrowheads="1"/>
                </p:cNvSpPr>
                <p:nvPr/>
              </p:nvSpPr>
              <p:spPr bwMode="auto">
                <a:xfrm>
                  <a:off x="0" y="461"/>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3" name="Group 28">
                <a:extLst>
                  <a:ext uri="{FF2B5EF4-FFF2-40B4-BE49-F238E27FC236}">
                    <a16:creationId xmlns:a16="http://schemas.microsoft.com/office/drawing/2014/main" id="{860A5BBB-2095-129D-9881-2FF7A737023A}"/>
                  </a:ext>
                </a:extLst>
              </p:cNvPr>
              <p:cNvGrpSpPr>
                <a:grpSpLocks/>
              </p:cNvGrpSpPr>
              <p:nvPr/>
            </p:nvGrpSpPr>
            <p:grpSpPr bwMode="auto">
              <a:xfrm>
                <a:off x="580" y="461"/>
                <a:ext cx="580" cy="461"/>
                <a:chOff x="580" y="461"/>
                <a:chExt cx="580" cy="461"/>
              </a:xfrm>
            </p:grpSpPr>
            <p:sp>
              <p:nvSpPr>
                <p:cNvPr id="44084" name="Rectangle 29">
                  <a:extLst>
                    <a:ext uri="{FF2B5EF4-FFF2-40B4-BE49-F238E27FC236}">
                      <a16:creationId xmlns:a16="http://schemas.microsoft.com/office/drawing/2014/main" id="{FE56F0A6-946F-40A6-271E-5ED1E55BF718}"/>
                    </a:ext>
                  </a:extLst>
                </p:cNvPr>
                <p:cNvSpPr>
                  <a:spLocks noChangeArrowheads="1"/>
                </p:cNvSpPr>
                <p:nvPr/>
              </p:nvSpPr>
              <p:spPr bwMode="auto">
                <a:xfrm>
                  <a:off x="623" y="461"/>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12</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85" name="Rectangle 30">
                  <a:extLst>
                    <a:ext uri="{FF2B5EF4-FFF2-40B4-BE49-F238E27FC236}">
                      <a16:creationId xmlns:a16="http://schemas.microsoft.com/office/drawing/2014/main" id="{60F89875-6FA4-DF6E-15AD-29FCBEBF7478}"/>
                    </a:ext>
                  </a:extLst>
                </p:cNvPr>
                <p:cNvSpPr>
                  <a:spLocks noChangeArrowheads="1"/>
                </p:cNvSpPr>
                <p:nvPr/>
              </p:nvSpPr>
              <p:spPr bwMode="auto">
                <a:xfrm>
                  <a:off x="580" y="461"/>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4" name="Group 31">
                <a:extLst>
                  <a:ext uri="{FF2B5EF4-FFF2-40B4-BE49-F238E27FC236}">
                    <a16:creationId xmlns:a16="http://schemas.microsoft.com/office/drawing/2014/main" id="{ED500867-3653-85F0-4A29-1EB4C1201CFF}"/>
                  </a:ext>
                </a:extLst>
              </p:cNvPr>
              <p:cNvGrpSpPr>
                <a:grpSpLocks/>
              </p:cNvGrpSpPr>
              <p:nvPr/>
            </p:nvGrpSpPr>
            <p:grpSpPr bwMode="auto">
              <a:xfrm>
                <a:off x="1160" y="461"/>
                <a:ext cx="580" cy="461"/>
                <a:chOff x="1160" y="461"/>
                <a:chExt cx="580" cy="461"/>
              </a:xfrm>
            </p:grpSpPr>
            <p:sp>
              <p:nvSpPr>
                <p:cNvPr id="44082" name="Rectangle 32">
                  <a:extLst>
                    <a:ext uri="{FF2B5EF4-FFF2-40B4-BE49-F238E27FC236}">
                      <a16:creationId xmlns:a16="http://schemas.microsoft.com/office/drawing/2014/main" id="{FCC72A23-5910-7643-8E03-4AAAB387DEE9}"/>
                    </a:ext>
                  </a:extLst>
                </p:cNvPr>
                <p:cNvSpPr>
                  <a:spLocks noChangeArrowheads="1"/>
                </p:cNvSpPr>
                <p:nvPr/>
              </p:nvSpPr>
              <p:spPr bwMode="auto">
                <a:xfrm>
                  <a:off x="1203" y="461"/>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9</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83" name="Rectangle 33">
                  <a:extLst>
                    <a:ext uri="{FF2B5EF4-FFF2-40B4-BE49-F238E27FC236}">
                      <a16:creationId xmlns:a16="http://schemas.microsoft.com/office/drawing/2014/main" id="{5A9094EE-912F-106E-9D42-45164B096FC9}"/>
                    </a:ext>
                  </a:extLst>
                </p:cNvPr>
                <p:cNvSpPr>
                  <a:spLocks noChangeArrowheads="1"/>
                </p:cNvSpPr>
                <p:nvPr/>
              </p:nvSpPr>
              <p:spPr bwMode="auto">
                <a:xfrm>
                  <a:off x="1160" y="461"/>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5" name="Group 34">
                <a:extLst>
                  <a:ext uri="{FF2B5EF4-FFF2-40B4-BE49-F238E27FC236}">
                    <a16:creationId xmlns:a16="http://schemas.microsoft.com/office/drawing/2014/main" id="{A637749F-11E0-3437-10D4-2EE5D64D9DAD}"/>
                  </a:ext>
                </a:extLst>
              </p:cNvPr>
              <p:cNvGrpSpPr>
                <a:grpSpLocks/>
              </p:cNvGrpSpPr>
              <p:nvPr/>
            </p:nvGrpSpPr>
            <p:grpSpPr bwMode="auto">
              <a:xfrm>
                <a:off x="1740" y="461"/>
                <a:ext cx="580" cy="461"/>
                <a:chOff x="1740" y="461"/>
                <a:chExt cx="580" cy="461"/>
              </a:xfrm>
            </p:grpSpPr>
            <p:sp>
              <p:nvSpPr>
                <p:cNvPr id="44080" name="Rectangle 35">
                  <a:extLst>
                    <a:ext uri="{FF2B5EF4-FFF2-40B4-BE49-F238E27FC236}">
                      <a16:creationId xmlns:a16="http://schemas.microsoft.com/office/drawing/2014/main" id="{44223837-F525-862A-EA18-C154FB569BB3}"/>
                    </a:ext>
                  </a:extLst>
                </p:cNvPr>
                <p:cNvSpPr>
                  <a:spLocks noChangeArrowheads="1"/>
                </p:cNvSpPr>
                <p:nvPr/>
              </p:nvSpPr>
              <p:spPr bwMode="auto">
                <a:xfrm>
                  <a:off x="1783" y="461"/>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5</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81" name="Rectangle 36">
                  <a:extLst>
                    <a:ext uri="{FF2B5EF4-FFF2-40B4-BE49-F238E27FC236}">
                      <a16:creationId xmlns:a16="http://schemas.microsoft.com/office/drawing/2014/main" id="{4BE01C73-786E-39DB-F96F-AA34C6D2623B}"/>
                    </a:ext>
                  </a:extLst>
                </p:cNvPr>
                <p:cNvSpPr>
                  <a:spLocks noChangeArrowheads="1"/>
                </p:cNvSpPr>
                <p:nvPr/>
              </p:nvSpPr>
              <p:spPr bwMode="auto">
                <a:xfrm>
                  <a:off x="1740" y="461"/>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6" name="Group 37">
                <a:extLst>
                  <a:ext uri="{FF2B5EF4-FFF2-40B4-BE49-F238E27FC236}">
                    <a16:creationId xmlns:a16="http://schemas.microsoft.com/office/drawing/2014/main" id="{62CA956B-D1FA-AEAC-7EC7-A62348E02AFC}"/>
                  </a:ext>
                </a:extLst>
              </p:cNvPr>
              <p:cNvGrpSpPr>
                <a:grpSpLocks/>
              </p:cNvGrpSpPr>
              <p:nvPr/>
            </p:nvGrpSpPr>
            <p:grpSpPr bwMode="auto">
              <a:xfrm>
                <a:off x="2320" y="461"/>
                <a:ext cx="580" cy="461"/>
                <a:chOff x="2320" y="461"/>
                <a:chExt cx="580" cy="461"/>
              </a:xfrm>
            </p:grpSpPr>
            <p:sp>
              <p:nvSpPr>
                <p:cNvPr id="44078" name="Rectangle 38">
                  <a:extLst>
                    <a:ext uri="{FF2B5EF4-FFF2-40B4-BE49-F238E27FC236}">
                      <a16:creationId xmlns:a16="http://schemas.microsoft.com/office/drawing/2014/main" id="{46B1332C-4545-8494-6624-6AF9A069B866}"/>
                    </a:ext>
                  </a:extLst>
                </p:cNvPr>
                <p:cNvSpPr>
                  <a:spLocks noChangeArrowheads="1"/>
                </p:cNvSpPr>
                <p:nvPr/>
              </p:nvSpPr>
              <p:spPr bwMode="auto">
                <a:xfrm>
                  <a:off x="2363" y="461"/>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0</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79" name="Rectangle 39">
                  <a:extLst>
                    <a:ext uri="{FF2B5EF4-FFF2-40B4-BE49-F238E27FC236}">
                      <a16:creationId xmlns:a16="http://schemas.microsoft.com/office/drawing/2014/main" id="{CC8B15BC-80BF-3197-2030-50E2CCA76F15}"/>
                    </a:ext>
                  </a:extLst>
                </p:cNvPr>
                <p:cNvSpPr>
                  <a:spLocks noChangeArrowheads="1"/>
                </p:cNvSpPr>
                <p:nvPr/>
              </p:nvSpPr>
              <p:spPr bwMode="auto">
                <a:xfrm>
                  <a:off x="2320" y="461"/>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7" name="Group 40">
                <a:extLst>
                  <a:ext uri="{FF2B5EF4-FFF2-40B4-BE49-F238E27FC236}">
                    <a16:creationId xmlns:a16="http://schemas.microsoft.com/office/drawing/2014/main" id="{50EF7DD3-D673-777F-C441-43CE60A55317}"/>
                  </a:ext>
                </a:extLst>
              </p:cNvPr>
              <p:cNvGrpSpPr>
                <a:grpSpLocks/>
              </p:cNvGrpSpPr>
              <p:nvPr/>
            </p:nvGrpSpPr>
            <p:grpSpPr bwMode="auto">
              <a:xfrm>
                <a:off x="2900" y="461"/>
                <a:ext cx="560" cy="461"/>
                <a:chOff x="2900" y="461"/>
                <a:chExt cx="560" cy="461"/>
              </a:xfrm>
            </p:grpSpPr>
            <p:sp>
              <p:nvSpPr>
                <p:cNvPr id="44076" name="Rectangle 41">
                  <a:extLst>
                    <a:ext uri="{FF2B5EF4-FFF2-40B4-BE49-F238E27FC236}">
                      <a16:creationId xmlns:a16="http://schemas.microsoft.com/office/drawing/2014/main" id="{7D332C18-F434-A6AE-435B-B04349FFBCE0}"/>
                    </a:ext>
                  </a:extLst>
                </p:cNvPr>
                <p:cNvSpPr>
                  <a:spLocks noChangeArrowheads="1"/>
                </p:cNvSpPr>
                <p:nvPr/>
              </p:nvSpPr>
              <p:spPr bwMode="auto">
                <a:xfrm>
                  <a:off x="2943" y="461"/>
                  <a:ext cx="47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0</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77" name="Rectangle 42">
                  <a:extLst>
                    <a:ext uri="{FF2B5EF4-FFF2-40B4-BE49-F238E27FC236}">
                      <a16:creationId xmlns:a16="http://schemas.microsoft.com/office/drawing/2014/main" id="{1A39C659-4F81-4E7C-4D48-FB902B9B981A}"/>
                    </a:ext>
                  </a:extLst>
                </p:cNvPr>
                <p:cNvSpPr>
                  <a:spLocks noChangeArrowheads="1"/>
                </p:cNvSpPr>
                <p:nvPr/>
              </p:nvSpPr>
              <p:spPr bwMode="auto">
                <a:xfrm>
                  <a:off x="2900" y="461"/>
                  <a:ext cx="56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8" name="Group 43">
                <a:extLst>
                  <a:ext uri="{FF2B5EF4-FFF2-40B4-BE49-F238E27FC236}">
                    <a16:creationId xmlns:a16="http://schemas.microsoft.com/office/drawing/2014/main" id="{1D8EC6CD-45C0-1CD8-5897-279B76A9AB6F}"/>
                  </a:ext>
                </a:extLst>
              </p:cNvPr>
              <p:cNvGrpSpPr>
                <a:grpSpLocks/>
              </p:cNvGrpSpPr>
              <p:nvPr/>
            </p:nvGrpSpPr>
            <p:grpSpPr bwMode="auto">
              <a:xfrm>
                <a:off x="0" y="922"/>
                <a:ext cx="580" cy="461"/>
                <a:chOff x="0" y="922"/>
                <a:chExt cx="580" cy="461"/>
              </a:xfrm>
            </p:grpSpPr>
            <p:sp>
              <p:nvSpPr>
                <p:cNvPr id="44074" name="Rectangle 44">
                  <a:extLst>
                    <a:ext uri="{FF2B5EF4-FFF2-40B4-BE49-F238E27FC236}">
                      <a16:creationId xmlns:a16="http://schemas.microsoft.com/office/drawing/2014/main" id="{00D43FF3-09A2-F942-9008-25B5AF3AA884}"/>
                    </a:ext>
                  </a:extLst>
                </p:cNvPr>
                <p:cNvSpPr>
                  <a:spLocks noChangeArrowheads="1"/>
                </p:cNvSpPr>
                <p:nvPr/>
              </p:nvSpPr>
              <p:spPr bwMode="auto">
                <a:xfrm>
                  <a:off x="43" y="922"/>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0</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75" name="Rectangle 45">
                  <a:extLst>
                    <a:ext uri="{FF2B5EF4-FFF2-40B4-BE49-F238E27FC236}">
                      <a16:creationId xmlns:a16="http://schemas.microsoft.com/office/drawing/2014/main" id="{01ED9ADA-0374-F8D0-9AA2-EA5821EA2111}"/>
                    </a:ext>
                  </a:extLst>
                </p:cNvPr>
                <p:cNvSpPr>
                  <a:spLocks noChangeArrowheads="1"/>
                </p:cNvSpPr>
                <p:nvPr/>
              </p:nvSpPr>
              <p:spPr bwMode="auto">
                <a:xfrm>
                  <a:off x="0" y="922"/>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59" name="Group 46">
                <a:extLst>
                  <a:ext uri="{FF2B5EF4-FFF2-40B4-BE49-F238E27FC236}">
                    <a16:creationId xmlns:a16="http://schemas.microsoft.com/office/drawing/2014/main" id="{65B75C84-EA6E-4612-9E5B-3CC23FC720B0}"/>
                  </a:ext>
                </a:extLst>
              </p:cNvPr>
              <p:cNvGrpSpPr>
                <a:grpSpLocks/>
              </p:cNvGrpSpPr>
              <p:nvPr/>
            </p:nvGrpSpPr>
            <p:grpSpPr bwMode="auto">
              <a:xfrm>
                <a:off x="580" y="922"/>
                <a:ext cx="580" cy="461"/>
                <a:chOff x="580" y="922"/>
                <a:chExt cx="580" cy="461"/>
              </a:xfrm>
            </p:grpSpPr>
            <p:sp>
              <p:nvSpPr>
                <p:cNvPr id="44072" name="Rectangle 47">
                  <a:extLst>
                    <a:ext uri="{FF2B5EF4-FFF2-40B4-BE49-F238E27FC236}">
                      <a16:creationId xmlns:a16="http://schemas.microsoft.com/office/drawing/2014/main" id="{4DD52653-68F4-B2B1-8480-D61F05B91AA0}"/>
                    </a:ext>
                  </a:extLst>
                </p:cNvPr>
                <p:cNvSpPr>
                  <a:spLocks noChangeArrowheads="1"/>
                </p:cNvSpPr>
                <p:nvPr/>
              </p:nvSpPr>
              <p:spPr bwMode="auto">
                <a:xfrm>
                  <a:off x="623" y="922"/>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2</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73" name="Rectangle 48">
                  <a:extLst>
                    <a:ext uri="{FF2B5EF4-FFF2-40B4-BE49-F238E27FC236}">
                      <a16:creationId xmlns:a16="http://schemas.microsoft.com/office/drawing/2014/main" id="{D4D7CB6F-FA33-288C-C6E6-52377DCFBB0F}"/>
                    </a:ext>
                  </a:extLst>
                </p:cNvPr>
                <p:cNvSpPr>
                  <a:spLocks noChangeArrowheads="1"/>
                </p:cNvSpPr>
                <p:nvPr/>
              </p:nvSpPr>
              <p:spPr bwMode="auto">
                <a:xfrm>
                  <a:off x="580" y="922"/>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60" name="Group 49">
                <a:extLst>
                  <a:ext uri="{FF2B5EF4-FFF2-40B4-BE49-F238E27FC236}">
                    <a16:creationId xmlns:a16="http://schemas.microsoft.com/office/drawing/2014/main" id="{566D6155-0915-EDC9-3466-B5EB4D374EAE}"/>
                  </a:ext>
                </a:extLst>
              </p:cNvPr>
              <p:cNvGrpSpPr>
                <a:grpSpLocks/>
              </p:cNvGrpSpPr>
              <p:nvPr/>
            </p:nvGrpSpPr>
            <p:grpSpPr bwMode="auto">
              <a:xfrm>
                <a:off x="1160" y="922"/>
                <a:ext cx="580" cy="461"/>
                <a:chOff x="1160" y="922"/>
                <a:chExt cx="580" cy="461"/>
              </a:xfrm>
            </p:grpSpPr>
            <p:sp>
              <p:nvSpPr>
                <p:cNvPr id="44070" name="Rectangle 50">
                  <a:extLst>
                    <a:ext uri="{FF2B5EF4-FFF2-40B4-BE49-F238E27FC236}">
                      <a16:creationId xmlns:a16="http://schemas.microsoft.com/office/drawing/2014/main" id="{B0D73CE5-2D61-752D-0FDC-CDAED666CFC8}"/>
                    </a:ext>
                  </a:extLst>
                </p:cNvPr>
                <p:cNvSpPr>
                  <a:spLocks noChangeArrowheads="1"/>
                </p:cNvSpPr>
                <p:nvPr/>
              </p:nvSpPr>
              <p:spPr bwMode="auto">
                <a:xfrm>
                  <a:off x="1203" y="922"/>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4</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71" name="Rectangle 51">
                  <a:extLst>
                    <a:ext uri="{FF2B5EF4-FFF2-40B4-BE49-F238E27FC236}">
                      <a16:creationId xmlns:a16="http://schemas.microsoft.com/office/drawing/2014/main" id="{7552427C-55EF-6213-1C58-A37FCC76589D}"/>
                    </a:ext>
                  </a:extLst>
                </p:cNvPr>
                <p:cNvSpPr>
                  <a:spLocks noChangeArrowheads="1"/>
                </p:cNvSpPr>
                <p:nvPr/>
              </p:nvSpPr>
              <p:spPr bwMode="auto">
                <a:xfrm>
                  <a:off x="1160" y="922"/>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61" name="Group 52">
                <a:extLst>
                  <a:ext uri="{FF2B5EF4-FFF2-40B4-BE49-F238E27FC236}">
                    <a16:creationId xmlns:a16="http://schemas.microsoft.com/office/drawing/2014/main" id="{54A1159F-5E35-577C-65C2-01E5C1C881A7}"/>
                  </a:ext>
                </a:extLst>
              </p:cNvPr>
              <p:cNvGrpSpPr>
                <a:grpSpLocks/>
              </p:cNvGrpSpPr>
              <p:nvPr/>
            </p:nvGrpSpPr>
            <p:grpSpPr bwMode="auto">
              <a:xfrm>
                <a:off x="1740" y="922"/>
                <a:ext cx="580" cy="461"/>
                <a:chOff x="1740" y="922"/>
                <a:chExt cx="580" cy="461"/>
              </a:xfrm>
            </p:grpSpPr>
            <p:sp>
              <p:nvSpPr>
                <p:cNvPr id="44068" name="Rectangle 53">
                  <a:extLst>
                    <a:ext uri="{FF2B5EF4-FFF2-40B4-BE49-F238E27FC236}">
                      <a16:creationId xmlns:a16="http://schemas.microsoft.com/office/drawing/2014/main" id="{D416D574-7431-E953-7188-A4CC7E0EE13A}"/>
                    </a:ext>
                  </a:extLst>
                </p:cNvPr>
                <p:cNvSpPr>
                  <a:spLocks noChangeArrowheads="1"/>
                </p:cNvSpPr>
                <p:nvPr/>
              </p:nvSpPr>
              <p:spPr bwMode="auto">
                <a:xfrm>
                  <a:off x="1783" y="922"/>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6</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69" name="Rectangle 54">
                  <a:extLst>
                    <a:ext uri="{FF2B5EF4-FFF2-40B4-BE49-F238E27FC236}">
                      <a16:creationId xmlns:a16="http://schemas.microsoft.com/office/drawing/2014/main" id="{AFD1F33E-B319-DE5C-94D6-EF4D9434C995}"/>
                    </a:ext>
                  </a:extLst>
                </p:cNvPr>
                <p:cNvSpPr>
                  <a:spLocks noChangeArrowheads="1"/>
                </p:cNvSpPr>
                <p:nvPr/>
              </p:nvSpPr>
              <p:spPr bwMode="auto">
                <a:xfrm>
                  <a:off x="1740" y="922"/>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62" name="Group 55">
                <a:extLst>
                  <a:ext uri="{FF2B5EF4-FFF2-40B4-BE49-F238E27FC236}">
                    <a16:creationId xmlns:a16="http://schemas.microsoft.com/office/drawing/2014/main" id="{9DD0F161-6CD6-E547-E360-9231B2C99E55}"/>
                  </a:ext>
                </a:extLst>
              </p:cNvPr>
              <p:cNvGrpSpPr>
                <a:grpSpLocks/>
              </p:cNvGrpSpPr>
              <p:nvPr/>
            </p:nvGrpSpPr>
            <p:grpSpPr bwMode="auto">
              <a:xfrm>
                <a:off x="2320" y="922"/>
                <a:ext cx="580" cy="461"/>
                <a:chOff x="2320" y="922"/>
                <a:chExt cx="580" cy="461"/>
              </a:xfrm>
            </p:grpSpPr>
            <p:sp>
              <p:nvSpPr>
                <p:cNvPr id="44066" name="Rectangle 56">
                  <a:extLst>
                    <a:ext uri="{FF2B5EF4-FFF2-40B4-BE49-F238E27FC236}">
                      <a16:creationId xmlns:a16="http://schemas.microsoft.com/office/drawing/2014/main" id="{83E1A475-E1D9-A911-64B9-BBC77228D9F3}"/>
                    </a:ext>
                  </a:extLst>
                </p:cNvPr>
                <p:cNvSpPr>
                  <a:spLocks noChangeArrowheads="1"/>
                </p:cNvSpPr>
                <p:nvPr/>
              </p:nvSpPr>
              <p:spPr bwMode="auto">
                <a:xfrm>
                  <a:off x="2363" y="922"/>
                  <a:ext cx="49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8</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67" name="Rectangle 57">
                  <a:extLst>
                    <a:ext uri="{FF2B5EF4-FFF2-40B4-BE49-F238E27FC236}">
                      <a16:creationId xmlns:a16="http://schemas.microsoft.com/office/drawing/2014/main" id="{A55C192C-AB4B-854B-A808-6B381099B8FF}"/>
                    </a:ext>
                  </a:extLst>
                </p:cNvPr>
                <p:cNvSpPr>
                  <a:spLocks noChangeArrowheads="1"/>
                </p:cNvSpPr>
                <p:nvPr/>
              </p:nvSpPr>
              <p:spPr bwMode="auto">
                <a:xfrm>
                  <a:off x="2320" y="922"/>
                  <a:ext cx="58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44063" name="Group 58">
                <a:extLst>
                  <a:ext uri="{FF2B5EF4-FFF2-40B4-BE49-F238E27FC236}">
                    <a16:creationId xmlns:a16="http://schemas.microsoft.com/office/drawing/2014/main" id="{B7879C2E-E47A-3797-23CD-76D2E5F1D153}"/>
                  </a:ext>
                </a:extLst>
              </p:cNvPr>
              <p:cNvGrpSpPr>
                <a:grpSpLocks/>
              </p:cNvGrpSpPr>
              <p:nvPr/>
            </p:nvGrpSpPr>
            <p:grpSpPr bwMode="auto">
              <a:xfrm>
                <a:off x="2900" y="922"/>
                <a:ext cx="560" cy="461"/>
                <a:chOff x="2900" y="922"/>
                <a:chExt cx="560" cy="461"/>
              </a:xfrm>
            </p:grpSpPr>
            <p:sp>
              <p:nvSpPr>
                <p:cNvPr id="44064" name="Rectangle 59">
                  <a:extLst>
                    <a:ext uri="{FF2B5EF4-FFF2-40B4-BE49-F238E27FC236}">
                      <a16:creationId xmlns:a16="http://schemas.microsoft.com/office/drawing/2014/main" id="{5ECF8728-B053-E9DE-B3A9-CB62510C2A36}"/>
                    </a:ext>
                  </a:extLst>
                </p:cNvPr>
                <p:cNvSpPr>
                  <a:spLocks noChangeArrowheads="1"/>
                </p:cNvSpPr>
                <p:nvPr/>
              </p:nvSpPr>
              <p:spPr bwMode="auto">
                <a:xfrm>
                  <a:off x="2943" y="922"/>
                  <a:ext cx="47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kumimoji="1" lang="en-US" altLang="en-US" sz="2800" b="1">
                      <a:cs typeface="Times New Roman" panose="02020603050405020304" pitchFamily="18" charset="0"/>
                    </a:rPr>
                    <a:t>10</a:t>
                  </a:r>
                  <a:endParaRPr kumimoji="1" lang="en-US" altLang="en-US" sz="1800" b="1">
                    <a:cs typeface="Times New Roman" panose="02020603050405020304" pitchFamily="18" charset="0"/>
                  </a:endParaRPr>
                </a:p>
                <a:p>
                  <a:pPr algn="ctr">
                    <a:spcBef>
                      <a:spcPct val="0"/>
                    </a:spcBef>
                    <a:buFontTx/>
                    <a:buNone/>
                  </a:pPr>
                  <a:endParaRPr kumimoji="1" lang="en-US" altLang="en-US" sz="3600" b="1"/>
                </a:p>
              </p:txBody>
            </p:sp>
            <p:sp>
              <p:nvSpPr>
                <p:cNvPr id="44065" name="Rectangle 60">
                  <a:extLst>
                    <a:ext uri="{FF2B5EF4-FFF2-40B4-BE49-F238E27FC236}">
                      <a16:creationId xmlns:a16="http://schemas.microsoft.com/office/drawing/2014/main" id="{F89C8DE0-A362-0591-62B9-6943E064C947}"/>
                    </a:ext>
                  </a:extLst>
                </p:cNvPr>
                <p:cNvSpPr>
                  <a:spLocks noChangeArrowheads="1"/>
                </p:cNvSpPr>
                <p:nvPr/>
              </p:nvSpPr>
              <p:spPr bwMode="auto">
                <a:xfrm>
                  <a:off x="2900" y="922"/>
                  <a:ext cx="560"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sp>
          <p:nvSpPr>
            <p:cNvPr id="44045" name="Rectangle 61">
              <a:extLst>
                <a:ext uri="{FF2B5EF4-FFF2-40B4-BE49-F238E27FC236}">
                  <a16:creationId xmlns:a16="http://schemas.microsoft.com/office/drawing/2014/main" id="{A3D0076E-2E7B-5738-D5E0-205799C394C7}"/>
                </a:ext>
              </a:extLst>
            </p:cNvPr>
            <p:cNvSpPr>
              <a:spLocks noChangeArrowheads="1"/>
            </p:cNvSpPr>
            <p:nvPr/>
          </p:nvSpPr>
          <p:spPr bwMode="auto">
            <a:xfrm>
              <a:off x="-3" y="-3"/>
              <a:ext cx="3466" cy="1389"/>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sp>
        <p:nvSpPr>
          <p:cNvPr id="44036" name="Text Box 62">
            <a:extLst>
              <a:ext uri="{FF2B5EF4-FFF2-40B4-BE49-F238E27FC236}">
                <a16:creationId xmlns:a16="http://schemas.microsoft.com/office/drawing/2014/main" id="{532A04F0-7CC0-EFC7-889D-8944A841F035}"/>
              </a:ext>
            </a:extLst>
          </p:cNvPr>
          <p:cNvSpPr txBox="1">
            <a:spLocks noChangeArrowheads="1"/>
          </p:cNvSpPr>
          <p:nvPr/>
        </p:nvSpPr>
        <p:spPr bwMode="auto">
          <a:xfrm>
            <a:off x="3048000" y="1447800"/>
            <a:ext cx="14224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kumimoji="1" lang="en-US" altLang="en-US" sz="2600">
                <a:latin typeface="Arial" panose="020B0604020202020204" pitchFamily="34" charset="0"/>
              </a:rPr>
              <a:t>Bikes</a:t>
            </a:r>
          </a:p>
        </p:txBody>
      </p:sp>
      <p:sp>
        <p:nvSpPr>
          <p:cNvPr id="44037" name="Text Box 63">
            <a:extLst>
              <a:ext uri="{FF2B5EF4-FFF2-40B4-BE49-F238E27FC236}">
                <a16:creationId xmlns:a16="http://schemas.microsoft.com/office/drawing/2014/main" id="{9E5CA277-50FE-264C-B52B-A4787545CB99}"/>
              </a:ext>
            </a:extLst>
          </p:cNvPr>
          <p:cNvSpPr txBox="1">
            <a:spLocks noChangeArrowheads="1"/>
          </p:cNvSpPr>
          <p:nvPr/>
        </p:nvSpPr>
        <p:spPr bwMode="auto">
          <a:xfrm>
            <a:off x="2209800" y="1930400"/>
            <a:ext cx="1879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kumimoji="1" lang="en-US" altLang="en-US" sz="2600">
                <a:latin typeface="Arial" panose="020B0604020202020204" pitchFamily="34" charset="0"/>
              </a:rPr>
              <a:t>Computers</a:t>
            </a:r>
          </a:p>
        </p:txBody>
      </p:sp>
      <p:sp>
        <p:nvSpPr>
          <p:cNvPr id="76864" name="Rectangle 64">
            <a:extLst>
              <a:ext uri="{FF2B5EF4-FFF2-40B4-BE49-F238E27FC236}">
                <a16:creationId xmlns:a16="http://schemas.microsoft.com/office/drawing/2014/main" id="{CAFB1AAA-65BF-777B-5E68-756BF5962C8D}"/>
              </a:ext>
            </a:extLst>
          </p:cNvPr>
          <p:cNvSpPr>
            <a:spLocks noChangeArrowheads="1"/>
          </p:cNvSpPr>
          <p:nvPr/>
        </p:nvSpPr>
        <p:spPr bwMode="auto">
          <a:xfrm>
            <a:off x="2425701" y="6121400"/>
            <a:ext cx="7661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endParaRPr lang="en-US" altLang="en-US" sz="3600" b="1">
              <a:solidFill>
                <a:schemeClr val="hlink"/>
              </a:solidFill>
              <a:cs typeface="Times New Roman" panose="02020603050405020304" pitchFamily="18" charset="0"/>
            </a:endParaRPr>
          </a:p>
        </p:txBody>
      </p:sp>
      <p:sp>
        <p:nvSpPr>
          <p:cNvPr id="76865" name="Rectangle 65">
            <a:extLst>
              <a:ext uri="{FF2B5EF4-FFF2-40B4-BE49-F238E27FC236}">
                <a16:creationId xmlns:a16="http://schemas.microsoft.com/office/drawing/2014/main" id="{9DE00C2F-68FD-0C7A-BA1A-A1795FB10341}"/>
              </a:ext>
            </a:extLst>
          </p:cNvPr>
          <p:cNvSpPr>
            <a:spLocks noChangeArrowheads="1"/>
          </p:cNvSpPr>
          <p:nvPr/>
        </p:nvSpPr>
        <p:spPr bwMode="auto">
          <a:xfrm>
            <a:off x="1981200" y="5410200"/>
            <a:ext cx="8001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b="1">
                <a:solidFill>
                  <a:srgbClr val="990000"/>
                </a:solidFill>
                <a:cs typeface="Times New Roman" panose="02020603050405020304" pitchFamily="18" charset="0"/>
              </a:rPr>
              <a:t>NOW GRAPH IT: Put bikes on y-axis and computers on x-axis</a:t>
            </a:r>
          </a:p>
        </p:txBody>
      </p:sp>
      <p:sp>
        <p:nvSpPr>
          <p:cNvPr id="44040" name="Rectangle 67">
            <a:extLst>
              <a:ext uri="{FF2B5EF4-FFF2-40B4-BE49-F238E27FC236}">
                <a16:creationId xmlns:a16="http://schemas.microsoft.com/office/drawing/2014/main" id="{573F1E19-6E41-F225-AC4B-AC3AEF0E0153}"/>
              </a:ext>
            </a:extLst>
          </p:cNvPr>
          <p:cNvSpPr>
            <a:spLocks noChangeArrowheads="1"/>
          </p:cNvSpPr>
          <p:nvPr/>
        </p:nvSpPr>
        <p:spPr bwMode="auto">
          <a:xfrm>
            <a:off x="1828800" y="0"/>
            <a:ext cx="883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3600" b="1">
                <a:solidFill>
                  <a:srgbClr val="000099"/>
                </a:solidFill>
              </a:rPr>
              <a:t>Production “Possibilities” Table </a:t>
            </a:r>
          </a:p>
        </p:txBody>
      </p:sp>
      <p:sp>
        <p:nvSpPr>
          <p:cNvPr id="76869" name="Rectangle 69">
            <a:extLst>
              <a:ext uri="{FF2B5EF4-FFF2-40B4-BE49-F238E27FC236}">
                <a16:creationId xmlns:a16="http://schemas.microsoft.com/office/drawing/2014/main" id="{4A8E1F6E-7B3C-4D72-2DA3-4EF084BE5907}"/>
              </a:ext>
            </a:extLst>
          </p:cNvPr>
          <p:cNvSpPr>
            <a:spLocks noChangeArrowheads="1"/>
          </p:cNvSpPr>
          <p:nvPr/>
        </p:nvSpPr>
        <p:spPr bwMode="auto">
          <a:xfrm>
            <a:off x="1828800" y="2819401"/>
            <a:ext cx="845820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3600" b="1" dirty="0">
                <a:solidFill>
                  <a:srgbClr val="000099"/>
                </a:solidFill>
              </a:rPr>
              <a:t>Each point represents a specific combination of goods that can be produced given full employment of resources.</a:t>
            </a:r>
          </a:p>
        </p:txBody>
      </p:sp>
      <p:sp>
        <p:nvSpPr>
          <p:cNvPr id="44042" name="Rectangle 70">
            <a:extLst>
              <a:ext uri="{FF2B5EF4-FFF2-40B4-BE49-F238E27FC236}">
                <a16:creationId xmlns:a16="http://schemas.microsoft.com/office/drawing/2014/main" id="{D5C695BF-8E66-952C-BC72-746B9BE32906}"/>
              </a:ext>
            </a:extLst>
          </p:cNvPr>
          <p:cNvSpPr>
            <a:spLocks noChangeArrowheads="1"/>
          </p:cNvSpPr>
          <p:nvPr/>
        </p:nvSpPr>
        <p:spPr bwMode="auto">
          <a:xfrm>
            <a:off x="9372600" y="762000"/>
            <a:ext cx="1295400" cy="19812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44043" name="Slide Number Placeholder 66">
            <a:extLst>
              <a:ext uri="{FF2B5EF4-FFF2-40B4-BE49-F238E27FC236}">
                <a16:creationId xmlns:a16="http://schemas.microsoft.com/office/drawing/2014/main" id="{187F3D74-0AEC-1BFF-4953-2E128E6700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4E3648F-49AB-024E-AB63-643421F42A51}" type="slidenum">
              <a:rPr lang="en-US" altLang="en-US" sz="1400"/>
              <a:pPr>
                <a:spcBef>
                  <a:spcPct val="0"/>
                </a:spcBef>
                <a:buFontTx/>
                <a:buNone/>
              </a:pPr>
              <a:t>19</a:t>
            </a:fld>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6869">
                                            <p:txEl>
                                              <p:pRg st="0" end="0"/>
                                            </p:txEl>
                                          </p:spTgt>
                                        </p:tgtEl>
                                        <p:attrNameLst>
                                          <p:attrName>style.visibility</p:attrName>
                                        </p:attrNameLst>
                                      </p:cBhvr>
                                      <p:to>
                                        <p:strVal val="visible"/>
                                      </p:to>
                                    </p:set>
                                    <p:animEffect transition="in" filter="dissolve">
                                      <p:cBhvr>
                                        <p:cTn id="7" dur="500"/>
                                        <p:tgtEl>
                                          <p:spTgt spid="7686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76865"/>
                                        </p:tgtEl>
                                        <p:attrNameLst>
                                          <p:attrName>style.visibility</p:attrName>
                                        </p:attrNameLst>
                                      </p:cBhvr>
                                      <p:to>
                                        <p:strVal val="visible"/>
                                      </p:to>
                                    </p:set>
                                    <p:anim calcmode="lin" valueType="num">
                                      <p:cBhvr additive="base">
                                        <p:cTn id="12" dur="500" fill="hold"/>
                                        <p:tgtEl>
                                          <p:spTgt spid="76865"/>
                                        </p:tgtEl>
                                        <p:attrNameLst>
                                          <p:attrName>ppt_x</p:attrName>
                                        </p:attrNameLst>
                                      </p:cBhvr>
                                      <p:tavLst>
                                        <p:tav tm="0">
                                          <p:val>
                                            <p:strVal val="0-#ppt_w/2"/>
                                          </p:val>
                                        </p:tav>
                                        <p:tav tm="100000">
                                          <p:val>
                                            <p:strVal val="#ppt_x"/>
                                          </p:val>
                                        </p:tav>
                                      </p:tavLst>
                                    </p:anim>
                                    <p:anim calcmode="lin" valueType="num">
                                      <p:cBhvr additive="base">
                                        <p:cTn id="13" dur="500" fill="hold"/>
                                        <p:tgtEl>
                                          <p:spTgt spid="7686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76864"/>
                                        </p:tgtEl>
                                        <p:attrNameLst>
                                          <p:attrName>style.visibility</p:attrName>
                                        </p:attrNameLst>
                                      </p:cBhvr>
                                      <p:to>
                                        <p:strVal val="visible"/>
                                      </p:to>
                                    </p:set>
                                    <p:anim calcmode="lin" valueType="num">
                                      <p:cBhvr additive="base">
                                        <p:cTn id="18" dur="500" fill="hold"/>
                                        <p:tgtEl>
                                          <p:spTgt spid="76864"/>
                                        </p:tgtEl>
                                        <p:attrNameLst>
                                          <p:attrName>ppt_x</p:attrName>
                                        </p:attrNameLst>
                                      </p:cBhvr>
                                      <p:tavLst>
                                        <p:tav tm="0">
                                          <p:val>
                                            <p:strVal val="0-#ppt_w/2"/>
                                          </p:val>
                                        </p:tav>
                                        <p:tav tm="100000">
                                          <p:val>
                                            <p:strVal val="#ppt_x"/>
                                          </p:val>
                                        </p:tav>
                                      </p:tavLst>
                                    </p:anim>
                                    <p:anim calcmode="lin" valueType="num">
                                      <p:cBhvr additive="base">
                                        <p:cTn id="19" dur="500" fill="hold"/>
                                        <p:tgtEl>
                                          <p:spTgt spid="768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64" grpId="0" autoUpdateAnimBg="0"/>
      <p:bldP spid="76865" grpId="0" autoUpdateAnimBg="0"/>
      <p:bldP spid="76869"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reeform 1026">
            <a:extLst>
              <a:ext uri="{FF2B5EF4-FFF2-40B4-BE49-F238E27FC236}">
                <a16:creationId xmlns:a16="http://schemas.microsoft.com/office/drawing/2014/main" id="{1BAD0DF9-49C0-45B2-F347-00B46D4EC68E}"/>
              </a:ext>
            </a:extLst>
          </p:cNvPr>
          <p:cNvSpPr>
            <a:spLocks/>
          </p:cNvSpPr>
          <p:nvPr/>
        </p:nvSpPr>
        <p:spPr bwMode="auto">
          <a:xfrm>
            <a:off x="3962400" y="2438400"/>
            <a:ext cx="2743200" cy="3352800"/>
          </a:xfrm>
          <a:custGeom>
            <a:avLst/>
            <a:gdLst>
              <a:gd name="T0" fmla="*/ 0 w 1728"/>
              <a:gd name="T1" fmla="*/ 0 h 2112"/>
              <a:gd name="T2" fmla="*/ 2147483646 w 1728"/>
              <a:gd name="T3" fmla="*/ 2147483646 h 2112"/>
              <a:gd name="T4" fmla="*/ 2147483646 w 1728"/>
              <a:gd name="T5" fmla="*/ 2147483646 h 2112"/>
              <a:gd name="T6" fmla="*/ 2147483646 w 1728"/>
              <a:gd name="T7" fmla="*/ 2147483646 h 2112"/>
              <a:gd name="T8" fmla="*/ 2147483646 w 1728"/>
              <a:gd name="T9" fmla="*/ 2147483646 h 2112"/>
              <a:gd name="T10" fmla="*/ 0 60000 65536"/>
              <a:gd name="T11" fmla="*/ 0 60000 65536"/>
              <a:gd name="T12" fmla="*/ 0 60000 65536"/>
              <a:gd name="T13" fmla="*/ 0 60000 65536"/>
              <a:gd name="T14" fmla="*/ 0 60000 65536"/>
              <a:gd name="T15" fmla="*/ 0 w 1728"/>
              <a:gd name="T16" fmla="*/ 0 h 2112"/>
              <a:gd name="T17" fmla="*/ 1728 w 1728"/>
              <a:gd name="T18" fmla="*/ 2112 h 2112"/>
            </a:gdLst>
            <a:ahLst/>
            <a:cxnLst>
              <a:cxn ang="T10">
                <a:pos x="T0" y="T1"/>
              </a:cxn>
              <a:cxn ang="T11">
                <a:pos x="T2" y="T3"/>
              </a:cxn>
              <a:cxn ang="T12">
                <a:pos x="T4" y="T5"/>
              </a:cxn>
              <a:cxn ang="T13">
                <a:pos x="T6" y="T7"/>
              </a:cxn>
              <a:cxn ang="T14">
                <a:pos x="T8" y="T9"/>
              </a:cxn>
            </a:cxnLst>
            <a:rect l="T15" t="T16" r="T17" b="T18"/>
            <a:pathLst>
              <a:path w="1728" h="2112">
                <a:moveTo>
                  <a:pt x="0" y="0"/>
                </a:moveTo>
                <a:cubicBezTo>
                  <a:pt x="204" y="100"/>
                  <a:pt x="408" y="200"/>
                  <a:pt x="576" y="336"/>
                </a:cubicBezTo>
                <a:cubicBezTo>
                  <a:pt x="744" y="472"/>
                  <a:pt x="872" y="648"/>
                  <a:pt x="1008" y="816"/>
                </a:cubicBezTo>
                <a:cubicBezTo>
                  <a:pt x="1144" y="984"/>
                  <a:pt x="1272" y="1128"/>
                  <a:pt x="1392" y="1344"/>
                </a:cubicBezTo>
                <a:cubicBezTo>
                  <a:pt x="1512" y="1560"/>
                  <a:pt x="1672" y="1984"/>
                  <a:pt x="1728" y="2112"/>
                </a:cubicBezTo>
              </a:path>
            </a:pathLst>
          </a:custGeom>
          <a:noFill/>
          <a:ln w="762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nvGrpSpPr>
          <p:cNvPr id="2" name="Group 1027">
            <a:extLst>
              <a:ext uri="{FF2B5EF4-FFF2-40B4-BE49-F238E27FC236}">
                <a16:creationId xmlns:a16="http://schemas.microsoft.com/office/drawing/2014/main" id="{34B1D25A-02D7-A969-241A-20F7B27091D3}"/>
              </a:ext>
            </a:extLst>
          </p:cNvPr>
          <p:cNvGrpSpPr>
            <a:grpSpLocks/>
          </p:cNvGrpSpPr>
          <p:nvPr/>
        </p:nvGrpSpPr>
        <p:grpSpPr bwMode="auto">
          <a:xfrm>
            <a:off x="3948114" y="1981200"/>
            <a:ext cx="4873625" cy="3887788"/>
            <a:chOff x="1755" y="922"/>
            <a:chExt cx="3070" cy="2775"/>
          </a:xfrm>
        </p:grpSpPr>
        <p:sp>
          <p:nvSpPr>
            <p:cNvPr id="45084" name="Line 1028">
              <a:extLst>
                <a:ext uri="{FF2B5EF4-FFF2-40B4-BE49-F238E27FC236}">
                  <a16:creationId xmlns:a16="http://schemas.microsoft.com/office/drawing/2014/main" id="{052696AB-0438-761D-74C6-0C62535813BE}"/>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45085" name="Line 1029">
              <a:extLst>
                <a:ext uri="{FF2B5EF4-FFF2-40B4-BE49-F238E27FC236}">
                  <a16:creationId xmlns:a16="http://schemas.microsoft.com/office/drawing/2014/main" id="{79DFBEEC-027E-DF9F-6772-AF566D4CF2FC}"/>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77830" name="Rectangle 1030">
            <a:extLst>
              <a:ext uri="{FF2B5EF4-FFF2-40B4-BE49-F238E27FC236}">
                <a16:creationId xmlns:a16="http://schemas.microsoft.com/office/drawing/2014/main" id="{8A983CF4-D113-36F2-149F-4F0F46DFCEEB}"/>
              </a:ext>
            </a:extLst>
          </p:cNvPr>
          <p:cNvSpPr>
            <a:spLocks noChangeArrowheads="1"/>
          </p:cNvSpPr>
          <p:nvPr/>
        </p:nvSpPr>
        <p:spPr bwMode="auto">
          <a:xfrm rot="16200000">
            <a:off x="2488588" y="3572870"/>
            <a:ext cx="127599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Bikes</a:t>
            </a:r>
            <a:endParaRPr lang="en-US" altLang="en-US" sz="2400" b="1">
              <a:latin typeface="Arial" panose="020B0604020202020204" pitchFamily="34" charset="0"/>
            </a:endParaRPr>
          </a:p>
        </p:txBody>
      </p:sp>
      <p:sp>
        <p:nvSpPr>
          <p:cNvPr id="77831" name="Rectangle 1031">
            <a:extLst>
              <a:ext uri="{FF2B5EF4-FFF2-40B4-BE49-F238E27FC236}">
                <a16:creationId xmlns:a16="http://schemas.microsoft.com/office/drawing/2014/main" id="{099EBCCE-88A5-EF42-8BD8-7C20D5389591}"/>
              </a:ext>
            </a:extLst>
          </p:cNvPr>
          <p:cNvSpPr>
            <a:spLocks noChangeArrowheads="1"/>
          </p:cNvSpPr>
          <p:nvPr/>
        </p:nvSpPr>
        <p:spPr bwMode="auto">
          <a:xfrm>
            <a:off x="5322653" y="6172201"/>
            <a:ext cx="2346797"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Computers</a:t>
            </a:r>
            <a:endParaRPr lang="en-US" altLang="en-US" sz="2400" b="1">
              <a:latin typeface="Arial" panose="020B0604020202020204" pitchFamily="34" charset="0"/>
            </a:endParaRPr>
          </a:p>
        </p:txBody>
      </p:sp>
      <p:sp>
        <p:nvSpPr>
          <p:cNvPr id="77832" name="Rectangle 1032">
            <a:extLst>
              <a:ext uri="{FF2B5EF4-FFF2-40B4-BE49-F238E27FC236}">
                <a16:creationId xmlns:a16="http://schemas.microsoft.com/office/drawing/2014/main" id="{EE4D4B2E-30BF-FE01-DDC7-FBD89341FFC1}"/>
              </a:ext>
            </a:extLst>
          </p:cNvPr>
          <p:cNvSpPr>
            <a:spLocks noChangeArrowheads="1"/>
          </p:cNvSpPr>
          <p:nvPr/>
        </p:nvSpPr>
        <p:spPr bwMode="auto">
          <a:xfrm>
            <a:off x="3505200" y="1524001"/>
            <a:ext cx="410370" cy="4521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600" b="1">
              <a:latin typeface="Arial" panose="020B0604020202020204" pitchFamily="34" charset="0"/>
            </a:endParaRPr>
          </a:p>
          <a:p>
            <a:pPr>
              <a:spcBef>
                <a:spcPct val="0"/>
              </a:spcBef>
              <a:buFontTx/>
              <a:buNone/>
            </a:pPr>
            <a:endParaRPr lang="en-US" altLang="en-US" sz="1600" b="1">
              <a:latin typeface="Arial" panose="020B0604020202020204" pitchFamily="34" charset="0"/>
            </a:endParaRPr>
          </a:p>
          <a:p>
            <a:pPr>
              <a:spcBef>
                <a:spcPct val="0"/>
              </a:spcBef>
              <a:buFontTx/>
              <a:buNone/>
            </a:pPr>
            <a:endParaRPr lang="en-US" altLang="en-US" sz="1600" b="1">
              <a:latin typeface="Arial" panose="020B0604020202020204" pitchFamily="34" charset="0"/>
            </a:endParaRPr>
          </a:p>
          <a:p>
            <a:pPr>
              <a:spcBef>
                <a:spcPct val="0"/>
              </a:spcBef>
              <a:buFontTx/>
              <a:buNone/>
            </a:pPr>
            <a:r>
              <a:rPr lang="en-US" altLang="en-US" sz="1600" b="1">
                <a:latin typeface="Arial" panose="020B0604020202020204" pitchFamily="34" charset="0"/>
              </a:rPr>
              <a:t>14</a:t>
            </a:r>
          </a:p>
          <a:p>
            <a:pPr>
              <a:spcBef>
                <a:spcPct val="0"/>
              </a:spcBef>
              <a:buFontTx/>
              <a:buNone/>
            </a:pPr>
            <a:endParaRPr lang="en-US" altLang="en-US" sz="1600" b="1">
              <a:latin typeface="Arial" panose="020B0604020202020204" pitchFamily="34" charset="0"/>
            </a:endParaRPr>
          </a:p>
          <a:p>
            <a:pPr>
              <a:spcBef>
                <a:spcPct val="0"/>
              </a:spcBef>
              <a:buFontTx/>
              <a:buNone/>
            </a:pPr>
            <a:r>
              <a:rPr lang="en-US" altLang="en-US" sz="1600" b="1">
                <a:latin typeface="Arial" panose="020B0604020202020204" pitchFamily="34" charset="0"/>
              </a:rPr>
              <a:t>12</a:t>
            </a:r>
          </a:p>
          <a:p>
            <a:pPr>
              <a:spcBef>
                <a:spcPct val="0"/>
              </a:spcBef>
              <a:buFontTx/>
              <a:buNone/>
            </a:pPr>
            <a:endParaRPr lang="en-US" altLang="en-US" sz="1600" b="1">
              <a:latin typeface="Arial" panose="020B0604020202020204" pitchFamily="34" charset="0"/>
            </a:endParaRPr>
          </a:p>
          <a:p>
            <a:pPr>
              <a:spcBef>
                <a:spcPct val="0"/>
              </a:spcBef>
              <a:buFontTx/>
              <a:buNone/>
            </a:pPr>
            <a:r>
              <a:rPr lang="en-US" altLang="en-US" sz="1600" b="1">
                <a:latin typeface="Arial" panose="020B0604020202020204" pitchFamily="34" charset="0"/>
              </a:rPr>
              <a:t>10</a:t>
            </a:r>
          </a:p>
          <a:p>
            <a:pPr>
              <a:spcBef>
                <a:spcPct val="0"/>
              </a:spcBef>
              <a:buFontTx/>
              <a:buNone/>
            </a:pPr>
            <a:endParaRPr lang="en-US" altLang="en-US" sz="1600" b="1">
              <a:latin typeface="Arial" panose="020B0604020202020204" pitchFamily="34" charset="0"/>
            </a:endParaRPr>
          </a:p>
          <a:p>
            <a:pPr>
              <a:spcBef>
                <a:spcPct val="0"/>
              </a:spcBef>
              <a:buFontTx/>
              <a:buNone/>
            </a:pPr>
            <a:r>
              <a:rPr lang="en-US" altLang="en-US" sz="1600" b="1">
                <a:latin typeface="Arial" panose="020B0604020202020204" pitchFamily="34" charset="0"/>
              </a:rPr>
              <a:t>8</a:t>
            </a:r>
          </a:p>
          <a:p>
            <a:pPr>
              <a:spcBef>
                <a:spcPct val="0"/>
              </a:spcBef>
              <a:buFontTx/>
              <a:buNone/>
            </a:pPr>
            <a:endParaRPr lang="en-US" altLang="en-US" sz="1600" b="1">
              <a:latin typeface="Arial" panose="020B0604020202020204" pitchFamily="34" charset="0"/>
            </a:endParaRPr>
          </a:p>
          <a:p>
            <a:pPr>
              <a:spcBef>
                <a:spcPct val="0"/>
              </a:spcBef>
              <a:buFontTx/>
              <a:buNone/>
            </a:pPr>
            <a:r>
              <a:rPr lang="en-US" altLang="en-US" sz="1600" b="1">
                <a:latin typeface="Arial" panose="020B0604020202020204" pitchFamily="34" charset="0"/>
              </a:rPr>
              <a:t>6</a:t>
            </a:r>
          </a:p>
          <a:p>
            <a:pPr>
              <a:spcBef>
                <a:spcPct val="0"/>
              </a:spcBef>
              <a:buFontTx/>
              <a:buNone/>
            </a:pPr>
            <a:endParaRPr lang="en-US" altLang="en-US" sz="1600" b="1">
              <a:latin typeface="Arial" panose="020B0604020202020204" pitchFamily="34" charset="0"/>
            </a:endParaRPr>
          </a:p>
          <a:p>
            <a:pPr>
              <a:spcBef>
                <a:spcPct val="0"/>
              </a:spcBef>
              <a:buFontTx/>
              <a:buNone/>
            </a:pPr>
            <a:r>
              <a:rPr lang="en-US" altLang="en-US" sz="1600" b="1">
                <a:latin typeface="Arial" panose="020B0604020202020204" pitchFamily="34" charset="0"/>
              </a:rPr>
              <a:t>4</a:t>
            </a:r>
          </a:p>
          <a:p>
            <a:pPr>
              <a:spcBef>
                <a:spcPct val="0"/>
              </a:spcBef>
              <a:buFontTx/>
              <a:buNone/>
            </a:pPr>
            <a:endParaRPr lang="en-US" altLang="en-US" sz="1600" b="1">
              <a:latin typeface="Arial" panose="020B0604020202020204" pitchFamily="34" charset="0"/>
            </a:endParaRPr>
          </a:p>
          <a:p>
            <a:pPr>
              <a:spcBef>
                <a:spcPct val="0"/>
              </a:spcBef>
              <a:buFontTx/>
              <a:buNone/>
            </a:pPr>
            <a:r>
              <a:rPr lang="en-US" altLang="en-US" sz="1600" b="1">
                <a:latin typeface="Arial" panose="020B0604020202020204" pitchFamily="34" charset="0"/>
              </a:rPr>
              <a:t>2</a:t>
            </a:r>
          </a:p>
          <a:p>
            <a:pPr>
              <a:spcBef>
                <a:spcPct val="0"/>
              </a:spcBef>
              <a:buFontTx/>
              <a:buNone/>
            </a:pPr>
            <a:endParaRPr lang="en-US" altLang="en-US" sz="1600" b="1">
              <a:latin typeface="Arial" panose="020B0604020202020204" pitchFamily="34" charset="0"/>
            </a:endParaRPr>
          </a:p>
          <a:p>
            <a:pPr>
              <a:spcBef>
                <a:spcPct val="0"/>
              </a:spcBef>
              <a:buFontTx/>
              <a:buNone/>
            </a:pPr>
            <a:r>
              <a:rPr lang="en-US" altLang="en-US" sz="1600" b="1">
                <a:latin typeface="Arial" panose="020B0604020202020204" pitchFamily="34" charset="0"/>
              </a:rPr>
              <a:t>0</a:t>
            </a:r>
          </a:p>
        </p:txBody>
      </p:sp>
      <p:sp>
        <p:nvSpPr>
          <p:cNvPr id="77833" name="Rectangle 1033">
            <a:extLst>
              <a:ext uri="{FF2B5EF4-FFF2-40B4-BE49-F238E27FC236}">
                <a16:creationId xmlns:a16="http://schemas.microsoft.com/office/drawing/2014/main" id="{0DEB0103-AF45-26F4-ED13-41D5EF94FD08}"/>
              </a:ext>
            </a:extLst>
          </p:cNvPr>
          <p:cNvSpPr>
            <a:spLocks noChangeArrowheads="1"/>
          </p:cNvSpPr>
          <p:nvPr/>
        </p:nvSpPr>
        <p:spPr bwMode="auto">
          <a:xfrm>
            <a:off x="3941764" y="5961064"/>
            <a:ext cx="379110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Arial" panose="020B0604020202020204" pitchFamily="34" charset="0"/>
              </a:rPr>
              <a:t>0        2        4       6       8       10</a:t>
            </a:r>
          </a:p>
        </p:txBody>
      </p:sp>
      <p:sp>
        <p:nvSpPr>
          <p:cNvPr id="77834" name="Oval 1034">
            <a:extLst>
              <a:ext uri="{FF2B5EF4-FFF2-40B4-BE49-F238E27FC236}">
                <a16:creationId xmlns:a16="http://schemas.microsoft.com/office/drawing/2014/main" id="{C7246D62-9DC2-928D-FE9F-14A66A14C1E3}"/>
              </a:ext>
            </a:extLst>
          </p:cNvPr>
          <p:cNvSpPr>
            <a:spLocks noChangeArrowheads="1"/>
          </p:cNvSpPr>
          <p:nvPr/>
        </p:nvSpPr>
        <p:spPr bwMode="auto">
          <a:xfrm>
            <a:off x="4800601" y="2895601"/>
            <a:ext cx="157163" cy="157163"/>
          </a:xfrm>
          <a:prstGeom prst="ellipse">
            <a:avLst/>
          </a:prstGeom>
          <a:solidFill>
            <a:srgbClr val="CC0000"/>
          </a:solidFill>
          <a:ln w="3175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77835" name="Oval 1035">
            <a:extLst>
              <a:ext uri="{FF2B5EF4-FFF2-40B4-BE49-F238E27FC236}">
                <a16:creationId xmlns:a16="http://schemas.microsoft.com/office/drawing/2014/main" id="{54B6E84D-2560-45DA-DFDC-111B4D95391A}"/>
              </a:ext>
            </a:extLst>
          </p:cNvPr>
          <p:cNvSpPr>
            <a:spLocks noChangeArrowheads="1"/>
          </p:cNvSpPr>
          <p:nvPr/>
        </p:nvSpPr>
        <p:spPr bwMode="auto">
          <a:xfrm>
            <a:off x="5491163" y="3630613"/>
            <a:ext cx="157162" cy="157162"/>
          </a:xfrm>
          <a:prstGeom prst="ellipse">
            <a:avLst/>
          </a:prstGeom>
          <a:solidFill>
            <a:srgbClr val="CC0000"/>
          </a:solidFill>
          <a:ln w="3175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77836" name="Oval 1036">
            <a:extLst>
              <a:ext uri="{FF2B5EF4-FFF2-40B4-BE49-F238E27FC236}">
                <a16:creationId xmlns:a16="http://schemas.microsoft.com/office/drawing/2014/main" id="{917DCF3B-E74D-8FE1-E088-254A442E3C7A}"/>
              </a:ext>
            </a:extLst>
          </p:cNvPr>
          <p:cNvSpPr>
            <a:spLocks noChangeArrowheads="1"/>
          </p:cNvSpPr>
          <p:nvPr/>
        </p:nvSpPr>
        <p:spPr bwMode="auto">
          <a:xfrm>
            <a:off x="6096001" y="4495801"/>
            <a:ext cx="157163" cy="157163"/>
          </a:xfrm>
          <a:prstGeom prst="ellipse">
            <a:avLst/>
          </a:prstGeom>
          <a:solidFill>
            <a:srgbClr val="CC0000"/>
          </a:solidFill>
          <a:ln w="3175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77837" name="Oval 1037">
            <a:extLst>
              <a:ext uri="{FF2B5EF4-FFF2-40B4-BE49-F238E27FC236}">
                <a16:creationId xmlns:a16="http://schemas.microsoft.com/office/drawing/2014/main" id="{D6970457-DD6B-4585-2B6C-AF061DA4BC5E}"/>
              </a:ext>
            </a:extLst>
          </p:cNvPr>
          <p:cNvSpPr>
            <a:spLocks noChangeArrowheads="1"/>
          </p:cNvSpPr>
          <p:nvPr/>
        </p:nvSpPr>
        <p:spPr bwMode="auto">
          <a:xfrm>
            <a:off x="3886201" y="2362201"/>
            <a:ext cx="157163" cy="157163"/>
          </a:xfrm>
          <a:prstGeom prst="ellipse">
            <a:avLst/>
          </a:prstGeom>
          <a:solidFill>
            <a:srgbClr val="CC0000"/>
          </a:solidFill>
          <a:ln w="3175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77838" name="Oval 1038">
            <a:extLst>
              <a:ext uri="{FF2B5EF4-FFF2-40B4-BE49-F238E27FC236}">
                <a16:creationId xmlns:a16="http://schemas.microsoft.com/office/drawing/2014/main" id="{9BFA053B-B5AE-7D4C-9255-B10B04B6DC1A}"/>
              </a:ext>
            </a:extLst>
          </p:cNvPr>
          <p:cNvSpPr>
            <a:spLocks noChangeArrowheads="1"/>
          </p:cNvSpPr>
          <p:nvPr/>
        </p:nvSpPr>
        <p:spPr bwMode="auto">
          <a:xfrm>
            <a:off x="6369051" y="3009901"/>
            <a:ext cx="195263" cy="195263"/>
          </a:xfrm>
          <a:prstGeom prst="ellipse">
            <a:avLst/>
          </a:prstGeom>
          <a:solidFill>
            <a:srgbClr val="CC0000"/>
          </a:solidFill>
          <a:ln w="2857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77839" name="Rectangle 1039">
            <a:extLst>
              <a:ext uri="{FF2B5EF4-FFF2-40B4-BE49-F238E27FC236}">
                <a16:creationId xmlns:a16="http://schemas.microsoft.com/office/drawing/2014/main" id="{DD0FFF8F-6909-8984-97D8-C33F91E28995}"/>
              </a:ext>
            </a:extLst>
          </p:cNvPr>
          <p:cNvSpPr>
            <a:spLocks noChangeArrowheads="1"/>
          </p:cNvSpPr>
          <p:nvPr/>
        </p:nvSpPr>
        <p:spPr bwMode="auto">
          <a:xfrm>
            <a:off x="3962400" y="2057401"/>
            <a:ext cx="368692"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Arial" panose="020B0604020202020204" pitchFamily="34" charset="0"/>
              </a:rPr>
              <a:t>A</a:t>
            </a:r>
          </a:p>
        </p:txBody>
      </p:sp>
      <p:sp>
        <p:nvSpPr>
          <p:cNvPr id="77840" name="Rectangle 1040">
            <a:extLst>
              <a:ext uri="{FF2B5EF4-FFF2-40B4-BE49-F238E27FC236}">
                <a16:creationId xmlns:a16="http://schemas.microsoft.com/office/drawing/2014/main" id="{223159BE-C6EB-7C9C-2174-ED08496E4131}"/>
              </a:ext>
            </a:extLst>
          </p:cNvPr>
          <p:cNvSpPr>
            <a:spLocks noChangeArrowheads="1"/>
          </p:cNvSpPr>
          <p:nvPr/>
        </p:nvSpPr>
        <p:spPr bwMode="auto">
          <a:xfrm>
            <a:off x="4876800" y="2514601"/>
            <a:ext cx="368692"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Arial" panose="020B0604020202020204" pitchFamily="34" charset="0"/>
              </a:rPr>
              <a:t>B</a:t>
            </a:r>
          </a:p>
        </p:txBody>
      </p:sp>
      <p:sp>
        <p:nvSpPr>
          <p:cNvPr id="77841" name="Rectangle 1041">
            <a:extLst>
              <a:ext uri="{FF2B5EF4-FFF2-40B4-BE49-F238E27FC236}">
                <a16:creationId xmlns:a16="http://schemas.microsoft.com/office/drawing/2014/main" id="{E07D2C48-8BD0-831E-CE76-BB53433B2E96}"/>
              </a:ext>
            </a:extLst>
          </p:cNvPr>
          <p:cNvSpPr>
            <a:spLocks noChangeArrowheads="1"/>
          </p:cNvSpPr>
          <p:nvPr/>
        </p:nvSpPr>
        <p:spPr bwMode="auto">
          <a:xfrm>
            <a:off x="5562600" y="3200401"/>
            <a:ext cx="368692"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Arial" panose="020B0604020202020204" pitchFamily="34" charset="0"/>
              </a:rPr>
              <a:t>C</a:t>
            </a:r>
          </a:p>
        </p:txBody>
      </p:sp>
      <p:sp>
        <p:nvSpPr>
          <p:cNvPr id="77842" name="Rectangle 1042">
            <a:extLst>
              <a:ext uri="{FF2B5EF4-FFF2-40B4-BE49-F238E27FC236}">
                <a16:creationId xmlns:a16="http://schemas.microsoft.com/office/drawing/2014/main" id="{D10EF196-5D59-F0F5-1054-CD92628D6044}"/>
              </a:ext>
            </a:extLst>
          </p:cNvPr>
          <p:cNvSpPr>
            <a:spLocks noChangeArrowheads="1"/>
          </p:cNvSpPr>
          <p:nvPr/>
        </p:nvSpPr>
        <p:spPr bwMode="auto">
          <a:xfrm>
            <a:off x="6172200" y="4114801"/>
            <a:ext cx="368692"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Arial" panose="020B0604020202020204" pitchFamily="34" charset="0"/>
              </a:rPr>
              <a:t>D</a:t>
            </a:r>
          </a:p>
        </p:txBody>
      </p:sp>
      <p:sp>
        <p:nvSpPr>
          <p:cNvPr id="77843" name="Rectangle 1043">
            <a:extLst>
              <a:ext uri="{FF2B5EF4-FFF2-40B4-BE49-F238E27FC236}">
                <a16:creationId xmlns:a16="http://schemas.microsoft.com/office/drawing/2014/main" id="{9CF35664-1CAA-EEC0-4F3B-129AC900A655}"/>
              </a:ext>
            </a:extLst>
          </p:cNvPr>
          <p:cNvSpPr>
            <a:spLocks noChangeArrowheads="1"/>
          </p:cNvSpPr>
          <p:nvPr/>
        </p:nvSpPr>
        <p:spPr bwMode="auto">
          <a:xfrm>
            <a:off x="6781801" y="5410201"/>
            <a:ext cx="3542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Arial" panose="020B0604020202020204" pitchFamily="34" charset="0"/>
              </a:rPr>
              <a:t>E</a:t>
            </a:r>
          </a:p>
        </p:txBody>
      </p:sp>
      <p:sp>
        <p:nvSpPr>
          <p:cNvPr id="77844" name="Rectangle 1044">
            <a:extLst>
              <a:ext uri="{FF2B5EF4-FFF2-40B4-BE49-F238E27FC236}">
                <a16:creationId xmlns:a16="http://schemas.microsoft.com/office/drawing/2014/main" id="{27A3C929-EB5F-9E7F-A867-DED0BB398739}"/>
              </a:ext>
            </a:extLst>
          </p:cNvPr>
          <p:cNvSpPr>
            <a:spLocks noChangeArrowheads="1"/>
          </p:cNvSpPr>
          <p:nvPr/>
        </p:nvSpPr>
        <p:spPr bwMode="auto">
          <a:xfrm>
            <a:off x="6670675" y="2944814"/>
            <a:ext cx="38151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Arial" panose="020B0604020202020204" pitchFamily="34" charset="0"/>
              </a:rPr>
              <a:t>G</a:t>
            </a:r>
          </a:p>
        </p:txBody>
      </p:sp>
      <p:sp>
        <p:nvSpPr>
          <p:cNvPr id="77845" name="Rectangle 1045">
            <a:extLst>
              <a:ext uri="{FF2B5EF4-FFF2-40B4-BE49-F238E27FC236}">
                <a16:creationId xmlns:a16="http://schemas.microsoft.com/office/drawing/2014/main" id="{BBF18327-042E-48FC-BCA2-0D140EBF1B96}"/>
              </a:ext>
            </a:extLst>
          </p:cNvPr>
          <p:cNvSpPr>
            <a:spLocks noChangeArrowheads="1"/>
          </p:cNvSpPr>
          <p:nvPr/>
        </p:nvSpPr>
        <p:spPr bwMode="auto">
          <a:xfrm>
            <a:off x="3886200" y="4572001"/>
            <a:ext cx="25336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800" b="1">
                <a:solidFill>
                  <a:srgbClr val="CC0000"/>
                </a:solidFill>
                <a:latin typeface="Arial" panose="020B0604020202020204" pitchFamily="34" charset="0"/>
              </a:rPr>
              <a:t> Inefficient/ Unemployment</a:t>
            </a:r>
          </a:p>
        </p:txBody>
      </p:sp>
      <p:sp>
        <p:nvSpPr>
          <p:cNvPr id="77846" name="Rectangle 1046">
            <a:extLst>
              <a:ext uri="{FF2B5EF4-FFF2-40B4-BE49-F238E27FC236}">
                <a16:creationId xmlns:a16="http://schemas.microsoft.com/office/drawing/2014/main" id="{DEF84234-962D-528D-776F-AD926693050D}"/>
              </a:ext>
            </a:extLst>
          </p:cNvPr>
          <p:cNvSpPr>
            <a:spLocks noChangeArrowheads="1"/>
          </p:cNvSpPr>
          <p:nvPr/>
        </p:nvSpPr>
        <p:spPr bwMode="auto">
          <a:xfrm>
            <a:off x="4953000" y="1676400"/>
            <a:ext cx="39624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1">
                <a:latin typeface="Arial" panose="020B0604020202020204" pitchFamily="34" charset="0"/>
              </a:rPr>
              <a:t>Impossible/Unattainable </a:t>
            </a:r>
          </a:p>
          <a:p>
            <a:pPr algn="ctr">
              <a:spcBef>
                <a:spcPct val="0"/>
              </a:spcBef>
              <a:buFontTx/>
              <a:buNone/>
            </a:pPr>
            <a:r>
              <a:rPr lang="en-US" altLang="en-US" sz="1600" b="1">
                <a:latin typeface="Arial" panose="020B0604020202020204" pitchFamily="34" charset="0"/>
              </a:rPr>
              <a:t>(given current resources)</a:t>
            </a:r>
          </a:p>
        </p:txBody>
      </p:sp>
      <p:sp>
        <p:nvSpPr>
          <p:cNvPr id="77847" name="Line 1047">
            <a:extLst>
              <a:ext uri="{FF2B5EF4-FFF2-40B4-BE49-F238E27FC236}">
                <a16:creationId xmlns:a16="http://schemas.microsoft.com/office/drawing/2014/main" id="{C8FD7B53-AE12-0485-ABF6-CE9900D3F14B}"/>
              </a:ext>
            </a:extLst>
          </p:cNvPr>
          <p:cNvSpPr>
            <a:spLocks noChangeShapeType="1"/>
          </p:cNvSpPr>
          <p:nvPr/>
        </p:nvSpPr>
        <p:spPr bwMode="auto">
          <a:xfrm flipH="1">
            <a:off x="6486525" y="2436814"/>
            <a:ext cx="120650" cy="530225"/>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LK"/>
          </a:p>
        </p:txBody>
      </p:sp>
      <p:sp>
        <p:nvSpPr>
          <p:cNvPr id="77848" name="Rectangle 1048">
            <a:extLst>
              <a:ext uri="{FF2B5EF4-FFF2-40B4-BE49-F238E27FC236}">
                <a16:creationId xmlns:a16="http://schemas.microsoft.com/office/drawing/2014/main" id="{4E302377-AE85-F24D-6776-93E897BFA278}"/>
              </a:ext>
            </a:extLst>
          </p:cNvPr>
          <p:cNvSpPr>
            <a:spLocks noChangeArrowheads="1"/>
          </p:cNvSpPr>
          <p:nvPr/>
        </p:nvSpPr>
        <p:spPr bwMode="auto">
          <a:xfrm>
            <a:off x="6096000" y="3810000"/>
            <a:ext cx="33845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800" b="1">
                <a:latin typeface="Arial" panose="020B0604020202020204" pitchFamily="34" charset="0"/>
              </a:rPr>
              <a:t>Efficient</a:t>
            </a:r>
          </a:p>
        </p:txBody>
      </p:sp>
      <p:sp>
        <p:nvSpPr>
          <p:cNvPr id="77849" name="Line 1049">
            <a:extLst>
              <a:ext uri="{FF2B5EF4-FFF2-40B4-BE49-F238E27FC236}">
                <a16:creationId xmlns:a16="http://schemas.microsoft.com/office/drawing/2014/main" id="{07C0A681-1843-2CE7-BA71-0CBFA2AFADB2}"/>
              </a:ext>
            </a:extLst>
          </p:cNvPr>
          <p:cNvSpPr>
            <a:spLocks noChangeShapeType="1"/>
          </p:cNvSpPr>
          <p:nvPr/>
        </p:nvSpPr>
        <p:spPr bwMode="auto">
          <a:xfrm flipH="1">
            <a:off x="6553201" y="4343401"/>
            <a:ext cx="887413" cy="925513"/>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LK"/>
          </a:p>
        </p:txBody>
      </p:sp>
      <p:sp>
        <p:nvSpPr>
          <p:cNvPr id="45080" name="Rectangle 1050">
            <a:extLst>
              <a:ext uri="{FF2B5EF4-FFF2-40B4-BE49-F238E27FC236}">
                <a16:creationId xmlns:a16="http://schemas.microsoft.com/office/drawing/2014/main" id="{DCF074FC-3BB9-46C2-6E59-7D4B530C696E}"/>
              </a:ext>
            </a:extLst>
          </p:cNvPr>
          <p:cNvSpPr>
            <a:spLocks noChangeArrowheads="1"/>
          </p:cNvSpPr>
          <p:nvPr/>
        </p:nvSpPr>
        <p:spPr bwMode="auto">
          <a:xfrm>
            <a:off x="1676400" y="76200"/>
            <a:ext cx="878205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800" b="1">
                <a:solidFill>
                  <a:srgbClr val="000099"/>
                </a:solidFill>
              </a:rPr>
              <a:t>Production Possibilities</a:t>
            </a:r>
          </a:p>
        </p:txBody>
      </p:sp>
      <p:sp>
        <p:nvSpPr>
          <p:cNvPr id="77851" name="Oval 1051">
            <a:extLst>
              <a:ext uri="{FF2B5EF4-FFF2-40B4-BE49-F238E27FC236}">
                <a16:creationId xmlns:a16="http://schemas.microsoft.com/office/drawing/2014/main" id="{3F33BEFA-921B-653F-6E26-B92CC0FE417E}"/>
              </a:ext>
            </a:extLst>
          </p:cNvPr>
          <p:cNvSpPr>
            <a:spLocks noChangeArrowheads="1"/>
          </p:cNvSpPr>
          <p:nvPr/>
        </p:nvSpPr>
        <p:spPr bwMode="auto">
          <a:xfrm>
            <a:off x="6629401" y="5715001"/>
            <a:ext cx="157163" cy="157163"/>
          </a:xfrm>
          <a:prstGeom prst="ellipse">
            <a:avLst/>
          </a:prstGeom>
          <a:solidFill>
            <a:srgbClr val="CC0000"/>
          </a:solidFill>
          <a:ln w="3175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77852" name="Rectangle 1052">
            <a:extLst>
              <a:ext uri="{FF2B5EF4-FFF2-40B4-BE49-F238E27FC236}">
                <a16:creationId xmlns:a16="http://schemas.microsoft.com/office/drawing/2014/main" id="{978C6751-A6AC-2571-342C-9C92502BEF99}"/>
              </a:ext>
            </a:extLst>
          </p:cNvPr>
          <p:cNvSpPr>
            <a:spLocks noChangeArrowheads="1"/>
          </p:cNvSpPr>
          <p:nvPr/>
        </p:nvSpPr>
        <p:spPr bwMode="auto">
          <a:xfrm>
            <a:off x="1676400" y="762001"/>
            <a:ext cx="91440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buFontTx/>
              <a:buNone/>
            </a:pPr>
            <a:r>
              <a:rPr lang="en-US" altLang="en-US" sz="2800" b="1">
                <a:solidFill>
                  <a:srgbClr val="990000"/>
                </a:solidFill>
              </a:rPr>
              <a:t>How does the PPC graphically demonstrates scarcity, trade-offs, opportunity costs, and efficiency?</a:t>
            </a:r>
          </a:p>
        </p:txBody>
      </p:sp>
      <p:sp>
        <p:nvSpPr>
          <p:cNvPr id="45083" name="Slide Number Placeholder 28">
            <a:extLst>
              <a:ext uri="{FF2B5EF4-FFF2-40B4-BE49-F238E27FC236}">
                <a16:creationId xmlns:a16="http://schemas.microsoft.com/office/drawing/2014/main" id="{512E96DF-791C-8D6B-2A30-D929E9DE84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0D89A77-0F3A-A641-A751-B789F738ED5E}" type="slidenum">
              <a:rPr lang="en-US" altLang="en-US" sz="1400"/>
              <a:pPr>
                <a:spcBef>
                  <a:spcPct val="0"/>
                </a:spcBef>
                <a:buFontTx/>
                <a:buNone/>
              </a:pPr>
              <a:t>20</a:t>
            </a:fld>
            <a:endParaRPr lang="en-US" altLang="en-US" sz="1400"/>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7830"/>
                                        </p:tgtEl>
                                        <p:attrNameLst>
                                          <p:attrName>style.visibility</p:attrName>
                                        </p:attrNameLst>
                                      </p:cBhvr>
                                      <p:to>
                                        <p:strVal val="visible"/>
                                      </p:to>
                                    </p:set>
                                    <p:animEffect transition="in" filter="dissolve">
                                      <p:cBhvr>
                                        <p:cTn id="11" dur="500"/>
                                        <p:tgtEl>
                                          <p:spTgt spid="77830"/>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77831"/>
                                        </p:tgtEl>
                                        <p:attrNameLst>
                                          <p:attrName>style.visibility</p:attrName>
                                        </p:attrNameLst>
                                      </p:cBhvr>
                                      <p:to>
                                        <p:strVal val="visible"/>
                                      </p:to>
                                    </p:set>
                                    <p:animEffect transition="in" filter="dissolve">
                                      <p:cBhvr>
                                        <p:cTn id="15" dur="500"/>
                                        <p:tgtEl>
                                          <p:spTgt spid="77831"/>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77832"/>
                                        </p:tgtEl>
                                        <p:attrNameLst>
                                          <p:attrName>style.visibility</p:attrName>
                                        </p:attrNameLst>
                                      </p:cBhvr>
                                      <p:to>
                                        <p:strVal val="visible"/>
                                      </p:to>
                                    </p:set>
                                    <p:animEffect transition="in" filter="wipe(down)">
                                      <p:cBhvr>
                                        <p:cTn id="19" dur="500"/>
                                        <p:tgtEl>
                                          <p:spTgt spid="77832"/>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77833"/>
                                        </p:tgtEl>
                                        <p:attrNameLst>
                                          <p:attrName>style.visibility</p:attrName>
                                        </p:attrNameLst>
                                      </p:cBhvr>
                                      <p:to>
                                        <p:strVal val="visible"/>
                                      </p:to>
                                    </p:set>
                                    <p:animEffect transition="in" filter="wipe(left)">
                                      <p:cBhvr>
                                        <p:cTn id="23" dur="500"/>
                                        <p:tgtEl>
                                          <p:spTgt spid="7783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77837"/>
                                        </p:tgtEl>
                                        <p:attrNameLst>
                                          <p:attrName>style.visibility</p:attrName>
                                        </p:attrNameLst>
                                      </p:cBhvr>
                                      <p:to>
                                        <p:strVal val="visible"/>
                                      </p:to>
                                    </p:set>
                                    <p:animEffect transition="in" filter="dissolve">
                                      <p:cBhvr>
                                        <p:cTn id="28" dur="500"/>
                                        <p:tgtEl>
                                          <p:spTgt spid="77837"/>
                                        </p:tgtEl>
                                      </p:cBhvr>
                                    </p:animEffect>
                                  </p:childTnLst>
                                </p:cTn>
                              </p:par>
                            </p:childTnLst>
                          </p:cTn>
                        </p:par>
                        <p:par>
                          <p:cTn id="29" fill="hold" nodeType="afterGroup">
                            <p:stCondLst>
                              <p:cond delay="500"/>
                            </p:stCondLst>
                            <p:childTnLst>
                              <p:par>
                                <p:cTn id="30" presetID="9" presetClass="entr" presetSubtype="0" fill="hold" nodeType="afterEffect">
                                  <p:stCondLst>
                                    <p:cond delay="0"/>
                                  </p:stCondLst>
                                  <p:childTnLst>
                                    <p:set>
                                      <p:cBhvr>
                                        <p:cTn id="31" dur="1" fill="hold">
                                          <p:stCondLst>
                                            <p:cond delay="0"/>
                                          </p:stCondLst>
                                        </p:cTn>
                                        <p:tgtEl>
                                          <p:spTgt spid="77839"/>
                                        </p:tgtEl>
                                        <p:attrNameLst>
                                          <p:attrName>style.visibility</p:attrName>
                                        </p:attrNameLst>
                                      </p:cBhvr>
                                      <p:to>
                                        <p:strVal val="visible"/>
                                      </p:to>
                                    </p:set>
                                    <p:animEffect transition="in" filter="dissolve">
                                      <p:cBhvr>
                                        <p:cTn id="32" dur="500"/>
                                        <p:tgtEl>
                                          <p:spTgt spid="7783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77834"/>
                                        </p:tgtEl>
                                        <p:attrNameLst>
                                          <p:attrName>style.visibility</p:attrName>
                                        </p:attrNameLst>
                                      </p:cBhvr>
                                      <p:to>
                                        <p:strVal val="visible"/>
                                      </p:to>
                                    </p:set>
                                    <p:animEffect transition="in" filter="dissolve">
                                      <p:cBhvr>
                                        <p:cTn id="37" dur="500"/>
                                        <p:tgtEl>
                                          <p:spTgt spid="77834"/>
                                        </p:tgtEl>
                                      </p:cBhvr>
                                    </p:animEffect>
                                  </p:childTnLst>
                                </p:cTn>
                              </p:par>
                            </p:childTnLst>
                          </p:cTn>
                        </p:par>
                        <p:par>
                          <p:cTn id="38" fill="hold" nodeType="afterGroup">
                            <p:stCondLst>
                              <p:cond delay="500"/>
                            </p:stCondLst>
                            <p:childTnLst>
                              <p:par>
                                <p:cTn id="39" presetID="9" presetClass="entr" presetSubtype="0" fill="hold" nodeType="afterEffect">
                                  <p:stCondLst>
                                    <p:cond delay="0"/>
                                  </p:stCondLst>
                                  <p:childTnLst>
                                    <p:set>
                                      <p:cBhvr>
                                        <p:cTn id="40" dur="1" fill="hold">
                                          <p:stCondLst>
                                            <p:cond delay="0"/>
                                          </p:stCondLst>
                                        </p:cTn>
                                        <p:tgtEl>
                                          <p:spTgt spid="77840"/>
                                        </p:tgtEl>
                                        <p:attrNameLst>
                                          <p:attrName>style.visibility</p:attrName>
                                        </p:attrNameLst>
                                      </p:cBhvr>
                                      <p:to>
                                        <p:strVal val="visible"/>
                                      </p:to>
                                    </p:set>
                                    <p:animEffect transition="in" filter="dissolve">
                                      <p:cBhvr>
                                        <p:cTn id="41" dur="500"/>
                                        <p:tgtEl>
                                          <p:spTgt spid="7784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77835"/>
                                        </p:tgtEl>
                                        <p:attrNameLst>
                                          <p:attrName>style.visibility</p:attrName>
                                        </p:attrNameLst>
                                      </p:cBhvr>
                                      <p:to>
                                        <p:strVal val="visible"/>
                                      </p:to>
                                    </p:set>
                                    <p:animEffect transition="in" filter="dissolve">
                                      <p:cBhvr>
                                        <p:cTn id="46" dur="500"/>
                                        <p:tgtEl>
                                          <p:spTgt spid="77835"/>
                                        </p:tgtEl>
                                      </p:cBhvr>
                                    </p:animEffect>
                                  </p:childTnLst>
                                </p:cTn>
                              </p:par>
                            </p:childTnLst>
                          </p:cTn>
                        </p:par>
                        <p:par>
                          <p:cTn id="47" fill="hold" nodeType="afterGroup">
                            <p:stCondLst>
                              <p:cond delay="500"/>
                            </p:stCondLst>
                            <p:childTnLst>
                              <p:par>
                                <p:cTn id="48" presetID="9" presetClass="entr" presetSubtype="0" fill="hold" nodeType="afterEffect">
                                  <p:stCondLst>
                                    <p:cond delay="0"/>
                                  </p:stCondLst>
                                  <p:childTnLst>
                                    <p:set>
                                      <p:cBhvr>
                                        <p:cTn id="49" dur="1" fill="hold">
                                          <p:stCondLst>
                                            <p:cond delay="0"/>
                                          </p:stCondLst>
                                        </p:cTn>
                                        <p:tgtEl>
                                          <p:spTgt spid="77841"/>
                                        </p:tgtEl>
                                        <p:attrNameLst>
                                          <p:attrName>style.visibility</p:attrName>
                                        </p:attrNameLst>
                                      </p:cBhvr>
                                      <p:to>
                                        <p:strVal val="visible"/>
                                      </p:to>
                                    </p:set>
                                    <p:animEffect transition="in" filter="dissolve">
                                      <p:cBhvr>
                                        <p:cTn id="50" dur="500"/>
                                        <p:tgtEl>
                                          <p:spTgt spid="7784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77836"/>
                                        </p:tgtEl>
                                        <p:attrNameLst>
                                          <p:attrName>style.visibility</p:attrName>
                                        </p:attrNameLst>
                                      </p:cBhvr>
                                      <p:to>
                                        <p:strVal val="visible"/>
                                      </p:to>
                                    </p:set>
                                    <p:animEffect transition="in" filter="dissolve">
                                      <p:cBhvr>
                                        <p:cTn id="55" dur="500"/>
                                        <p:tgtEl>
                                          <p:spTgt spid="77836"/>
                                        </p:tgtEl>
                                      </p:cBhvr>
                                    </p:animEffect>
                                  </p:childTnLst>
                                </p:cTn>
                              </p:par>
                            </p:childTnLst>
                          </p:cTn>
                        </p:par>
                        <p:par>
                          <p:cTn id="56" fill="hold" nodeType="afterGroup">
                            <p:stCondLst>
                              <p:cond delay="500"/>
                            </p:stCondLst>
                            <p:childTnLst>
                              <p:par>
                                <p:cTn id="57" presetID="9" presetClass="entr" presetSubtype="0" fill="hold" nodeType="afterEffect">
                                  <p:stCondLst>
                                    <p:cond delay="0"/>
                                  </p:stCondLst>
                                  <p:childTnLst>
                                    <p:set>
                                      <p:cBhvr>
                                        <p:cTn id="58" dur="1" fill="hold">
                                          <p:stCondLst>
                                            <p:cond delay="0"/>
                                          </p:stCondLst>
                                        </p:cTn>
                                        <p:tgtEl>
                                          <p:spTgt spid="77842"/>
                                        </p:tgtEl>
                                        <p:attrNameLst>
                                          <p:attrName>style.visibility</p:attrName>
                                        </p:attrNameLst>
                                      </p:cBhvr>
                                      <p:to>
                                        <p:strVal val="visible"/>
                                      </p:to>
                                    </p:set>
                                    <p:animEffect transition="in" filter="dissolve">
                                      <p:cBhvr>
                                        <p:cTn id="59" dur="500"/>
                                        <p:tgtEl>
                                          <p:spTgt spid="7784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9" presetClass="entr" presetSubtype="0" fill="hold" nodeType="clickEffect">
                                  <p:stCondLst>
                                    <p:cond delay="0"/>
                                  </p:stCondLst>
                                  <p:childTnLst>
                                    <p:set>
                                      <p:cBhvr>
                                        <p:cTn id="63" dur="1" fill="hold">
                                          <p:stCondLst>
                                            <p:cond delay="0"/>
                                          </p:stCondLst>
                                        </p:cTn>
                                        <p:tgtEl>
                                          <p:spTgt spid="77851"/>
                                        </p:tgtEl>
                                        <p:attrNameLst>
                                          <p:attrName>style.visibility</p:attrName>
                                        </p:attrNameLst>
                                      </p:cBhvr>
                                      <p:to>
                                        <p:strVal val="visible"/>
                                      </p:to>
                                    </p:set>
                                    <p:animEffect transition="in" filter="dissolve">
                                      <p:cBhvr>
                                        <p:cTn id="64" dur="500"/>
                                        <p:tgtEl>
                                          <p:spTgt spid="77851"/>
                                        </p:tgtEl>
                                      </p:cBhvr>
                                    </p:animEffect>
                                  </p:childTnLst>
                                </p:cTn>
                              </p:par>
                            </p:childTnLst>
                          </p:cTn>
                        </p:par>
                        <p:par>
                          <p:cTn id="65" fill="hold" nodeType="afterGroup">
                            <p:stCondLst>
                              <p:cond delay="500"/>
                            </p:stCondLst>
                            <p:childTnLst>
                              <p:par>
                                <p:cTn id="66" presetID="9" presetClass="entr" presetSubtype="0" fill="hold" nodeType="afterEffect">
                                  <p:stCondLst>
                                    <p:cond delay="0"/>
                                  </p:stCondLst>
                                  <p:childTnLst>
                                    <p:set>
                                      <p:cBhvr>
                                        <p:cTn id="67" dur="1" fill="hold">
                                          <p:stCondLst>
                                            <p:cond delay="0"/>
                                          </p:stCondLst>
                                        </p:cTn>
                                        <p:tgtEl>
                                          <p:spTgt spid="77843"/>
                                        </p:tgtEl>
                                        <p:attrNameLst>
                                          <p:attrName>style.visibility</p:attrName>
                                        </p:attrNameLst>
                                      </p:cBhvr>
                                      <p:to>
                                        <p:strVal val="visible"/>
                                      </p:to>
                                    </p:set>
                                    <p:animEffect transition="in" filter="dissolve">
                                      <p:cBhvr>
                                        <p:cTn id="68" dur="500"/>
                                        <p:tgtEl>
                                          <p:spTgt spid="7784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77826"/>
                                        </p:tgtEl>
                                        <p:attrNameLst>
                                          <p:attrName>style.visibility</p:attrName>
                                        </p:attrNameLst>
                                      </p:cBhvr>
                                      <p:to>
                                        <p:strVal val="visible"/>
                                      </p:to>
                                    </p:set>
                                    <p:animEffect transition="in" filter="dissolve">
                                      <p:cBhvr>
                                        <p:cTn id="73" dur="500"/>
                                        <p:tgtEl>
                                          <p:spTgt spid="7782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8" fill="hold" nodeType="clickEffect">
                                  <p:stCondLst>
                                    <p:cond delay="0"/>
                                  </p:stCondLst>
                                  <p:childTnLst>
                                    <p:set>
                                      <p:cBhvr>
                                        <p:cTn id="77" dur="1" fill="hold">
                                          <p:stCondLst>
                                            <p:cond delay="0"/>
                                          </p:stCondLst>
                                        </p:cTn>
                                        <p:tgtEl>
                                          <p:spTgt spid="77852"/>
                                        </p:tgtEl>
                                        <p:attrNameLst>
                                          <p:attrName>style.visibility</p:attrName>
                                        </p:attrNameLst>
                                      </p:cBhvr>
                                      <p:to>
                                        <p:strVal val="visible"/>
                                      </p:to>
                                    </p:set>
                                    <p:anim calcmode="lin" valueType="num">
                                      <p:cBhvr additive="base">
                                        <p:cTn id="78" dur="500" fill="hold"/>
                                        <p:tgtEl>
                                          <p:spTgt spid="77852"/>
                                        </p:tgtEl>
                                        <p:attrNameLst>
                                          <p:attrName>ppt_x</p:attrName>
                                        </p:attrNameLst>
                                      </p:cBhvr>
                                      <p:tavLst>
                                        <p:tav tm="0">
                                          <p:val>
                                            <p:strVal val="0-#ppt_w/2"/>
                                          </p:val>
                                        </p:tav>
                                        <p:tav tm="100000">
                                          <p:val>
                                            <p:strVal val="#ppt_x"/>
                                          </p:val>
                                        </p:tav>
                                      </p:tavLst>
                                    </p:anim>
                                    <p:anim calcmode="lin" valueType="num">
                                      <p:cBhvr additive="base">
                                        <p:cTn id="79" dur="500" fill="hold"/>
                                        <p:tgtEl>
                                          <p:spTgt spid="77852"/>
                                        </p:tgtEl>
                                        <p:attrNameLst>
                                          <p:attrName>ppt_y</p:attrName>
                                        </p:attrNameLst>
                                      </p:cBhvr>
                                      <p:tavLst>
                                        <p:tav tm="0">
                                          <p:val>
                                            <p:strVal val="#ppt_y"/>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nodeType="clickEffect">
                                  <p:stCondLst>
                                    <p:cond delay="0"/>
                                  </p:stCondLst>
                                  <p:childTnLst>
                                    <p:set>
                                      <p:cBhvr>
                                        <p:cTn id="83" dur="1" fill="hold">
                                          <p:stCondLst>
                                            <p:cond delay="0"/>
                                          </p:stCondLst>
                                        </p:cTn>
                                        <p:tgtEl>
                                          <p:spTgt spid="77845"/>
                                        </p:tgtEl>
                                        <p:attrNameLst>
                                          <p:attrName>style.visibility</p:attrName>
                                        </p:attrNameLst>
                                      </p:cBhvr>
                                      <p:to>
                                        <p:strVal val="visible"/>
                                      </p:to>
                                    </p:set>
                                    <p:animEffect transition="in" filter="dissolve">
                                      <p:cBhvr>
                                        <p:cTn id="84" dur="500"/>
                                        <p:tgtEl>
                                          <p:spTgt spid="77845"/>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9" presetClass="entr" presetSubtype="0" fill="hold" nodeType="clickEffect">
                                  <p:stCondLst>
                                    <p:cond delay="0"/>
                                  </p:stCondLst>
                                  <p:childTnLst>
                                    <p:set>
                                      <p:cBhvr>
                                        <p:cTn id="88" dur="1" fill="hold">
                                          <p:stCondLst>
                                            <p:cond delay="0"/>
                                          </p:stCondLst>
                                        </p:cTn>
                                        <p:tgtEl>
                                          <p:spTgt spid="77848"/>
                                        </p:tgtEl>
                                        <p:attrNameLst>
                                          <p:attrName>style.visibility</p:attrName>
                                        </p:attrNameLst>
                                      </p:cBhvr>
                                      <p:to>
                                        <p:strVal val="visible"/>
                                      </p:to>
                                    </p:set>
                                    <p:animEffect transition="in" filter="dissolve">
                                      <p:cBhvr>
                                        <p:cTn id="89" dur="500"/>
                                        <p:tgtEl>
                                          <p:spTgt spid="77848"/>
                                        </p:tgtEl>
                                      </p:cBhvr>
                                    </p:animEffect>
                                  </p:childTnLst>
                                </p:cTn>
                              </p:par>
                            </p:childTnLst>
                          </p:cTn>
                        </p:par>
                        <p:par>
                          <p:cTn id="90" fill="hold" nodeType="afterGroup">
                            <p:stCondLst>
                              <p:cond delay="500"/>
                            </p:stCondLst>
                            <p:childTnLst>
                              <p:par>
                                <p:cTn id="91" presetID="9" presetClass="entr" presetSubtype="0" fill="hold" nodeType="afterEffect">
                                  <p:stCondLst>
                                    <p:cond delay="0"/>
                                  </p:stCondLst>
                                  <p:childTnLst>
                                    <p:set>
                                      <p:cBhvr>
                                        <p:cTn id="92" dur="1" fill="hold">
                                          <p:stCondLst>
                                            <p:cond delay="0"/>
                                          </p:stCondLst>
                                        </p:cTn>
                                        <p:tgtEl>
                                          <p:spTgt spid="77849"/>
                                        </p:tgtEl>
                                        <p:attrNameLst>
                                          <p:attrName>style.visibility</p:attrName>
                                        </p:attrNameLst>
                                      </p:cBhvr>
                                      <p:to>
                                        <p:strVal val="visible"/>
                                      </p:to>
                                    </p:set>
                                    <p:animEffect transition="in" filter="dissolve">
                                      <p:cBhvr>
                                        <p:cTn id="93" dur="500"/>
                                        <p:tgtEl>
                                          <p:spTgt spid="77849"/>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9" presetClass="entr" presetSubtype="0" fill="hold" nodeType="clickEffect">
                                  <p:stCondLst>
                                    <p:cond delay="0"/>
                                  </p:stCondLst>
                                  <p:childTnLst>
                                    <p:set>
                                      <p:cBhvr>
                                        <p:cTn id="97" dur="1" fill="hold">
                                          <p:stCondLst>
                                            <p:cond delay="0"/>
                                          </p:stCondLst>
                                        </p:cTn>
                                        <p:tgtEl>
                                          <p:spTgt spid="77838"/>
                                        </p:tgtEl>
                                        <p:attrNameLst>
                                          <p:attrName>style.visibility</p:attrName>
                                        </p:attrNameLst>
                                      </p:cBhvr>
                                      <p:to>
                                        <p:strVal val="visible"/>
                                      </p:to>
                                    </p:set>
                                    <p:animEffect transition="in" filter="dissolve">
                                      <p:cBhvr>
                                        <p:cTn id="98" dur="500"/>
                                        <p:tgtEl>
                                          <p:spTgt spid="7783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9" presetClass="entr" presetSubtype="0" fill="hold" nodeType="clickEffect">
                                  <p:stCondLst>
                                    <p:cond delay="0"/>
                                  </p:stCondLst>
                                  <p:childTnLst>
                                    <p:set>
                                      <p:cBhvr>
                                        <p:cTn id="102" dur="1" fill="hold">
                                          <p:stCondLst>
                                            <p:cond delay="0"/>
                                          </p:stCondLst>
                                        </p:cTn>
                                        <p:tgtEl>
                                          <p:spTgt spid="77844"/>
                                        </p:tgtEl>
                                        <p:attrNameLst>
                                          <p:attrName>style.visibility</p:attrName>
                                        </p:attrNameLst>
                                      </p:cBhvr>
                                      <p:to>
                                        <p:strVal val="visible"/>
                                      </p:to>
                                    </p:set>
                                    <p:animEffect transition="in" filter="dissolve">
                                      <p:cBhvr>
                                        <p:cTn id="103" dur="500"/>
                                        <p:tgtEl>
                                          <p:spTgt spid="77844"/>
                                        </p:tgtEl>
                                      </p:cBhvr>
                                    </p:animEffect>
                                  </p:childTnLst>
                                </p:cTn>
                              </p:par>
                            </p:childTnLst>
                          </p:cTn>
                        </p:par>
                        <p:par>
                          <p:cTn id="104" fill="hold" nodeType="afterGroup">
                            <p:stCondLst>
                              <p:cond delay="500"/>
                            </p:stCondLst>
                            <p:childTnLst>
                              <p:par>
                                <p:cTn id="105" presetID="9" presetClass="entr" presetSubtype="0" fill="hold" nodeType="afterEffect">
                                  <p:stCondLst>
                                    <p:cond delay="0"/>
                                  </p:stCondLst>
                                  <p:childTnLst>
                                    <p:set>
                                      <p:cBhvr>
                                        <p:cTn id="106" dur="1" fill="hold">
                                          <p:stCondLst>
                                            <p:cond delay="0"/>
                                          </p:stCondLst>
                                        </p:cTn>
                                        <p:tgtEl>
                                          <p:spTgt spid="77846"/>
                                        </p:tgtEl>
                                        <p:attrNameLst>
                                          <p:attrName>style.visibility</p:attrName>
                                        </p:attrNameLst>
                                      </p:cBhvr>
                                      <p:to>
                                        <p:strVal val="visible"/>
                                      </p:to>
                                    </p:set>
                                    <p:animEffect transition="in" filter="dissolve">
                                      <p:cBhvr>
                                        <p:cTn id="107" dur="500"/>
                                        <p:tgtEl>
                                          <p:spTgt spid="77846"/>
                                        </p:tgtEl>
                                      </p:cBhvr>
                                    </p:animEffect>
                                  </p:childTnLst>
                                </p:cTn>
                              </p:par>
                            </p:childTnLst>
                          </p:cTn>
                        </p:par>
                        <p:par>
                          <p:cTn id="108" fill="hold" nodeType="afterGroup">
                            <p:stCondLst>
                              <p:cond delay="1000"/>
                            </p:stCondLst>
                            <p:childTnLst>
                              <p:par>
                                <p:cTn id="109" presetID="9" presetClass="entr" presetSubtype="0" fill="hold" nodeType="afterEffect">
                                  <p:stCondLst>
                                    <p:cond delay="0"/>
                                  </p:stCondLst>
                                  <p:childTnLst>
                                    <p:set>
                                      <p:cBhvr>
                                        <p:cTn id="110" dur="1" fill="hold">
                                          <p:stCondLst>
                                            <p:cond delay="0"/>
                                          </p:stCondLst>
                                        </p:cTn>
                                        <p:tgtEl>
                                          <p:spTgt spid="77847"/>
                                        </p:tgtEl>
                                        <p:attrNameLst>
                                          <p:attrName>style.visibility</p:attrName>
                                        </p:attrNameLst>
                                      </p:cBhvr>
                                      <p:to>
                                        <p:strVal val="visible"/>
                                      </p:to>
                                    </p:set>
                                    <p:animEffect transition="in" filter="dissolve">
                                      <p:cBhvr>
                                        <p:cTn id="111" dur="500"/>
                                        <p:tgtEl>
                                          <p:spTgt spid="77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0" grpId="0" autoUpdateAnimBg="0"/>
      <p:bldP spid="77831" grpId="0" autoUpdateAnimBg="0"/>
      <p:bldP spid="77832" grpId="0" autoUpdateAnimBg="0"/>
      <p:bldP spid="77833" grpId="0" autoUpdateAnimBg="0"/>
      <p:bldP spid="77834" grpId="0" animBg="1"/>
      <p:bldP spid="77835" grpId="0" animBg="1"/>
      <p:bldP spid="77836" grpId="0" animBg="1"/>
      <p:bldP spid="77837" grpId="0" animBg="1"/>
      <p:bldP spid="77838" grpId="0" animBg="1"/>
      <p:bldP spid="77839" grpId="0" autoUpdateAnimBg="0"/>
      <p:bldP spid="77840" grpId="0" autoUpdateAnimBg="0"/>
      <p:bldP spid="77841" grpId="0" autoUpdateAnimBg="0"/>
      <p:bldP spid="77842" grpId="0" autoUpdateAnimBg="0"/>
      <p:bldP spid="77843" grpId="0" autoUpdateAnimBg="0"/>
      <p:bldP spid="77844" grpId="0" autoUpdateAnimBg="0"/>
      <p:bldP spid="77845" grpId="0" autoUpdateAnimBg="0"/>
      <p:bldP spid="77846" grpId="0" autoUpdateAnimBg="0"/>
      <p:bldP spid="77848" grpId="0" autoUpdateAnimBg="0"/>
      <p:bldP spid="77851" grpId="0" animBg="1"/>
      <p:bldP spid="7785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26">
            <a:extLst>
              <a:ext uri="{FF2B5EF4-FFF2-40B4-BE49-F238E27FC236}">
                <a16:creationId xmlns:a16="http://schemas.microsoft.com/office/drawing/2014/main" id="{2DC7E3BC-EEAB-1B8E-222F-B3F8D7E1638D}"/>
              </a:ext>
            </a:extLst>
          </p:cNvPr>
          <p:cNvSpPr>
            <a:spLocks noChangeArrowheads="1"/>
          </p:cNvSpPr>
          <p:nvPr/>
        </p:nvSpPr>
        <p:spPr bwMode="auto">
          <a:xfrm>
            <a:off x="4876800" y="2209801"/>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b="1" i="1">
                <a:solidFill>
                  <a:srgbClr val="990000"/>
                </a:solidFill>
                <a:latin typeface="Arial" panose="020B0604020202020204" pitchFamily="34" charset="0"/>
              </a:rPr>
              <a:t> 2 Bikes</a:t>
            </a:r>
          </a:p>
        </p:txBody>
      </p:sp>
      <p:sp>
        <p:nvSpPr>
          <p:cNvPr id="46083" name="Rectangle 1027">
            <a:extLst>
              <a:ext uri="{FF2B5EF4-FFF2-40B4-BE49-F238E27FC236}">
                <a16:creationId xmlns:a16="http://schemas.microsoft.com/office/drawing/2014/main" id="{EDF6F48B-82E6-417C-8C9D-21BCFC273A2C}"/>
              </a:ext>
            </a:extLst>
          </p:cNvPr>
          <p:cNvSpPr>
            <a:spLocks noChangeArrowheads="1"/>
          </p:cNvSpPr>
          <p:nvPr/>
        </p:nvSpPr>
        <p:spPr bwMode="auto">
          <a:xfrm>
            <a:off x="1562101" y="2641600"/>
            <a:ext cx="39274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lnSpc>
                <a:spcPct val="90000"/>
              </a:lnSpc>
              <a:spcBef>
                <a:spcPct val="0"/>
              </a:spcBef>
              <a:buFontTx/>
              <a:buNone/>
            </a:pPr>
            <a:r>
              <a:rPr lang="en-US" altLang="en-US" sz="2000" b="1" i="1">
                <a:latin typeface="Arial" panose="020B0604020202020204" pitchFamily="34" charset="0"/>
              </a:rPr>
              <a:t>2.The opportunity cost of moving from b to d is…</a:t>
            </a:r>
          </a:p>
        </p:txBody>
      </p:sp>
      <p:sp>
        <p:nvSpPr>
          <p:cNvPr id="46084" name="Rectangle 1028">
            <a:extLst>
              <a:ext uri="{FF2B5EF4-FFF2-40B4-BE49-F238E27FC236}">
                <a16:creationId xmlns:a16="http://schemas.microsoft.com/office/drawing/2014/main" id="{BDAA419A-2FCD-1E43-5AF8-8FDC1C7C767B}"/>
              </a:ext>
            </a:extLst>
          </p:cNvPr>
          <p:cNvSpPr>
            <a:spLocks noChangeArrowheads="1"/>
          </p:cNvSpPr>
          <p:nvPr/>
        </p:nvSpPr>
        <p:spPr bwMode="auto">
          <a:xfrm>
            <a:off x="1562101" y="4394200"/>
            <a:ext cx="45624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lnSpc>
                <a:spcPct val="90000"/>
              </a:lnSpc>
              <a:spcBef>
                <a:spcPct val="50000"/>
              </a:spcBef>
              <a:buFontTx/>
              <a:buNone/>
            </a:pPr>
            <a:r>
              <a:rPr lang="en-US" altLang="en-US" sz="2000" b="1" i="1" dirty="0">
                <a:latin typeface="Arial" panose="020B0604020202020204" pitchFamily="34" charset="0"/>
              </a:rPr>
              <a:t>4.The opportunity cost of moving from f to c is…</a:t>
            </a:r>
          </a:p>
        </p:txBody>
      </p:sp>
      <p:sp>
        <p:nvSpPr>
          <p:cNvPr id="46085" name="Rectangle 1029">
            <a:extLst>
              <a:ext uri="{FF2B5EF4-FFF2-40B4-BE49-F238E27FC236}">
                <a16:creationId xmlns:a16="http://schemas.microsoft.com/office/drawing/2014/main" id="{A4574EA8-AFCF-958C-E94B-405D25DBC5CA}"/>
              </a:ext>
            </a:extLst>
          </p:cNvPr>
          <p:cNvSpPr>
            <a:spLocks noChangeArrowheads="1"/>
          </p:cNvSpPr>
          <p:nvPr/>
        </p:nvSpPr>
        <p:spPr bwMode="auto">
          <a:xfrm>
            <a:off x="1562101" y="3505200"/>
            <a:ext cx="39528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lnSpc>
                <a:spcPct val="90000"/>
              </a:lnSpc>
              <a:spcBef>
                <a:spcPct val="0"/>
              </a:spcBef>
              <a:buFontTx/>
              <a:buNone/>
            </a:pPr>
            <a:r>
              <a:rPr lang="en-US" altLang="en-US" sz="2000" b="1" i="1">
                <a:latin typeface="Arial" panose="020B0604020202020204" pitchFamily="34" charset="0"/>
              </a:rPr>
              <a:t>3.The opportunity cost of moving from d to b is…</a:t>
            </a:r>
          </a:p>
        </p:txBody>
      </p:sp>
      <p:sp>
        <p:nvSpPr>
          <p:cNvPr id="78854" name="Rectangle 1030">
            <a:extLst>
              <a:ext uri="{FF2B5EF4-FFF2-40B4-BE49-F238E27FC236}">
                <a16:creationId xmlns:a16="http://schemas.microsoft.com/office/drawing/2014/main" id="{BFE0ADE7-76AD-878E-806E-6E812649662D}"/>
              </a:ext>
            </a:extLst>
          </p:cNvPr>
          <p:cNvSpPr>
            <a:spLocks noChangeArrowheads="1"/>
          </p:cNvSpPr>
          <p:nvPr/>
        </p:nvSpPr>
        <p:spPr bwMode="auto">
          <a:xfrm>
            <a:off x="5029200" y="2971801"/>
            <a:ext cx="107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b="1" i="1">
                <a:solidFill>
                  <a:srgbClr val="990000"/>
                </a:solidFill>
                <a:latin typeface="Arial" panose="020B0604020202020204" pitchFamily="34" charset="0"/>
              </a:rPr>
              <a:t>7 Bikes</a:t>
            </a:r>
          </a:p>
        </p:txBody>
      </p:sp>
      <p:sp>
        <p:nvSpPr>
          <p:cNvPr id="78855" name="Rectangle 1031">
            <a:extLst>
              <a:ext uri="{FF2B5EF4-FFF2-40B4-BE49-F238E27FC236}">
                <a16:creationId xmlns:a16="http://schemas.microsoft.com/office/drawing/2014/main" id="{7F9EF666-5DB4-1935-8A0E-AA63FFE741B4}"/>
              </a:ext>
            </a:extLst>
          </p:cNvPr>
          <p:cNvSpPr>
            <a:spLocks noChangeArrowheads="1"/>
          </p:cNvSpPr>
          <p:nvPr/>
        </p:nvSpPr>
        <p:spPr bwMode="auto">
          <a:xfrm>
            <a:off x="4953000" y="3810001"/>
            <a:ext cx="159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b="1" i="1">
                <a:solidFill>
                  <a:srgbClr val="990000"/>
                </a:solidFill>
                <a:latin typeface="Arial" panose="020B0604020202020204" pitchFamily="34" charset="0"/>
              </a:rPr>
              <a:t>4 Computer</a:t>
            </a:r>
          </a:p>
        </p:txBody>
      </p:sp>
      <p:sp>
        <p:nvSpPr>
          <p:cNvPr id="78856" name="Rectangle 1032">
            <a:extLst>
              <a:ext uri="{FF2B5EF4-FFF2-40B4-BE49-F238E27FC236}">
                <a16:creationId xmlns:a16="http://schemas.microsoft.com/office/drawing/2014/main" id="{0131A14F-0474-DC28-EED5-17E00998095A}"/>
              </a:ext>
            </a:extLst>
          </p:cNvPr>
          <p:cNvSpPr>
            <a:spLocks noChangeArrowheads="1"/>
          </p:cNvSpPr>
          <p:nvPr/>
        </p:nvSpPr>
        <p:spPr bwMode="auto">
          <a:xfrm>
            <a:off x="4876801" y="4648201"/>
            <a:ext cx="173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b="1" i="1">
                <a:solidFill>
                  <a:srgbClr val="990000"/>
                </a:solidFill>
                <a:latin typeface="Arial" panose="020B0604020202020204" pitchFamily="34" charset="0"/>
              </a:rPr>
              <a:t>0 Computers</a:t>
            </a:r>
          </a:p>
        </p:txBody>
      </p:sp>
      <p:pic>
        <p:nvPicPr>
          <p:cNvPr id="46089" name="Picture 1033">
            <a:extLst>
              <a:ext uri="{FF2B5EF4-FFF2-40B4-BE49-F238E27FC236}">
                <a16:creationId xmlns:a16="http://schemas.microsoft.com/office/drawing/2014/main" id="{4B945674-9D04-28DF-3F1B-0C056E255A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46259" b="7956"/>
          <a:stretch>
            <a:fillRect/>
          </a:stretch>
        </p:blipFill>
        <p:spPr bwMode="auto">
          <a:xfrm>
            <a:off x="6705601" y="1447801"/>
            <a:ext cx="3965575"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0" name="Rectangle 1034">
            <a:extLst>
              <a:ext uri="{FF2B5EF4-FFF2-40B4-BE49-F238E27FC236}">
                <a16:creationId xmlns:a16="http://schemas.microsoft.com/office/drawing/2014/main" id="{970CEABC-E568-74C8-2B98-8FD4D7B84C5C}"/>
              </a:ext>
            </a:extLst>
          </p:cNvPr>
          <p:cNvSpPr>
            <a:spLocks noChangeArrowheads="1"/>
          </p:cNvSpPr>
          <p:nvPr/>
        </p:nvSpPr>
        <p:spPr bwMode="auto">
          <a:xfrm>
            <a:off x="1524001" y="5143501"/>
            <a:ext cx="4956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lnSpc>
                <a:spcPct val="90000"/>
              </a:lnSpc>
              <a:spcBef>
                <a:spcPct val="50000"/>
              </a:spcBef>
              <a:buFontTx/>
              <a:buNone/>
            </a:pPr>
            <a:r>
              <a:rPr lang="en-US" altLang="en-US" sz="2000" b="1" i="1" dirty="0">
                <a:latin typeface="Arial" panose="020B0604020202020204" pitchFamily="34" charset="0"/>
              </a:rPr>
              <a:t>5. What can you say about point G?</a:t>
            </a:r>
          </a:p>
        </p:txBody>
      </p:sp>
      <p:sp>
        <p:nvSpPr>
          <p:cNvPr id="78859" name="Rectangle 1035">
            <a:extLst>
              <a:ext uri="{FF2B5EF4-FFF2-40B4-BE49-F238E27FC236}">
                <a16:creationId xmlns:a16="http://schemas.microsoft.com/office/drawing/2014/main" id="{BDEFC72E-1C2D-40B7-E510-1B733D5D0A06}"/>
              </a:ext>
            </a:extLst>
          </p:cNvPr>
          <p:cNvSpPr>
            <a:spLocks noChangeArrowheads="1"/>
          </p:cNvSpPr>
          <p:nvPr/>
        </p:nvSpPr>
        <p:spPr bwMode="auto">
          <a:xfrm>
            <a:off x="3022600" y="5470526"/>
            <a:ext cx="170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b="1" i="1">
                <a:solidFill>
                  <a:srgbClr val="990000"/>
                </a:solidFill>
                <a:latin typeface="Arial" panose="020B0604020202020204" pitchFamily="34" charset="0"/>
              </a:rPr>
              <a:t>Unattainable</a:t>
            </a:r>
          </a:p>
        </p:txBody>
      </p:sp>
      <p:sp>
        <p:nvSpPr>
          <p:cNvPr id="46092" name="Rectangle 1036">
            <a:extLst>
              <a:ext uri="{FF2B5EF4-FFF2-40B4-BE49-F238E27FC236}">
                <a16:creationId xmlns:a16="http://schemas.microsoft.com/office/drawing/2014/main" id="{BC51B966-9983-37B3-98AF-823013C0B2C9}"/>
              </a:ext>
            </a:extLst>
          </p:cNvPr>
          <p:cNvSpPr>
            <a:spLocks noChangeArrowheads="1"/>
          </p:cNvSpPr>
          <p:nvPr/>
        </p:nvSpPr>
        <p:spPr bwMode="auto">
          <a:xfrm>
            <a:off x="1524000" y="1816101"/>
            <a:ext cx="3962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spcBef>
                <a:spcPct val="0"/>
              </a:spcBef>
              <a:buFontTx/>
              <a:buNone/>
            </a:pPr>
            <a:r>
              <a:rPr lang="en-US" altLang="en-US" sz="2000" b="1" i="1" dirty="0">
                <a:latin typeface="Arial" panose="020B0604020202020204" pitchFamily="34" charset="0"/>
              </a:rPr>
              <a:t>1. The opportunity cost of moving from a to b is…</a:t>
            </a:r>
          </a:p>
        </p:txBody>
      </p:sp>
      <p:sp>
        <p:nvSpPr>
          <p:cNvPr id="46093" name="Rectangle 1037">
            <a:extLst>
              <a:ext uri="{FF2B5EF4-FFF2-40B4-BE49-F238E27FC236}">
                <a16:creationId xmlns:a16="http://schemas.microsoft.com/office/drawing/2014/main" id="{24A36155-F651-896D-54A1-F889473E68A2}"/>
              </a:ext>
            </a:extLst>
          </p:cNvPr>
          <p:cNvSpPr>
            <a:spLocks noChangeArrowheads="1"/>
          </p:cNvSpPr>
          <p:nvPr/>
        </p:nvSpPr>
        <p:spPr bwMode="auto">
          <a:xfrm>
            <a:off x="1803401" y="1295400"/>
            <a:ext cx="1539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1" i="1" dirty="0">
                <a:latin typeface="Arial" panose="020B0604020202020204" pitchFamily="34" charset="0"/>
              </a:rPr>
              <a:t>Example:</a:t>
            </a:r>
          </a:p>
        </p:txBody>
      </p:sp>
      <p:sp>
        <p:nvSpPr>
          <p:cNvPr id="46094" name="Rectangle 1038">
            <a:extLst>
              <a:ext uri="{FF2B5EF4-FFF2-40B4-BE49-F238E27FC236}">
                <a16:creationId xmlns:a16="http://schemas.microsoft.com/office/drawing/2014/main" id="{92D0D902-77AF-60E1-05BA-B2388AC8053B}"/>
              </a:ext>
            </a:extLst>
          </p:cNvPr>
          <p:cNvSpPr>
            <a:spLocks noChangeArrowheads="1"/>
          </p:cNvSpPr>
          <p:nvPr/>
        </p:nvSpPr>
        <p:spPr bwMode="auto">
          <a:xfrm>
            <a:off x="1676400" y="214314"/>
            <a:ext cx="8782050" cy="73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200" b="1" dirty="0">
                <a:solidFill>
                  <a:srgbClr val="FF0000"/>
                </a:solidFill>
              </a:rPr>
              <a:t>Opportunity Cost</a:t>
            </a:r>
          </a:p>
        </p:txBody>
      </p:sp>
      <p:pic>
        <p:nvPicPr>
          <p:cNvPr id="46095" name="Picture 1039" descr="see saw hap faces">
            <a:extLst>
              <a:ext uri="{FF2B5EF4-FFF2-40B4-BE49-F238E27FC236}">
                <a16:creationId xmlns:a16="http://schemas.microsoft.com/office/drawing/2014/main" id="{6ACCCE77-1A4B-C362-7088-097DFE7C0F80}"/>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991600" y="1"/>
            <a:ext cx="1447800"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6" name="Slide Number Placeholder 15">
            <a:extLst>
              <a:ext uri="{FF2B5EF4-FFF2-40B4-BE49-F238E27FC236}">
                <a16:creationId xmlns:a16="http://schemas.microsoft.com/office/drawing/2014/main" id="{2DF36B5E-EC77-EE62-0D4E-3B98C3794B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359C4FB-B48A-C24F-A664-295EAE249D76}" type="slidenum">
              <a:rPr lang="en-US" altLang="en-US" sz="1400"/>
              <a:pPr>
                <a:spcBef>
                  <a:spcPct val="0"/>
                </a:spcBef>
                <a:buFontTx/>
                <a:buNone/>
              </a:pPr>
              <a:t>21</a:t>
            </a:fld>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8850"/>
                                        </p:tgtEl>
                                        <p:attrNameLst>
                                          <p:attrName>style.visibility</p:attrName>
                                        </p:attrNameLst>
                                      </p:cBhvr>
                                      <p:to>
                                        <p:strVal val="visible"/>
                                      </p:to>
                                    </p:set>
                                    <p:anim calcmode="lin" valueType="num">
                                      <p:cBhvr additive="base">
                                        <p:cTn id="7" dur="500" fill="hold"/>
                                        <p:tgtEl>
                                          <p:spTgt spid="78850"/>
                                        </p:tgtEl>
                                        <p:attrNameLst>
                                          <p:attrName>ppt_x</p:attrName>
                                        </p:attrNameLst>
                                      </p:cBhvr>
                                      <p:tavLst>
                                        <p:tav tm="0">
                                          <p:val>
                                            <p:strVal val="0-#ppt_w/2"/>
                                          </p:val>
                                        </p:tav>
                                        <p:tav tm="100000">
                                          <p:val>
                                            <p:strVal val="#ppt_x"/>
                                          </p:val>
                                        </p:tav>
                                      </p:tavLst>
                                    </p:anim>
                                    <p:anim calcmode="lin" valueType="num">
                                      <p:cBhvr additive="base">
                                        <p:cTn id="8" dur="500" fill="hold"/>
                                        <p:tgtEl>
                                          <p:spTgt spid="7885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8854"/>
                                        </p:tgtEl>
                                        <p:attrNameLst>
                                          <p:attrName>style.visibility</p:attrName>
                                        </p:attrNameLst>
                                      </p:cBhvr>
                                      <p:to>
                                        <p:strVal val="visible"/>
                                      </p:to>
                                    </p:set>
                                    <p:anim calcmode="lin" valueType="num">
                                      <p:cBhvr additive="base">
                                        <p:cTn id="13" dur="500" fill="hold"/>
                                        <p:tgtEl>
                                          <p:spTgt spid="78854"/>
                                        </p:tgtEl>
                                        <p:attrNameLst>
                                          <p:attrName>ppt_x</p:attrName>
                                        </p:attrNameLst>
                                      </p:cBhvr>
                                      <p:tavLst>
                                        <p:tav tm="0">
                                          <p:val>
                                            <p:strVal val="0-#ppt_w/2"/>
                                          </p:val>
                                        </p:tav>
                                        <p:tav tm="100000">
                                          <p:val>
                                            <p:strVal val="#ppt_x"/>
                                          </p:val>
                                        </p:tav>
                                      </p:tavLst>
                                    </p:anim>
                                    <p:anim calcmode="lin" valueType="num">
                                      <p:cBhvr additive="base">
                                        <p:cTn id="14" dur="500" fill="hold"/>
                                        <p:tgtEl>
                                          <p:spTgt spid="7885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8855"/>
                                        </p:tgtEl>
                                        <p:attrNameLst>
                                          <p:attrName>style.visibility</p:attrName>
                                        </p:attrNameLst>
                                      </p:cBhvr>
                                      <p:to>
                                        <p:strVal val="visible"/>
                                      </p:to>
                                    </p:set>
                                    <p:anim calcmode="lin" valueType="num">
                                      <p:cBhvr additive="base">
                                        <p:cTn id="19" dur="500" fill="hold"/>
                                        <p:tgtEl>
                                          <p:spTgt spid="78855"/>
                                        </p:tgtEl>
                                        <p:attrNameLst>
                                          <p:attrName>ppt_x</p:attrName>
                                        </p:attrNameLst>
                                      </p:cBhvr>
                                      <p:tavLst>
                                        <p:tav tm="0">
                                          <p:val>
                                            <p:strVal val="0-#ppt_w/2"/>
                                          </p:val>
                                        </p:tav>
                                        <p:tav tm="100000">
                                          <p:val>
                                            <p:strVal val="#ppt_x"/>
                                          </p:val>
                                        </p:tav>
                                      </p:tavLst>
                                    </p:anim>
                                    <p:anim calcmode="lin" valueType="num">
                                      <p:cBhvr additive="base">
                                        <p:cTn id="20" dur="500" fill="hold"/>
                                        <p:tgtEl>
                                          <p:spTgt spid="7885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78856"/>
                                        </p:tgtEl>
                                        <p:attrNameLst>
                                          <p:attrName>style.visibility</p:attrName>
                                        </p:attrNameLst>
                                      </p:cBhvr>
                                      <p:to>
                                        <p:strVal val="visible"/>
                                      </p:to>
                                    </p:set>
                                    <p:anim calcmode="lin" valueType="num">
                                      <p:cBhvr additive="base">
                                        <p:cTn id="25" dur="500" fill="hold"/>
                                        <p:tgtEl>
                                          <p:spTgt spid="78856"/>
                                        </p:tgtEl>
                                        <p:attrNameLst>
                                          <p:attrName>ppt_x</p:attrName>
                                        </p:attrNameLst>
                                      </p:cBhvr>
                                      <p:tavLst>
                                        <p:tav tm="0">
                                          <p:val>
                                            <p:strVal val="0-#ppt_w/2"/>
                                          </p:val>
                                        </p:tav>
                                        <p:tav tm="100000">
                                          <p:val>
                                            <p:strVal val="#ppt_x"/>
                                          </p:val>
                                        </p:tav>
                                      </p:tavLst>
                                    </p:anim>
                                    <p:anim calcmode="lin" valueType="num">
                                      <p:cBhvr additive="base">
                                        <p:cTn id="26" dur="500" fill="hold"/>
                                        <p:tgtEl>
                                          <p:spTgt spid="7885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78859"/>
                                        </p:tgtEl>
                                        <p:attrNameLst>
                                          <p:attrName>style.visibility</p:attrName>
                                        </p:attrNameLst>
                                      </p:cBhvr>
                                      <p:to>
                                        <p:strVal val="visible"/>
                                      </p:to>
                                    </p:set>
                                    <p:anim calcmode="lin" valueType="num">
                                      <p:cBhvr additive="base">
                                        <p:cTn id="31" dur="500" fill="hold"/>
                                        <p:tgtEl>
                                          <p:spTgt spid="78859"/>
                                        </p:tgtEl>
                                        <p:attrNameLst>
                                          <p:attrName>ppt_x</p:attrName>
                                        </p:attrNameLst>
                                      </p:cBhvr>
                                      <p:tavLst>
                                        <p:tav tm="0">
                                          <p:val>
                                            <p:strVal val="0-#ppt_w/2"/>
                                          </p:val>
                                        </p:tav>
                                        <p:tav tm="100000">
                                          <p:val>
                                            <p:strVal val="#ppt_x"/>
                                          </p:val>
                                        </p:tav>
                                      </p:tavLst>
                                    </p:anim>
                                    <p:anim calcmode="lin" valueType="num">
                                      <p:cBhvr additive="base">
                                        <p:cTn id="32" dur="500" fill="hold"/>
                                        <p:tgtEl>
                                          <p:spTgt spid="788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utoUpdateAnimBg="0"/>
      <p:bldP spid="78854" grpId="0" autoUpdateAnimBg="0"/>
      <p:bldP spid="78855" grpId="0" autoUpdateAnimBg="0"/>
      <p:bldP spid="78856" grpId="0" autoUpdateAnimBg="0"/>
      <p:bldP spid="7885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9BBDC-605C-B090-4909-5811278DE4EE}"/>
              </a:ext>
            </a:extLst>
          </p:cNvPr>
          <p:cNvSpPr>
            <a:spLocks noGrp="1"/>
          </p:cNvSpPr>
          <p:nvPr>
            <p:ph type="title"/>
          </p:nvPr>
        </p:nvSpPr>
        <p:spPr>
          <a:xfrm>
            <a:off x="488386" y="403188"/>
            <a:ext cx="5219307" cy="1616203"/>
          </a:xfrm>
        </p:spPr>
        <p:txBody>
          <a:bodyPr vert="horz" lIns="91440" tIns="45720" rIns="91440" bIns="45720" rtlCol="0" anchor="b">
            <a:normAutofit/>
          </a:bodyPr>
          <a:lstStyle/>
          <a:p>
            <a:r>
              <a:rPr lang="en-US" sz="3600" b="1" kern="1200" dirty="0">
                <a:solidFill>
                  <a:schemeClr val="tx1"/>
                </a:solidFill>
                <a:latin typeface="Times New Roman" panose="02020603050405020304" pitchFamily="18" charset="0"/>
                <a:cs typeface="Times New Roman" panose="02020603050405020304" pitchFamily="18" charset="0"/>
              </a:rPr>
              <a:t>Example 03</a:t>
            </a:r>
          </a:p>
        </p:txBody>
      </p:sp>
      <p:sp>
        <p:nvSpPr>
          <p:cNvPr id="9" name="TextBox 8">
            <a:extLst>
              <a:ext uri="{FF2B5EF4-FFF2-40B4-BE49-F238E27FC236}">
                <a16:creationId xmlns:a16="http://schemas.microsoft.com/office/drawing/2014/main" id="{FB4BEA43-C08C-ABAA-6519-42DF8184B5E6}"/>
              </a:ext>
            </a:extLst>
          </p:cNvPr>
          <p:cNvSpPr txBox="1"/>
          <p:nvPr/>
        </p:nvSpPr>
        <p:spPr>
          <a:xfrm>
            <a:off x="488386" y="2533476"/>
            <a:ext cx="6263143" cy="3537410"/>
          </a:xfrm>
          <a:prstGeom prst="rect">
            <a:avLst/>
          </a:prstGeom>
        </p:spPr>
        <p:txBody>
          <a:bodyPr vert="horz" lIns="91440" tIns="45720" rIns="91440" bIns="45720" rtlCol="0" anchor="t">
            <a:normAutofit/>
          </a:bodyPr>
          <a:lstStyle/>
          <a:p>
            <a:pPr indent="-228600">
              <a:lnSpc>
                <a:spcPct val="150000"/>
              </a:lnSpc>
              <a:spcBef>
                <a:spcPct val="0"/>
              </a:spcBef>
              <a:spcAft>
                <a:spcPts val="600"/>
              </a:spcAf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indent="-228600">
              <a:lnSpc>
                <a:spcPct val="150000"/>
              </a:lnSpc>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Draw a production possibility curve using the given information</a:t>
            </a:r>
          </a:p>
        </p:txBody>
      </p:sp>
      <p:grpSp>
        <p:nvGrpSpPr>
          <p:cNvPr id="21" name="Group 20">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22" name="Rectangle 21">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aphicFrame>
        <p:nvGraphicFramePr>
          <p:cNvPr id="7" name="Content Placeholder 6">
            <a:extLst>
              <a:ext uri="{FF2B5EF4-FFF2-40B4-BE49-F238E27FC236}">
                <a16:creationId xmlns:a16="http://schemas.microsoft.com/office/drawing/2014/main" id="{61123DCE-AC3D-A4FD-9E4A-05F0A7756DDA}"/>
              </a:ext>
            </a:extLst>
          </p:cNvPr>
          <p:cNvGraphicFramePr>
            <a:graphicFrameLocks noGrp="1"/>
          </p:cNvGraphicFramePr>
          <p:nvPr>
            <p:ph idx="1"/>
            <p:extLst>
              <p:ext uri="{D42A27DB-BD31-4B8C-83A1-F6EECF244321}">
                <p14:modId xmlns:p14="http://schemas.microsoft.com/office/powerpoint/2010/main" val="1620953651"/>
              </p:ext>
            </p:extLst>
          </p:nvPr>
        </p:nvGraphicFramePr>
        <p:xfrm>
          <a:off x="7008019" y="1610458"/>
          <a:ext cx="4273464" cy="3637089"/>
        </p:xfrm>
        <a:graphic>
          <a:graphicData uri="http://schemas.openxmlformats.org/drawingml/2006/table">
            <a:tbl>
              <a:tblPr firstRow="1" bandRow="1">
                <a:tableStyleId>{5C22544A-7EE6-4342-B048-85BDC9FD1C3A}</a:tableStyleId>
              </a:tblPr>
              <a:tblGrid>
                <a:gridCol w="1286020">
                  <a:extLst>
                    <a:ext uri="{9D8B030D-6E8A-4147-A177-3AD203B41FA5}">
                      <a16:colId xmlns:a16="http://schemas.microsoft.com/office/drawing/2014/main" val="4090806245"/>
                    </a:ext>
                  </a:extLst>
                </a:gridCol>
                <a:gridCol w="1493722">
                  <a:extLst>
                    <a:ext uri="{9D8B030D-6E8A-4147-A177-3AD203B41FA5}">
                      <a16:colId xmlns:a16="http://schemas.microsoft.com/office/drawing/2014/main" val="119094976"/>
                    </a:ext>
                  </a:extLst>
                </a:gridCol>
                <a:gridCol w="1493722">
                  <a:extLst>
                    <a:ext uri="{9D8B030D-6E8A-4147-A177-3AD203B41FA5}">
                      <a16:colId xmlns:a16="http://schemas.microsoft.com/office/drawing/2014/main" val="775985260"/>
                    </a:ext>
                  </a:extLst>
                </a:gridCol>
              </a:tblGrid>
              <a:tr h="917734">
                <a:tc>
                  <a:txBody>
                    <a:bodyPr/>
                    <a:lstStyle/>
                    <a:p>
                      <a:r>
                        <a:rPr lang="en-US" sz="2500" dirty="0">
                          <a:latin typeface="Times New Roman" panose="02020603050405020304" pitchFamily="18" charset="0"/>
                          <a:cs typeface="Times New Roman" panose="02020603050405020304" pitchFamily="18" charset="0"/>
                        </a:rPr>
                        <a:t>Points</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X Product</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Y Product</a:t>
                      </a:r>
                    </a:p>
                  </a:txBody>
                  <a:tcPr marL="127279" marR="127279" marT="63640" marB="63640"/>
                </a:tc>
                <a:extLst>
                  <a:ext uri="{0D108BD9-81ED-4DB2-BD59-A6C34878D82A}">
                    <a16:rowId xmlns:a16="http://schemas.microsoft.com/office/drawing/2014/main" val="212031388"/>
                  </a:ext>
                </a:extLst>
              </a:tr>
              <a:tr h="543871">
                <a:tc>
                  <a:txBody>
                    <a:bodyPr/>
                    <a:lstStyle/>
                    <a:p>
                      <a:r>
                        <a:rPr lang="en-US" sz="2500">
                          <a:latin typeface="Times New Roman" panose="02020603050405020304" pitchFamily="18" charset="0"/>
                          <a:cs typeface="Times New Roman" panose="02020603050405020304" pitchFamily="18" charset="0"/>
                        </a:rPr>
                        <a:t>A</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0</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1000</a:t>
                      </a:r>
                    </a:p>
                  </a:txBody>
                  <a:tcPr marL="127279" marR="127279" marT="63640" marB="63640"/>
                </a:tc>
                <a:extLst>
                  <a:ext uri="{0D108BD9-81ED-4DB2-BD59-A6C34878D82A}">
                    <a16:rowId xmlns:a16="http://schemas.microsoft.com/office/drawing/2014/main" val="1494866766"/>
                  </a:ext>
                </a:extLst>
              </a:tr>
              <a:tr h="543871">
                <a:tc>
                  <a:txBody>
                    <a:bodyPr/>
                    <a:lstStyle/>
                    <a:p>
                      <a:r>
                        <a:rPr lang="en-US" sz="2500">
                          <a:latin typeface="Times New Roman" panose="02020603050405020304" pitchFamily="18" charset="0"/>
                          <a:cs typeface="Times New Roman" panose="02020603050405020304" pitchFamily="18" charset="0"/>
                        </a:rPr>
                        <a:t>B</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100</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900</a:t>
                      </a:r>
                    </a:p>
                  </a:txBody>
                  <a:tcPr marL="127279" marR="127279" marT="63640" marB="63640"/>
                </a:tc>
                <a:extLst>
                  <a:ext uri="{0D108BD9-81ED-4DB2-BD59-A6C34878D82A}">
                    <a16:rowId xmlns:a16="http://schemas.microsoft.com/office/drawing/2014/main" val="2863081166"/>
                  </a:ext>
                </a:extLst>
              </a:tr>
              <a:tr h="543871">
                <a:tc>
                  <a:txBody>
                    <a:bodyPr/>
                    <a:lstStyle/>
                    <a:p>
                      <a:r>
                        <a:rPr lang="en-US" sz="2500">
                          <a:latin typeface="Times New Roman" panose="02020603050405020304" pitchFamily="18" charset="0"/>
                          <a:cs typeface="Times New Roman" panose="02020603050405020304" pitchFamily="18" charset="0"/>
                        </a:rPr>
                        <a:t>C</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200</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700</a:t>
                      </a:r>
                    </a:p>
                  </a:txBody>
                  <a:tcPr marL="127279" marR="127279" marT="63640" marB="63640"/>
                </a:tc>
                <a:extLst>
                  <a:ext uri="{0D108BD9-81ED-4DB2-BD59-A6C34878D82A}">
                    <a16:rowId xmlns:a16="http://schemas.microsoft.com/office/drawing/2014/main" val="3401988708"/>
                  </a:ext>
                </a:extLst>
              </a:tr>
              <a:tr h="543871">
                <a:tc>
                  <a:txBody>
                    <a:bodyPr/>
                    <a:lstStyle/>
                    <a:p>
                      <a:r>
                        <a:rPr lang="en-US" sz="2500">
                          <a:latin typeface="Times New Roman" panose="02020603050405020304" pitchFamily="18" charset="0"/>
                          <a:cs typeface="Times New Roman" panose="02020603050405020304" pitchFamily="18" charset="0"/>
                        </a:rPr>
                        <a:t>D</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300</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400</a:t>
                      </a:r>
                    </a:p>
                  </a:txBody>
                  <a:tcPr marL="127279" marR="127279" marT="63640" marB="63640"/>
                </a:tc>
                <a:extLst>
                  <a:ext uri="{0D108BD9-81ED-4DB2-BD59-A6C34878D82A}">
                    <a16:rowId xmlns:a16="http://schemas.microsoft.com/office/drawing/2014/main" val="1054804687"/>
                  </a:ext>
                </a:extLst>
              </a:tr>
              <a:tr h="543871">
                <a:tc>
                  <a:txBody>
                    <a:bodyPr/>
                    <a:lstStyle/>
                    <a:p>
                      <a:r>
                        <a:rPr lang="en-US" sz="2500">
                          <a:latin typeface="Times New Roman" panose="02020603050405020304" pitchFamily="18" charset="0"/>
                          <a:cs typeface="Times New Roman" panose="02020603050405020304" pitchFamily="18" charset="0"/>
                        </a:rPr>
                        <a:t>E</a:t>
                      </a:r>
                    </a:p>
                  </a:txBody>
                  <a:tcPr marL="127279" marR="127279" marT="63640" marB="63640"/>
                </a:tc>
                <a:tc>
                  <a:txBody>
                    <a:bodyPr/>
                    <a:lstStyle/>
                    <a:p>
                      <a:r>
                        <a:rPr lang="en-US" sz="2500">
                          <a:latin typeface="Times New Roman" panose="02020603050405020304" pitchFamily="18" charset="0"/>
                          <a:cs typeface="Times New Roman" panose="02020603050405020304" pitchFamily="18" charset="0"/>
                        </a:rPr>
                        <a:t>400</a:t>
                      </a:r>
                    </a:p>
                  </a:txBody>
                  <a:tcPr marL="127279" marR="127279" marT="63640" marB="63640"/>
                </a:tc>
                <a:tc>
                  <a:txBody>
                    <a:bodyPr/>
                    <a:lstStyle/>
                    <a:p>
                      <a:r>
                        <a:rPr lang="en-US" sz="2500" dirty="0">
                          <a:latin typeface="Times New Roman" panose="02020603050405020304" pitchFamily="18" charset="0"/>
                          <a:cs typeface="Times New Roman" panose="02020603050405020304" pitchFamily="18" charset="0"/>
                        </a:rPr>
                        <a:t>0</a:t>
                      </a:r>
                    </a:p>
                  </a:txBody>
                  <a:tcPr marL="127279" marR="127279" marT="63640" marB="63640"/>
                </a:tc>
                <a:extLst>
                  <a:ext uri="{0D108BD9-81ED-4DB2-BD59-A6C34878D82A}">
                    <a16:rowId xmlns:a16="http://schemas.microsoft.com/office/drawing/2014/main" val="1939925891"/>
                  </a:ext>
                </a:extLst>
              </a:tr>
            </a:tbl>
          </a:graphicData>
        </a:graphic>
      </p:graphicFrame>
    </p:spTree>
    <p:extLst>
      <p:ext uri="{BB962C8B-B14F-4D97-AF65-F5344CB8AC3E}">
        <p14:creationId xmlns:p14="http://schemas.microsoft.com/office/powerpoint/2010/main" val="337430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4D0EF96-3893-648F-FBF2-749AC83D177C}"/>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l="32245" t="21305" r="32244" b="43415"/>
          <a:stretch>
            <a:fillRect/>
          </a:stretch>
        </p:blipFill>
        <p:spPr>
          <a:xfrm>
            <a:off x="342818" y="502418"/>
            <a:ext cx="6232525" cy="3376561"/>
          </a:xfrm>
          <a:prstGeom prst="rect">
            <a:avLst/>
          </a:prstGeom>
        </p:spPr>
      </p:pic>
      <p:pic>
        <p:nvPicPr>
          <p:cNvPr id="7" name="Picture 6">
            <a:extLst>
              <a:ext uri="{FF2B5EF4-FFF2-40B4-BE49-F238E27FC236}">
                <a16:creationId xmlns:a16="http://schemas.microsoft.com/office/drawing/2014/main" id="{39C439F0-DB0C-7985-A648-B2C0ED838231}"/>
              </a:ext>
            </a:extLst>
          </p:cNvPr>
          <p:cNvPicPr>
            <a:picLocks noChangeAspect="1"/>
          </p:cNvPicPr>
          <p:nvPr/>
        </p:nvPicPr>
        <p:blipFill>
          <a:blip r:embed="rId2">
            <a:extLst>
              <a:ext uri="{28A0092B-C50C-407E-A947-70E740481C1C}">
                <a14:useLocalDpi xmlns:a14="http://schemas.microsoft.com/office/drawing/2010/main" val="0"/>
              </a:ext>
            </a:extLst>
          </a:blip>
          <a:srcRect l="29877" t="56293" r="30114" b="24610"/>
          <a:stretch>
            <a:fillRect/>
          </a:stretch>
        </p:blipFill>
        <p:spPr>
          <a:xfrm>
            <a:off x="4013200" y="4262437"/>
            <a:ext cx="7726680" cy="2011680"/>
          </a:xfrm>
          <a:prstGeom prst="rect">
            <a:avLst/>
          </a:prstGeom>
        </p:spPr>
      </p:pic>
    </p:spTree>
    <p:extLst>
      <p:ext uri="{BB962C8B-B14F-4D97-AF65-F5344CB8AC3E}">
        <p14:creationId xmlns:p14="http://schemas.microsoft.com/office/powerpoint/2010/main" val="1160619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92B0BD-2F64-53BF-CE36-B72D0B5B23AF}"/>
              </a:ext>
            </a:extLst>
          </p:cNvPr>
          <p:cNvSpPr>
            <a:spLocks noGrp="1"/>
          </p:cNvSpPr>
          <p:nvPr>
            <p:ph type="title"/>
          </p:nvPr>
        </p:nvSpPr>
        <p:spPr>
          <a:xfrm>
            <a:off x="838200" y="2634626"/>
            <a:ext cx="10515600" cy="1325563"/>
          </a:xfrm>
        </p:spPr>
        <p:txBody>
          <a:bodyPr>
            <a:normAutofit fontScale="90000"/>
          </a:bodyPr>
          <a:lstStyle/>
          <a:p>
            <a:r>
              <a:rPr lang="en-US" altLang="en-US" sz="4900" b="1" dirty="0">
                <a:latin typeface="Times New Roman" panose="02020603050405020304" pitchFamily="18" charset="0"/>
                <a:cs typeface="Times New Roman" panose="02020603050405020304" pitchFamily="18" charset="0"/>
              </a:rPr>
              <a:t>The Production Possibilities Curve and Efficiency</a:t>
            </a:r>
            <a:br>
              <a:rPr lang="en-US" alt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5895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705BCC05-5E1F-3E7B-1D19-CAEE620FB422}"/>
              </a:ext>
            </a:extLst>
          </p:cNvPr>
          <p:cNvSpPr>
            <a:spLocks noGrp="1"/>
          </p:cNvSpPr>
          <p:nvPr>
            <p:ph type="title"/>
          </p:nvPr>
        </p:nvSpPr>
        <p:spPr>
          <a:xfrm>
            <a:off x="394569" y="348865"/>
            <a:ext cx="10044023" cy="877729"/>
          </a:xfrm>
        </p:spPr>
        <p:txBody>
          <a:bodyPr anchor="ctr">
            <a:normAutofit/>
          </a:bodyPr>
          <a:lstStyle/>
          <a:p>
            <a:r>
              <a:rPr lang="en-US" sz="4000" b="1">
                <a:solidFill>
                  <a:srgbClr val="FFFFFF"/>
                </a:solidFill>
                <a:latin typeface="Times New Roman" panose="02020603050405020304" pitchFamily="18" charset="0"/>
                <a:cs typeface="Times New Roman" panose="02020603050405020304" pitchFamily="18" charset="0"/>
              </a:rPr>
              <a:t>Two types of Efficiency</a:t>
            </a:r>
          </a:p>
        </p:txBody>
      </p:sp>
      <p:graphicFrame>
        <p:nvGraphicFramePr>
          <p:cNvPr id="6" name="Content Placeholder 3">
            <a:extLst>
              <a:ext uri="{FF2B5EF4-FFF2-40B4-BE49-F238E27FC236}">
                <a16:creationId xmlns:a16="http://schemas.microsoft.com/office/drawing/2014/main" id="{B7290FFC-2D6F-F627-C5D3-6CE37F82A036}"/>
              </a:ext>
            </a:extLst>
          </p:cNvPr>
          <p:cNvGraphicFramePr>
            <a:graphicFrameLocks noGrp="1"/>
          </p:cNvGraphicFramePr>
          <p:nvPr>
            <p:ph idx="1"/>
            <p:extLst>
              <p:ext uri="{D42A27DB-BD31-4B8C-83A1-F6EECF244321}">
                <p14:modId xmlns:p14="http://schemas.microsoft.com/office/powerpoint/2010/main" val="333998354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1432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3C650-2E6C-5D78-C266-C74A45A64386}"/>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Shifting the Production Possibilities Curve</a:t>
            </a:r>
            <a:br>
              <a:rPr lang="en-US" alt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8" name="Rectangle 34">
            <a:extLst>
              <a:ext uri="{FF2B5EF4-FFF2-40B4-BE49-F238E27FC236}">
                <a16:creationId xmlns:a16="http://schemas.microsoft.com/office/drawing/2014/main" id="{93F8EC87-BA7F-DAC5-48EA-83B964136789}"/>
              </a:ext>
            </a:extLst>
          </p:cNvPr>
          <p:cNvSpPr>
            <a:spLocks noChangeArrowheads="1"/>
          </p:cNvSpPr>
          <p:nvPr/>
        </p:nvSpPr>
        <p:spPr bwMode="auto">
          <a:xfrm>
            <a:off x="1828800" y="990601"/>
            <a:ext cx="845820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b="1">
                <a:solidFill>
                  <a:srgbClr val="990000"/>
                </a:solidFill>
              </a:rPr>
              <a:t>4 Key Assumptions Revisited</a:t>
            </a:r>
          </a:p>
          <a:p>
            <a:pPr eaLnBrk="1" hangingPunct="1">
              <a:spcBef>
                <a:spcPct val="0"/>
              </a:spcBef>
            </a:pPr>
            <a:r>
              <a:rPr lang="en-US" altLang="en-US" b="1">
                <a:solidFill>
                  <a:srgbClr val="000099"/>
                </a:solidFill>
                <a:cs typeface="Times New Roman" panose="02020603050405020304" pitchFamily="18" charset="0"/>
              </a:rPr>
              <a:t>Only two goods can be produced</a:t>
            </a:r>
            <a:r>
              <a:rPr lang="en-US" altLang="en-US" b="1">
                <a:solidFill>
                  <a:srgbClr val="000099"/>
                </a:solidFill>
              </a:rPr>
              <a:t> </a:t>
            </a:r>
          </a:p>
          <a:p>
            <a:pPr eaLnBrk="1" hangingPunct="1">
              <a:spcBef>
                <a:spcPct val="0"/>
              </a:spcBef>
            </a:pPr>
            <a:r>
              <a:rPr lang="en-US" altLang="en-US" b="1">
                <a:solidFill>
                  <a:srgbClr val="000099"/>
                </a:solidFill>
                <a:cs typeface="Times New Roman" panose="02020603050405020304" pitchFamily="18" charset="0"/>
              </a:rPr>
              <a:t>Full employment of resources</a:t>
            </a:r>
          </a:p>
          <a:p>
            <a:pPr eaLnBrk="1" hangingPunct="1">
              <a:spcBef>
                <a:spcPct val="0"/>
              </a:spcBef>
            </a:pPr>
            <a:r>
              <a:rPr lang="en-US" altLang="en-US" sz="4000" b="1">
                <a:solidFill>
                  <a:srgbClr val="009900"/>
                </a:solidFill>
                <a:cs typeface="Times New Roman" panose="02020603050405020304" pitchFamily="18" charset="0"/>
              </a:rPr>
              <a:t>Fixed Resources (4 Factors)</a:t>
            </a:r>
          </a:p>
          <a:p>
            <a:pPr eaLnBrk="1" hangingPunct="1">
              <a:spcBef>
                <a:spcPct val="0"/>
              </a:spcBef>
            </a:pPr>
            <a:r>
              <a:rPr lang="en-US" altLang="en-US" sz="4000" b="1">
                <a:solidFill>
                  <a:srgbClr val="009900"/>
                </a:solidFill>
                <a:cs typeface="Times New Roman" panose="02020603050405020304" pitchFamily="18" charset="0"/>
              </a:rPr>
              <a:t>Fixed Technology</a:t>
            </a:r>
            <a:endParaRPr lang="en-US" altLang="en-US" sz="4000" b="1">
              <a:solidFill>
                <a:srgbClr val="009900"/>
              </a:solidFill>
            </a:endParaRPr>
          </a:p>
        </p:txBody>
      </p:sp>
      <p:sp>
        <p:nvSpPr>
          <p:cNvPr id="9" name="Rectangle 35">
            <a:extLst>
              <a:ext uri="{FF2B5EF4-FFF2-40B4-BE49-F238E27FC236}">
                <a16:creationId xmlns:a16="http://schemas.microsoft.com/office/drawing/2014/main" id="{59F75CBF-2066-0147-4A25-F9BDBB0A2401}"/>
              </a:ext>
            </a:extLst>
          </p:cNvPr>
          <p:cNvSpPr>
            <a:spLocks noChangeArrowheads="1"/>
          </p:cNvSpPr>
          <p:nvPr/>
        </p:nvSpPr>
        <p:spPr bwMode="auto">
          <a:xfrm>
            <a:off x="1828800" y="3733801"/>
            <a:ext cx="8458200"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914400" indent="-4572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3600" b="1"/>
              <a:t>What if there is a change?</a:t>
            </a:r>
            <a:endParaRPr lang="en-US" altLang="en-US" sz="1200" b="1"/>
          </a:p>
          <a:p>
            <a:pPr algn="ctr" eaLnBrk="1" hangingPunct="1">
              <a:spcBef>
                <a:spcPct val="0"/>
              </a:spcBef>
              <a:buFontTx/>
              <a:buNone/>
            </a:pPr>
            <a:r>
              <a:rPr lang="en-US" altLang="en-US" sz="4800" b="1">
                <a:solidFill>
                  <a:srgbClr val="990000"/>
                </a:solidFill>
              </a:rPr>
              <a:t>3 Shifters of the PPC</a:t>
            </a:r>
          </a:p>
          <a:p>
            <a:pPr lvl="1">
              <a:spcBef>
                <a:spcPct val="0"/>
              </a:spcBef>
              <a:buFontTx/>
              <a:buNone/>
            </a:pPr>
            <a:r>
              <a:rPr lang="en-US" altLang="en-US" sz="3400" b="1">
                <a:solidFill>
                  <a:srgbClr val="000099"/>
                </a:solidFill>
              </a:rPr>
              <a:t>1. Change in resource quantity or quality </a:t>
            </a:r>
            <a:r>
              <a:rPr lang="en-US" altLang="en-US" sz="2400" b="1">
                <a:solidFill>
                  <a:srgbClr val="000099"/>
                </a:solidFill>
              </a:rPr>
              <a:t> </a:t>
            </a:r>
          </a:p>
          <a:p>
            <a:pPr lvl="1">
              <a:spcBef>
                <a:spcPct val="0"/>
              </a:spcBef>
              <a:buFontTx/>
              <a:buNone/>
            </a:pPr>
            <a:r>
              <a:rPr lang="en-US" altLang="en-US" sz="3400" b="1">
                <a:solidFill>
                  <a:srgbClr val="000099"/>
                </a:solidFill>
              </a:rPr>
              <a:t>2. Change in Technology</a:t>
            </a:r>
            <a:endParaRPr lang="en-US" altLang="en-US" sz="2400" b="1">
              <a:solidFill>
                <a:srgbClr val="000099"/>
              </a:solidFill>
            </a:endParaRPr>
          </a:p>
          <a:p>
            <a:pPr lvl="1">
              <a:spcBef>
                <a:spcPct val="0"/>
              </a:spcBef>
              <a:buFontTx/>
              <a:buNone/>
            </a:pPr>
            <a:r>
              <a:rPr lang="en-US" altLang="en-US" sz="3400" b="1">
                <a:solidFill>
                  <a:srgbClr val="000099"/>
                </a:solidFill>
              </a:rPr>
              <a:t>3. Change in Trade</a:t>
            </a:r>
          </a:p>
        </p:txBody>
      </p:sp>
      <p:sp>
        <p:nvSpPr>
          <p:cNvPr id="10" name="Slide Number Placeholder 4">
            <a:extLst>
              <a:ext uri="{FF2B5EF4-FFF2-40B4-BE49-F238E27FC236}">
                <a16:creationId xmlns:a16="http://schemas.microsoft.com/office/drawing/2014/main" id="{BBBEA056-77CF-3042-1004-92785D00DADB}"/>
              </a:ext>
            </a:extLst>
          </p:cNvPr>
          <p:cNvSpPr>
            <a:spLocks noGrp="1"/>
          </p:cNvSpPr>
          <p:nvPr>
            <p:ph type="sldNum" sz="quarter" idx="12"/>
          </p:nvPr>
        </p:nvSpPr>
        <p:spPr>
          <a:xfrm>
            <a:off x="861060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4BBBCD0-9301-F543-B3D0-D3C63DD6B7B5}" type="slidenum">
              <a:rPr lang="en-US" altLang="en-US" sz="1400"/>
              <a:pPr>
                <a:spcBef>
                  <a:spcPct val="0"/>
                </a:spcBef>
                <a:buFontTx/>
                <a:buNone/>
              </a:pPr>
              <a:t>26</a:t>
            </a:fld>
            <a:endParaRPr lang="en-US" altLang="en-US" sz="1400"/>
          </a:p>
        </p:txBody>
      </p:sp>
    </p:spTree>
    <p:extLst>
      <p:ext uri="{BB962C8B-B14F-4D97-AF65-F5344CB8AC3E}">
        <p14:creationId xmlns:p14="http://schemas.microsoft.com/office/powerpoint/2010/main" val="33050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ssolv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dissolv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dissolv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dissolv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dissolv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dissolve">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9">
                                            <p:txEl>
                                              <p:pRg st="1" end="1"/>
                                            </p:txEl>
                                          </p:spTgt>
                                        </p:tgtEl>
                                        <p:attrNameLst>
                                          <p:attrName>style.visibility</p:attrName>
                                        </p:attrNameLst>
                                      </p:cBhvr>
                                      <p:to>
                                        <p:strVal val="visible"/>
                                      </p:to>
                                    </p:set>
                                    <p:animEffect transition="in" filter="dissolve">
                                      <p:cBhvr>
                                        <p:cTn id="37" dur="500"/>
                                        <p:tgtEl>
                                          <p:spTgt spid="9">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9">
                                            <p:txEl>
                                              <p:pRg st="2" end="2"/>
                                            </p:txEl>
                                          </p:spTgt>
                                        </p:tgtEl>
                                        <p:attrNameLst>
                                          <p:attrName>style.visibility</p:attrName>
                                        </p:attrNameLst>
                                      </p:cBhvr>
                                      <p:to>
                                        <p:strVal val="visible"/>
                                      </p:to>
                                    </p:set>
                                    <p:animEffect transition="in" filter="dissolve">
                                      <p:cBhvr>
                                        <p:cTn id="42" dur="500"/>
                                        <p:tgtEl>
                                          <p:spTgt spid="9">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9">
                                            <p:txEl>
                                              <p:pRg st="3" end="3"/>
                                            </p:txEl>
                                          </p:spTgt>
                                        </p:tgtEl>
                                        <p:attrNameLst>
                                          <p:attrName>style.visibility</p:attrName>
                                        </p:attrNameLst>
                                      </p:cBhvr>
                                      <p:to>
                                        <p:strVal val="visible"/>
                                      </p:to>
                                    </p:set>
                                    <p:animEffect transition="in" filter="dissolve">
                                      <p:cBhvr>
                                        <p:cTn id="47" dur="500"/>
                                        <p:tgtEl>
                                          <p:spTgt spid="9">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9">
                                            <p:txEl>
                                              <p:pRg st="4" end="4"/>
                                            </p:txEl>
                                          </p:spTgt>
                                        </p:tgtEl>
                                        <p:attrNameLst>
                                          <p:attrName>style.visibility</p:attrName>
                                        </p:attrNameLst>
                                      </p:cBhvr>
                                      <p:to>
                                        <p:strVal val="visible"/>
                                      </p:to>
                                    </p:set>
                                    <p:animEffect transition="in" filter="dissolve">
                                      <p:cBhvr>
                                        <p:cTn id="52"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utoUpdateAnimBg="0"/>
      <p:bldP spid="9" grpId="0" build="p" bldLvl="2"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Arc 24">
            <a:extLst>
              <a:ext uri="{FF2B5EF4-FFF2-40B4-BE49-F238E27FC236}">
                <a16:creationId xmlns:a16="http://schemas.microsoft.com/office/drawing/2014/main" id="{5BA85E8A-E20F-D8B1-7B2C-C6329B2F7D17}"/>
              </a:ext>
            </a:extLst>
          </p:cNvPr>
          <p:cNvSpPr>
            <a:spLocks/>
          </p:cNvSpPr>
          <p:nvPr/>
        </p:nvSpPr>
        <p:spPr bwMode="auto">
          <a:xfrm>
            <a:off x="3810001" y="2667001"/>
            <a:ext cx="2206625" cy="3084513"/>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grpSp>
        <p:nvGrpSpPr>
          <p:cNvPr id="53251" name="Group 27">
            <a:extLst>
              <a:ext uri="{FF2B5EF4-FFF2-40B4-BE49-F238E27FC236}">
                <a16:creationId xmlns:a16="http://schemas.microsoft.com/office/drawing/2014/main" id="{1DC5F7A5-D6F9-0E29-496C-104FFBAEEDFC}"/>
              </a:ext>
            </a:extLst>
          </p:cNvPr>
          <p:cNvGrpSpPr>
            <a:grpSpLocks/>
          </p:cNvGrpSpPr>
          <p:nvPr/>
        </p:nvGrpSpPr>
        <p:grpSpPr bwMode="auto">
          <a:xfrm>
            <a:off x="3797301" y="1381126"/>
            <a:ext cx="4873625" cy="4405313"/>
            <a:chOff x="1755" y="922"/>
            <a:chExt cx="3070" cy="2775"/>
          </a:xfrm>
        </p:grpSpPr>
        <p:sp>
          <p:nvSpPr>
            <p:cNvPr id="53257" name="Line 28">
              <a:extLst>
                <a:ext uri="{FF2B5EF4-FFF2-40B4-BE49-F238E27FC236}">
                  <a16:creationId xmlns:a16="http://schemas.microsoft.com/office/drawing/2014/main" id="{06FB729F-98A6-0DE1-BA37-C078CA486980}"/>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53258" name="Line 29">
              <a:extLst>
                <a:ext uri="{FF2B5EF4-FFF2-40B4-BE49-F238E27FC236}">
                  <a16:creationId xmlns:a16="http://schemas.microsoft.com/office/drawing/2014/main" id="{08C0555C-CB8B-DE5F-6A28-666A735AB147}"/>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53252" name="Rectangle 32">
            <a:extLst>
              <a:ext uri="{FF2B5EF4-FFF2-40B4-BE49-F238E27FC236}">
                <a16:creationId xmlns:a16="http://schemas.microsoft.com/office/drawing/2014/main" id="{4017C7B9-55AC-9DFD-8393-E4D43DAB82DC}"/>
              </a:ext>
            </a:extLst>
          </p:cNvPr>
          <p:cNvSpPr>
            <a:spLocks noChangeArrowheads="1"/>
          </p:cNvSpPr>
          <p:nvPr/>
        </p:nvSpPr>
        <p:spPr bwMode="auto">
          <a:xfrm rot="16200000">
            <a:off x="2615639" y="3164883"/>
            <a:ext cx="159338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Robots</a:t>
            </a:r>
            <a:endParaRPr lang="en-US" altLang="en-US" sz="2400" b="1">
              <a:latin typeface="Arial" panose="020B0604020202020204" pitchFamily="34" charset="0"/>
            </a:endParaRPr>
          </a:p>
        </p:txBody>
      </p:sp>
      <p:sp>
        <p:nvSpPr>
          <p:cNvPr id="53253" name="Rectangle 33">
            <a:extLst>
              <a:ext uri="{FF2B5EF4-FFF2-40B4-BE49-F238E27FC236}">
                <a16:creationId xmlns:a16="http://schemas.microsoft.com/office/drawing/2014/main" id="{295EDBA4-5ED8-E9E2-E088-27A064F098C5}"/>
              </a:ext>
            </a:extLst>
          </p:cNvPr>
          <p:cNvSpPr>
            <a:spLocks noChangeArrowheads="1"/>
          </p:cNvSpPr>
          <p:nvPr/>
        </p:nvSpPr>
        <p:spPr bwMode="auto">
          <a:xfrm>
            <a:off x="5403254" y="5791201"/>
            <a:ext cx="1436292"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Pizzas</a:t>
            </a:r>
            <a:endParaRPr lang="en-US" altLang="en-US" sz="2400" b="1">
              <a:latin typeface="Arial" panose="020B0604020202020204" pitchFamily="34" charset="0"/>
            </a:endParaRPr>
          </a:p>
        </p:txBody>
      </p:sp>
      <p:sp>
        <p:nvSpPr>
          <p:cNvPr id="97334" name="Rectangle 54">
            <a:extLst>
              <a:ext uri="{FF2B5EF4-FFF2-40B4-BE49-F238E27FC236}">
                <a16:creationId xmlns:a16="http://schemas.microsoft.com/office/drawing/2014/main" id="{D73B8FB1-4878-59F8-E145-ABF4E8379887}"/>
              </a:ext>
            </a:extLst>
          </p:cNvPr>
          <p:cNvSpPr>
            <a:spLocks noChangeArrowheads="1"/>
          </p:cNvSpPr>
          <p:nvPr/>
        </p:nvSpPr>
        <p:spPr bwMode="auto">
          <a:xfrm>
            <a:off x="5562601" y="990601"/>
            <a:ext cx="4760913"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b="1" dirty="0">
                <a:solidFill>
                  <a:srgbClr val="FF0000"/>
                </a:solidFill>
              </a:rPr>
              <a:t>What happens if there is an increase in </a:t>
            </a:r>
            <a:r>
              <a:rPr lang="en-US" altLang="en-US" sz="3600" b="1" dirty="0">
                <a:solidFill>
                  <a:srgbClr val="FF0000"/>
                </a:solidFill>
              </a:rPr>
              <a:t>population?</a:t>
            </a:r>
          </a:p>
          <a:p>
            <a:pPr algn="ctr">
              <a:spcBef>
                <a:spcPct val="0"/>
              </a:spcBef>
              <a:buFontTx/>
              <a:buNone/>
            </a:pPr>
            <a:endParaRPr lang="en-US" altLang="en-US" sz="3600" b="1" dirty="0">
              <a:solidFill>
                <a:srgbClr val="990000"/>
              </a:solidFill>
            </a:endParaRPr>
          </a:p>
        </p:txBody>
      </p:sp>
      <p:sp>
        <p:nvSpPr>
          <p:cNvPr id="53255" name="Slide Number Placeholder 18">
            <a:extLst>
              <a:ext uri="{FF2B5EF4-FFF2-40B4-BE49-F238E27FC236}">
                <a16:creationId xmlns:a16="http://schemas.microsoft.com/office/drawing/2014/main" id="{D90AE787-94C4-C89F-B507-DFAACBA4B7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3D57705-BF58-1649-9AE1-908A8723CD03}" type="slidenum">
              <a:rPr lang="en-US" altLang="en-US" sz="1400"/>
              <a:pPr>
                <a:spcBef>
                  <a:spcPct val="0"/>
                </a:spcBef>
                <a:buFontTx/>
                <a:buNone/>
              </a:pPr>
              <a:t>27</a:t>
            </a:fld>
            <a:endParaRPr lang="en-US" altLang="en-US" sz="1400"/>
          </a:p>
        </p:txBody>
      </p:sp>
      <p:sp>
        <p:nvSpPr>
          <p:cNvPr id="53256" name="Rectangle 1032">
            <a:extLst>
              <a:ext uri="{FF2B5EF4-FFF2-40B4-BE49-F238E27FC236}">
                <a16:creationId xmlns:a16="http://schemas.microsoft.com/office/drawing/2014/main" id="{09752743-A0FD-AD91-7554-316730490EE9}"/>
              </a:ext>
            </a:extLst>
          </p:cNvPr>
          <p:cNvSpPr>
            <a:spLocks noChangeArrowheads="1"/>
          </p:cNvSpPr>
          <p:nvPr/>
        </p:nvSpPr>
        <p:spPr bwMode="auto">
          <a:xfrm>
            <a:off x="509335" y="76200"/>
            <a:ext cx="87820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b="1" dirty="0"/>
              <a:t>Production Possibilities</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7334">
                                            <p:txEl>
                                              <p:pRg st="0" end="0"/>
                                            </p:txEl>
                                          </p:spTgt>
                                        </p:tgtEl>
                                        <p:attrNameLst>
                                          <p:attrName>style.visibility</p:attrName>
                                        </p:attrNameLst>
                                      </p:cBhvr>
                                      <p:to>
                                        <p:strVal val="visible"/>
                                      </p:to>
                                    </p:set>
                                    <p:animEffect transition="in" filter="wipe(left)">
                                      <p:cBhvr>
                                        <p:cTn id="7" dur="500"/>
                                        <p:tgtEl>
                                          <p:spTgt spid="973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34" grpId="0" build="p" autoUpdateAnimBg="0"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Arc 24">
            <a:extLst>
              <a:ext uri="{FF2B5EF4-FFF2-40B4-BE49-F238E27FC236}">
                <a16:creationId xmlns:a16="http://schemas.microsoft.com/office/drawing/2014/main" id="{A267BE3D-6166-455B-5F61-6470628CC8D6}"/>
              </a:ext>
            </a:extLst>
          </p:cNvPr>
          <p:cNvSpPr>
            <a:spLocks/>
          </p:cNvSpPr>
          <p:nvPr/>
        </p:nvSpPr>
        <p:spPr bwMode="auto">
          <a:xfrm>
            <a:off x="3810000" y="1828800"/>
            <a:ext cx="3200400" cy="38862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54275" name="Arc 24">
            <a:extLst>
              <a:ext uri="{FF2B5EF4-FFF2-40B4-BE49-F238E27FC236}">
                <a16:creationId xmlns:a16="http://schemas.microsoft.com/office/drawing/2014/main" id="{E9149D9C-F2BC-4481-D2AF-3CFA40A6B9E8}"/>
              </a:ext>
            </a:extLst>
          </p:cNvPr>
          <p:cNvSpPr>
            <a:spLocks/>
          </p:cNvSpPr>
          <p:nvPr/>
        </p:nvSpPr>
        <p:spPr bwMode="auto">
          <a:xfrm>
            <a:off x="3810001" y="2667001"/>
            <a:ext cx="2206625" cy="3084513"/>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grpSp>
        <p:nvGrpSpPr>
          <p:cNvPr id="54276" name="Group 27">
            <a:extLst>
              <a:ext uri="{FF2B5EF4-FFF2-40B4-BE49-F238E27FC236}">
                <a16:creationId xmlns:a16="http://schemas.microsoft.com/office/drawing/2014/main" id="{70CC9968-0058-A5EC-09C3-DBECFDB092D1}"/>
              </a:ext>
            </a:extLst>
          </p:cNvPr>
          <p:cNvGrpSpPr>
            <a:grpSpLocks/>
          </p:cNvGrpSpPr>
          <p:nvPr/>
        </p:nvGrpSpPr>
        <p:grpSpPr bwMode="auto">
          <a:xfrm>
            <a:off x="3797301" y="1381126"/>
            <a:ext cx="4873625" cy="4405313"/>
            <a:chOff x="1755" y="922"/>
            <a:chExt cx="3070" cy="2775"/>
          </a:xfrm>
        </p:grpSpPr>
        <p:sp>
          <p:nvSpPr>
            <p:cNvPr id="54283" name="Line 28">
              <a:extLst>
                <a:ext uri="{FF2B5EF4-FFF2-40B4-BE49-F238E27FC236}">
                  <a16:creationId xmlns:a16="http://schemas.microsoft.com/office/drawing/2014/main" id="{DEB64E6A-4741-3EF4-577A-6CA2AB556157}"/>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54284" name="Line 29">
              <a:extLst>
                <a:ext uri="{FF2B5EF4-FFF2-40B4-BE49-F238E27FC236}">
                  <a16:creationId xmlns:a16="http://schemas.microsoft.com/office/drawing/2014/main" id="{6EB36FA0-E22B-28BF-039D-ABB477F70835}"/>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54277" name="Rectangle 32">
            <a:extLst>
              <a:ext uri="{FF2B5EF4-FFF2-40B4-BE49-F238E27FC236}">
                <a16:creationId xmlns:a16="http://schemas.microsoft.com/office/drawing/2014/main" id="{643E77B5-29A0-B586-3DAB-52A7D31F47BC}"/>
              </a:ext>
            </a:extLst>
          </p:cNvPr>
          <p:cNvSpPr>
            <a:spLocks noChangeArrowheads="1"/>
          </p:cNvSpPr>
          <p:nvPr/>
        </p:nvSpPr>
        <p:spPr bwMode="auto">
          <a:xfrm rot="16200000">
            <a:off x="2615639" y="3164883"/>
            <a:ext cx="159338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Robots</a:t>
            </a:r>
            <a:endParaRPr lang="en-US" altLang="en-US" sz="2400" b="1">
              <a:latin typeface="Arial" panose="020B0604020202020204" pitchFamily="34" charset="0"/>
            </a:endParaRPr>
          </a:p>
        </p:txBody>
      </p:sp>
      <p:sp>
        <p:nvSpPr>
          <p:cNvPr id="54278" name="Rectangle 33">
            <a:extLst>
              <a:ext uri="{FF2B5EF4-FFF2-40B4-BE49-F238E27FC236}">
                <a16:creationId xmlns:a16="http://schemas.microsoft.com/office/drawing/2014/main" id="{00BBEBD2-2860-A787-819F-6356D9DB3039}"/>
              </a:ext>
            </a:extLst>
          </p:cNvPr>
          <p:cNvSpPr>
            <a:spLocks noChangeArrowheads="1"/>
          </p:cNvSpPr>
          <p:nvPr/>
        </p:nvSpPr>
        <p:spPr bwMode="auto">
          <a:xfrm>
            <a:off x="5403254" y="5791201"/>
            <a:ext cx="1436292"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Pizzas</a:t>
            </a:r>
            <a:endParaRPr lang="en-US" altLang="en-US" sz="2400" b="1">
              <a:latin typeface="Arial" panose="020B0604020202020204" pitchFamily="34" charset="0"/>
            </a:endParaRPr>
          </a:p>
        </p:txBody>
      </p:sp>
      <p:sp>
        <p:nvSpPr>
          <p:cNvPr id="54279" name="Rectangle 54">
            <a:extLst>
              <a:ext uri="{FF2B5EF4-FFF2-40B4-BE49-F238E27FC236}">
                <a16:creationId xmlns:a16="http://schemas.microsoft.com/office/drawing/2014/main" id="{A516B549-6276-082D-5755-9A9E823D5082}"/>
              </a:ext>
            </a:extLst>
          </p:cNvPr>
          <p:cNvSpPr>
            <a:spLocks noChangeArrowheads="1"/>
          </p:cNvSpPr>
          <p:nvPr/>
        </p:nvSpPr>
        <p:spPr bwMode="auto">
          <a:xfrm>
            <a:off x="5562601" y="990601"/>
            <a:ext cx="4760913"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b="1" dirty="0">
                <a:solidFill>
                  <a:srgbClr val="FF0000"/>
                </a:solidFill>
              </a:rPr>
              <a:t>What happens if there is an increase in </a:t>
            </a:r>
            <a:r>
              <a:rPr lang="en-US" altLang="en-US" sz="3600" b="1" dirty="0">
                <a:solidFill>
                  <a:srgbClr val="FF0000"/>
                </a:solidFill>
              </a:rPr>
              <a:t>population?</a:t>
            </a:r>
          </a:p>
          <a:p>
            <a:pPr algn="ctr">
              <a:spcBef>
                <a:spcPct val="0"/>
              </a:spcBef>
              <a:buFontTx/>
              <a:buNone/>
            </a:pPr>
            <a:endParaRPr lang="en-US" altLang="en-US" sz="3600" b="1" dirty="0">
              <a:solidFill>
                <a:srgbClr val="990000"/>
              </a:solidFill>
            </a:endParaRPr>
          </a:p>
        </p:txBody>
      </p:sp>
      <p:sp>
        <p:nvSpPr>
          <p:cNvPr id="54280" name="Slide Number Placeholder 18">
            <a:extLst>
              <a:ext uri="{FF2B5EF4-FFF2-40B4-BE49-F238E27FC236}">
                <a16:creationId xmlns:a16="http://schemas.microsoft.com/office/drawing/2014/main" id="{FA44FC82-44C8-BAE3-B914-BD8C4A8ADC75}"/>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83735CDF-090C-EF4F-9305-C4E3E9E3FA7A}" type="slidenum">
              <a:rPr lang="en-US" altLang="en-US" sz="1400"/>
              <a:pPr algn="r" eaLnBrk="1" hangingPunct="1">
                <a:spcBef>
                  <a:spcPct val="0"/>
                </a:spcBef>
                <a:buFontTx/>
                <a:buNone/>
              </a:pPr>
              <a:t>28</a:t>
            </a:fld>
            <a:endParaRPr lang="en-US" altLang="en-US" sz="1400"/>
          </a:p>
        </p:txBody>
      </p:sp>
      <p:sp>
        <p:nvSpPr>
          <p:cNvPr id="54281" name="Rectangle 1032">
            <a:extLst>
              <a:ext uri="{FF2B5EF4-FFF2-40B4-BE49-F238E27FC236}">
                <a16:creationId xmlns:a16="http://schemas.microsoft.com/office/drawing/2014/main" id="{ABB7989D-20DA-BB2F-4743-EE8EF7FB98DE}"/>
              </a:ext>
            </a:extLst>
          </p:cNvPr>
          <p:cNvSpPr>
            <a:spLocks noChangeArrowheads="1"/>
          </p:cNvSpPr>
          <p:nvPr/>
        </p:nvSpPr>
        <p:spPr bwMode="auto">
          <a:xfrm>
            <a:off x="401050" y="76200"/>
            <a:ext cx="87820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b="1"/>
              <a:t>Production Possibilities</a:t>
            </a:r>
          </a:p>
        </p:txBody>
      </p:sp>
      <p:sp>
        <p:nvSpPr>
          <p:cNvPr id="54282" name="AutoShape 19">
            <a:extLst>
              <a:ext uri="{FF2B5EF4-FFF2-40B4-BE49-F238E27FC236}">
                <a16:creationId xmlns:a16="http://schemas.microsoft.com/office/drawing/2014/main" id="{2D3B75F3-E5C8-FDB6-D63F-21A3BE77A351}"/>
              </a:ext>
            </a:extLst>
          </p:cNvPr>
          <p:cNvSpPr>
            <a:spLocks noChangeArrowheads="1"/>
          </p:cNvSpPr>
          <p:nvPr/>
        </p:nvSpPr>
        <p:spPr bwMode="auto">
          <a:xfrm rot="19318513">
            <a:off x="5489575" y="3121025"/>
            <a:ext cx="463550" cy="317500"/>
          </a:xfrm>
          <a:prstGeom prst="rightArrow">
            <a:avLst>
              <a:gd name="adj1" fmla="val 50000"/>
              <a:gd name="adj2" fmla="val 73007"/>
            </a:avLst>
          </a:prstGeom>
          <a:solidFill>
            <a:schemeClr val="tx1"/>
          </a:solidFill>
          <a:ln w="25400">
            <a:solidFill>
              <a:srgbClr val="000000"/>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Tree>
  </p:cSld>
  <p:clrMapOvr>
    <a:masterClrMapping/>
  </p:clrMapOvr>
  <p:transition spd="med">
    <p:dissolv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Arc 24">
            <a:extLst>
              <a:ext uri="{FF2B5EF4-FFF2-40B4-BE49-F238E27FC236}">
                <a16:creationId xmlns:a16="http://schemas.microsoft.com/office/drawing/2014/main" id="{C1C1C285-0D1F-47DE-A944-39C5353E0A76}"/>
              </a:ext>
            </a:extLst>
          </p:cNvPr>
          <p:cNvSpPr>
            <a:spLocks/>
          </p:cNvSpPr>
          <p:nvPr/>
        </p:nvSpPr>
        <p:spPr bwMode="auto">
          <a:xfrm>
            <a:off x="3810001" y="2667001"/>
            <a:ext cx="2206625" cy="3084513"/>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grpSp>
        <p:nvGrpSpPr>
          <p:cNvPr id="55299" name="Group 27">
            <a:extLst>
              <a:ext uri="{FF2B5EF4-FFF2-40B4-BE49-F238E27FC236}">
                <a16:creationId xmlns:a16="http://schemas.microsoft.com/office/drawing/2014/main" id="{93F3CB20-7B52-E62D-136C-1EE9E875E340}"/>
              </a:ext>
            </a:extLst>
          </p:cNvPr>
          <p:cNvGrpSpPr>
            <a:grpSpLocks/>
          </p:cNvGrpSpPr>
          <p:nvPr/>
        </p:nvGrpSpPr>
        <p:grpSpPr bwMode="auto">
          <a:xfrm>
            <a:off x="3797301" y="1381126"/>
            <a:ext cx="4873625" cy="4405313"/>
            <a:chOff x="1755" y="922"/>
            <a:chExt cx="3070" cy="2775"/>
          </a:xfrm>
        </p:grpSpPr>
        <p:sp>
          <p:nvSpPr>
            <p:cNvPr id="55305" name="Line 28">
              <a:extLst>
                <a:ext uri="{FF2B5EF4-FFF2-40B4-BE49-F238E27FC236}">
                  <a16:creationId xmlns:a16="http://schemas.microsoft.com/office/drawing/2014/main" id="{ABDDB35D-DF66-8651-BEE4-99E7ACFD8BB0}"/>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55306" name="Line 29">
              <a:extLst>
                <a:ext uri="{FF2B5EF4-FFF2-40B4-BE49-F238E27FC236}">
                  <a16:creationId xmlns:a16="http://schemas.microsoft.com/office/drawing/2014/main" id="{649D0AF2-5547-941A-A503-0D5AB2CC80BD}"/>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55300" name="Rectangle 32">
            <a:extLst>
              <a:ext uri="{FF2B5EF4-FFF2-40B4-BE49-F238E27FC236}">
                <a16:creationId xmlns:a16="http://schemas.microsoft.com/office/drawing/2014/main" id="{EC457FA7-4A4E-3FA1-E488-91D98A023031}"/>
              </a:ext>
            </a:extLst>
          </p:cNvPr>
          <p:cNvSpPr>
            <a:spLocks noChangeArrowheads="1"/>
          </p:cNvSpPr>
          <p:nvPr/>
        </p:nvSpPr>
        <p:spPr bwMode="auto">
          <a:xfrm rot="16200000">
            <a:off x="2615639" y="3164883"/>
            <a:ext cx="159338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Robots</a:t>
            </a:r>
            <a:endParaRPr lang="en-US" altLang="en-US" sz="2400" b="1">
              <a:latin typeface="Arial" panose="020B0604020202020204" pitchFamily="34" charset="0"/>
            </a:endParaRPr>
          </a:p>
        </p:txBody>
      </p:sp>
      <p:sp>
        <p:nvSpPr>
          <p:cNvPr id="55301" name="Rectangle 33">
            <a:extLst>
              <a:ext uri="{FF2B5EF4-FFF2-40B4-BE49-F238E27FC236}">
                <a16:creationId xmlns:a16="http://schemas.microsoft.com/office/drawing/2014/main" id="{055B2FD9-7632-92E0-8C05-D558584B8183}"/>
              </a:ext>
            </a:extLst>
          </p:cNvPr>
          <p:cNvSpPr>
            <a:spLocks noChangeArrowheads="1"/>
          </p:cNvSpPr>
          <p:nvPr/>
        </p:nvSpPr>
        <p:spPr bwMode="auto">
          <a:xfrm>
            <a:off x="5403254" y="5791201"/>
            <a:ext cx="1436292"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Pizzas</a:t>
            </a:r>
            <a:endParaRPr lang="en-US" altLang="en-US" sz="2400" b="1">
              <a:latin typeface="Arial" panose="020B0604020202020204" pitchFamily="34" charset="0"/>
            </a:endParaRPr>
          </a:p>
        </p:txBody>
      </p:sp>
      <p:sp>
        <p:nvSpPr>
          <p:cNvPr id="97334" name="Rectangle 54">
            <a:extLst>
              <a:ext uri="{FF2B5EF4-FFF2-40B4-BE49-F238E27FC236}">
                <a16:creationId xmlns:a16="http://schemas.microsoft.com/office/drawing/2014/main" id="{BDBB9CFD-5EAD-EA0A-53AE-92C5561C2E3A}"/>
              </a:ext>
            </a:extLst>
          </p:cNvPr>
          <p:cNvSpPr>
            <a:spLocks noChangeArrowheads="1"/>
          </p:cNvSpPr>
          <p:nvPr/>
        </p:nvSpPr>
        <p:spPr bwMode="auto">
          <a:xfrm>
            <a:off x="5181601" y="1066800"/>
            <a:ext cx="5294313" cy="222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b="1" dirty="0">
                <a:solidFill>
                  <a:srgbClr val="FF0000"/>
                </a:solidFill>
              </a:rPr>
              <a:t>What if there is a technology improvement in pizza ovens</a:t>
            </a:r>
            <a:r>
              <a:rPr lang="en-US" altLang="en-US" sz="2000" dirty="0">
                <a:solidFill>
                  <a:srgbClr val="FF0000"/>
                </a:solidFill>
              </a:rPr>
              <a:t> </a:t>
            </a:r>
            <a:endParaRPr lang="en-US" altLang="en-US" b="1" dirty="0">
              <a:solidFill>
                <a:srgbClr val="FF0000"/>
              </a:solidFill>
            </a:endParaRPr>
          </a:p>
          <a:p>
            <a:pPr algn="ctr">
              <a:spcBef>
                <a:spcPct val="0"/>
              </a:spcBef>
              <a:buFontTx/>
              <a:buNone/>
            </a:pPr>
            <a:endParaRPr lang="en-US" altLang="en-US" b="1" dirty="0">
              <a:solidFill>
                <a:srgbClr val="990000"/>
              </a:solidFill>
            </a:endParaRPr>
          </a:p>
        </p:txBody>
      </p:sp>
      <p:sp>
        <p:nvSpPr>
          <p:cNvPr id="55303" name="Slide Number Placeholder 18">
            <a:extLst>
              <a:ext uri="{FF2B5EF4-FFF2-40B4-BE49-F238E27FC236}">
                <a16:creationId xmlns:a16="http://schemas.microsoft.com/office/drawing/2014/main" id="{E41FDE27-819A-1557-9616-4253C3F5D893}"/>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26E4A797-76B0-EC4C-875F-A1EB377E7B5B}" type="slidenum">
              <a:rPr lang="en-US" altLang="en-US" sz="1400"/>
              <a:pPr algn="r" eaLnBrk="1" hangingPunct="1">
                <a:spcBef>
                  <a:spcPct val="0"/>
                </a:spcBef>
                <a:buFontTx/>
                <a:buNone/>
              </a:pPr>
              <a:t>29</a:t>
            </a:fld>
            <a:endParaRPr lang="en-US" altLang="en-US" sz="1400"/>
          </a:p>
        </p:txBody>
      </p:sp>
      <p:sp>
        <p:nvSpPr>
          <p:cNvPr id="55304" name="Rectangle 1032">
            <a:extLst>
              <a:ext uri="{FF2B5EF4-FFF2-40B4-BE49-F238E27FC236}">
                <a16:creationId xmlns:a16="http://schemas.microsoft.com/office/drawing/2014/main" id="{0C3744EE-5B4E-827A-F913-B8909954BB9E}"/>
              </a:ext>
            </a:extLst>
          </p:cNvPr>
          <p:cNvSpPr>
            <a:spLocks noChangeArrowheads="1"/>
          </p:cNvSpPr>
          <p:nvPr/>
        </p:nvSpPr>
        <p:spPr bwMode="auto">
          <a:xfrm>
            <a:off x="593556" y="76200"/>
            <a:ext cx="87820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b="1" dirty="0"/>
              <a:t>Production Possibilities</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7334">
                                            <p:txEl>
                                              <p:pRg st="0" end="0"/>
                                            </p:txEl>
                                          </p:spTgt>
                                        </p:tgtEl>
                                        <p:attrNameLst>
                                          <p:attrName>style.visibility</p:attrName>
                                        </p:attrNameLst>
                                      </p:cBhvr>
                                      <p:to>
                                        <p:strVal val="visible"/>
                                      </p:to>
                                    </p:set>
                                    <p:animEffect transition="in" filter="wipe(left)">
                                      <p:cBhvr>
                                        <p:cTn id="7" dur="500"/>
                                        <p:tgtEl>
                                          <p:spTgt spid="973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34" grpId="0" build="p" autoUpdateAnimBg="0"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Arc 24">
            <a:extLst>
              <a:ext uri="{FF2B5EF4-FFF2-40B4-BE49-F238E27FC236}">
                <a16:creationId xmlns:a16="http://schemas.microsoft.com/office/drawing/2014/main" id="{69482421-C1D7-4219-B125-730B67199F89}"/>
              </a:ext>
            </a:extLst>
          </p:cNvPr>
          <p:cNvSpPr>
            <a:spLocks/>
          </p:cNvSpPr>
          <p:nvPr/>
        </p:nvSpPr>
        <p:spPr bwMode="auto">
          <a:xfrm>
            <a:off x="3886200" y="2667001"/>
            <a:ext cx="3429000" cy="3084513"/>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56323" name="Arc 24">
            <a:extLst>
              <a:ext uri="{FF2B5EF4-FFF2-40B4-BE49-F238E27FC236}">
                <a16:creationId xmlns:a16="http://schemas.microsoft.com/office/drawing/2014/main" id="{6281E7EE-637D-3586-A9D6-DF4939BB19A4}"/>
              </a:ext>
            </a:extLst>
          </p:cNvPr>
          <p:cNvSpPr>
            <a:spLocks/>
          </p:cNvSpPr>
          <p:nvPr/>
        </p:nvSpPr>
        <p:spPr bwMode="auto">
          <a:xfrm>
            <a:off x="3810001" y="2667001"/>
            <a:ext cx="2206625" cy="3084513"/>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grpSp>
        <p:nvGrpSpPr>
          <p:cNvPr id="56324" name="Group 27">
            <a:extLst>
              <a:ext uri="{FF2B5EF4-FFF2-40B4-BE49-F238E27FC236}">
                <a16:creationId xmlns:a16="http://schemas.microsoft.com/office/drawing/2014/main" id="{C85BEFFF-4D8D-B7D7-2FD3-15A6E207F327}"/>
              </a:ext>
            </a:extLst>
          </p:cNvPr>
          <p:cNvGrpSpPr>
            <a:grpSpLocks/>
          </p:cNvGrpSpPr>
          <p:nvPr/>
        </p:nvGrpSpPr>
        <p:grpSpPr bwMode="auto">
          <a:xfrm>
            <a:off x="3797301" y="1381126"/>
            <a:ext cx="4873625" cy="4405313"/>
            <a:chOff x="1755" y="922"/>
            <a:chExt cx="3070" cy="2775"/>
          </a:xfrm>
        </p:grpSpPr>
        <p:sp>
          <p:nvSpPr>
            <p:cNvPr id="56331" name="Line 28">
              <a:extLst>
                <a:ext uri="{FF2B5EF4-FFF2-40B4-BE49-F238E27FC236}">
                  <a16:creationId xmlns:a16="http://schemas.microsoft.com/office/drawing/2014/main" id="{3BEEDD0F-7558-4FC9-8F9E-FE8F3D1F0696}"/>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56332" name="Line 29">
              <a:extLst>
                <a:ext uri="{FF2B5EF4-FFF2-40B4-BE49-F238E27FC236}">
                  <a16:creationId xmlns:a16="http://schemas.microsoft.com/office/drawing/2014/main" id="{6D66C8B5-F1DF-8E2E-4B87-26D0BD003967}"/>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56325" name="Rectangle 32">
            <a:extLst>
              <a:ext uri="{FF2B5EF4-FFF2-40B4-BE49-F238E27FC236}">
                <a16:creationId xmlns:a16="http://schemas.microsoft.com/office/drawing/2014/main" id="{93EEAF90-33FE-CA41-8C01-8563B1E274E6}"/>
              </a:ext>
            </a:extLst>
          </p:cNvPr>
          <p:cNvSpPr>
            <a:spLocks noChangeArrowheads="1"/>
          </p:cNvSpPr>
          <p:nvPr/>
        </p:nvSpPr>
        <p:spPr bwMode="auto">
          <a:xfrm rot="16200000">
            <a:off x="2615639" y="3164883"/>
            <a:ext cx="159338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Robots</a:t>
            </a:r>
            <a:endParaRPr lang="en-US" altLang="en-US" sz="2400" b="1">
              <a:latin typeface="Arial" panose="020B0604020202020204" pitchFamily="34" charset="0"/>
            </a:endParaRPr>
          </a:p>
        </p:txBody>
      </p:sp>
      <p:sp>
        <p:nvSpPr>
          <p:cNvPr id="56326" name="Rectangle 33">
            <a:extLst>
              <a:ext uri="{FF2B5EF4-FFF2-40B4-BE49-F238E27FC236}">
                <a16:creationId xmlns:a16="http://schemas.microsoft.com/office/drawing/2014/main" id="{5BDC13B4-BA97-3E82-6621-FBBE58F03D5E}"/>
              </a:ext>
            </a:extLst>
          </p:cNvPr>
          <p:cNvSpPr>
            <a:spLocks noChangeArrowheads="1"/>
          </p:cNvSpPr>
          <p:nvPr/>
        </p:nvSpPr>
        <p:spPr bwMode="auto">
          <a:xfrm>
            <a:off x="5403254" y="5791201"/>
            <a:ext cx="1436292"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Pizzas</a:t>
            </a:r>
            <a:endParaRPr lang="en-US" altLang="en-US" sz="2400" b="1">
              <a:latin typeface="Arial" panose="020B0604020202020204" pitchFamily="34" charset="0"/>
            </a:endParaRPr>
          </a:p>
        </p:txBody>
      </p:sp>
      <p:sp>
        <p:nvSpPr>
          <p:cNvPr id="56327" name="Rectangle 54">
            <a:extLst>
              <a:ext uri="{FF2B5EF4-FFF2-40B4-BE49-F238E27FC236}">
                <a16:creationId xmlns:a16="http://schemas.microsoft.com/office/drawing/2014/main" id="{96253CB2-733D-9D4E-919C-8456F071B679}"/>
              </a:ext>
            </a:extLst>
          </p:cNvPr>
          <p:cNvSpPr>
            <a:spLocks noChangeArrowheads="1"/>
          </p:cNvSpPr>
          <p:nvPr/>
        </p:nvSpPr>
        <p:spPr bwMode="auto">
          <a:xfrm>
            <a:off x="5181601" y="1066800"/>
            <a:ext cx="5294313" cy="222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b="1" dirty="0">
                <a:solidFill>
                  <a:srgbClr val="FF0000"/>
                </a:solidFill>
              </a:rPr>
              <a:t>What if there is a technology improvement in pizza ovens</a:t>
            </a:r>
            <a:r>
              <a:rPr lang="en-US" altLang="en-US" sz="2000" dirty="0">
                <a:solidFill>
                  <a:srgbClr val="FF0000"/>
                </a:solidFill>
              </a:rPr>
              <a:t> </a:t>
            </a:r>
            <a:endParaRPr lang="en-US" altLang="en-US" b="1" dirty="0">
              <a:solidFill>
                <a:srgbClr val="FF0000"/>
              </a:solidFill>
            </a:endParaRPr>
          </a:p>
          <a:p>
            <a:pPr algn="ctr">
              <a:spcBef>
                <a:spcPct val="0"/>
              </a:spcBef>
              <a:buFontTx/>
              <a:buNone/>
            </a:pPr>
            <a:endParaRPr lang="en-US" altLang="en-US" b="1" dirty="0">
              <a:solidFill>
                <a:srgbClr val="990000"/>
              </a:solidFill>
            </a:endParaRPr>
          </a:p>
        </p:txBody>
      </p:sp>
      <p:sp>
        <p:nvSpPr>
          <p:cNvPr id="56328" name="Slide Number Placeholder 18">
            <a:extLst>
              <a:ext uri="{FF2B5EF4-FFF2-40B4-BE49-F238E27FC236}">
                <a16:creationId xmlns:a16="http://schemas.microsoft.com/office/drawing/2014/main" id="{5B2F320E-CFA3-E5CE-0FAC-8AB98C807B67}"/>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B696B95A-45A7-914B-8C5F-50D501E20DCA}" type="slidenum">
              <a:rPr lang="en-US" altLang="en-US" sz="1400"/>
              <a:pPr algn="r" eaLnBrk="1" hangingPunct="1">
                <a:spcBef>
                  <a:spcPct val="0"/>
                </a:spcBef>
                <a:buFontTx/>
                <a:buNone/>
              </a:pPr>
              <a:t>30</a:t>
            </a:fld>
            <a:endParaRPr lang="en-US" altLang="en-US" sz="1400"/>
          </a:p>
        </p:txBody>
      </p:sp>
      <p:sp>
        <p:nvSpPr>
          <p:cNvPr id="56329" name="Rectangle 1032">
            <a:extLst>
              <a:ext uri="{FF2B5EF4-FFF2-40B4-BE49-F238E27FC236}">
                <a16:creationId xmlns:a16="http://schemas.microsoft.com/office/drawing/2014/main" id="{5F6085B9-771E-32E2-D4D3-D11406A70689}"/>
              </a:ext>
            </a:extLst>
          </p:cNvPr>
          <p:cNvSpPr>
            <a:spLocks noChangeArrowheads="1"/>
          </p:cNvSpPr>
          <p:nvPr/>
        </p:nvSpPr>
        <p:spPr bwMode="auto">
          <a:xfrm>
            <a:off x="364956" y="76200"/>
            <a:ext cx="87820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b="1" dirty="0"/>
              <a:t>Production Possibilities</a:t>
            </a:r>
          </a:p>
        </p:txBody>
      </p:sp>
      <p:sp>
        <p:nvSpPr>
          <p:cNvPr id="56330" name="AutoShape 19">
            <a:extLst>
              <a:ext uri="{FF2B5EF4-FFF2-40B4-BE49-F238E27FC236}">
                <a16:creationId xmlns:a16="http://schemas.microsoft.com/office/drawing/2014/main" id="{91C2EE5A-F2B5-92F3-0324-8779995F53F4}"/>
              </a:ext>
            </a:extLst>
          </p:cNvPr>
          <p:cNvSpPr>
            <a:spLocks noChangeArrowheads="1"/>
          </p:cNvSpPr>
          <p:nvPr/>
        </p:nvSpPr>
        <p:spPr bwMode="auto">
          <a:xfrm rot="20829022">
            <a:off x="6081713" y="4516438"/>
            <a:ext cx="685800" cy="317500"/>
          </a:xfrm>
          <a:prstGeom prst="rightArrow">
            <a:avLst>
              <a:gd name="adj1" fmla="val 38898"/>
              <a:gd name="adj2" fmla="val 85760"/>
            </a:avLst>
          </a:prstGeom>
          <a:solidFill>
            <a:schemeClr val="tx1"/>
          </a:solidFill>
          <a:ln w="25400">
            <a:solidFill>
              <a:srgbClr val="000000"/>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Tree>
  </p:cSld>
  <p:clrMapOvr>
    <a:masterClrMapping/>
  </p:clrMapOvr>
  <p:transition spd="med">
    <p:dissolv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E03A277-8822-332B-60A3-E086D3FA087B}"/>
              </a:ext>
            </a:extLst>
          </p:cNvPr>
          <p:cNvSpPr>
            <a:spLocks noChangeArrowheads="1"/>
          </p:cNvSpPr>
          <p:nvPr/>
        </p:nvSpPr>
        <p:spPr bwMode="auto">
          <a:xfrm>
            <a:off x="248648" y="0"/>
            <a:ext cx="883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4000" b="1" dirty="0"/>
              <a:t>PPC Practice</a:t>
            </a:r>
          </a:p>
        </p:txBody>
      </p:sp>
      <p:sp>
        <p:nvSpPr>
          <p:cNvPr id="3" name="Rectangle 5">
            <a:extLst>
              <a:ext uri="{FF2B5EF4-FFF2-40B4-BE49-F238E27FC236}">
                <a16:creationId xmlns:a16="http://schemas.microsoft.com/office/drawing/2014/main" id="{4638D2CF-5DE2-26E7-4047-A8002455CE9B}"/>
              </a:ext>
            </a:extLst>
          </p:cNvPr>
          <p:cNvSpPr>
            <a:spLocks noChangeArrowheads="1"/>
          </p:cNvSpPr>
          <p:nvPr/>
        </p:nvSpPr>
        <p:spPr bwMode="auto">
          <a:xfrm>
            <a:off x="1905000" y="609600"/>
            <a:ext cx="8458200" cy="637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286000" indent="-457200">
              <a:spcBef>
                <a:spcPct val="20000"/>
              </a:spcBef>
              <a:buChar char="»"/>
              <a:defRPr sz="2000">
                <a:solidFill>
                  <a:schemeClr val="tx1"/>
                </a:solidFill>
                <a:latin typeface="Times New Roman" panose="02020603050405020304" pitchFamily="18" charset="0"/>
              </a:defRPr>
            </a:lvl5pPr>
            <a:lvl6pPr marL="2743200" indent="-4572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200400" indent="-4572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657600" indent="-4572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114800" indent="-4572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1" dirty="0">
                <a:solidFill>
                  <a:srgbClr val="FF0000"/>
                </a:solidFill>
              </a:rPr>
              <a:t>Draw a PPC showing changes for each of the following.  Also, explain why the change is taking place.</a:t>
            </a:r>
          </a:p>
          <a:p>
            <a:pPr eaLnBrk="1" hangingPunct="1">
              <a:lnSpc>
                <a:spcPct val="90000"/>
              </a:lnSpc>
              <a:buFontTx/>
              <a:buNone/>
            </a:pPr>
            <a:r>
              <a:rPr lang="en-US" altLang="en-US" sz="2800" b="1" dirty="0">
                <a:solidFill>
                  <a:srgbClr val="000099"/>
                </a:solidFill>
                <a:cs typeface="Times New Roman" panose="02020603050405020304" pitchFamily="18" charset="0"/>
              </a:rPr>
              <a:t>Pizza and Robots (3)</a:t>
            </a:r>
          </a:p>
          <a:p>
            <a:pPr eaLnBrk="1" hangingPunct="1">
              <a:lnSpc>
                <a:spcPct val="90000"/>
              </a:lnSpc>
              <a:buFontTx/>
              <a:buNone/>
            </a:pPr>
            <a:r>
              <a:rPr lang="en-US" altLang="en-US" sz="2800" b="1" dirty="0">
                <a:solidFill>
                  <a:srgbClr val="000099"/>
                </a:solidFill>
                <a:cs typeface="Times New Roman" panose="02020603050405020304" pitchFamily="18" charset="0"/>
              </a:rPr>
              <a:t>		      </a:t>
            </a:r>
            <a:r>
              <a:rPr lang="en-US" altLang="en-US" sz="2800" b="1" dirty="0">
                <a:cs typeface="Times New Roman" panose="02020603050405020304" pitchFamily="18" charset="0"/>
              </a:rPr>
              <a:t>1. New robot-making technology</a:t>
            </a:r>
          </a:p>
          <a:p>
            <a:pPr algn="ctr" eaLnBrk="1" hangingPunct="1">
              <a:lnSpc>
                <a:spcPct val="90000"/>
              </a:lnSpc>
              <a:buFontTx/>
              <a:buNone/>
            </a:pPr>
            <a:r>
              <a:rPr lang="en-US" altLang="en-US" sz="2800" b="1" dirty="0">
                <a:cs typeface="Times New Roman" panose="02020603050405020304" pitchFamily="18" charset="0"/>
              </a:rPr>
              <a:t>2. Decrease in the demand for pizza </a:t>
            </a:r>
          </a:p>
          <a:p>
            <a:pPr algn="ctr" eaLnBrk="1" hangingPunct="1">
              <a:lnSpc>
                <a:spcPct val="90000"/>
              </a:lnSpc>
              <a:buFontTx/>
              <a:buNone/>
            </a:pPr>
            <a:r>
              <a:rPr lang="en-US" altLang="en-US" sz="2800" b="1" dirty="0">
                <a:cs typeface="Times New Roman" panose="02020603050405020304" pitchFamily="18" charset="0"/>
              </a:rPr>
              <a:t>  3. Mad cow disease kills 85% of cows</a:t>
            </a:r>
          </a:p>
          <a:p>
            <a:pPr lvl="4" algn="ctr" eaLnBrk="1" hangingPunct="1">
              <a:lnSpc>
                <a:spcPct val="90000"/>
              </a:lnSpc>
              <a:buFontTx/>
              <a:buNone/>
            </a:pPr>
            <a:endParaRPr lang="en-US" altLang="en-US" sz="900" b="1" dirty="0">
              <a:cs typeface="Times New Roman" panose="02020603050405020304" pitchFamily="18" charset="0"/>
            </a:endParaRPr>
          </a:p>
          <a:p>
            <a:pPr eaLnBrk="1" hangingPunct="1">
              <a:lnSpc>
                <a:spcPct val="90000"/>
              </a:lnSpc>
              <a:buFontTx/>
              <a:buNone/>
            </a:pPr>
            <a:r>
              <a:rPr lang="en-US" altLang="en-US" sz="2800" b="1" dirty="0">
                <a:solidFill>
                  <a:srgbClr val="000099"/>
                </a:solidFill>
                <a:cs typeface="Times New Roman" panose="02020603050405020304" pitchFamily="18" charset="0"/>
              </a:rPr>
              <a:t>Consumer goods and Capital Goods (4)</a:t>
            </a:r>
          </a:p>
          <a:p>
            <a:pPr eaLnBrk="1" hangingPunct="1">
              <a:lnSpc>
                <a:spcPct val="90000"/>
              </a:lnSpc>
              <a:buFontTx/>
              <a:buNone/>
            </a:pPr>
            <a:r>
              <a:rPr lang="en-US" altLang="en-US" sz="2800" b="1" dirty="0">
                <a:cs typeface="Times New Roman" panose="02020603050405020304" pitchFamily="18" charset="0"/>
              </a:rPr>
              <a:t>               4. Destruction of power plants leads to severe 		electricity shortage </a:t>
            </a:r>
          </a:p>
          <a:p>
            <a:pPr eaLnBrk="1" hangingPunct="1">
              <a:lnSpc>
                <a:spcPct val="90000"/>
              </a:lnSpc>
              <a:buFontTx/>
              <a:buNone/>
            </a:pPr>
            <a:r>
              <a:rPr lang="en-US" altLang="en-US" sz="2800" b="1" dirty="0">
                <a:cs typeface="Times New Roman" panose="02020603050405020304" pitchFamily="18" charset="0"/>
              </a:rPr>
              <a:t>               5. Faster computer hardware</a:t>
            </a:r>
          </a:p>
          <a:p>
            <a:pPr eaLnBrk="1" hangingPunct="1">
              <a:lnSpc>
                <a:spcPct val="90000"/>
              </a:lnSpc>
              <a:buFontTx/>
              <a:buNone/>
            </a:pPr>
            <a:r>
              <a:rPr lang="en-US" altLang="en-US" sz="2800" b="1" dirty="0">
                <a:cs typeface="Times New Roman" panose="02020603050405020304" pitchFamily="18" charset="0"/>
              </a:rPr>
              <a:t>               6. Many workers are unemployed</a:t>
            </a:r>
          </a:p>
          <a:p>
            <a:pPr eaLnBrk="1" hangingPunct="1">
              <a:lnSpc>
                <a:spcPct val="90000"/>
              </a:lnSpc>
              <a:buFontTx/>
              <a:buNone/>
            </a:pPr>
            <a:r>
              <a:rPr lang="en-US" altLang="en-US" sz="2800" b="1" dirty="0">
                <a:cs typeface="Times New Roman" panose="02020603050405020304" pitchFamily="18" charset="0"/>
              </a:rPr>
              <a:t>               7. Significant increases in education</a:t>
            </a:r>
          </a:p>
        </p:txBody>
      </p:sp>
      <p:sp>
        <p:nvSpPr>
          <p:cNvPr id="4" name="Slide Number Placeholder 3">
            <a:extLst>
              <a:ext uri="{FF2B5EF4-FFF2-40B4-BE49-F238E27FC236}">
                <a16:creationId xmlns:a16="http://schemas.microsoft.com/office/drawing/2014/main" id="{6B771085-88E5-2060-A298-72A8AB556207}"/>
              </a:ext>
            </a:extLst>
          </p:cNvPr>
          <p:cNvSpPr>
            <a:spLocks noGrp="1"/>
          </p:cNvSpPr>
          <p:nvPr>
            <p:ph type="sldNum" sz="quarter" idx="12"/>
          </p:nvPr>
        </p:nvSpPr>
        <p:spPr>
          <a:xfrm>
            <a:off x="861060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BC0222E-7EC9-BF42-81BD-01E33FECC3AC}" type="slidenum">
              <a:rPr lang="en-US" altLang="en-US" sz="1400"/>
              <a:pPr>
                <a:spcBef>
                  <a:spcPct val="0"/>
                </a:spcBef>
                <a:buFontTx/>
                <a:buNone/>
              </a:pPr>
              <a:t>31</a:t>
            </a:fld>
            <a:endParaRPr lang="en-US" altLang="en-US" sz="1400"/>
          </a:p>
        </p:txBody>
      </p:sp>
    </p:spTree>
    <p:extLst>
      <p:ext uri="{BB962C8B-B14F-4D97-AF65-F5344CB8AC3E}">
        <p14:creationId xmlns:p14="http://schemas.microsoft.com/office/powerpoint/2010/main" val="192255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ssolv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dissolv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dissolv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dissolve">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12" name="Arc 2">
            <a:extLst>
              <a:ext uri="{FF2B5EF4-FFF2-40B4-BE49-F238E27FC236}">
                <a16:creationId xmlns:a16="http://schemas.microsoft.com/office/drawing/2014/main" id="{3C7EDA23-8515-9CB9-6A10-6227FE9FE0B0}"/>
              </a:ext>
            </a:extLst>
          </p:cNvPr>
          <p:cNvSpPr>
            <a:spLocks/>
          </p:cNvSpPr>
          <p:nvPr/>
        </p:nvSpPr>
        <p:spPr bwMode="auto">
          <a:xfrm>
            <a:off x="3505200" y="1828800"/>
            <a:ext cx="2590800" cy="38862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58371" name="Arc 2">
            <a:extLst>
              <a:ext uri="{FF2B5EF4-FFF2-40B4-BE49-F238E27FC236}">
                <a16:creationId xmlns:a16="http://schemas.microsoft.com/office/drawing/2014/main" id="{4782CBF0-4261-A354-F467-B07D606B52A6}"/>
              </a:ext>
            </a:extLst>
          </p:cNvPr>
          <p:cNvSpPr>
            <a:spLocks/>
          </p:cNvSpPr>
          <p:nvPr/>
        </p:nvSpPr>
        <p:spPr bwMode="auto">
          <a:xfrm>
            <a:off x="3449638" y="2971800"/>
            <a:ext cx="2646362" cy="28194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58372" name="Rectangle 4">
            <a:extLst>
              <a:ext uri="{FF2B5EF4-FFF2-40B4-BE49-F238E27FC236}">
                <a16:creationId xmlns:a16="http://schemas.microsoft.com/office/drawing/2014/main" id="{B987C9DC-7E9A-C8AA-D1AC-DD7A5479C7E3}"/>
              </a:ext>
            </a:extLst>
          </p:cNvPr>
          <p:cNvSpPr>
            <a:spLocks noChangeArrowheads="1"/>
          </p:cNvSpPr>
          <p:nvPr/>
        </p:nvSpPr>
        <p:spPr bwMode="auto">
          <a:xfrm>
            <a:off x="2514601" y="609601"/>
            <a:ext cx="7123113"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buFontTx/>
              <a:buNone/>
            </a:pPr>
            <a:r>
              <a:rPr lang="en-US" altLang="en-US" sz="4000" b="1"/>
              <a:t>New robot making technology</a:t>
            </a:r>
          </a:p>
          <a:p>
            <a:pPr algn="ctr" eaLnBrk="1" hangingPunct="1">
              <a:lnSpc>
                <a:spcPct val="90000"/>
              </a:lnSpc>
              <a:buFontTx/>
              <a:buNone/>
            </a:pPr>
            <a:endParaRPr lang="en-US" altLang="en-US" sz="3600" b="1">
              <a:solidFill>
                <a:srgbClr val="CC0000"/>
              </a:solidFill>
            </a:endParaRPr>
          </a:p>
        </p:txBody>
      </p:sp>
      <p:grpSp>
        <p:nvGrpSpPr>
          <p:cNvPr id="58373" name="Group 5">
            <a:extLst>
              <a:ext uri="{FF2B5EF4-FFF2-40B4-BE49-F238E27FC236}">
                <a16:creationId xmlns:a16="http://schemas.microsoft.com/office/drawing/2014/main" id="{71336D53-0120-AB81-6F58-19C2D9311D40}"/>
              </a:ext>
            </a:extLst>
          </p:cNvPr>
          <p:cNvGrpSpPr>
            <a:grpSpLocks/>
          </p:cNvGrpSpPr>
          <p:nvPr/>
        </p:nvGrpSpPr>
        <p:grpSpPr bwMode="auto">
          <a:xfrm>
            <a:off x="3436939" y="1382713"/>
            <a:ext cx="4873625" cy="4405312"/>
            <a:chOff x="1755" y="922"/>
            <a:chExt cx="3070" cy="2775"/>
          </a:xfrm>
        </p:grpSpPr>
        <p:sp>
          <p:nvSpPr>
            <p:cNvPr id="58382" name="Line 6">
              <a:extLst>
                <a:ext uri="{FF2B5EF4-FFF2-40B4-BE49-F238E27FC236}">
                  <a16:creationId xmlns:a16="http://schemas.microsoft.com/office/drawing/2014/main" id="{0FE36B8D-B7D0-53CA-94C5-AAE27518B04E}"/>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58383" name="Line 7">
              <a:extLst>
                <a:ext uri="{FF2B5EF4-FFF2-40B4-BE49-F238E27FC236}">
                  <a16:creationId xmlns:a16="http://schemas.microsoft.com/office/drawing/2014/main" id="{CEBF1121-2416-2D5E-A218-6AF7F3065FD0}"/>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58374" name="Rectangle 8">
            <a:extLst>
              <a:ext uri="{FF2B5EF4-FFF2-40B4-BE49-F238E27FC236}">
                <a16:creationId xmlns:a16="http://schemas.microsoft.com/office/drawing/2014/main" id="{3AAFA506-95E4-80B8-BA7B-689E09CA926C}"/>
              </a:ext>
            </a:extLst>
          </p:cNvPr>
          <p:cNvSpPr>
            <a:spLocks noChangeArrowheads="1"/>
          </p:cNvSpPr>
          <p:nvPr/>
        </p:nvSpPr>
        <p:spPr bwMode="auto">
          <a:xfrm>
            <a:off x="2541589" y="1190626"/>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58375" name="Rectangle 9">
            <a:extLst>
              <a:ext uri="{FF2B5EF4-FFF2-40B4-BE49-F238E27FC236}">
                <a16:creationId xmlns:a16="http://schemas.microsoft.com/office/drawing/2014/main" id="{9E984A1E-9F62-AAB4-1087-C9658A777639}"/>
              </a:ext>
            </a:extLst>
          </p:cNvPr>
          <p:cNvSpPr>
            <a:spLocks noChangeArrowheads="1"/>
          </p:cNvSpPr>
          <p:nvPr/>
        </p:nvSpPr>
        <p:spPr bwMode="auto">
          <a:xfrm>
            <a:off x="8464551" y="5697539"/>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58376" name="Rectangle 10">
            <a:extLst>
              <a:ext uri="{FF2B5EF4-FFF2-40B4-BE49-F238E27FC236}">
                <a16:creationId xmlns:a16="http://schemas.microsoft.com/office/drawing/2014/main" id="{57E1E6B7-9D22-7D7E-3845-6A24853F4977}"/>
              </a:ext>
            </a:extLst>
          </p:cNvPr>
          <p:cNvSpPr>
            <a:spLocks noChangeArrowheads="1"/>
          </p:cNvSpPr>
          <p:nvPr/>
        </p:nvSpPr>
        <p:spPr bwMode="auto">
          <a:xfrm rot="16200000">
            <a:off x="1818714" y="3493496"/>
            <a:ext cx="159338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Robots</a:t>
            </a:r>
            <a:endParaRPr lang="en-US" altLang="en-US" sz="2400" b="1">
              <a:latin typeface="Arial" panose="020B0604020202020204" pitchFamily="34" charset="0"/>
            </a:endParaRPr>
          </a:p>
        </p:txBody>
      </p:sp>
      <p:sp>
        <p:nvSpPr>
          <p:cNvPr id="58377" name="Rectangle 11">
            <a:extLst>
              <a:ext uri="{FF2B5EF4-FFF2-40B4-BE49-F238E27FC236}">
                <a16:creationId xmlns:a16="http://schemas.microsoft.com/office/drawing/2014/main" id="{90DFD1EE-F7E6-1A43-9F49-073FC278717E}"/>
              </a:ext>
            </a:extLst>
          </p:cNvPr>
          <p:cNvSpPr>
            <a:spLocks noChangeArrowheads="1"/>
          </p:cNvSpPr>
          <p:nvPr/>
        </p:nvSpPr>
        <p:spPr bwMode="auto">
          <a:xfrm>
            <a:off x="4942330" y="6075364"/>
            <a:ext cx="1550105"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Pizzas </a:t>
            </a:r>
            <a:endParaRPr lang="en-US" altLang="en-US" sz="2400" b="1">
              <a:latin typeface="Arial" panose="020B0604020202020204" pitchFamily="34" charset="0"/>
            </a:endParaRPr>
          </a:p>
        </p:txBody>
      </p:sp>
      <p:sp>
        <p:nvSpPr>
          <p:cNvPr id="101395" name="AutoShape 19">
            <a:extLst>
              <a:ext uri="{FF2B5EF4-FFF2-40B4-BE49-F238E27FC236}">
                <a16:creationId xmlns:a16="http://schemas.microsoft.com/office/drawing/2014/main" id="{5A58B283-12C8-D3B8-3E6F-C25EE2947F6B}"/>
              </a:ext>
            </a:extLst>
          </p:cNvPr>
          <p:cNvSpPr>
            <a:spLocks noChangeArrowheads="1"/>
          </p:cNvSpPr>
          <p:nvPr/>
        </p:nvSpPr>
        <p:spPr bwMode="auto">
          <a:xfrm rot="17711035">
            <a:off x="3810000" y="2438400"/>
            <a:ext cx="463550" cy="317500"/>
          </a:xfrm>
          <a:prstGeom prst="rightArrow">
            <a:avLst>
              <a:gd name="adj1" fmla="val 50000"/>
              <a:gd name="adj2" fmla="val 73007"/>
            </a:avLst>
          </a:prstGeom>
          <a:solidFill>
            <a:schemeClr val="tx1"/>
          </a:solidFill>
          <a:ln w="25400">
            <a:solidFill>
              <a:srgbClr val="000000"/>
            </a:solidFill>
            <a:miter lim="800000"/>
            <a:headEnd/>
            <a:tailEnd/>
          </a:ln>
        </p:spPr>
        <p:txBody>
          <a:bodyPr vert="eaVert"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58379" name="Rectangle 23">
            <a:extLst>
              <a:ext uri="{FF2B5EF4-FFF2-40B4-BE49-F238E27FC236}">
                <a16:creationId xmlns:a16="http://schemas.microsoft.com/office/drawing/2014/main" id="{6F187492-F28F-64ED-84D6-2FEE0BDCF799}"/>
              </a:ext>
            </a:extLst>
          </p:cNvPr>
          <p:cNvSpPr>
            <a:spLocks noChangeArrowheads="1"/>
          </p:cNvSpPr>
          <p:nvPr/>
        </p:nvSpPr>
        <p:spPr bwMode="auto">
          <a:xfrm>
            <a:off x="2514600" y="1"/>
            <a:ext cx="7086600" cy="73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200" b="1">
                <a:solidFill>
                  <a:srgbClr val="000099"/>
                </a:solidFill>
              </a:rPr>
              <a:t>Question #1</a:t>
            </a:r>
          </a:p>
        </p:txBody>
      </p:sp>
      <p:sp>
        <p:nvSpPr>
          <p:cNvPr id="58380" name="Slide Number Placeholder 23">
            <a:extLst>
              <a:ext uri="{FF2B5EF4-FFF2-40B4-BE49-F238E27FC236}">
                <a16:creationId xmlns:a16="http://schemas.microsoft.com/office/drawing/2014/main" id="{52D87271-41F6-E272-ADE6-F2B0915CBD2F}"/>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8DEB5892-20F1-0E4F-BA01-01876357009F}" type="slidenum">
              <a:rPr lang="en-US" altLang="en-US" sz="1400"/>
              <a:pPr algn="r" eaLnBrk="1" hangingPunct="1">
                <a:spcBef>
                  <a:spcPct val="0"/>
                </a:spcBef>
                <a:buFontTx/>
                <a:buNone/>
              </a:pPr>
              <a:t>32</a:t>
            </a:fld>
            <a:endParaRPr lang="en-US" altLang="en-US" sz="1400"/>
          </a:p>
        </p:txBody>
      </p:sp>
      <p:sp>
        <p:nvSpPr>
          <p:cNvPr id="55311" name="Rectangle 15">
            <a:extLst>
              <a:ext uri="{FF2B5EF4-FFF2-40B4-BE49-F238E27FC236}">
                <a16:creationId xmlns:a16="http://schemas.microsoft.com/office/drawing/2014/main" id="{FC01F0B1-C71E-E932-0385-09E137894672}"/>
              </a:ext>
            </a:extLst>
          </p:cNvPr>
          <p:cNvSpPr>
            <a:spLocks noChangeArrowheads="1"/>
          </p:cNvSpPr>
          <p:nvPr/>
        </p:nvSpPr>
        <p:spPr bwMode="auto">
          <a:xfrm>
            <a:off x="5867400" y="2514600"/>
            <a:ext cx="441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b="1">
                <a:solidFill>
                  <a:srgbClr val="990000"/>
                </a:solidFill>
              </a:rPr>
              <a:t>A shift only for Robots  </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5311"/>
                                        </p:tgtEl>
                                        <p:attrNameLst>
                                          <p:attrName>style.visibility</p:attrName>
                                        </p:attrNameLst>
                                      </p:cBhvr>
                                      <p:to>
                                        <p:strVal val="visible"/>
                                      </p:to>
                                    </p:set>
                                    <p:animEffect transition="in" filter="dissolve">
                                      <p:cBhvr>
                                        <p:cTn id="7" dur="500"/>
                                        <p:tgtEl>
                                          <p:spTgt spid="553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5312"/>
                                        </p:tgtEl>
                                        <p:attrNameLst>
                                          <p:attrName>style.visibility</p:attrName>
                                        </p:attrNameLst>
                                      </p:cBhvr>
                                      <p:to>
                                        <p:strVal val="visible"/>
                                      </p:to>
                                    </p:set>
                                    <p:animEffect transition="in" filter="dissolve">
                                      <p:cBhvr>
                                        <p:cTn id="12" dur="500"/>
                                        <p:tgtEl>
                                          <p:spTgt spid="5531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01395"/>
                                        </p:tgtEl>
                                        <p:attrNameLst>
                                          <p:attrName>style.visibility</p:attrName>
                                        </p:attrNameLst>
                                      </p:cBhvr>
                                      <p:to>
                                        <p:strVal val="visible"/>
                                      </p:to>
                                    </p:set>
                                    <p:animEffect transition="in" filter="wipe(left)">
                                      <p:cBhvr>
                                        <p:cTn id="16" dur="500"/>
                                        <p:tgtEl>
                                          <p:spTgt spid="101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95" grpId="0" animBg="1" autoUpdateAnimBg="0"/>
      <p:bldP spid="553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Arc 2">
            <a:extLst>
              <a:ext uri="{FF2B5EF4-FFF2-40B4-BE49-F238E27FC236}">
                <a16:creationId xmlns:a16="http://schemas.microsoft.com/office/drawing/2014/main" id="{0870D12C-878C-0EFA-7497-1E37B3815EF2}"/>
              </a:ext>
            </a:extLst>
          </p:cNvPr>
          <p:cNvSpPr>
            <a:spLocks/>
          </p:cNvSpPr>
          <p:nvPr/>
        </p:nvSpPr>
        <p:spPr bwMode="auto">
          <a:xfrm>
            <a:off x="3449638" y="2971800"/>
            <a:ext cx="2646362" cy="28194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59395" name="Rectangle 4">
            <a:extLst>
              <a:ext uri="{FF2B5EF4-FFF2-40B4-BE49-F238E27FC236}">
                <a16:creationId xmlns:a16="http://schemas.microsoft.com/office/drawing/2014/main" id="{532331FB-E712-6575-11BE-66F5921F3763}"/>
              </a:ext>
            </a:extLst>
          </p:cNvPr>
          <p:cNvSpPr>
            <a:spLocks noChangeArrowheads="1"/>
          </p:cNvSpPr>
          <p:nvPr/>
        </p:nvSpPr>
        <p:spPr bwMode="auto">
          <a:xfrm>
            <a:off x="2590800" y="685800"/>
            <a:ext cx="6781800" cy="588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spcBef>
                <a:spcPct val="0"/>
              </a:spcBef>
              <a:buFontTx/>
              <a:buNone/>
            </a:pPr>
            <a:r>
              <a:rPr lang="en-US" altLang="en-US" sz="3600" b="1"/>
              <a:t>Decrease in the demand for pizza</a:t>
            </a:r>
            <a:endParaRPr lang="en-US" altLang="en-US" sz="4800" b="1">
              <a:solidFill>
                <a:srgbClr val="CC0000"/>
              </a:solidFill>
            </a:endParaRPr>
          </a:p>
        </p:txBody>
      </p:sp>
      <p:grpSp>
        <p:nvGrpSpPr>
          <p:cNvPr id="59396" name="Group 5">
            <a:extLst>
              <a:ext uri="{FF2B5EF4-FFF2-40B4-BE49-F238E27FC236}">
                <a16:creationId xmlns:a16="http://schemas.microsoft.com/office/drawing/2014/main" id="{F2548D71-969A-7AEB-B448-2F16D9314CE8}"/>
              </a:ext>
            </a:extLst>
          </p:cNvPr>
          <p:cNvGrpSpPr>
            <a:grpSpLocks/>
          </p:cNvGrpSpPr>
          <p:nvPr/>
        </p:nvGrpSpPr>
        <p:grpSpPr bwMode="auto">
          <a:xfrm>
            <a:off x="3436939" y="1382713"/>
            <a:ext cx="4873625" cy="4405312"/>
            <a:chOff x="1755" y="922"/>
            <a:chExt cx="3070" cy="2775"/>
          </a:xfrm>
        </p:grpSpPr>
        <p:sp>
          <p:nvSpPr>
            <p:cNvPr id="59407" name="Line 6">
              <a:extLst>
                <a:ext uri="{FF2B5EF4-FFF2-40B4-BE49-F238E27FC236}">
                  <a16:creationId xmlns:a16="http://schemas.microsoft.com/office/drawing/2014/main" id="{57B9099D-67CA-C5BD-2511-7CD21947D642}"/>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59408" name="Line 7">
              <a:extLst>
                <a:ext uri="{FF2B5EF4-FFF2-40B4-BE49-F238E27FC236}">
                  <a16:creationId xmlns:a16="http://schemas.microsoft.com/office/drawing/2014/main" id="{D0EC4B85-728F-7DD3-02D1-DECE97C6976A}"/>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59397" name="Rectangle 8">
            <a:extLst>
              <a:ext uri="{FF2B5EF4-FFF2-40B4-BE49-F238E27FC236}">
                <a16:creationId xmlns:a16="http://schemas.microsoft.com/office/drawing/2014/main" id="{46DA21C1-EC8C-B9B3-20FE-3CBF181EE68B}"/>
              </a:ext>
            </a:extLst>
          </p:cNvPr>
          <p:cNvSpPr>
            <a:spLocks noChangeArrowheads="1"/>
          </p:cNvSpPr>
          <p:nvPr/>
        </p:nvSpPr>
        <p:spPr bwMode="auto">
          <a:xfrm>
            <a:off x="2541589" y="1190626"/>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59398" name="Rectangle 9">
            <a:extLst>
              <a:ext uri="{FF2B5EF4-FFF2-40B4-BE49-F238E27FC236}">
                <a16:creationId xmlns:a16="http://schemas.microsoft.com/office/drawing/2014/main" id="{162479A0-E568-4E49-F5C5-5E01F424BC25}"/>
              </a:ext>
            </a:extLst>
          </p:cNvPr>
          <p:cNvSpPr>
            <a:spLocks noChangeArrowheads="1"/>
          </p:cNvSpPr>
          <p:nvPr/>
        </p:nvSpPr>
        <p:spPr bwMode="auto">
          <a:xfrm>
            <a:off x="8464551" y="5697539"/>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59399" name="Rectangle 10">
            <a:extLst>
              <a:ext uri="{FF2B5EF4-FFF2-40B4-BE49-F238E27FC236}">
                <a16:creationId xmlns:a16="http://schemas.microsoft.com/office/drawing/2014/main" id="{37E4146B-3567-47AF-53E0-C02796F3E4ED}"/>
              </a:ext>
            </a:extLst>
          </p:cNvPr>
          <p:cNvSpPr>
            <a:spLocks noChangeArrowheads="1"/>
          </p:cNvSpPr>
          <p:nvPr/>
        </p:nvSpPr>
        <p:spPr bwMode="auto">
          <a:xfrm rot="16200000">
            <a:off x="1818714" y="3493496"/>
            <a:ext cx="159338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Robots</a:t>
            </a:r>
            <a:endParaRPr lang="en-US" altLang="en-US" sz="2400" b="1">
              <a:latin typeface="Arial" panose="020B0604020202020204" pitchFamily="34" charset="0"/>
            </a:endParaRPr>
          </a:p>
        </p:txBody>
      </p:sp>
      <p:sp>
        <p:nvSpPr>
          <p:cNvPr id="59400" name="Rectangle 11">
            <a:extLst>
              <a:ext uri="{FF2B5EF4-FFF2-40B4-BE49-F238E27FC236}">
                <a16:creationId xmlns:a16="http://schemas.microsoft.com/office/drawing/2014/main" id="{730388C3-C537-26D8-B775-E21CC197DD02}"/>
              </a:ext>
            </a:extLst>
          </p:cNvPr>
          <p:cNvSpPr>
            <a:spLocks noChangeArrowheads="1"/>
          </p:cNvSpPr>
          <p:nvPr/>
        </p:nvSpPr>
        <p:spPr bwMode="auto">
          <a:xfrm>
            <a:off x="4942330" y="6075364"/>
            <a:ext cx="1550105"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Pizzas </a:t>
            </a:r>
            <a:endParaRPr lang="en-US" altLang="en-US" sz="2400" b="1">
              <a:latin typeface="Arial" panose="020B0604020202020204" pitchFamily="34" charset="0"/>
            </a:endParaRPr>
          </a:p>
        </p:txBody>
      </p:sp>
      <p:sp>
        <p:nvSpPr>
          <p:cNvPr id="101395" name="AutoShape 19">
            <a:extLst>
              <a:ext uri="{FF2B5EF4-FFF2-40B4-BE49-F238E27FC236}">
                <a16:creationId xmlns:a16="http://schemas.microsoft.com/office/drawing/2014/main" id="{3CFFABB5-D8AC-4A51-84A6-FB37E0F827AA}"/>
              </a:ext>
            </a:extLst>
          </p:cNvPr>
          <p:cNvSpPr>
            <a:spLocks noChangeArrowheads="1"/>
          </p:cNvSpPr>
          <p:nvPr/>
        </p:nvSpPr>
        <p:spPr bwMode="auto">
          <a:xfrm rot="13431125">
            <a:off x="5029200" y="3581400"/>
            <a:ext cx="463550" cy="317500"/>
          </a:xfrm>
          <a:prstGeom prst="rightArrow">
            <a:avLst>
              <a:gd name="adj1" fmla="val 50000"/>
              <a:gd name="adj2" fmla="val 73007"/>
            </a:avLst>
          </a:prstGeom>
          <a:solidFill>
            <a:schemeClr val="tx1"/>
          </a:solidFill>
          <a:ln w="25400">
            <a:solidFill>
              <a:srgbClr val="000000"/>
            </a:solidFill>
            <a:miter lim="800000"/>
            <a:headEnd/>
            <a:tailEnd/>
          </a:ln>
        </p:spPr>
        <p:txBody>
          <a:bodyPr rot="10800000"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59402" name="Rectangle 23">
            <a:extLst>
              <a:ext uri="{FF2B5EF4-FFF2-40B4-BE49-F238E27FC236}">
                <a16:creationId xmlns:a16="http://schemas.microsoft.com/office/drawing/2014/main" id="{A2D9A7E3-02A5-404E-75D1-FAFEE0C2DE20}"/>
              </a:ext>
            </a:extLst>
          </p:cNvPr>
          <p:cNvSpPr>
            <a:spLocks noChangeArrowheads="1"/>
          </p:cNvSpPr>
          <p:nvPr/>
        </p:nvSpPr>
        <p:spPr bwMode="auto">
          <a:xfrm>
            <a:off x="2514600" y="1"/>
            <a:ext cx="7086600" cy="73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200" b="1">
                <a:solidFill>
                  <a:srgbClr val="000099"/>
                </a:solidFill>
              </a:rPr>
              <a:t>Question #2</a:t>
            </a:r>
          </a:p>
        </p:txBody>
      </p:sp>
      <p:sp>
        <p:nvSpPr>
          <p:cNvPr id="59403" name="Slide Number Placeholder 23">
            <a:extLst>
              <a:ext uri="{FF2B5EF4-FFF2-40B4-BE49-F238E27FC236}">
                <a16:creationId xmlns:a16="http://schemas.microsoft.com/office/drawing/2014/main" id="{E06F3D40-151B-06FE-7441-6845C9BA321B}"/>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C2467856-6236-5745-B98A-F53746C4453E}" type="slidenum">
              <a:rPr lang="en-US" altLang="en-US" sz="1400"/>
              <a:pPr algn="r" eaLnBrk="1" hangingPunct="1">
                <a:spcBef>
                  <a:spcPct val="0"/>
                </a:spcBef>
                <a:buFontTx/>
                <a:buNone/>
              </a:pPr>
              <a:t>33</a:t>
            </a:fld>
            <a:endParaRPr lang="en-US" altLang="en-US" sz="1400"/>
          </a:p>
        </p:txBody>
      </p:sp>
      <p:sp>
        <p:nvSpPr>
          <p:cNvPr id="54287" name="Oval 51">
            <a:extLst>
              <a:ext uri="{FF2B5EF4-FFF2-40B4-BE49-F238E27FC236}">
                <a16:creationId xmlns:a16="http://schemas.microsoft.com/office/drawing/2014/main" id="{34609088-C4A3-B9DF-26FC-C39B1E362114}"/>
              </a:ext>
            </a:extLst>
          </p:cNvPr>
          <p:cNvSpPr>
            <a:spLocks noChangeArrowheads="1"/>
          </p:cNvSpPr>
          <p:nvPr/>
        </p:nvSpPr>
        <p:spPr bwMode="auto">
          <a:xfrm>
            <a:off x="5562600" y="4114800"/>
            <a:ext cx="152400" cy="152400"/>
          </a:xfrm>
          <a:prstGeom prst="ellipse">
            <a:avLst/>
          </a:prstGeom>
          <a:solidFill>
            <a:srgbClr val="FFFF00"/>
          </a:solidFill>
          <a:ln w="2857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54288" name="Oval 51">
            <a:extLst>
              <a:ext uri="{FF2B5EF4-FFF2-40B4-BE49-F238E27FC236}">
                <a16:creationId xmlns:a16="http://schemas.microsoft.com/office/drawing/2014/main" id="{4ED21572-8F0C-5E7A-963B-C331547A8CDB}"/>
              </a:ext>
            </a:extLst>
          </p:cNvPr>
          <p:cNvSpPr>
            <a:spLocks noChangeArrowheads="1"/>
          </p:cNvSpPr>
          <p:nvPr/>
        </p:nvSpPr>
        <p:spPr bwMode="auto">
          <a:xfrm>
            <a:off x="4724400" y="3276600"/>
            <a:ext cx="152400" cy="152400"/>
          </a:xfrm>
          <a:prstGeom prst="ellipse">
            <a:avLst/>
          </a:prstGeom>
          <a:solidFill>
            <a:srgbClr val="FFFF00"/>
          </a:solidFill>
          <a:ln w="2857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54289" name="Rectangle 17">
            <a:extLst>
              <a:ext uri="{FF2B5EF4-FFF2-40B4-BE49-F238E27FC236}">
                <a16:creationId xmlns:a16="http://schemas.microsoft.com/office/drawing/2014/main" id="{95A24ADA-C42B-0031-3617-7F37443011B3}"/>
              </a:ext>
            </a:extLst>
          </p:cNvPr>
          <p:cNvSpPr>
            <a:spLocks noChangeArrowheads="1"/>
          </p:cNvSpPr>
          <p:nvPr/>
        </p:nvSpPr>
        <p:spPr bwMode="auto">
          <a:xfrm>
            <a:off x="5791200" y="1676400"/>
            <a:ext cx="4419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b="1">
                <a:solidFill>
                  <a:srgbClr val="990000"/>
                </a:solidFill>
              </a:rPr>
              <a:t>The curve doesn’t shift!</a:t>
            </a:r>
          </a:p>
          <a:p>
            <a:pPr algn="ctr" eaLnBrk="1" hangingPunct="1">
              <a:spcBef>
                <a:spcPct val="0"/>
              </a:spcBef>
              <a:buFontTx/>
              <a:buNone/>
            </a:pPr>
            <a:r>
              <a:rPr lang="en-US" altLang="en-US" b="1">
                <a:solidFill>
                  <a:srgbClr val="990000"/>
                </a:solidFill>
              </a:rPr>
              <a:t>A change in demand doesn’t shift the curve  </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4289"/>
                                        </p:tgtEl>
                                        <p:attrNameLst>
                                          <p:attrName>style.visibility</p:attrName>
                                        </p:attrNameLst>
                                      </p:cBhvr>
                                      <p:to>
                                        <p:strVal val="visible"/>
                                      </p:to>
                                    </p:set>
                                    <p:animEffect transition="in" filter="dissolve">
                                      <p:cBhvr>
                                        <p:cTn id="7" dur="500"/>
                                        <p:tgtEl>
                                          <p:spTgt spid="542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1395"/>
                                        </p:tgtEl>
                                        <p:attrNameLst>
                                          <p:attrName>style.visibility</p:attrName>
                                        </p:attrNameLst>
                                      </p:cBhvr>
                                      <p:to>
                                        <p:strVal val="visible"/>
                                      </p:to>
                                    </p:set>
                                    <p:animEffect transition="in" filter="wipe(left)">
                                      <p:cBhvr>
                                        <p:cTn id="12" dur="500"/>
                                        <p:tgtEl>
                                          <p:spTgt spid="101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4288"/>
                                        </p:tgtEl>
                                        <p:attrNameLst>
                                          <p:attrName>style.visibility</p:attrName>
                                        </p:attrNameLst>
                                      </p:cBhvr>
                                      <p:to>
                                        <p:strVal val="visible"/>
                                      </p:to>
                                    </p:set>
                                    <p:animEffect transition="in" filter="dissolve">
                                      <p:cBhvr>
                                        <p:cTn id="17" dur="500"/>
                                        <p:tgtEl>
                                          <p:spTgt spid="54288"/>
                                        </p:tgtEl>
                                      </p:cBhvr>
                                    </p:animEffect>
                                  </p:childTnLst>
                                </p:cTn>
                              </p:par>
                              <p:par>
                                <p:cTn id="18" presetID="9" presetClass="entr" presetSubtype="0" fill="hold" nodeType="withEffect">
                                  <p:stCondLst>
                                    <p:cond delay="0"/>
                                  </p:stCondLst>
                                  <p:childTnLst>
                                    <p:set>
                                      <p:cBhvr>
                                        <p:cTn id="19" dur="1" fill="hold">
                                          <p:stCondLst>
                                            <p:cond delay="0"/>
                                          </p:stCondLst>
                                        </p:cTn>
                                        <p:tgtEl>
                                          <p:spTgt spid="54287"/>
                                        </p:tgtEl>
                                        <p:attrNameLst>
                                          <p:attrName>style.visibility</p:attrName>
                                        </p:attrNameLst>
                                      </p:cBhvr>
                                      <p:to>
                                        <p:strVal val="visible"/>
                                      </p:to>
                                    </p:set>
                                    <p:animEffect transition="in" filter="dissolve">
                                      <p:cBhvr>
                                        <p:cTn id="20" dur="500"/>
                                        <p:tgtEl>
                                          <p:spTgt spid="54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95" grpId="0" animBg="1" autoUpdateAnimBg="0"/>
      <p:bldP spid="54287" grpId="0" animBg="1"/>
      <p:bldP spid="54288" grpId="0" animBg="1"/>
      <p:bldP spid="5428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Arc 2">
            <a:extLst>
              <a:ext uri="{FF2B5EF4-FFF2-40B4-BE49-F238E27FC236}">
                <a16:creationId xmlns:a16="http://schemas.microsoft.com/office/drawing/2014/main" id="{165BC21A-091D-28BA-50D3-FE9BB7E3BED0}"/>
              </a:ext>
            </a:extLst>
          </p:cNvPr>
          <p:cNvSpPr>
            <a:spLocks/>
          </p:cNvSpPr>
          <p:nvPr/>
        </p:nvSpPr>
        <p:spPr bwMode="auto">
          <a:xfrm>
            <a:off x="3429001" y="2971800"/>
            <a:ext cx="2722563" cy="28194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53276" name="Arc 2">
            <a:extLst>
              <a:ext uri="{FF2B5EF4-FFF2-40B4-BE49-F238E27FC236}">
                <a16:creationId xmlns:a16="http://schemas.microsoft.com/office/drawing/2014/main" id="{EBBC8D10-478A-0BA7-6E4B-E2DD39D40044}"/>
              </a:ext>
            </a:extLst>
          </p:cNvPr>
          <p:cNvSpPr>
            <a:spLocks/>
          </p:cNvSpPr>
          <p:nvPr/>
        </p:nvSpPr>
        <p:spPr bwMode="auto">
          <a:xfrm>
            <a:off x="3505201" y="2971800"/>
            <a:ext cx="2646363" cy="28194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chemeClr val="bg1"/>
          </a:solidFill>
          <a:ln w="76200" cap="rnd">
            <a:solidFill>
              <a:srgbClr val="000099"/>
            </a:solidFill>
            <a:round/>
            <a:headEnd/>
            <a:tailEnd/>
          </a:ln>
        </p:spPr>
        <p:txBody>
          <a:bodyPr wrap="none" anchor="ctr"/>
          <a:lstStyle/>
          <a:p>
            <a:endParaRPr lang="en-LK"/>
          </a:p>
        </p:txBody>
      </p:sp>
      <p:sp>
        <p:nvSpPr>
          <p:cNvPr id="60420" name="Rectangle 4">
            <a:extLst>
              <a:ext uri="{FF2B5EF4-FFF2-40B4-BE49-F238E27FC236}">
                <a16:creationId xmlns:a16="http://schemas.microsoft.com/office/drawing/2014/main" id="{63A2D6F0-BA12-6D38-1360-A779338D3117}"/>
              </a:ext>
            </a:extLst>
          </p:cNvPr>
          <p:cNvSpPr>
            <a:spLocks noChangeArrowheads="1"/>
          </p:cNvSpPr>
          <p:nvPr/>
        </p:nvSpPr>
        <p:spPr bwMode="auto">
          <a:xfrm>
            <a:off x="1905001" y="685800"/>
            <a:ext cx="7885113"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buFontTx/>
              <a:buNone/>
            </a:pPr>
            <a:r>
              <a:rPr lang="en-US" altLang="en-US" sz="4000" b="1"/>
              <a:t>Mad cow disease kills 85% of cows</a:t>
            </a:r>
            <a:endParaRPr lang="en-US" altLang="en-US" sz="6000" b="1"/>
          </a:p>
          <a:p>
            <a:pPr algn="ctr" eaLnBrk="1" hangingPunct="1">
              <a:lnSpc>
                <a:spcPct val="90000"/>
              </a:lnSpc>
              <a:buFontTx/>
              <a:buNone/>
            </a:pPr>
            <a:endParaRPr lang="en-US" altLang="en-US" sz="5400" b="1">
              <a:solidFill>
                <a:srgbClr val="CC0000"/>
              </a:solidFill>
            </a:endParaRPr>
          </a:p>
        </p:txBody>
      </p:sp>
      <p:grpSp>
        <p:nvGrpSpPr>
          <p:cNvPr id="60421" name="Group 5">
            <a:extLst>
              <a:ext uri="{FF2B5EF4-FFF2-40B4-BE49-F238E27FC236}">
                <a16:creationId xmlns:a16="http://schemas.microsoft.com/office/drawing/2014/main" id="{107931F3-E4B2-7623-B672-A63BB5C3A0E8}"/>
              </a:ext>
            </a:extLst>
          </p:cNvPr>
          <p:cNvGrpSpPr>
            <a:grpSpLocks/>
          </p:cNvGrpSpPr>
          <p:nvPr/>
        </p:nvGrpSpPr>
        <p:grpSpPr bwMode="auto">
          <a:xfrm>
            <a:off x="3436939" y="1382713"/>
            <a:ext cx="4873625" cy="4405312"/>
            <a:chOff x="1755" y="922"/>
            <a:chExt cx="3070" cy="2775"/>
          </a:xfrm>
        </p:grpSpPr>
        <p:sp>
          <p:nvSpPr>
            <p:cNvPr id="60431" name="Line 6">
              <a:extLst>
                <a:ext uri="{FF2B5EF4-FFF2-40B4-BE49-F238E27FC236}">
                  <a16:creationId xmlns:a16="http://schemas.microsoft.com/office/drawing/2014/main" id="{F7FC23DE-947B-E775-A426-475DA2BC603E}"/>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60432" name="Line 7">
              <a:extLst>
                <a:ext uri="{FF2B5EF4-FFF2-40B4-BE49-F238E27FC236}">
                  <a16:creationId xmlns:a16="http://schemas.microsoft.com/office/drawing/2014/main" id="{2737CD2F-6CBA-17B7-9011-5A877C3889A3}"/>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60422" name="Rectangle 8">
            <a:extLst>
              <a:ext uri="{FF2B5EF4-FFF2-40B4-BE49-F238E27FC236}">
                <a16:creationId xmlns:a16="http://schemas.microsoft.com/office/drawing/2014/main" id="{8547A616-2EDC-006C-F499-59328C56B208}"/>
              </a:ext>
            </a:extLst>
          </p:cNvPr>
          <p:cNvSpPr>
            <a:spLocks noChangeArrowheads="1"/>
          </p:cNvSpPr>
          <p:nvPr/>
        </p:nvSpPr>
        <p:spPr bwMode="auto">
          <a:xfrm>
            <a:off x="2541589" y="1190626"/>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0423" name="Rectangle 9">
            <a:extLst>
              <a:ext uri="{FF2B5EF4-FFF2-40B4-BE49-F238E27FC236}">
                <a16:creationId xmlns:a16="http://schemas.microsoft.com/office/drawing/2014/main" id="{29469AF0-F4A4-1C0D-8ACD-0B3BCD69999E}"/>
              </a:ext>
            </a:extLst>
          </p:cNvPr>
          <p:cNvSpPr>
            <a:spLocks noChangeArrowheads="1"/>
          </p:cNvSpPr>
          <p:nvPr/>
        </p:nvSpPr>
        <p:spPr bwMode="auto">
          <a:xfrm>
            <a:off x="8464551" y="5697539"/>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0424" name="Rectangle 10">
            <a:extLst>
              <a:ext uri="{FF2B5EF4-FFF2-40B4-BE49-F238E27FC236}">
                <a16:creationId xmlns:a16="http://schemas.microsoft.com/office/drawing/2014/main" id="{971C46BE-161D-5C5B-6A14-B4AD43EBFA7F}"/>
              </a:ext>
            </a:extLst>
          </p:cNvPr>
          <p:cNvSpPr>
            <a:spLocks noChangeArrowheads="1"/>
          </p:cNvSpPr>
          <p:nvPr/>
        </p:nvSpPr>
        <p:spPr bwMode="auto">
          <a:xfrm rot="16200000">
            <a:off x="1818714" y="3493496"/>
            <a:ext cx="159338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Robots</a:t>
            </a:r>
            <a:endParaRPr lang="en-US" altLang="en-US" sz="2400" b="1">
              <a:latin typeface="Arial" panose="020B0604020202020204" pitchFamily="34" charset="0"/>
            </a:endParaRPr>
          </a:p>
        </p:txBody>
      </p:sp>
      <p:sp>
        <p:nvSpPr>
          <p:cNvPr id="60425" name="Rectangle 11">
            <a:extLst>
              <a:ext uri="{FF2B5EF4-FFF2-40B4-BE49-F238E27FC236}">
                <a16:creationId xmlns:a16="http://schemas.microsoft.com/office/drawing/2014/main" id="{1A3647B8-9C38-947C-997A-ECCEFFA6B0D6}"/>
              </a:ext>
            </a:extLst>
          </p:cNvPr>
          <p:cNvSpPr>
            <a:spLocks noChangeArrowheads="1"/>
          </p:cNvSpPr>
          <p:nvPr/>
        </p:nvSpPr>
        <p:spPr bwMode="auto">
          <a:xfrm>
            <a:off x="4942330" y="6075364"/>
            <a:ext cx="1550105"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Pizzas </a:t>
            </a:r>
            <a:endParaRPr lang="en-US" altLang="en-US" sz="2400" b="1">
              <a:latin typeface="Arial" panose="020B0604020202020204" pitchFamily="34" charset="0"/>
            </a:endParaRPr>
          </a:p>
        </p:txBody>
      </p:sp>
      <p:sp>
        <p:nvSpPr>
          <p:cNvPr id="101395" name="AutoShape 19">
            <a:extLst>
              <a:ext uri="{FF2B5EF4-FFF2-40B4-BE49-F238E27FC236}">
                <a16:creationId xmlns:a16="http://schemas.microsoft.com/office/drawing/2014/main" id="{6FB5D8F8-ED87-C7C8-0BF4-03B27D93BA4A}"/>
              </a:ext>
            </a:extLst>
          </p:cNvPr>
          <p:cNvSpPr>
            <a:spLocks noChangeArrowheads="1"/>
          </p:cNvSpPr>
          <p:nvPr/>
        </p:nvSpPr>
        <p:spPr bwMode="auto">
          <a:xfrm rot="10330802">
            <a:off x="5334000" y="4953000"/>
            <a:ext cx="463550" cy="317500"/>
          </a:xfrm>
          <a:prstGeom prst="rightArrow">
            <a:avLst>
              <a:gd name="adj1" fmla="val 50000"/>
              <a:gd name="adj2" fmla="val 73007"/>
            </a:avLst>
          </a:prstGeom>
          <a:solidFill>
            <a:schemeClr val="tx1"/>
          </a:solidFill>
          <a:ln w="25400">
            <a:solidFill>
              <a:srgbClr val="000000"/>
            </a:solidFill>
            <a:miter lim="800000"/>
            <a:headEnd/>
            <a:tailEnd/>
          </a:ln>
        </p:spPr>
        <p:txBody>
          <a:bodyPr rot="10800000"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60427" name="Rectangle 23">
            <a:extLst>
              <a:ext uri="{FF2B5EF4-FFF2-40B4-BE49-F238E27FC236}">
                <a16:creationId xmlns:a16="http://schemas.microsoft.com/office/drawing/2014/main" id="{18184D5E-6505-2311-D69D-606BBE887711}"/>
              </a:ext>
            </a:extLst>
          </p:cNvPr>
          <p:cNvSpPr>
            <a:spLocks noChangeArrowheads="1"/>
          </p:cNvSpPr>
          <p:nvPr/>
        </p:nvSpPr>
        <p:spPr bwMode="auto">
          <a:xfrm>
            <a:off x="2514600" y="1"/>
            <a:ext cx="7086600" cy="73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200" b="1">
                <a:solidFill>
                  <a:srgbClr val="000099"/>
                </a:solidFill>
              </a:rPr>
              <a:t>Question #3</a:t>
            </a:r>
          </a:p>
        </p:txBody>
      </p:sp>
      <p:sp>
        <p:nvSpPr>
          <p:cNvPr id="60428" name="Slide Number Placeholder 23">
            <a:extLst>
              <a:ext uri="{FF2B5EF4-FFF2-40B4-BE49-F238E27FC236}">
                <a16:creationId xmlns:a16="http://schemas.microsoft.com/office/drawing/2014/main" id="{142CCA38-6785-B4BC-DE96-E88B730FD90E}"/>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007BFB18-A66B-BF4D-8582-9A621767A015}" type="slidenum">
              <a:rPr lang="en-US" altLang="en-US" sz="1400"/>
              <a:pPr algn="r" eaLnBrk="1" hangingPunct="1">
                <a:spcBef>
                  <a:spcPct val="0"/>
                </a:spcBef>
                <a:buFontTx/>
                <a:buNone/>
              </a:pPr>
              <a:t>34</a:t>
            </a:fld>
            <a:endParaRPr lang="en-US" altLang="en-US" sz="1400"/>
          </a:p>
        </p:txBody>
      </p:sp>
      <p:sp>
        <p:nvSpPr>
          <p:cNvPr id="53273" name="Arc 2">
            <a:extLst>
              <a:ext uri="{FF2B5EF4-FFF2-40B4-BE49-F238E27FC236}">
                <a16:creationId xmlns:a16="http://schemas.microsoft.com/office/drawing/2014/main" id="{6F8F56F9-AAC5-B51C-094A-F2EBE5EE5047}"/>
              </a:ext>
            </a:extLst>
          </p:cNvPr>
          <p:cNvSpPr>
            <a:spLocks/>
          </p:cNvSpPr>
          <p:nvPr/>
        </p:nvSpPr>
        <p:spPr bwMode="auto">
          <a:xfrm>
            <a:off x="3505200" y="2971800"/>
            <a:ext cx="1600200" cy="27432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53274" name="Rectangle 26">
            <a:extLst>
              <a:ext uri="{FF2B5EF4-FFF2-40B4-BE49-F238E27FC236}">
                <a16:creationId xmlns:a16="http://schemas.microsoft.com/office/drawing/2014/main" id="{D732605F-7BBD-9A05-3515-822C5F0318CA}"/>
              </a:ext>
            </a:extLst>
          </p:cNvPr>
          <p:cNvSpPr>
            <a:spLocks noChangeArrowheads="1"/>
          </p:cNvSpPr>
          <p:nvPr/>
        </p:nvSpPr>
        <p:spPr bwMode="auto">
          <a:xfrm>
            <a:off x="5867400" y="2514600"/>
            <a:ext cx="441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b="1">
                <a:solidFill>
                  <a:srgbClr val="990000"/>
                </a:solidFill>
              </a:rPr>
              <a:t>A shift inward only for Pizza  </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3274"/>
                                        </p:tgtEl>
                                        <p:attrNameLst>
                                          <p:attrName>style.visibility</p:attrName>
                                        </p:attrNameLst>
                                      </p:cBhvr>
                                      <p:to>
                                        <p:strVal val="visible"/>
                                      </p:to>
                                    </p:set>
                                    <p:animEffect transition="in" filter="dissolve">
                                      <p:cBhvr>
                                        <p:cTn id="7" dur="500"/>
                                        <p:tgtEl>
                                          <p:spTgt spid="53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3273"/>
                                        </p:tgtEl>
                                        <p:attrNameLst>
                                          <p:attrName>style.visibility</p:attrName>
                                        </p:attrNameLst>
                                      </p:cBhvr>
                                      <p:to>
                                        <p:strVal val="visible"/>
                                      </p:to>
                                    </p:set>
                                    <p:animEffect transition="in" filter="dissolve">
                                      <p:cBhvr>
                                        <p:cTn id="12" dur="500"/>
                                        <p:tgtEl>
                                          <p:spTgt spid="53273"/>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01395"/>
                                        </p:tgtEl>
                                        <p:attrNameLst>
                                          <p:attrName>style.visibility</p:attrName>
                                        </p:attrNameLst>
                                      </p:cBhvr>
                                      <p:to>
                                        <p:strVal val="visible"/>
                                      </p:to>
                                    </p:set>
                                    <p:animEffect transition="in" filter="wipe(left)">
                                      <p:cBhvr>
                                        <p:cTn id="16" dur="500"/>
                                        <p:tgtEl>
                                          <p:spTgt spid="101395"/>
                                        </p:tgtEl>
                                      </p:cBhvr>
                                    </p:animEffect>
                                  </p:childTnLst>
                                </p:cTn>
                              </p:par>
                              <p:par>
                                <p:cTn id="17" presetID="9" presetClass="entr" presetSubtype="0" fill="hold" nodeType="withEffect">
                                  <p:stCondLst>
                                    <p:cond delay="0"/>
                                  </p:stCondLst>
                                  <p:childTnLst>
                                    <p:set>
                                      <p:cBhvr>
                                        <p:cTn id="18" dur="1" fill="hold">
                                          <p:stCondLst>
                                            <p:cond delay="0"/>
                                          </p:stCondLst>
                                        </p:cTn>
                                        <p:tgtEl>
                                          <p:spTgt spid="53276"/>
                                        </p:tgtEl>
                                        <p:attrNameLst>
                                          <p:attrName>style.visibility</p:attrName>
                                        </p:attrNameLst>
                                      </p:cBhvr>
                                      <p:to>
                                        <p:strVal val="visible"/>
                                      </p:to>
                                    </p:set>
                                    <p:animEffect transition="in" filter="dissolve">
                                      <p:cBhvr>
                                        <p:cTn id="19" dur="500"/>
                                        <p:tgtEl>
                                          <p:spTgt spid="53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95" grpId="0" animBg="1" autoUpdateAnimBg="0"/>
      <p:bldP spid="5327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Arc 2">
            <a:extLst>
              <a:ext uri="{FF2B5EF4-FFF2-40B4-BE49-F238E27FC236}">
                <a16:creationId xmlns:a16="http://schemas.microsoft.com/office/drawing/2014/main" id="{7A144691-5025-906E-073F-EACF21E4C195}"/>
              </a:ext>
            </a:extLst>
          </p:cNvPr>
          <p:cNvSpPr>
            <a:spLocks/>
          </p:cNvSpPr>
          <p:nvPr/>
        </p:nvSpPr>
        <p:spPr bwMode="auto">
          <a:xfrm>
            <a:off x="3505200" y="2362200"/>
            <a:ext cx="3657600" cy="33528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56337" name="Arc 2">
            <a:extLst>
              <a:ext uri="{FF2B5EF4-FFF2-40B4-BE49-F238E27FC236}">
                <a16:creationId xmlns:a16="http://schemas.microsoft.com/office/drawing/2014/main" id="{76AF5171-6981-0E61-DD51-62BD65D6134A}"/>
              </a:ext>
            </a:extLst>
          </p:cNvPr>
          <p:cNvSpPr>
            <a:spLocks/>
          </p:cNvSpPr>
          <p:nvPr/>
        </p:nvSpPr>
        <p:spPr bwMode="auto">
          <a:xfrm>
            <a:off x="3505200" y="2362200"/>
            <a:ext cx="3657600" cy="33528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chemeClr val="bg1"/>
          </a:solidFill>
          <a:ln w="76200" cap="rnd">
            <a:solidFill>
              <a:srgbClr val="000099"/>
            </a:solidFill>
            <a:round/>
            <a:headEnd/>
            <a:tailEnd/>
          </a:ln>
        </p:spPr>
        <p:txBody>
          <a:bodyPr wrap="none" anchor="ctr"/>
          <a:lstStyle/>
          <a:p>
            <a:endParaRPr lang="en-LK"/>
          </a:p>
        </p:txBody>
      </p:sp>
      <p:sp>
        <p:nvSpPr>
          <p:cNvPr id="56322" name="Arc 2">
            <a:extLst>
              <a:ext uri="{FF2B5EF4-FFF2-40B4-BE49-F238E27FC236}">
                <a16:creationId xmlns:a16="http://schemas.microsoft.com/office/drawing/2014/main" id="{D4CBE4A0-EBDE-6FC3-C2C8-15F4EF294FCE}"/>
              </a:ext>
            </a:extLst>
          </p:cNvPr>
          <p:cNvSpPr>
            <a:spLocks/>
          </p:cNvSpPr>
          <p:nvPr/>
        </p:nvSpPr>
        <p:spPr bwMode="auto">
          <a:xfrm>
            <a:off x="3449638" y="2971800"/>
            <a:ext cx="2646362" cy="28194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61445" name="Rectangle 4">
            <a:extLst>
              <a:ext uri="{FF2B5EF4-FFF2-40B4-BE49-F238E27FC236}">
                <a16:creationId xmlns:a16="http://schemas.microsoft.com/office/drawing/2014/main" id="{0CFDFF7A-5CEB-B894-9A36-3A7599E14413}"/>
              </a:ext>
            </a:extLst>
          </p:cNvPr>
          <p:cNvSpPr>
            <a:spLocks noChangeArrowheads="1"/>
          </p:cNvSpPr>
          <p:nvPr/>
        </p:nvSpPr>
        <p:spPr bwMode="auto">
          <a:xfrm>
            <a:off x="2438401" y="685801"/>
            <a:ext cx="727551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buFontTx/>
              <a:buNone/>
            </a:pPr>
            <a:r>
              <a:rPr lang="en-US" altLang="en-US" sz="4000" b="1"/>
              <a:t>Reduction in Electricity</a:t>
            </a:r>
            <a:endParaRPr lang="en-US" altLang="en-US" sz="11700" b="1">
              <a:solidFill>
                <a:srgbClr val="CC0000"/>
              </a:solidFill>
            </a:endParaRPr>
          </a:p>
        </p:txBody>
      </p:sp>
      <p:grpSp>
        <p:nvGrpSpPr>
          <p:cNvPr id="61446" name="Group 5">
            <a:extLst>
              <a:ext uri="{FF2B5EF4-FFF2-40B4-BE49-F238E27FC236}">
                <a16:creationId xmlns:a16="http://schemas.microsoft.com/office/drawing/2014/main" id="{15D1CEDD-66A4-0B9B-9765-D1CF10BDFDF0}"/>
              </a:ext>
            </a:extLst>
          </p:cNvPr>
          <p:cNvGrpSpPr>
            <a:grpSpLocks/>
          </p:cNvGrpSpPr>
          <p:nvPr/>
        </p:nvGrpSpPr>
        <p:grpSpPr bwMode="auto">
          <a:xfrm>
            <a:off x="3436939" y="1382713"/>
            <a:ext cx="4873625" cy="4405312"/>
            <a:chOff x="1755" y="922"/>
            <a:chExt cx="3070" cy="2775"/>
          </a:xfrm>
        </p:grpSpPr>
        <p:sp>
          <p:nvSpPr>
            <p:cNvPr id="61455" name="Line 6">
              <a:extLst>
                <a:ext uri="{FF2B5EF4-FFF2-40B4-BE49-F238E27FC236}">
                  <a16:creationId xmlns:a16="http://schemas.microsoft.com/office/drawing/2014/main" id="{6210C42B-517B-F332-86FD-7C119D4CF862}"/>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61456" name="Line 7">
              <a:extLst>
                <a:ext uri="{FF2B5EF4-FFF2-40B4-BE49-F238E27FC236}">
                  <a16:creationId xmlns:a16="http://schemas.microsoft.com/office/drawing/2014/main" id="{510143E4-C2BC-194D-E066-2748A84F5747}"/>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61447" name="Rectangle 8">
            <a:extLst>
              <a:ext uri="{FF2B5EF4-FFF2-40B4-BE49-F238E27FC236}">
                <a16:creationId xmlns:a16="http://schemas.microsoft.com/office/drawing/2014/main" id="{7BF7FF59-35F5-511F-7E92-9AC33527C45D}"/>
              </a:ext>
            </a:extLst>
          </p:cNvPr>
          <p:cNvSpPr>
            <a:spLocks noChangeArrowheads="1"/>
          </p:cNvSpPr>
          <p:nvPr/>
        </p:nvSpPr>
        <p:spPr bwMode="auto">
          <a:xfrm>
            <a:off x="2541589" y="1190626"/>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1448" name="Rectangle 9">
            <a:extLst>
              <a:ext uri="{FF2B5EF4-FFF2-40B4-BE49-F238E27FC236}">
                <a16:creationId xmlns:a16="http://schemas.microsoft.com/office/drawing/2014/main" id="{1CDF4EEF-67D2-B325-2BF9-C405AA362073}"/>
              </a:ext>
            </a:extLst>
          </p:cNvPr>
          <p:cNvSpPr>
            <a:spLocks noChangeArrowheads="1"/>
          </p:cNvSpPr>
          <p:nvPr/>
        </p:nvSpPr>
        <p:spPr bwMode="auto">
          <a:xfrm>
            <a:off x="8464551" y="5697539"/>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1449" name="Rectangle 10">
            <a:extLst>
              <a:ext uri="{FF2B5EF4-FFF2-40B4-BE49-F238E27FC236}">
                <a16:creationId xmlns:a16="http://schemas.microsoft.com/office/drawing/2014/main" id="{80051AC4-E2A3-230A-926F-13719D2E66B7}"/>
              </a:ext>
            </a:extLst>
          </p:cNvPr>
          <p:cNvSpPr>
            <a:spLocks noChangeArrowheads="1"/>
          </p:cNvSpPr>
          <p:nvPr/>
        </p:nvSpPr>
        <p:spPr bwMode="auto">
          <a:xfrm rot="16200000">
            <a:off x="454819" y="3486944"/>
            <a:ext cx="432435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Capital Goods (tools)</a:t>
            </a:r>
            <a:endParaRPr lang="en-US" altLang="en-US" sz="2400" b="1">
              <a:latin typeface="Arial" panose="020B0604020202020204" pitchFamily="34" charset="0"/>
            </a:endParaRPr>
          </a:p>
        </p:txBody>
      </p:sp>
      <p:sp>
        <p:nvSpPr>
          <p:cNvPr id="61450" name="Rectangle 11">
            <a:extLst>
              <a:ext uri="{FF2B5EF4-FFF2-40B4-BE49-F238E27FC236}">
                <a16:creationId xmlns:a16="http://schemas.microsoft.com/office/drawing/2014/main" id="{F8CA519A-7473-A56B-3D75-455E65847AD8}"/>
              </a:ext>
            </a:extLst>
          </p:cNvPr>
          <p:cNvSpPr>
            <a:spLocks noChangeArrowheads="1"/>
          </p:cNvSpPr>
          <p:nvPr/>
        </p:nvSpPr>
        <p:spPr bwMode="auto">
          <a:xfrm>
            <a:off x="3058748" y="6075364"/>
            <a:ext cx="5328383"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Consumer Goods (Butter) </a:t>
            </a:r>
            <a:endParaRPr lang="en-US" altLang="en-US" sz="2400" b="1">
              <a:latin typeface="Arial" panose="020B0604020202020204" pitchFamily="34" charset="0"/>
            </a:endParaRPr>
          </a:p>
        </p:txBody>
      </p:sp>
      <p:sp>
        <p:nvSpPr>
          <p:cNvPr id="101395" name="AutoShape 19">
            <a:extLst>
              <a:ext uri="{FF2B5EF4-FFF2-40B4-BE49-F238E27FC236}">
                <a16:creationId xmlns:a16="http://schemas.microsoft.com/office/drawing/2014/main" id="{528E492B-CE71-511A-EBFA-C5E20E7CF619}"/>
              </a:ext>
            </a:extLst>
          </p:cNvPr>
          <p:cNvSpPr>
            <a:spLocks noChangeArrowheads="1"/>
          </p:cNvSpPr>
          <p:nvPr/>
        </p:nvSpPr>
        <p:spPr bwMode="auto">
          <a:xfrm rot="8083361">
            <a:off x="5489575" y="3425825"/>
            <a:ext cx="463550" cy="317500"/>
          </a:xfrm>
          <a:prstGeom prst="rightArrow">
            <a:avLst>
              <a:gd name="adj1" fmla="val 50000"/>
              <a:gd name="adj2" fmla="val 73007"/>
            </a:avLst>
          </a:prstGeom>
          <a:solidFill>
            <a:schemeClr val="tx1"/>
          </a:solidFill>
          <a:ln w="25400">
            <a:solidFill>
              <a:srgbClr val="000000"/>
            </a:solidFill>
            <a:miter lim="800000"/>
            <a:headEnd/>
            <a:tailEnd/>
          </a:ln>
        </p:spPr>
        <p:txBody>
          <a:bodyPr rot="10800000" vert="eaVert"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61452" name="Rectangle 23">
            <a:extLst>
              <a:ext uri="{FF2B5EF4-FFF2-40B4-BE49-F238E27FC236}">
                <a16:creationId xmlns:a16="http://schemas.microsoft.com/office/drawing/2014/main" id="{83560E08-2626-FEB6-C414-5C7EC833157F}"/>
              </a:ext>
            </a:extLst>
          </p:cNvPr>
          <p:cNvSpPr>
            <a:spLocks noChangeArrowheads="1"/>
          </p:cNvSpPr>
          <p:nvPr/>
        </p:nvSpPr>
        <p:spPr bwMode="auto">
          <a:xfrm>
            <a:off x="2514600" y="1"/>
            <a:ext cx="7086600" cy="73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200" b="1">
                <a:solidFill>
                  <a:srgbClr val="000099"/>
                </a:solidFill>
              </a:rPr>
              <a:t>Question #4</a:t>
            </a:r>
          </a:p>
        </p:txBody>
      </p:sp>
      <p:sp>
        <p:nvSpPr>
          <p:cNvPr id="61453" name="Slide Number Placeholder 23">
            <a:extLst>
              <a:ext uri="{FF2B5EF4-FFF2-40B4-BE49-F238E27FC236}">
                <a16:creationId xmlns:a16="http://schemas.microsoft.com/office/drawing/2014/main" id="{0C566C98-D780-078A-60C1-727DDC8EAE57}"/>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6C23DAD1-760F-6640-B68A-5E63FDEB330D}" type="slidenum">
              <a:rPr lang="en-US" altLang="en-US" sz="1400"/>
              <a:pPr algn="r" eaLnBrk="1" hangingPunct="1">
                <a:spcBef>
                  <a:spcPct val="0"/>
                </a:spcBef>
                <a:buFontTx/>
                <a:buNone/>
              </a:pPr>
              <a:t>35</a:t>
            </a:fld>
            <a:endParaRPr lang="en-US" altLang="en-US" sz="1400"/>
          </a:p>
        </p:txBody>
      </p:sp>
      <p:sp>
        <p:nvSpPr>
          <p:cNvPr id="56336" name="Rectangle 16">
            <a:extLst>
              <a:ext uri="{FF2B5EF4-FFF2-40B4-BE49-F238E27FC236}">
                <a16:creationId xmlns:a16="http://schemas.microsoft.com/office/drawing/2014/main" id="{901F7AB5-DA8B-976F-E04C-77573E0031EC}"/>
              </a:ext>
            </a:extLst>
          </p:cNvPr>
          <p:cNvSpPr>
            <a:spLocks noChangeArrowheads="1"/>
          </p:cNvSpPr>
          <p:nvPr/>
        </p:nvSpPr>
        <p:spPr bwMode="auto">
          <a:xfrm>
            <a:off x="5867400" y="1905000"/>
            <a:ext cx="4419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b="1">
                <a:solidFill>
                  <a:srgbClr val="990000"/>
                </a:solidFill>
              </a:rPr>
              <a:t>Decrease in resources decrease production possibilities for both  </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6336"/>
                                        </p:tgtEl>
                                        <p:attrNameLst>
                                          <p:attrName>style.visibility</p:attrName>
                                        </p:attrNameLst>
                                      </p:cBhvr>
                                      <p:to>
                                        <p:strVal val="visible"/>
                                      </p:to>
                                    </p:set>
                                    <p:animEffect transition="in" filter="dissolve">
                                      <p:cBhvr>
                                        <p:cTn id="7" dur="500"/>
                                        <p:tgtEl>
                                          <p:spTgt spid="563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1395"/>
                                        </p:tgtEl>
                                        <p:attrNameLst>
                                          <p:attrName>style.visibility</p:attrName>
                                        </p:attrNameLst>
                                      </p:cBhvr>
                                      <p:to>
                                        <p:strVal val="visible"/>
                                      </p:to>
                                    </p:set>
                                    <p:animEffect transition="in" filter="wipe(left)">
                                      <p:cBhvr>
                                        <p:cTn id="12" dur="500"/>
                                        <p:tgtEl>
                                          <p:spTgt spid="101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6322"/>
                                        </p:tgtEl>
                                        <p:attrNameLst>
                                          <p:attrName>style.visibility</p:attrName>
                                        </p:attrNameLst>
                                      </p:cBhvr>
                                      <p:to>
                                        <p:strVal val="visible"/>
                                      </p:to>
                                    </p:set>
                                    <p:animEffect transition="in" filter="dissolve">
                                      <p:cBhvr>
                                        <p:cTn id="17" dur="500"/>
                                        <p:tgtEl>
                                          <p:spTgt spid="56322"/>
                                        </p:tgtEl>
                                      </p:cBhvr>
                                    </p:animEffect>
                                  </p:childTnLst>
                                </p:cTn>
                              </p:par>
                              <p:par>
                                <p:cTn id="18" presetID="9" presetClass="entr" presetSubtype="0" fill="hold" nodeType="withEffect">
                                  <p:stCondLst>
                                    <p:cond delay="0"/>
                                  </p:stCondLst>
                                  <p:childTnLst>
                                    <p:set>
                                      <p:cBhvr>
                                        <p:cTn id="19" dur="1" fill="hold">
                                          <p:stCondLst>
                                            <p:cond delay="0"/>
                                          </p:stCondLst>
                                        </p:cTn>
                                        <p:tgtEl>
                                          <p:spTgt spid="56337"/>
                                        </p:tgtEl>
                                        <p:attrNameLst>
                                          <p:attrName>style.visibility</p:attrName>
                                        </p:attrNameLst>
                                      </p:cBhvr>
                                      <p:to>
                                        <p:strVal val="visible"/>
                                      </p:to>
                                    </p:set>
                                    <p:animEffect transition="in" filter="dissolve">
                                      <p:cBhvr>
                                        <p:cTn id="20" dur="500"/>
                                        <p:tgtEl>
                                          <p:spTgt spid="56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95" grpId="0" animBg="1" autoUpdateAnimBg="0"/>
      <p:bldP spid="5633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Arc 2">
            <a:extLst>
              <a:ext uri="{FF2B5EF4-FFF2-40B4-BE49-F238E27FC236}">
                <a16:creationId xmlns:a16="http://schemas.microsoft.com/office/drawing/2014/main" id="{679ADC92-A2BD-15D2-4E03-1E5AC8F69333}"/>
              </a:ext>
            </a:extLst>
          </p:cNvPr>
          <p:cNvSpPr>
            <a:spLocks/>
          </p:cNvSpPr>
          <p:nvPr/>
        </p:nvSpPr>
        <p:spPr bwMode="auto">
          <a:xfrm>
            <a:off x="3505200" y="2362200"/>
            <a:ext cx="3657600" cy="33528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62467" name="Arc 2">
            <a:extLst>
              <a:ext uri="{FF2B5EF4-FFF2-40B4-BE49-F238E27FC236}">
                <a16:creationId xmlns:a16="http://schemas.microsoft.com/office/drawing/2014/main" id="{A513F05F-C98B-4F26-0964-20F0383395EA}"/>
              </a:ext>
            </a:extLst>
          </p:cNvPr>
          <p:cNvSpPr>
            <a:spLocks/>
          </p:cNvSpPr>
          <p:nvPr/>
        </p:nvSpPr>
        <p:spPr bwMode="auto">
          <a:xfrm>
            <a:off x="3449638" y="2971800"/>
            <a:ext cx="2646362" cy="28194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62468" name="Rectangle 4">
            <a:extLst>
              <a:ext uri="{FF2B5EF4-FFF2-40B4-BE49-F238E27FC236}">
                <a16:creationId xmlns:a16="http://schemas.microsoft.com/office/drawing/2014/main" id="{111ADF47-2DB1-DFD4-128E-BA40E0A3A7C6}"/>
              </a:ext>
            </a:extLst>
          </p:cNvPr>
          <p:cNvSpPr>
            <a:spLocks noChangeArrowheads="1"/>
          </p:cNvSpPr>
          <p:nvPr/>
        </p:nvSpPr>
        <p:spPr bwMode="auto">
          <a:xfrm>
            <a:off x="2286001" y="609601"/>
            <a:ext cx="758031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buFontTx/>
              <a:buNone/>
            </a:pPr>
            <a:r>
              <a:rPr lang="en-US" altLang="en-US" sz="4000" b="1"/>
              <a:t>Faster computer hardware</a:t>
            </a:r>
            <a:endParaRPr lang="en-US" altLang="en-US" sz="11700" b="1">
              <a:solidFill>
                <a:srgbClr val="CC0000"/>
              </a:solidFill>
            </a:endParaRPr>
          </a:p>
        </p:txBody>
      </p:sp>
      <p:grpSp>
        <p:nvGrpSpPr>
          <p:cNvPr id="62469" name="Group 5">
            <a:extLst>
              <a:ext uri="{FF2B5EF4-FFF2-40B4-BE49-F238E27FC236}">
                <a16:creationId xmlns:a16="http://schemas.microsoft.com/office/drawing/2014/main" id="{EAD8857E-3E5F-6F88-CC15-CE55D84BE4E7}"/>
              </a:ext>
            </a:extLst>
          </p:cNvPr>
          <p:cNvGrpSpPr>
            <a:grpSpLocks/>
          </p:cNvGrpSpPr>
          <p:nvPr/>
        </p:nvGrpSpPr>
        <p:grpSpPr bwMode="auto">
          <a:xfrm>
            <a:off x="3436939" y="1382713"/>
            <a:ext cx="4873625" cy="4405312"/>
            <a:chOff x="1755" y="922"/>
            <a:chExt cx="3070" cy="2775"/>
          </a:xfrm>
        </p:grpSpPr>
        <p:sp>
          <p:nvSpPr>
            <p:cNvPr id="62478" name="Line 6">
              <a:extLst>
                <a:ext uri="{FF2B5EF4-FFF2-40B4-BE49-F238E27FC236}">
                  <a16:creationId xmlns:a16="http://schemas.microsoft.com/office/drawing/2014/main" id="{410299D1-9188-B572-0EE3-0DBD8F664373}"/>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62479" name="Line 7">
              <a:extLst>
                <a:ext uri="{FF2B5EF4-FFF2-40B4-BE49-F238E27FC236}">
                  <a16:creationId xmlns:a16="http://schemas.microsoft.com/office/drawing/2014/main" id="{478CCC7F-CB03-A283-97CC-DFF2C4978D9F}"/>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62470" name="Rectangle 8">
            <a:extLst>
              <a:ext uri="{FF2B5EF4-FFF2-40B4-BE49-F238E27FC236}">
                <a16:creationId xmlns:a16="http://schemas.microsoft.com/office/drawing/2014/main" id="{BBE2946F-ABF8-1BDF-AA93-0F36BAC626E9}"/>
              </a:ext>
            </a:extLst>
          </p:cNvPr>
          <p:cNvSpPr>
            <a:spLocks noChangeArrowheads="1"/>
          </p:cNvSpPr>
          <p:nvPr/>
        </p:nvSpPr>
        <p:spPr bwMode="auto">
          <a:xfrm>
            <a:off x="2541589" y="1190626"/>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2471" name="Rectangle 9">
            <a:extLst>
              <a:ext uri="{FF2B5EF4-FFF2-40B4-BE49-F238E27FC236}">
                <a16:creationId xmlns:a16="http://schemas.microsoft.com/office/drawing/2014/main" id="{A1B9E192-ABFA-13CC-B549-F1C707FAB6AE}"/>
              </a:ext>
            </a:extLst>
          </p:cNvPr>
          <p:cNvSpPr>
            <a:spLocks noChangeArrowheads="1"/>
          </p:cNvSpPr>
          <p:nvPr/>
        </p:nvSpPr>
        <p:spPr bwMode="auto">
          <a:xfrm>
            <a:off x="8464551" y="5697539"/>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2472" name="Rectangle 10">
            <a:extLst>
              <a:ext uri="{FF2B5EF4-FFF2-40B4-BE49-F238E27FC236}">
                <a16:creationId xmlns:a16="http://schemas.microsoft.com/office/drawing/2014/main" id="{9EC4DEC2-9721-0885-F9F6-248E5C154D49}"/>
              </a:ext>
            </a:extLst>
          </p:cNvPr>
          <p:cNvSpPr>
            <a:spLocks noChangeArrowheads="1"/>
          </p:cNvSpPr>
          <p:nvPr/>
        </p:nvSpPr>
        <p:spPr bwMode="auto">
          <a:xfrm rot="16200000">
            <a:off x="454819" y="3486944"/>
            <a:ext cx="432435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Capital Goods (tools)</a:t>
            </a:r>
            <a:endParaRPr lang="en-US" altLang="en-US" sz="2400" b="1">
              <a:latin typeface="Arial" panose="020B0604020202020204" pitchFamily="34" charset="0"/>
            </a:endParaRPr>
          </a:p>
        </p:txBody>
      </p:sp>
      <p:sp>
        <p:nvSpPr>
          <p:cNvPr id="62473" name="Rectangle 11">
            <a:extLst>
              <a:ext uri="{FF2B5EF4-FFF2-40B4-BE49-F238E27FC236}">
                <a16:creationId xmlns:a16="http://schemas.microsoft.com/office/drawing/2014/main" id="{CC943CA9-C4C5-5A25-ADD4-1AA5BC3ED0D6}"/>
              </a:ext>
            </a:extLst>
          </p:cNvPr>
          <p:cNvSpPr>
            <a:spLocks noChangeArrowheads="1"/>
          </p:cNvSpPr>
          <p:nvPr/>
        </p:nvSpPr>
        <p:spPr bwMode="auto">
          <a:xfrm>
            <a:off x="3058748" y="6075364"/>
            <a:ext cx="5328383"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Consumer Goods (Butter) </a:t>
            </a:r>
            <a:endParaRPr lang="en-US" altLang="en-US" sz="2400" b="1">
              <a:latin typeface="Arial" panose="020B0604020202020204" pitchFamily="34" charset="0"/>
            </a:endParaRPr>
          </a:p>
        </p:txBody>
      </p:sp>
      <p:sp>
        <p:nvSpPr>
          <p:cNvPr id="101395" name="AutoShape 19">
            <a:extLst>
              <a:ext uri="{FF2B5EF4-FFF2-40B4-BE49-F238E27FC236}">
                <a16:creationId xmlns:a16="http://schemas.microsoft.com/office/drawing/2014/main" id="{63FC73B5-CA2F-6938-1349-637E41C04669}"/>
              </a:ext>
            </a:extLst>
          </p:cNvPr>
          <p:cNvSpPr>
            <a:spLocks noChangeArrowheads="1"/>
          </p:cNvSpPr>
          <p:nvPr/>
        </p:nvSpPr>
        <p:spPr bwMode="auto">
          <a:xfrm rot="18529230">
            <a:off x="5184775" y="3197225"/>
            <a:ext cx="463550" cy="317500"/>
          </a:xfrm>
          <a:prstGeom prst="rightArrow">
            <a:avLst>
              <a:gd name="adj1" fmla="val 50000"/>
              <a:gd name="adj2" fmla="val 73007"/>
            </a:avLst>
          </a:prstGeom>
          <a:solidFill>
            <a:schemeClr val="tx1"/>
          </a:solidFill>
          <a:ln w="25400">
            <a:solidFill>
              <a:srgbClr val="000000"/>
            </a:solidFill>
            <a:miter lim="800000"/>
            <a:headEnd/>
            <a:tailEnd/>
          </a:ln>
        </p:spPr>
        <p:txBody>
          <a:bodyPr vert="eaVert"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62475" name="Rectangle 23">
            <a:extLst>
              <a:ext uri="{FF2B5EF4-FFF2-40B4-BE49-F238E27FC236}">
                <a16:creationId xmlns:a16="http://schemas.microsoft.com/office/drawing/2014/main" id="{28545FDA-CFC3-4D5A-19B0-7AB4CF1351AA}"/>
              </a:ext>
            </a:extLst>
          </p:cNvPr>
          <p:cNvSpPr>
            <a:spLocks noChangeArrowheads="1"/>
          </p:cNvSpPr>
          <p:nvPr/>
        </p:nvSpPr>
        <p:spPr bwMode="auto">
          <a:xfrm>
            <a:off x="2514600" y="1"/>
            <a:ext cx="7086600" cy="73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200" b="1">
                <a:solidFill>
                  <a:srgbClr val="000099"/>
                </a:solidFill>
              </a:rPr>
              <a:t>Question #5</a:t>
            </a:r>
          </a:p>
        </p:txBody>
      </p:sp>
      <p:sp>
        <p:nvSpPr>
          <p:cNvPr id="62476" name="Slide Number Placeholder 23">
            <a:extLst>
              <a:ext uri="{FF2B5EF4-FFF2-40B4-BE49-F238E27FC236}">
                <a16:creationId xmlns:a16="http://schemas.microsoft.com/office/drawing/2014/main" id="{94553F35-213D-A666-8956-E364B357BACB}"/>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324F0436-BC80-6545-A025-2EDEEEA9875B}" type="slidenum">
              <a:rPr lang="en-US" altLang="en-US" sz="1400"/>
              <a:pPr algn="r" eaLnBrk="1" hangingPunct="1">
                <a:spcBef>
                  <a:spcPct val="0"/>
                </a:spcBef>
                <a:buFontTx/>
                <a:buNone/>
              </a:pPr>
              <a:t>36</a:t>
            </a:fld>
            <a:endParaRPr lang="en-US" altLang="en-US" sz="1400"/>
          </a:p>
        </p:txBody>
      </p:sp>
      <p:sp>
        <p:nvSpPr>
          <p:cNvPr id="57359" name="Rectangle 15">
            <a:extLst>
              <a:ext uri="{FF2B5EF4-FFF2-40B4-BE49-F238E27FC236}">
                <a16:creationId xmlns:a16="http://schemas.microsoft.com/office/drawing/2014/main" id="{3AFD6A3B-0F9C-3E82-2BBF-ADE8750E97B9}"/>
              </a:ext>
            </a:extLst>
          </p:cNvPr>
          <p:cNvSpPr>
            <a:spLocks noChangeArrowheads="1"/>
          </p:cNvSpPr>
          <p:nvPr/>
        </p:nvSpPr>
        <p:spPr bwMode="auto">
          <a:xfrm>
            <a:off x="5867400" y="1447800"/>
            <a:ext cx="4419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b="1">
                <a:solidFill>
                  <a:srgbClr val="990000"/>
                </a:solidFill>
              </a:rPr>
              <a:t>Quality of a resource improves shifting the curve outward </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7359"/>
                                        </p:tgtEl>
                                        <p:attrNameLst>
                                          <p:attrName>style.visibility</p:attrName>
                                        </p:attrNameLst>
                                      </p:cBhvr>
                                      <p:to>
                                        <p:strVal val="visible"/>
                                      </p:to>
                                    </p:set>
                                    <p:animEffect transition="in" filter="dissolve">
                                      <p:cBhvr>
                                        <p:cTn id="7" dur="500"/>
                                        <p:tgtEl>
                                          <p:spTgt spid="573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1395"/>
                                        </p:tgtEl>
                                        <p:attrNameLst>
                                          <p:attrName>style.visibility</p:attrName>
                                        </p:attrNameLst>
                                      </p:cBhvr>
                                      <p:to>
                                        <p:strVal val="visible"/>
                                      </p:to>
                                    </p:set>
                                    <p:animEffect transition="in" filter="wipe(left)">
                                      <p:cBhvr>
                                        <p:cTn id="12" dur="500"/>
                                        <p:tgtEl>
                                          <p:spTgt spid="101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7346"/>
                                        </p:tgtEl>
                                        <p:attrNameLst>
                                          <p:attrName>style.visibility</p:attrName>
                                        </p:attrNameLst>
                                      </p:cBhvr>
                                      <p:to>
                                        <p:strVal val="visible"/>
                                      </p:to>
                                    </p:set>
                                    <p:animEffect transition="in" filter="dissolve">
                                      <p:cBhvr>
                                        <p:cTn id="17" dur="500"/>
                                        <p:tgtEl>
                                          <p:spTgt spid="57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95" grpId="0" animBg="1" autoUpdateAnimBg="0"/>
      <p:bldP spid="5735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Arc 2">
            <a:extLst>
              <a:ext uri="{FF2B5EF4-FFF2-40B4-BE49-F238E27FC236}">
                <a16:creationId xmlns:a16="http://schemas.microsoft.com/office/drawing/2014/main" id="{046F629A-C1F8-E2E9-F81D-BAF95A2D2441}"/>
              </a:ext>
            </a:extLst>
          </p:cNvPr>
          <p:cNvSpPr>
            <a:spLocks/>
          </p:cNvSpPr>
          <p:nvPr/>
        </p:nvSpPr>
        <p:spPr bwMode="auto">
          <a:xfrm>
            <a:off x="3505200" y="2362200"/>
            <a:ext cx="3657600" cy="33528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63491" name="Rectangle 4">
            <a:extLst>
              <a:ext uri="{FF2B5EF4-FFF2-40B4-BE49-F238E27FC236}">
                <a16:creationId xmlns:a16="http://schemas.microsoft.com/office/drawing/2014/main" id="{52B24724-0037-0CFD-9433-6DCB941FDC1C}"/>
              </a:ext>
            </a:extLst>
          </p:cNvPr>
          <p:cNvSpPr>
            <a:spLocks noChangeArrowheads="1"/>
          </p:cNvSpPr>
          <p:nvPr/>
        </p:nvSpPr>
        <p:spPr bwMode="auto">
          <a:xfrm>
            <a:off x="2286001" y="609601"/>
            <a:ext cx="758031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buFontTx/>
              <a:buNone/>
            </a:pPr>
            <a:r>
              <a:rPr lang="en-US" altLang="en-US" sz="4000" b="1"/>
              <a:t>Many workers unemployed</a:t>
            </a:r>
            <a:endParaRPr lang="en-US" altLang="en-US" sz="4000" b="1">
              <a:solidFill>
                <a:srgbClr val="CC0000"/>
              </a:solidFill>
            </a:endParaRPr>
          </a:p>
        </p:txBody>
      </p:sp>
      <p:grpSp>
        <p:nvGrpSpPr>
          <p:cNvPr id="63492" name="Group 5">
            <a:extLst>
              <a:ext uri="{FF2B5EF4-FFF2-40B4-BE49-F238E27FC236}">
                <a16:creationId xmlns:a16="http://schemas.microsoft.com/office/drawing/2014/main" id="{C5D16503-FDBE-C641-B70F-F94DF84FDDFD}"/>
              </a:ext>
            </a:extLst>
          </p:cNvPr>
          <p:cNvGrpSpPr>
            <a:grpSpLocks/>
          </p:cNvGrpSpPr>
          <p:nvPr/>
        </p:nvGrpSpPr>
        <p:grpSpPr bwMode="auto">
          <a:xfrm>
            <a:off x="3436939" y="1382713"/>
            <a:ext cx="4873625" cy="4405312"/>
            <a:chOff x="1755" y="922"/>
            <a:chExt cx="3070" cy="2775"/>
          </a:xfrm>
        </p:grpSpPr>
        <p:sp>
          <p:nvSpPr>
            <p:cNvPr id="63503" name="Line 6">
              <a:extLst>
                <a:ext uri="{FF2B5EF4-FFF2-40B4-BE49-F238E27FC236}">
                  <a16:creationId xmlns:a16="http://schemas.microsoft.com/office/drawing/2014/main" id="{8A36C621-D378-AC31-FFF8-D45B9443FA22}"/>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63504" name="Line 7">
              <a:extLst>
                <a:ext uri="{FF2B5EF4-FFF2-40B4-BE49-F238E27FC236}">
                  <a16:creationId xmlns:a16="http://schemas.microsoft.com/office/drawing/2014/main" id="{B7EDB562-1468-7C20-DDD1-05E3A645A0F5}"/>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63493" name="Rectangle 8">
            <a:extLst>
              <a:ext uri="{FF2B5EF4-FFF2-40B4-BE49-F238E27FC236}">
                <a16:creationId xmlns:a16="http://schemas.microsoft.com/office/drawing/2014/main" id="{7DCDF1EA-1F2B-944F-DAF5-C16B385F87C3}"/>
              </a:ext>
            </a:extLst>
          </p:cNvPr>
          <p:cNvSpPr>
            <a:spLocks noChangeArrowheads="1"/>
          </p:cNvSpPr>
          <p:nvPr/>
        </p:nvSpPr>
        <p:spPr bwMode="auto">
          <a:xfrm>
            <a:off x="2541589" y="1190626"/>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3494" name="Rectangle 9">
            <a:extLst>
              <a:ext uri="{FF2B5EF4-FFF2-40B4-BE49-F238E27FC236}">
                <a16:creationId xmlns:a16="http://schemas.microsoft.com/office/drawing/2014/main" id="{CAD04159-55BA-7B4F-AB97-421D70A20602}"/>
              </a:ext>
            </a:extLst>
          </p:cNvPr>
          <p:cNvSpPr>
            <a:spLocks noChangeArrowheads="1"/>
          </p:cNvSpPr>
          <p:nvPr/>
        </p:nvSpPr>
        <p:spPr bwMode="auto">
          <a:xfrm>
            <a:off x="8464551" y="5697539"/>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3495" name="Rectangle 10">
            <a:extLst>
              <a:ext uri="{FF2B5EF4-FFF2-40B4-BE49-F238E27FC236}">
                <a16:creationId xmlns:a16="http://schemas.microsoft.com/office/drawing/2014/main" id="{2B6C2948-49F8-9385-5C0F-52973B084DB6}"/>
              </a:ext>
            </a:extLst>
          </p:cNvPr>
          <p:cNvSpPr>
            <a:spLocks noChangeArrowheads="1"/>
          </p:cNvSpPr>
          <p:nvPr/>
        </p:nvSpPr>
        <p:spPr bwMode="auto">
          <a:xfrm rot="16200000">
            <a:off x="454819" y="3486944"/>
            <a:ext cx="432435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Capital Goods (tools)</a:t>
            </a:r>
            <a:endParaRPr lang="en-US" altLang="en-US" sz="2400" b="1">
              <a:latin typeface="Arial" panose="020B0604020202020204" pitchFamily="34" charset="0"/>
            </a:endParaRPr>
          </a:p>
        </p:txBody>
      </p:sp>
      <p:sp>
        <p:nvSpPr>
          <p:cNvPr id="63496" name="Rectangle 11">
            <a:extLst>
              <a:ext uri="{FF2B5EF4-FFF2-40B4-BE49-F238E27FC236}">
                <a16:creationId xmlns:a16="http://schemas.microsoft.com/office/drawing/2014/main" id="{C649D63F-6970-0E20-E0D3-50C08B941570}"/>
              </a:ext>
            </a:extLst>
          </p:cNvPr>
          <p:cNvSpPr>
            <a:spLocks noChangeArrowheads="1"/>
          </p:cNvSpPr>
          <p:nvPr/>
        </p:nvSpPr>
        <p:spPr bwMode="auto">
          <a:xfrm>
            <a:off x="3058748" y="6075364"/>
            <a:ext cx="5328383"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Consumer Goods (Butter) </a:t>
            </a:r>
            <a:endParaRPr lang="en-US" altLang="en-US" sz="2400" b="1">
              <a:latin typeface="Arial" panose="020B0604020202020204" pitchFamily="34" charset="0"/>
            </a:endParaRPr>
          </a:p>
        </p:txBody>
      </p:sp>
      <p:sp>
        <p:nvSpPr>
          <p:cNvPr id="101395" name="AutoShape 19">
            <a:extLst>
              <a:ext uri="{FF2B5EF4-FFF2-40B4-BE49-F238E27FC236}">
                <a16:creationId xmlns:a16="http://schemas.microsoft.com/office/drawing/2014/main" id="{A82EA77A-72B0-4032-4218-82D8D3EFBA20}"/>
              </a:ext>
            </a:extLst>
          </p:cNvPr>
          <p:cNvSpPr>
            <a:spLocks noChangeArrowheads="1"/>
          </p:cNvSpPr>
          <p:nvPr/>
        </p:nvSpPr>
        <p:spPr bwMode="auto">
          <a:xfrm rot="8000922">
            <a:off x="5222875" y="3540125"/>
            <a:ext cx="692150" cy="317500"/>
          </a:xfrm>
          <a:prstGeom prst="rightArrow">
            <a:avLst>
              <a:gd name="adj1" fmla="val 50000"/>
              <a:gd name="adj2" fmla="val 109010"/>
            </a:avLst>
          </a:prstGeom>
          <a:solidFill>
            <a:schemeClr val="tx1"/>
          </a:solidFill>
          <a:ln w="25400">
            <a:solidFill>
              <a:srgbClr val="000000"/>
            </a:solidFill>
            <a:miter lim="800000"/>
            <a:headEnd/>
            <a:tailEnd/>
          </a:ln>
        </p:spPr>
        <p:txBody>
          <a:bodyPr rot="10800000" vert="eaVert"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63498" name="Rectangle 23">
            <a:extLst>
              <a:ext uri="{FF2B5EF4-FFF2-40B4-BE49-F238E27FC236}">
                <a16:creationId xmlns:a16="http://schemas.microsoft.com/office/drawing/2014/main" id="{61FE1BC3-D546-72FC-B5FB-14F940451D69}"/>
              </a:ext>
            </a:extLst>
          </p:cNvPr>
          <p:cNvSpPr>
            <a:spLocks noChangeArrowheads="1"/>
          </p:cNvSpPr>
          <p:nvPr/>
        </p:nvSpPr>
        <p:spPr bwMode="auto">
          <a:xfrm>
            <a:off x="2514600" y="1"/>
            <a:ext cx="7086600" cy="73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200" b="1">
                <a:solidFill>
                  <a:srgbClr val="000099"/>
                </a:solidFill>
              </a:rPr>
              <a:t>Question #6</a:t>
            </a:r>
          </a:p>
        </p:txBody>
      </p:sp>
      <p:sp>
        <p:nvSpPr>
          <p:cNvPr id="63499" name="Slide Number Placeholder 23">
            <a:extLst>
              <a:ext uri="{FF2B5EF4-FFF2-40B4-BE49-F238E27FC236}">
                <a16:creationId xmlns:a16="http://schemas.microsoft.com/office/drawing/2014/main" id="{507FF3EB-B493-FB04-6538-03E87A10C71D}"/>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EA82B347-9C35-2C48-8840-77E2F965D244}" type="slidenum">
              <a:rPr lang="en-US" altLang="en-US" sz="1400"/>
              <a:pPr algn="r" eaLnBrk="1" hangingPunct="1">
                <a:spcBef>
                  <a:spcPct val="0"/>
                </a:spcBef>
                <a:buFontTx/>
                <a:buNone/>
              </a:pPr>
              <a:t>37</a:t>
            </a:fld>
            <a:endParaRPr lang="en-US" altLang="en-US" sz="1400"/>
          </a:p>
        </p:txBody>
      </p:sp>
      <p:sp>
        <p:nvSpPr>
          <p:cNvPr id="58384" name="Oval 51">
            <a:extLst>
              <a:ext uri="{FF2B5EF4-FFF2-40B4-BE49-F238E27FC236}">
                <a16:creationId xmlns:a16="http://schemas.microsoft.com/office/drawing/2014/main" id="{3FE41C58-2855-DAC4-CC49-3BA82DA985B6}"/>
              </a:ext>
            </a:extLst>
          </p:cNvPr>
          <p:cNvSpPr>
            <a:spLocks noChangeArrowheads="1"/>
          </p:cNvSpPr>
          <p:nvPr/>
        </p:nvSpPr>
        <p:spPr bwMode="auto">
          <a:xfrm>
            <a:off x="5029200" y="4038600"/>
            <a:ext cx="152400" cy="152400"/>
          </a:xfrm>
          <a:prstGeom prst="ellipse">
            <a:avLst/>
          </a:prstGeom>
          <a:solidFill>
            <a:srgbClr val="FFFF00"/>
          </a:solidFill>
          <a:ln w="2857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58385" name="Rectangle 17">
            <a:extLst>
              <a:ext uri="{FF2B5EF4-FFF2-40B4-BE49-F238E27FC236}">
                <a16:creationId xmlns:a16="http://schemas.microsoft.com/office/drawing/2014/main" id="{F41445C3-F1DF-3ACB-9022-DA25A0F9C9B1}"/>
              </a:ext>
            </a:extLst>
          </p:cNvPr>
          <p:cNvSpPr>
            <a:spLocks noChangeArrowheads="1"/>
          </p:cNvSpPr>
          <p:nvPr/>
        </p:nvSpPr>
        <p:spPr bwMode="auto">
          <a:xfrm>
            <a:off x="6019800" y="1600200"/>
            <a:ext cx="4419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b="1">
                <a:solidFill>
                  <a:srgbClr val="990000"/>
                </a:solidFill>
              </a:rPr>
              <a:t>The curve doesn’t shift!</a:t>
            </a:r>
          </a:p>
          <a:p>
            <a:pPr algn="ctr" eaLnBrk="1" hangingPunct="1">
              <a:spcBef>
                <a:spcPct val="0"/>
              </a:spcBef>
              <a:buFontTx/>
              <a:buNone/>
            </a:pPr>
            <a:r>
              <a:rPr lang="en-US" altLang="en-US" b="1">
                <a:solidFill>
                  <a:srgbClr val="990000"/>
                </a:solidFill>
              </a:rPr>
              <a:t>Unemployment is just a point inside the curve</a:t>
            </a:r>
          </a:p>
        </p:txBody>
      </p:sp>
      <p:sp>
        <p:nvSpPr>
          <p:cNvPr id="58386" name="Oval 51">
            <a:extLst>
              <a:ext uri="{FF2B5EF4-FFF2-40B4-BE49-F238E27FC236}">
                <a16:creationId xmlns:a16="http://schemas.microsoft.com/office/drawing/2014/main" id="{67332723-1931-D3BE-0E43-D631C8D31E42}"/>
              </a:ext>
            </a:extLst>
          </p:cNvPr>
          <p:cNvSpPr>
            <a:spLocks noChangeArrowheads="1"/>
          </p:cNvSpPr>
          <p:nvPr/>
        </p:nvSpPr>
        <p:spPr bwMode="auto">
          <a:xfrm>
            <a:off x="5943600" y="3200400"/>
            <a:ext cx="152400" cy="152400"/>
          </a:xfrm>
          <a:prstGeom prst="ellipse">
            <a:avLst/>
          </a:prstGeom>
          <a:solidFill>
            <a:srgbClr val="FFFF00"/>
          </a:solidFill>
          <a:ln w="2857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8385"/>
                                        </p:tgtEl>
                                        <p:attrNameLst>
                                          <p:attrName>style.visibility</p:attrName>
                                        </p:attrNameLst>
                                      </p:cBhvr>
                                      <p:to>
                                        <p:strVal val="visible"/>
                                      </p:to>
                                    </p:set>
                                    <p:animEffect transition="in" filter="dissolve">
                                      <p:cBhvr>
                                        <p:cTn id="7" dur="500"/>
                                        <p:tgtEl>
                                          <p:spTgt spid="583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1395"/>
                                        </p:tgtEl>
                                        <p:attrNameLst>
                                          <p:attrName>style.visibility</p:attrName>
                                        </p:attrNameLst>
                                      </p:cBhvr>
                                      <p:to>
                                        <p:strVal val="visible"/>
                                      </p:to>
                                    </p:set>
                                    <p:animEffect transition="in" filter="wipe(left)">
                                      <p:cBhvr>
                                        <p:cTn id="12" dur="500"/>
                                        <p:tgtEl>
                                          <p:spTgt spid="101395"/>
                                        </p:tgtEl>
                                      </p:cBhvr>
                                    </p:animEffect>
                                  </p:childTnLst>
                                </p:cTn>
                              </p:par>
                              <p:par>
                                <p:cTn id="13" presetID="9" presetClass="entr" presetSubtype="0" fill="hold" nodeType="withEffect">
                                  <p:stCondLst>
                                    <p:cond delay="0"/>
                                  </p:stCondLst>
                                  <p:childTnLst>
                                    <p:set>
                                      <p:cBhvr>
                                        <p:cTn id="14" dur="1" fill="hold">
                                          <p:stCondLst>
                                            <p:cond delay="0"/>
                                          </p:stCondLst>
                                        </p:cTn>
                                        <p:tgtEl>
                                          <p:spTgt spid="58384"/>
                                        </p:tgtEl>
                                        <p:attrNameLst>
                                          <p:attrName>style.visibility</p:attrName>
                                        </p:attrNameLst>
                                      </p:cBhvr>
                                      <p:to>
                                        <p:strVal val="visible"/>
                                      </p:to>
                                    </p:set>
                                    <p:animEffect transition="in" filter="dissolve">
                                      <p:cBhvr>
                                        <p:cTn id="15" dur="500"/>
                                        <p:tgtEl>
                                          <p:spTgt spid="58384"/>
                                        </p:tgtEl>
                                      </p:cBhvr>
                                    </p:animEffect>
                                  </p:childTnLst>
                                </p:cTn>
                              </p:par>
                              <p:par>
                                <p:cTn id="16" presetID="9" presetClass="entr" presetSubtype="0" fill="hold" nodeType="withEffect">
                                  <p:stCondLst>
                                    <p:cond delay="0"/>
                                  </p:stCondLst>
                                  <p:childTnLst>
                                    <p:set>
                                      <p:cBhvr>
                                        <p:cTn id="17" dur="1" fill="hold">
                                          <p:stCondLst>
                                            <p:cond delay="0"/>
                                          </p:stCondLst>
                                        </p:cTn>
                                        <p:tgtEl>
                                          <p:spTgt spid="58386"/>
                                        </p:tgtEl>
                                        <p:attrNameLst>
                                          <p:attrName>style.visibility</p:attrName>
                                        </p:attrNameLst>
                                      </p:cBhvr>
                                      <p:to>
                                        <p:strVal val="visible"/>
                                      </p:to>
                                    </p:set>
                                    <p:animEffect transition="in" filter="dissolve">
                                      <p:cBhvr>
                                        <p:cTn id="18" dur="500"/>
                                        <p:tgtEl>
                                          <p:spTgt spid="58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95" grpId="0" animBg="1" autoUpdateAnimBg="0"/>
      <p:bldP spid="58384" grpId="0" animBg="1"/>
      <p:bldP spid="58385" grpId="0"/>
      <p:bldP spid="5838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Arc 2">
            <a:extLst>
              <a:ext uri="{FF2B5EF4-FFF2-40B4-BE49-F238E27FC236}">
                <a16:creationId xmlns:a16="http://schemas.microsoft.com/office/drawing/2014/main" id="{02550575-AB80-12D4-BFB2-8EA6D7EC54F9}"/>
              </a:ext>
            </a:extLst>
          </p:cNvPr>
          <p:cNvSpPr>
            <a:spLocks/>
          </p:cNvSpPr>
          <p:nvPr/>
        </p:nvSpPr>
        <p:spPr bwMode="auto">
          <a:xfrm>
            <a:off x="3505200" y="2362200"/>
            <a:ext cx="3657600" cy="33528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64515" name="Arc 2">
            <a:extLst>
              <a:ext uri="{FF2B5EF4-FFF2-40B4-BE49-F238E27FC236}">
                <a16:creationId xmlns:a16="http://schemas.microsoft.com/office/drawing/2014/main" id="{2CE73E38-4EAB-8340-E9FD-475F93AE3C1D}"/>
              </a:ext>
            </a:extLst>
          </p:cNvPr>
          <p:cNvSpPr>
            <a:spLocks/>
          </p:cNvSpPr>
          <p:nvPr/>
        </p:nvSpPr>
        <p:spPr bwMode="auto">
          <a:xfrm>
            <a:off x="3449638" y="2971800"/>
            <a:ext cx="2646362" cy="2819400"/>
          </a:xfrm>
          <a:custGeom>
            <a:avLst/>
            <a:gdLst>
              <a:gd name="T0" fmla="*/ 0 w 21600"/>
              <a:gd name="T1" fmla="*/ 0 h 21668"/>
              <a:gd name="T2" fmla="*/ 2147483646 w 21600"/>
              <a:gd name="T3" fmla="*/ 2147483646 h 21668"/>
              <a:gd name="T4" fmla="*/ 0 w 21600"/>
              <a:gd name="T5" fmla="*/ 2147483646 h 21668"/>
              <a:gd name="T6" fmla="*/ 0 60000 65536"/>
              <a:gd name="T7" fmla="*/ 0 60000 65536"/>
              <a:gd name="T8" fmla="*/ 0 60000 65536"/>
              <a:gd name="T9" fmla="*/ 0 w 21600"/>
              <a:gd name="T10" fmla="*/ 0 h 21668"/>
              <a:gd name="T11" fmla="*/ 21600 w 21600"/>
              <a:gd name="T12" fmla="*/ 21668 h 21668"/>
            </a:gdLst>
            <a:ahLst/>
            <a:cxnLst>
              <a:cxn ang="T6">
                <a:pos x="T0" y="T1"/>
              </a:cxn>
              <a:cxn ang="T7">
                <a:pos x="T2" y="T3"/>
              </a:cxn>
              <a:cxn ang="T8">
                <a:pos x="T4" y="T5"/>
              </a:cxn>
            </a:cxnLst>
            <a:rect l="T9" t="T10" r="T11" b="T12"/>
            <a:pathLst>
              <a:path w="21600" h="21668" fill="none" extrusionOk="0">
                <a:moveTo>
                  <a:pt x="-1" y="0"/>
                </a:moveTo>
                <a:cubicBezTo>
                  <a:pt x="11929" y="0"/>
                  <a:pt x="21600" y="9670"/>
                  <a:pt x="21600" y="21600"/>
                </a:cubicBezTo>
                <a:cubicBezTo>
                  <a:pt x="21600" y="21622"/>
                  <a:pt x="21599" y="21645"/>
                  <a:pt x="21599" y="21667"/>
                </a:cubicBezTo>
              </a:path>
              <a:path w="21600" h="21668" stroke="0" extrusionOk="0">
                <a:moveTo>
                  <a:pt x="-1" y="0"/>
                </a:moveTo>
                <a:cubicBezTo>
                  <a:pt x="11929" y="0"/>
                  <a:pt x="21600" y="9670"/>
                  <a:pt x="21600" y="21600"/>
                </a:cubicBezTo>
                <a:cubicBezTo>
                  <a:pt x="21600" y="21622"/>
                  <a:pt x="21599" y="21645"/>
                  <a:pt x="21599" y="21667"/>
                </a:cubicBezTo>
                <a:lnTo>
                  <a:pt x="0" y="21600"/>
                </a:lnTo>
                <a:lnTo>
                  <a:pt x="-1" y="0"/>
                </a:lnTo>
                <a:close/>
              </a:path>
            </a:pathLst>
          </a:custGeom>
          <a:solidFill>
            <a:srgbClr val="99FF66"/>
          </a:solidFill>
          <a:ln w="76200" cap="rnd">
            <a:solidFill>
              <a:srgbClr val="000099"/>
            </a:solidFill>
            <a:round/>
            <a:headEnd/>
            <a:tailEnd/>
          </a:ln>
        </p:spPr>
        <p:txBody>
          <a:bodyPr wrap="none" anchor="ctr"/>
          <a:lstStyle/>
          <a:p>
            <a:endParaRPr lang="en-LK"/>
          </a:p>
        </p:txBody>
      </p:sp>
      <p:sp>
        <p:nvSpPr>
          <p:cNvPr id="64516" name="Rectangle 4">
            <a:extLst>
              <a:ext uri="{FF2B5EF4-FFF2-40B4-BE49-F238E27FC236}">
                <a16:creationId xmlns:a16="http://schemas.microsoft.com/office/drawing/2014/main" id="{A5E7CAD6-B531-4ADB-E663-FFDD7B680214}"/>
              </a:ext>
            </a:extLst>
          </p:cNvPr>
          <p:cNvSpPr>
            <a:spLocks noChangeArrowheads="1"/>
          </p:cNvSpPr>
          <p:nvPr/>
        </p:nvSpPr>
        <p:spPr bwMode="auto">
          <a:xfrm>
            <a:off x="1905000" y="685800"/>
            <a:ext cx="8305800"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buFontTx/>
              <a:buNone/>
            </a:pPr>
            <a:r>
              <a:rPr lang="en-US" altLang="en-US" sz="4000" b="1"/>
              <a:t>Significant increases in education</a:t>
            </a:r>
          </a:p>
          <a:p>
            <a:pPr eaLnBrk="1" hangingPunct="1">
              <a:lnSpc>
                <a:spcPct val="90000"/>
              </a:lnSpc>
              <a:buFontTx/>
              <a:buNone/>
            </a:pPr>
            <a:endParaRPr lang="en-US" altLang="en-US" sz="4000" b="1">
              <a:solidFill>
                <a:srgbClr val="CC0000"/>
              </a:solidFill>
            </a:endParaRPr>
          </a:p>
        </p:txBody>
      </p:sp>
      <p:grpSp>
        <p:nvGrpSpPr>
          <p:cNvPr id="64517" name="Group 5">
            <a:extLst>
              <a:ext uri="{FF2B5EF4-FFF2-40B4-BE49-F238E27FC236}">
                <a16:creationId xmlns:a16="http://schemas.microsoft.com/office/drawing/2014/main" id="{695AA8D9-B8FB-8779-03AB-A44ECC176495}"/>
              </a:ext>
            </a:extLst>
          </p:cNvPr>
          <p:cNvGrpSpPr>
            <a:grpSpLocks/>
          </p:cNvGrpSpPr>
          <p:nvPr/>
        </p:nvGrpSpPr>
        <p:grpSpPr bwMode="auto">
          <a:xfrm>
            <a:off x="3436939" y="1382713"/>
            <a:ext cx="4873625" cy="4405312"/>
            <a:chOff x="1755" y="922"/>
            <a:chExt cx="3070" cy="2775"/>
          </a:xfrm>
        </p:grpSpPr>
        <p:sp>
          <p:nvSpPr>
            <p:cNvPr id="64526" name="Line 6">
              <a:extLst>
                <a:ext uri="{FF2B5EF4-FFF2-40B4-BE49-F238E27FC236}">
                  <a16:creationId xmlns:a16="http://schemas.microsoft.com/office/drawing/2014/main" id="{08FFDCD3-EC8F-6AE8-7C50-7A6F1DC3A437}"/>
                </a:ext>
              </a:extLst>
            </p:cNvPr>
            <p:cNvSpPr>
              <a:spLocks noChangeShapeType="1"/>
            </p:cNvSpPr>
            <p:nvPr/>
          </p:nvSpPr>
          <p:spPr bwMode="auto">
            <a:xfrm>
              <a:off x="1761" y="922"/>
              <a:ext cx="0" cy="277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sp>
          <p:nvSpPr>
            <p:cNvPr id="64527" name="Line 7">
              <a:extLst>
                <a:ext uri="{FF2B5EF4-FFF2-40B4-BE49-F238E27FC236}">
                  <a16:creationId xmlns:a16="http://schemas.microsoft.com/office/drawing/2014/main" id="{B1A7E6D6-56FF-51DC-E907-2D646CA8F591}"/>
                </a:ext>
              </a:extLst>
            </p:cNvPr>
            <p:cNvSpPr>
              <a:spLocks noChangeShapeType="1"/>
            </p:cNvSpPr>
            <p:nvPr/>
          </p:nvSpPr>
          <p:spPr bwMode="auto">
            <a:xfrm>
              <a:off x="1755" y="3682"/>
              <a:ext cx="307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LK"/>
            </a:p>
          </p:txBody>
        </p:sp>
      </p:grpSp>
      <p:sp>
        <p:nvSpPr>
          <p:cNvPr id="64518" name="Rectangle 8">
            <a:extLst>
              <a:ext uri="{FF2B5EF4-FFF2-40B4-BE49-F238E27FC236}">
                <a16:creationId xmlns:a16="http://schemas.microsoft.com/office/drawing/2014/main" id="{2CA0F258-B735-0A28-E908-402B69F86310}"/>
              </a:ext>
            </a:extLst>
          </p:cNvPr>
          <p:cNvSpPr>
            <a:spLocks noChangeArrowheads="1"/>
          </p:cNvSpPr>
          <p:nvPr/>
        </p:nvSpPr>
        <p:spPr bwMode="auto">
          <a:xfrm>
            <a:off x="2541589" y="1190626"/>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4519" name="Rectangle 9">
            <a:extLst>
              <a:ext uri="{FF2B5EF4-FFF2-40B4-BE49-F238E27FC236}">
                <a16:creationId xmlns:a16="http://schemas.microsoft.com/office/drawing/2014/main" id="{8FC8729B-352A-065D-62C7-EF006F1860D9}"/>
              </a:ext>
            </a:extLst>
          </p:cNvPr>
          <p:cNvSpPr>
            <a:spLocks noChangeArrowheads="1"/>
          </p:cNvSpPr>
          <p:nvPr/>
        </p:nvSpPr>
        <p:spPr bwMode="auto">
          <a:xfrm>
            <a:off x="8464551" y="5697539"/>
            <a:ext cx="50174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Arial" panose="020B0604020202020204" pitchFamily="34" charset="0"/>
              </a:rPr>
              <a:t>Q</a:t>
            </a:r>
          </a:p>
        </p:txBody>
      </p:sp>
      <p:sp>
        <p:nvSpPr>
          <p:cNvPr id="64520" name="Rectangle 10">
            <a:extLst>
              <a:ext uri="{FF2B5EF4-FFF2-40B4-BE49-F238E27FC236}">
                <a16:creationId xmlns:a16="http://schemas.microsoft.com/office/drawing/2014/main" id="{7E13E632-B1E4-CDE5-E3BE-F0D52FF62594}"/>
              </a:ext>
            </a:extLst>
          </p:cNvPr>
          <p:cNvSpPr>
            <a:spLocks noChangeArrowheads="1"/>
          </p:cNvSpPr>
          <p:nvPr/>
        </p:nvSpPr>
        <p:spPr bwMode="auto">
          <a:xfrm rot="16200000">
            <a:off x="454819" y="3486944"/>
            <a:ext cx="432435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Capital Goods (tools)</a:t>
            </a:r>
            <a:endParaRPr lang="en-US" altLang="en-US" sz="2400" b="1">
              <a:latin typeface="Arial" panose="020B0604020202020204" pitchFamily="34" charset="0"/>
            </a:endParaRPr>
          </a:p>
        </p:txBody>
      </p:sp>
      <p:sp>
        <p:nvSpPr>
          <p:cNvPr id="64521" name="Rectangle 11">
            <a:extLst>
              <a:ext uri="{FF2B5EF4-FFF2-40B4-BE49-F238E27FC236}">
                <a16:creationId xmlns:a16="http://schemas.microsoft.com/office/drawing/2014/main" id="{8087640B-DC11-879F-15C1-EEFC873369C3}"/>
              </a:ext>
            </a:extLst>
          </p:cNvPr>
          <p:cNvSpPr>
            <a:spLocks noChangeArrowheads="1"/>
          </p:cNvSpPr>
          <p:nvPr/>
        </p:nvSpPr>
        <p:spPr bwMode="auto">
          <a:xfrm>
            <a:off x="3058748" y="6075364"/>
            <a:ext cx="5328383"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Consumer Goods (Butter) </a:t>
            </a:r>
            <a:endParaRPr lang="en-US" altLang="en-US" sz="2400" b="1">
              <a:latin typeface="Arial" panose="020B0604020202020204" pitchFamily="34" charset="0"/>
            </a:endParaRPr>
          </a:p>
        </p:txBody>
      </p:sp>
      <p:sp>
        <p:nvSpPr>
          <p:cNvPr id="101395" name="AutoShape 19">
            <a:extLst>
              <a:ext uri="{FF2B5EF4-FFF2-40B4-BE49-F238E27FC236}">
                <a16:creationId xmlns:a16="http://schemas.microsoft.com/office/drawing/2014/main" id="{83AF5744-F65D-D54D-DE13-3C8D96B1A369}"/>
              </a:ext>
            </a:extLst>
          </p:cNvPr>
          <p:cNvSpPr>
            <a:spLocks noChangeArrowheads="1"/>
          </p:cNvSpPr>
          <p:nvPr/>
        </p:nvSpPr>
        <p:spPr bwMode="auto">
          <a:xfrm rot="18734601">
            <a:off x="5489575" y="3425825"/>
            <a:ext cx="463550" cy="317500"/>
          </a:xfrm>
          <a:prstGeom prst="rightArrow">
            <a:avLst>
              <a:gd name="adj1" fmla="val 50000"/>
              <a:gd name="adj2" fmla="val 73007"/>
            </a:avLst>
          </a:prstGeom>
          <a:solidFill>
            <a:schemeClr val="tx1"/>
          </a:solidFill>
          <a:ln w="25400">
            <a:solidFill>
              <a:srgbClr val="000000"/>
            </a:solidFill>
            <a:miter lim="800000"/>
            <a:headEnd/>
            <a:tailEnd/>
          </a:ln>
        </p:spPr>
        <p:txBody>
          <a:bodyPr vert="eaVert"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64523" name="Rectangle 23">
            <a:extLst>
              <a:ext uri="{FF2B5EF4-FFF2-40B4-BE49-F238E27FC236}">
                <a16:creationId xmlns:a16="http://schemas.microsoft.com/office/drawing/2014/main" id="{1C8F256B-77E1-A166-4B91-597F66866BD4}"/>
              </a:ext>
            </a:extLst>
          </p:cNvPr>
          <p:cNvSpPr>
            <a:spLocks noChangeArrowheads="1"/>
          </p:cNvSpPr>
          <p:nvPr/>
        </p:nvSpPr>
        <p:spPr bwMode="auto">
          <a:xfrm>
            <a:off x="2514600" y="1"/>
            <a:ext cx="7086600" cy="73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200" b="1">
                <a:solidFill>
                  <a:srgbClr val="000099"/>
                </a:solidFill>
              </a:rPr>
              <a:t>Question #7</a:t>
            </a:r>
          </a:p>
        </p:txBody>
      </p:sp>
      <p:sp>
        <p:nvSpPr>
          <p:cNvPr id="64524" name="Slide Number Placeholder 23">
            <a:extLst>
              <a:ext uri="{FF2B5EF4-FFF2-40B4-BE49-F238E27FC236}">
                <a16:creationId xmlns:a16="http://schemas.microsoft.com/office/drawing/2014/main" id="{7270AA26-A38D-6B08-0870-8996853E9628}"/>
              </a:ext>
            </a:extLst>
          </p:cNvPr>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CE94AF05-A4CD-4343-BEB2-DFDC9AE3A1FC}" type="slidenum">
              <a:rPr lang="en-US" altLang="en-US" sz="1400"/>
              <a:pPr algn="r" eaLnBrk="1" hangingPunct="1">
                <a:spcBef>
                  <a:spcPct val="0"/>
                </a:spcBef>
                <a:buFontTx/>
                <a:buNone/>
              </a:pPr>
              <a:t>38</a:t>
            </a:fld>
            <a:endParaRPr lang="en-US" altLang="en-US" sz="1400"/>
          </a:p>
        </p:txBody>
      </p:sp>
      <p:sp>
        <p:nvSpPr>
          <p:cNvPr id="59407" name="Rectangle 15">
            <a:extLst>
              <a:ext uri="{FF2B5EF4-FFF2-40B4-BE49-F238E27FC236}">
                <a16:creationId xmlns:a16="http://schemas.microsoft.com/office/drawing/2014/main" id="{110AAB7B-F09F-E57A-72DE-4B5026EC4D0C}"/>
              </a:ext>
            </a:extLst>
          </p:cNvPr>
          <p:cNvSpPr>
            <a:spLocks noChangeArrowheads="1"/>
          </p:cNvSpPr>
          <p:nvPr/>
        </p:nvSpPr>
        <p:spPr bwMode="auto">
          <a:xfrm>
            <a:off x="6019800" y="1752600"/>
            <a:ext cx="4419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b="1">
                <a:solidFill>
                  <a:srgbClr val="990000"/>
                </a:solidFill>
              </a:rPr>
              <a:t>The quality of labor is improved. Curve shifts outward.  </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9407"/>
                                        </p:tgtEl>
                                        <p:attrNameLst>
                                          <p:attrName>style.visibility</p:attrName>
                                        </p:attrNameLst>
                                      </p:cBhvr>
                                      <p:to>
                                        <p:strVal val="visible"/>
                                      </p:to>
                                    </p:set>
                                    <p:animEffect transition="in" filter="dissolve">
                                      <p:cBhvr>
                                        <p:cTn id="7" dur="500"/>
                                        <p:tgtEl>
                                          <p:spTgt spid="594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1395"/>
                                        </p:tgtEl>
                                        <p:attrNameLst>
                                          <p:attrName>style.visibility</p:attrName>
                                        </p:attrNameLst>
                                      </p:cBhvr>
                                      <p:to>
                                        <p:strVal val="visible"/>
                                      </p:to>
                                    </p:set>
                                    <p:animEffect transition="in" filter="wipe(left)">
                                      <p:cBhvr>
                                        <p:cTn id="12" dur="500"/>
                                        <p:tgtEl>
                                          <p:spTgt spid="101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9394"/>
                                        </p:tgtEl>
                                        <p:attrNameLst>
                                          <p:attrName>style.visibility</p:attrName>
                                        </p:attrNameLst>
                                      </p:cBhvr>
                                      <p:to>
                                        <p:strVal val="visible"/>
                                      </p:to>
                                    </p:set>
                                    <p:animEffect transition="in" filter="dissolve">
                                      <p:cBhvr>
                                        <p:cTn id="17" dur="500"/>
                                        <p:tgtEl>
                                          <p:spTgt spid="59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95" grpId="0" animBg="1" autoUpdateAnimBg="0"/>
      <p:bldP spid="5940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AA474-A4B9-AF5A-10B8-9072771213C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Importance of the Production Possibility Curve</a:t>
            </a:r>
          </a:p>
        </p:txBody>
      </p:sp>
      <p:sp>
        <p:nvSpPr>
          <p:cNvPr id="3" name="Content Placeholder 2">
            <a:extLst>
              <a:ext uri="{FF2B5EF4-FFF2-40B4-BE49-F238E27FC236}">
                <a16:creationId xmlns:a16="http://schemas.microsoft.com/office/drawing/2014/main" id="{3D27BAD9-3B08-4814-6612-0416C6F848F3}"/>
              </a:ext>
            </a:extLst>
          </p:cNvPr>
          <p:cNvSpPr>
            <a:spLocks noGrp="1"/>
          </p:cNvSpPr>
          <p:nvPr>
            <p:ph idx="1"/>
          </p:nvPr>
        </p:nvSpPr>
        <p:spPr/>
        <p:txBody>
          <a:bodyPr>
            <a:normAutofit/>
          </a:bodyPr>
          <a:lstStyle/>
          <a:p>
            <a:pPr algn="just"/>
            <a:r>
              <a:rPr lang="en-LK" sz="3200" dirty="0">
                <a:latin typeface="Times New Roman" panose="02020603050405020304" pitchFamily="18" charset="0"/>
                <a:cs typeface="Times New Roman" panose="02020603050405020304" pitchFamily="18" charset="0"/>
              </a:rPr>
              <a:t>As productive resources of the economy are always limited, PPC helps in deciding </a:t>
            </a:r>
            <a:r>
              <a:rPr lang="en-GB" sz="3200" dirty="0">
                <a:latin typeface="Times New Roman" panose="02020603050405020304" pitchFamily="18" charset="0"/>
                <a:cs typeface="Times New Roman" panose="02020603050405020304" pitchFamily="18" charset="0"/>
              </a:rPr>
              <a:t>which commodities</a:t>
            </a:r>
            <a:r>
              <a:rPr lang="en-LK" sz="3200"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are most</a:t>
            </a:r>
            <a:r>
              <a:rPr lang="en-LK" sz="3200" dirty="0">
                <a:latin typeface="Times New Roman" panose="02020603050405020304" pitchFamily="18" charset="0"/>
                <a:cs typeface="Times New Roman" panose="02020603050405020304" pitchFamily="18" charset="0"/>
              </a:rPr>
              <a:t> beneficial to society.</a:t>
            </a:r>
          </a:p>
          <a:p>
            <a:pPr algn="just"/>
            <a:r>
              <a:rPr lang="en-GB" sz="3200" dirty="0">
                <a:latin typeface="Times New Roman" panose="02020603050405020304" pitchFamily="18" charset="0"/>
                <a:cs typeface="Times New Roman" panose="02020603050405020304" pitchFamily="18" charset="0"/>
              </a:rPr>
              <a:t>H</a:t>
            </a:r>
            <a:r>
              <a:rPr lang="en-LK" sz="3200" dirty="0">
                <a:latin typeface="Times New Roman" panose="02020603050405020304" pitchFamily="18" charset="0"/>
                <a:cs typeface="Times New Roman" panose="02020603050405020304" pitchFamily="18" charset="0"/>
              </a:rPr>
              <a:t>elps in deciding what amount of goods are to be produced amongst different alternatives available.</a:t>
            </a: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78644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F96FF-F153-F2E1-DF2D-C46797F14C1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Limitations of the Production Possibility Curve</a:t>
            </a:r>
          </a:p>
        </p:txBody>
      </p:sp>
      <p:sp>
        <p:nvSpPr>
          <p:cNvPr id="3" name="Content Placeholder 2">
            <a:extLst>
              <a:ext uri="{FF2B5EF4-FFF2-40B4-BE49-F238E27FC236}">
                <a16:creationId xmlns:a16="http://schemas.microsoft.com/office/drawing/2014/main" id="{4E95019F-B6D5-C7F6-F9B3-FA4B9BEF126B}"/>
              </a:ext>
            </a:extLst>
          </p:cNvPr>
          <p:cNvSpPr>
            <a:spLocks noGrp="1"/>
          </p:cNvSpPr>
          <p:nvPr>
            <p:ph idx="1"/>
          </p:nvPr>
        </p:nvSpPr>
        <p:spPr/>
        <p:txBody>
          <a:bodyPr>
            <a:normAutofit/>
          </a:bodyPr>
          <a:lstStyle/>
          <a:p>
            <a:pPr algn="just"/>
            <a:r>
              <a:rPr lang="en-LK" sz="3200" dirty="0">
                <a:latin typeface="Times New Roman" panose="02020603050405020304" pitchFamily="18" charset="0"/>
                <a:cs typeface="Times New Roman" panose="02020603050405020304" pitchFamily="18" charset="0"/>
              </a:rPr>
              <a:t>There is a choice between </a:t>
            </a:r>
            <a:r>
              <a:rPr lang="en-GB" sz="3200" dirty="0">
                <a:latin typeface="Times New Roman" panose="02020603050405020304" pitchFamily="18" charset="0"/>
                <a:cs typeface="Times New Roman" panose="02020603050405020304" pitchFamily="18" charset="0"/>
              </a:rPr>
              <a:t>only two commodities.</a:t>
            </a:r>
          </a:p>
          <a:p>
            <a:pPr algn="just"/>
            <a:r>
              <a:rPr lang="en-GB" sz="3200" dirty="0">
                <a:latin typeface="Times New Roman" panose="02020603050405020304" pitchFamily="18" charset="0"/>
                <a:cs typeface="Times New Roman" panose="02020603050405020304" pitchFamily="18" charset="0"/>
              </a:rPr>
              <a:t>It talks about production capabilities but doesn’t consider the want of goods.</a:t>
            </a:r>
          </a:p>
          <a:p>
            <a:pPr algn="just"/>
            <a:r>
              <a:rPr lang="en-GB" sz="3200" dirty="0">
                <a:latin typeface="Times New Roman" panose="02020603050405020304" pitchFamily="18" charset="0"/>
                <a:cs typeface="Times New Roman" panose="02020603050405020304" pitchFamily="18" charset="0"/>
              </a:rPr>
              <a:t>It doesn’t consider the satisfaction generated with an accepted outcome.</a:t>
            </a:r>
            <a:endParaRPr lang="en-LK"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4767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51F84E-C5C7-C8F0-BB92-194B505F5617}"/>
              </a:ext>
            </a:extLst>
          </p:cNvPr>
          <p:cNvSpPr>
            <a:spLocks noGrp="1"/>
          </p:cNvSpPr>
          <p:nvPr>
            <p:ph idx="1"/>
          </p:nvPr>
        </p:nvSpPr>
        <p:spPr/>
        <p:txBody>
          <a:bodyPr>
            <a:normAutofit/>
          </a:bodyPr>
          <a:lstStyle/>
          <a:p>
            <a:pPr marL="0" indent="0">
              <a:buNone/>
            </a:pPr>
            <a:endParaRPr lang="en-LK" sz="6600" b="1" dirty="0">
              <a:latin typeface="Times New Roman" panose="02020603050405020304" pitchFamily="18" charset="0"/>
              <a:cs typeface="Times New Roman" panose="02020603050405020304" pitchFamily="18" charset="0"/>
            </a:endParaRPr>
          </a:p>
          <a:p>
            <a:pPr marL="0" indent="0">
              <a:buNone/>
            </a:pPr>
            <a:endParaRPr lang="en-LK" sz="6600" b="1" dirty="0">
              <a:latin typeface="Times New Roman" panose="02020603050405020304" pitchFamily="18" charset="0"/>
              <a:cs typeface="Times New Roman" panose="02020603050405020304" pitchFamily="18" charset="0"/>
            </a:endParaRPr>
          </a:p>
          <a:p>
            <a:pPr marL="0" indent="0">
              <a:buNone/>
            </a:pPr>
            <a:r>
              <a:rPr lang="en-LK"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49136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531</TotalTime>
  <Words>1730</Words>
  <Application>Microsoft Macintosh PowerPoint</Application>
  <PresentationFormat>Widescreen</PresentationFormat>
  <Paragraphs>306</Paragraphs>
  <Slides>41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Display</vt:lpstr>
      <vt:lpstr>Arial</vt:lpstr>
      <vt:lpstr>Times New Roman</vt:lpstr>
      <vt:lpstr>Office Theme</vt:lpstr>
      <vt:lpstr>Production Possibility Curve (PPC)</vt:lpstr>
      <vt:lpstr>Learning Outcomes</vt:lpstr>
      <vt:lpstr>From Scarcity to production possibility curve</vt:lpstr>
      <vt:lpstr>From Scarcity to production possibility curve</vt:lpstr>
      <vt:lpstr>Production Possibility Curve (PPC)</vt:lpstr>
      <vt:lpstr>Assumptions of Production Possibility Curve </vt:lpstr>
      <vt:lpstr>Example 01 </vt:lpstr>
      <vt:lpstr>Example (Cont.)</vt:lpstr>
      <vt:lpstr>Production Possibility Curve</vt:lpstr>
      <vt:lpstr>Production Possibility Curve</vt:lpstr>
      <vt:lpstr>Example 02</vt:lpstr>
      <vt:lpstr>Efficient Production</vt:lpstr>
      <vt:lpstr>Inefficient Production</vt:lpstr>
      <vt:lpstr>Unattainable Points</vt:lpstr>
      <vt:lpstr>PowerPoint Presentation</vt:lpstr>
      <vt:lpstr>PowerPoint Presentation</vt:lpstr>
      <vt:lpstr>The PPF can be used to show tradeoffs/choices. </vt:lpstr>
      <vt:lpstr>The PPF can be used to show the opportunity cost of choosing one alternative over the other. </vt:lpstr>
      <vt:lpstr>PowerPoint Presentation</vt:lpstr>
      <vt:lpstr>PowerPoint Presentation</vt:lpstr>
      <vt:lpstr>PowerPoint Presentation</vt:lpstr>
      <vt:lpstr>Example 03</vt:lpstr>
      <vt:lpstr>PowerPoint Presentation</vt:lpstr>
      <vt:lpstr>The Production Possibilities Curve and Efficiency </vt:lpstr>
      <vt:lpstr>Two types of Efficiency</vt:lpstr>
      <vt:lpstr>Shifting the Production Possibilities Curve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Importance of the Production Possibility Curve</vt:lpstr>
      <vt:lpstr>Limitations of the Production Possibility Curve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Ms. Vimansi Pathirana</dc:creator>
  <cp:lastModifiedBy>Mr. Chathuranga Adhikari</cp:lastModifiedBy>
  <cp:revision>27</cp:revision>
  <dcterms:created xsi:type="dcterms:W3CDTF">2026-08-19T13:58:10Z</dcterms:created>
  <dcterms:modified xsi:type="dcterms:W3CDTF">2026-08-20T16:07:52Z</dcterms:modified>
</cp:coreProperties>
</file>