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7" r:id="rId2"/>
    <p:sldId id="257" r:id="rId3"/>
    <p:sldId id="258" r:id="rId4"/>
    <p:sldId id="311" r:id="rId5"/>
    <p:sldId id="269" r:id="rId6"/>
    <p:sldId id="398" r:id="rId7"/>
    <p:sldId id="270" r:id="rId8"/>
    <p:sldId id="271" r:id="rId9"/>
    <p:sldId id="272" r:id="rId10"/>
    <p:sldId id="260" r:id="rId11"/>
    <p:sldId id="273" r:id="rId12"/>
    <p:sldId id="274" r:id="rId13"/>
    <p:sldId id="278" r:id="rId14"/>
    <p:sldId id="275" r:id="rId15"/>
    <p:sldId id="276" r:id="rId16"/>
    <p:sldId id="279" r:id="rId17"/>
    <p:sldId id="381" r:id="rId18"/>
    <p:sldId id="382" r:id="rId19"/>
    <p:sldId id="383" r:id="rId20"/>
    <p:sldId id="384" r:id="rId21"/>
    <p:sldId id="385" r:id="rId22"/>
    <p:sldId id="399" r:id="rId23"/>
    <p:sldId id="405" r:id="rId24"/>
    <p:sldId id="261" r:id="rId25"/>
    <p:sldId id="280" r:id="rId26"/>
    <p:sldId id="281" r:id="rId27"/>
    <p:sldId id="282" r:id="rId28"/>
    <p:sldId id="328" r:id="rId29"/>
    <p:sldId id="329" r:id="rId30"/>
    <p:sldId id="330" r:id="rId31"/>
    <p:sldId id="402" r:id="rId32"/>
    <p:sldId id="366" r:id="rId33"/>
    <p:sldId id="367" r:id="rId34"/>
    <p:sldId id="369" r:id="rId35"/>
    <p:sldId id="371" r:id="rId36"/>
    <p:sldId id="283" r:id="rId37"/>
    <p:sldId id="294" r:id="rId38"/>
    <p:sldId id="295" r:id="rId39"/>
    <p:sldId id="284" r:id="rId40"/>
    <p:sldId id="285" r:id="rId41"/>
    <p:sldId id="286" r:id="rId42"/>
    <p:sldId id="277" r:id="rId43"/>
    <p:sldId id="287" r:id="rId44"/>
    <p:sldId id="288" r:id="rId45"/>
    <p:sldId id="396" r:id="rId46"/>
    <p:sldId id="289" r:id="rId47"/>
    <p:sldId id="394" r:id="rId48"/>
    <p:sldId id="331" r:id="rId49"/>
    <p:sldId id="334" r:id="rId50"/>
    <p:sldId id="335" r:id="rId51"/>
    <p:sldId id="336" r:id="rId52"/>
    <p:sldId id="391" r:id="rId53"/>
    <p:sldId id="392" r:id="rId54"/>
    <p:sldId id="393" r:id="rId55"/>
    <p:sldId id="397" r:id="rId56"/>
    <p:sldId id="401" r:id="rId57"/>
    <p:sldId id="290" r:id="rId58"/>
    <p:sldId id="291" r:id="rId59"/>
    <p:sldId id="292" r:id="rId60"/>
    <p:sldId id="293" r:id="rId61"/>
    <p:sldId id="312" r:id="rId62"/>
    <p:sldId id="313" r:id="rId63"/>
    <p:sldId id="314" r:id="rId64"/>
    <p:sldId id="315" r:id="rId65"/>
    <p:sldId id="403" r:id="rId66"/>
    <p:sldId id="404" r:id="rId67"/>
    <p:sldId id="395" r:id="rId68"/>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25"/>
    <p:restoredTop sz="94754"/>
  </p:normalViewPr>
  <p:slideViewPr>
    <p:cSldViewPr snapToGrid="0">
      <p:cViewPr varScale="1">
        <p:scale>
          <a:sx n="102" d="100"/>
          <a:sy n="102"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B4E2C9-4F07-4B38-8F66-6A118EA6783A}" type="doc">
      <dgm:prSet loTypeId="urn:microsoft.com/office/officeart/2008/layout/LinedList" loCatId="list" qsTypeId="urn:microsoft.com/office/officeart/2005/8/quickstyle/simple1#29" qsCatId="simple" csTypeId="urn:microsoft.com/office/officeart/2005/8/colors/accent1_2#28" csCatId="accent1"/>
      <dgm:spPr/>
      <dgm:t>
        <a:bodyPr/>
        <a:lstStyle/>
        <a:p>
          <a:endParaRPr lang="en-US"/>
        </a:p>
      </dgm:t>
    </dgm:pt>
    <dgm:pt modelId="{63F6C5B9-5F91-40A9-830C-5402FA9834D9}">
      <dgm:prSet/>
      <dgm:spPr/>
      <dgm:t>
        <a:bodyPr/>
        <a:lstStyle/>
        <a:p>
          <a:r>
            <a:rPr lang="en-US" dirty="0">
              <a:latin typeface="Times New Roman" panose="02020603050405020304" pitchFamily="18" charset="0"/>
              <a:cs typeface="Times New Roman" panose="02020603050405020304" pitchFamily="18" charset="0"/>
            </a:rPr>
            <a:t>When AP is maximum, MP= AP</a:t>
          </a:r>
        </a:p>
      </dgm:t>
    </dgm:pt>
    <dgm:pt modelId="{126F700C-08AD-4D0B-9EE9-80675A69694E}" type="parTrans" cxnId="{C2CF1E70-6E92-4B97-8CE6-55B21B840462}">
      <dgm:prSet/>
      <dgm:spPr/>
      <dgm:t>
        <a:bodyPr/>
        <a:lstStyle/>
        <a:p>
          <a:endParaRPr lang="en-US">
            <a:latin typeface="Times New Roman" panose="02020603050405020304" pitchFamily="18" charset="0"/>
            <a:cs typeface="Times New Roman" panose="02020603050405020304" pitchFamily="18" charset="0"/>
          </a:endParaRPr>
        </a:p>
      </dgm:t>
    </dgm:pt>
    <dgm:pt modelId="{8635CEA3-26AB-411F-B51A-94D259C61F74}" type="sibTrans" cxnId="{C2CF1E70-6E92-4B97-8CE6-55B21B840462}">
      <dgm:prSet/>
      <dgm:spPr/>
      <dgm:t>
        <a:bodyPr/>
        <a:lstStyle/>
        <a:p>
          <a:endParaRPr lang="en-US">
            <a:latin typeface="Times New Roman" panose="02020603050405020304" pitchFamily="18" charset="0"/>
            <a:cs typeface="Times New Roman" panose="02020603050405020304" pitchFamily="18" charset="0"/>
          </a:endParaRPr>
        </a:p>
      </dgm:t>
    </dgm:pt>
    <dgm:pt modelId="{F0E40BD4-2809-407D-BAA1-4C0780DC9313}">
      <dgm:prSet/>
      <dgm:spPr/>
      <dgm:t>
        <a:bodyPr/>
        <a:lstStyle/>
        <a:p>
          <a:r>
            <a:rPr lang="en-US">
              <a:latin typeface="Times New Roman" panose="02020603050405020304" pitchFamily="18" charset="0"/>
              <a:cs typeface="Times New Roman" panose="02020603050405020304" pitchFamily="18" charset="0"/>
            </a:rPr>
            <a:t>When TP is maximum, MP= 0</a:t>
          </a:r>
        </a:p>
      </dgm:t>
    </dgm:pt>
    <dgm:pt modelId="{58725ED8-75DC-4AE5-8166-C074C0EADDFE}" type="parTrans" cxnId="{4FA77613-5288-4230-9AB0-D9F29F02C163}">
      <dgm:prSet/>
      <dgm:spPr/>
      <dgm:t>
        <a:bodyPr/>
        <a:lstStyle/>
        <a:p>
          <a:endParaRPr lang="en-US">
            <a:latin typeface="Times New Roman" panose="02020603050405020304" pitchFamily="18" charset="0"/>
            <a:cs typeface="Times New Roman" panose="02020603050405020304" pitchFamily="18" charset="0"/>
          </a:endParaRPr>
        </a:p>
      </dgm:t>
    </dgm:pt>
    <dgm:pt modelId="{D984CF44-05BC-45FE-9E8B-720A62C2AA06}" type="sibTrans" cxnId="{4FA77613-5288-4230-9AB0-D9F29F02C163}">
      <dgm:prSet/>
      <dgm:spPr/>
      <dgm:t>
        <a:bodyPr/>
        <a:lstStyle/>
        <a:p>
          <a:endParaRPr lang="en-US">
            <a:latin typeface="Times New Roman" panose="02020603050405020304" pitchFamily="18" charset="0"/>
            <a:cs typeface="Times New Roman" panose="02020603050405020304" pitchFamily="18" charset="0"/>
          </a:endParaRPr>
        </a:p>
      </dgm:t>
    </dgm:pt>
    <dgm:pt modelId="{3232BA31-A869-4204-9E90-698AEFD42024}">
      <dgm:prSet/>
      <dgm:spPr/>
      <dgm:t>
        <a:bodyPr/>
        <a:lstStyle/>
        <a:p>
          <a:r>
            <a:rPr lang="en-US">
              <a:latin typeface="Times New Roman" panose="02020603050405020304" pitchFamily="18" charset="0"/>
              <a:cs typeface="Times New Roman" panose="02020603050405020304" pitchFamily="18" charset="0"/>
            </a:rPr>
            <a:t>When TP is falling, MP is negative</a:t>
          </a:r>
        </a:p>
      </dgm:t>
    </dgm:pt>
    <dgm:pt modelId="{329B1206-397D-4CE3-A0D3-4250B733A39C}" type="parTrans" cxnId="{AA410E81-8C20-4D5F-A02E-D321D7DDCE82}">
      <dgm:prSet/>
      <dgm:spPr/>
      <dgm:t>
        <a:bodyPr/>
        <a:lstStyle/>
        <a:p>
          <a:endParaRPr lang="en-US">
            <a:latin typeface="Times New Roman" panose="02020603050405020304" pitchFamily="18" charset="0"/>
            <a:cs typeface="Times New Roman" panose="02020603050405020304" pitchFamily="18" charset="0"/>
          </a:endParaRPr>
        </a:p>
      </dgm:t>
    </dgm:pt>
    <dgm:pt modelId="{695A390B-2CED-464A-89DB-4CCCF3B477DA}" type="sibTrans" cxnId="{AA410E81-8C20-4D5F-A02E-D321D7DDCE82}">
      <dgm:prSet/>
      <dgm:spPr/>
      <dgm:t>
        <a:bodyPr/>
        <a:lstStyle/>
        <a:p>
          <a:endParaRPr lang="en-US">
            <a:latin typeface="Times New Roman" panose="02020603050405020304" pitchFamily="18" charset="0"/>
            <a:cs typeface="Times New Roman" panose="02020603050405020304" pitchFamily="18" charset="0"/>
          </a:endParaRPr>
        </a:p>
      </dgm:t>
    </dgm:pt>
    <dgm:pt modelId="{4293A9A2-5392-4634-AEA4-234D70426F8D}">
      <dgm:prSet/>
      <dgm:spPr/>
      <dgm:t>
        <a:bodyPr/>
        <a:lstStyle/>
        <a:p>
          <a:r>
            <a:rPr lang="en-US">
              <a:latin typeface="Times New Roman" panose="02020603050405020304" pitchFamily="18" charset="0"/>
              <a:cs typeface="Times New Roman" panose="02020603050405020304" pitchFamily="18" charset="0"/>
            </a:rPr>
            <a:t>As long as TP is positive, AP is positive</a:t>
          </a:r>
        </a:p>
      </dgm:t>
    </dgm:pt>
    <dgm:pt modelId="{E03FF879-7C5B-48D0-9361-D425565BECCA}" type="parTrans" cxnId="{F6EE564C-006A-4FF4-BD75-582A5979F91E}">
      <dgm:prSet/>
      <dgm:spPr/>
      <dgm:t>
        <a:bodyPr/>
        <a:lstStyle/>
        <a:p>
          <a:endParaRPr lang="en-US">
            <a:latin typeface="Times New Roman" panose="02020603050405020304" pitchFamily="18" charset="0"/>
            <a:cs typeface="Times New Roman" panose="02020603050405020304" pitchFamily="18" charset="0"/>
          </a:endParaRPr>
        </a:p>
      </dgm:t>
    </dgm:pt>
    <dgm:pt modelId="{4F2284FA-2DCB-4CEB-91FC-C686E21E746C}" type="sibTrans" cxnId="{F6EE564C-006A-4FF4-BD75-582A5979F91E}">
      <dgm:prSet/>
      <dgm:spPr/>
      <dgm:t>
        <a:bodyPr/>
        <a:lstStyle/>
        <a:p>
          <a:endParaRPr lang="en-US">
            <a:latin typeface="Times New Roman" panose="02020603050405020304" pitchFamily="18" charset="0"/>
            <a:cs typeface="Times New Roman" panose="02020603050405020304" pitchFamily="18" charset="0"/>
          </a:endParaRPr>
        </a:p>
      </dgm:t>
    </dgm:pt>
    <dgm:pt modelId="{85366D9F-C3F4-4D24-A6CC-7BFB1B643FCE}">
      <dgm:prSet/>
      <dgm:spPr/>
      <dgm:t>
        <a:bodyPr/>
        <a:lstStyle/>
        <a:p>
          <a:r>
            <a:rPr lang="en-US">
              <a:latin typeface="Times New Roman" panose="02020603050405020304" pitchFamily="18" charset="0"/>
              <a:cs typeface="Times New Roman" panose="02020603050405020304" pitchFamily="18" charset="0"/>
            </a:rPr>
            <a:t>AP and MP are inverted U-shaped curve</a:t>
          </a:r>
        </a:p>
      </dgm:t>
    </dgm:pt>
    <dgm:pt modelId="{8BFE47D4-206E-4B45-98FA-72462C07FFB7}" type="parTrans" cxnId="{A6B83502-006B-482A-A5F7-65C1FF305CBB}">
      <dgm:prSet/>
      <dgm:spPr/>
      <dgm:t>
        <a:bodyPr/>
        <a:lstStyle/>
        <a:p>
          <a:endParaRPr lang="en-US">
            <a:latin typeface="Times New Roman" panose="02020603050405020304" pitchFamily="18" charset="0"/>
            <a:cs typeface="Times New Roman" panose="02020603050405020304" pitchFamily="18" charset="0"/>
          </a:endParaRPr>
        </a:p>
      </dgm:t>
    </dgm:pt>
    <dgm:pt modelId="{52BEEAC8-EFAA-4050-8331-D0710721CE94}" type="sibTrans" cxnId="{A6B83502-006B-482A-A5F7-65C1FF305CBB}">
      <dgm:prSet/>
      <dgm:spPr/>
      <dgm:t>
        <a:bodyPr/>
        <a:lstStyle/>
        <a:p>
          <a:endParaRPr lang="en-US">
            <a:latin typeface="Times New Roman" panose="02020603050405020304" pitchFamily="18" charset="0"/>
            <a:cs typeface="Times New Roman" panose="02020603050405020304" pitchFamily="18" charset="0"/>
          </a:endParaRPr>
        </a:p>
      </dgm:t>
    </dgm:pt>
    <dgm:pt modelId="{E0E14EE9-BAFC-42F1-98DD-8FA8D88C26AA}">
      <dgm:prSet/>
      <dgm:spPr/>
      <dgm:t>
        <a:bodyPr/>
        <a:lstStyle/>
        <a:p>
          <a:r>
            <a:rPr lang="en-US">
              <a:latin typeface="Times New Roman" panose="02020603050405020304" pitchFamily="18" charset="0"/>
              <a:cs typeface="Times New Roman" panose="02020603050405020304" pitchFamily="18" charset="0"/>
            </a:rPr>
            <a:t>MP cuts AP at its maximum point and at that point, MP=AP</a:t>
          </a:r>
        </a:p>
      </dgm:t>
    </dgm:pt>
    <dgm:pt modelId="{BEA2E715-9CC4-461B-BA01-59AA1327158D}" type="parTrans" cxnId="{94B203DB-159A-4B42-A54A-044B05E760BB}">
      <dgm:prSet/>
      <dgm:spPr/>
      <dgm:t>
        <a:bodyPr/>
        <a:lstStyle/>
        <a:p>
          <a:endParaRPr lang="en-US">
            <a:latin typeface="Times New Roman" panose="02020603050405020304" pitchFamily="18" charset="0"/>
            <a:cs typeface="Times New Roman" panose="02020603050405020304" pitchFamily="18" charset="0"/>
          </a:endParaRPr>
        </a:p>
      </dgm:t>
    </dgm:pt>
    <dgm:pt modelId="{65DC4FA2-2073-4BB8-BD19-9035BB02C193}" type="sibTrans" cxnId="{94B203DB-159A-4B42-A54A-044B05E760BB}">
      <dgm:prSet/>
      <dgm:spPr/>
      <dgm:t>
        <a:bodyPr/>
        <a:lstStyle/>
        <a:p>
          <a:endParaRPr lang="en-US">
            <a:latin typeface="Times New Roman" panose="02020603050405020304" pitchFamily="18" charset="0"/>
            <a:cs typeface="Times New Roman" panose="02020603050405020304" pitchFamily="18" charset="0"/>
          </a:endParaRPr>
        </a:p>
      </dgm:t>
    </dgm:pt>
    <dgm:pt modelId="{52582E47-E206-4DC5-AE07-C94841AB1EFA}" type="pres">
      <dgm:prSet presAssocID="{14B4E2C9-4F07-4B38-8F66-6A118EA6783A}" presName="vert0" presStyleCnt="0">
        <dgm:presLayoutVars>
          <dgm:dir/>
          <dgm:animOne val="branch"/>
          <dgm:animLvl val="lvl"/>
        </dgm:presLayoutVars>
      </dgm:prSet>
      <dgm:spPr/>
    </dgm:pt>
    <dgm:pt modelId="{74915DE2-7FC5-454C-B74B-3F8B1576AFEF}" type="pres">
      <dgm:prSet presAssocID="{63F6C5B9-5F91-40A9-830C-5402FA9834D9}" presName="thickLine" presStyleLbl="alignNode1" presStyleIdx="0" presStyleCnt="6"/>
      <dgm:spPr/>
    </dgm:pt>
    <dgm:pt modelId="{94509132-CC60-4E18-B1FF-100E4ABA3E30}" type="pres">
      <dgm:prSet presAssocID="{63F6C5B9-5F91-40A9-830C-5402FA9834D9}" presName="horz1" presStyleCnt="0"/>
      <dgm:spPr/>
    </dgm:pt>
    <dgm:pt modelId="{869212A1-2A14-4216-B7D8-B5E1F2DF0027}" type="pres">
      <dgm:prSet presAssocID="{63F6C5B9-5F91-40A9-830C-5402FA9834D9}" presName="tx1" presStyleLbl="revTx" presStyleIdx="0" presStyleCnt="6"/>
      <dgm:spPr/>
    </dgm:pt>
    <dgm:pt modelId="{DE73562F-665C-41DB-AB53-D5E4BC7D1BB9}" type="pres">
      <dgm:prSet presAssocID="{63F6C5B9-5F91-40A9-830C-5402FA9834D9}" presName="vert1" presStyleCnt="0"/>
      <dgm:spPr/>
    </dgm:pt>
    <dgm:pt modelId="{87D6F68E-2E0C-40EE-9442-78D4509E036D}" type="pres">
      <dgm:prSet presAssocID="{F0E40BD4-2809-407D-BAA1-4C0780DC9313}" presName="thickLine" presStyleLbl="alignNode1" presStyleIdx="1" presStyleCnt="6"/>
      <dgm:spPr/>
    </dgm:pt>
    <dgm:pt modelId="{F37E7376-1F24-4F71-8E40-C1CFDF95842F}" type="pres">
      <dgm:prSet presAssocID="{F0E40BD4-2809-407D-BAA1-4C0780DC9313}" presName="horz1" presStyleCnt="0"/>
      <dgm:spPr/>
    </dgm:pt>
    <dgm:pt modelId="{36C2499D-93D2-4A80-8A2B-4C51096D0DB5}" type="pres">
      <dgm:prSet presAssocID="{F0E40BD4-2809-407D-BAA1-4C0780DC9313}" presName="tx1" presStyleLbl="revTx" presStyleIdx="1" presStyleCnt="6"/>
      <dgm:spPr/>
    </dgm:pt>
    <dgm:pt modelId="{06101F93-6DC0-4182-A81A-4D61F3F8198B}" type="pres">
      <dgm:prSet presAssocID="{F0E40BD4-2809-407D-BAA1-4C0780DC9313}" presName="vert1" presStyleCnt="0"/>
      <dgm:spPr/>
    </dgm:pt>
    <dgm:pt modelId="{B5725540-327F-4D7F-A58A-19932EA84A00}" type="pres">
      <dgm:prSet presAssocID="{3232BA31-A869-4204-9E90-698AEFD42024}" presName="thickLine" presStyleLbl="alignNode1" presStyleIdx="2" presStyleCnt="6"/>
      <dgm:spPr/>
    </dgm:pt>
    <dgm:pt modelId="{4D2E8439-24AF-4E57-9164-1FF47DA079B8}" type="pres">
      <dgm:prSet presAssocID="{3232BA31-A869-4204-9E90-698AEFD42024}" presName="horz1" presStyleCnt="0"/>
      <dgm:spPr/>
    </dgm:pt>
    <dgm:pt modelId="{991084A0-9B3B-42CA-AD1B-F1D52A914B5C}" type="pres">
      <dgm:prSet presAssocID="{3232BA31-A869-4204-9E90-698AEFD42024}" presName="tx1" presStyleLbl="revTx" presStyleIdx="2" presStyleCnt="6"/>
      <dgm:spPr/>
    </dgm:pt>
    <dgm:pt modelId="{0ACA1BAD-81B5-47FE-B34C-BBF4E9D32DA8}" type="pres">
      <dgm:prSet presAssocID="{3232BA31-A869-4204-9E90-698AEFD42024}" presName="vert1" presStyleCnt="0"/>
      <dgm:spPr/>
    </dgm:pt>
    <dgm:pt modelId="{E0212E8D-5EC9-40C5-80FA-4C228422F6C4}" type="pres">
      <dgm:prSet presAssocID="{4293A9A2-5392-4634-AEA4-234D70426F8D}" presName="thickLine" presStyleLbl="alignNode1" presStyleIdx="3" presStyleCnt="6"/>
      <dgm:spPr/>
    </dgm:pt>
    <dgm:pt modelId="{26057ED8-FDB0-4FEF-9D50-01F1066DFB7F}" type="pres">
      <dgm:prSet presAssocID="{4293A9A2-5392-4634-AEA4-234D70426F8D}" presName="horz1" presStyleCnt="0"/>
      <dgm:spPr/>
    </dgm:pt>
    <dgm:pt modelId="{FE4DD4A7-4E90-42C2-A2B2-EADC9CFC8A6C}" type="pres">
      <dgm:prSet presAssocID="{4293A9A2-5392-4634-AEA4-234D70426F8D}" presName="tx1" presStyleLbl="revTx" presStyleIdx="3" presStyleCnt="6"/>
      <dgm:spPr/>
    </dgm:pt>
    <dgm:pt modelId="{5C45F258-0344-416C-AD32-39D46ED1F0E1}" type="pres">
      <dgm:prSet presAssocID="{4293A9A2-5392-4634-AEA4-234D70426F8D}" presName="vert1" presStyleCnt="0"/>
      <dgm:spPr/>
    </dgm:pt>
    <dgm:pt modelId="{7C658C4C-1A7E-4E7B-9E5C-9B663DBAF30C}" type="pres">
      <dgm:prSet presAssocID="{85366D9F-C3F4-4D24-A6CC-7BFB1B643FCE}" presName="thickLine" presStyleLbl="alignNode1" presStyleIdx="4" presStyleCnt="6"/>
      <dgm:spPr/>
    </dgm:pt>
    <dgm:pt modelId="{94DB921A-538E-4956-BC6F-2B7DAAB21916}" type="pres">
      <dgm:prSet presAssocID="{85366D9F-C3F4-4D24-A6CC-7BFB1B643FCE}" presName="horz1" presStyleCnt="0"/>
      <dgm:spPr/>
    </dgm:pt>
    <dgm:pt modelId="{CE67AE47-797A-49D6-A910-DEBE59C4C028}" type="pres">
      <dgm:prSet presAssocID="{85366D9F-C3F4-4D24-A6CC-7BFB1B643FCE}" presName="tx1" presStyleLbl="revTx" presStyleIdx="4" presStyleCnt="6"/>
      <dgm:spPr/>
    </dgm:pt>
    <dgm:pt modelId="{2E2E5925-FA8E-4DF7-B609-C40AC1B6C671}" type="pres">
      <dgm:prSet presAssocID="{85366D9F-C3F4-4D24-A6CC-7BFB1B643FCE}" presName="vert1" presStyleCnt="0"/>
      <dgm:spPr/>
    </dgm:pt>
    <dgm:pt modelId="{AB022D38-56AF-402F-860A-A2CE6A797400}" type="pres">
      <dgm:prSet presAssocID="{E0E14EE9-BAFC-42F1-98DD-8FA8D88C26AA}" presName="thickLine" presStyleLbl="alignNode1" presStyleIdx="5" presStyleCnt="6"/>
      <dgm:spPr/>
    </dgm:pt>
    <dgm:pt modelId="{04D04B22-9DD7-4A06-9E5C-24AD65560FDE}" type="pres">
      <dgm:prSet presAssocID="{E0E14EE9-BAFC-42F1-98DD-8FA8D88C26AA}" presName="horz1" presStyleCnt="0"/>
      <dgm:spPr/>
    </dgm:pt>
    <dgm:pt modelId="{D022C15F-1956-4DE0-8957-348E0A572232}" type="pres">
      <dgm:prSet presAssocID="{E0E14EE9-BAFC-42F1-98DD-8FA8D88C26AA}" presName="tx1" presStyleLbl="revTx" presStyleIdx="5" presStyleCnt="6"/>
      <dgm:spPr/>
    </dgm:pt>
    <dgm:pt modelId="{B9EABB66-D389-4538-9CED-AED11A96D065}" type="pres">
      <dgm:prSet presAssocID="{E0E14EE9-BAFC-42F1-98DD-8FA8D88C26AA}" presName="vert1" presStyleCnt="0"/>
      <dgm:spPr/>
    </dgm:pt>
  </dgm:ptLst>
  <dgm:cxnLst>
    <dgm:cxn modelId="{A6B83502-006B-482A-A5F7-65C1FF305CBB}" srcId="{14B4E2C9-4F07-4B38-8F66-6A118EA6783A}" destId="{85366D9F-C3F4-4D24-A6CC-7BFB1B643FCE}" srcOrd="4" destOrd="0" parTransId="{8BFE47D4-206E-4B45-98FA-72462C07FFB7}" sibTransId="{52BEEAC8-EFAA-4050-8331-D0710721CE94}"/>
    <dgm:cxn modelId="{4FA77613-5288-4230-9AB0-D9F29F02C163}" srcId="{14B4E2C9-4F07-4B38-8F66-6A118EA6783A}" destId="{F0E40BD4-2809-407D-BAA1-4C0780DC9313}" srcOrd="1" destOrd="0" parTransId="{58725ED8-75DC-4AE5-8166-C074C0EADDFE}" sibTransId="{D984CF44-05BC-45FE-9E8B-720A62C2AA06}"/>
    <dgm:cxn modelId="{01E6293F-E7B8-4F0B-B85D-FA7D1353C565}" type="presOf" srcId="{63F6C5B9-5F91-40A9-830C-5402FA9834D9}" destId="{869212A1-2A14-4216-B7D8-B5E1F2DF0027}" srcOrd="0" destOrd="0" presId="urn:microsoft.com/office/officeart/2008/layout/LinedList"/>
    <dgm:cxn modelId="{F6EE564C-006A-4FF4-BD75-582A5979F91E}" srcId="{14B4E2C9-4F07-4B38-8F66-6A118EA6783A}" destId="{4293A9A2-5392-4634-AEA4-234D70426F8D}" srcOrd="3" destOrd="0" parTransId="{E03FF879-7C5B-48D0-9361-D425565BECCA}" sibTransId="{4F2284FA-2DCB-4CEB-91FC-C686E21E746C}"/>
    <dgm:cxn modelId="{C2CF1E70-6E92-4B97-8CE6-55B21B840462}" srcId="{14B4E2C9-4F07-4B38-8F66-6A118EA6783A}" destId="{63F6C5B9-5F91-40A9-830C-5402FA9834D9}" srcOrd="0" destOrd="0" parTransId="{126F700C-08AD-4D0B-9EE9-80675A69694E}" sibTransId="{8635CEA3-26AB-411F-B51A-94D259C61F74}"/>
    <dgm:cxn modelId="{29B32673-39EA-4A9B-8A61-2B419358AE27}" type="presOf" srcId="{3232BA31-A869-4204-9E90-698AEFD42024}" destId="{991084A0-9B3B-42CA-AD1B-F1D52A914B5C}" srcOrd="0" destOrd="0" presId="urn:microsoft.com/office/officeart/2008/layout/LinedList"/>
    <dgm:cxn modelId="{380E2F7E-BC2F-44DA-9EE3-891B1F2E131F}" type="presOf" srcId="{E0E14EE9-BAFC-42F1-98DD-8FA8D88C26AA}" destId="{D022C15F-1956-4DE0-8957-348E0A572232}" srcOrd="0" destOrd="0" presId="urn:microsoft.com/office/officeart/2008/layout/LinedList"/>
    <dgm:cxn modelId="{AA410E81-8C20-4D5F-A02E-D321D7DDCE82}" srcId="{14B4E2C9-4F07-4B38-8F66-6A118EA6783A}" destId="{3232BA31-A869-4204-9E90-698AEFD42024}" srcOrd="2" destOrd="0" parTransId="{329B1206-397D-4CE3-A0D3-4250B733A39C}" sibTransId="{695A390B-2CED-464A-89DB-4CCCF3B477DA}"/>
    <dgm:cxn modelId="{06ACA289-F26B-435E-9DA8-2EC472DBE371}" type="presOf" srcId="{4293A9A2-5392-4634-AEA4-234D70426F8D}" destId="{FE4DD4A7-4E90-42C2-A2B2-EADC9CFC8A6C}" srcOrd="0" destOrd="0" presId="urn:microsoft.com/office/officeart/2008/layout/LinedList"/>
    <dgm:cxn modelId="{428D3B95-368E-4B2E-942F-2C885EE9DAED}" type="presOf" srcId="{14B4E2C9-4F07-4B38-8F66-6A118EA6783A}" destId="{52582E47-E206-4DC5-AE07-C94841AB1EFA}" srcOrd="0" destOrd="0" presId="urn:microsoft.com/office/officeart/2008/layout/LinedList"/>
    <dgm:cxn modelId="{200F4CCA-B29D-4357-AA6B-94C8A6036508}" type="presOf" srcId="{85366D9F-C3F4-4D24-A6CC-7BFB1B643FCE}" destId="{CE67AE47-797A-49D6-A910-DEBE59C4C028}" srcOrd="0" destOrd="0" presId="urn:microsoft.com/office/officeart/2008/layout/LinedList"/>
    <dgm:cxn modelId="{94B203DB-159A-4B42-A54A-044B05E760BB}" srcId="{14B4E2C9-4F07-4B38-8F66-6A118EA6783A}" destId="{E0E14EE9-BAFC-42F1-98DD-8FA8D88C26AA}" srcOrd="5" destOrd="0" parTransId="{BEA2E715-9CC4-461B-BA01-59AA1327158D}" sibTransId="{65DC4FA2-2073-4BB8-BD19-9035BB02C193}"/>
    <dgm:cxn modelId="{CAC441FC-0617-431B-976B-006DE8A4B08D}" type="presOf" srcId="{F0E40BD4-2809-407D-BAA1-4C0780DC9313}" destId="{36C2499D-93D2-4A80-8A2B-4C51096D0DB5}" srcOrd="0" destOrd="0" presId="urn:microsoft.com/office/officeart/2008/layout/LinedList"/>
    <dgm:cxn modelId="{DA66F011-96C6-4189-B8EC-02B0DA60B358}" type="presParOf" srcId="{52582E47-E206-4DC5-AE07-C94841AB1EFA}" destId="{74915DE2-7FC5-454C-B74B-3F8B1576AFEF}" srcOrd="0" destOrd="0" presId="urn:microsoft.com/office/officeart/2008/layout/LinedList"/>
    <dgm:cxn modelId="{A07FF0D2-F6CC-4802-A446-A673BA500128}" type="presParOf" srcId="{52582E47-E206-4DC5-AE07-C94841AB1EFA}" destId="{94509132-CC60-4E18-B1FF-100E4ABA3E30}" srcOrd="1" destOrd="0" presId="urn:microsoft.com/office/officeart/2008/layout/LinedList"/>
    <dgm:cxn modelId="{8F363114-7A15-4816-89AB-8869C7E13CEB}" type="presParOf" srcId="{94509132-CC60-4E18-B1FF-100E4ABA3E30}" destId="{869212A1-2A14-4216-B7D8-B5E1F2DF0027}" srcOrd="0" destOrd="0" presId="urn:microsoft.com/office/officeart/2008/layout/LinedList"/>
    <dgm:cxn modelId="{A1A94EFA-FFE8-44D5-8F35-B71DFEFACE7F}" type="presParOf" srcId="{94509132-CC60-4E18-B1FF-100E4ABA3E30}" destId="{DE73562F-665C-41DB-AB53-D5E4BC7D1BB9}" srcOrd="1" destOrd="0" presId="urn:microsoft.com/office/officeart/2008/layout/LinedList"/>
    <dgm:cxn modelId="{4F39F2F8-7B85-437D-A8EB-51C4897B3290}" type="presParOf" srcId="{52582E47-E206-4DC5-AE07-C94841AB1EFA}" destId="{87D6F68E-2E0C-40EE-9442-78D4509E036D}" srcOrd="2" destOrd="0" presId="urn:microsoft.com/office/officeart/2008/layout/LinedList"/>
    <dgm:cxn modelId="{B3F93680-A2E3-4F75-B611-B24EB6962483}" type="presParOf" srcId="{52582E47-E206-4DC5-AE07-C94841AB1EFA}" destId="{F37E7376-1F24-4F71-8E40-C1CFDF95842F}" srcOrd="3" destOrd="0" presId="urn:microsoft.com/office/officeart/2008/layout/LinedList"/>
    <dgm:cxn modelId="{74EA1B67-DEED-4313-88EA-3C3469235904}" type="presParOf" srcId="{F37E7376-1F24-4F71-8E40-C1CFDF95842F}" destId="{36C2499D-93D2-4A80-8A2B-4C51096D0DB5}" srcOrd="0" destOrd="0" presId="urn:microsoft.com/office/officeart/2008/layout/LinedList"/>
    <dgm:cxn modelId="{7E9F68F5-9C99-4DA8-9C41-3D36D952F31D}" type="presParOf" srcId="{F37E7376-1F24-4F71-8E40-C1CFDF95842F}" destId="{06101F93-6DC0-4182-A81A-4D61F3F8198B}" srcOrd="1" destOrd="0" presId="urn:microsoft.com/office/officeart/2008/layout/LinedList"/>
    <dgm:cxn modelId="{CE0B0286-B2A4-4A5D-B6CE-DDAEC43B5EB9}" type="presParOf" srcId="{52582E47-E206-4DC5-AE07-C94841AB1EFA}" destId="{B5725540-327F-4D7F-A58A-19932EA84A00}" srcOrd="4" destOrd="0" presId="urn:microsoft.com/office/officeart/2008/layout/LinedList"/>
    <dgm:cxn modelId="{43E471C8-1950-46AE-B49B-B69118339FD9}" type="presParOf" srcId="{52582E47-E206-4DC5-AE07-C94841AB1EFA}" destId="{4D2E8439-24AF-4E57-9164-1FF47DA079B8}" srcOrd="5" destOrd="0" presId="urn:microsoft.com/office/officeart/2008/layout/LinedList"/>
    <dgm:cxn modelId="{CE3B059E-CACF-4431-B288-7417C3E0449E}" type="presParOf" srcId="{4D2E8439-24AF-4E57-9164-1FF47DA079B8}" destId="{991084A0-9B3B-42CA-AD1B-F1D52A914B5C}" srcOrd="0" destOrd="0" presId="urn:microsoft.com/office/officeart/2008/layout/LinedList"/>
    <dgm:cxn modelId="{C3A272E6-0282-41B6-A5D6-2F61DAD58234}" type="presParOf" srcId="{4D2E8439-24AF-4E57-9164-1FF47DA079B8}" destId="{0ACA1BAD-81B5-47FE-B34C-BBF4E9D32DA8}" srcOrd="1" destOrd="0" presId="urn:microsoft.com/office/officeart/2008/layout/LinedList"/>
    <dgm:cxn modelId="{5B216FDC-756D-4143-9662-CA5BC86A51A9}" type="presParOf" srcId="{52582E47-E206-4DC5-AE07-C94841AB1EFA}" destId="{E0212E8D-5EC9-40C5-80FA-4C228422F6C4}" srcOrd="6" destOrd="0" presId="urn:microsoft.com/office/officeart/2008/layout/LinedList"/>
    <dgm:cxn modelId="{05E9CCFC-99E4-4CC9-9E79-6315C5C11121}" type="presParOf" srcId="{52582E47-E206-4DC5-AE07-C94841AB1EFA}" destId="{26057ED8-FDB0-4FEF-9D50-01F1066DFB7F}" srcOrd="7" destOrd="0" presId="urn:microsoft.com/office/officeart/2008/layout/LinedList"/>
    <dgm:cxn modelId="{DC4ACCE1-12AC-4AC7-89F6-6B6C7568ABC6}" type="presParOf" srcId="{26057ED8-FDB0-4FEF-9D50-01F1066DFB7F}" destId="{FE4DD4A7-4E90-42C2-A2B2-EADC9CFC8A6C}" srcOrd="0" destOrd="0" presId="urn:microsoft.com/office/officeart/2008/layout/LinedList"/>
    <dgm:cxn modelId="{64A78857-D138-41EC-9AA2-9D7630182517}" type="presParOf" srcId="{26057ED8-FDB0-4FEF-9D50-01F1066DFB7F}" destId="{5C45F258-0344-416C-AD32-39D46ED1F0E1}" srcOrd="1" destOrd="0" presId="urn:microsoft.com/office/officeart/2008/layout/LinedList"/>
    <dgm:cxn modelId="{2CCA74C1-7A24-4E3E-A150-B2F663634324}" type="presParOf" srcId="{52582E47-E206-4DC5-AE07-C94841AB1EFA}" destId="{7C658C4C-1A7E-4E7B-9E5C-9B663DBAF30C}" srcOrd="8" destOrd="0" presId="urn:microsoft.com/office/officeart/2008/layout/LinedList"/>
    <dgm:cxn modelId="{0C4B4548-88F9-4221-AF19-B226F9950EE2}" type="presParOf" srcId="{52582E47-E206-4DC5-AE07-C94841AB1EFA}" destId="{94DB921A-538E-4956-BC6F-2B7DAAB21916}" srcOrd="9" destOrd="0" presId="urn:microsoft.com/office/officeart/2008/layout/LinedList"/>
    <dgm:cxn modelId="{EA26800D-C4FF-4056-B2BC-4E453594B54B}" type="presParOf" srcId="{94DB921A-538E-4956-BC6F-2B7DAAB21916}" destId="{CE67AE47-797A-49D6-A910-DEBE59C4C028}" srcOrd="0" destOrd="0" presId="urn:microsoft.com/office/officeart/2008/layout/LinedList"/>
    <dgm:cxn modelId="{65739B22-FE30-4D7F-BF5A-593794140382}" type="presParOf" srcId="{94DB921A-538E-4956-BC6F-2B7DAAB21916}" destId="{2E2E5925-FA8E-4DF7-B609-C40AC1B6C671}" srcOrd="1" destOrd="0" presId="urn:microsoft.com/office/officeart/2008/layout/LinedList"/>
    <dgm:cxn modelId="{1DA48111-3A52-46BF-9639-F16B7B8BEACB}" type="presParOf" srcId="{52582E47-E206-4DC5-AE07-C94841AB1EFA}" destId="{AB022D38-56AF-402F-860A-A2CE6A797400}" srcOrd="10" destOrd="0" presId="urn:microsoft.com/office/officeart/2008/layout/LinedList"/>
    <dgm:cxn modelId="{7E52C015-701B-4E11-B1F8-9C6C6FF4B570}" type="presParOf" srcId="{52582E47-E206-4DC5-AE07-C94841AB1EFA}" destId="{04D04B22-9DD7-4A06-9E5C-24AD65560FDE}" srcOrd="11" destOrd="0" presId="urn:microsoft.com/office/officeart/2008/layout/LinedList"/>
    <dgm:cxn modelId="{17DCE565-787A-43BA-9756-118B05216F65}" type="presParOf" srcId="{04D04B22-9DD7-4A06-9E5C-24AD65560FDE}" destId="{D022C15F-1956-4DE0-8957-348E0A572232}" srcOrd="0" destOrd="0" presId="urn:microsoft.com/office/officeart/2008/layout/LinedList"/>
    <dgm:cxn modelId="{08F67D5F-FA76-4FB6-9498-56FE990FAB75}" type="presParOf" srcId="{04D04B22-9DD7-4A06-9E5C-24AD65560FDE}" destId="{B9EABB66-D389-4538-9CED-AED11A96D06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3721B8-83CC-4D47-BFB3-628625721C40}" type="doc">
      <dgm:prSet loTypeId="urn:microsoft.com/office/officeart/2005/8/layout/hList1" loCatId="list" qsTypeId="urn:microsoft.com/office/officeart/2005/8/quickstyle/simple1#1" qsCatId="simple" csTypeId="urn:microsoft.com/office/officeart/2005/8/colors/colorful5#1" csCatId="colorful"/>
      <dgm:spPr/>
      <dgm:t>
        <a:bodyPr/>
        <a:lstStyle/>
        <a:p>
          <a:endParaRPr lang="en-US"/>
        </a:p>
      </dgm:t>
    </dgm:pt>
    <dgm:pt modelId="{1D726FFE-449A-41A0-8117-872F73905F34}">
      <dgm:prSet custT="1"/>
      <dgm:spPr/>
      <dgm:t>
        <a:bodyPr/>
        <a:lstStyle/>
        <a:p>
          <a:r>
            <a:rPr lang="en-US" sz="3600" b="1">
              <a:latin typeface="Times New Roman" panose="02020603050405020304" pitchFamily="18" charset="0"/>
              <a:cs typeface="Times New Roman" panose="02020603050405020304" pitchFamily="18" charset="0"/>
            </a:rPr>
            <a:t>Fixed costs </a:t>
          </a:r>
          <a:endParaRPr lang="en-US" sz="3600">
            <a:latin typeface="Times New Roman" panose="02020603050405020304" pitchFamily="18" charset="0"/>
            <a:cs typeface="Times New Roman" panose="02020603050405020304" pitchFamily="18" charset="0"/>
          </a:endParaRPr>
        </a:p>
      </dgm:t>
    </dgm:pt>
    <dgm:pt modelId="{F8A81E48-B1AD-4422-82B1-1AAF89870800}" type="parTrans" cxnId="{6DB1A5A1-1845-4FEF-B3B6-DCE4B1C01A04}">
      <dgm:prSet/>
      <dgm:spPr/>
      <dgm:t>
        <a:bodyPr/>
        <a:lstStyle/>
        <a:p>
          <a:endParaRPr lang="en-US" sz="3600">
            <a:latin typeface="Times New Roman" panose="02020603050405020304" pitchFamily="18" charset="0"/>
            <a:cs typeface="Times New Roman" panose="02020603050405020304" pitchFamily="18" charset="0"/>
          </a:endParaRPr>
        </a:p>
      </dgm:t>
    </dgm:pt>
    <dgm:pt modelId="{BD8F4723-31C8-44E3-B83B-2097796B6384}" type="sibTrans" cxnId="{6DB1A5A1-1845-4FEF-B3B6-DCE4B1C01A04}">
      <dgm:prSet/>
      <dgm:spPr/>
      <dgm:t>
        <a:bodyPr/>
        <a:lstStyle/>
        <a:p>
          <a:endParaRPr lang="en-US" sz="3600">
            <a:latin typeface="Times New Roman" panose="02020603050405020304" pitchFamily="18" charset="0"/>
            <a:cs typeface="Times New Roman" panose="02020603050405020304" pitchFamily="18" charset="0"/>
          </a:endParaRPr>
        </a:p>
      </dgm:t>
    </dgm:pt>
    <dgm:pt modelId="{3D2E146C-FAA7-42F5-961F-0C20852184DD}">
      <dgm:prSet custT="1"/>
      <dgm:spPr/>
      <dgm:t>
        <a:bodyPr/>
        <a:lstStyle/>
        <a:p>
          <a:r>
            <a:rPr lang="en-US" sz="3600">
              <a:latin typeface="Times New Roman" panose="02020603050405020304" pitchFamily="18" charset="0"/>
              <a:cs typeface="Times New Roman" panose="02020603050405020304" pitchFamily="18" charset="0"/>
            </a:rPr>
            <a:t>Costs of a firm’s fixed inputs</a:t>
          </a:r>
        </a:p>
      </dgm:t>
    </dgm:pt>
    <dgm:pt modelId="{249EF10C-D80E-4697-AD3C-75BEA9A0AB3D}" type="parTrans" cxnId="{92E7D589-4694-40B9-896B-4380A6299CA0}">
      <dgm:prSet/>
      <dgm:spPr/>
      <dgm:t>
        <a:bodyPr/>
        <a:lstStyle/>
        <a:p>
          <a:endParaRPr lang="en-US" sz="3600">
            <a:latin typeface="Times New Roman" panose="02020603050405020304" pitchFamily="18" charset="0"/>
            <a:cs typeface="Times New Roman" panose="02020603050405020304" pitchFamily="18" charset="0"/>
          </a:endParaRPr>
        </a:p>
      </dgm:t>
    </dgm:pt>
    <dgm:pt modelId="{A7A495A4-D096-4F37-94C5-AB88EDEDA50D}" type="sibTrans" cxnId="{92E7D589-4694-40B9-896B-4380A6299CA0}">
      <dgm:prSet/>
      <dgm:spPr/>
      <dgm:t>
        <a:bodyPr/>
        <a:lstStyle/>
        <a:p>
          <a:endParaRPr lang="en-US" sz="3600">
            <a:latin typeface="Times New Roman" panose="02020603050405020304" pitchFamily="18" charset="0"/>
            <a:cs typeface="Times New Roman" panose="02020603050405020304" pitchFamily="18" charset="0"/>
          </a:endParaRPr>
        </a:p>
      </dgm:t>
    </dgm:pt>
    <dgm:pt modelId="{314BCC59-6810-4081-9FA4-9D75EBDEA16D}">
      <dgm:prSet custT="1"/>
      <dgm:spPr/>
      <dgm:t>
        <a:bodyPr/>
        <a:lstStyle/>
        <a:p>
          <a:r>
            <a:rPr lang="en-US" sz="3600" b="1">
              <a:latin typeface="Times New Roman" panose="02020603050405020304" pitchFamily="18" charset="0"/>
              <a:cs typeface="Times New Roman" panose="02020603050405020304" pitchFamily="18" charset="0"/>
            </a:rPr>
            <a:t>Variable costs </a:t>
          </a:r>
          <a:endParaRPr lang="en-US" sz="3600">
            <a:latin typeface="Times New Roman" panose="02020603050405020304" pitchFamily="18" charset="0"/>
            <a:cs typeface="Times New Roman" panose="02020603050405020304" pitchFamily="18" charset="0"/>
          </a:endParaRPr>
        </a:p>
      </dgm:t>
    </dgm:pt>
    <dgm:pt modelId="{AEC194D1-DEFA-47E9-A06F-8474A125A3C3}" type="parTrans" cxnId="{693D3968-18B5-4B93-BD5B-7CD806D8E351}">
      <dgm:prSet/>
      <dgm:spPr/>
      <dgm:t>
        <a:bodyPr/>
        <a:lstStyle/>
        <a:p>
          <a:endParaRPr lang="en-US" sz="3600">
            <a:latin typeface="Times New Roman" panose="02020603050405020304" pitchFamily="18" charset="0"/>
            <a:cs typeface="Times New Roman" panose="02020603050405020304" pitchFamily="18" charset="0"/>
          </a:endParaRPr>
        </a:p>
      </dgm:t>
    </dgm:pt>
    <dgm:pt modelId="{01BA0936-7130-4F67-8D96-FC09C08A68BC}" type="sibTrans" cxnId="{693D3968-18B5-4B93-BD5B-7CD806D8E351}">
      <dgm:prSet/>
      <dgm:spPr/>
      <dgm:t>
        <a:bodyPr/>
        <a:lstStyle/>
        <a:p>
          <a:endParaRPr lang="en-US" sz="3600">
            <a:latin typeface="Times New Roman" panose="02020603050405020304" pitchFamily="18" charset="0"/>
            <a:cs typeface="Times New Roman" panose="02020603050405020304" pitchFamily="18" charset="0"/>
          </a:endParaRPr>
        </a:p>
      </dgm:t>
    </dgm:pt>
    <dgm:pt modelId="{F86325C4-FE47-498F-8B45-619D49FA09EE}">
      <dgm:prSet custT="1"/>
      <dgm:spPr/>
      <dgm:t>
        <a:bodyPr/>
        <a:lstStyle/>
        <a:p>
          <a:r>
            <a:rPr lang="en-US" sz="3600">
              <a:latin typeface="Times New Roman" panose="02020603050405020304" pitchFamily="18" charset="0"/>
              <a:cs typeface="Times New Roman" panose="02020603050405020304" pitchFamily="18" charset="0"/>
            </a:rPr>
            <a:t>Costs of obtaining the firm’s variable inputs</a:t>
          </a:r>
        </a:p>
      </dgm:t>
    </dgm:pt>
    <dgm:pt modelId="{2EEB38CC-F626-4E80-84CF-A157412EE8B6}" type="parTrans" cxnId="{C08578DA-67ED-4F37-8CFD-B72AF99A22BF}">
      <dgm:prSet/>
      <dgm:spPr/>
      <dgm:t>
        <a:bodyPr/>
        <a:lstStyle/>
        <a:p>
          <a:endParaRPr lang="en-US" sz="3600">
            <a:latin typeface="Times New Roman" panose="02020603050405020304" pitchFamily="18" charset="0"/>
            <a:cs typeface="Times New Roman" panose="02020603050405020304" pitchFamily="18" charset="0"/>
          </a:endParaRPr>
        </a:p>
      </dgm:t>
    </dgm:pt>
    <dgm:pt modelId="{2F5C2EC8-961A-42C3-8FC1-39153775EB50}" type="sibTrans" cxnId="{C08578DA-67ED-4F37-8CFD-B72AF99A22BF}">
      <dgm:prSet/>
      <dgm:spPr/>
      <dgm:t>
        <a:bodyPr/>
        <a:lstStyle/>
        <a:p>
          <a:endParaRPr lang="en-US" sz="3600">
            <a:latin typeface="Times New Roman" panose="02020603050405020304" pitchFamily="18" charset="0"/>
            <a:cs typeface="Times New Roman" panose="02020603050405020304" pitchFamily="18" charset="0"/>
          </a:endParaRPr>
        </a:p>
      </dgm:t>
    </dgm:pt>
    <dgm:pt modelId="{AF4A2678-B921-8A4D-9091-1162E3BBEE1E}" type="pres">
      <dgm:prSet presAssocID="{CF3721B8-83CC-4D47-BFB3-628625721C40}" presName="Name0" presStyleCnt="0">
        <dgm:presLayoutVars>
          <dgm:dir/>
          <dgm:animLvl val="lvl"/>
          <dgm:resizeHandles val="exact"/>
        </dgm:presLayoutVars>
      </dgm:prSet>
      <dgm:spPr/>
    </dgm:pt>
    <dgm:pt modelId="{B8E1AFDF-1B14-9441-8313-225486345EAE}" type="pres">
      <dgm:prSet presAssocID="{1D726FFE-449A-41A0-8117-872F73905F34}" presName="composite" presStyleCnt="0"/>
      <dgm:spPr/>
    </dgm:pt>
    <dgm:pt modelId="{487E6861-F8C7-4041-8E66-2DC46E145C28}" type="pres">
      <dgm:prSet presAssocID="{1D726FFE-449A-41A0-8117-872F73905F34}" presName="parTx" presStyleLbl="alignNode1" presStyleIdx="0" presStyleCnt="2">
        <dgm:presLayoutVars>
          <dgm:chMax val="0"/>
          <dgm:chPref val="0"/>
          <dgm:bulletEnabled val="1"/>
        </dgm:presLayoutVars>
      </dgm:prSet>
      <dgm:spPr/>
    </dgm:pt>
    <dgm:pt modelId="{A9C1A363-5BB7-D54E-8572-1A8C307AC978}" type="pres">
      <dgm:prSet presAssocID="{1D726FFE-449A-41A0-8117-872F73905F34}" presName="desTx" presStyleLbl="alignAccFollowNode1" presStyleIdx="0" presStyleCnt="2">
        <dgm:presLayoutVars>
          <dgm:bulletEnabled val="1"/>
        </dgm:presLayoutVars>
      </dgm:prSet>
      <dgm:spPr/>
    </dgm:pt>
    <dgm:pt modelId="{183AD34C-4408-124B-A80E-15D210E6B6E7}" type="pres">
      <dgm:prSet presAssocID="{BD8F4723-31C8-44E3-B83B-2097796B6384}" presName="space" presStyleCnt="0"/>
      <dgm:spPr/>
    </dgm:pt>
    <dgm:pt modelId="{EC79EA54-8564-5146-9787-3C151D077B5E}" type="pres">
      <dgm:prSet presAssocID="{314BCC59-6810-4081-9FA4-9D75EBDEA16D}" presName="composite" presStyleCnt="0"/>
      <dgm:spPr/>
    </dgm:pt>
    <dgm:pt modelId="{332D4758-EB83-5D4F-93C0-9434E78CB802}" type="pres">
      <dgm:prSet presAssocID="{314BCC59-6810-4081-9FA4-9D75EBDEA16D}" presName="parTx" presStyleLbl="alignNode1" presStyleIdx="1" presStyleCnt="2">
        <dgm:presLayoutVars>
          <dgm:chMax val="0"/>
          <dgm:chPref val="0"/>
          <dgm:bulletEnabled val="1"/>
        </dgm:presLayoutVars>
      </dgm:prSet>
      <dgm:spPr/>
    </dgm:pt>
    <dgm:pt modelId="{CD5B8EEC-65B6-7F49-B198-C78527C22B5B}" type="pres">
      <dgm:prSet presAssocID="{314BCC59-6810-4081-9FA4-9D75EBDEA16D}" presName="desTx" presStyleLbl="alignAccFollowNode1" presStyleIdx="1" presStyleCnt="2">
        <dgm:presLayoutVars>
          <dgm:bulletEnabled val="1"/>
        </dgm:presLayoutVars>
      </dgm:prSet>
      <dgm:spPr/>
    </dgm:pt>
  </dgm:ptLst>
  <dgm:cxnLst>
    <dgm:cxn modelId="{DECA240D-7BF4-5945-BD74-3961B5DC1D06}" type="presOf" srcId="{F86325C4-FE47-498F-8B45-619D49FA09EE}" destId="{CD5B8EEC-65B6-7F49-B198-C78527C22B5B}" srcOrd="0" destOrd="0" presId="urn:microsoft.com/office/officeart/2005/8/layout/hList1"/>
    <dgm:cxn modelId="{60CB2C1C-20A6-8144-95F0-F8897A36817F}" type="presOf" srcId="{314BCC59-6810-4081-9FA4-9D75EBDEA16D}" destId="{332D4758-EB83-5D4F-93C0-9434E78CB802}" srcOrd="0" destOrd="0" presId="urn:microsoft.com/office/officeart/2005/8/layout/hList1"/>
    <dgm:cxn modelId="{3E40BE51-7354-C44D-8C1D-EECB05A080AE}" type="presOf" srcId="{CF3721B8-83CC-4D47-BFB3-628625721C40}" destId="{AF4A2678-B921-8A4D-9091-1162E3BBEE1E}" srcOrd="0" destOrd="0" presId="urn:microsoft.com/office/officeart/2005/8/layout/hList1"/>
    <dgm:cxn modelId="{0B7A3B63-E0B8-8C41-9F95-CFDD41B214A2}" type="presOf" srcId="{3D2E146C-FAA7-42F5-961F-0C20852184DD}" destId="{A9C1A363-5BB7-D54E-8572-1A8C307AC978}" srcOrd="0" destOrd="0" presId="urn:microsoft.com/office/officeart/2005/8/layout/hList1"/>
    <dgm:cxn modelId="{693D3968-18B5-4B93-BD5B-7CD806D8E351}" srcId="{CF3721B8-83CC-4D47-BFB3-628625721C40}" destId="{314BCC59-6810-4081-9FA4-9D75EBDEA16D}" srcOrd="1" destOrd="0" parTransId="{AEC194D1-DEFA-47E9-A06F-8474A125A3C3}" sibTransId="{01BA0936-7130-4F67-8D96-FC09C08A68BC}"/>
    <dgm:cxn modelId="{10B8DB7C-0D20-B84B-BD3E-6722ECCAE313}" type="presOf" srcId="{1D726FFE-449A-41A0-8117-872F73905F34}" destId="{487E6861-F8C7-4041-8E66-2DC46E145C28}" srcOrd="0" destOrd="0" presId="urn:microsoft.com/office/officeart/2005/8/layout/hList1"/>
    <dgm:cxn modelId="{92E7D589-4694-40B9-896B-4380A6299CA0}" srcId="{1D726FFE-449A-41A0-8117-872F73905F34}" destId="{3D2E146C-FAA7-42F5-961F-0C20852184DD}" srcOrd="0" destOrd="0" parTransId="{249EF10C-D80E-4697-AD3C-75BEA9A0AB3D}" sibTransId="{A7A495A4-D096-4F37-94C5-AB88EDEDA50D}"/>
    <dgm:cxn modelId="{6DB1A5A1-1845-4FEF-B3B6-DCE4B1C01A04}" srcId="{CF3721B8-83CC-4D47-BFB3-628625721C40}" destId="{1D726FFE-449A-41A0-8117-872F73905F34}" srcOrd="0" destOrd="0" parTransId="{F8A81E48-B1AD-4422-82B1-1AAF89870800}" sibTransId="{BD8F4723-31C8-44E3-B83B-2097796B6384}"/>
    <dgm:cxn modelId="{C08578DA-67ED-4F37-8CFD-B72AF99A22BF}" srcId="{314BCC59-6810-4081-9FA4-9D75EBDEA16D}" destId="{F86325C4-FE47-498F-8B45-619D49FA09EE}" srcOrd="0" destOrd="0" parTransId="{2EEB38CC-F626-4E80-84CF-A157412EE8B6}" sibTransId="{2F5C2EC8-961A-42C3-8FC1-39153775EB50}"/>
    <dgm:cxn modelId="{52BA9D76-0000-A24F-A81B-A7D040D3D7A3}" type="presParOf" srcId="{AF4A2678-B921-8A4D-9091-1162E3BBEE1E}" destId="{B8E1AFDF-1B14-9441-8313-225486345EAE}" srcOrd="0" destOrd="0" presId="urn:microsoft.com/office/officeart/2005/8/layout/hList1"/>
    <dgm:cxn modelId="{C7594C35-D38C-1F4D-B3C8-AC7919E445D1}" type="presParOf" srcId="{B8E1AFDF-1B14-9441-8313-225486345EAE}" destId="{487E6861-F8C7-4041-8E66-2DC46E145C28}" srcOrd="0" destOrd="0" presId="urn:microsoft.com/office/officeart/2005/8/layout/hList1"/>
    <dgm:cxn modelId="{0ED70A1F-70BD-A74C-AB83-2F8A037CBB67}" type="presParOf" srcId="{B8E1AFDF-1B14-9441-8313-225486345EAE}" destId="{A9C1A363-5BB7-D54E-8572-1A8C307AC978}" srcOrd="1" destOrd="0" presId="urn:microsoft.com/office/officeart/2005/8/layout/hList1"/>
    <dgm:cxn modelId="{A7676C2E-50FD-6F46-B769-C1F44D06E137}" type="presParOf" srcId="{AF4A2678-B921-8A4D-9091-1162E3BBEE1E}" destId="{183AD34C-4408-124B-A80E-15D210E6B6E7}" srcOrd="1" destOrd="0" presId="urn:microsoft.com/office/officeart/2005/8/layout/hList1"/>
    <dgm:cxn modelId="{FCAB7AFC-AE58-A942-86B4-42A370098641}" type="presParOf" srcId="{AF4A2678-B921-8A4D-9091-1162E3BBEE1E}" destId="{EC79EA54-8564-5146-9787-3C151D077B5E}" srcOrd="2" destOrd="0" presId="urn:microsoft.com/office/officeart/2005/8/layout/hList1"/>
    <dgm:cxn modelId="{3380C34F-5569-124D-B224-8701277C9D6C}" type="presParOf" srcId="{EC79EA54-8564-5146-9787-3C151D077B5E}" destId="{332D4758-EB83-5D4F-93C0-9434E78CB802}" srcOrd="0" destOrd="0" presId="urn:microsoft.com/office/officeart/2005/8/layout/hList1"/>
    <dgm:cxn modelId="{C819D6D1-B01E-2E48-AABE-3B919BA98644}" type="presParOf" srcId="{EC79EA54-8564-5146-9787-3C151D077B5E}" destId="{CD5B8EEC-65B6-7F49-B198-C78527C22B5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15DE2-7FC5-454C-B74B-3F8B1576AFEF}">
      <dsp:nvSpPr>
        <dsp:cNvPr id="0" name=""/>
        <dsp:cNvSpPr/>
      </dsp:nvSpPr>
      <dsp:spPr>
        <a:xfrm>
          <a:off x="0" y="2124"/>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9212A1-2A14-4216-B7D8-B5E1F2DF0027}">
      <dsp:nvSpPr>
        <dsp:cNvPr id="0" name=""/>
        <dsp:cNvSpPr/>
      </dsp:nvSpPr>
      <dsp:spPr>
        <a:xfrm>
          <a:off x="0" y="2124"/>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When AP is maximum, MP= AP</a:t>
          </a:r>
        </a:p>
      </dsp:txBody>
      <dsp:txXfrm>
        <a:off x="0" y="2124"/>
        <a:ext cx="5034454" cy="724514"/>
      </dsp:txXfrm>
    </dsp:sp>
    <dsp:sp modelId="{87D6F68E-2E0C-40EE-9442-78D4509E036D}">
      <dsp:nvSpPr>
        <dsp:cNvPr id="0" name=""/>
        <dsp:cNvSpPr/>
      </dsp:nvSpPr>
      <dsp:spPr>
        <a:xfrm>
          <a:off x="0" y="726639"/>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2499D-93D2-4A80-8A2B-4C51096D0DB5}">
      <dsp:nvSpPr>
        <dsp:cNvPr id="0" name=""/>
        <dsp:cNvSpPr/>
      </dsp:nvSpPr>
      <dsp:spPr>
        <a:xfrm>
          <a:off x="0" y="726639"/>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When TP is maximum, MP= 0</a:t>
          </a:r>
        </a:p>
      </dsp:txBody>
      <dsp:txXfrm>
        <a:off x="0" y="726639"/>
        <a:ext cx="5034454" cy="724514"/>
      </dsp:txXfrm>
    </dsp:sp>
    <dsp:sp modelId="{B5725540-327F-4D7F-A58A-19932EA84A00}">
      <dsp:nvSpPr>
        <dsp:cNvPr id="0" name=""/>
        <dsp:cNvSpPr/>
      </dsp:nvSpPr>
      <dsp:spPr>
        <a:xfrm>
          <a:off x="0" y="1451154"/>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084A0-9B3B-42CA-AD1B-F1D52A914B5C}">
      <dsp:nvSpPr>
        <dsp:cNvPr id="0" name=""/>
        <dsp:cNvSpPr/>
      </dsp:nvSpPr>
      <dsp:spPr>
        <a:xfrm>
          <a:off x="0" y="1451154"/>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When TP is falling, MP is negative</a:t>
          </a:r>
        </a:p>
      </dsp:txBody>
      <dsp:txXfrm>
        <a:off x="0" y="1451154"/>
        <a:ext cx="5034454" cy="724514"/>
      </dsp:txXfrm>
    </dsp:sp>
    <dsp:sp modelId="{E0212E8D-5EC9-40C5-80FA-4C228422F6C4}">
      <dsp:nvSpPr>
        <dsp:cNvPr id="0" name=""/>
        <dsp:cNvSpPr/>
      </dsp:nvSpPr>
      <dsp:spPr>
        <a:xfrm>
          <a:off x="0" y="2175669"/>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4DD4A7-4E90-42C2-A2B2-EADC9CFC8A6C}">
      <dsp:nvSpPr>
        <dsp:cNvPr id="0" name=""/>
        <dsp:cNvSpPr/>
      </dsp:nvSpPr>
      <dsp:spPr>
        <a:xfrm>
          <a:off x="0" y="2175669"/>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As long as TP is positive, AP is positive</a:t>
          </a:r>
        </a:p>
      </dsp:txBody>
      <dsp:txXfrm>
        <a:off x="0" y="2175669"/>
        <a:ext cx="5034454" cy="724514"/>
      </dsp:txXfrm>
    </dsp:sp>
    <dsp:sp modelId="{7C658C4C-1A7E-4E7B-9E5C-9B663DBAF30C}">
      <dsp:nvSpPr>
        <dsp:cNvPr id="0" name=""/>
        <dsp:cNvSpPr/>
      </dsp:nvSpPr>
      <dsp:spPr>
        <a:xfrm>
          <a:off x="0" y="2900183"/>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67AE47-797A-49D6-A910-DEBE59C4C028}">
      <dsp:nvSpPr>
        <dsp:cNvPr id="0" name=""/>
        <dsp:cNvSpPr/>
      </dsp:nvSpPr>
      <dsp:spPr>
        <a:xfrm>
          <a:off x="0" y="2900183"/>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AP and MP are inverted U-shaped curve</a:t>
          </a:r>
        </a:p>
      </dsp:txBody>
      <dsp:txXfrm>
        <a:off x="0" y="2900183"/>
        <a:ext cx="5034454" cy="724514"/>
      </dsp:txXfrm>
    </dsp:sp>
    <dsp:sp modelId="{AB022D38-56AF-402F-860A-A2CE6A797400}">
      <dsp:nvSpPr>
        <dsp:cNvPr id="0" name=""/>
        <dsp:cNvSpPr/>
      </dsp:nvSpPr>
      <dsp:spPr>
        <a:xfrm>
          <a:off x="0" y="3624698"/>
          <a:ext cx="503445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22C15F-1956-4DE0-8957-348E0A572232}">
      <dsp:nvSpPr>
        <dsp:cNvPr id="0" name=""/>
        <dsp:cNvSpPr/>
      </dsp:nvSpPr>
      <dsp:spPr>
        <a:xfrm>
          <a:off x="0" y="3624698"/>
          <a:ext cx="5034454"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MP cuts AP at its maximum point and at that point, MP=AP</a:t>
          </a:r>
        </a:p>
      </dsp:txBody>
      <dsp:txXfrm>
        <a:off x="0" y="3624698"/>
        <a:ext cx="5034454" cy="7245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E6861-F8C7-4041-8E66-2DC46E145C28}">
      <dsp:nvSpPr>
        <dsp:cNvPr id="0" name=""/>
        <dsp:cNvSpPr/>
      </dsp:nvSpPr>
      <dsp:spPr>
        <a:xfrm>
          <a:off x="49" y="1439"/>
          <a:ext cx="4728626" cy="1411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kern="1200">
              <a:latin typeface="Times New Roman" panose="02020603050405020304" pitchFamily="18" charset="0"/>
              <a:cs typeface="Times New Roman" panose="02020603050405020304" pitchFamily="18" charset="0"/>
            </a:rPr>
            <a:t>Fixed costs </a:t>
          </a:r>
          <a:endParaRPr lang="en-US" sz="3600" kern="1200">
            <a:latin typeface="Times New Roman" panose="02020603050405020304" pitchFamily="18" charset="0"/>
            <a:cs typeface="Times New Roman" panose="02020603050405020304" pitchFamily="18" charset="0"/>
          </a:endParaRPr>
        </a:p>
      </dsp:txBody>
      <dsp:txXfrm>
        <a:off x="49" y="1439"/>
        <a:ext cx="4728626" cy="1411200"/>
      </dsp:txXfrm>
    </dsp:sp>
    <dsp:sp modelId="{A9C1A363-5BB7-D54E-8572-1A8C307AC978}">
      <dsp:nvSpPr>
        <dsp:cNvPr id="0" name=""/>
        <dsp:cNvSpPr/>
      </dsp:nvSpPr>
      <dsp:spPr>
        <a:xfrm>
          <a:off x="49" y="1412640"/>
          <a:ext cx="4728626" cy="215208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l" defTabSz="1600200">
            <a:lnSpc>
              <a:spcPct val="90000"/>
            </a:lnSpc>
            <a:spcBef>
              <a:spcPct val="0"/>
            </a:spcBef>
            <a:spcAft>
              <a:spcPct val="15000"/>
            </a:spcAft>
            <a:buChar char="•"/>
          </a:pPr>
          <a:r>
            <a:rPr lang="en-US" sz="3600" kern="1200">
              <a:latin typeface="Times New Roman" panose="02020603050405020304" pitchFamily="18" charset="0"/>
              <a:cs typeface="Times New Roman" panose="02020603050405020304" pitchFamily="18" charset="0"/>
            </a:rPr>
            <a:t>Costs of a firm’s fixed inputs</a:t>
          </a:r>
        </a:p>
      </dsp:txBody>
      <dsp:txXfrm>
        <a:off x="49" y="1412640"/>
        <a:ext cx="4728626" cy="2152080"/>
      </dsp:txXfrm>
    </dsp:sp>
    <dsp:sp modelId="{332D4758-EB83-5D4F-93C0-9434E78CB802}">
      <dsp:nvSpPr>
        <dsp:cNvPr id="0" name=""/>
        <dsp:cNvSpPr/>
      </dsp:nvSpPr>
      <dsp:spPr>
        <a:xfrm>
          <a:off x="5390683" y="1439"/>
          <a:ext cx="4728626" cy="1411200"/>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kern="1200">
              <a:latin typeface="Times New Roman" panose="02020603050405020304" pitchFamily="18" charset="0"/>
              <a:cs typeface="Times New Roman" panose="02020603050405020304" pitchFamily="18" charset="0"/>
            </a:rPr>
            <a:t>Variable costs </a:t>
          </a:r>
          <a:endParaRPr lang="en-US" sz="3600" kern="1200">
            <a:latin typeface="Times New Roman" panose="02020603050405020304" pitchFamily="18" charset="0"/>
            <a:cs typeface="Times New Roman" panose="02020603050405020304" pitchFamily="18" charset="0"/>
          </a:endParaRPr>
        </a:p>
      </dsp:txBody>
      <dsp:txXfrm>
        <a:off x="5390683" y="1439"/>
        <a:ext cx="4728626" cy="1411200"/>
      </dsp:txXfrm>
    </dsp:sp>
    <dsp:sp modelId="{CD5B8EEC-65B6-7F49-B198-C78527C22B5B}">
      <dsp:nvSpPr>
        <dsp:cNvPr id="0" name=""/>
        <dsp:cNvSpPr/>
      </dsp:nvSpPr>
      <dsp:spPr>
        <a:xfrm>
          <a:off x="5390683" y="1412640"/>
          <a:ext cx="4728626" cy="2152080"/>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l" defTabSz="1600200">
            <a:lnSpc>
              <a:spcPct val="90000"/>
            </a:lnSpc>
            <a:spcBef>
              <a:spcPct val="0"/>
            </a:spcBef>
            <a:spcAft>
              <a:spcPct val="15000"/>
            </a:spcAft>
            <a:buChar char="•"/>
          </a:pPr>
          <a:r>
            <a:rPr lang="en-US" sz="3600" kern="1200">
              <a:latin typeface="Times New Roman" panose="02020603050405020304" pitchFamily="18" charset="0"/>
              <a:cs typeface="Times New Roman" panose="02020603050405020304" pitchFamily="18" charset="0"/>
            </a:rPr>
            <a:t>Costs of obtaining the firm’s variable inputs</a:t>
          </a:r>
        </a:p>
      </dsp:txBody>
      <dsp:txXfrm>
        <a:off x="5390683" y="1412640"/>
        <a:ext cx="4728626" cy="215208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BA05B-CF20-CD03-E78A-978F777AB2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0BF3EEF4-5E49-3DFF-157C-ADB8574A9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35121EFD-64DF-82F2-DDF2-D3039C1A35D7}"/>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3289C7DD-5965-92A7-4D71-EAC2AC77EEA6}"/>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0E298E74-0767-11A5-400D-3FF0793C6F30}"/>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4133430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BAE1-4B4E-AE44-19CC-427B7A5D4442}"/>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A1928DED-2BF9-58CF-700D-98A1495BD82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AFE66524-7A89-A91B-C6A4-E908F8919C4C}"/>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585B21B2-BE72-6466-C1C5-8B7AE015E0EA}"/>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3C58C12A-ADEA-5127-BC61-DFCA0EB5437D}"/>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37038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C0FE-C775-81E2-6245-E6B92222A6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A0906C85-8F18-7B96-B167-C3013BBAB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8DD6CB3-AD7E-734C-A1E2-D258121A4374}"/>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1A5BC357-9567-DD1D-B973-E8BF56E11D04}"/>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4575329E-ACAE-06C8-5126-2900A679C5B6}"/>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61241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F1E5E-0D61-E786-9CE0-3D1CF4F344D8}"/>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41540746-2DD8-9B0E-3CFC-DA8C8400274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424A00AA-F8CC-65FB-F8C7-B53076EDC30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1C7A9249-9512-359D-DF2D-EDED46584C4F}"/>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6" name="Footer Placeholder 5">
            <a:extLst>
              <a:ext uri="{FF2B5EF4-FFF2-40B4-BE49-F238E27FC236}">
                <a16:creationId xmlns:a16="http://schemas.microsoft.com/office/drawing/2014/main" id="{47EAA41C-B43A-990B-245C-67F9D76AC67F}"/>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942D1C1A-FCDC-EF12-2AE9-AE1CAF312792}"/>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306174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5E23-A1EC-30D2-3226-518F354FDF58}"/>
              </a:ext>
            </a:extLst>
          </p:cNvPr>
          <p:cNvSpPr>
            <a:spLocks noGrp="1"/>
          </p:cNvSpPr>
          <p:nvPr>
            <p:ph type="title"/>
          </p:nvPr>
        </p:nvSpPr>
        <p:spPr>
          <a:xfrm>
            <a:off x="839788" y="365125"/>
            <a:ext cx="105156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8369EE6B-556F-50A0-A8A7-62359EE2B1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4C0CB1-4A3B-30D4-4EF1-E95B4C43348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4E760A11-5276-2F14-338B-CBB1401209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FA01AC-9562-4331-FB9A-708C71113D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A7BC1721-0044-B459-C85F-BC9733B789F2}"/>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8" name="Footer Placeholder 7">
            <a:extLst>
              <a:ext uri="{FF2B5EF4-FFF2-40B4-BE49-F238E27FC236}">
                <a16:creationId xmlns:a16="http://schemas.microsoft.com/office/drawing/2014/main" id="{5FB0C8AE-7986-6435-28FC-C2D0E99404A0}"/>
              </a:ext>
            </a:extLst>
          </p:cNvPr>
          <p:cNvSpPr>
            <a:spLocks noGrp="1"/>
          </p:cNvSpPr>
          <p:nvPr>
            <p:ph type="ftr" sz="quarter" idx="11"/>
          </p:nvPr>
        </p:nvSpPr>
        <p:spPr/>
        <p:txBody>
          <a:bodyPr/>
          <a:lstStyle/>
          <a:p>
            <a:endParaRPr lang="en-LK"/>
          </a:p>
        </p:txBody>
      </p:sp>
      <p:sp>
        <p:nvSpPr>
          <p:cNvPr id="9" name="Slide Number Placeholder 8">
            <a:extLst>
              <a:ext uri="{FF2B5EF4-FFF2-40B4-BE49-F238E27FC236}">
                <a16:creationId xmlns:a16="http://schemas.microsoft.com/office/drawing/2014/main" id="{BE78B7DA-BBF0-7D3E-3BA1-E1E97D2AC7AF}"/>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83960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5C3E-94DA-431E-ECE0-F929D6294EDD}"/>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8169D156-36C9-D267-2D78-4038670FBDF7}"/>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4" name="Footer Placeholder 3">
            <a:extLst>
              <a:ext uri="{FF2B5EF4-FFF2-40B4-BE49-F238E27FC236}">
                <a16:creationId xmlns:a16="http://schemas.microsoft.com/office/drawing/2014/main" id="{C6D601CF-12D5-C2B7-9529-BB574A19FFB5}"/>
              </a:ext>
            </a:extLst>
          </p:cNvPr>
          <p:cNvSpPr>
            <a:spLocks noGrp="1"/>
          </p:cNvSpPr>
          <p:nvPr>
            <p:ph type="ftr" sz="quarter" idx="11"/>
          </p:nvPr>
        </p:nvSpPr>
        <p:spPr/>
        <p:txBody>
          <a:bodyPr/>
          <a:lstStyle/>
          <a:p>
            <a:endParaRPr lang="en-LK"/>
          </a:p>
        </p:txBody>
      </p:sp>
      <p:sp>
        <p:nvSpPr>
          <p:cNvPr id="5" name="Slide Number Placeholder 4">
            <a:extLst>
              <a:ext uri="{FF2B5EF4-FFF2-40B4-BE49-F238E27FC236}">
                <a16:creationId xmlns:a16="http://schemas.microsoft.com/office/drawing/2014/main" id="{A5CB0C6E-1873-08D7-E734-6DB1DBEC79D0}"/>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252786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1B80C9-BAD1-6424-8618-E80768E4C4A5}"/>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3" name="Footer Placeholder 2">
            <a:extLst>
              <a:ext uri="{FF2B5EF4-FFF2-40B4-BE49-F238E27FC236}">
                <a16:creationId xmlns:a16="http://schemas.microsoft.com/office/drawing/2014/main" id="{685FAA1E-75D1-C1BF-3C62-CFA550F42EBD}"/>
              </a:ext>
            </a:extLst>
          </p:cNvPr>
          <p:cNvSpPr>
            <a:spLocks noGrp="1"/>
          </p:cNvSpPr>
          <p:nvPr>
            <p:ph type="ftr" sz="quarter" idx="11"/>
          </p:nvPr>
        </p:nvSpPr>
        <p:spPr/>
        <p:txBody>
          <a:bodyPr/>
          <a:lstStyle/>
          <a:p>
            <a:endParaRPr lang="en-LK"/>
          </a:p>
        </p:txBody>
      </p:sp>
      <p:sp>
        <p:nvSpPr>
          <p:cNvPr id="4" name="Slide Number Placeholder 3">
            <a:extLst>
              <a:ext uri="{FF2B5EF4-FFF2-40B4-BE49-F238E27FC236}">
                <a16:creationId xmlns:a16="http://schemas.microsoft.com/office/drawing/2014/main" id="{4FD07369-8CF4-C342-C39C-8D57808E525D}"/>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12483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732D-8C93-B328-DDAC-79731F6FEE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782B1EB8-1E16-7259-7B58-E499C7F003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A5772B93-67D4-1DB1-9E51-0FE9A46AD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4372B9-6EB3-D608-49CF-3A6F25D06090}"/>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6" name="Footer Placeholder 5">
            <a:extLst>
              <a:ext uri="{FF2B5EF4-FFF2-40B4-BE49-F238E27FC236}">
                <a16:creationId xmlns:a16="http://schemas.microsoft.com/office/drawing/2014/main" id="{DE606B24-FF16-047E-F5BC-3D55312A6145}"/>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87A4DFE5-4746-FE84-7D68-F0E97DCE5911}"/>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534708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58136-4E6E-B497-D286-F1BB32893C7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57523F55-925D-B2C0-D3DE-3118DFE01D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F81570F5-3B4B-F57E-A06B-D17D80B68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AB91D64-BD72-9088-27A0-914E5ABBDCE5}"/>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6" name="Footer Placeholder 5">
            <a:extLst>
              <a:ext uri="{FF2B5EF4-FFF2-40B4-BE49-F238E27FC236}">
                <a16:creationId xmlns:a16="http://schemas.microsoft.com/office/drawing/2014/main" id="{E21D1085-6B52-257F-0694-4408C4CE1DC6}"/>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F6AF8D75-830B-6295-D004-028DE5DF49F8}"/>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1795359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EEF13-2718-0317-49A3-0EE03D5FE8DC}"/>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4608D626-0DF1-A8FB-E75F-2CDF51B21D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74E32EF5-D371-4D01-968F-E43501A52A97}"/>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C6D476ED-A9FB-F88E-0D20-1BB2F623E22B}"/>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FA7196E5-DA9F-7510-366D-1CAA5C896264}"/>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3624029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40BB8B-7CE7-5960-C768-7A061E5CFE6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B5151CE5-085A-3F0B-5614-838613837F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AFEA1234-9A1E-AAAF-FAD5-376B4B00DB60}"/>
              </a:ext>
            </a:extLst>
          </p:cNvPr>
          <p:cNvSpPr>
            <a:spLocks noGrp="1"/>
          </p:cNvSpPr>
          <p:nvPr>
            <p:ph type="dt" sz="half" idx="10"/>
          </p:nvPr>
        </p:nvSpPr>
        <p:spPr/>
        <p:txBody>
          <a:body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E89031BB-573A-F074-442F-6CF93199B269}"/>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9FAD4ED5-AD89-0AFB-8E3E-40B21EF4F6FC}"/>
              </a:ext>
            </a:extLst>
          </p:cNvPr>
          <p:cNvSpPr>
            <a:spLocks noGrp="1"/>
          </p:cNvSpPr>
          <p:nvPr>
            <p:ph type="sldNum" sz="quarter" idx="12"/>
          </p:nvPr>
        </p:nvSpPr>
        <p:spPr/>
        <p:txBody>
          <a:bodyPr/>
          <a:lstStyle/>
          <a:p>
            <a:fld id="{C7AD11EB-C24C-1747-B441-D4EBCF8DDBF8}" type="slidenum">
              <a:rPr lang="en-LK" smtClean="0"/>
              <a:t>‹#›</a:t>
            </a:fld>
            <a:endParaRPr lang="en-LK"/>
          </a:p>
        </p:txBody>
      </p:sp>
    </p:spTree>
    <p:extLst>
      <p:ext uri="{BB962C8B-B14F-4D97-AF65-F5344CB8AC3E}">
        <p14:creationId xmlns:p14="http://schemas.microsoft.com/office/powerpoint/2010/main" val="239394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21B5CC73-EAA9-C875-EF69-2BA23547B102}"/>
              </a:ext>
            </a:extLst>
          </p:cNvPr>
          <p:cNvSpPr>
            <a:spLocks noGrp="1"/>
          </p:cNvSpPr>
          <p:nvPr>
            <p:ph type="ftr" sz="quarter" idx="10"/>
          </p:nvPr>
        </p:nvSpPr>
        <p:spPr/>
        <p:txBody>
          <a:bodyPr/>
          <a:lstStyle>
            <a:lvl1pPr>
              <a:defRPr/>
            </a:lvl1pPr>
          </a:lstStyle>
          <a:p>
            <a:pPr>
              <a:defRPr/>
            </a:pPr>
            <a:endParaRPr lang="en-US" altLang="en-US"/>
          </a:p>
        </p:txBody>
      </p:sp>
      <p:sp>
        <p:nvSpPr>
          <p:cNvPr id="6" name="Slide Number Placeholder 6">
            <a:extLst>
              <a:ext uri="{FF2B5EF4-FFF2-40B4-BE49-F238E27FC236}">
                <a16:creationId xmlns:a16="http://schemas.microsoft.com/office/drawing/2014/main" id="{BF76C806-51A7-536F-B454-89C082E85CF2}"/>
              </a:ext>
            </a:extLst>
          </p:cNvPr>
          <p:cNvSpPr>
            <a:spLocks noGrp="1"/>
          </p:cNvSpPr>
          <p:nvPr>
            <p:ph type="sldNum" sz="quarter" idx="11"/>
          </p:nvPr>
        </p:nvSpPr>
        <p:spPr/>
        <p:txBody>
          <a:bodyPr/>
          <a:lstStyle>
            <a:lvl1pPr>
              <a:defRPr/>
            </a:lvl1pPr>
          </a:lstStyle>
          <a:p>
            <a:pPr>
              <a:defRPr/>
            </a:pPr>
            <a:fld id="{0CE86036-3F4D-B14D-9611-08B17D1DE9A1}" type="slidenum">
              <a:rPr lang="en-US" altLang="en-US"/>
              <a:pPr>
                <a:defRPr/>
              </a:pPr>
              <a:t>‹#›</a:t>
            </a:fld>
            <a:endParaRPr lang="en-US" altLang="en-US"/>
          </a:p>
        </p:txBody>
      </p:sp>
    </p:spTree>
    <p:extLst>
      <p:ext uri="{BB962C8B-B14F-4D97-AF65-F5344CB8AC3E}">
        <p14:creationId xmlns:p14="http://schemas.microsoft.com/office/powerpoint/2010/main" val="3768489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6">
            <a:extLst>
              <a:ext uri="{FF2B5EF4-FFF2-40B4-BE49-F238E27FC236}">
                <a16:creationId xmlns:a16="http://schemas.microsoft.com/office/drawing/2014/main" id="{D79224F8-0AB7-35DD-1E4B-092B6BC642C8}"/>
              </a:ext>
            </a:extLst>
          </p:cNvPr>
          <p:cNvSpPr>
            <a:spLocks noGrp="1"/>
          </p:cNvSpPr>
          <p:nvPr>
            <p:ph type="ftr" sz="quarter" idx="10"/>
          </p:nvPr>
        </p:nvSpPr>
        <p:spPr/>
        <p:txBody>
          <a:bodyPr/>
          <a:lstStyle>
            <a:lvl1pPr>
              <a:defRPr/>
            </a:lvl1pPr>
          </a:lstStyle>
          <a:p>
            <a:pPr>
              <a:defRPr/>
            </a:pPr>
            <a:endParaRPr lang="en-US" altLang="en-US"/>
          </a:p>
        </p:txBody>
      </p:sp>
      <p:sp>
        <p:nvSpPr>
          <p:cNvPr id="7" name="Slide Number Placeholder 7">
            <a:extLst>
              <a:ext uri="{FF2B5EF4-FFF2-40B4-BE49-F238E27FC236}">
                <a16:creationId xmlns:a16="http://schemas.microsoft.com/office/drawing/2014/main" id="{213AF032-FA91-1FDD-54AC-6F182362C14C}"/>
              </a:ext>
            </a:extLst>
          </p:cNvPr>
          <p:cNvSpPr>
            <a:spLocks noGrp="1"/>
          </p:cNvSpPr>
          <p:nvPr>
            <p:ph type="sldNum" sz="quarter" idx="11"/>
          </p:nvPr>
        </p:nvSpPr>
        <p:spPr/>
        <p:txBody>
          <a:bodyPr/>
          <a:lstStyle>
            <a:lvl1pPr>
              <a:defRPr/>
            </a:lvl1pPr>
          </a:lstStyle>
          <a:p>
            <a:pPr>
              <a:defRPr/>
            </a:pPr>
            <a:fld id="{EF114E53-3A02-3A47-8AAB-46E59EDED4F4}" type="slidenum">
              <a:rPr lang="en-US" altLang="en-US"/>
              <a:pPr>
                <a:defRPr/>
              </a:pPr>
              <a:t>‹#›</a:t>
            </a:fld>
            <a:endParaRPr lang="en-US" altLang="en-US"/>
          </a:p>
        </p:txBody>
      </p:sp>
    </p:spTree>
    <p:extLst>
      <p:ext uri="{BB962C8B-B14F-4D97-AF65-F5344CB8AC3E}">
        <p14:creationId xmlns:p14="http://schemas.microsoft.com/office/powerpoint/2010/main" val="4103547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EA2B35-E745-03D5-3798-0C49C39659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81EDD45E-D8A1-0B36-AE5F-9051C541E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698F9250-FF09-5827-C101-A8E30C472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F2629E-C494-5C4B-B3C6-2EB47F1A2380}" type="datetimeFigureOut">
              <a:rPr lang="en-LK" smtClean="0"/>
              <a:t>2026-09-28</a:t>
            </a:fld>
            <a:endParaRPr lang="en-LK"/>
          </a:p>
        </p:txBody>
      </p:sp>
      <p:sp>
        <p:nvSpPr>
          <p:cNvPr id="5" name="Footer Placeholder 4">
            <a:extLst>
              <a:ext uri="{FF2B5EF4-FFF2-40B4-BE49-F238E27FC236}">
                <a16:creationId xmlns:a16="http://schemas.microsoft.com/office/drawing/2014/main" id="{625F40F0-054B-1273-A4CC-407A0252B6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K"/>
          </a:p>
        </p:txBody>
      </p:sp>
      <p:sp>
        <p:nvSpPr>
          <p:cNvPr id="6" name="Slide Number Placeholder 5">
            <a:extLst>
              <a:ext uri="{FF2B5EF4-FFF2-40B4-BE49-F238E27FC236}">
                <a16:creationId xmlns:a16="http://schemas.microsoft.com/office/drawing/2014/main" id="{23720243-F263-A10A-585B-912EF31F2F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AD11EB-C24C-1747-B441-D4EBCF8DDBF8}" type="slidenum">
              <a:rPr lang="en-LK" smtClean="0"/>
              <a:t>‹#›</a:t>
            </a:fld>
            <a:endParaRPr lang="en-LK"/>
          </a:p>
        </p:txBody>
      </p:sp>
    </p:spTree>
    <p:extLst>
      <p:ext uri="{BB962C8B-B14F-4D97-AF65-F5344CB8AC3E}">
        <p14:creationId xmlns:p14="http://schemas.microsoft.com/office/powerpoint/2010/main" val="279657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5.emf"/><Relationship Id="rId7"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7.emf"/><Relationship Id="rId4" Type="http://schemas.openxmlformats.org/officeDocument/2006/relationships/oleObject" Target="../embeddings/oleObject5.bin"/><Relationship Id="rId9" Type="http://schemas.openxmlformats.org/officeDocument/2006/relationships/image" Target="../media/image9.emf"/></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oleObject" Target="../embeddings/oleObject11.bin"/></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2.bin"/><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2.emf"/><Relationship Id="rId2" Type="http://schemas.openxmlformats.org/officeDocument/2006/relationships/oleObject" Target="../embeddings/oleObject14.bin"/><Relationship Id="rId1" Type="http://schemas.openxmlformats.org/officeDocument/2006/relationships/slideLayout" Target="../slideLayouts/slideLayout13.xml"/><Relationship Id="rId6" Type="http://schemas.openxmlformats.org/officeDocument/2006/relationships/oleObject" Target="../embeddings/oleObject16.bin"/><Relationship Id="rId5" Type="http://schemas.openxmlformats.org/officeDocument/2006/relationships/image" Target="../media/image21.emf"/><Relationship Id="rId4" Type="http://schemas.openxmlformats.org/officeDocument/2006/relationships/oleObject" Target="../embeddings/oleObject15.bin"/></Relationships>
</file>

<file path=ppt/slides/_rels/slide4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7.bin"/><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9.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0.bin"/><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417" name="Freeform: Shape 17416">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419" name="Freeform: Shape 17418">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09" name="Rectangle 2">
            <a:extLst>
              <a:ext uri="{FF2B5EF4-FFF2-40B4-BE49-F238E27FC236}">
                <a16:creationId xmlns:a16="http://schemas.microsoft.com/office/drawing/2014/main" id="{8430A9D4-A707-2882-5C63-C90DEAE4812F}"/>
              </a:ext>
            </a:extLst>
          </p:cNvPr>
          <p:cNvSpPr>
            <a:spLocks noGrp="1" noChangeArrowheads="1"/>
          </p:cNvSpPr>
          <p:nvPr>
            <p:ph type="ctrTitle"/>
          </p:nvPr>
        </p:nvSpPr>
        <p:spPr>
          <a:xfrm>
            <a:off x="1524003" y="1999615"/>
            <a:ext cx="9144000" cy="2764028"/>
          </a:xfrm>
        </p:spPr>
        <p:txBody>
          <a:bodyPr anchor="ctr">
            <a:normAutofit/>
          </a:bodyPr>
          <a:lstStyle/>
          <a:p>
            <a:pPr eaLnBrk="1" hangingPunct="1"/>
            <a:r>
              <a:rPr lang="en-GB" altLang="en-US" sz="7200" b="1">
                <a:latin typeface="Times New Roman" panose="02020603050405020304" pitchFamily="18" charset="0"/>
                <a:cs typeface="Times New Roman" panose="02020603050405020304" pitchFamily="18" charset="0"/>
              </a:rPr>
              <a:t>Theory of Production and Cost</a:t>
            </a:r>
            <a:endParaRPr lang="en-US" altLang="en-US" sz="7200" b="1">
              <a:latin typeface="Times New Roman" panose="02020603050405020304" pitchFamily="18" charset="0"/>
              <a:cs typeface="Times New Roman" panose="02020603050405020304" pitchFamily="18" charset="0"/>
            </a:endParaRPr>
          </a:p>
        </p:txBody>
      </p:sp>
      <p:sp>
        <p:nvSpPr>
          <p:cNvPr id="17410" name="Rectangle 3">
            <a:extLst>
              <a:ext uri="{FF2B5EF4-FFF2-40B4-BE49-F238E27FC236}">
                <a16:creationId xmlns:a16="http://schemas.microsoft.com/office/drawing/2014/main" id="{AE01DD30-58C0-DC3C-E5D9-293556CBC86E}"/>
              </a:ext>
            </a:extLst>
          </p:cNvPr>
          <p:cNvSpPr>
            <a:spLocks noGrp="1" noChangeArrowheads="1"/>
          </p:cNvSpPr>
          <p:nvPr>
            <p:ph type="subTitle" idx="1"/>
          </p:nvPr>
        </p:nvSpPr>
        <p:spPr>
          <a:xfrm>
            <a:off x="1966912" y="5745166"/>
            <a:ext cx="8258176" cy="631825"/>
          </a:xfrm>
        </p:spPr>
        <p:txBody>
          <a:bodyPr anchor="ctr">
            <a:normAutofit/>
          </a:bodyPr>
          <a:lstStyle/>
          <a:p>
            <a:pPr eaLnBrk="1" hangingPunct="1"/>
            <a:r>
              <a:rPr lang="en-LK" altLang="en-LK" sz="1500" b="1">
                <a:latin typeface="Times New Roman" panose="02020603050405020304" pitchFamily="18" charset="0"/>
                <a:cs typeface="Times New Roman" panose="02020603050405020304" pitchFamily="18" charset="0"/>
              </a:rPr>
              <a:t>Chathuranga Adhikari</a:t>
            </a:r>
          </a:p>
          <a:p>
            <a:pPr eaLnBrk="1" hangingPunct="1"/>
            <a:r>
              <a:rPr lang="en-LK" altLang="en-LK" sz="1500" b="1">
                <a:latin typeface="Times New Roman" panose="02020603050405020304" pitchFamily="18" charset="0"/>
                <a:cs typeface="Times New Roman" panose="02020603050405020304" pitchFamily="18" charset="0"/>
              </a:rPr>
              <a:t> </a:t>
            </a:r>
            <a:r>
              <a:rPr lang="en-LK" altLang="en-LK" sz="1500" b="1" i="1">
                <a:latin typeface="Times New Roman" panose="02020603050405020304" pitchFamily="18" charset="0"/>
                <a:cs typeface="Times New Roman" panose="02020603050405020304" pitchFamily="18" charset="0"/>
              </a:rPr>
              <a:t>B.com (Sp)(Hons), M.com</a:t>
            </a:r>
            <a:endParaRPr lang="en-LK" altLang="en-LK" sz="1500" i="1"/>
          </a:p>
          <a:p>
            <a:pPr eaLnBrk="1" hangingPunct="1"/>
            <a:endParaRPr lang="en-US" altLang="en-US" sz="1500"/>
          </a:p>
        </p:txBody>
      </p:sp>
      <p:sp>
        <p:nvSpPr>
          <p:cNvPr id="17421" name="Rectangle 17420">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39" name="Rectangle 18438">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3" name="Rectangle 2">
            <a:extLst>
              <a:ext uri="{FF2B5EF4-FFF2-40B4-BE49-F238E27FC236}">
                <a16:creationId xmlns:a16="http://schemas.microsoft.com/office/drawing/2014/main" id="{6CA66332-514F-7CA1-4F8D-35828FD73890}"/>
              </a:ext>
            </a:extLst>
          </p:cNvPr>
          <p:cNvSpPr>
            <a:spLocks noGrp="1" noChangeArrowheads="1"/>
          </p:cNvSpPr>
          <p:nvPr>
            <p:ph type="title"/>
          </p:nvPr>
        </p:nvSpPr>
        <p:spPr>
          <a:xfrm>
            <a:off x="841248" y="426720"/>
            <a:ext cx="10506456" cy="1919141"/>
          </a:xfrm>
        </p:spPr>
        <p:txBody>
          <a:bodyPr anchor="b">
            <a:normAutofit/>
          </a:bodyPr>
          <a:lstStyle/>
          <a:p>
            <a:pPr eaLnBrk="1" hangingPunct="1"/>
            <a:r>
              <a:rPr lang="en-US" altLang="en-US" sz="6000" b="1">
                <a:latin typeface="Times New Roman" panose="02020603050405020304" pitchFamily="18" charset="0"/>
                <a:cs typeface="Times New Roman" panose="02020603050405020304" pitchFamily="18" charset="0"/>
              </a:rPr>
              <a:t>Theory of the Firm: Production &amp; Cost</a:t>
            </a:r>
          </a:p>
        </p:txBody>
      </p:sp>
      <p:sp>
        <p:nvSpPr>
          <p:cNvPr id="18441" name="Rectangle 1844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443" name="Rectangle 1844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434" name="Rectangle 3">
            <a:extLst>
              <a:ext uri="{FF2B5EF4-FFF2-40B4-BE49-F238E27FC236}">
                <a16:creationId xmlns:a16="http://schemas.microsoft.com/office/drawing/2014/main" id="{728B3B3E-F998-337F-982C-2FE41BF3CD44}"/>
              </a:ext>
            </a:extLst>
          </p:cNvPr>
          <p:cNvSpPr>
            <a:spLocks noGrp="1"/>
          </p:cNvSpPr>
          <p:nvPr>
            <p:ph idx="1"/>
          </p:nvPr>
        </p:nvSpPr>
        <p:spPr>
          <a:xfrm>
            <a:off x="841248" y="3337269"/>
            <a:ext cx="10509504" cy="2905686"/>
          </a:xfrm>
        </p:spPr>
        <p:txBody>
          <a:bodyPr rtlCol="0">
            <a:normAutofit/>
          </a:bodyPr>
          <a:lstStyle/>
          <a:p>
            <a:pPr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 A business firm is an organization, owned and operated by private individuals, that specializes in production.</a:t>
            </a:r>
          </a:p>
          <a:p>
            <a:pPr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 Production is the process of combining inputs to make outputs.</a:t>
            </a:r>
          </a:p>
          <a:p>
            <a:pPr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The firm buys inputs from households or other firms and sells its output to consumers.</a:t>
            </a:r>
          </a:p>
          <a:p>
            <a:pPr marL="0" indent="0" eaLnBrk="1" fontAlgn="auto" hangingPunct="1">
              <a:spcAft>
                <a:spcPts val="0"/>
              </a:spcAft>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b="1" dirty="0">
                <a:solidFill>
                  <a:srgbClr val="FF0000"/>
                </a:solidFill>
                <a:latin typeface="Times New Roman" panose="02020603050405020304" pitchFamily="18" charset="0"/>
                <a:cs typeface="Times New Roman" panose="02020603050405020304" pitchFamily="18" charset="0"/>
              </a:rPr>
              <a:t>Profit of the firm = Sales revenue – Input costs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7" name="Rectangle 2">
            <a:extLst>
              <a:ext uri="{FF2B5EF4-FFF2-40B4-BE49-F238E27FC236}">
                <a16:creationId xmlns:a16="http://schemas.microsoft.com/office/drawing/2014/main" id="{53FC94EC-DA31-C06E-BA47-4ECE5AA642AD}"/>
              </a:ext>
            </a:extLst>
          </p:cNvPr>
          <p:cNvSpPr>
            <a:spLocks noGrp="1" noChangeArrowheads="1"/>
          </p:cNvSpPr>
          <p:nvPr>
            <p:ph type="title"/>
          </p:nvPr>
        </p:nvSpPr>
        <p:spPr>
          <a:xfrm>
            <a:off x="841248" y="426720"/>
            <a:ext cx="10506456" cy="1919141"/>
          </a:xfrm>
        </p:spPr>
        <p:txBody>
          <a:bodyPr anchor="b">
            <a:normAutofit/>
          </a:bodyPr>
          <a:lstStyle/>
          <a:p>
            <a:pPr eaLnBrk="1" hangingPunct="1"/>
            <a:r>
              <a:rPr lang="en-US" altLang="en-US" sz="6000" b="1">
                <a:latin typeface="Times New Roman" panose="02020603050405020304" pitchFamily="18" charset="0"/>
                <a:cs typeface="Times New Roman" panose="02020603050405020304" pitchFamily="18" charset="0"/>
              </a:rPr>
              <a:t>The Nature of the Firm</a:t>
            </a:r>
          </a:p>
        </p:txBody>
      </p:sp>
      <p:sp>
        <p:nvSpPr>
          <p:cNvPr id="19465" name="Rectangle 1946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467" name="Rectangle 1946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458" name="Rectangle 3">
            <a:extLst>
              <a:ext uri="{FF2B5EF4-FFF2-40B4-BE49-F238E27FC236}">
                <a16:creationId xmlns:a16="http://schemas.microsoft.com/office/drawing/2014/main" id="{48D739EC-D4FB-4608-31E1-31CCE1309169}"/>
              </a:ext>
            </a:extLst>
          </p:cNvPr>
          <p:cNvSpPr>
            <a:spLocks noGrp="1" noChangeArrowheads="1"/>
          </p:cNvSpPr>
          <p:nvPr>
            <p:ph idx="1"/>
          </p:nvPr>
        </p:nvSpPr>
        <p:spPr>
          <a:xfrm>
            <a:off x="841248" y="3337268"/>
            <a:ext cx="10509504" cy="3429291"/>
          </a:xfrm>
        </p:spPr>
        <p:txBody>
          <a:bodyPr>
            <a:normAutofit/>
          </a:bodyPr>
          <a:lstStyle/>
          <a:p>
            <a:pPr marL="0" indent="0" eaLnBrk="1" hangingPunct="1">
              <a:buFont typeface="Calibri" panose="020F0502020204030204" pitchFamily="34" charset="0"/>
              <a:buNone/>
            </a:pPr>
            <a:r>
              <a:rPr lang="en-US" altLang="en-US" sz="2400" b="1">
                <a:latin typeface="Times New Roman" panose="02020603050405020304" pitchFamily="18" charset="0"/>
                <a:cs typeface="Times New Roman" panose="02020603050405020304" pitchFamily="18" charset="0"/>
              </a:rPr>
              <a:t>Every firm must deal with the government</a:t>
            </a:r>
          </a:p>
          <a:p>
            <a:pPr marL="0" indent="0" eaLnBrk="1" hangingPunct="1">
              <a:buFont typeface="Calibri" panose="020F0502020204030204" pitchFamily="34" charset="0"/>
              <a:buNone/>
            </a:pPr>
            <a:endParaRPr lang="en-US" altLang="en-US" sz="2400" b="1">
              <a:latin typeface="Times New Roman" panose="02020603050405020304" pitchFamily="18" charset="0"/>
              <a:cs typeface="Times New Roman" panose="02020603050405020304" pitchFamily="18" charset="0"/>
            </a:endParaRPr>
          </a:p>
          <a:p>
            <a:pPr lvl="1" eaLnBrk="1" hangingPunct="1"/>
            <a:r>
              <a:rPr lang="en-US" altLang="en-US">
                <a:latin typeface="Times New Roman" panose="02020603050405020304" pitchFamily="18" charset="0"/>
                <a:cs typeface="Times New Roman" panose="02020603050405020304" pitchFamily="18" charset="0"/>
              </a:rPr>
              <a:t>Pays taxes to the government</a:t>
            </a:r>
          </a:p>
          <a:p>
            <a:pPr lvl="1" eaLnBrk="1" hangingPunct="1"/>
            <a:r>
              <a:rPr lang="en-US" altLang="en-US">
                <a:latin typeface="Times New Roman" panose="02020603050405020304" pitchFamily="18" charset="0"/>
                <a:cs typeface="Times New Roman" panose="02020603050405020304" pitchFamily="18" charset="0"/>
              </a:rPr>
              <a:t>Must obey government laws and regulations</a:t>
            </a:r>
          </a:p>
          <a:p>
            <a:pPr lvl="1" eaLnBrk="1" hangingPunct="1"/>
            <a:r>
              <a:rPr lang="en-US" altLang="en-US">
                <a:latin typeface="Times New Roman" panose="02020603050405020304" pitchFamily="18" charset="0"/>
                <a:cs typeface="Times New Roman" panose="02020603050405020304" pitchFamily="18" charset="0"/>
              </a:rPr>
              <a:t>Receive valuable services from the government</a:t>
            </a:r>
          </a:p>
          <a:p>
            <a:pPr lvl="3"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Public capital</a:t>
            </a:r>
          </a:p>
          <a:p>
            <a:pPr lvl="3"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Legal systems</a:t>
            </a:r>
          </a:p>
          <a:p>
            <a:pPr lvl="3"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Financial systems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ACD4D188-92DE-211C-0236-8B56183DB7D6}"/>
              </a:ext>
            </a:extLst>
          </p:cNvPr>
          <p:cNvSpPr>
            <a:spLocks noGrp="1" noChangeArrowheads="1"/>
          </p:cNvSpPr>
          <p:nvPr>
            <p:ph type="title"/>
          </p:nvPr>
        </p:nvSpPr>
        <p:spPr>
          <a:xfrm>
            <a:off x="381000" y="287338"/>
            <a:ext cx="7543800" cy="817562"/>
          </a:xfrm>
        </p:spPr>
        <p:txBody>
          <a:bodyPr/>
          <a:lstStyle/>
          <a:p>
            <a:pPr eaLnBrk="1" hangingPunct="1"/>
            <a:r>
              <a:rPr lang="en-US" altLang="en-US" sz="4000" b="1">
                <a:latin typeface="Times New Roman" panose="02020603050405020304" pitchFamily="18" charset="0"/>
                <a:cs typeface="Times New Roman" panose="02020603050405020304" pitchFamily="18" charset="0"/>
              </a:rPr>
              <a:t>The Firm and Its Environment</a:t>
            </a:r>
          </a:p>
        </p:txBody>
      </p:sp>
      <p:sp>
        <p:nvSpPr>
          <p:cNvPr id="20482" name="Line 3">
            <a:extLst>
              <a:ext uri="{FF2B5EF4-FFF2-40B4-BE49-F238E27FC236}">
                <a16:creationId xmlns:a16="http://schemas.microsoft.com/office/drawing/2014/main" id="{2AC966A1-D349-1D50-3732-5A497338E915}"/>
              </a:ext>
            </a:extLst>
          </p:cNvPr>
          <p:cNvSpPr>
            <a:spLocks noChangeShapeType="1"/>
          </p:cNvSpPr>
          <p:nvPr/>
        </p:nvSpPr>
        <p:spPr bwMode="auto">
          <a:xfrm>
            <a:off x="6099175" y="3860800"/>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0483" name="Line 4">
            <a:extLst>
              <a:ext uri="{FF2B5EF4-FFF2-40B4-BE49-F238E27FC236}">
                <a16:creationId xmlns:a16="http://schemas.microsoft.com/office/drawing/2014/main" id="{5F632600-FA6A-DC10-F2E1-6EA6B7AF06AC}"/>
              </a:ext>
            </a:extLst>
          </p:cNvPr>
          <p:cNvSpPr>
            <a:spLocks noChangeShapeType="1"/>
          </p:cNvSpPr>
          <p:nvPr/>
        </p:nvSpPr>
        <p:spPr bwMode="auto">
          <a:xfrm>
            <a:off x="6092825" y="20478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0484" name="Line 5">
            <a:extLst>
              <a:ext uri="{FF2B5EF4-FFF2-40B4-BE49-F238E27FC236}">
                <a16:creationId xmlns:a16="http://schemas.microsoft.com/office/drawing/2014/main" id="{934AEE9E-39AB-DF10-AB6E-99ABAD5D761D}"/>
              </a:ext>
            </a:extLst>
          </p:cNvPr>
          <p:cNvSpPr>
            <a:spLocks noChangeShapeType="1"/>
          </p:cNvSpPr>
          <p:nvPr/>
        </p:nvSpPr>
        <p:spPr bwMode="auto">
          <a:xfrm>
            <a:off x="2805113" y="386080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0485" name="Line 6">
            <a:extLst>
              <a:ext uri="{FF2B5EF4-FFF2-40B4-BE49-F238E27FC236}">
                <a16:creationId xmlns:a16="http://schemas.microsoft.com/office/drawing/2014/main" id="{8F1A654D-F76A-D4E5-EB28-555C12D77830}"/>
              </a:ext>
            </a:extLst>
          </p:cNvPr>
          <p:cNvSpPr>
            <a:spLocks noChangeShapeType="1"/>
          </p:cNvSpPr>
          <p:nvPr/>
        </p:nvSpPr>
        <p:spPr bwMode="auto">
          <a:xfrm>
            <a:off x="9393238" y="3849688"/>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0486" name="Line 7">
            <a:extLst>
              <a:ext uri="{FF2B5EF4-FFF2-40B4-BE49-F238E27FC236}">
                <a16:creationId xmlns:a16="http://schemas.microsoft.com/office/drawing/2014/main" id="{28716492-C297-4A7C-8B09-88BC5D5537A1}"/>
              </a:ext>
            </a:extLst>
          </p:cNvPr>
          <p:cNvSpPr>
            <a:spLocks noChangeShapeType="1"/>
          </p:cNvSpPr>
          <p:nvPr/>
        </p:nvSpPr>
        <p:spPr bwMode="auto">
          <a:xfrm>
            <a:off x="6099175" y="5678488"/>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nvGrpSpPr>
          <p:cNvPr id="85000" name="Group 8">
            <a:extLst>
              <a:ext uri="{FF2B5EF4-FFF2-40B4-BE49-F238E27FC236}">
                <a16:creationId xmlns:a16="http://schemas.microsoft.com/office/drawing/2014/main" id="{989C44F9-901C-D75C-4D58-17AEB1B1804C}"/>
              </a:ext>
            </a:extLst>
          </p:cNvPr>
          <p:cNvGrpSpPr>
            <a:grpSpLocks/>
          </p:cNvGrpSpPr>
          <p:nvPr/>
        </p:nvGrpSpPr>
        <p:grpSpPr bwMode="auto">
          <a:xfrm>
            <a:off x="2016125" y="1646238"/>
            <a:ext cx="8159750" cy="4433887"/>
            <a:chOff x="310" y="1037"/>
            <a:chExt cx="5140" cy="2793"/>
          </a:xfrm>
        </p:grpSpPr>
        <p:grpSp>
          <p:nvGrpSpPr>
            <p:cNvPr id="20488" name="Group 9">
              <a:extLst>
                <a:ext uri="{FF2B5EF4-FFF2-40B4-BE49-F238E27FC236}">
                  <a16:creationId xmlns:a16="http://schemas.microsoft.com/office/drawing/2014/main" id="{6484DF4F-6210-47C7-2490-9982FB15662E}"/>
                </a:ext>
              </a:extLst>
            </p:cNvPr>
            <p:cNvGrpSpPr>
              <a:grpSpLocks/>
            </p:cNvGrpSpPr>
            <p:nvPr/>
          </p:nvGrpSpPr>
          <p:grpSpPr bwMode="auto">
            <a:xfrm>
              <a:off x="2403" y="2176"/>
              <a:ext cx="990" cy="509"/>
              <a:chOff x="2403" y="2176"/>
              <a:chExt cx="990" cy="509"/>
            </a:xfrm>
          </p:grpSpPr>
          <p:sp>
            <p:nvSpPr>
              <p:cNvPr id="20521" name="Freeform 10">
                <a:extLst>
                  <a:ext uri="{FF2B5EF4-FFF2-40B4-BE49-F238E27FC236}">
                    <a16:creationId xmlns:a16="http://schemas.microsoft.com/office/drawing/2014/main" id="{FE080E68-CBEB-3FAE-FE06-6EB05416025D}"/>
                  </a:ext>
                </a:extLst>
              </p:cNvPr>
              <p:cNvSpPr>
                <a:spLocks/>
              </p:cNvSpPr>
              <p:nvPr/>
            </p:nvSpPr>
            <p:spPr bwMode="auto">
              <a:xfrm>
                <a:off x="2403" y="2176"/>
                <a:ext cx="990" cy="509"/>
              </a:xfrm>
              <a:custGeom>
                <a:avLst/>
                <a:gdLst>
                  <a:gd name="T0" fmla="*/ 934 w 990"/>
                  <a:gd name="T1" fmla="*/ 509 h 509"/>
                  <a:gd name="T2" fmla="*/ 934 w 990"/>
                  <a:gd name="T3" fmla="*/ 509 h 509"/>
                  <a:gd name="T4" fmla="*/ 945 w 990"/>
                  <a:gd name="T5" fmla="*/ 509 h 509"/>
                  <a:gd name="T6" fmla="*/ 956 w 990"/>
                  <a:gd name="T7" fmla="*/ 506 h 509"/>
                  <a:gd name="T8" fmla="*/ 975 w 990"/>
                  <a:gd name="T9" fmla="*/ 496 h 509"/>
                  <a:gd name="T10" fmla="*/ 986 w 990"/>
                  <a:gd name="T11" fmla="*/ 479 h 509"/>
                  <a:gd name="T12" fmla="*/ 990 w 990"/>
                  <a:gd name="T13" fmla="*/ 469 h 509"/>
                  <a:gd name="T14" fmla="*/ 990 w 990"/>
                  <a:gd name="T15" fmla="*/ 459 h 509"/>
                  <a:gd name="T16" fmla="*/ 990 w 990"/>
                  <a:gd name="T17" fmla="*/ 49 h 509"/>
                  <a:gd name="T18" fmla="*/ 990 w 990"/>
                  <a:gd name="T19" fmla="*/ 49 h 509"/>
                  <a:gd name="T20" fmla="*/ 990 w 990"/>
                  <a:gd name="T21" fmla="*/ 39 h 509"/>
                  <a:gd name="T22" fmla="*/ 986 w 990"/>
                  <a:gd name="T23" fmla="*/ 33 h 509"/>
                  <a:gd name="T24" fmla="*/ 975 w 990"/>
                  <a:gd name="T25" fmla="*/ 16 h 509"/>
                  <a:gd name="T26" fmla="*/ 956 w 990"/>
                  <a:gd name="T27" fmla="*/ 6 h 509"/>
                  <a:gd name="T28" fmla="*/ 945 w 990"/>
                  <a:gd name="T29" fmla="*/ 3 h 509"/>
                  <a:gd name="T30" fmla="*/ 934 w 990"/>
                  <a:gd name="T31" fmla="*/ 0 h 509"/>
                  <a:gd name="T32" fmla="*/ 56 w 990"/>
                  <a:gd name="T33" fmla="*/ 0 h 509"/>
                  <a:gd name="T34" fmla="*/ 56 w 990"/>
                  <a:gd name="T35" fmla="*/ 0 h 509"/>
                  <a:gd name="T36" fmla="*/ 45 w 990"/>
                  <a:gd name="T37" fmla="*/ 3 h 509"/>
                  <a:gd name="T38" fmla="*/ 34 w 990"/>
                  <a:gd name="T39" fmla="*/ 6 h 509"/>
                  <a:gd name="T40" fmla="*/ 15 w 990"/>
                  <a:gd name="T41" fmla="*/ 16 h 509"/>
                  <a:gd name="T42" fmla="*/ 4 w 990"/>
                  <a:gd name="T43" fmla="*/ 33 h 509"/>
                  <a:gd name="T44" fmla="*/ 0 w 990"/>
                  <a:gd name="T45" fmla="*/ 39 h 509"/>
                  <a:gd name="T46" fmla="*/ 0 w 990"/>
                  <a:gd name="T47" fmla="*/ 49 h 509"/>
                  <a:gd name="T48" fmla="*/ 0 w 990"/>
                  <a:gd name="T49" fmla="*/ 459 h 509"/>
                  <a:gd name="T50" fmla="*/ 0 w 990"/>
                  <a:gd name="T51" fmla="*/ 459 h 509"/>
                  <a:gd name="T52" fmla="*/ 0 w 990"/>
                  <a:gd name="T53" fmla="*/ 469 h 509"/>
                  <a:gd name="T54" fmla="*/ 4 w 990"/>
                  <a:gd name="T55" fmla="*/ 479 h 509"/>
                  <a:gd name="T56" fmla="*/ 15 w 990"/>
                  <a:gd name="T57" fmla="*/ 496 h 509"/>
                  <a:gd name="T58" fmla="*/ 34 w 990"/>
                  <a:gd name="T59" fmla="*/ 506 h 509"/>
                  <a:gd name="T60" fmla="*/ 45 w 990"/>
                  <a:gd name="T61" fmla="*/ 509 h 509"/>
                  <a:gd name="T62" fmla="*/ 56 w 990"/>
                  <a:gd name="T63" fmla="*/ 509 h 509"/>
                  <a:gd name="T64" fmla="*/ 934 w 990"/>
                  <a:gd name="T65" fmla="*/ 509 h 5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0" h="509">
                    <a:moveTo>
                      <a:pt x="934" y="509"/>
                    </a:moveTo>
                    <a:lnTo>
                      <a:pt x="934" y="509"/>
                    </a:lnTo>
                    <a:lnTo>
                      <a:pt x="945" y="509"/>
                    </a:lnTo>
                    <a:lnTo>
                      <a:pt x="956" y="506"/>
                    </a:lnTo>
                    <a:lnTo>
                      <a:pt x="975" y="496"/>
                    </a:lnTo>
                    <a:lnTo>
                      <a:pt x="986" y="479"/>
                    </a:lnTo>
                    <a:lnTo>
                      <a:pt x="990" y="469"/>
                    </a:lnTo>
                    <a:lnTo>
                      <a:pt x="990" y="459"/>
                    </a:lnTo>
                    <a:lnTo>
                      <a:pt x="990" y="49"/>
                    </a:lnTo>
                    <a:lnTo>
                      <a:pt x="990" y="39"/>
                    </a:lnTo>
                    <a:lnTo>
                      <a:pt x="986" y="33"/>
                    </a:lnTo>
                    <a:lnTo>
                      <a:pt x="975" y="16"/>
                    </a:lnTo>
                    <a:lnTo>
                      <a:pt x="956" y="6"/>
                    </a:lnTo>
                    <a:lnTo>
                      <a:pt x="945" y="3"/>
                    </a:lnTo>
                    <a:lnTo>
                      <a:pt x="934" y="0"/>
                    </a:lnTo>
                    <a:lnTo>
                      <a:pt x="56" y="0"/>
                    </a:lnTo>
                    <a:lnTo>
                      <a:pt x="45" y="3"/>
                    </a:lnTo>
                    <a:lnTo>
                      <a:pt x="34" y="6"/>
                    </a:lnTo>
                    <a:lnTo>
                      <a:pt x="15" y="16"/>
                    </a:lnTo>
                    <a:lnTo>
                      <a:pt x="4" y="33"/>
                    </a:lnTo>
                    <a:lnTo>
                      <a:pt x="0" y="39"/>
                    </a:lnTo>
                    <a:lnTo>
                      <a:pt x="0" y="49"/>
                    </a:lnTo>
                    <a:lnTo>
                      <a:pt x="0" y="459"/>
                    </a:lnTo>
                    <a:lnTo>
                      <a:pt x="0" y="469"/>
                    </a:lnTo>
                    <a:lnTo>
                      <a:pt x="4" y="479"/>
                    </a:lnTo>
                    <a:lnTo>
                      <a:pt x="15" y="496"/>
                    </a:lnTo>
                    <a:lnTo>
                      <a:pt x="34" y="506"/>
                    </a:lnTo>
                    <a:lnTo>
                      <a:pt x="45" y="509"/>
                    </a:lnTo>
                    <a:lnTo>
                      <a:pt x="56" y="509"/>
                    </a:lnTo>
                    <a:lnTo>
                      <a:pt x="934" y="509"/>
                    </a:lnTo>
                    <a:close/>
                  </a:path>
                </a:pathLst>
              </a:custGeom>
              <a:solidFill>
                <a:schemeClr val="bg1"/>
              </a:solidFill>
              <a:ln w="47625">
                <a:solidFill>
                  <a:srgbClr val="17515E"/>
                </a:solidFill>
                <a:prstDash val="solid"/>
                <a:round/>
                <a:headEnd/>
                <a:tailEnd/>
              </a:ln>
            </p:spPr>
            <p:txBody>
              <a:bodyPr/>
              <a:lstStyle/>
              <a:p>
                <a:endParaRPr lang="en-LK"/>
              </a:p>
            </p:txBody>
          </p:sp>
          <p:sp>
            <p:nvSpPr>
              <p:cNvPr id="20522" name="Line 11">
                <a:extLst>
                  <a:ext uri="{FF2B5EF4-FFF2-40B4-BE49-F238E27FC236}">
                    <a16:creationId xmlns:a16="http://schemas.microsoft.com/office/drawing/2014/main" id="{27484018-44FF-3F49-DCC6-A94EBDF197A2}"/>
                  </a:ext>
                </a:extLst>
              </p:cNvPr>
              <p:cNvSpPr>
                <a:spLocks noChangeShapeType="1"/>
              </p:cNvSpPr>
              <p:nvPr/>
            </p:nvSpPr>
            <p:spPr bwMode="auto">
              <a:xfrm>
                <a:off x="2897" y="2430"/>
                <a:ext cx="1" cy="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47625">
                    <a:solidFill>
                      <a:srgbClr val="910F4D"/>
                    </a:solidFill>
                    <a:round/>
                    <a:headEnd/>
                    <a:tailEnd/>
                  </a14:hiddenLine>
                </a:ext>
              </a:extLst>
            </p:spPr>
            <p:txBody>
              <a:bodyPr/>
              <a:lstStyle/>
              <a:p>
                <a:endParaRPr lang="en-LK"/>
              </a:p>
            </p:txBody>
          </p:sp>
          <p:sp>
            <p:nvSpPr>
              <p:cNvPr id="20523" name="Rectangle 12">
                <a:extLst>
                  <a:ext uri="{FF2B5EF4-FFF2-40B4-BE49-F238E27FC236}">
                    <a16:creationId xmlns:a16="http://schemas.microsoft.com/office/drawing/2014/main" id="{8EB99791-BCF1-F89C-AC44-D49E0A815B8A}"/>
                  </a:ext>
                </a:extLst>
              </p:cNvPr>
              <p:cNvSpPr>
                <a:spLocks noChangeArrowheads="1"/>
              </p:cNvSpPr>
              <p:nvPr/>
            </p:nvSpPr>
            <p:spPr bwMode="auto">
              <a:xfrm>
                <a:off x="2404" y="2257"/>
                <a:ext cx="988" cy="3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The Firm </a:t>
                </a:r>
                <a:r>
                  <a:rPr lang="en-US" altLang="en-US" sz="1800">
                    <a:solidFill>
                      <a:srgbClr val="000000"/>
                    </a:solidFill>
                    <a:latin typeface="Times New Roman" panose="02020603050405020304" pitchFamily="18" charset="0"/>
                    <a:cs typeface="Times New Roman" panose="02020603050405020304" pitchFamily="18" charset="0"/>
                  </a:rPr>
                  <a:t>(Management)</a:t>
                </a:r>
              </a:p>
            </p:txBody>
          </p:sp>
        </p:grpSp>
        <p:sp>
          <p:nvSpPr>
            <p:cNvPr id="20489" name="Line 13">
              <a:extLst>
                <a:ext uri="{FF2B5EF4-FFF2-40B4-BE49-F238E27FC236}">
                  <a16:creationId xmlns:a16="http://schemas.microsoft.com/office/drawing/2014/main" id="{91CA2CC8-A852-B430-FB3C-EF672A12D64D}"/>
                </a:ext>
              </a:extLst>
            </p:cNvPr>
            <p:cNvSpPr>
              <a:spLocks noChangeShapeType="1"/>
            </p:cNvSpPr>
            <p:nvPr/>
          </p:nvSpPr>
          <p:spPr bwMode="auto">
            <a:xfrm>
              <a:off x="3432" y="2312"/>
              <a:ext cx="1011"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490" name="Line 14">
              <a:extLst>
                <a:ext uri="{FF2B5EF4-FFF2-40B4-BE49-F238E27FC236}">
                  <a16:creationId xmlns:a16="http://schemas.microsoft.com/office/drawing/2014/main" id="{DF0E347F-DF56-5B42-3D81-FA5C39201A20}"/>
                </a:ext>
              </a:extLst>
            </p:cNvPr>
            <p:cNvSpPr>
              <a:spLocks noChangeShapeType="1"/>
            </p:cNvSpPr>
            <p:nvPr/>
          </p:nvSpPr>
          <p:spPr bwMode="auto">
            <a:xfrm>
              <a:off x="1339" y="2602"/>
              <a:ext cx="1012"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grpSp>
          <p:nvGrpSpPr>
            <p:cNvPr id="20491" name="Group 15">
              <a:extLst>
                <a:ext uri="{FF2B5EF4-FFF2-40B4-BE49-F238E27FC236}">
                  <a16:creationId xmlns:a16="http://schemas.microsoft.com/office/drawing/2014/main" id="{F929D47C-8082-1C5B-BB9C-1252EE04A273}"/>
                </a:ext>
              </a:extLst>
            </p:cNvPr>
            <p:cNvGrpSpPr>
              <a:grpSpLocks/>
            </p:cNvGrpSpPr>
            <p:nvPr/>
          </p:nvGrpSpPr>
          <p:grpSpPr bwMode="auto">
            <a:xfrm>
              <a:off x="2382" y="1037"/>
              <a:ext cx="993" cy="509"/>
              <a:chOff x="2382" y="1037"/>
              <a:chExt cx="993" cy="509"/>
            </a:xfrm>
          </p:grpSpPr>
          <p:sp>
            <p:nvSpPr>
              <p:cNvPr id="20518" name="Freeform 16">
                <a:extLst>
                  <a:ext uri="{FF2B5EF4-FFF2-40B4-BE49-F238E27FC236}">
                    <a16:creationId xmlns:a16="http://schemas.microsoft.com/office/drawing/2014/main" id="{9B902785-D07A-0730-252C-D3921A253791}"/>
                  </a:ext>
                </a:extLst>
              </p:cNvPr>
              <p:cNvSpPr>
                <a:spLocks/>
              </p:cNvSpPr>
              <p:nvPr/>
            </p:nvSpPr>
            <p:spPr bwMode="auto">
              <a:xfrm>
                <a:off x="2382" y="1037"/>
                <a:ext cx="993" cy="509"/>
              </a:xfrm>
              <a:custGeom>
                <a:avLst/>
                <a:gdLst>
                  <a:gd name="T0" fmla="*/ 937 w 993"/>
                  <a:gd name="T1" fmla="*/ 509 h 509"/>
                  <a:gd name="T2" fmla="*/ 937 w 993"/>
                  <a:gd name="T3" fmla="*/ 509 h 509"/>
                  <a:gd name="T4" fmla="*/ 948 w 993"/>
                  <a:gd name="T5" fmla="*/ 506 h 509"/>
                  <a:gd name="T6" fmla="*/ 956 w 993"/>
                  <a:gd name="T7" fmla="*/ 503 h 509"/>
                  <a:gd name="T8" fmla="*/ 974 w 993"/>
                  <a:gd name="T9" fmla="*/ 493 h 509"/>
                  <a:gd name="T10" fmla="*/ 985 w 993"/>
                  <a:gd name="T11" fmla="*/ 476 h 509"/>
                  <a:gd name="T12" fmla="*/ 989 w 993"/>
                  <a:gd name="T13" fmla="*/ 469 h 509"/>
                  <a:gd name="T14" fmla="*/ 993 w 993"/>
                  <a:gd name="T15" fmla="*/ 459 h 509"/>
                  <a:gd name="T16" fmla="*/ 993 w 993"/>
                  <a:gd name="T17" fmla="*/ 50 h 509"/>
                  <a:gd name="T18" fmla="*/ 993 w 993"/>
                  <a:gd name="T19" fmla="*/ 50 h 509"/>
                  <a:gd name="T20" fmla="*/ 989 w 993"/>
                  <a:gd name="T21" fmla="*/ 40 h 509"/>
                  <a:gd name="T22" fmla="*/ 985 w 993"/>
                  <a:gd name="T23" fmla="*/ 30 h 509"/>
                  <a:gd name="T24" fmla="*/ 974 w 993"/>
                  <a:gd name="T25" fmla="*/ 13 h 509"/>
                  <a:gd name="T26" fmla="*/ 956 w 993"/>
                  <a:gd name="T27" fmla="*/ 3 h 509"/>
                  <a:gd name="T28" fmla="*/ 948 w 993"/>
                  <a:gd name="T29" fmla="*/ 0 h 509"/>
                  <a:gd name="T30" fmla="*/ 937 w 993"/>
                  <a:gd name="T31" fmla="*/ 0 h 509"/>
                  <a:gd name="T32" fmla="*/ 55 w 993"/>
                  <a:gd name="T33" fmla="*/ 0 h 509"/>
                  <a:gd name="T34" fmla="*/ 55 w 993"/>
                  <a:gd name="T35" fmla="*/ 0 h 509"/>
                  <a:gd name="T36" fmla="*/ 44 w 993"/>
                  <a:gd name="T37" fmla="*/ 0 h 509"/>
                  <a:gd name="T38" fmla="*/ 33 w 993"/>
                  <a:gd name="T39" fmla="*/ 3 h 509"/>
                  <a:gd name="T40" fmla="*/ 18 w 993"/>
                  <a:gd name="T41" fmla="*/ 13 h 509"/>
                  <a:gd name="T42" fmla="*/ 3 w 993"/>
                  <a:gd name="T43" fmla="*/ 30 h 509"/>
                  <a:gd name="T44" fmla="*/ 0 w 993"/>
                  <a:gd name="T45" fmla="*/ 40 h 509"/>
                  <a:gd name="T46" fmla="*/ 0 w 993"/>
                  <a:gd name="T47" fmla="*/ 50 h 509"/>
                  <a:gd name="T48" fmla="*/ 0 w 993"/>
                  <a:gd name="T49" fmla="*/ 459 h 509"/>
                  <a:gd name="T50" fmla="*/ 0 w 993"/>
                  <a:gd name="T51" fmla="*/ 459 h 509"/>
                  <a:gd name="T52" fmla="*/ 0 w 993"/>
                  <a:gd name="T53" fmla="*/ 469 h 509"/>
                  <a:gd name="T54" fmla="*/ 3 w 993"/>
                  <a:gd name="T55" fmla="*/ 476 h 509"/>
                  <a:gd name="T56" fmla="*/ 18 w 993"/>
                  <a:gd name="T57" fmla="*/ 493 h 509"/>
                  <a:gd name="T58" fmla="*/ 33 w 993"/>
                  <a:gd name="T59" fmla="*/ 503 h 509"/>
                  <a:gd name="T60" fmla="*/ 44 w 993"/>
                  <a:gd name="T61" fmla="*/ 506 h 509"/>
                  <a:gd name="T62" fmla="*/ 55 w 993"/>
                  <a:gd name="T63" fmla="*/ 509 h 509"/>
                  <a:gd name="T64" fmla="*/ 937 w 993"/>
                  <a:gd name="T65" fmla="*/ 509 h 5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3" h="509">
                    <a:moveTo>
                      <a:pt x="937" y="509"/>
                    </a:moveTo>
                    <a:lnTo>
                      <a:pt x="937" y="509"/>
                    </a:lnTo>
                    <a:lnTo>
                      <a:pt x="948" y="506"/>
                    </a:lnTo>
                    <a:lnTo>
                      <a:pt x="956" y="503"/>
                    </a:lnTo>
                    <a:lnTo>
                      <a:pt x="974" y="493"/>
                    </a:lnTo>
                    <a:lnTo>
                      <a:pt x="985" y="476"/>
                    </a:lnTo>
                    <a:lnTo>
                      <a:pt x="989" y="469"/>
                    </a:lnTo>
                    <a:lnTo>
                      <a:pt x="993" y="459"/>
                    </a:lnTo>
                    <a:lnTo>
                      <a:pt x="993" y="50"/>
                    </a:lnTo>
                    <a:lnTo>
                      <a:pt x="989" y="40"/>
                    </a:lnTo>
                    <a:lnTo>
                      <a:pt x="985" y="30"/>
                    </a:lnTo>
                    <a:lnTo>
                      <a:pt x="974" y="13"/>
                    </a:lnTo>
                    <a:lnTo>
                      <a:pt x="956" y="3"/>
                    </a:lnTo>
                    <a:lnTo>
                      <a:pt x="948" y="0"/>
                    </a:lnTo>
                    <a:lnTo>
                      <a:pt x="937" y="0"/>
                    </a:lnTo>
                    <a:lnTo>
                      <a:pt x="55" y="0"/>
                    </a:lnTo>
                    <a:lnTo>
                      <a:pt x="44" y="0"/>
                    </a:lnTo>
                    <a:lnTo>
                      <a:pt x="33" y="3"/>
                    </a:lnTo>
                    <a:lnTo>
                      <a:pt x="18" y="13"/>
                    </a:lnTo>
                    <a:lnTo>
                      <a:pt x="3" y="30"/>
                    </a:lnTo>
                    <a:lnTo>
                      <a:pt x="0" y="40"/>
                    </a:lnTo>
                    <a:lnTo>
                      <a:pt x="0" y="50"/>
                    </a:lnTo>
                    <a:lnTo>
                      <a:pt x="0" y="459"/>
                    </a:lnTo>
                    <a:lnTo>
                      <a:pt x="0" y="469"/>
                    </a:lnTo>
                    <a:lnTo>
                      <a:pt x="3" y="476"/>
                    </a:lnTo>
                    <a:lnTo>
                      <a:pt x="18" y="493"/>
                    </a:lnTo>
                    <a:lnTo>
                      <a:pt x="33" y="503"/>
                    </a:lnTo>
                    <a:lnTo>
                      <a:pt x="44" y="506"/>
                    </a:lnTo>
                    <a:lnTo>
                      <a:pt x="55" y="509"/>
                    </a:lnTo>
                    <a:lnTo>
                      <a:pt x="937" y="509"/>
                    </a:lnTo>
                    <a:close/>
                  </a:path>
                </a:pathLst>
              </a:custGeom>
              <a:solidFill>
                <a:schemeClr val="bg1"/>
              </a:solidFill>
              <a:ln w="47625">
                <a:solidFill>
                  <a:srgbClr val="6D1845"/>
                </a:solidFill>
                <a:prstDash val="solid"/>
                <a:round/>
                <a:headEnd/>
                <a:tailEnd/>
              </a:ln>
            </p:spPr>
            <p:txBody>
              <a:bodyPr/>
              <a:lstStyle/>
              <a:p>
                <a:endParaRPr lang="en-LK"/>
              </a:p>
            </p:txBody>
          </p:sp>
          <p:sp>
            <p:nvSpPr>
              <p:cNvPr id="20519" name="Line 17">
                <a:extLst>
                  <a:ext uri="{FF2B5EF4-FFF2-40B4-BE49-F238E27FC236}">
                    <a16:creationId xmlns:a16="http://schemas.microsoft.com/office/drawing/2014/main" id="{4D4A6EA2-BD4D-F836-4E37-DC4D5D4EA963}"/>
                  </a:ext>
                </a:extLst>
              </p:cNvPr>
              <p:cNvSpPr>
                <a:spLocks noChangeShapeType="1"/>
              </p:cNvSpPr>
              <p:nvPr/>
            </p:nvSpPr>
            <p:spPr bwMode="auto">
              <a:xfrm>
                <a:off x="2878" y="1291"/>
                <a:ext cx="1" cy="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47625">
                    <a:solidFill>
                      <a:srgbClr val="910F4D"/>
                    </a:solidFill>
                    <a:round/>
                    <a:headEnd/>
                    <a:tailEnd/>
                  </a14:hiddenLine>
                </a:ext>
              </a:extLst>
            </p:spPr>
            <p:txBody>
              <a:bodyPr/>
              <a:lstStyle/>
              <a:p>
                <a:endParaRPr lang="en-LK"/>
              </a:p>
            </p:txBody>
          </p:sp>
          <p:sp>
            <p:nvSpPr>
              <p:cNvPr id="20520" name="Rectangle 18">
                <a:extLst>
                  <a:ext uri="{FF2B5EF4-FFF2-40B4-BE49-F238E27FC236}">
                    <a16:creationId xmlns:a16="http://schemas.microsoft.com/office/drawing/2014/main" id="{6044C8B4-1ABA-C26A-4ED2-DF0D8EB12051}"/>
                  </a:ext>
                </a:extLst>
              </p:cNvPr>
              <p:cNvSpPr>
                <a:spLocks noChangeArrowheads="1"/>
              </p:cNvSpPr>
              <p:nvPr/>
            </p:nvSpPr>
            <p:spPr bwMode="auto">
              <a:xfrm>
                <a:off x="2615" y="1205"/>
                <a:ext cx="485" cy="1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Owners</a:t>
                </a:r>
                <a:endParaRPr lang="en-US" altLang="en-US" sz="1800">
                  <a:latin typeface="Times New Roman" panose="02020603050405020304" pitchFamily="18" charset="0"/>
                  <a:cs typeface="Times New Roman" panose="02020603050405020304" pitchFamily="18" charset="0"/>
                </a:endParaRPr>
              </a:p>
            </p:txBody>
          </p:sp>
        </p:grpSp>
        <p:sp>
          <p:nvSpPr>
            <p:cNvPr id="20492" name="Line 19">
              <a:extLst>
                <a:ext uri="{FF2B5EF4-FFF2-40B4-BE49-F238E27FC236}">
                  <a16:creationId xmlns:a16="http://schemas.microsoft.com/office/drawing/2014/main" id="{24ACED56-FCB8-76E6-5331-FE8204EB2690}"/>
                </a:ext>
              </a:extLst>
            </p:cNvPr>
            <p:cNvSpPr>
              <a:spLocks noChangeShapeType="1"/>
            </p:cNvSpPr>
            <p:nvPr/>
          </p:nvSpPr>
          <p:spPr bwMode="auto">
            <a:xfrm flipV="1">
              <a:off x="3075" y="1574"/>
              <a:ext cx="1" cy="566"/>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493" name="Line 20">
              <a:extLst>
                <a:ext uri="{FF2B5EF4-FFF2-40B4-BE49-F238E27FC236}">
                  <a16:creationId xmlns:a16="http://schemas.microsoft.com/office/drawing/2014/main" id="{522DFB34-748D-C3DF-37AE-A3F235B60C93}"/>
                </a:ext>
              </a:extLst>
            </p:cNvPr>
            <p:cNvSpPr>
              <a:spLocks noChangeShapeType="1"/>
            </p:cNvSpPr>
            <p:nvPr/>
          </p:nvSpPr>
          <p:spPr bwMode="auto">
            <a:xfrm>
              <a:off x="2656" y="1583"/>
              <a:ext cx="1" cy="560"/>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494" name="Line 21">
              <a:extLst>
                <a:ext uri="{FF2B5EF4-FFF2-40B4-BE49-F238E27FC236}">
                  <a16:creationId xmlns:a16="http://schemas.microsoft.com/office/drawing/2014/main" id="{65000C20-D527-ACCE-3F84-FDEEF8053F0F}"/>
                </a:ext>
              </a:extLst>
            </p:cNvPr>
            <p:cNvSpPr>
              <a:spLocks noChangeShapeType="1"/>
            </p:cNvSpPr>
            <p:nvPr/>
          </p:nvSpPr>
          <p:spPr bwMode="auto">
            <a:xfrm flipH="1">
              <a:off x="1326" y="2295"/>
              <a:ext cx="1019"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495" name="Line 22">
              <a:extLst>
                <a:ext uri="{FF2B5EF4-FFF2-40B4-BE49-F238E27FC236}">
                  <a16:creationId xmlns:a16="http://schemas.microsoft.com/office/drawing/2014/main" id="{DE7A1EEA-DD94-6A66-254B-BE5810466540}"/>
                </a:ext>
              </a:extLst>
            </p:cNvPr>
            <p:cNvSpPr>
              <a:spLocks noChangeShapeType="1"/>
            </p:cNvSpPr>
            <p:nvPr/>
          </p:nvSpPr>
          <p:spPr bwMode="auto">
            <a:xfrm flipH="1">
              <a:off x="3414" y="2552"/>
              <a:ext cx="1016"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grpSp>
          <p:nvGrpSpPr>
            <p:cNvPr id="20496" name="Group 23">
              <a:extLst>
                <a:ext uri="{FF2B5EF4-FFF2-40B4-BE49-F238E27FC236}">
                  <a16:creationId xmlns:a16="http://schemas.microsoft.com/office/drawing/2014/main" id="{4A302E73-010A-86D1-D1C8-7FC3C6227677}"/>
                </a:ext>
              </a:extLst>
            </p:cNvPr>
            <p:cNvGrpSpPr>
              <a:grpSpLocks/>
            </p:cNvGrpSpPr>
            <p:nvPr/>
          </p:nvGrpSpPr>
          <p:grpSpPr bwMode="auto">
            <a:xfrm>
              <a:off x="310" y="2176"/>
              <a:ext cx="990" cy="509"/>
              <a:chOff x="310" y="2176"/>
              <a:chExt cx="990" cy="509"/>
            </a:xfrm>
          </p:grpSpPr>
          <p:sp>
            <p:nvSpPr>
              <p:cNvPr id="20515" name="Freeform 24">
                <a:extLst>
                  <a:ext uri="{FF2B5EF4-FFF2-40B4-BE49-F238E27FC236}">
                    <a16:creationId xmlns:a16="http://schemas.microsoft.com/office/drawing/2014/main" id="{E9BD0BAD-20D2-26AF-91D3-1F4B620523A2}"/>
                  </a:ext>
                </a:extLst>
              </p:cNvPr>
              <p:cNvSpPr>
                <a:spLocks/>
              </p:cNvSpPr>
              <p:nvPr/>
            </p:nvSpPr>
            <p:spPr bwMode="auto">
              <a:xfrm>
                <a:off x="310" y="2176"/>
                <a:ext cx="990" cy="509"/>
              </a:xfrm>
              <a:custGeom>
                <a:avLst/>
                <a:gdLst>
                  <a:gd name="T0" fmla="*/ 934 w 990"/>
                  <a:gd name="T1" fmla="*/ 509 h 509"/>
                  <a:gd name="T2" fmla="*/ 934 w 990"/>
                  <a:gd name="T3" fmla="*/ 509 h 509"/>
                  <a:gd name="T4" fmla="*/ 945 w 990"/>
                  <a:gd name="T5" fmla="*/ 509 h 509"/>
                  <a:gd name="T6" fmla="*/ 956 w 990"/>
                  <a:gd name="T7" fmla="*/ 506 h 509"/>
                  <a:gd name="T8" fmla="*/ 975 w 990"/>
                  <a:gd name="T9" fmla="*/ 496 h 509"/>
                  <a:gd name="T10" fmla="*/ 986 w 990"/>
                  <a:gd name="T11" fmla="*/ 479 h 509"/>
                  <a:gd name="T12" fmla="*/ 990 w 990"/>
                  <a:gd name="T13" fmla="*/ 469 h 509"/>
                  <a:gd name="T14" fmla="*/ 990 w 990"/>
                  <a:gd name="T15" fmla="*/ 459 h 509"/>
                  <a:gd name="T16" fmla="*/ 990 w 990"/>
                  <a:gd name="T17" fmla="*/ 49 h 509"/>
                  <a:gd name="T18" fmla="*/ 990 w 990"/>
                  <a:gd name="T19" fmla="*/ 49 h 509"/>
                  <a:gd name="T20" fmla="*/ 990 w 990"/>
                  <a:gd name="T21" fmla="*/ 39 h 509"/>
                  <a:gd name="T22" fmla="*/ 986 w 990"/>
                  <a:gd name="T23" fmla="*/ 33 h 509"/>
                  <a:gd name="T24" fmla="*/ 975 w 990"/>
                  <a:gd name="T25" fmla="*/ 16 h 509"/>
                  <a:gd name="T26" fmla="*/ 956 w 990"/>
                  <a:gd name="T27" fmla="*/ 6 h 509"/>
                  <a:gd name="T28" fmla="*/ 945 w 990"/>
                  <a:gd name="T29" fmla="*/ 3 h 509"/>
                  <a:gd name="T30" fmla="*/ 934 w 990"/>
                  <a:gd name="T31" fmla="*/ 0 h 509"/>
                  <a:gd name="T32" fmla="*/ 56 w 990"/>
                  <a:gd name="T33" fmla="*/ 0 h 509"/>
                  <a:gd name="T34" fmla="*/ 56 w 990"/>
                  <a:gd name="T35" fmla="*/ 0 h 509"/>
                  <a:gd name="T36" fmla="*/ 45 w 990"/>
                  <a:gd name="T37" fmla="*/ 3 h 509"/>
                  <a:gd name="T38" fmla="*/ 34 w 990"/>
                  <a:gd name="T39" fmla="*/ 6 h 509"/>
                  <a:gd name="T40" fmla="*/ 15 w 990"/>
                  <a:gd name="T41" fmla="*/ 16 h 509"/>
                  <a:gd name="T42" fmla="*/ 4 w 990"/>
                  <a:gd name="T43" fmla="*/ 33 h 509"/>
                  <a:gd name="T44" fmla="*/ 0 w 990"/>
                  <a:gd name="T45" fmla="*/ 39 h 509"/>
                  <a:gd name="T46" fmla="*/ 0 w 990"/>
                  <a:gd name="T47" fmla="*/ 49 h 509"/>
                  <a:gd name="T48" fmla="*/ 0 w 990"/>
                  <a:gd name="T49" fmla="*/ 459 h 509"/>
                  <a:gd name="T50" fmla="*/ 0 w 990"/>
                  <a:gd name="T51" fmla="*/ 459 h 509"/>
                  <a:gd name="T52" fmla="*/ 0 w 990"/>
                  <a:gd name="T53" fmla="*/ 469 h 509"/>
                  <a:gd name="T54" fmla="*/ 4 w 990"/>
                  <a:gd name="T55" fmla="*/ 479 h 509"/>
                  <a:gd name="T56" fmla="*/ 15 w 990"/>
                  <a:gd name="T57" fmla="*/ 496 h 509"/>
                  <a:gd name="T58" fmla="*/ 34 w 990"/>
                  <a:gd name="T59" fmla="*/ 506 h 509"/>
                  <a:gd name="T60" fmla="*/ 45 w 990"/>
                  <a:gd name="T61" fmla="*/ 509 h 509"/>
                  <a:gd name="T62" fmla="*/ 56 w 990"/>
                  <a:gd name="T63" fmla="*/ 509 h 509"/>
                  <a:gd name="T64" fmla="*/ 934 w 990"/>
                  <a:gd name="T65" fmla="*/ 509 h 5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0" h="509">
                    <a:moveTo>
                      <a:pt x="934" y="509"/>
                    </a:moveTo>
                    <a:lnTo>
                      <a:pt x="934" y="509"/>
                    </a:lnTo>
                    <a:lnTo>
                      <a:pt x="945" y="509"/>
                    </a:lnTo>
                    <a:lnTo>
                      <a:pt x="956" y="506"/>
                    </a:lnTo>
                    <a:lnTo>
                      <a:pt x="975" y="496"/>
                    </a:lnTo>
                    <a:lnTo>
                      <a:pt x="986" y="479"/>
                    </a:lnTo>
                    <a:lnTo>
                      <a:pt x="990" y="469"/>
                    </a:lnTo>
                    <a:lnTo>
                      <a:pt x="990" y="459"/>
                    </a:lnTo>
                    <a:lnTo>
                      <a:pt x="990" y="49"/>
                    </a:lnTo>
                    <a:lnTo>
                      <a:pt x="990" y="39"/>
                    </a:lnTo>
                    <a:lnTo>
                      <a:pt x="986" y="33"/>
                    </a:lnTo>
                    <a:lnTo>
                      <a:pt x="975" y="16"/>
                    </a:lnTo>
                    <a:lnTo>
                      <a:pt x="956" y="6"/>
                    </a:lnTo>
                    <a:lnTo>
                      <a:pt x="945" y="3"/>
                    </a:lnTo>
                    <a:lnTo>
                      <a:pt x="934" y="0"/>
                    </a:lnTo>
                    <a:lnTo>
                      <a:pt x="56" y="0"/>
                    </a:lnTo>
                    <a:lnTo>
                      <a:pt x="45" y="3"/>
                    </a:lnTo>
                    <a:lnTo>
                      <a:pt x="34" y="6"/>
                    </a:lnTo>
                    <a:lnTo>
                      <a:pt x="15" y="16"/>
                    </a:lnTo>
                    <a:lnTo>
                      <a:pt x="4" y="33"/>
                    </a:lnTo>
                    <a:lnTo>
                      <a:pt x="0" y="39"/>
                    </a:lnTo>
                    <a:lnTo>
                      <a:pt x="0" y="49"/>
                    </a:lnTo>
                    <a:lnTo>
                      <a:pt x="0" y="459"/>
                    </a:lnTo>
                    <a:lnTo>
                      <a:pt x="0" y="469"/>
                    </a:lnTo>
                    <a:lnTo>
                      <a:pt x="4" y="479"/>
                    </a:lnTo>
                    <a:lnTo>
                      <a:pt x="15" y="496"/>
                    </a:lnTo>
                    <a:lnTo>
                      <a:pt x="34" y="506"/>
                    </a:lnTo>
                    <a:lnTo>
                      <a:pt x="45" y="509"/>
                    </a:lnTo>
                    <a:lnTo>
                      <a:pt x="56" y="509"/>
                    </a:lnTo>
                    <a:lnTo>
                      <a:pt x="934" y="509"/>
                    </a:lnTo>
                    <a:close/>
                  </a:path>
                </a:pathLst>
              </a:custGeom>
              <a:solidFill>
                <a:schemeClr val="bg1"/>
              </a:solidFill>
              <a:ln w="28575" cmpd="sng">
                <a:solidFill>
                  <a:srgbClr val="6D1845"/>
                </a:solidFill>
                <a:prstDash val="solid"/>
                <a:round/>
                <a:headEnd/>
                <a:tailEnd/>
              </a:ln>
            </p:spPr>
            <p:txBody>
              <a:bodyPr/>
              <a:lstStyle/>
              <a:p>
                <a:endParaRPr lang="en-LK"/>
              </a:p>
            </p:txBody>
          </p:sp>
          <p:sp>
            <p:nvSpPr>
              <p:cNvPr id="20516" name="Line 25">
                <a:extLst>
                  <a:ext uri="{FF2B5EF4-FFF2-40B4-BE49-F238E27FC236}">
                    <a16:creationId xmlns:a16="http://schemas.microsoft.com/office/drawing/2014/main" id="{A17DA5D7-2509-3FB6-4896-DD4AE052C2E3}"/>
                  </a:ext>
                </a:extLst>
              </p:cNvPr>
              <p:cNvSpPr>
                <a:spLocks noChangeShapeType="1"/>
              </p:cNvSpPr>
              <p:nvPr/>
            </p:nvSpPr>
            <p:spPr bwMode="auto">
              <a:xfrm>
                <a:off x="807" y="2430"/>
                <a:ext cx="1" cy="1"/>
              </a:xfrm>
              <a:prstGeom prst="line">
                <a:avLst/>
              </a:prstGeom>
              <a:noFill/>
              <a:ln w="47625">
                <a:solidFill>
                  <a:srgbClr val="910F4D"/>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0517" name="Rectangle 26">
                <a:extLst>
                  <a:ext uri="{FF2B5EF4-FFF2-40B4-BE49-F238E27FC236}">
                    <a16:creationId xmlns:a16="http://schemas.microsoft.com/office/drawing/2014/main" id="{245BB599-D7C1-7C4D-6A88-A2FE022C8CDC}"/>
                  </a:ext>
                </a:extLst>
              </p:cNvPr>
              <p:cNvSpPr>
                <a:spLocks noChangeArrowheads="1"/>
              </p:cNvSpPr>
              <p:nvPr/>
            </p:nvSpPr>
            <p:spPr bwMode="auto">
              <a:xfrm>
                <a:off x="449" y="2257"/>
                <a:ext cx="71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Input Suppliers</a:t>
                </a:r>
              </a:p>
            </p:txBody>
          </p:sp>
        </p:grpSp>
        <p:sp>
          <p:nvSpPr>
            <p:cNvPr id="20497" name="Line 27">
              <a:extLst>
                <a:ext uri="{FF2B5EF4-FFF2-40B4-BE49-F238E27FC236}">
                  <a16:creationId xmlns:a16="http://schemas.microsoft.com/office/drawing/2014/main" id="{3C9B423C-7A0A-2A6B-5F75-4771B3A622B7}"/>
                </a:ext>
              </a:extLst>
            </p:cNvPr>
            <p:cNvSpPr>
              <a:spLocks noChangeShapeType="1"/>
            </p:cNvSpPr>
            <p:nvPr/>
          </p:nvSpPr>
          <p:spPr bwMode="auto">
            <a:xfrm>
              <a:off x="4957" y="2425"/>
              <a:ext cx="1" cy="1"/>
            </a:xfrm>
            <a:prstGeom prst="line">
              <a:avLst/>
            </a:prstGeom>
            <a:noFill/>
            <a:ln w="47625">
              <a:solidFill>
                <a:srgbClr val="910F4D"/>
              </a:solidFill>
              <a:round/>
              <a:headEnd/>
              <a:tailEnd/>
            </a:ln>
            <a:extLst>
              <a:ext uri="{909E8E84-426E-40DD-AFC4-6F175D3DCCD1}">
                <a14:hiddenFill xmlns:a14="http://schemas.microsoft.com/office/drawing/2010/main">
                  <a:noFill/>
                </a14:hiddenFill>
              </a:ext>
            </a:extLst>
          </p:spPr>
          <p:txBody>
            <a:bodyPr/>
            <a:lstStyle/>
            <a:p>
              <a:endParaRPr lang="en-LK"/>
            </a:p>
          </p:txBody>
        </p:sp>
        <p:grpSp>
          <p:nvGrpSpPr>
            <p:cNvPr id="20498" name="Group 28">
              <a:extLst>
                <a:ext uri="{FF2B5EF4-FFF2-40B4-BE49-F238E27FC236}">
                  <a16:creationId xmlns:a16="http://schemas.microsoft.com/office/drawing/2014/main" id="{2DB9EC67-05F4-5D8A-0C16-58D0F9C358A7}"/>
                </a:ext>
              </a:extLst>
            </p:cNvPr>
            <p:cNvGrpSpPr>
              <a:grpSpLocks/>
            </p:cNvGrpSpPr>
            <p:nvPr/>
          </p:nvGrpSpPr>
          <p:grpSpPr bwMode="auto">
            <a:xfrm>
              <a:off x="4460" y="2172"/>
              <a:ext cx="990" cy="510"/>
              <a:chOff x="4460" y="2172"/>
              <a:chExt cx="990" cy="510"/>
            </a:xfrm>
          </p:grpSpPr>
          <p:sp>
            <p:nvSpPr>
              <p:cNvPr id="20513" name="Freeform 29">
                <a:extLst>
                  <a:ext uri="{FF2B5EF4-FFF2-40B4-BE49-F238E27FC236}">
                    <a16:creationId xmlns:a16="http://schemas.microsoft.com/office/drawing/2014/main" id="{00C28FCA-A086-9B20-58C7-7249DD1A1F83}"/>
                  </a:ext>
                </a:extLst>
              </p:cNvPr>
              <p:cNvSpPr>
                <a:spLocks/>
              </p:cNvSpPr>
              <p:nvPr/>
            </p:nvSpPr>
            <p:spPr bwMode="auto">
              <a:xfrm>
                <a:off x="4460" y="2172"/>
                <a:ext cx="990" cy="510"/>
              </a:xfrm>
              <a:custGeom>
                <a:avLst/>
                <a:gdLst>
                  <a:gd name="T0" fmla="*/ 934 w 990"/>
                  <a:gd name="T1" fmla="*/ 510 h 510"/>
                  <a:gd name="T2" fmla="*/ 934 w 990"/>
                  <a:gd name="T3" fmla="*/ 510 h 510"/>
                  <a:gd name="T4" fmla="*/ 945 w 990"/>
                  <a:gd name="T5" fmla="*/ 506 h 510"/>
                  <a:gd name="T6" fmla="*/ 956 w 990"/>
                  <a:gd name="T7" fmla="*/ 506 h 510"/>
                  <a:gd name="T8" fmla="*/ 975 w 990"/>
                  <a:gd name="T9" fmla="*/ 493 h 510"/>
                  <a:gd name="T10" fmla="*/ 986 w 990"/>
                  <a:gd name="T11" fmla="*/ 480 h 510"/>
                  <a:gd name="T12" fmla="*/ 990 w 990"/>
                  <a:gd name="T13" fmla="*/ 470 h 510"/>
                  <a:gd name="T14" fmla="*/ 990 w 990"/>
                  <a:gd name="T15" fmla="*/ 460 h 510"/>
                  <a:gd name="T16" fmla="*/ 990 w 990"/>
                  <a:gd name="T17" fmla="*/ 50 h 510"/>
                  <a:gd name="T18" fmla="*/ 990 w 990"/>
                  <a:gd name="T19" fmla="*/ 50 h 510"/>
                  <a:gd name="T20" fmla="*/ 990 w 990"/>
                  <a:gd name="T21" fmla="*/ 40 h 510"/>
                  <a:gd name="T22" fmla="*/ 986 w 990"/>
                  <a:gd name="T23" fmla="*/ 30 h 510"/>
                  <a:gd name="T24" fmla="*/ 975 w 990"/>
                  <a:gd name="T25" fmla="*/ 13 h 510"/>
                  <a:gd name="T26" fmla="*/ 956 w 990"/>
                  <a:gd name="T27" fmla="*/ 4 h 510"/>
                  <a:gd name="T28" fmla="*/ 945 w 990"/>
                  <a:gd name="T29" fmla="*/ 0 h 510"/>
                  <a:gd name="T30" fmla="*/ 934 w 990"/>
                  <a:gd name="T31" fmla="*/ 0 h 510"/>
                  <a:gd name="T32" fmla="*/ 56 w 990"/>
                  <a:gd name="T33" fmla="*/ 0 h 510"/>
                  <a:gd name="T34" fmla="*/ 56 w 990"/>
                  <a:gd name="T35" fmla="*/ 0 h 510"/>
                  <a:gd name="T36" fmla="*/ 45 w 990"/>
                  <a:gd name="T37" fmla="*/ 0 h 510"/>
                  <a:gd name="T38" fmla="*/ 34 w 990"/>
                  <a:gd name="T39" fmla="*/ 4 h 510"/>
                  <a:gd name="T40" fmla="*/ 19 w 990"/>
                  <a:gd name="T41" fmla="*/ 13 h 510"/>
                  <a:gd name="T42" fmla="*/ 4 w 990"/>
                  <a:gd name="T43" fmla="*/ 30 h 510"/>
                  <a:gd name="T44" fmla="*/ 0 w 990"/>
                  <a:gd name="T45" fmla="*/ 40 h 510"/>
                  <a:gd name="T46" fmla="*/ 0 w 990"/>
                  <a:gd name="T47" fmla="*/ 50 h 510"/>
                  <a:gd name="T48" fmla="*/ 0 w 990"/>
                  <a:gd name="T49" fmla="*/ 460 h 510"/>
                  <a:gd name="T50" fmla="*/ 0 w 990"/>
                  <a:gd name="T51" fmla="*/ 460 h 510"/>
                  <a:gd name="T52" fmla="*/ 0 w 990"/>
                  <a:gd name="T53" fmla="*/ 470 h 510"/>
                  <a:gd name="T54" fmla="*/ 4 w 990"/>
                  <a:gd name="T55" fmla="*/ 480 h 510"/>
                  <a:gd name="T56" fmla="*/ 19 w 990"/>
                  <a:gd name="T57" fmla="*/ 493 h 510"/>
                  <a:gd name="T58" fmla="*/ 34 w 990"/>
                  <a:gd name="T59" fmla="*/ 506 h 510"/>
                  <a:gd name="T60" fmla="*/ 45 w 990"/>
                  <a:gd name="T61" fmla="*/ 506 h 510"/>
                  <a:gd name="T62" fmla="*/ 56 w 990"/>
                  <a:gd name="T63" fmla="*/ 510 h 510"/>
                  <a:gd name="T64" fmla="*/ 934 w 990"/>
                  <a:gd name="T65" fmla="*/ 510 h 5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0" h="510">
                    <a:moveTo>
                      <a:pt x="934" y="510"/>
                    </a:moveTo>
                    <a:lnTo>
                      <a:pt x="934" y="510"/>
                    </a:lnTo>
                    <a:lnTo>
                      <a:pt x="945" y="506"/>
                    </a:lnTo>
                    <a:lnTo>
                      <a:pt x="956" y="506"/>
                    </a:lnTo>
                    <a:lnTo>
                      <a:pt x="975" y="493"/>
                    </a:lnTo>
                    <a:lnTo>
                      <a:pt x="986" y="480"/>
                    </a:lnTo>
                    <a:lnTo>
                      <a:pt x="990" y="470"/>
                    </a:lnTo>
                    <a:lnTo>
                      <a:pt x="990" y="460"/>
                    </a:lnTo>
                    <a:lnTo>
                      <a:pt x="990" y="50"/>
                    </a:lnTo>
                    <a:lnTo>
                      <a:pt x="990" y="40"/>
                    </a:lnTo>
                    <a:lnTo>
                      <a:pt x="986" y="30"/>
                    </a:lnTo>
                    <a:lnTo>
                      <a:pt x="975" y="13"/>
                    </a:lnTo>
                    <a:lnTo>
                      <a:pt x="956" y="4"/>
                    </a:lnTo>
                    <a:lnTo>
                      <a:pt x="945" y="0"/>
                    </a:lnTo>
                    <a:lnTo>
                      <a:pt x="934" y="0"/>
                    </a:lnTo>
                    <a:lnTo>
                      <a:pt x="56" y="0"/>
                    </a:lnTo>
                    <a:lnTo>
                      <a:pt x="45" y="0"/>
                    </a:lnTo>
                    <a:lnTo>
                      <a:pt x="34" y="4"/>
                    </a:lnTo>
                    <a:lnTo>
                      <a:pt x="19" y="13"/>
                    </a:lnTo>
                    <a:lnTo>
                      <a:pt x="4" y="30"/>
                    </a:lnTo>
                    <a:lnTo>
                      <a:pt x="0" y="40"/>
                    </a:lnTo>
                    <a:lnTo>
                      <a:pt x="0" y="50"/>
                    </a:lnTo>
                    <a:lnTo>
                      <a:pt x="0" y="460"/>
                    </a:lnTo>
                    <a:lnTo>
                      <a:pt x="0" y="470"/>
                    </a:lnTo>
                    <a:lnTo>
                      <a:pt x="4" y="480"/>
                    </a:lnTo>
                    <a:lnTo>
                      <a:pt x="19" y="493"/>
                    </a:lnTo>
                    <a:lnTo>
                      <a:pt x="34" y="506"/>
                    </a:lnTo>
                    <a:lnTo>
                      <a:pt x="45" y="506"/>
                    </a:lnTo>
                    <a:lnTo>
                      <a:pt x="56" y="510"/>
                    </a:lnTo>
                    <a:lnTo>
                      <a:pt x="934" y="510"/>
                    </a:lnTo>
                    <a:close/>
                  </a:path>
                </a:pathLst>
              </a:custGeom>
              <a:solidFill>
                <a:schemeClr val="bg1"/>
              </a:solidFill>
              <a:ln w="47625">
                <a:solidFill>
                  <a:srgbClr val="6D1845"/>
                </a:solidFill>
                <a:prstDash val="solid"/>
                <a:round/>
                <a:headEnd/>
                <a:tailEnd/>
              </a:ln>
            </p:spPr>
            <p:txBody>
              <a:bodyPr/>
              <a:lstStyle/>
              <a:p>
                <a:endParaRPr lang="en-LK"/>
              </a:p>
            </p:txBody>
          </p:sp>
          <p:sp>
            <p:nvSpPr>
              <p:cNvPr id="20514" name="Rectangle 30">
                <a:extLst>
                  <a:ext uri="{FF2B5EF4-FFF2-40B4-BE49-F238E27FC236}">
                    <a16:creationId xmlns:a16="http://schemas.microsoft.com/office/drawing/2014/main" id="{819239B2-A860-397A-2564-6254B74FFB54}"/>
                  </a:ext>
                </a:extLst>
              </p:cNvPr>
              <p:cNvSpPr>
                <a:spLocks noChangeArrowheads="1"/>
              </p:cNvSpPr>
              <p:nvPr/>
            </p:nvSpPr>
            <p:spPr bwMode="auto">
              <a:xfrm>
                <a:off x="4531" y="2340"/>
                <a:ext cx="78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Government</a:t>
                </a:r>
                <a:endParaRPr lang="en-US" altLang="en-US" sz="1800">
                  <a:latin typeface="Times New Roman" panose="02020603050405020304" pitchFamily="18" charset="0"/>
                  <a:cs typeface="Times New Roman" panose="02020603050405020304" pitchFamily="18" charset="0"/>
                </a:endParaRPr>
              </a:p>
            </p:txBody>
          </p:sp>
        </p:grpSp>
        <p:sp>
          <p:nvSpPr>
            <p:cNvPr id="20499" name="Line 31">
              <a:extLst>
                <a:ext uri="{FF2B5EF4-FFF2-40B4-BE49-F238E27FC236}">
                  <a16:creationId xmlns:a16="http://schemas.microsoft.com/office/drawing/2014/main" id="{E6D0C252-91C5-FB60-767D-97CFB6C964C3}"/>
                </a:ext>
              </a:extLst>
            </p:cNvPr>
            <p:cNvSpPr>
              <a:spLocks noChangeShapeType="1"/>
            </p:cNvSpPr>
            <p:nvPr/>
          </p:nvSpPr>
          <p:spPr bwMode="auto">
            <a:xfrm flipV="1">
              <a:off x="3078" y="2715"/>
              <a:ext cx="1" cy="566"/>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500" name="Line 32">
              <a:extLst>
                <a:ext uri="{FF2B5EF4-FFF2-40B4-BE49-F238E27FC236}">
                  <a16:creationId xmlns:a16="http://schemas.microsoft.com/office/drawing/2014/main" id="{C12C6246-A2CC-3063-86F0-CD1B1E8C8B4C}"/>
                </a:ext>
              </a:extLst>
            </p:cNvPr>
            <p:cNvSpPr>
              <a:spLocks noChangeShapeType="1"/>
            </p:cNvSpPr>
            <p:nvPr/>
          </p:nvSpPr>
          <p:spPr bwMode="auto">
            <a:xfrm>
              <a:off x="2656" y="2718"/>
              <a:ext cx="1" cy="579"/>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0501" name="Line 33">
              <a:extLst>
                <a:ext uri="{FF2B5EF4-FFF2-40B4-BE49-F238E27FC236}">
                  <a16:creationId xmlns:a16="http://schemas.microsoft.com/office/drawing/2014/main" id="{E657CEA6-1922-265E-07B1-628EB2A472DF}"/>
                </a:ext>
              </a:extLst>
            </p:cNvPr>
            <p:cNvSpPr>
              <a:spLocks noChangeShapeType="1"/>
            </p:cNvSpPr>
            <p:nvPr/>
          </p:nvSpPr>
          <p:spPr bwMode="auto">
            <a:xfrm>
              <a:off x="2882" y="3577"/>
              <a:ext cx="1" cy="1"/>
            </a:xfrm>
            <a:prstGeom prst="line">
              <a:avLst/>
            </a:prstGeom>
            <a:noFill/>
            <a:ln w="47625">
              <a:solidFill>
                <a:srgbClr val="910F4D"/>
              </a:solidFill>
              <a:round/>
              <a:headEnd/>
              <a:tailEnd/>
            </a:ln>
            <a:extLst>
              <a:ext uri="{909E8E84-426E-40DD-AFC4-6F175D3DCCD1}">
                <a14:hiddenFill xmlns:a14="http://schemas.microsoft.com/office/drawing/2010/main">
                  <a:noFill/>
                </a14:hiddenFill>
              </a:ext>
            </a:extLst>
          </p:spPr>
          <p:txBody>
            <a:bodyPr/>
            <a:lstStyle/>
            <a:p>
              <a:endParaRPr lang="en-LK"/>
            </a:p>
          </p:txBody>
        </p:sp>
        <p:grpSp>
          <p:nvGrpSpPr>
            <p:cNvPr id="20502" name="Group 34">
              <a:extLst>
                <a:ext uri="{FF2B5EF4-FFF2-40B4-BE49-F238E27FC236}">
                  <a16:creationId xmlns:a16="http://schemas.microsoft.com/office/drawing/2014/main" id="{C39F7929-44A9-258C-0406-EB5CECEA683E}"/>
                </a:ext>
              </a:extLst>
            </p:cNvPr>
            <p:cNvGrpSpPr>
              <a:grpSpLocks/>
            </p:cNvGrpSpPr>
            <p:nvPr/>
          </p:nvGrpSpPr>
          <p:grpSpPr bwMode="auto">
            <a:xfrm>
              <a:off x="2389" y="3324"/>
              <a:ext cx="989" cy="506"/>
              <a:chOff x="2389" y="3324"/>
              <a:chExt cx="989" cy="506"/>
            </a:xfrm>
          </p:grpSpPr>
          <p:sp>
            <p:nvSpPr>
              <p:cNvPr id="20511" name="Freeform 35">
                <a:extLst>
                  <a:ext uri="{FF2B5EF4-FFF2-40B4-BE49-F238E27FC236}">
                    <a16:creationId xmlns:a16="http://schemas.microsoft.com/office/drawing/2014/main" id="{E7518CFC-E432-330F-4FB8-2AB52306937E}"/>
                  </a:ext>
                </a:extLst>
              </p:cNvPr>
              <p:cNvSpPr>
                <a:spLocks/>
              </p:cNvSpPr>
              <p:nvPr/>
            </p:nvSpPr>
            <p:spPr bwMode="auto">
              <a:xfrm>
                <a:off x="2389" y="3324"/>
                <a:ext cx="989" cy="506"/>
              </a:xfrm>
              <a:custGeom>
                <a:avLst/>
                <a:gdLst>
                  <a:gd name="T0" fmla="*/ 934 w 989"/>
                  <a:gd name="T1" fmla="*/ 506 h 506"/>
                  <a:gd name="T2" fmla="*/ 934 w 989"/>
                  <a:gd name="T3" fmla="*/ 506 h 506"/>
                  <a:gd name="T4" fmla="*/ 945 w 989"/>
                  <a:gd name="T5" fmla="*/ 506 h 506"/>
                  <a:gd name="T6" fmla="*/ 956 w 989"/>
                  <a:gd name="T7" fmla="*/ 503 h 506"/>
                  <a:gd name="T8" fmla="*/ 975 w 989"/>
                  <a:gd name="T9" fmla="*/ 493 h 506"/>
                  <a:gd name="T10" fmla="*/ 986 w 989"/>
                  <a:gd name="T11" fmla="*/ 476 h 506"/>
                  <a:gd name="T12" fmla="*/ 989 w 989"/>
                  <a:gd name="T13" fmla="*/ 466 h 506"/>
                  <a:gd name="T14" fmla="*/ 989 w 989"/>
                  <a:gd name="T15" fmla="*/ 456 h 506"/>
                  <a:gd name="T16" fmla="*/ 989 w 989"/>
                  <a:gd name="T17" fmla="*/ 50 h 506"/>
                  <a:gd name="T18" fmla="*/ 989 w 989"/>
                  <a:gd name="T19" fmla="*/ 50 h 506"/>
                  <a:gd name="T20" fmla="*/ 989 w 989"/>
                  <a:gd name="T21" fmla="*/ 37 h 506"/>
                  <a:gd name="T22" fmla="*/ 986 w 989"/>
                  <a:gd name="T23" fmla="*/ 30 h 506"/>
                  <a:gd name="T24" fmla="*/ 975 w 989"/>
                  <a:gd name="T25" fmla="*/ 13 h 506"/>
                  <a:gd name="T26" fmla="*/ 956 w 989"/>
                  <a:gd name="T27" fmla="*/ 3 h 506"/>
                  <a:gd name="T28" fmla="*/ 945 w 989"/>
                  <a:gd name="T29" fmla="*/ 0 h 506"/>
                  <a:gd name="T30" fmla="*/ 934 w 989"/>
                  <a:gd name="T31" fmla="*/ 0 h 506"/>
                  <a:gd name="T32" fmla="*/ 56 w 989"/>
                  <a:gd name="T33" fmla="*/ 0 h 506"/>
                  <a:gd name="T34" fmla="*/ 56 w 989"/>
                  <a:gd name="T35" fmla="*/ 0 h 506"/>
                  <a:gd name="T36" fmla="*/ 44 w 989"/>
                  <a:gd name="T37" fmla="*/ 0 h 506"/>
                  <a:gd name="T38" fmla="*/ 33 w 989"/>
                  <a:gd name="T39" fmla="*/ 3 h 506"/>
                  <a:gd name="T40" fmla="*/ 15 w 989"/>
                  <a:gd name="T41" fmla="*/ 13 h 506"/>
                  <a:gd name="T42" fmla="*/ 4 w 989"/>
                  <a:gd name="T43" fmla="*/ 30 h 506"/>
                  <a:gd name="T44" fmla="*/ 0 w 989"/>
                  <a:gd name="T45" fmla="*/ 37 h 506"/>
                  <a:gd name="T46" fmla="*/ 0 w 989"/>
                  <a:gd name="T47" fmla="*/ 50 h 506"/>
                  <a:gd name="T48" fmla="*/ 0 w 989"/>
                  <a:gd name="T49" fmla="*/ 456 h 506"/>
                  <a:gd name="T50" fmla="*/ 0 w 989"/>
                  <a:gd name="T51" fmla="*/ 456 h 506"/>
                  <a:gd name="T52" fmla="*/ 0 w 989"/>
                  <a:gd name="T53" fmla="*/ 466 h 506"/>
                  <a:gd name="T54" fmla="*/ 4 w 989"/>
                  <a:gd name="T55" fmla="*/ 476 h 506"/>
                  <a:gd name="T56" fmla="*/ 15 w 989"/>
                  <a:gd name="T57" fmla="*/ 493 h 506"/>
                  <a:gd name="T58" fmla="*/ 33 w 989"/>
                  <a:gd name="T59" fmla="*/ 503 h 506"/>
                  <a:gd name="T60" fmla="*/ 44 w 989"/>
                  <a:gd name="T61" fmla="*/ 506 h 506"/>
                  <a:gd name="T62" fmla="*/ 56 w 989"/>
                  <a:gd name="T63" fmla="*/ 506 h 506"/>
                  <a:gd name="T64" fmla="*/ 934 w 989"/>
                  <a:gd name="T65" fmla="*/ 506 h 5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89" h="506">
                    <a:moveTo>
                      <a:pt x="934" y="506"/>
                    </a:moveTo>
                    <a:lnTo>
                      <a:pt x="934" y="506"/>
                    </a:lnTo>
                    <a:lnTo>
                      <a:pt x="945" y="506"/>
                    </a:lnTo>
                    <a:lnTo>
                      <a:pt x="956" y="503"/>
                    </a:lnTo>
                    <a:lnTo>
                      <a:pt x="975" y="493"/>
                    </a:lnTo>
                    <a:lnTo>
                      <a:pt x="986" y="476"/>
                    </a:lnTo>
                    <a:lnTo>
                      <a:pt x="989" y="466"/>
                    </a:lnTo>
                    <a:lnTo>
                      <a:pt x="989" y="456"/>
                    </a:lnTo>
                    <a:lnTo>
                      <a:pt x="989" y="50"/>
                    </a:lnTo>
                    <a:lnTo>
                      <a:pt x="989" y="37"/>
                    </a:lnTo>
                    <a:lnTo>
                      <a:pt x="986" y="30"/>
                    </a:lnTo>
                    <a:lnTo>
                      <a:pt x="975" y="13"/>
                    </a:lnTo>
                    <a:lnTo>
                      <a:pt x="956" y="3"/>
                    </a:lnTo>
                    <a:lnTo>
                      <a:pt x="945" y="0"/>
                    </a:lnTo>
                    <a:lnTo>
                      <a:pt x="934" y="0"/>
                    </a:lnTo>
                    <a:lnTo>
                      <a:pt x="56" y="0"/>
                    </a:lnTo>
                    <a:lnTo>
                      <a:pt x="44" y="0"/>
                    </a:lnTo>
                    <a:lnTo>
                      <a:pt x="33" y="3"/>
                    </a:lnTo>
                    <a:lnTo>
                      <a:pt x="15" y="13"/>
                    </a:lnTo>
                    <a:lnTo>
                      <a:pt x="4" y="30"/>
                    </a:lnTo>
                    <a:lnTo>
                      <a:pt x="0" y="37"/>
                    </a:lnTo>
                    <a:lnTo>
                      <a:pt x="0" y="50"/>
                    </a:lnTo>
                    <a:lnTo>
                      <a:pt x="0" y="456"/>
                    </a:lnTo>
                    <a:lnTo>
                      <a:pt x="0" y="466"/>
                    </a:lnTo>
                    <a:lnTo>
                      <a:pt x="4" y="476"/>
                    </a:lnTo>
                    <a:lnTo>
                      <a:pt x="15" y="493"/>
                    </a:lnTo>
                    <a:lnTo>
                      <a:pt x="33" y="503"/>
                    </a:lnTo>
                    <a:lnTo>
                      <a:pt x="44" y="506"/>
                    </a:lnTo>
                    <a:lnTo>
                      <a:pt x="56" y="506"/>
                    </a:lnTo>
                    <a:lnTo>
                      <a:pt x="934" y="506"/>
                    </a:lnTo>
                    <a:close/>
                  </a:path>
                </a:pathLst>
              </a:custGeom>
              <a:solidFill>
                <a:schemeClr val="bg1"/>
              </a:solidFill>
              <a:ln w="28575" cmpd="sng">
                <a:solidFill>
                  <a:srgbClr val="6D1845"/>
                </a:solidFill>
                <a:prstDash val="solid"/>
                <a:round/>
                <a:headEnd/>
                <a:tailEnd/>
              </a:ln>
            </p:spPr>
            <p:txBody>
              <a:bodyPr/>
              <a:lstStyle/>
              <a:p>
                <a:endParaRPr lang="en-LK"/>
              </a:p>
            </p:txBody>
          </p:sp>
          <p:sp>
            <p:nvSpPr>
              <p:cNvPr id="20512" name="Rectangle 36">
                <a:extLst>
                  <a:ext uri="{FF2B5EF4-FFF2-40B4-BE49-F238E27FC236}">
                    <a16:creationId xmlns:a16="http://schemas.microsoft.com/office/drawing/2014/main" id="{5BEA42A2-770C-5587-C791-8A37F1610F2C}"/>
                  </a:ext>
                </a:extLst>
              </p:cNvPr>
              <p:cNvSpPr>
                <a:spLocks noChangeArrowheads="1"/>
              </p:cNvSpPr>
              <p:nvPr/>
            </p:nvSpPr>
            <p:spPr bwMode="auto">
              <a:xfrm>
                <a:off x="2508" y="3491"/>
                <a:ext cx="6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Customers</a:t>
                </a:r>
                <a:endParaRPr lang="en-US" altLang="en-US" sz="1800">
                  <a:latin typeface="Times New Roman" panose="02020603050405020304" pitchFamily="18" charset="0"/>
                  <a:cs typeface="Times New Roman" panose="02020603050405020304" pitchFamily="18" charset="0"/>
                </a:endParaRPr>
              </a:p>
            </p:txBody>
          </p:sp>
        </p:grpSp>
        <p:sp>
          <p:nvSpPr>
            <p:cNvPr id="20503" name="Rectangle 37">
              <a:extLst>
                <a:ext uri="{FF2B5EF4-FFF2-40B4-BE49-F238E27FC236}">
                  <a16:creationId xmlns:a16="http://schemas.microsoft.com/office/drawing/2014/main" id="{63E26BB8-E3A8-62FB-8BC3-8E56ECDA0FAB}"/>
                </a:ext>
              </a:extLst>
            </p:cNvPr>
            <p:cNvSpPr>
              <a:spLocks noChangeArrowheads="1"/>
            </p:cNvSpPr>
            <p:nvPr/>
          </p:nvSpPr>
          <p:spPr bwMode="auto">
            <a:xfrm>
              <a:off x="1563" y="1742"/>
              <a:ext cx="103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Initial Financing</a:t>
              </a:r>
            </a:p>
          </p:txBody>
        </p:sp>
        <p:sp>
          <p:nvSpPr>
            <p:cNvPr id="20504" name="Rectangle 38">
              <a:extLst>
                <a:ext uri="{FF2B5EF4-FFF2-40B4-BE49-F238E27FC236}">
                  <a16:creationId xmlns:a16="http://schemas.microsoft.com/office/drawing/2014/main" id="{B5833BD8-636A-1CAF-5F4C-0C434BFF169A}"/>
                </a:ext>
              </a:extLst>
            </p:cNvPr>
            <p:cNvSpPr>
              <a:spLocks noChangeArrowheads="1"/>
            </p:cNvSpPr>
            <p:nvPr/>
          </p:nvSpPr>
          <p:spPr bwMode="auto">
            <a:xfrm>
              <a:off x="3172" y="1743"/>
              <a:ext cx="11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Profit After Taxes</a:t>
              </a:r>
            </a:p>
          </p:txBody>
        </p:sp>
        <p:sp>
          <p:nvSpPr>
            <p:cNvPr id="20505" name="Rectangle 39">
              <a:extLst>
                <a:ext uri="{FF2B5EF4-FFF2-40B4-BE49-F238E27FC236}">
                  <a16:creationId xmlns:a16="http://schemas.microsoft.com/office/drawing/2014/main" id="{6CEAD8E4-FD8C-4351-D46E-7F0C389355F3}"/>
                </a:ext>
              </a:extLst>
            </p:cNvPr>
            <p:cNvSpPr>
              <a:spLocks noChangeArrowheads="1"/>
            </p:cNvSpPr>
            <p:nvPr/>
          </p:nvSpPr>
          <p:spPr bwMode="auto">
            <a:xfrm>
              <a:off x="1555" y="2083"/>
              <a:ext cx="7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Input Costs</a:t>
              </a:r>
            </a:p>
          </p:txBody>
        </p:sp>
        <p:sp>
          <p:nvSpPr>
            <p:cNvPr id="20506" name="Rectangle 40">
              <a:extLst>
                <a:ext uri="{FF2B5EF4-FFF2-40B4-BE49-F238E27FC236}">
                  <a16:creationId xmlns:a16="http://schemas.microsoft.com/office/drawing/2014/main" id="{32BF1420-5DFB-ABFE-58E7-73E79B537988}"/>
                </a:ext>
              </a:extLst>
            </p:cNvPr>
            <p:cNvSpPr>
              <a:spLocks noChangeArrowheads="1"/>
            </p:cNvSpPr>
            <p:nvPr/>
          </p:nvSpPr>
          <p:spPr bwMode="auto">
            <a:xfrm>
              <a:off x="1692" y="2659"/>
              <a:ext cx="40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Inputs</a:t>
              </a:r>
              <a:endParaRPr lang="en-US" altLang="en-US" sz="1800" b="1">
                <a:latin typeface="Times New Roman" panose="02020603050405020304" pitchFamily="18" charset="0"/>
                <a:cs typeface="Times New Roman" panose="02020603050405020304" pitchFamily="18" charset="0"/>
              </a:endParaRPr>
            </a:p>
          </p:txBody>
        </p:sp>
        <p:sp>
          <p:nvSpPr>
            <p:cNvPr id="20507" name="Rectangle 41">
              <a:extLst>
                <a:ext uri="{FF2B5EF4-FFF2-40B4-BE49-F238E27FC236}">
                  <a16:creationId xmlns:a16="http://schemas.microsoft.com/office/drawing/2014/main" id="{3CBFF9CF-0685-BF1A-3129-D67A40A94672}"/>
                </a:ext>
              </a:extLst>
            </p:cNvPr>
            <p:cNvSpPr>
              <a:spLocks noChangeArrowheads="1"/>
            </p:cNvSpPr>
            <p:nvPr/>
          </p:nvSpPr>
          <p:spPr bwMode="auto">
            <a:xfrm>
              <a:off x="3702" y="2083"/>
              <a:ext cx="3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Taxes</a:t>
              </a:r>
              <a:endParaRPr lang="en-US" altLang="en-US" sz="1800" b="1">
                <a:latin typeface="Times New Roman" panose="02020603050405020304" pitchFamily="18" charset="0"/>
                <a:cs typeface="Times New Roman" panose="02020603050405020304" pitchFamily="18" charset="0"/>
              </a:endParaRPr>
            </a:p>
          </p:txBody>
        </p:sp>
        <p:sp>
          <p:nvSpPr>
            <p:cNvPr id="20508" name="Rectangle 42">
              <a:extLst>
                <a:ext uri="{FF2B5EF4-FFF2-40B4-BE49-F238E27FC236}">
                  <a16:creationId xmlns:a16="http://schemas.microsoft.com/office/drawing/2014/main" id="{74E730C0-ED18-80E8-1C1B-E30AEE7EFB80}"/>
                </a:ext>
              </a:extLst>
            </p:cNvPr>
            <p:cNvSpPr>
              <a:spLocks noChangeArrowheads="1"/>
            </p:cNvSpPr>
            <p:nvPr/>
          </p:nvSpPr>
          <p:spPr bwMode="auto">
            <a:xfrm>
              <a:off x="1976" y="3073"/>
              <a:ext cx="45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Output</a:t>
              </a:r>
              <a:endParaRPr lang="en-US" altLang="en-US" sz="1800" b="1">
                <a:latin typeface="Times New Roman" panose="02020603050405020304" pitchFamily="18" charset="0"/>
                <a:cs typeface="Times New Roman" panose="02020603050405020304" pitchFamily="18" charset="0"/>
              </a:endParaRPr>
            </a:p>
          </p:txBody>
        </p:sp>
        <p:sp>
          <p:nvSpPr>
            <p:cNvPr id="20509" name="Rectangle 43">
              <a:extLst>
                <a:ext uri="{FF2B5EF4-FFF2-40B4-BE49-F238E27FC236}">
                  <a16:creationId xmlns:a16="http://schemas.microsoft.com/office/drawing/2014/main" id="{030CC992-139E-8E5E-7144-0097FD9957C0}"/>
                </a:ext>
              </a:extLst>
            </p:cNvPr>
            <p:cNvSpPr>
              <a:spLocks noChangeArrowheads="1"/>
            </p:cNvSpPr>
            <p:nvPr/>
          </p:nvSpPr>
          <p:spPr bwMode="auto">
            <a:xfrm>
              <a:off x="3144" y="3073"/>
              <a:ext cx="53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Revenue</a:t>
              </a:r>
              <a:endParaRPr lang="en-US" altLang="en-US" sz="1800" b="1">
                <a:latin typeface="Times New Roman" panose="02020603050405020304" pitchFamily="18" charset="0"/>
                <a:cs typeface="Times New Roman" panose="02020603050405020304" pitchFamily="18" charset="0"/>
              </a:endParaRPr>
            </a:p>
          </p:txBody>
        </p:sp>
        <p:sp>
          <p:nvSpPr>
            <p:cNvPr id="20510" name="Rectangle 44">
              <a:extLst>
                <a:ext uri="{FF2B5EF4-FFF2-40B4-BE49-F238E27FC236}">
                  <a16:creationId xmlns:a16="http://schemas.microsoft.com/office/drawing/2014/main" id="{649B63D7-FDA4-F808-E195-354A6D830F76}"/>
                </a:ext>
              </a:extLst>
            </p:cNvPr>
            <p:cNvSpPr>
              <a:spLocks noChangeArrowheads="1"/>
            </p:cNvSpPr>
            <p:nvPr/>
          </p:nvSpPr>
          <p:spPr bwMode="auto">
            <a:xfrm rot="10800000" flipV="1">
              <a:off x="3094" y="2710"/>
              <a:ext cx="186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Government Services Government Regulations                                                                    </a:t>
              </a:r>
              <a:endParaRPr lang="en-US" altLang="en-US" sz="1800" b="1">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000"/>
                                        </p:tgtEl>
                                        <p:attrNameLst>
                                          <p:attrName>style.visibility</p:attrName>
                                        </p:attrNameLst>
                                      </p:cBhvr>
                                      <p:to>
                                        <p:strVal val="visible"/>
                                      </p:to>
                                    </p:set>
                                    <p:animEffect transition="in" filter="wipe(left)">
                                      <p:cBhvr>
                                        <p:cTn id="7" dur="500"/>
                                        <p:tgtEl>
                                          <p:spTgt spid="85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1" name="Rectangle 21510">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513" name="Rectangle 2151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515" name="Rectangle 2151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05" name="Rectangle 2">
            <a:extLst>
              <a:ext uri="{FF2B5EF4-FFF2-40B4-BE49-F238E27FC236}">
                <a16:creationId xmlns:a16="http://schemas.microsoft.com/office/drawing/2014/main" id="{6CF31CFC-9C34-93D8-629F-1501C4386D16}"/>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Production</a:t>
            </a:r>
          </a:p>
        </p:txBody>
      </p:sp>
      <p:sp>
        <p:nvSpPr>
          <p:cNvPr id="21517" name="Rectangle 2151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506" name="Rectangle 3">
            <a:extLst>
              <a:ext uri="{FF2B5EF4-FFF2-40B4-BE49-F238E27FC236}">
                <a16:creationId xmlns:a16="http://schemas.microsoft.com/office/drawing/2014/main" id="{8FEAC5B5-BCF7-8430-11E6-DF97D121B788}"/>
              </a:ext>
            </a:extLst>
          </p:cNvPr>
          <p:cNvSpPr>
            <a:spLocks noGrp="1" noChangeArrowheads="1"/>
          </p:cNvSpPr>
          <p:nvPr>
            <p:ph idx="1"/>
          </p:nvPr>
        </p:nvSpPr>
        <p:spPr>
          <a:xfrm>
            <a:off x="1115568" y="2481943"/>
            <a:ext cx="10168128" cy="3695020"/>
          </a:xfrm>
        </p:spPr>
        <p:txBody>
          <a:bodyPr>
            <a:normAutofit/>
          </a:bodyPr>
          <a:lstStyle/>
          <a:p>
            <a:pPr eaLnBrk="1" hangingPunct="1"/>
            <a:r>
              <a:rPr lang="en-US" altLang="en-US" sz="2200" b="1" dirty="0">
                <a:solidFill>
                  <a:srgbClr val="FF0000"/>
                </a:solidFill>
                <a:latin typeface="Times New Roman" panose="02020603050405020304" pitchFamily="18" charset="0"/>
                <a:cs typeface="Times New Roman" panose="02020603050405020304" pitchFamily="18" charset="0"/>
              </a:rPr>
              <a:t>Production involves using inputs to produce an output</a:t>
            </a:r>
          </a:p>
          <a:p>
            <a:pPr eaLnBrk="1" hangingPunct="1"/>
            <a:r>
              <a:rPr lang="en-US" altLang="en-US" sz="2200" b="1" dirty="0">
                <a:latin typeface="Times New Roman" panose="02020603050405020304" pitchFamily="18" charset="0"/>
                <a:cs typeface="Times New Roman" panose="02020603050405020304" pitchFamily="18" charset="0"/>
              </a:rPr>
              <a:t>Inputs include resources</a:t>
            </a:r>
          </a:p>
          <a:p>
            <a:pPr lvl="1" eaLnBrk="1" hangingPunct="1">
              <a:buFont typeface="Wingdings" pitchFamily="2" charset="2"/>
              <a:buChar char="§"/>
            </a:pPr>
            <a:r>
              <a:rPr lang="en-US" altLang="en-US" sz="2200" dirty="0">
                <a:latin typeface="Times New Roman" panose="02020603050405020304" pitchFamily="18" charset="0"/>
                <a:cs typeface="Times New Roman" panose="02020603050405020304" pitchFamily="18" charset="0"/>
              </a:rPr>
              <a:t>Labor</a:t>
            </a:r>
          </a:p>
          <a:p>
            <a:pPr lvl="1" eaLnBrk="1" hangingPunct="1">
              <a:buFont typeface="Wingdings" pitchFamily="2" charset="2"/>
              <a:buChar char="§"/>
            </a:pPr>
            <a:r>
              <a:rPr lang="en-US" altLang="en-US" sz="2200" dirty="0">
                <a:latin typeface="Times New Roman" panose="02020603050405020304" pitchFamily="18" charset="0"/>
                <a:cs typeface="Times New Roman" panose="02020603050405020304" pitchFamily="18" charset="0"/>
              </a:rPr>
              <a:t>Capital</a:t>
            </a:r>
          </a:p>
          <a:p>
            <a:pPr lvl="1" eaLnBrk="1" hangingPunct="1">
              <a:buFont typeface="Wingdings" pitchFamily="2" charset="2"/>
              <a:buChar char="§"/>
            </a:pPr>
            <a:r>
              <a:rPr lang="en-US" altLang="en-US" sz="2200" dirty="0">
                <a:latin typeface="Times New Roman" panose="02020603050405020304" pitchFamily="18" charset="0"/>
                <a:cs typeface="Times New Roman" panose="02020603050405020304" pitchFamily="18" charset="0"/>
              </a:rPr>
              <a:t>Land</a:t>
            </a:r>
          </a:p>
          <a:p>
            <a:pPr lvl="1" eaLnBrk="1" hangingPunct="1">
              <a:buFont typeface="Wingdings" pitchFamily="2" charset="2"/>
              <a:buChar char="§"/>
            </a:pPr>
            <a:r>
              <a:rPr lang="en-US" altLang="en-US" sz="2200" dirty="0">
                <a:latin typeface="Times New Roman" panose="02020603050405020304" pitchFamily="18" charset="0"/>
                <a:cs typeface="Times New Roman" panose="02020603050405020304" pitchFamily="18" charset="0"/>
              </a:rPr>
              <a:t>Raw materials</a:t>
            </a:r>
          </a:p>
          <a:p>
            <a:pPr lvl="1" eaLnBrk="1" hangingPunct="1">
              <a:buFont typeface="Wingdings" pitchFamily="2" charset="2"/>
              <a:buChar char="§"/>
            </a:pPr>
            <a:r>
              <a:rPr lang="en-US" altLang="en-US" sz="2200" dirty="0">
                <a:latin typeface="Times New Roman" panose="02020603050405020304" pitchFamily="18" charset="0"/>
                <a:cs typeface="Times New Roman" panose="02020603050405020304" pitchFamily="18" charset="0"/>
              </a:rPr>
              <a:t>Other goods and services provided by other firms</a:t>
            </a:r>
          </a:p>
          <a:p>
            <a:pPr eaLnBrk="1" hangingPunct="1"/>
            <a:r>
              <a:rPr lang="en-US" altLang="en-US" sz="2200" b="1" dirty="0">
                <a:latin typeface="Times New Roman" panose="02020603050405020304" pitchFamily="18" charset="0"/>
                <a:cs typeface="Times New Roman" panose="02020603050405020304" pitchFamily="18" charset="0"/>
              </a:rPr>
              <a:t>The way in which these inputs may be combined to produce output is the firm’s technology</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b="1" dirty="0">
                <a:latin typeface="Times New Roman" panose="02020603050405020304" pitchFamily="18" charset="0"/>
                <a:cs typeface="Times New Roman" panose="02020603050405020304" pitchFamily="18" charset="0"/>
              </a:rPr>
              <a:t>Production </a:t>
            </a:r>
            <a:endParaRPr lang="en-IN"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737616" y="2481943"/>
            <a:ext cx="10168128" cy="3695020"/>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Production means transforming inputs (labor, machines, raw materials, etc.) into output.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production process does not necessarily involve the physical conversion of raw materials into tangible goods; it also includes the conversion of intangible inputs to intangible outputs.  Ex., layer, doctors, social workers, etc.</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input is good or service that goes into the process of production and output is any good or service that comes out of production process.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2" name="Rectangle 21511">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a:extLst>
              <a:ext uri="{FF2B5EF4-FFF2-40B4-BE49-F238E27FC236}">
                <a16:creationId xmlns:a16="http://schemas.microsoft.com/office/drawing/2014/main" id="{B405099F-3690-954B-018A-489A43B227A0}"/>
              </a:ext>
            </a:extLst>
          </p:cNvPr>
          <p:cNvSpPr>
            <a:spLocks noGrp="1" noChangeArrowheads="1"/>
          </p:cNvSpPr>
          <p:nvPr>
            <p:ph type="title"/>
          </p:nvPr>
        </p:nvSpPr>
        <p:spPr>
          <a:xfrm>
            <a:off x="841248" y="426720"/>
            <a:ext cx="10506456" cy="1919141"/>
          </a:xfrm>
        </p:spPr>
        <p:txBody>
          <a:bodyPr rtlCol="0" anchor="b">
            <a:normAutofit/>
          </a:bodyPr>
          <a:lstStyle/>
          <a:p>
            <a:pPr eaLnBrk="1" fontAlgn="auto" hangingPunct="1">
              <a:spcAft>
                <a:spcPts val="0"/>
              </a:spcAft>
              <a:defRPr/>
            </a:pPr>
            <a:r>
              <a:rPr lang="en-US" altLang="en-US" sz="6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Production Technology</a:t>
            </a:r>
          </a:p>
        </p:txBody>
      </p:sp>
      <p:sp>
        <p:nvSpPr>
          <p:cNvPr id="21514" name="Rectangle 215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516" name="Rectangle 215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507" name="Rectangle 3">
            <a:extLst>
              <a:ext uri="{FF2B5EF4-FFF2-40B4-BE49-F238E27FC236}">
                <a16:creationId xmlns:a16="http://schemas.microsoft.com/office/drawing/2014/main" id="{C5A7A18E-825A-EDBD-50E0-0C720505E7E3}"/>
              </a:ext>
            </a:extLst>
          </p:cNvPr>
          <p:cNvSpPr>
            <a:spLocks noGrp="1" noChangeArrowheads="1"/>
          </p:cNvSpPr>
          <p:nvPr>
            <p:ph idx="1"/>
          </p:nvPr>
        </p:nvSpPr>
        <p:spPr>
          <a:xfrm>
            <a:off x="841248" y="3337269"/>
            <a:ext cx="10509504" cy="2905686"/>
          </a:xfrm>
        </p:spPr>
        <p:txBody>
          <a:bodyPr rtlCol="0">
            <a:normAutofit/>
          </a:bodyPr>
          <a:lstStyle/>
          <a:p>
            <a:pPr marL="0" indent="0" eaLnBrk="1" fontAlgn="auto" hangingPunct="1">
              <a:spcAft>
                <a:spcPts val="0"/>
              </a:spcAft>
              <a:buFont typeface="Calibri" panose="020F0502020204030204" pitchFamily="34" charset="0"/>
              <a:buNone/>
              <a:defRPr/>
            </a:pPr>
            <a:r>
              <a:rPr lang="en-US" altLang="en-US" sz="2400" b="1" dirty="0">
                <a:latin typeface="Times New Roman" panose="02020603050405020304" pitchFamily="18" charset="0"/>
                <a:cs typeface="Times New Roman" panose="02020603050405020304" pitchFamily="18" charset="0"/>
              </a:rPr>
              <a:t>A firm’s technology is treated as a given</a:t>
            </a:r>
          </a:p>
          <a:p>
            <a:pPr marL="0" indent="0" eaLnBrk="1" fontAlgn="auto" hangingPunct="1">
              <a:spcAft>
                <a:spcPts val="0"/>
              </a:spcAft>
              <a:buFont typeface="Calibri" panose="020F0502020204030204" pitchFamily="34" charset="0"/>
              <a:buNone/>
              <a:defRPr/>
            </a:pPr>
            <a:r>
              <a:rPr lang="en-US" altLang="en-US" sz="2400" b="1" dirty="0">
                <a:latin typeface="Times New Roman" panose="02020603050405020304" pitchFamily="18" charset="0"/>
                <a:cs typeface="Times New Roman" panose="02020603050405020304" pitchFamily="18" charset="0"/>
              </a:rPr>
              <a:t> </a:t>
            </a:r>
          </a:p>
          <a:p>
            <a:pPr marL="715518" lvl="1" indent="-514350"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Constraint on its production, which is spelled out by the firm’s </a:t>
            </a:r>
            <a:r>
              <a:rPr lang="en-US" altLang="en-US" b="1" dirty="0">
                <a:solidFill>
                  <a:srgbClr val="FF0000"/>
                </a:solidFill>
                <a:latin typeface="Times New Roman" panose="02020603050405020304" pitchFamily="18" charset="0"/>
                <a:cs typeface="Times New Roman" panose="02020603050405020304" pitchFamily="18" charset="0"/>
              </a:rPr>
              <a:t>production function</a:t>
            </a:r>
          </a:p>
          <a:p>
            <a:pPr marL="342900" lvl="1" indent="0" eaLnBrk="1" fontAlgn="auto" hangingPunct="1">
              <a:spcAft>
                <a:spcPts val="0"/>
              </a:spcAft>
              <a:buFont typeface="Calibri" panose="020F0502020204030204" pitchFamily="34" charset="0"/>
              <a:buNone/>
              <a:defRPr/>
            </a:pPr>
            <a:endParaRPr lang="en-US" altLang="en-US" b="1" dirty="0">
              <a:latin typeface="Times New Roman" panose="02020603050405020304" pitchFamily="18" charset="0"/>
              <a:cs typeface="Times New Roman" panose="02020603050405020304" pitchFamily="18" charset="0"/>
            </a:endParaRPr>
          </a:p>
          <a:p>
            <a:pPr marL="658368" lvl="1" indent="-457200"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For each different combination of inputs, the production function tells us the maximum quantity of output a firm can produce over some period of time</a:t>
            </a:r>
          </a:p>
          <a:p>
            <a:pPr marL="384048" lvl="1" indent="-182880" eaLnBrk="1" fontAlgn="auto" hangingPunct="1">
              <a:spcAft>
                <a:spcPts val="0"/>
              </a:spcAft>
              <a:defRPr/>
            </a:pPr>
            <a:endParaRPr lang="en-US" altLang="en-US" dirty="0">
              <a:latin typeface="Times New Roman" panose="02020603050405020304" pitchFamily="18" charset="0"/>
              <a:cs typeface="Times New Roman" panose="02020603050405020304" pitchFamily="18" charset="0"/>
            </a:endParaRPr>
          </a:p>
          <a:p>
            <a:pPr marL="91440" indent="-91440" eaLnBrk="1" fontAlgn="auto" hangingPunct="1">
              <a:spcAft>
                <a:spcPts val="0"/>
              </a:spcAft>
              <a:defRP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66" name="Rectangle 23565">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a:extLst>
              <a:ext uri="{FF2B5EF4-FFF2-40B4-BE49-F238E27FC236}">
                <a16:creationId xmlns:a16="http://schemas.microsoft.com/office/drawing/2014/main" id="{FED91F14-C149-B90C-F558-8CD5657D1287}"/>
              </a:ext>
            </a:extLst>
          </p:cNvPr>
          <p:cNvSpPr>
            <a:spLocks noGrp="1" noChangeArrowheads="1"/>
          </p:cNvSpPr>
          <p:nvPr>
            <p:ph type="title"/>
          </p:nvPr>
        </p:nvSpPr>
        <p:spPr>
          <a:xfrm>
            <a:off x="841248" y="334644"/>
            <a:ext cx="10509504" cy="1076914"/>
          </a:xfrm>
        </p:spPr>
        <p:txBody>
          <a:bodyPr vert="horz" lIns="91440" tIns="45720" rIns="91440" bIns="45720" rtlCol="0" anchor="ctr">
            <a:normAutofit/>
          </a:bodyPr>
          <a:lstStyle/>
          <a:p>
            <a:pPr fontAlgn="auto">
              <a:spcAft>
                <a:spcPts val="0"/>
              </a:spcAft>
              <a:defRPr/>
            </a:pPr>
            <a:r>
              <a:rPr lang="en-US" altLang="en-US" sz="4000" b="1" kern="1200" dirty="0">
                <a:solidFill>
                  <a:schemeClr val="tx1"/>
                </a:solidFill>
                <a:latin typeface="Times New Roman" panose="02020603050405020304" pitchFamily="18" charset="0"/>
                <a:cs typeface="Times New Roman" panose="02020603050405020304" pitchFamily="18" charset="0"/>
              </a:rPr>
              <a:t>The Firm’s Production Function</a:t>
            </a:r>
          </a:p>
        </p:txBody>
      </p:sp>
      <p:sp>
        <p:nvSpPr>
          <p:cNvPr id="23568" name="Rectangle 23567">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570" name="Rectangle 23569">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3554" name="Group 8">
            <a:extLst>
              <a:ext uri="{FF2B5EF4-FFF2-40B4-BE49-F238E27FC236}">
                <a16:creationId xmlns:a16="http://schemas.microsoft.com/office/drawing/2014/main" id="{D3E10DD1-E335-4875-C7F4-D451514471BD}"/>
              </a:ext>
            </a:extLst>
          </p:cNvPr>
          <p:cNvGrpSpPr>
            <a:grpSpLocks/>
          </p:cNvGrpSpPr>
          <p:nvPr/>
        </p:nvGrpSpPr>
        <p:grpSpPr bwMode="auto">
          <a:xfrm>
            <a:off x="838200" y="2508337"/>
            <a:ext cx="10506454" cy="2993472"/>
            <a:chOff x="143" y="1394"/>
            <a:chExt cx="5377" cy="1532"/>
          </a:xfrm>
        </p:grpSpPr>
        <p:sp>
          <p:nvSpPr>
            <p:cNvPr id="23555" name="Rectangle 9">
              <a:extLst>
                <a:ext uri="{FF2B5EF4-FFF2-40B4-BE49-F238E27FC236}">
                  <a16:creationId xmlns:a16="http://schemas.microsoft.com/office/drawing/2014/main" id="{B8A44FC9-8263-33D0-BBCF-1B6457252EBB}"/>
                </a:ext>
              </a:extLst>
            </p:cNvPr>
            <p:cNvSpPr>
              <a:spLocks noChangeArrowheads="1"/>
            </p:cNvSpPr>
            <p:nvPr/>
          </p:nvSpPr>
          <p:spPr bwMode="auto">
            <a:xfrm rot="10800000" flipV="1">
              <a:off x="143" y="1900"/>
              <a:ext cx="1105"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124712">
                <a:spcBef>
                  <a:spcPct val="0"/>
                </a:spcBef>
                <a:spcAft>
                  <a:spcPts val="600"/>
                </a:spcAft>
                <a:buNone/>
              </a:pPr>
              <a:r>
                <a:rPr lang="en-US" altLang="en-US" sz="2460" b="1" kern="1200">
                  <a:solidFill>
                    <a:srgbClr val="000000"/>
                  </a:solidFill>
                  <a:latin typeface="Times New Roman" panose="02020603050405020304" pitchFamily="18" charset="0"/>
                  <a:ea typeface="+mn-ea"/>
                  <a:cs typeface="Times New Roman" panose="02020603050405020304" pitchFamily="18" charset="0"/>
                </a:rPr>
                <a:t>Alternative Input Combinations</a:t>
              </a:r>
              <a:endParaRPr lang="en-US" altLang="en-US" sz="2000" b="1">
                <a:solidFill>
                  <a:srgbClr val="000000"/>
                </a:solidFill>
                <a:latin typeface="Times New Roman" panose="02020603050405020304" pitchFamily="18" charset="0"/>
                <a:cs typeface="Times New Roman" panose="02020603050405020304" pitchFamily="18" charset="0"/>
              </a:endParaRPr>
            </a:p>
          </p:txBody>
        </p:sp>
        <p:sp>
          <p:nvSpPr>
            <p:cNvPr id="23556" name="Rectangle 10">
              <a:extLst>
                <a:ext uri="{FF2B5EF4-FFF2-40B4-BE49-F238E27FC236}">
                  <a16:creationId xmlns:a16="http://schemas.microsoft.com/office/drawing/2014/main" id="{8189BAFC-D5D5-6F43-A6B9-B3D011470B60}"/>
                </a:ext>
              </a:extLst>
            </p:cNvPr>
            <p:cNvSpPr>
              <a:spLocks noChangeArrowheads="1"/>
            </p:cNvSpPr>
            <p:nvPr/>
          </p:nvSpPr>
          <p:spPr bwMode="auto">
            <a:xfrm>
              <a:off x="4507" y="1900"/>
              <a:ext cx="10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124712">
                <a:spcBef>
                  <a:spcPct val="0"/>
                </a:spcBef>
                <a:spcAft>
                  <a:spcPts val="600"/>
                </a:spcAft>
                <a:buNone/>
              </a:pPr>
              <a:r>
                <a:rPr lang="en-US" altLang="en-US" sz="2460" b="1" kern="1200">
                  <a:solidFill>
                    <a:srgbClr val="000000"/>
                  </a:solidFill>
                  <a:latin typeface="Times New Roman" panose="02020603050405020304" pitchFamily="18" charset="0"/>
                  <a:ea typeface="+mn-ea"/>
                  <a:cs typeface="Times New Roman" panose="02020603050405020304" pitchFamily="18" charset="0"/>
                </a:rPr>
                <a:t>Different Quantities of Output</a:t>
              </a:r>
              <a:endParaRPr lang="en-US" altLang="en-US" sz="2000">
                <a:latin typeface="Times New Roman" panose="02020603050405020304" pitchFamily="18" charset="0"/>
                <a:cs typeface="Times New Roman" panose="02020603050405020304" pitchFamily="18" charset="0"/>
              </a:endParaRPr>
            </a:p>
          </p:txBody>
        </p:sp>
        <p:grpSp>
          <p:nvGrpSpPr>
            <p:cNvPr id="23557" name="Group 11">
              <a:extLst>
                <a:ext uri="{FF2B5EF4-FFF2-40B4-BE49-F238E27FC236}">
                  <a16:creationId xmlns:a16="http://schemas.microsoft.com/office/drawing/2014/main" id="{07E18E21-EE73-D49D-2854-D31807D8DE04}"/>
                </a:ext>
              </a:extLst>
            </p:cNvPr>
            <p:cNvGrpSpPr>
              <a:grpSpLocks/>
            </p:cNvGrpSpPr>
            <p:nvPr/>
          </p:nvGrpSpPr>
          <p:grpSpPr bwMode="auto">
            <a:xfrm>
              <a:off x="2032" y="1394"/>
              <a:ext cx="1691" cy="1532"/>
              <a:chOff x="2075" y="1394"/>
              <a:chExt cx="1691" cy="1532"/>
            </a:xfrm>
          </p:grpSpPr>
          <p:sp>
            <p:nvSpPr>
              <p:cNvPr id="23560" name="Freeform 12">
                <a:extLst>
                  <a:ext uri="{FF2B5EF4-FFF2-40B4-BE49-F238E27FC236}">
                    <a16:creationId xmlns:a16="http://schemas.microsoft.com/office/drawing/2014/main" id="{1828CC75-B2FA-B9CA-D03A-32449877403C}"/>
                  </a:ext>
                </a:extLst>
              </p:cNvPr>
              <p:cNvSpPr>
                <a:spLocks/>
              </p:cNvSpPr>
              <p:nvPr/>
            </p:nvSpPr>
            <p:spPr bwMode="auto">
              <a:xfrm>
                <a:off x="2075" y="1394"/>
                <a:ext cx="1691" cy="1532"/>
              </a:xfrm>
              <a:custGeom>
                <a:avLst/>
                <a:gdLst>
                  <a:gd name="T0" fmla="*/ 1596 w 1691"/>
                  <a:gd name="T1" fmla="*/ 1532 h 1532"/>
                  <a:gd name="T2" fmla="*/ 1596 w 1691"/>
                  <a:gd name="T3" fmla="*/ 1532 h 1532"/>
                  <a:gd name="T4" fmla="*/ 1615 w 1691"/>
                  <a:gd name="T5" fmla="*/ 1524 h 1532"/>
                  <a:gd name="T6" fmla="*/ 1634 w 1691"/>
                  <a:gd name="T7" fmla="*/ 1517 h 1532"/>
                  <a:gd name="T8" fmla="*/ 1648 w 1691"/>
                  <a:gd name="T9" fmla="*/ 1502 h 1532"/>
                  <a:gd name="T10" fmla="*/ 1662 w 1691"/>
                  <a:gd name="T11" fmla="*/ 1487 h 1532"/>
                  <a:gd name="T12" fmla="*/ 1672 w 1691"/>
                  <a:gd name="T13" fmla="*/ 1464 h 1532"/>
                  <a:gd name="T14" fmla="*/ 1681 w 1691"/>
                  <a:gd name="T15" fmla="*/ 1442 h 1532"/>
                  <a:gd name="T16" fmla="*/ 1686 w 1691"/>
                  <a:gd name="T17" fmla="*/ 1412 h 1532"/>
                  <a:gd name="T18" fmla="*/ 1691 w 1691"/>
                  <a:gd name="T19" fmla="*/ 1382 h 1532"/>
                  <a:gd name="T20" fmla="*/ 1691 w 1691"/>
                  <a:gd name="T21" fmla="*/ 150 h 1532"/>
                  <a:gd name="T22" fmla="*/ 1691 w 1691"/>
                  <a:gd name="T23" fmla="*/ 150 h 1532"/>
                  <a:gd name="T24" fmla="*/ 1686 w 1691"/>
                  <a:gd name="T25" fmla="*/ 120 h 1532"/>
                  <a:gd name="T26" fmla="*/ 1681 w 1691"/>
                  <a:gd name="T27" fmla="*/ 90 h 1532"/>
                  <a:gd name="T28" fmla="*/ 1672 w 1691"/>
                  <a:gd name="T29" fmla="*/ 68 h 1532"/>
                  <a:gd name="T30" fmla="*/ 1662 w 1691"/>
                  <a:gd name="T31" fmla="*/ 45 h 1532"/>
                  <a:gd name="T32" fmla="*/ 1648 w 1691"/>
                  <a:gd name="T33" fmla="*/ 30 h 1532"/>
                  <a:gd name="T34" fmla="*/ 1634 w 1691"/>
                  <a:gd name="T35" fmla="*/ 15 h 1532"/>
                  <a:gd name="T36" fmla="*/ 1615 w 1691"/>
                  <a:gd name="T37" fmla="*/ 8 h 1532"/>
                  <a:gd name="T38" fmla="*/ 1596 w 1691"/>
                  <a:gd name="T39" fmla="*/ 0 h 1532"/>
                  <a:gd name="T40" fmla="*/ 95 w 1691"/>
                  <a:gd name="T41" fmla="*/ 0 h 1532"/>
                  <a:gd name="T42" fmla="*/ 95 w 1691"/>
                  <a:gd name="T43" fmla="*/ 0 h 1532"/>
                  <a:gd name="T44" fmla="*/ 76 w 1691"/>
                  <a:gd name="T45" fmla="*/ 8 h 1532"/>
                  <a:gd name="T46" fmla="*/ 62 w 1691"/>
                  <a:gd name="T47" fmla="*/ 15 h 1532"/>
                  <a:gd name="T48" fmla="*/ 43 w 1691"/>
                  <a:gd name="T49" fmla="*/ 30 h 1532"/>
                  <a:gd name="T50" fmla="*/ 28 w 1691"/>
                  <a:gd name="T51" fmla="*/ 45 h 1532"/>
                  <a:gd name="T52" fmla="*/ 19 w 1691"/>
                  <a:gd name="T53" fmla="*/ 68 h 1532"/>
                  <a:gd name="T54" fmla="*/ 9 w 1691"/>
                  <a:gd name="T55" fmla="*/ 90 h 1532"/>
                  <a:gd name="T56" fmla="*/ 5 w 1691"/>
                  <a:gd name="T57" fmla="*/ 120 h 1532"/>
                  <a:gd name="T58" fmla="*/ 0 w 1691"/>
                  <a:gd name="T59" fmla="*/ 150 h 1532"/>
                  <a:gd name="T60" fmla="*/ 0 w 1691"/>
                  <a:gd name="T61" fmla="*/ 1382 h 1532"/>
                  <a:gd name="T62" fmla="*/ 0 w 1691"/>
                  <a:gd name="T63" fmla="*/ 1382 h 1532"/>
                  <a:gd name="T64" fmla="*/ 5 w 1691"/>
                  <a:gd name="T65" fmla="*/ 1412 h 1532"/>
                  <a:gd name="T66" fmla="*/ 9 w 1691"/>
                  <a:gd name="T67" fmla="*/ 1442 h 1532"/>
                  <a:gd name="T68" fmla="*/ 19 w 1691"/>
                  <a:gd name="T69" fmla="*/ 1464 h 1532"/>
                  <a:gd name="T70" fmla="*/ 28 w 1691"/>
                  <a:gd name="T71" fmla="*/ 1487 h 1532"/>
                  <a:gd name="T72" fmla="*/ 43 w 1691"/>
                  <a:gd name="T73" fmla="*/ 1502 h 1532"/>
                  <a:gd name="T74" fmla="*/ 62 w 1691"/>
                  <a:gd name="T75" fmla="*/ 1517 h 1532"/>
                  <a:gd name="T76" fmla="*/ 76 w 1691"/>
                  <a:gd name="T77" fmla="*/ 1524 h 1532"/>
                  <a:gd name="T78" fmla="*/ 95 w 1691"/>
                  <a:gd name="T79" fmla="*/ 1532 h 1532"/>
                  <a:gd name="T80" fmla="*/ 1596 w 1691"/>
                  <a:gd name="T81" fmla="*/ 1532 h 153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691" h="1532">
                    <a:moveTo>
                      <a:pt x="1596" y="1532"/>
                    </a:moveTo>
                    <a:lnTo>
                      <a:pt x="1596" y="1532"/>
                    </a:lnTo>
                    <a:lnTo>
                      <a:pt x="1615" y="1524"/>
                    </a:lnTo>
                    <a:lnTo>
                      <a:pt x="1634" y="1517"/>
                    </a:lnTo>
                    <a:lnTo>
                      <a:pt x="1648" y="1502"/>
                    </a:lnTo>
                    <a:lnTo>
                      <a:pt x="1662" y="1487"/>
                    </a:lnTo>
                    <a:lnTo>
                      <a:pt x="1672" y="1464"/>
                    </a:lnTo>
                    <a:lnTo>
                      <a:pt x="1681" y="1442"/>
                    </a:lnTo>
                    <a:lnTo>
                      <a:pt x="1686" y="1412"/>
                    </a:lnTo>
                    <a:lnTo>
                      <a:pt x="1691" y="1382"/>
                    </a:lnTo>
                    <a:lnTo>
                      <a:pt x="1691" y="150"/>
                    </a:lnTo>
                    <a:lnTo>
                      <a:pt x="1686" y="120"/>
                    </a:lnTo>
                    <a:lnTo>
                      <a:pt x="1681" y="90"/>
                    </a:lnTo>
                    <a:lnTo>
                      <a:pt x="1672" y="68"/>
                    </a:lnTo>
                    <a:lnTo>
                      <a:pt x="1662" y="45"/>
                    </a:lnTo>
                    <a:lnTo>
                      <a:pt x="1648" y="30"/>
                    </a:lnTo>
                    <a:lnTo>
                      <a:pt x="1634" y="15"/>
                    </a:lnTo>
                    <a:lnTo>
                      <a:pt x="1615" y="8"/>
                    </a:lnTo>
                    <a:lnTo>
                      <a:pt x="1596" y="0"/>
                    </a:lnTo>
                    <a:lnTo>
                      <a:pt x="95" y="0"/>
                    </a:lnTo>
                    <a:lnTo>
                      <a:pt x="76" y="8"/>
                    </a:lnTo>
                    <a:lnTo>
                      <a:pt x="62" y="15"/>
                    </a:lnTo>
                    <a:lnTo>
                      <a:pt x="43" y="30"/>
                    </a:lnTo>
                    <a:lnTo>
                      <a:pt x="28" y="45"/>
                    </a:lnTo>
                    <a:lnTo>
                      <a:pt x="19" y="68"/>
                    </a:lnTo>
                    <a:lnTo>
                      <a:pt x="9" y="90"/>
                    </a:lnTo>
                    <a:lnTo>
                      <a:pt x="5" y="120"/>
                    </a:lnTo>
                    <a:lnTo>
                      <a:pt x="0" y="150"/>
                    </a:lnTo>
                    <a:lnTo>
                      <a:pt x="0" y="1382"/>
                    </a:lnTo>
                    <a:lnTo>
                      <a:pt x="5" y="1412"/>
                    </a:lnTo>
                    <a:lnTo>
                      <a:pt x="9" y="1442"/>
                    </a:lnTo>
                    <a:lnTo>
                      <a:pt x="19" y="1464"/>
                    </a:lnTo>
                    <a:lnTo>
                      <a:pt x="28" y="1487"/>
                    </a:lnTo>
                    <a:lnTo>
                      <a:pt x="43" y="1502"/>
                    </a:lnTo>
                    <a:lnTo>
                      <a:pt x="62" y="1517"/>
                    </a:lnTo>
                    <a:lnTo>
                      <a:pt x="76" y="1524"/>
                    </a:lnTo>
                    <a:lnTo>
                      <a:pt x="95" y="1532"/>
                    </a:lnTo>
                    <a:lnTo>
                      <a:pt x="1596" y="1532"/>
                    </a:lnTo>
                    <a:close/>
                  </a:path>
                </a:pathLst>
              </a:custGeom>
              <a:solidFill>
                <a:schemeClr val="bg1"/>
              </a:solidFill>
              <a:ln w="19050" cmpd="sng">
                <a:solidFill>
                  <a:srgbClr val="C00000"/>
                </a:solidFill>
                <a:prstDash val="solid"/>
                <a:round/>
                <a:headEnd/>
                <a:tailEnd/>
              </a:ln>
            </p:spPr>
            <p:txBody>
              <a:bodyPr/>
              <a:lstStyle/>
              <a:p>
                <a:endParaRPr lang="en-LK"/>
              </a:p>
            </p:txBody>
          </p:sp>
          <p:sp>
            <p:nvSpPr>
              <p:cNvPr id="23561" name="Rectangle 13">
                <a:extLst>
                  <a:ext uri="{FF2B5EF4-FFF2-40B4-BE49-F238E27FC236}">
                    <a16:creationId xmlns:a16="http://schemas.microsoft.com/office/drawing/2014/main" id="{0B6ADD5C-EC7A-322A-77F8-FA7973E75AAB}"/>
                  </a:ext>
                </a:extLst>
              </p:cNvPr>
              <p:cNvSpPr>
                <a:spLocks noChangeArrowheads="1"/>
              </p:cNvSpPr>
              <p:nvPr/>
            </p:nvSpPr>
            <p:spPr bwMode="auto">
              <a:xfrm>
                <a:off x="2400" y="1930"/>
                <a:ext cx="104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defTabSz="1124712">
                  <a:lnSpc>
                    <a:spcPct val="100000"/>
                  </a:lnSpc>
                  <a:spcBef>
                    <a:spcPct val="0"/>
                  </a:spcBef>
                  <a:spcAft>
                    <a:spcPts val="600"/>
                  </a:spcAft>
                  <a:buNone/>
                </a:pPr>
                <a:r>
                  <a:rPr lang="en-US" altLang="en-US" sz="2952" b="1" kern="1200">
                    <a:solidFill>
                      <a:srgbClr val="000000"/>
                    </a:solidFill>
                    <a:latin typeface="Times New Roman" panose="02020603050405020304" pitchFamily="18" charset="0"/>
                    <a:ea typeface="+mn-ea"/>
                    <a:cs typeface="Times New Roman" panose="02020603050405020304" pitchFamily="18" charset="0"/>
                  </a:rPr>
                  <a:t>Production Function</a:t>
                </a:r>
                <a:endParaRPr lang="en-US" altLang="en-US" sz="2400" b="1">
                  <a:solidFill>
                    <a:srgbClr val="000000"/>
                  </a:solidFill>
                  <a:latin typeface="Times New Roman" panose="02020603050405020304" pitchFamily="18" charset="0"/>
                  <a:cs typeface="Times New Roman" panose="02020603050405020304" pitchFamily="18" charset="0"/>
                </a:endParaRPr>
              </a:p>
            </p:txBody>
          </p:sp>
        </p:grpSp>
        <p:sp>
          <p:nvSpPr>
            <p:cNvPr id="23558" name="Line 14">
              <a:extLst>
                <a:ext uri="{FF2B5EF4-FFF2-40B4-BE49-F238E27FC236}">
                  <a16:creationId xmlns:a16="http://schemas.microsoft.com/office/drawing/2014/main" id="{9FE7E349-27F5-73DF-08B2-48E927ED076D}"/>
                </a:ext>
              </a:extLst>
            </p:cNvPr>
            <p:cNvSpPr>
              <a:spLocks noChangeShapeType="1"/>
            </p:cNvSpPr>
            <p:nvPr/>
          </p:nvSpPr>
          <p:spPr bwMode="auto">
            <a:xfrm>
              <a:off x="3819" y="2160"/>
              <a:ext cx="592"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3559" name="Line 15">
              <a:extLst>
                <a:ext uri="{FF2B5EF4-FFF2-40B4-BE49-F238E27FC236}">
                  <a16:creationId xmlns:a16="http://schemas.microsoft.com/office/drawing/2014/main" id="{244451B7-2AF9-5CB2-8826-5C69B823D4F9}"/>
                </a:ext>
              </a:extLst>
            </p:cNvPr>
            <p:cNvSpPr>
              <a:spLocks noChangeShapeType="1"/>
            </p:cNvSpPr>
            <p:nvPr/>
          </p:nvSpPr>
          <p:spPr bwMode="auto">
            <a:xfrm>
              <a:off x="1344" y="2159"/>
              <a:ext cx="592" cy="1"/>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82" name="Rectangle 24581">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584" name="Freeform: Shape 24583">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586" name="Freeform: Shape 24585">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577" name="Rectangle 2">
            <a:extLst>
              <a:ext uri="{FF2B5EF4-FFF2-40B4-BE49-F238E27FC236}">
                <a16:creationId xmlns:a16="http://schemas.microsoft.com/office/drawing/2014/main" id="{BE724AAC-26F2-6636-B3AD-6D694BF5343C}"/>
              </a:ext>
            </a:extLst>
          </p:cNvPr>
          <p:cNvSpPr>
            <a:spLocks noGrp="1" noChangeArrowheads="1"/>
          </p:cNvSpPr>
          <p:nvPr>
            <p:ph type="title"/>
          </p:nvPr>
        </p:nvSpPr>
        <p:spPr>
          <a:xfrm>
            <a:off x="838200" y="253397"/>
            <a:ext cx="10515600" cy="1273233"/>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The Short Run and the Long Run</a:t>
            </a:r>
          </a:p>
        </p:txBody>
      </p:sp>
      <p:sp>
        <p:nvSpPr>
          <p:cNvPr id="24588" name="Rectangle 24587">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459" name="Rectangle 3">
            <a:extLst>
              <a:ext uri="{FF2B5EF4-FFF2-40B4-BE49-F238E27FC236}">
                <a16:creationId xmlns:a16="http://schemas.microsoft.com/office/drawing/2014/main" id="{AEAA4BA4-D723-5B59-F10F-163C8C7CE9A8}"/>
              </a:ext>
            </a:extLst>
          </p:cNvPr>
          <p:cNvSpPr>
            <a:spLocks noGrp="1" noChangeArrowheads="1"/>
          </p:cNvSpPr>
          <p:nvPr>
            <p:ph idx="1"/>
          </p:nvPr>
        </p:nvSpPr>
        <p:spPr>
          <a:xfrm>
            <a:off x="838200" y="2478024"/>
            <a:ext cx="10515600" cy="3694176"/>
          </a:xfrm>
        </p:spPr>
        <p:txBody>
          <a:bodyPr rtlCol="0">
            <a:normAutofit fontScale="92500" lnSpcReduction="10000"/>
          </a:bodyPr>
          <a:lstStyle/>
          <a:p>
            <a:pPr eaLnBrk="1" fontAlgn="auto" hangingPunct="1">
              <a:spcAft>
                <a:spcPts val="0"/>
              </a:spcAft>
              <a:defRPr/>
            </a:pPr>
            <a:r>
              <a:rPr lang="en-US" altLang="en-US" b="1">
                <a:latin typeface="Times New Roman" panose="02020603050405020304" pitchFamily="18" charset="0"/>
                <a:cs typeface="Times New Roman" panose="02020603050405020304" pitchFamily="18" charset="0"/>
              </a:rPr>
              <a:t>Useful to categorize firms’ decisions into </a:t>
            </a:r>
          </a:p>
          <a:p>
            <a:pPr marL="1115568" lvl="2" indent="-457200" eaLnBrk="1" fontAlgn="auto" hangingPunct="1">
              <a:spcAft>
                <a:spcPts val="0"/>
              </a:spcAft>
              <a:buFont typeface="Wingdings" pitchFamily="2" charset="2"/>
              <a:buChar char="§"/>
              <a:defRPr/>
            </a:pPr>
            <a:r>
              <a:rPr lang="en-US" altLang="en-US" sz="2800">
                <a:latin typeface="Times New Roman" panose="02020603050405020304" pitchFamily="18" charset="0"/>
                <a:cs typeface="Times New Roman" panose="02020603050405020304" pitchFamily="18" charset="0"/>
              </a:rPr>
              <a:t>Long-run decisions</a:t>
            </a:r>
          </a:p>
          <a:p>
            <a:pPr marL="1115568" lvl="2" indent="-457200" eaLnBrk="1" fontAlgn="auto" hangingPunct="1">
              <a:spcAft>
                <a:spcPts val="0"/>
              </a:spcAft>
              <a:buFont typeface="Wingdings" pitchFamily="2" charset="2"/>
              <a:buChar char="§"/>
              <a:defRPr/>
            </a:pPr>
            <a:r>
              <a:rPr lang="en-US" altLang="en-US" sz="2800">
                <a:latin typeface="Times New Roman" panose="02020603050405020304" pitchFamily="18" charset="0"/>
                <a:cs typeface="Times New Roman" panose="02020603050405020304" pitchFamily="18" charset="0"/>
              </a:rPr>
              <a:t>Short-run decisions</a:t>
            </a:r>
          </a:p>
          <a:p>
            <a:pPr marL="658368" lvl="1" indent="-457200" eaLnBrk="1" fontAlgn="auto" hangingPunct="1">
              <a:spcAft>
                <a:spcPts val="0"/>
              </a:spcAft>
              <a:buFont typeface="Wingdings" panose="05000000000000000000" pitchFamily="2" charset="2"/>
              <a:buChar char="Ø"/>
              <a:defRPr/>
            </a:pPr>
            <a:endParaRPr lang="en-US" altLang="en-US" sz="280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b="1">
                <a:latin typeface="Times New Roman" panose="02020603050405020304" pitchFamily="18" charset="0"/>
                <a:cs typeface="Times New Roman" panose="02020603050405020304" pitchFamily="18" charset="0"/>
              </a:rPr>
              <a:t>To guide the firm over the next several years</a:t>
            </a:r>
          </a:p>
          <a:p>
            <a:pPr marL="201168" lvl="1" indent="0" eaLnBrk="1" fontAlgn="auto" hangingPunct="1">
              <a:spcAft>
                <a:spcPts val="0"/>
              </a:spcAft>
              <a:buFont typeface="Calibri" panose="020F0502020204030204" pitchFamily="34" charset="0"/>
              <a:buNone/>
              <a:defRPr/>
            </a:pPr>
            <a:r>
              <a:rPr lang="en-US" altLang="en-US" sz="2800">
                <a:latin typeface="Times New Roman" panose="02020603050405020304" pitchFamily="18" charset="0"/>
                <a:cs typeface="Times New Roman" panose="02020603050405020304" pitchFamily="18" charset="0"/>
              </a:rPr>
              <a:t>	The manager must use the long-run lens</a:t>
            </a:r>
          </a:p>
          <a:p>
            <a:pPr marL="800100" lvl="1" indent="-342900" eaLnBrk="1" fontAlgn="auto" hangingPunct="1">
              <a:spcAft>
                <a:spcPts val="0"/>
              </a:spcAft>
              <a:buFont typeface="Wingdings" panose="05000000000000000000" pitchFamily="2" charset="2"/>
              <a:buChar char="Ø"/>
              <a:defRPr/>
            </a:pPr>
            <a:endParaRPr lang="en-US" altLang="en-US" sz="280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b="1">
                <a:latin typeface="Times New Roman" panose="02020603050405020304" pitchFamily="18" charset="0"/>
                <a:cs typeface="Times New Roman" panose="02020603050405020304" pitchFamily="18" charset="0"/>
              </a:rPr>
              <a:t>To determine what the firm should do next week</a:t>
            </a:r>
          </a:p>
          <a:p>
            <a:pPr marL="201168" lvl="1" indent="0" eaLnBrk="1" fontAlgn="auto" hangingPunct="1">
              <a:spcAft>
                <a:spcPts val="0"/>
              </a:spcAft>
              <a:buFont typeface="Calibri" panose="020F0502020204030204" pitchFamily="34" charset="0"/>
              <a:buNone/>
              <a:defRPr/>
            </a:pPr>
            <a:r>
              <a:rPr lang="en-US" altLang="en-US" sz="2800">
                <a:latin typeface="Times New Roman" panose="02020603050405020304" pitchFamily="18" charset="0"/>
                <a:cs typeface="Times New Roman" panose="02020603050405020304" pitchFamily="18" charset="0"/>
              </a:rPr>
              <a:t>	The short-run lens is best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b="1" dirty="0">
                <a:latin typeface="Times New Roman" panose="02020603050405020304" pitchFamily="18" charset="0"/>
                <a:cs typeface="Times New Roman" panose="02020603050405020304" pitchFamily="18" charset="0"/>
              </a:rPr>
              <a:t>Short Run Production </a:t>
            </a:r>
            <a:endParaRPr lang="en-IN"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r>
              <a:rPr lang="en-US" sz="3200" dirty="0">
                <a:latin typeface="Times New Roman" panose="02020603050405020304" pitchFamily="18" charset="0"/>
                <a:cs typeface="Times New Roman" panose="02020603050405020304" pitchFamily="18" charset="0"/>
              </a:rPr>
              <a:t>It refers to a period of time in which the supply of certain inputs (e.g., plant, building, machines, </a:t>
            </a:r>
            <a:r>
              <a:rPr lang="en-US" sz="3200" dirty="0" err="1">
                <a:latin typeface="Times New Roman" panose="02020603050405020304" pitchFamily="18" charset="0"/>
                <a:cs typeface="Times New Roman" panose="02020603050405020304" pitchFamily="18" charset="0"/>
              </a:rPr>
              <a:t>etc</a:t>
            </a:r>
            <a:r>
              <a:rPr lang="en-US" sz="3200" dirty="0">
                <a:latin typeface="Times New Roman" panose="02020603050405020304" pitchFamily="18" charset="0"/>
                <a:cs typeface="Times New Roman" panose="02020603050405020304" pitchFamily="18" charset="0"/>
              </a:rPr>
              <a:t>) is fixed or inelastic.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Thus, increasing production during this period is possible only by increasing the variable input. </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Rectangle 2">
            <a:extLst>
              <a:ext uri="{FF2B5EF4-FFF2-40B4-BE49-F238E27FC236}">
                <a16:creationId xmlns:a16="http://schemas.microsoft.com/office/drawing/2014/main" id="{7A9EBD39-8345-15EA-B791-AB4DEFFE2F58}"/>
              </a:ext>
            </a:extLst>
          </p:cNvPr>
          <p:cNvSpPr>
            <a:spLocks noGrp="1" noChangeArrowheads="1"/>
          </p:cNvSpPr>
          <p:nvPr>
            <p:ph type="title"/>
          </p:nvPr>
        </p:nvSpPr>
        <p:spPr>
          <a:xfrm>
            <a:off x="433184" y="290509"/>
            <a:ext cx="5334197" cy="1708242"/>
          </a:xfrm>
        </p:spPr>
        <p:txBody>
          <a:bodyPr anchor="ctr">
            <a:normAutofit/>
          </a:bodyPr>
          <a:lstStyle/>
          <a:p>
            <a:pPr eaLnBrk="1" hangingPunct="1"/>
            <a:r>
              <a:rPr lang="en-US" altLang="en-US" sz="3600" b="1">
                <a:latin typeface="Times New Roman" panose="02020603050405020304" pitchFamily="18" charset="0"/>
                <a:cs typeface="Times New Roman" panose="02020603050405020304" pitchFamily="18" charset="0"/>
              </a:rPr>
              <a:t>Production in the Short Run</a:t>
            </a:r>
          </a:p>
        </p:txBody>
      </p:sp>
      <p:sp>
        <p:nvSpPr>
          <p:cNvPr id="24579" name="Rectangle 3">
            <a:extLst>
              <a:ext uri="{FF2B5EF4-FFF2-40B4-BE49-F238E27FC236}">
                <a16:creationId xmlns:a16="http://schemas.microsoft.com/office/drawing/2014/main" id="{D4AE0E7D-FF04-4A84-99B4-B733FAC376FE}"/>
              </a:ext>
            </a:extLst>
          </p:cNvPr>
          <p:cNvSpPr>
            <a:spLocks noGrp="1" noChangeArrowheads="1"/>
          </p:cNvSpPr>
          <p:nvPr>
            <p:ph idx="1"/>
          </p:nvPr>
        </p:nvSpPr>
        <p:spPr>
          <a:xfrm>
            <a:off x="530152" y="1970372"/>
            <a:ext cx="6187640" cy="4271932"/>
          </a:xfrm>
        </p:spPr>
        <p:txBody>
          <a:bodyPr rtlCol="0" anchor="ctr">
            <a:normAutofit/>
          </a:bodyPr>
          <a:lstStyle/>
          <a:p>
            <a:pPr marL="0" indent="0" eaLnBrk="1" fontAlgn="auto" hangingPunct="1">
              <a:spcAft>
                <a:spcPts val="0"/>
              </a:spcAft>
              <a:buNone/>
              <a:defRPr/>
            </a:pPr>
            <a:r>
              <a:rPr lang="en-US" altLang="en-US" sz="2000" dirty="0">
                <a:latin typeface="Times New Roman" panose="02020603050405020304" pitchFamily="18" charset="0"/>
                <a:cs typeface="Times New Roman" panose="02020603050405020304" pitchFamily="18" charset="0"/>
              </a:rPr>
              <a:t>When firms make short-run decisions, there is nothing they can do about their fixed inputs</a:t>
            </a:r>
          </a:p>
          <a:p>
            <a:pPr marL="91440" indent="-91440" eaLnBrk="1" fontAlgn="auto" hangingPunct="1">
              <a:spcAft>
                <a:spcPts val="0"/>
              </a:spcAft>
              <a:defRPr/>
            </a:pPr>
            <a:r>
              <a:rPr lang="en-US" altLang="en-US" sz="2000" b="1" dirty="0">
                <a:latin typeface="Times New Roman" panose="02020603050405020304" pitchFamily="18" charset="0"/>
                <a:cs typeface="Times New Roman" panose="02020603050405020304" pitchFamily="18" charset="0"/>
              </a:rPr>
              <a:t>Fixed inputs</a:t>
            </a:r>
          </a:p>
          <a:p>
            <a:pPr marL="342900" lvl="1" indent="0" eaLnBrk="1" fontAlgn="auto" hangingPunct="1">
              <a:spcAft>
                <a:spcPts val="0"/>
              </a:spcAft>
              <a:buFont typeface="Calibri" panose="020F0502020204030204" pitchFamily="34" charset="0"/>
              <a:buNone/>
              <a:defRPr/>
            </a:pPr>
            <a:r>
              <a:rPr lang="en-US" altLang="en-US" sz="2000" dirty="0">
                <a:latin typeface="Times New Roman" panose="02020603050405020304" pitchFamily="18" charset="0"/>
                <a:cs typeface="Times New Roman" panose="02020603050405020304" pitchFamily="18" charset="0"/>
              </a:rPr>
              <a:t>An input whose quantity must remain constant, regardless of how much output is produced</a:t>
            </a:r>
          </a:p>
          <a:p>
            <a:pPr marL="91440" indent="-91440" eaLnBrk="1" fontAlgn="auto" hangingPunct="1">
              <a:spcAft>
                <a:spcPts val="0"/>
              </a:spcAft>
              <a:defRPr/>
            </a:pPr>
            <a:r>
              <a:rPr lang="en-US" altLang="en-US" sz="2000" b="1" dirty="0">
                <a:latin typeface="Times New Roman" panose="02020603050405020304" pitchFamily="18" charset="0"/>
                <a:cs typeface="Times New Roman" panose="02020603050405020304" pitchFamily="18" charset="0"/>
              </a:rPr>
              <a:t>Variable input</a:t>
            </a:r>
          </a:p>
          <a:p>
            <a:pPr marL="342900" lvl="1" indent="0" eaLnBrk="1" fontAlgn="auto" hangingPunct="1">
              <a:spcAft>
                <a:spcPts val="0"/>
              </a:spcAft>
              <a:buFont typeface="Calibri" panose="020F0502020204030204" pitchFamily="34" charset="0"/>
              <a:buNone/>
              <a:defRPr/>
            </a:pPr>
            <a:r>
              <a:rPr lang="en-US" altLang="en-US" sz="2000" dirty="0">
                <a:latin typeface="Times New Roman" panose="02020603050405020304" pitchFamily="18" charset="0"/>
                <a:cs typeface="Times New Roman" panose="02020603050405020304" pitchFamily="18" charset="0"/>
              </a:rPr>
              <a:t>An input whose usage can change as the level of output changes</a:t>
            </a:r>
          </a:p>
          <a:p>
            <a:pPr marL="91440" indent="-91440" eaLnBrk="1" fontAlgn="auto" hangingPunct="1">
              <a:spcAft>
                <a:spcPts val="0"/>
              </a:spcAft>
              <a:defRPr/>
            </a:pPr>
            <a:r>
              <a:rPr lang="en-US" altLang="en-US" sz="2000" b="1" dirty="0">
                <a:latin typeface="Times New Roman" panose="02020603050405020304" pitchFamily="18" charset="0"/>
                <a:cs typeface="Times New Roman" panose="02020603050405020304" pitchFamily="18" charset="0"/>
              </a:rPr>
              <a:t>Total product</a:t>
            </a:r>
          </a:p>
          <a:p>
            <a:pPr marL="342900" lvl="1" indent="0" eaLnBrk="1" fontAlgn="auto" hangingPunct="1">
              <a:spcAft>
                <a:spcPts val="0"/>
              </a:spcAft>
              <a:buFont typeface="Calibri" panose="020F0502020204030204" pitchFamily="34" charset="0"/>
              <a:buNone/>
              <a:defRPr/>
            </a:pPr>
            <a:r>
              <a:rPr lang="en-US" altLang="en-US" sz="2000" dirty="0">
                <a:latin typeface="Times New Roman" panose="02020603050405020304" pitchFamily="18" charset="0"/>
                <a:cs typeface="Times New Roman" panose="02020603050405020304" pitchFamily="18" charset="0"/>
              </a:rPr>
              <a:t>The maximum quantity of output that can be produced from a given combination of inputs</a:t>
            </a:r>
          </a:p>
        </p:txBody>
      </p:sp>
      <p:pic>
        <p:nvPicPr>
          <p:cNvPr id="25603" name="Picture 25602" descr="Packages on conveyor belt">
            <a:extLst>
              <a:ext uri="{FF2B5EF4-FFF2-40B4-BE49-F238E27FC236}">
                <a16:creationId xmlns:a16="http://schemas.microsoft.com/office/drawing/2014/main" id="{7ABDD23F-108C-326D-D4D3-C61010B6874E}"/>
              </a:ext>
            </a:extLst>
          </p:cNvPr>
          <p:cNvPicPr>
            <a:picLocks noChangeAspect="1"/>
          </p:cNvPicPr>
          <p:nvPr/>
        </p:nvPicPr>
        <p:blipFill>
          <a:blip r:embed="rId2"/>
          <a:srcRect l="8014" r="40149"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CC4CA7C1-BF4B-493B-5752-0FAA78537EF3}"/>
              </a:ext>
            </a:extLst>
          </p:cNvPr>
          <p:cNvSpPr>
            <a:spLocks noGrp="1" noChangeArrowheads="1"/>
          </p:cNvSpPr>
          <p:nvPr>
            <p:ph type="title"/>
          </p:nvPr>
        </p:nvSpPr>
        <p:spPr/>
        <p:txBody>
          <a:bodyPr/>
          <a:lstStyle/>
          <a:p>
            <a:pPr eaLnBrk="1" hangingPunct="1"/>
            <a:r>
              <a:rPr lang="en-US" altLang="en-US" b="1">
                <a:latin typeface="Times New Roman" panose="02020603050405020304" pitchFamily="18" charset="0"/>
                <a:cs typeface="Times New Roman" panose="02020603050405020304" pitchFamily="18" charset="0"/>
              </a:rPr>
              <a:t>Production in the Short Run</a:t>
            </a:r>
          </a:p>
        </p:txBody>
      </p:sp>
      <p:sp>
        <p:nvSpPr>
          <p:cNvPr id="26626" name="Rectangle 3">
            <a:extLst>
              <a:ext uri="{FF2B5EF4-FFF2-40B4-BE49-F238E27FC236}">
                <a16:creationId xmlns:a16="http://schemas.microsoft.com/office/drawing/2014/main" id="{A0CAD048-3C6B-9AF6-BB07-E58AE0F3EE2A}"/>
              </a:ext>
            </a:extLst>
          </p:cNvPr>
          <p:cNvSpPr>
            <a:spLocks noGrp="1" noChangeArrowheads="1"/>
          </p:cNvSpPr>
          <p:nvPr>
            <p:ph type="body" sz="half" idx="1"/>
          </p:nvPr>
        </p:nvSpPr>
        <p:spPr>
          <a:xfrm>
            <a:off x="914400" y="1600200"/>
            <a:ext cx="10668000" cy="1676400"/>
          </a:xfrm>
        </p:spPr>
        <p:txBody>
          <a:bodyPr/>
          <a:lstStyle/>
          <a:p>
            <a:pPr eaLnBrk="1" hangingPunct="1"/>
            <a:r>
              <a:rPr lang="en-US" altLang="en-US">
                <a:latin typeface="Times New Roman" panose="02020603050405020304" pitchFamily="18" charset="0"/>
                <a:cs typeface="Times New Roman" panose="02020603050405020304" pitchFamily="18" charset="0"/>
              </a:rPr>
              <a:t>The marginal product of labor (MPL) is the change in the total product (</a:t>
            </a:r>
            <a:r>
              <a:rPr lang="el-GR" altLang="en-US">
                <a:latin typeface="Times New Roman" panose="02020603050405020304" pitchFamily="18" charset="0"/>
                <a:cs typeface="Times New Roman" panose="02020603050405020304" pitchFamily="18" charset="0"/>
              </a:rPr>
              <a:t>Δ</a:t>
            </a:r>
            <a:r>
              <a:rPr lang="en-US" altLang="en-US">
                <a:latin typeface="Times New Roman" panose="02020603050405020304" pitchFamily="18" charset="0"/>
                <a:cs typeface="Times New Roman" panose="02020603050405020304" pitchFamily="18" charset="0"/>
              </a:rPr>
              <a:t>Q) divided by the change in the number of workers hired (</a:t>
            </a:r>
            <a:r>
              <a:rPr lang="el-GR" altLang="en-US">
                <a:latin typeface="Times New Roman" panose="02020603050405020304" pitchFamily="18" charset="0"/>
                <a:cs typeface="Times New Roman" panose="02020603050405020304" pitchFamily="18" charset="0"/>
              </a:rPr>
              <a:t>Δ</a:t>
            </a:r>
            <a:r>
              <a:rPr lang="en-US" altLang="en-US">
                <a:latin typeface="Times New Roman" panose="02020603050405020304" pitchFamily="18" charset="0"/>
                <a:cs typeface="Times New Roman" panose="02020603050405020304" pitchFamily="18" charset="0"/>
              </a:rPr>
              <a:t>L)</a:t>
            </a:r>
            <a:endParaRPr lang="el-GR" altLang="en-US">
              <a:latin typeface="Times New Roman" panose="02020603050405020304" pitchFamily="18" charset="0"/>
              <a:cs typeface="Times New Roman" panose="02020603050405020304" pitchFamily="18" charset="0"/>
            </a:endParaRPr>
          </a:p>
        </p:txBody>
      </p:sp>
      <p:graphicFrame>
        <p:nvGraphicFramePr>
          <p:cNvPr id="26627" name="Object 4">
            <a:extLst>
              <a:ext uri="{FF2B5EF4-FFF2-40B4-BE49-F238E27FC236}">
                <a16:creationId xmlns:a16="http://schemas.microsoft.com/office/drawing/2014/main" id="{1062508D-8287-6B31-34C0-E7DE1BA1C0B6}"/>
              </a:ext>
            </a:extLst>
          </p:cNvPr>
          <p:cNvGraphicFramePr>
            <a:graphicFrameLocks noGrp="1" noChangeAspect="1"/>
          </p:cNvGraphicFramePr>
          <p:nvPr>
            <p:ph sz="half" idx="2"/>
          </p:nvPr>
        </p:nvGraphicFramePr>
        <p:xfrm>
          <a:off x="3276600" y="2973388"/>
          <a:ext cx="2209800" cy="1141412"/>
        </p:xfrm>
        <a:graphic>
          <a:graphicData uri="http://schemas.openxmlformats.org/presentationml/2006/ole">
            <mc:AlternateContent xmlns:mc="http://schemas.openxmlformats.org/markup-compatibility/2006">
              <mc:Choice xmlns:v="urn:schemas-microsoft-com:vml" Requires="v">
                <p:oleObj name="Equation" r:id="rId2" imgW="17551400" imgH="9067800" progId="Equation.3">
                  <p:embed/>
                </p:oleObj>
              </mc:Choice>
              <mc:Fallback>
                <p:oleObj name="Equation" r:id="rId2" imgW="17551400" imgH="9067800" progId="Equation.3">
                  <p:embed/>
                  <p:pic>
                    <p:nvPicPr>
                      <p:cNvPr id="26627" name="Object 4">
                        <a:extLst>
                          <a:ext uri="{FF2B5EF4-FFF2-40B4-BE49-F238E27FC236}">
                            <a16:creationId xmlns:a16="http://schemas.microsoft.com/office/drawing/2014/main" id="{1062508D-8287-6B31-34C0-E7DE1BA1C0B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973388"/>
                        <a:ext cx="2209800"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0" name="Text Box 6">
            <a:extLst>
              <a:ext uri="{FF2B5EF4-FFF2-40B4-BE49-F238E27FC236}">
                <a16:creationId xmlns:a16="http://schemas.microsoft.com/office/drawing/2014/main" id="{0622CDE5-958B-E4E5-B4E2-82185D5F2EA9}"/>
              </a:ext>
            </a:extLst>
          </p:cNvPr>
          <p:cNvSpPr txBox="1">
            <a:spLocks noChangeArrowheads="1"/>
          </p:cNvSpPr>
          <p:nvPr/>
        </p:nvSpPr>
        <p:spPr bwMode="auto">
          <a:xfrm>
            <a:off x="457200" y="4438650"/>
            <a:ext cx="111252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98513"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eaLnBrk="1" hangingPunct="1">
              <a:lnSpc>
                <a:spcPct val="100000"/>
              </a:lnSpc>
              <a:spcBef>
                <a:spcPct val="0"/>
              </a:spcBef>
            </a:pPr>
            <a:r>
              <a:rPr lang="en-US" altLang="en-US" sz="2800">
                <a:latin typeface="Times New Roman" panose="02020603050405020304" pitchFamily="18" charset="0"/>
                <a:cs typeface="Times New Roman" panose="02020603050405020304" pitchFamily="18" charset="0"/>
              </a:rPr>
              <a:t>Tells us the rise in output produced when one more worker is hired, leaving all other inputs unchanged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slide(fromBottom)">
                                      <p:cBhvr>
                                        <p:cTn id="7" dur="500"/>
                                        <p:tgtEl>
                                          <p:spTgt spid="2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1533C11D-F6FD-67EA-798B-DB3CC89173EE}"/>
              </a:ext>
            </a:extLst>
          </p:cNvPr>
          <p:cNvSpPr>
            <a:spLocks noGrp="1" noChangeArrowheads="1"/>
          </p:cNvSpPr>
          <p:nvPr>
            <p:ph type="title"/>
          </p:nvPr>
        </p:nvSpPr>
        <p:spPr>
          <a:xfrm>
            <a:off x="609600" y="287338"/>
            <a:ext cx="8397875" cy="887412"/>
          </a:xfrm>
        </p:spPr>
        <p:txBody>
          <a:bodyPr/>
          <a:lstStyle/>
          <a:p>
            <a:pPr eaLnBrk="1" hangingPunct="1"/>
            <a:r>
              <a:rPr lang="en-US" altLang="en-US" sz="4000" b="1">
                <a:latin typeface="Times New Roman" panose="02020603050405020304" pitchFamily="18" charset="0"/>
                <a:cs typeface="Times New Roman" panose="02020603050405020304" pitchFamily="18" charset="0"/>
              </a:rPr>
              <a:t>Total Product and Marginal Product</a:t>
            </a:r>
          </a:p>
        </p:txBody>
      </p:sp>
      <p:pic>
        <p:nvPicPr>
          <p:cNvPr id="26632" name="Picture 8">
            <a:extLst>
              <a:ext uri="{FF2B5EF4-FFF2-40B4-BE49-F238E27FC236}">
                <a16:creationId xmlns:a16="http://schemas.microsoft.com/office/drawing/2014/main" id="{3A22E4C4-EF0D-FBD4-D506-9B9FA781D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1738" y="2022475"/>
            <a:ext cx="6437312"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33" name="Group 9">
            <a:extLst>
              <a:ext uri="{FF2B5EF4-FFF2-40B4-BE49-F238E27FC236}">
                <a16:creationId xmlns:a16="http://schemas.microsoft.com/office/drawing/2014/main" id="{31B411AB-3D79-7F26-AD8E-CB22CBB4681D}"/>
              </a:ext>
            </a:extLst>
          </p:cNvPr>
          <p:cNvGrpSpPr>
            <a:grpSpLocks/>
          </p:cNvGrpSpPr>
          <p:nvPr/>
        </p:nvGrpSpPr>
        <p:grpSpPr bwMode="auto">
          <a:xfrm>
            <a:off x="3749675" y="2381250"/>
            <a:ext cx="3300413" cy="1588"/>
            <a:chOff x="1412" y="1243"/>
            <a:chExt cx="2079" cy="1"/>
          </a:xfrm>
        </p:grpSpPr>
        <p:sp>
          <p:nvSpPr>
            <p:cNvPr id="27780" name="Line 10">
              <a:extLst>
                <a:ext uri="{FF2B5EF4-FFF2-40B4-BE49-F238E27FC236}">
                  <a16:creationId xmlns:a16="http://schemas.microsoft.com/office/drawing/2014/main" id="{A27B72A4-92E7-3E82-2F77-8E1E2CA9CAB6}"/>
                </a:ext>
              </a:extLst>
            </p:cNvPr>
            <p:cNvSpPr>
              <a:spLocks noChangeShapeType="1"/>
            </p:cNvSpPr>
            <p:nvPr/>
          </p:nvSpPr>
          <p:spPr bwMode="auto">
            <a:xfrm>
              <a:off x="1412"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1" name="Line 11">
              <a:extLst>
                <a:ext uri="{FF2B5EF4-FFF2-40B4-BE49-F238E27FC236}">
                  <a16:creationId xmlns:a16="http://schemas.microsoft.com/office/drawing/2014/main" id="{B09E4C2E-6E6F-C309-74E1-1388F0F8627B}"/>
                </a:ext>
              </a:extLst>
            </p:cNvPr>
            <p:cNvSpPr>
              <a:spLocks noChangeShapeType="1"/>
            </p:cNvSpPr>
            <p:nvPr/>
          </p:nvSpPr>
          <p:spPr bwMode="auto">
            <a:xfrm>
              <a:off x="1531"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2" name="Line 12">
              <a:extLst>
                <a:ext uri="{FF2B5EF4-FFF2-40B4-BE49-F238E27FC236}">
                  <a16:creationId xmlns:a16="http://schemas.microsoft.com/office/drawing/2014/main" id="{5E750217-D7D7-C05A-38E5-C2E3E29B36C3}"/>
                </a:ext>
              </a:extLst>
            </p:cNvPr>
            <p:cNvSpPr>
              <a:spLocks noChangeShapeType="1"/>
            </p:cNvSpPr>
            <p:nvPr/>
          </p:nvSpPr>
          <p:spPr bwMode="auto">
            <a:xfrm>
              <a:off x="1650"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3" name="Line 13">
              <a:extLst>
                <a:ext uri="{FF2B5EF4-FFF2-40B4-BE49-F238E27FC236}">
                  <a16:creationId xmlns:a16="http://schemas.microsoft.com/office/drawing/2014/main" id="{08AD2C55-CA6F-7BEB-400E-CF73E5920DBA}"/>
                </a:ext>
              </a:extLst>
            </p:cNvPr>
            <p:cNvSpPr>
              <a:spLocks noChangeShapeType="1"/>
            </p:cNvSpPr>
            <p:nvPr/>
          </p:nvSpPr>
          <p:spPr bwMode="auto">
            <a:xfrm>
              <a:off x="1768"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4" name="Line 14">
              <a:extLst>
                <a:ext uri="{FF2B5EF4-FFF2-40B4-BE49-F238E27FC236}">
                  <a16:creationId xmlns:a16="http://schemas.microsoft.com/office/drawing/2014/main" id="{71AE9042-BB1E-3F3C-5698-A7AD94898E37}"/>
                </a:ext>
              </a:extLst>
            </p:cNvPr>
            <p:cNvSpPr>
              <a:spLocks noChangeShapeType="1"/>
            </p:cNvSpPr>
            <p:nvPr/>
          </p:nvSpPr>
          <p:spPr bwMode="auto">
            <a:xfrm>
              <a:off x="1887"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5" name="Line 15">
              <a:extLst>
                <a:ext uri="{FF2B5EF4-FFF2-40B4-BE49-F238E27FC236}">
                  <a16:creationId xmlns:a16="http://schemas.microsoft.com/office/drawing/2014/main" id="{49BEF0BF-DBE2-AFF5-995B-9BA982150F84}"/>
                </a:ext>
              </a:extLst>
            </p:cNvPr>
            <p:cNvSpPr>
              <a:spLocks noChangeShapeType="1"/>
            </p:cNvSpPr>
            <p:nvPr/>
          </p:nvSpPr>
          <p:spPr bwMode="auto">
            <a:xfrm>
              <a:off x="2006"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6" name="Line 16">
              <a:extLst>
                <a:ext uri="{FF2B5EF4-FFF2-40B4-BE49-F238E27FC236}">
                  <a16:creationId xmlns:a16="http://schemas.microsoft.com/office/drawing/2014/main" id="{F96464E0-51F2-9BE7-E08A-C634F60ADCB0}"/>
                </a:ext>
              </a:extLst>
            </p:cNvPr>
            <p:cNvSpPr>
              <a:spLocks noChangeShapeType="1"/>
            </p:cNvSpPr>
            <p:nvPr/>
          </p:nvSpPr>
          <p:spPr bwMode="auto">
            <a:xfrm>
              <a:off x="2125"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7" name="Line 17">
              <a:extLst>
                <a:ext uri="{FF2B5EF4-FFF2-40B4-BE49-F238E27FC236}">
                  <a16:creationId xmlns:a16="http://schemas.microsoft.com/office/drawing/2014/main" id="{9F9023A2-F88D-4763-F556-4CE71AF569DC}"/>
                </a:ext>
              </a:extLst>
            </p:cNvPr>
            <p:cNvSpPr>
              <a:spLocks noChangeShapeType="1"/>
            </p:cNvSpPr>
            <p:nvPr/>
          </p:nvSpPr>
          <p:spPr bwMode="auto">
            <a:xfrm>
              <a:off x="2244"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8" name="Line 18">
              <a:extLst>
                <a:ext uri="{FF2B5EF4-FFF2-40B4-BE49-F238E27FC236}">
                  <a16:creationId xmlns:a16="http://schemas.microsoft.com/office/drawing/2014/main" id="{81AD0E5E-0A61-BC5C-8F66-54B3621767C6}"/>
                </a:ext>
              </a:extLst>
            </p:cNvPr>
            <p:cNvSpPr>
              <a:spLocks noChangeShapeType="1"/>
            </p:cNvSpPr>
            <p:nvPr/>
          </p:nvSpPr>
          <p:spPr bwMode="auto">
            <a:xfrm>
              <a:off x="2363"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89" name="Line 19">
              <a:extLst>
                <a:ext uri="{FF2B5EF4-FFF2-40B4-BE49-F238E27FC236}">
                  <a16:creationId xmlns:a16="http://schemas.microsoft.com/office/drawing/2014/main" id="{01B5BBC8-4B6F-F4D0-C052-7F9D0B5DED67}"/>
                </a:ext>
              </a:extLst>
            </p:cNvPr>
            <p:cNvSpPr>
              <a:spLocks noChangeShapeType="1"/>
            </p:cNvSpPr>
            <p:nvPr/>
          </p:nvSpPr>
          <p:spPr bwMode="auto">
            <a:xfrm>
              <a:off x="2481"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0" name="Line 20">
              <a:extLst>
                <a:ext uri="{FF2B5EF4-FFF2-40B4-BE49-F238E27FC236}">
                  <a16:creationId xmlns:a16="http://schemas.microsoft.com/office/drawing/2014/main" id="{4B7727FD-5B38-FCDF-826A-D14ACDADD724}"/>
                </a:ext>
              </a:extLst>
            </p:cNvPr>
            <p:cNvSpPr>
              <a:spLocks noChangeShapeType="1"/>
            </p:cNvSpPr>
            <p:nvPr/>
          </p:nvSpPr>
          <p:spPr bwMode="auto">
            <a:xfrm>
              <a:off x="2600"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1" name="Line 21">
              <a:extLst>
                <a:ext uri="{FF2B5EF4-FFF2-40B4-BE49-F238E27FC236}">
                  <a16:creationId xmlns:a16="http://schemas.microsoft.com/office/drawing/2014/main" id="{5315F71E-FF74-5016-72AE-B3E4176507DD}"/>
                </a:ext>
              </a:extLst>
            </p:cNvPr>
            <p:cNvSpPr>
              <a:spLocks noChangeShapeType="1"/>
            </p:cNvSpPr>
            <p:nvPr/>
          </p:nvSpPr>
          <p:spPr bwMode="auto">
            <a:xfrm>
              <a:off x="2719"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2" name="Line 22">
              <a:extLst>
                <a:ext uri="{FF2B5EF4-FFF2-40B4-BE49-F238E27FC236}">
                  <a16:creationId xmlns:a16="http://schemas.microsoft.com/office/drawing/2014/main" id="{80784D27-503C-776F-CE6B-46EB10811627}"/>
                </a:ext>
              </a:extLst>
            </p:cNvPr>
            <p:cNvSpPr>
              <a:spLocks noChangeShapeType="1"/>
            </p:cNvSpPr>
            <p:nvPr/>
          </p:nvSpPr>
          <p:spPr bwMode="auto">
            <a:xfrm>
              <a:off x="2838"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3" name="Line 23">
              <a:extLst>
                <a:ext uri="{FF2B5EF4-FFF2-40B4-BE49-F238E27FC236}">
                  <a16:creationId xmlns:a16="http://schemas.microsoft.com/office/drawing/2014/main" id="{45489896-45BF-990E-9874-E210D3098940}"/>
                </a:ext>
              </a:extLst>
            </p:cNvPr>
            <p:cNvSpPr>
              <a:spLocks noChangeShapeType="1"/>
            </p:cNvSpPr>
            <p:nvPr/>
          </p:nvSpPr>
          <p:spPr bwMode="auto">
            <a:xfrm>
              <a:off x="2957"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4" name="Line 24">
              <a:extLst>
                <a:ext uri="{FF2B5EF4-FFF2-40B4-BE49-F238E27FC236}">
                  <a16:creationId xmlns:a16="http://schemas.microsoft.com/office/drawing/2014/main" id="{3E85711A-FB51-2619-1755-EEB2237D5B01}"/>
                </a:ext>
              </a:extLst>
            </p:cNvPr>
            <p:cNvSpPr>
              <a:spLocks noChangeShapeType="1"/>
            </p:cNvSpPr>
            <p:nvPr/>
          </p:nvSpPr>
          <p:spPr bwMode="auto">
            <a:xfrm>
              <a:off x="3076"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5" name="Line 25">
              <a:extLst>
                <a:ext uri="{FF2B5EF4-FFF2-40B4-BE49-F238E27FC236}">
                  <a16:creationId xmlns:a16="http://schemas.microsoft.com/office/drawing/2014/main" id="{E12C41A4-DA36-5533-BB78-4D464612FE7E}"/>
                </a:ext>
              </a:extLst>
            </p:cNvPr>
            <p:cNvSpPr>
              <a:spLocks noChangeShapeType="1"/>
            </p:cNvSpPr>
            <p:nvPr/>
          </p:nvSpPr>
          <p:spPr bwMode="auto">
            <a:xfrm>
              <a:off x="3194"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6" name="Line 26">
              <a:extLst>
                <a:ext uri="{FF2B5EF4-FFF2-40B4-BE49-F238E27FC236}">
                  <a16:creationId xmlns:a16="http://schemas.microsoft.com/office/drawing/2014/main" id="{93AF50C9-E678-8F17-F2A8-E18EA774EBDD}"/>
                </a:ext>
              </a:extLst>
            </p:cNvPr>
            <p:cNvSpPr>
              <a:spLocks noChangeShapeType="1"/>
            </p:cNvSpPr>
            <p:nvPr/>
          </p:nvSpPr>
          <p:spPr bwMode="auto">
            <a:xfrm>
              <a:off x="3313" y="1243"/>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97" name="Line 27">
              <a:extLst>
                <a:ext uri="{FF2B5EF4-FFF2-40B4-BE49-F238E27FC236}">
                  <a16:creationId xmlns:a16="http://schemas.microsoft.com/office/drawing/2014/main" id="{384E0BC6-86D5-830A-839B-D6235A10D3CF}"/>
                </a:ext>
              </a:extLst>
            </p:cNvPr>
            <p:cNvSpPr>
              <a:spLocks noChangeShapeType="1"/>
            </p:cNvSpPr>
            <p:nvPr/>
          </p:nvSpPr>
          <p:spPr bwMode="auto">
            <a:xfrm>
              <a:off x="3432" y="1243"/>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sp>
        <p:nvSpPr>
          <p:cNvPr id="26652" name="Line 28">
            <a:extLst>
              <a:ext uri="{FF2B5EF4-FFF2-40B4-BE49-F238E27FC236}">
                <a16:creationId xmlns:a16="http://schemas.microsoft.com/office/drawing/2014/main" id="{82886AE1-DF54-E501-6551-28D40440FC46}"/>
              </a:ext>
            </a:extLst>
          </p:cNvPr>
          <p:cNvSpPr>
            <a:spLocks noChangeShapeType="1"/>
          </p:cNvSpPr>
          <p:nvPr/>
        </p:nvSpPr>
        <p:spPr bwMode="auto">
          <a:xfrm flipH="1">
            <a:off x="3629025" y="4800600"/>
            <a:ext cx="136525"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53" name="Rectangle 29">
            <a:extLst>
              <a:ext uri="{FF2B5EF4-FFF2-40B4-BE49-F238E27FC236}">
                <a16:creationId xmlns:a16="http://schemas.microsoft.com/office/drawing/2014/main" id="{178A7E8D-1121-939E-447C-4F74D66BF757}"/>
              </a:ext>
            </a:extLst>
          </p:cNvPr>
          <p:cNvSpPr>
            <a:spLocks noChangeArrowheads="1"/>
          </p:cNvSpPr>
          <p:nvPr/>
        </p:nvSpPr>
        <p:spPr bwMode="auto">
          <a:xfrm>
            <a:off x="3343275" y="4657725"/>
            <a:ext cx="25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a:t>
            </a:r>
            <a:endParaRPr lang="en-US" altLang="en-US" sz="1800">
              <a:latin typeface="Arial" panose="020B0604020202020204" pitchFamily="34" charset="0"/>
            </a:endParaRPr>
          </a:p>
        </p:txBody>
      </p:sp>
      <p:sp>
        <p:nvSpPr>
          <p:cNvPr id="26654" name="Line 30">
            <a:extLst>
              <a:ext uri="{FF2B5EF4-FFF2-40B4-BE49-F238E27FC236}">
                <a16:creationId xmlns:a16="http://schemas.microsoft.com/office/drawing/2014/main" id="{5A7A68B9-EC2A-615C-FCD0-55A8062A7B72}"/>
              </a:ext>
            </a:extLst>
          </p:cNvPr>
          <p:cNvSpPr>
            <a:spLocks noChangeShapeType="1"/>
          </p:cNvSpPr>
          <p:nvPr/>
        </p:nvSpPr>
        <p:spPr bwMode="auto">
          <a:xfrm flipH="1">
            <a:off x="3629025" y="3868738"/>
            <a:ext cx="136525"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55" name="Rectangle 31">
            <a:extLst>
              <a:ext uri="{FF2B5EF4-FFF2-40B4-BE49-F238E27FC236}">
                <a16:creationId xmlns:a16="http://schemas.microsoft.com/office/drawing/2014/main" id="{12EF54FC-9996-FEF4-E28E-E1C13583CE91}"/>
              </a:ext>
            </a:extLst>
          </p:cNvPr>
          <p:cNvSpPr>
            <a:spLocks noChangeArrowheads="1"/>
          </p:cNvSpPr>
          <p:nvPr/>
        </p:nvSpPr>
        <p:spPr bwMode="auto">
          <a:xfrm>
            <a:off x="3343275" y="3736975"/>
            <a:ext cx="25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90</a:t>
            </a:r>
            <a:endParaRPr lang="en-US" altLang="en-US" sz="1800">
              <a:latin typeface="Arial" panose="020B0604020202020204" pitchFamily="34" charset="0"/>
            </a:endParaRPr>
          </a:p>
        </p:txBody>
      </p:sp>
      <p:sp>
        <p:nvSpPr>
          <p:cNvPr id="26656" name="Line 32">
            <a:extLst>
              <a:ext uri="{FF2B5EF4-FFF2-40B4-BE49-F238E27FC236}">
                <a16:creationId xmlns:a16="http://schemas.microsoft.com/office/drawing/2014/main" id="{B285BF92-C3A1-AF0D-19EC-ECDE9BD518FC}"/>
              </a:ext>
            </a:extLst>
          </p:cNvPr>
          <p:cNvSpPr>
            <a:spLocks noChangeShapeType="1"/>
          </p:cNvSpPr>
          <p:nvPr/>
        </p:nvSpPr>
        <p:spPr bwMode="auto">
          <a:xfrm flipH="1">
            <a:off x="3629025" y="3243263"/>
            <a:ext cx="136525"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57" name="Rectangle 33">
            <a:extLst>
              <a:ext uri="{FF2B5EF4-FFF2-40B4-BE49-F238E27FC236}">
                <a16:creationId xmlns:a16="http://schemas.microsoft.com/office/drawing/2014/main" id="{24D0D3D0-5F3D-1768-727B-3C4AC9B49487}"/>
              </a:ext>
            </a:extLst>
          </p:cNvPr>
          <p:cNvSpPr>
            <a:spLocks noChangeArrowheads="1"/>
          </p:cNvSpPr>
          <p:nvPr/>
        </p:nvSpPr>
        <p:spPr bwMode="auto">
          <a:xfrm>
            <a:off x="3216275" y="3103563"/>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130</a:t>
            </a:r>
            <a:endParaRPr lang="en-US" altLang="en-US" sz="1800">
              <a:latin typeface="Arial" panose="020B0604020202020204" pitchFamily="34" charset="0"/>
            </a:endParaRPr>
          </a:p>
        </p:txBody>
      </p:sp>
      <p:sp>
        <p:nvSpPr>
          <p:cNvPr id="26658" name="Line 34">
            <a:extLst>
              <a:ext uri="{FF2B5EF4-FFF2-40B4-BE49-F238E27FC236}">
                <a16:creationId xmlns:a16="http://schemas.microsoft.com/office/drawing/2014/main" id="{B614D9E4-2EF2-67E8-4D25-AE2011EB15F4}"/>
              </a:ext>
            </a:extLst>
          </p:cNvPr>
          <p:cNvSpPr>
            <a:spLocks noChangeShapeType="1"/>
          </p:cNvSpPr>
          <p:nvPr/>
        </p:nvSpPr>
        <p:spPr bwMode="auto">
          <a:xfrm flipH="1">
            <a:off x="3629025" y="2895600"/>
            <a:ext cx="136525"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59" name="Rectangle 35">
            <a:extLst>
              <a:ext uri="{FF2B5EF4-FFF2-40B4-BE49-F238E27FC236}">
                <a16:creationId xmlns:a16="http://schemas.microsoft.com/office/drawing/2014/main" id="{6CCCD600-E507-45D6-78C1-14FA3A23C8E0}"/>
              </a:ext>
            </a:extLst>
          </p:cNvPr>
          <p:cNvSpPr>
            <a:spLocks noChangeArrowheads="1"/>
          </p:cNvSpPr>
          <p:nvPr/>
        </p:nvSpPr>
        <p:spPr bwMode="auto">
          <a:xfrm>
            <a:off x="3216275" y="2757488"/>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161</a:t>
            </a:r>
            <a:endParaRPr lang="en-US" altLang="en-US" sz="1800">
              <a:latin typeface="Arial" panose="020B0604020202020204" pitchFamily="34" charset="0"/>
            </a:endParaRPr>
          </a:p>
        </p:txBody>
      </p:sp>
      <p:sp>
        <p:nvSpPr>
          <p:cNvPr id="26660" name="Line 36">
            <a:extLst>
              <a:ext uri="{FF2B5EF4-FFF2-40B4-BE49-F238E27FC236}">
                <a16:creationId xmlns:a16="http://schemas.microsoft.com/office/drawing/2014/main" id="{F3DC6669-F893-3082-208B-1B982459BC7C}"/>
              </a:ext>
            </a:extLst>
          </p:cNvPr>
          <p:cNvSpPr>
            <a:spLocks noChangeShapeType="1"/>
          </p:cNvSpPr>
          <p:nvPr/>
        </p:nvSpPr>
        <p:spPr bwMode="auto">
          <a:xfrm flipH="1">
            <a:off x="3629025" y="2563813"/>
            <a:ext cx="136525"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61" name="Rectangle 37">
            <a:extLst>
              <a:ext uri="{FF2B5EF4-FFF2-40B4-BE49-F238E27FC236}">
                <a16:creationId xmlns:a16="http://schemas.microsoft.com/office/drawing/2014/main" id="{17848129-1376-71C4-E76E-E3B82F25EBE0}"/>
              </a:ext>
            </a:extLst>
          </p:cNvPr>
          <p:cNvSpPr>
            <a:spLocks noChangeArrowheads="1"/>
          </p:cNvSpPr>
          <p:nvPr/>
        </p:nvSpPr>
        <p:spPr bwMode="auto">
          <a:xfrm>
            <a:off x="3216275" y="2419350"/>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184</a:t>
            </a:r>
            <a:endParaRPr lang="en-US" altLang="en-US" sz="1800">
              <a:latin typeface="Arial" panose="020B0604020202020204" pitchFamily="34" charset="0"/>
            </a:endParaRPr>
          </a:p>
        </p:txBody>
      </p:sp>
      <p:sp>
        <p:nvSpPr>
          <p:cNvPr id="26662" name="Line 38">
            <a:extLst>
              <a:ext uri="{FF2B5EF4-FFF2-40B4-BE49-F238E27FC236}">
                <a16:creationId xmlns:a16="http://schemas.microsoft.com/office/drawing/2014/main" id="{B1F96107-C9AC-1D9A-A50F-39C9E8EF852B}"/>
              </a:ext>
            </a:extLst>
          </p:cNvPr>
          <p:cNvSpPr>
            <a:spLocks noChangeShapeType="1"/>
          </p:cNvSpPr>
          <p:nvPr/>
        </p:nvSpPr>
        <p:spPr bwMode="auto">
          <a:xfrm flipH="1">
            <a:off x="3629025" y="2376488"/>
            <a:ext cx="136525"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6663" name="Rectangle 39">
            <a:extLst>
              <a:ext uri="{FF2B5EF4-FFF2-40B4-BE49-F238E27FC236}">
                <a16:creationId xmlns:a16="http://schemas.microsoft.com/office/drawing/2014/main" id="{7E1D15D3-6E79-484E-AB7F-80CA3F4DA0AA}"/>
              </a:ext>
            </a:extLst>
          </p:cNvPr>
          <p:cNvSpPr>
            <a:spLocks noChangeArrowheads="1"/>
          </p:cNvSpPr>
          <p:nvPr/>
        </p:nvSpPr>
        <p:spPr bwMode="auto">
          <a:xfrm>
            <a:off x="3216275" y="2243138"/>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196</a:t>
            </a:r>
            <a:endParaRPr lang="en-US" altLang="en-US" sz="1800">
              <a:latin typeface="Arial" panose="020B0604020202020204" pitchFamily="34" charset="0"/>
            </a:endParaRPr>
          </a:p>
        </p:txBody>
      </p:sp>
      <p:grpSp>
        <p:nvGrpSpPr>
          <p:cNvPr id="26664" name="Group 40">
            <a:extLst>
              <a:ext uri="{FF2B5EF4-FFF2-40B4-BE49-F238E27FC236}">
                <a16:creationId xmlns:a16="http://schemas.microsoft.com/office/drawing/2014/main" id="{7EF77D60-8F89-BBAF-0851-370952FB79D1}"/>
              </a:ext>
            </a:extLst>
          </p:cNvPr>
          <p:cNvGrpSpPr>
            <a:grpSpLocks/>
          </p:cNvGrpSpPr>
          <p:nvPr/>
        </p:nvGrpSpPr>
        <p:grpSpPr bwMode="auto">
          <a:xfrm>
            <a:off x="3773488" y="4800600"/>
            <a:ext cx="573087" cy="1588"/>
            <a:chOff x="1427" y="2767"/>
            <a:chExt cx="361" cy="1"/>
          </a:xfrm>
        </p:grpSpPr>
        <p:sp>
          <p:nvSpPr>
            <p:cNvPr id="27776" name="Line 41">
              <a:extLst>
                <a:ext uri="{FF2B5EF4-FFF2-40B4-BE49-F238E27FC236}">
                  <a16:creationId xmlns:a16="http://schemas.microsoft.com/office/drawing/2014/main" id="{83A2FDE5-88B6-8417-C22F-1CE56890BC2A}"/>
                </a:ext>
              </a:extLst>
            </p:cNvPr>
            <p:cNvSpPr>
              <a:spLocks noChangeShapeType="1"/>
            </p:cNvSpPr>
            <p:nvPr/>
          </p:nvSpPr>
          <p:spPr bwMode="auto">
            <a:xfrm>
              <a:off x="1427" y="2767"/>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7" name="Line 42">
              <a:extLst>
                <a:ext uri="{FF2B5EF4-FFF2-40B4-BE49-F238E27FC236}">
                  <a16:creationId xmlns:a16="http://schemas.microsoft.com/office/drawing/2014/main" id="{3BC051C9-EB41-E296-BCB2-89F591708525}"/>
                </a:ext>
              </a:extLst>
            </p:cNvPr>
            <p:cNvSpPr>
              <a:spLocks noChangeShapeType="1"/>
            </p:cNvSpPr>
            <p:nvPr/>
          </p:nvSpPr>
          <p:spPr bwMode="auto">
            <a:xfrm>
              <a:off x="1546" y="2767"/>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8" name="Line 43">
              <a:extLst>
                <a:ext uri="{FF2B5EF4-FFF2-40B4-BE49-F238E27FC236}">
                  <a16:creationId xmlns:a16="http://schemas.microsoft.com/office/drawing/2014/main" id="{F9980176-A677-15D4-F54E-02DC88F324B1}"/>
                </a:ext>
              </a:extLst>
            </p:cNvPr>
            <p:cNvSpPr>
              <a:spLocks noChangeShapeType="1"/>
            </p:cNvSpPr>
            <p:nvPr/>
          </p:nvSpPr>
          <p:spPr bwMode="auto">
            <a:xfrm>
              <a:off x="1664" y="2767"/>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9" name="Line 44">
              <a:extLst>
                <a:ext uri="{FF2B5EF4-FFF2-40B4-BE49-F238E27FC236}">
                  <a16:creationId xmlns:a16="http://schemas.microsoft.com/office/drawing/2014/main" id="{6491A6E5-A15D-FDCF-9A97-DD1251F5E8E4}"/>
                </a:ext>
              </a:extLst>
            </p:cNvPr>
            <p:cNvSpPr>
              <a:spLocks noChangeShapeType="1"/>
            </p:cNvSpPr>
            <p:nvPr/>
          </p:nvSpPr>
          <p:spPr bwMode="auto">
            <a:xfrm>
              <a:off x="1783" y="2767"/>
              <a:ext cx="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26669" name="Group 45">
            <a:extLst>
              <a:ext uri="{FF2B5EF4-FFF2-40B4-BE49-F238E27FC236}">
                <a16:creationId xmlns:a16="http://schemas.microsoft.com/office/drawing/2014/main" id="{14FB7DB3-5583-A254-6B6C-2DADF8A5E9C0}"/>
              </a:ext>
            </a:extLst>
          </p:cNvPr>
          <p:cNvGrpSpPr>
            <a:grpSpLocks/>
          </p:cNvGrpSpPr>
          <p:nvPr/>
        </p:nvGrpSpPr>
        <p:grpSpPr bwMode="auto">
          <a:xfrm>
            <a:off x="3773488" y="3868738"/>
            <a:ext cx="1036637" cy="1587"/>
            <a:chOff x="1427" y="2180"/>
            <a:chExt cx="653" cy="1"/>
          </a:xfrm>
        </p:grpSpPr>
        <p:sp>
          <p:nvSpPr>
            <p:cNvPr id="27770" name="Line 46">
              <a:extLst>
                <a:ext uri="{FF2B5EF4-FFF2-40B4-BE49-F238E27FC236}">
                  <a16:creationId xmlns:a16="http://schemas.microsoft.com/office/drawing/2014/main" id="{4B82B6EE-1ECA-0E0D-9B8E-7681FAEAE695}"/>
                </a:ext>
              </a:extLst>
            </p:cNvPr>
            <p:cNvSpPr>
              <a:spLocks noChangeShapeType="1"/>
            </p:cNvSpPr>
            <p:nvPr/>
          </p:nvSpPr>
          <p:spPr bwMode="auto">
            <a:xfrm>
              <a:off x="1427" y="218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1" name="Line 47">
              <a:extLst>
                <a:ext uri="{FF2B5EF4-FFF2-40B4-BE49-F238E27FC236}">
                  <a16:creationId xmlns:a16="http://schemas.microsoft.com/office/drawing/2014/main" id="{6FFE0323-945C-F56E-7FE2-4EAB8216073C}"/>
                </a:ext>
              </a:extLst>
            </p:cNvPr>
            <p:cNvSpPr>
              <a:spLocks noChangeShapeType="1"/>
            </p:cNvSpPr>
            <p:nvPr/>
          </p:nvSpPr>
          <p:spPr bwMode="auto">
            <a:xfrm>
              <a:off x="1546" y="218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2" name="Line 48">
              <a:extLst>
                <a:ext uri="{FF2B5EF4-FFF2-40B4-BE49-F238E27FC236}">
                  <a16:creationId xmlns:a16="http://schemas.microsoft.com/office/drawing/2014/main" id="{E2556BB3-D25B-23C7-3771-269F460A8593}"/>
                </a:ext>
              </a:extLst>
            </p:cNvPr>
            <p:cNvSpPr>
              <a:spLocks noChangeShapeType="1"/>
            </p:cNvSpPr>
            <p:nvPr/>
          </p:nvSpPr>
          <p:spPr bwMode="auto">
            <a:xfrm>
              <a:off x="1664" y="218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3" name="Line 49">
              <a:extLst>
                <a:ext uri="{FF2B5EF4-FFF2-40B4-BE49-F238E27FC236}">
                  <a16:creationId xmlns:a16="http://schemas.microsoft.com/office/drawing/2014/main" id="{DA6295F6-CEF9-649F-09C3-5ADAA710921D}"/>
                </a:ext>
              </a:extLst>
            </p:cNvPr>
            <p:cNvSpPr>
              <a:spLocks noChangeShapeType="1"/>
            </p:cNvSpPr>
            <p:nvPr/>
          </p:nvSpPr>
          <p:spPr bwMode="auto">
            <a:xfrm>
              <a:off x="1783" y="218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4" name="Line 50">
              <a:extLst>
                <a:ext uri="{FF2B5EF4-FFF2-40B4-BE49-F238E27FC236}">
                  <a16:creationId xmlns:a16="http://schemas.microsoft.com/office/drawing/2014/main" id="{B9BCCCA6-C90F-9BA6-E2A7-06D9107694BA}"/>
                </a:ext>
              </a:extLst>
            </p:cNvPr>
            <p:cNvSpPr>
              <a:spLocks noChangeShapeType="1"/>
            </p:cNvSpPr>
            <p:nvPr/>
          </p:nvSpPr>
          <p:spPr bwMode="auto">
            <a:xfrm>
              <a:off x="1902" y="218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75" name="Line 51">
              <a:extLst>
                <a:ext uri="{FF2B5EF4-FFF2-40B4-BE49-F238E27FC236}">
                  <a16:creationId xmlns:a16="http://schemas.microsoft.com/office/drawing/2014/main" id="{D51D3638-187D-A084-9E56-D283DBA3B01D}"/>
                </a:ext>
              </a:extLst>
            </p:cNvPr>
            <p:cNvSpPr>
              <a:spLocks noChangeShapeType="1"/>
            </p:cNvSpPr>
            <p:nvPr/>
          </p:nvSpPr>
          <p:spPr bwMode="auto">
            <a:xfrm>
              <a:off x="2021" y="218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26676" name="Group 52">
            <a:extLst>
              <a:ext uri="{FF2B5EF4-FFF2-40B4-BE49-F238E27FC236}">
                <a16:creationId xmlns:a16="http://schemas.microsoft.com/office/drawing/2014/main" id="{F961AB25-9A23-9CC6-0C5C-8DC388DFDA33}"/>
              </a:ext>
            </a:extLst>
          </p:cNvPr>
          <p:cNvGrpSpPr>
            <a:grpSpLocks/>
          </p:cNvGrpSpPr>
          <p:nvPr/>
        </p:nvGrpSpPr>
        <p:grpSpPr bwMode="auto">
          <a:xfrm>
            <a:off x="4991100" y="3306763"/>
            <a:ext cx="590550" cy="557212"/>
            <a:chOff x="2194" y="1826"/>
            <a:chExt cx="372" cy="351"/>
          </a:xfrm>
        </p:grpSpPr>
        <p:sp>
          <p:nvSpPr>
            <p:cNvPr id="27768" name="Freeform 53">
              <a:extLst>
                <a:ext uri="{FF2B5EF4-FFF2-40B4-BE49-F238E27FC236}">
                  <a16:creationId xmlns:a16="http://schemas.microsoft.com/office/drawing/2014/main" id="{4BBE833E-C76E-D611-9806-CA757B459186}"/>
                </a:ext>
              </a:extLst>
            </p:cNvPr>
            <p:cNvSpPr>
              <a:spLocks/>
            </p:cNvSpPr>
            <p:nvPr/>
          </p:nvSpPr>
          <p:spPr bwMode="auto">
            <a:xfrm>
              <a:off x="2194" y="1880"/>
              <a:ext cx="317" cy="297"/>
            </a:xfrm>
            <a:custGeom>
              <a:avLst/>
              <a:gdLst>
                <a:gd name="T0" fmla="*/ 0 w 317"/>
                <a:gd name="T1" fmla="*/ 297 h 297"/>
                <a:gd name="T2" fmla="*/ 317 w 317"/>
                <a:gd name="T3" fmla="*/ 297 h 297"/>
                <a:gd name="T4" fmla="*/ 317 w 317"/>
                <a:gd name="T5" fmla="*/ 0 h 297"/>
                <a:gd name="T6" fmla="*/ 0 60000 65536"/>
                <a:gd name="T7" fmla="*/ 0 60000 65536"/>
                <a:gd name="T8" fmla="*/ 0 60000 65536"/>
              </a:gdLst>
              <a:ahLst/>
              <a:cxnLst>
                <a:cxn ang="T6">
                  <a:pos x="T0" y="T1"/>
                </a:cxn>
                <a:cxn ang="T7">
                  <a:pos x="T2" y="T3"/>
                </a:cxn>
                <a:cxn ang="T8">
                  <a:pos x="T4" y="T5"/>
                </a:cxn>
              </a:cxnLst>
              <a:rect l="0" t="0" r="r" b="b"/>
              <a:pathLst>
                <a:path w="317" h="297">
                  <a:moveTo>
                    <a:pt x="0" y="297"/>
                  </a:moveTo>
                  <a:lnTo>
                    <a:pt x="317" y="297"/>
                  </a:lnTo>
                  <a:lnTo>
                    <a:pt x="317"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7769" name="Freeform 54">
              <a:extLst>
                <a:ext uri="{FF2B5EF4-FFF2-40B4-BE49-F238E27FC236}">
                  <a16:creationId xmlns:a16="http://schemas.microsoft.com/office/drawing/2014/main" id="{AA0FE694-C6D1-F6CF-8FA5-B00BD000C35D}"/>
                </a:ext>
              </a:extLst>
            </p:cNvPr>
            <p:cNvSpPr>
              <a:spLocks/>
            </p:cNvSpPr>
            <p:nvPr/>
          </p:nvSpPr>
          <p:spPr bwMode="auto">
            <a:xfrm>
              <a:off x="2452" y="1826"/>
              <a:ext cx="114" cy="108"/>
            </a:xfrm>
            <a:custGeom>
              <a:avLst/>
              <a:gdLst>
                <a:gd name="T0" fmla="*/ 59 w 114"/>
                <a:gd name="T1" fmla="*/ 84 h 108"/>
                <a:gd name="T2" fmla="*/ 114 w 114"/>
                <a:gd name="T3" fmla="*/ 108 h 108"/>
                <a:gd name="T4" fmla="*/ 114 w 114"/>
                <a:gd name="T5" fmla="*/ 105 h 108"/>
                <a:gd name="T6" fmla="*/ 79 w 114"/>
                <a:gd name="T7" fmla="*/ 54 h 108"/>
                <a:gd name="T8" fmla="*/ 79 w 114"/>
                <a:gd name="T9" fmla="*/ 54 h 108"/>
                <a:gd name="T10" fmla="*/ 59 w 114"/>
                <a:gd name="T11" fmla="*/ 0 h 108"/>
                <a:gd name="T12" fmla="*/ 59 w 114"/>
                <a:gd name="T13" fmla="*/ 0 h 108"/>
                <a:gd name="T14" fmla="*/ 34 w 114"/>
                <a:gd name="T15" fmla="*/ 54 h 108"/>
                <a:gd name="T16" fmla="*/ 0 w 114"/>
                <a:gd name="T17" fmla="*/ 105 h 108"/>
                <a:gd name="T18" fmla="*/ 0 w 114"/>
                <a:gd name="T19" fmla="*/ 108 h 108"/>
                <a:gd name="T20" fmla="*/ 59 w 114"/>
                <a:gd name="T21" fmla="*/ 84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08">
                  <a:moveTo>
                    <a:pt x="59" y="84"/>
                  </a:moveTo>
                  <a:lnTo>
                    <a:pt x="114" y="108"/>
                  </a:lnTo>
                  <a:lnTo>
                    <a:pt x="114" y="105"/>
                  </a:lnTo>
                  <a:lnTo>
                    <a:pt x="79" y="54"/>
                  </a:lnTo>
                  <a:lnTo>
                    <a:pt x="59" y="0"/>
                  </a:lnTo>
                  <a:lnTo>
                    <a:pt x="34" y="54"/>
                  </a:lnTo>
                  <a:lnTo>
                    <a:pt x="0" y="105"/>
                  </a:lnTo>
                  <a:lnTo>
                    <a:pt x="0" y="108"/>
                  </a:lnTo>
                  <a:lnTo>
                    <a:pt x="59"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grpSp>
        <p:nvGrpSpPr>
          <p:cNvPr id="26679" name="Group 55">
            <a:extLst>
              <a:ext uri="{FF2B5EF4-FFF2-40B4-BE49-F238E27FC236}">
                <a16:creationId xmlns:a16="http://schemas.microsoft.com/office/drawing/2014/main" id="{8138B683-F114-588F-5D92-5DF115409AB2}"/>
              </a:ext>
            </a:extLst>
          </p:cNvPr>
          <p:cNvGrpSpPr>
            <a:grpSpLocks/>
          </p:cNvGrpSpPr>
          <p:nvPr/>
        </p:nvGrpSpPr>
        <p:grpSpPr bwMode="auto">
          <a:xfrm>
            <a:off x="4378325" y="3927475"/>
            <a:ext cx="644525" cy="877888"/>
            <a:chOff x="1808" y="2217"/>
            <a:chExt cx="406" cy="553"/>
          </a:xfrm>
        </p:grpSpPr>
        <p:sp>
          <p:nvSpPr>
            <p:cNvPr id="27766" name="Freeform 56">
              <a:extLst>
                <a:ext uri="{FF2B5EF4-FFF2-40B4-BE49-F238E27FC236}">
                  <a16:creationId xmlns:a16="http://schemas.microsoft.com/office/drawing/2014/main" id="{5CFCD1EB-8AFC-D3AB-8ADC-BDB5649FEE0A}"/>
                </a:ext>
              </a:extLst>
            </p:cNvPr>
            <p:cNvSpPr>
              <a:spLocks/>
            </p:cNvSpPr>
            <p:nvPr/>
          </p:nvSpPr>
          <p:spPr bwMode="auto">
            <a:xfrm>
              <a:off x="1808" y="2291"/>
              <a:ext cx="352" cy="479"/>
            </a:xfrm>
            <a:custGeom>
              <a:avLst/>
              <a:gdLst>
                <a:gd name="T0" fmla="*/ 0 w 352"/>
                <a:gd name="T1" fmla="*/ 479 h 479"/>
                <a:gd name="T2" fmla="*/ 352 w 352"/>
                <a:gd name="T3" fmla="*/ 479 h 479"/>
                <a:gd name="T4" fmla="*/ 352 w 352"/>
                <a:gd name="T5" fmla="*/ 0 h 479"/>
                <a:gd name="T6" fmla="*/ 0 60000 65536"/>
                <a:gd name="T7" fmla="*/ 0 60000 65536"/>
                <a:gd name="T8" fmla="*/ 0 60000 65536"/>
              </a:gdLst>
              <a:ahLst/>
              <a:cxnLst>
                <a:cxn ang="T6">
                  <a:pos x="T0" y="T1"/>
                </a:cxn>
                <a:cxn ang="T7">
                  <a:pos x="T2" y="T3"/>
                </a:cxn>
                <a:cxn ang="T8">
                  <a:pos x="T4" y="T5"/>
                </a:cxn>
              </a:cxnLst>
              <a:rect l="0" t="0" r="r" b="b"/>
              <a:pathLst>
                <a:path w="352" h="479">
                  <a:moveTo>
                    <a:pt x="0" y="479"/>
                  </a:moveTo>
                  <a:lnTo>
                    <a:pt x="352" y="479"/>
                  </a:lnTo>
                  <a:lnTo>
                    <a:pt x="35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7767" name="Freeform 57">
              <a:extLst>
                <a:ext uri="{FF2B5EF4-FFF2-40B4-BE49-F238E27FC236}">
                  <a16:creationId xmlns:a16="http://schemas.microsoft.com/office/drawing/2014/main" id="{C0168A4A-DB45-746D-DE37-02F50D80121F}"/>
                </a:ext>
              </a:extLst>
            </p:cNvPr>
            <p:cNvSpPr>
              <a:spLocks/>
            </p:cNvSpPr>
            <p:nvPr/>
          </p:nvSpPr>
          <p:spPr bwMode="auto">
            <a:xfrm>
              <a:off x="2100" y="2217"/>
              <a:ext cx="114" cy="108"/>
            </a:xfrm>
            <a:custGeom>
              <a:avLst/>
              <a:gdLst>
                <a:gd name="T0" fmla="*/ 60 w 114"/>
                <a:gd name="T1" fmla="*/ 85 h 108"/>
                <a:gd name="T2" fmla="*/ 114 w 114"/>
                <a:gd name="T3" fmla="*/ 108 h 108"/>
                <a:gd name="T4" fmla="*/ 114 w 114"/>
                <a:gd name="T5" fmla="*/ 108 h 108"/>
                <a:gd name="T6" fmla="*/ 79 w 114"/>
                <a:gd name="T7" fmla="*/ 54 h 108"/>
                <a:gd name="T8" fmla="*/ 79 w 114"/>
                <a:gd name="T9" fmla="*/ 54 h 108"/>
                <a:gd name="T10" fmla="*/ 60 w 114"/>
                <a:gd name="T11" fmla="*/ 0 h 108"/>
                <a:gd name="T12" fmla="*/ 60 w 114"/>
                <a:gd name="T13" fmla="*/ 0 h 108"/>
                <a:gd name="T14" fmla="*/ 35 w 114"/>
                <a:gd name="T15" fmla="*/ 54 h 108"/>
                <a:gd name="T16" fmla="*/ 0 w 114"/>
                <a:gd name="T17" fmla="*/ 108 h 108"/>
                <a:gd name="T18" fmla="*/ 0 w 114"/>
                <a:gd name="T19" fmla="*/ 108 h 108"/>
                <a:gd name="T20" fmla="*/ 60 w 114"/>
                <a:gd name="T21" fmla="*/ 85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08">
                  <a:moveTo>
                    <a:pt x="60" y="85"/>
                  </a:moveTo>
                  <a:lnTo>
                    <a:pt x="114" y="108"/>
                  </a:lnTo>
                  <a:lnTo>
                    <a:pt x="79" y="54"/>
                  </a:lnTo>
                  <a:lnTo>
                    <a:pt x="60" y="0"/>
                  </a:lnTo>
                  <a:lnTo>
                    <a:pt x="35" y="54"/>
                  </a:lnTo>
                  <a:lnTo>
                    <a:pt x="0" y="108"/>
                  </a:lnTo>
                  <a:lnTo>
                    <a:pt x="6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grpSp>
        <p:nvGrpSpPr>
          <p:cNvPr id="26682" name="Group 58">
            <a:extLst>
              <a:ext uri="{FF2B5EF4-FFF2-40B4-BE49-F238E27FC236}">
                <a16:creationId xmlns:a16="http://schemas.microsoft.com/office/drawing/2014/main" id="{4E53056A-64FE-C8D2-ADFD-EBE82882D765}"/>
              </a:ext>
            </a:extLst>
          </p:cNvPr>
          <p:cNvGrpSpPr>
            <a:grpSpLocks/>
          </p:cNvGrpSpPr>
          <p:nvPr/>
        </p:nvGrpSpPr>
        <p:grpSpPr bwMode="auto">
          <a:xfrm>
            <a:off x="5470525" y="2970213"/>
            <a:ext cx="574675" cy="273050"/>
            <a:chOff x="2496" y="1614"/>
            <a:chExt cx="362" cy="172"/>
          </a:xfrm>
        </p:grpSpPr>
        <p:sp>
          <p:nvSpPr>
            <p:cNvPr id="27764" name="Freeform 59">
              <a:extLst>
                <a:ext uri="{FF2B5EF4-FFF2-40B4-BE49-F238E27FC236}">
                  <a16:creationId xmlns:a16="http://schemas.microsoft.com/office/drawing/2014/main" id="{2872B669-894F-83F4-93D4-B6A96E581DB4}"/>
                </a:ext>
              </a:extLst>
            </p:cNvPr>
            <p:cNvSpPr>
              <a:spLocks/>
            </p:cNvSpPr>
            <p:nvPr/>
          </p:nvSpPr>
          <p:spPr bwMode="auto">
            <a:xfrm>
              <a:off x="2496" y="1678"/>
              <a:ext cx="302" cy="108"/>
            </a:xfrm>
            <a:custGeom>
              <a:avLst/>
              <a:gdLst>
                <a:gd name="T0" fmla="*/ 0 w 302"/>
                <a:gd name="T1" fmla="*/ 108 h 108"/>
                <a:gd name="T2" fmla="*/ 302 w 302"/>
                <a:gd name="T3" fmla="*/ 108 h 108"/>
                <a:gd name="T4" fmla="*/ 302 w 302"/>
                <a:gd name="T5" fmla="*/ 0 h 108"/>
                <a:gd name="T6" fmla="*/ 0 60000 65536"/>
                <a:gd name="T7" fmla="*/ 0 60000 65536"/>
                <a:gd name="T8" fmla="*/ 0 60000 65536"/>
              </a:gdLst>
              <a:ahLst/>
              <a:cxnLst>
                <a:cxn ang="T6">
                  <a:pos x="T0" y="T1"/>
                </a:cxn>
                <a:cxn ang="T7">
                  <a:pos x="T2" y="T3"/>
                </a:cxn>
                <a:cxn ang="T8">
                  <a:pos x="T4" y="T5"/>
                </a:cxn>
              </a:cxnLst>
              <a:rect l="0" t="0" r="r" b="b"/>
              <a:pathLst>
                <a:path w="302" h="108">
                  <a:moveTo>
                    <a:pt x="0" y="108"/>
                  </a:moveTo>
                  <a:lnTo>
                    <a:pt x="302" y="108"/>
                  </a:lnTo>
                  <a:lnTo>
                    <a:pt x="30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7765" name="Freeform 60">
              <a:extLst>
                <a:ext uri="{FF2B5EF4-FFF2-40B4-BE49-F238E27FC236}">
                  <a16:creationId xmlns:a16="http://schemas.microsoft.com/office/drawing/2014/main" id="{AB621CFA-EF74-84F0-D78B-BF7E85FAEFFC}"/>
                </a:ext>
              </a:extLst>
            </p:cNvPr>
            <p:cNvSpPr>
              <a:spLocks/>
            </p:cNvSpPr>
            <p:nvPr/>
          </p:nvSpPr>
          <p:spPr bwMode="auto">
            <a:xfrm>
              <a:off x="2739" y="1614"/>
              <a:ext cx="119" cy="111"/>
            </a:xfrm>
            <a:custGeom>
              <a:avLst/>
              <a:gdLst>
                <a:gd name="T0" fmla="*/ 59 w 119"/>
                <a:gd name="T1" fmla="*/ 84 h 111"/>
                <a:gd name="T2" fmla="*/ 114 w 119"/>
                <a:gd name="T3" fmla="*/ 111 h 111"/>
                <a:gd name="T4" fmla="*/ 119 w 119"/>
                <a:gd name="T5" fmla="*/ 108 h 111"/>
                <a:gd name="T6" fmla="*/ 79 w 119"/>
                <a:gd name="T7" fmla="*/ 57 h 111"/>
                <a:gd name="T8" fmla="*/ 79 w 119"/>
                <a:gd name="T9" fmla="*/ 57 h 111"/>
                <a:gd name="T10" fmla="*/ 59 w 119"/>
                <a:gd name="T11" fmla="*/ 0 h 111"/>
                <a:gd name="T12" fmla="*/ 59 w 119"/>
                <a:gd name="T13" fmla="*/ 0 h 111"/>
                <a:gd name="T14" fmla="*/ 35 w 119"/>
                <a:gd name="T15" fmla="*/ 57 h 111"/>
                <a:gd name="T16" fmla="*/ 0 w 119"/>
                <a:gd name="T17" fmla="*/ 108 h 111"/>
                <a:gd name="T18" fmla="*/ 0 w 119"/>
                <a:gd name="T19" fmla="*/ 111 h 111"/>
                <a:gd name="T20" fmla="*/ 59 w 119"/>
                <a:gd name="T21" fmla="*/ 84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9" h="111">
                  <a:moveTo>
                    <a:pt x="59" y="84"/>
                  </a:moveTo>
                  <a:lnTo>
                    <a:pt x="114" y="111"/>
                  </a:lnTo>
                  <a:lnTo>
                    <a:pt x="119" y="108"/>
                  </a:lnTo>
                  <a:lnTo>
                    <a:pt x="79" y="57"/>
                  </a:lnTo>
                  <a:lnTo>
                    <a:pt x="59" y="0"/>
                  </a:lnTo>
                  <a:lnTo>
                    <a:pt x="35" y="57"/>
                  </a:lnTo>
                  <a:lnTo>
                    <a:pt x="0" y="108"/>
                  </a:lnTo>
                  <a:lnTo>
                    <a:pt x="0" y="111"/>
                  </a:lnTo>
                  <a:lnTo>
                    <a:pt x="59"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grpSp>
        <p:nvGrpSpPr>
          <p:cNvPr id="26685" name="Group 61">
            <a:extLst>
              <a:ext uri="{FF2B5EF4-FFF2-40B4-BE49-F238E27FC236}">
                <a16:creationId xmlns:a16="http://schemas.microsoft.com/office/drawing/2014/main" id="{A60B1B34-E90C-5BEC-7BF4-EAB32B4D7910}"/>
              </a:ext>
            </a:extLst>
          </p:cNvPr>
          <p:cNvGrpSpPr>
            <a:grpSpLocks/>
          </p:cNvGrpSpPr>
          <p:nvPr/>
        </p:nvGrpSpPr>
        <p:grpSpPr bwMode="auto">
          <a:xfrm>
            <a:off x="6029325" y="2632075"/>
            <a:ext cx="692150" cy="263525"/>
            <a:chOff x="2848" y="1401"/>
            <a:chExt cx="436" cy="166"/>
          </a:xfrm>
        </p:grpSpPr>
        <p:sp>
          <p:nvSpPr>
            <p:cNvPr id="27762" name="Freeform 62">
              <a:extLst>
                <a:ext uri="{FF2B5EF4-FFF2-40B4-BE49-F238E27FC236}">
                  <a16:creationId xmlns:a16="http://schemas.microsoft.com/office/drawing/2014/main" id="{9D0310EA-4A56-2C8D-82CA-3FF98B085E98}"/>
                </a:ext>
              </a:extLst>
            </p:cNvPr>
            <p:cNvSpPr>
              <a:spLocks/>
            </p:cNvSpPr>
            <p:nvPr/>
          </p:nvSpPr>
          <p:spPr bwMode="auto">
            <a:xfrm>
              <a:off x="2848" y="1455"/>
              <a:ext cx="376" cy="112"/>
            </a:xfrm>
            <a:custGeom>
              <a:avLst/>
              <a:gdLst>
                <a:gd name="T0" fmla="*/ 0 w 376"/>
                <a:gd name="T1" fmla="*/ 112 h 112"/>
                <a:gd name="T2" fmla="*/ 371 w 376"/>
                <a:gd name="T3" fmla="*/ 112 h 112"/>
                <a:gd name="T4" fmla="*/ 376 w 376"/>
                <a:gd name="T5" fmla="*/ 0 h 112"/>
                <a:gd name="T6" fmla="*/ 0 60000 65536"/>
                <a:gd name="T7" fmla="*/ 0 60000 65536"/>
                <a:gd name="T8" fmla="*/ 0 60000 65536"/>
              </a:gdLst>
              <a:ahLst/>
              <a:cxnLst>
                <a:cxn ang="T6">
                  <a:pos x="T0" y="T1"/>
                </a:cxn>
                <a:cxn ang="T7">
                  <a:pos x="T2" y="T3"/>
                </a:cxn>
                <a:cxn ang="T8">
                  <a:pos x="T4" y="T5"/>
                </a:cxn>
              </a:cxnLst>
              <a:rect l="0" t="0" r="r" b="b"/>
              <a:pathLst>
                <a:path w="376" h="112">
                  <a:moveTo>
                    <a:pt x="0" y="112"/>
                  </a:moveTo>
                  <a:lnTo>
                    <a:pt x="371" y="112"/>
                  </a:lnTo>
                  <a:lnTo>
                    <a:pt x="376"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7763" name="Freeform 63">
              <a:extLst>
                <a:ext uri="{FF2B5EF4-FFF2-40B4-BE49-F238E27FC236}">
                  <a16:creationId xmlns:a16="http://schemas.microsoft.com/office/drawing/2014/main" id="{5986F5A0-72FE-7B80-CDA3-CE70749B3D6E}"/>
                </a:ext>
              </a:extLst>
            </p:cNvPr>
            <p:cNvSpPr>
              <a:spLocks/>
            </p:cNvSpPr>
            <p:nvPr/>
          </p:nvSpPr>
          <p:spPr bwMode="auto">
            <a:xfrm>
              <a:off x="3165" y="1401"/>
              <a:ext cx="119" cy="108"/>
            </a:xfrm>
            <a:custGeom>
              <a:avLst/>
              <a:gdLst>
                <a:gd name="T0" fmla="*/ 59 w 119"/>
                <a:gd name="T1" fmla="*/ 85 h 108"/>
                <a:gd name="T2" fmla="*/ 119 w 119"/>
                <a:gd name="T3" fmla="*/ 108 h 108"/>
                <a:gd name="T4" fmla="*/ 119 w 119"/>
                <a:gd name="T5" fmla="*/ 108 h 108"/>
                <a:gd name="T6" fmla="*/ 84 w 119"/>
                <a:gd name="T7" fmla="*/ 54 h 108"/>
                <a:gd name="T8" fmla="*/ 84 w 119"/>
                <a:gd name="T9" fmla="*/ 54 h 108"/>
                <a:gd name="T10" fmla="*/ 59 w 119"/>
                <a:gd name="T11" fmla="*/ 0 h 108"/>
                <a:gd name="T12" fmla="*/ 59 w 119"/>
                <a:gd name="T13" fmla="*/ 0 h 108"/>
                <a:gd name="T14" fmla="*/ 39 w 119"/>
                <a:gd name="T15" fmla="*/ 54 h 108"/>
                <a:gd name="T16" fmla="*/ 0 w 119"/>
                <a:gd name="T17" fmla="*/ 108 h 108"/>
                <a:gd name="T18" fmla="*/ 0 w 119"/>
                <a:gd name="T19" fmla="*/ 108 h 108"/>
                <a:gd name="T20" fmla="*/ 59 w 119"/>
                <a:gd name="T21" fmla="*/ 85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9" h="108">
                  <a:moveTo>
                    <a:pt x="59" y="85"/>
                  </a:moveTo>
                  <a:lnTo>
                    <a:pt x="119" y="108"/>
                  </a:lnTo>
                  <a:lnTo>
                    <a:pt x="84" y="54"/>
                  </a:lnTo>
                  <a:lnTo>
                    <a:pt x="59" y="0"/>
                  </a:lnTo>
                  <a:lnTo>
                    <a:pt x="39" y="54"/>
                  </a:lnTo>
                  <a:lnTo>
                    <a:pt x="0" y="108"/>
                  </a:lnTo>
                  <a:lnTo>
                    <a:pt x="59"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grpSp>
        <p:nvGrpSpPr>
          <p:cNvPr id="26688" name="Group 64">
            <a:extLst>
              <a:ext uri="{FF2B5EF4-FFF2-40B4-BE49-F238E27FC236}">
                <a16:creationId xmlns:a16="http://schemas.microsoft.com/office/drawing/2014/main" id="{7C04883D-6C34-5BC2-7435-4872AAE92957}"/>
              </a:ext>
            </a:extLst>
          </p:cNvPr>
          <p:cNvGrpSpPr>
            <a:grpSpLocks/>
          </p:cNvGrpSpPr>
          <p:nvPr/>
        </p:nvGrpSpPr>
        <p:grpSpPr bwMode="auto">
          <a:xfrm>
            <a:off x="4252913" y="4859338"/>
            <a:ext cx="188912" cy="422275"/>
            <a:chOff x="1729" y="2804"/>
            <a:chExt cx="119" cy="266"/>
          </a:xfrm>
        </p:grpSpPr>
        <p:sp>
          <p:nvSpPr>
            <p:cNvPr id="27760" name="Line 65">
              <a:extLst>
                <a:ext uri="{FF2B5EF4-FFF2-40B4-BE49-F238E27FC236}">
                  <a16:creationId xmlns:a16="http://schemas.microsoft.com/office/drawing/2014/main" id="{FEA3C0C0-0BB5-5E01-1173-3A215CE631A0}"/>
                </a:ext>
              </a:extLst>
            </p:cNvPr>
            <p:cNvSpPr>
              <a:spLocks noChangeShapeType="1"/>
            </p:cNvSpPr>
            <p:nvPr/>
          </p:nvSpPr>
          <p:spPr bwMode="auto">
            <a:xfrm flipV="1">
              <a:off x="1788" y="2824"/>
              <a:ext cx="1" cy="246"/>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61" name="Freeform 66">
              <a:extLst>
                <a:ext uri="{FF2B5EF4-FFF2-40B4-BE49-F238E27FC236}">
                  <a16:creationId xmlns:a16="http://schemas.microsoft.com/office/drawing/2014/main" id="{95493E7A-3C52-2BA9-1D34-8CE43AC4AC7C}"/>
                </a:ext>
              </a:extLst>
            </p:cNvPr>
            <p:cNvSpPr>
              <a:spLocks/>
            </p:cNvSpPr>
            <p:nvPr/>
          </p:nvSpPr>
          <p:spPr bwMode="auto">
            <a:xfrm>
              <a:off x="1729" y="2804"/>
              <a:ext cx="119" cy="108"/>
            </a:xfrm>
            <a:custGeom>
              <a:avLst/>
              <a:gdLst>
                <a:gd name="T0" fmla="*/ 59 w 119"/>
                <a:gd name="T1" fmla="*/ 84 h 108"/>
                <a:gd name="T2" fmla="*/ 114 w 119"/>
                <a:gd name="T3" fmla="*/ 108 h 108"/>
                <a:gd name="T4" fmla="*/ 119 w 119"/>
                <a:gd name="T5" fmla="*/ 108 h 108"/>
                <a:gd name="T6" fmla="*/ 79 w 119"/>
                <a:gd name="T7" fmla="*/ 54 h 108"/>
                <a:gd name="T8" fmla="*/ 79 w 119"/>
                <a:gd name="T9" fmla="*/ 54 h 108"/>
                <a:gd name="T10" fmla="*/ 59 w 119"/>
                <a:gd name="T11" fmla="*/ 0 h 108"/>
                <a:gd name="T12" fmla="*/ 59 w 119"/>
                <a:gd name="T13" fmla="*/ 0 h 108"/>
                <a:gd name="T14" fmla="*/ 34 w 119"/>
                <a:gd name="T15" fmla="*/ 54 h 108"/>
                <a:gd name="T16" fmla="*/ 0 w 119"/>
                <a:gd name="T17" fmla="*/ 108 h 108"/>
                <a:gd name="T18" fmla="*/ 0 w 119"/>
                <a:gd name="T19" fmla="*/ 108 h 108"/>
                <a:gd name="T20" fmla="*/ 59 w 119"/>
                <a:gd name="T21" fmla="*/ 84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9" h="108">
                  <a:moveTo>
                    <a:pt x="59" y="84"/>
                  </a:moveTo>
                  <a:lnTo>
                    <a:pt x="114" y="108"/>
                  </a:lnTo>
                  <a:lnTo>
                    <a:pt x="119" y="108"/>
                  </a:lnTo>
                  <a:lnTo>
                    <a:pt x="79" y="54"/>
                  </a:lnTo>
                  <a:lnTo>
                    <a:pt x="59" y="0"/>
                  </a:lnTo>
                  <a:lnTo>
                    <a:pt x="34" y="54"/>
                  </a:lnTo>
                  <a:lnTo>
                    <a:pt x="0" y="108"/>
                  </a:lnTo>
                  <a:lnTo>
                    <a:pt x="59"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sp>
        <p:nvSpPr>
          <p:cNvPr id="26691" name="Line 67">
            <a:extLst>
              <a:ext uri="{FF2B5EF4-FFF2-40B4-BE49-F238E27FC236}">
                <a16:creationId xmlns:a16="http://schemas.microsoft.com/office/drawing/2014/main" id="{B358B757-ADBD-CC26-771F-C2B4648D488E}"/>
              </a:ext>
            </a:extLst>
          </p:cNvPr>
          <p:cNvSpPr>
            <a:spLocks noChangeShapeType="1"/>
          </p:cNvSpPr>
          <p:nvPr/>
        </p:nvSpPr>
        <p:spPr bwMode="auto">
          <a:xfrm>
            <a:off x="3717925" y="5768975"/>
            <a:ext cx="1108075" cy="4763"/>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6692" name="Line 68">
            <a:extLst>
              <a:ext uri="{FF2B5EF4-FFF2-40B4-BE49-F238E27FC236}">
                <a16:creationId xmlns:a16="http://schemas.microsoft.com/office/drawing/2014/main" id="{72722C1F-C7BB-3639-8999-730D7FC1A1A7}"/>
              </a:ext>
            </a:extLst>
          </p:cNvPr>
          <p:cNvSpPr>
            <a:spLocks noChangeShapeType="1"/>
          </p:cNvSpPr>
          <p:nvPr/>
        </p:nvSpPr>
        <p:spPr bwMode="auto">
          <a:xfrm>
            <a:off x="4967288" y="5768975"/>
            <a:ext cx="2209800" cy="4763"/>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6693" name="Freeform 69">
            <a:extLst>
              <a:ext uri="{FF2B5EF4-FFF2-40B4-BE49-F238E27FC236}">
                <a16:creationId xmlns:a16="http://schemas.microsoft.com/office/drawing/2014/main" id="{60B17BFF-C6AF-6494-865A-67863CC02657}"/>
              </a:ext>
            </a:extLst>
          </p:cNvPr>
          <p:cNvSpPr>
            <a:spLocks/>
          </p:cNvSpPr>
          <p:nvPr/>
        </p:nvSpPr>
        <p:spPr bwMode="auto">
          <a:xfrm>
            <a:off x="4268788" y="4746625"/>
            <a:ext cx="136525" cy="136525"/>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2147483646 w 99"/>
              <a:gd name="T21" fmla="*/ 0 h 67"/>
              <a:gd name="T22" fmla="*/ 2147483646 w 99"/>
              <a:gd name="T23" fmla="*/ 0 h 67"/>
              <a:gd name="T24" fmla="*/ 2147483646 w 99"/>
              <a:gd name="T25" fmla="*/ 2147483646 h 67"/>
              <a:gd name="T26" fmla="*/ 2147483646 w 99"/>
              <a:gd name="T27" fmla="*/ 2147483646 h 67"/>
              <a:gd name="T28" fmla="*/ 0 w 99"/>
              <a:gd name="T29" fmla="*/ 2147483646 h 67"/>
              <a:gd name="T30" fmla="*/ 0 w 99"/>
              <a:gd name="T31" fmla="*/ 2147483646 h 67"/>
              <a:gd name="T32" fmla="*/ 0 w 99"/>
              <a:gd name="T33" fmla="*/ 2147483646 h 67"/>
              <a:gd name="T34" fmla="*/ 0 w 99"/>
              <a:gd name="T35" fmla="*/ 2147483646 h 67"/>
              <a:gd name="T36" fmla="*/ 2147483646 w 99"/>
              <a:gd name="T37" fmla="*/ 2147483646 h 67"/>
              <a:gd name="T38" fmla="*/ 2147483646 w 99"/>
              <a:gd name="T39" fmla="*/ 2147483646 h 67"/>
              <a:gd name="T40" fmla="*/ 2147483646 w 99"/>
              <a:gd name="T41" fmla="*/ 2147483646 h 67"/>
              <a:gd name="T42" fmla="*/ 2147483646 w 99"/>
              <a:gd name="T43" fmla="*/ 2147483646 h 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7">
                <a:moveTo>
                  <a:pt x="49" y="67"/>
                </a:moveTo>
                <a:lnTo>
                  <a:pt x="49" y="67"/>
                </a:lnTo>
                <a:lnTo>
                  <a:pt x="69" y="64"/>
                </a:lnTo>
                <a:lnTo>
                  <a:pt x="84" y="57"/>
                </a:lnTo>
                <a:lnTo>
                  <a:pt x="94" y="47"/>
                </a:lnTo>
                <a:lnTo>
                  <a:pt x="99" y="34"/>
                </a:lnTo>
                <a:lnTo>
                  <a:pt x="94" y="20"/>
                </a:lnTo>
                <a:lnTo>
                  <a:pt x="84" y="10"/>
                </a:lnTo>
                <a:lnTo>
                  <a:pt x="69" y="3"/>
                </a:lnTo>
                <a:lnTo>
                  <a:pt x="49" y="0"/>
                </a:lnTo>
                <a:lnTo>
                  <a:pt x="29" y="3"/>
                </a:lnTo>
                <a:lnTo>
                  <a:pt x="15" y="10"/>
                </a:lnTo>
                <a:lnTo>
                  <a:pt x="0" y="20"/>
                </a:lnTo>
                <a:lnTo>
                  <a:pt x="0" y="34"/>
                </a:lnTo>
                <a:lnTo>
                  <a:pt x="0" y="47"/>
                </a:lnTo>
                <a:lnTo>
                  <a:pt x="15" y="57"/>
                </a:lnTo>
                <a:lnTo>
                  <a:pt x="29" y="64"/>
                </a:lnTo>
                <a:lnTo>
                  <a:pt x="4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4" name="Freeform 70">
            <a:extLst>
              <a:ext uri="{FF2B5EF4-FFF2-40B4-BE49-F238E27FC236}">
                <a16:creationId xmlns:a16="http://schemas.microsoft.com/office/drawing/2014/main" id="{09DB15A7-B8ED-E1A0-7566-E8D8D88DF6CE}"/>
              </a:ext>
            </a:extLst>
          </p:cNvPr>
          <p:cNvSpPr>
            <a:spLocks/>
          </p:cNvSpPr>
          <p:nvPr/>
        </p:nvSpPr>
        <p:spPr bwMode="auto">
          <a:xfrm>
            <a:off x="5416550" y="3189288"/>
            <a:ext cx="136525" cy="136525"/>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2147483646 w 99"/>
              <a:gd name="T21" fmla="*/ 0 h 67"/>
              <a:gd name="T22" fmla="*/ 2147483646 w 99"/>
              <a:gd name="T23" fmla="*/ 0 h 67"/>
              <a:gd name="T24" fmla="*/ 2147483646 w 99"/>
              <a:gd name="T25" fmla="*/ 2147483646 h 67"/>
              <a:gd name="T26" fmla="*/ 2147483646 w 99"/>
              <a:gd name="T27" fmla="*/ 2147483646 h 67"/>
              <a:gd name="T28" fmla="*/ 0 w 99"/>
              <a:gd name="T29" fmla="*/ 2147483646 h 67"/>
              <a:gd name="T30" fmla="*/ 0 w 99"/>
              <a:gd name="T31" fmla="*/ 2147483646 h 67"/>
              <a:gd name="T32" fmla="*/ 0 w 99"/>
              <a:gd name="T33" fmla="*/ 2147483646 h 67"/>
              <a:gd name="T34" fmla="*/ 0 w 99"/>
              <a:gd name="T35" fmla="*/ 2147483646 h 67"/>
              <a:gd name="T36" fmla="*/ 2147483646 w 99"/>
              <a:gd name="T37" fmla="*/ 2147483646 h 67"/>
              <a:gd name="T38" fmla="*/ 2147483646 w 99"/>
              <a:gd name="T39" fmla="*/ 2147483646 h 67"/>
              <a:gd name="T40" fmla="*/ 2147483646 w 99"/>
              <a:gd name="T41" fmla="*/ 2147483646 h 67"/>
              <a:gd name="T42" fmla="*/ 2147483646 w 99"/>
              <a:gd name="T43" fmla="*/ 2147483646 h 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7">
                <a:moveTo>
                  <a:pt x="49" y="67"/>
                </a:moveTo>
                <a:lnTo>
                  <a:pt x="49" y="67"/>
                </a:lnTo>
                <a:lnTo>
                  <a:pt x="64" y="64"/>
                </a:lnTo>
                <a:lnTo>
                  <a:pt x="84" y="57"/>
                </a:lnTo>
                <a:lnTo>
                  <a:pt x="94" y="47"/>
                </a:lnTo>
                <a:lnTo>
                  <a:pt x="99" y="34"/>
                </a:lnTo>
                <a:lnTo>
                  <a:pt x="94" y="20"/>
                </a:lnTo>
                <a:lnTo>
                  <a:pt x="84" y="10"/>
                </a:lnTo>
                <a:lnTo>
                  <a:pt x="64" y="3"/>
                </a:lnTo>
                <a:lnTo>
                  <a:pt x="49" y="0"/>
                </a:lnTo>
                <a:lnTo>
                  <a:pt x="29" y="3"/>
                </a:lnTo>
                <a:lnTo>
                  <a:pt x="10" y="10"/>
                </a:lnTo>
                <a:lnTo>
                  <a:pt x="0" y="20"/>
                </a:lnTo>
                <a:lnTo>
                  <a:pt x="0" y="34"/>
                </a:lnTo>
                <a:lnTo>
                  <a:pt x="0" y="47"/>
                </a:lnTo>
                <a:lnTo>
                  <a:pt x="10" y="57"/>
                </a:lnTo>
                <a:lnTo>
                  <a:pt x="29" y="64"/>
                </a:lnTo>
                <a:lnTo>
                  <a:pt x="4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5" name="Freeform 71">
            <a:extLst>
              <a:ext uri="{FF2B5EF4-FFF2-40B4-BE49-F238E27FC236}">
                <a16:creationId xmlns:a16="http://schemas.microsoft.com/office/drawing/2014/main" id="{624F9E6D-F8A9-FE0F-E1BC-573E260949E6}"/>
              </a:ext>
            </a:extLst>
          </p:cNvPr>
          <p:cNvSpPr>
            <a:spLocks/>
          </p:cNvSpPr>
          <p:nvPr/>
        </p:nvSpPr>
        <p:spPr bwMode="auto">
          <a:xfrm>
            <a:off x="7073900" y="2327275"/>
            <a:ext cx="136525" cy="136525"/>
          </a:xfrm>
          <a:custGeom>
            <a:avLst/>
            <a:gdLst>
              <a:gd name="T0" fmla="*/ 2147483646 w 99"/>
              <a:gd name="T1" fmla="*/ 2147483646 h 68"/>
              <a:gd name="T2" fmla="*/ 2147483646 w 99"/>
              <a:gd name="T3" fmla="*/ 2147483646 h 68"/>
              <a:gd name="T4" fmla="*/ 2147483646 w 99"/>
              <a:gd name="T5" fmla="*/ 2147483646 h 68"/>
              <a:gd name="T6" fmla="*/ 2147483646 w 99"/>
              <a:gd name="T7" fmla="*/ 2147483646 h 68"/>
              <a:gd name="T8" fmla="*/ 2147483646 w 99"/>
              <a:gd name="T9" fmla="*/ 2147483646 h 68"/>
              <a:gd name="T10" fmla="*/ 2147483646 w 99"/>
              <a:gd name="T11" fmla="*/ 2147483646 h 68"/>
              <a:gd name="T12" fmla="*/ 2147483646 w 99"/>
              <a:gd name="T13" fmla="*/ 2147483646 h 68"/>
              <a:gd name="T14" fmla="*/ 2147483646 w 99"/>
              <a:gd name="T15" fmla="*/ 2147483646 h 68"/>
              <a:gd name="T16" fmla="*/ 2147483646 w 99"/>
              <a:gd name="T17" fmla="*/ 2147483646 h 68"/>
              <a:gd name="T18" fmla="*/ 2147483646 w 99"/>
              <a:gd name="T19" fmla="*/ 2147483646 h 68"/>
              <a:gd name="T20" fmla="*/ 2147483646 w 99"/>
              <a:gd name="T21" fmla="*/ 0 h 68"/>
              <a:gd name="T22" fmla="*/ 2147483646 w 99"/>
              <a:gd name="T23" fmla="*/ 0 h 68"/>
              <a:gd name="T24" fmla="*/ 2147483646 w 99"/>
              <a:gd name="T25" fmla="*/ 2147483646 h 68"/>
              <a:gd name="T26" fmla="*/ 2147483646 w 99"/>
              <a:gd name="T27" fmla="*/ 2147483646 h 68"/>
              <a:gd name="T28" fmla="*/ 0 w 99"/>
              <a:gd name="T29" fmla="*/ 2147483646 h 68"/>
              <a:gd name="T30" fmla="*/ 0 w 99"/>
              <a:gd name="T31" fmla="*/ 2147483646 h 68"/>
              <a:gd name="T32" fmla="*/ 0 w 99"/>
              <a:gd name="T33" fmla="*/ 2147483646 h 68"/>
              <a:gd name="T34" fmla="*/ 0 w 99"/>
              <a:gd name="T35" fmla="*/ 2147483646 h 68"/>
              <a:gd name="T36" fmla="*/ 2147483646 w 99"/>
              <a:gd name="T37" fmla="*/ 2147483646 h 68"/>
              <a:gd name="T38" fmla="*/ 2147483646 w 99"/>
              <a:gd name="T39" fmla="*/ 2147483646 h 68"/>
              <a:gd name="T40" fmla="*/ 2147483646 w 99"/>
              <a:gd name="T41" fmla="*/ 2147483646 h 68"/>
              <a:gd name="T42" fmla="*/ 2147483646 w 99"/>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8">
                <a:moveTo>
                  <a:pt x="50" y="68"/>
                </a:moveTo>
                <a:lnTo>
                  <a:pt x="50" y="68"/>
                </a:lnTo>
                <a:lnTo>
                  <a:pt x="65" y="64"/>
                </a:lnTo>
                <a:lnTo>
                  <a:pt x="85" y="57"/>
                </a:lnTo>
                <a:lnTo>
                  <a:pt x="94" y="47"/>
                </a:lnTo>
                <a:lnTo>
                  <a:pt x="99" y="34"/>
                </a:lnTo>
                <a:lnTo>
                  <a:pt x="94" y="20"/>
                </a:lnTo>
                <a:lnTo>
                  <a:pt x="85" y="10"/>
                </a:lnTo>
                <a:lnTo>
                  <a:pt x="65" y="4"/>
                </a:lnTo>
                <a:lnTo>
                  <a:pt x="50" y="0"/>
                </a:lnTo>
                <a:lnTo>
                  <a:pt x="30" y="4"/>
                </a:lnTo>
                <a:lnTo>
                  <a:pt x="15" y="10"/>
                </a:lnTo>
                <a:lnTo>
                  <a:pt x="0" y="20"/>
                </a:lnTo>
                <a:lnTo>
                  <a:pt x="0" y="34"/>
                </a:lnTo>
                <a:lnTo>
                  <a:pt x="0" y="47"/>
                </a:lnTo>
                <a:lnTo>
                  <a:pt x="15" y="57"/>
                </a:lnTo>
                <a:lnTo>
                  <a:pt x="30" y="64"/>
                </a:lnTo>
                <a:lnTo>
                  <a:pt x="5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6" name="Freeform 72">
            <a:extLst>
              <a:ext uri="{FF2B5EF4-FFF2-40B4-BE49-F238E27FC236}">
                <a16:creationId xmlns:a16="http://schemas.microsoft.com/office/drawing/2014/main" id="{85E84D3C-26BA-B70D-25EE-0E2418156790}"/>
              </a:ext>
            </a:extLst>
          </p:cNvPr>
          <p:cNvSpPr>
            <a:spLocks/>
          </p:cNvSpPr>
          <p:nvPr/>
        </p:nvSpPr>
        <p:spPr bwMode="auto">
          <a:xfrm>
            <a:off x="6557963" y="2498725"/>
            <a:ext cx="136525" cy="136525"/>
          </a:xfrm>
          <a:custGeom>
            <a:avLst/>
            <a:gdLst>
              <a:gd name="T0" fmla="*/ 2147483646 w 99"/>
              <a:gd name="T1" fmla="*/ 2147483646 h 68"/>
              <a:gd name="T2" fmla="*/ 2147483646 w 99"/>
              <a:gd name="T3" fmla="*/ 2147483646 h 68"/>
              <a:gd name="T4" fmla="*/ 2147483646 w 99"/>
              <a:gd name="T5" fmla="*/ 2147483646 h 68"/>
              <a:gd name="T6" fmla="*/ 2147483646 w 99"/>
              <a:gd name="T7" fmla="*/ 2147483646 h 68"/>
              <a:gd name="T8" fmla="*/ 2147483646 w 99"/>
              <a:gd name="T9" fmla="*/ 2147483646 h 68"/>
              <a:gd name="T10" fmla="*/ 2147483646 w 99"/>
              <a:gd name="T11" fmla="*/ 2147483646 h 68"/>
              <a:gd name="T12" fmla="*/ 2147483646 w 99"/>
              <a:gd name="T13" fmla="*/ 2147483646 h 68"/>
              <a:gd name="T14" fmla="*/ 2147483646 w 99"/>
              <a:gd name="T15" fmla="*/ 2147483646 h 68"/>
              <a:gd name="T16" fmla="*/ 2147483646 w 99"/>
              <a:gd name="T17" fmla="*/ 2147483646 h 68"/>
              <a:gd name="T18" fmla="*/ 2147483646 w 99"/>
              <a:gd name="T19" fmla="*/ 2147483646 h 68"/>
              <a:gd name="T20" fmla="*/ 2147483646 w 99"/>
              <a:gd name="T21" fmla="*/ 0 h 68"/>
              <a:gd name="T22" fmla="*/ 2147483646 w 99"/>
              <a:gd name="T23" fmla="*/ 0 h 68"/>
              <a:gd name="T24" fmla="*/ 2147483646 w 99"/>
              <a:gd name="T25" fmla="*/ 2147483646 h 68"/>
              <a:gd name="T26" fmla="*/ 2147483646 w 99"/>
              <a:gd name="T27" fmla="*/ 2147483646 h 68"/>
              <a:gd name="T28" fmla="*/ 2147483646 w 99"/>
              <a:gd name="T29" fmla="*/ 2147483646 h 68"/>
              <a:gd name="T30" fmla="*/ 0 w 99"/>
              <a:gd name="T31" fmla="*/ 2147483646 h 68"/>
              <a:gd name="T32" fmla="*/ 0 w 99"/>
              <a:gd name="T33" fmla="*/ 2147483646 h 68"/>
              <a:gd name="T34" fmla="*/ 2147483646 w 99"/>
              <a:gd name="T35" fmla="*/ 2147483646 h 68"/>
              <a:gd name="T36" fmla="*/ 2147483646 w 99"/>
              <a:gd name="T37" fmla="*/ 2147483646 h 68"/>
              <a:gd name="T38" fmla="*/ 2147483646 w 99"/>
              <a:gd name="T39" fmla="*/ 2147483646 h 68"/>
              <a:gd name="T40" fmla="*/ 2147483646 w 99"/>
              <a:gd name="T41" fmla="*/ 2147483646 h 68"/>
              <a:gd name="T42" fmla="*/ 2147483646 w 99"/>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8">
                <a:moveTo>
                  <a:pt x="49" y="68"/>
                </a:moveTo>
                <a:lnTo>
                  <a:pt x="49" y="68"/>
                </a:lnTo>
                <a:lnTo>
                  <a:pt x="69" y="64"/>
                </a:lnTo>
                <a:lnTo>
                  <a:pt x="84" y="57"/>
                </a:lnTo>
                <a:lnTo>
                  <a:pt x="94" y="47"/>
                </a:lnTo>
                <a:lnTo>
                  <a:pt x="99" y="34"/>
                </a:lnTo>
                <a:lnTo>
                  <a:pt x="94" y="20"/>
                </a:lnTo>
                <a:lnTo>
                  <a:pt x="84" y="10"/>
                </a:lnTo>
                <a:lnTo>
                  <a:pt x="69" y="4"/>
                </a:lnTo>
                <a:lnTo>
                  <a:pt x="49" y="0"/>
                </a:lnTo>
                <a:lnTo>
                  <a:pt x="29" y="4"/>
                </a:lnTo>
                <a:lnTo>
                  <a:pt x="15" y="10"/>
                </a:lnTo>
                <a:lnTo>
                  <a:pt x="5" y="20"/>
                </a:lnTo>
                <a:lnTo>
                  <a:pt x="0" y="34"/>
                </a:lnTo>
                <a:lnTo>
                  <a:pt x="5" y="47"/>
                </a:lnTo>
                <a:lnTo>
                  <a:pt x="15" y="57"/>
                </a:lnTo>
                <a:lnTo>
                  <a:pt x="29" y="64"/>
                </a:lnTo>
                <a:lnTo>
                  <a:pt x="49"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7" name="Freeform 73">
            <a:extLst>
              <a:ext uri="{FF2B5EF4-FFF2-40B4-BE49-F238E27FC236}">
                <a16:creationId xmlns:a16="http://schemas.microsoft.com/office/drawing/2014/main" id="{DB9944B9-1A52-E61A-E1D6-47867BC3D4D4}"/>
              </a:ext>
            </a:extLst>
          </p:cNvPr>
          <p:cNvSpPr>
            <a:spLocks/>
          </p:cNvSpPr>
          <p:nvPr/>
        </p:nvSpPr>
        <p:spPr bwMode="auto">
          <a:xfrm>
            <a:off x="5880100" y="2833688"/>
            <a:ext cx="136525" cy="136525"/>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2147483646 w 99"/>
              <a:gd name="T21" fmla="*/ 0 h 67"/>
              <a:gd name="T22" fmla="*/ 2147483646 w 99"/>
              <a:gd name="T23" fmla="*/ 0 h 67"/>
              <a:gd name="T24" fmla="*/ 2147483646 w 99"/>
              <a:gd name="T25" fmla="*/ 2147483646 h 67"/>
              <a:gd name="T26" fmla="*/ 2147483646 w 99"/>
              <a:gd name="T27" fmla="*/ 2147483646 h 67"/>
              <a:gd name="T28" fmla="*/ 2147483646 w 99"/>
              <a:gd name="T29" fmla="*/ 2147483646 h 67"/>
              <a:gd name="T30" fmla="*/ 0 w 99"/>
              <a:gd name="T31" fmla="*/ 2147483646 h 67"/>
              <a:gd name="T32" fmla="*/ 0 w 99"/>
              <a:gd name="T33" fmla="*/ 2147483646 h 67"/>
              <a:gd name="T34" fmla="*/ 2147483646 w 99"/>
              <a:gd name="T35" fmla="*/ 2147483646 h 67"/>
              <a:gd name="T36" fmla="*/ 2147483646 w 99"/>
              <a:gd name="T37" fmla="*/ 2147483646 h 67"/>
              <a:gd name="T38" fmla="*/ 2147483646 w 99"/>
              <a:gd name="T39" fmla="*/ 2147483646 h 67"/>
              <a:gd name="T40" fmla="*/ 2147483646 w 99"/>
              <a:gd name="T41" fmla="*/ 2147483646 h 67"/>
              <a:gd name="T42" fmla="*/ 2147483646 w 99"/>
              <a:gd name="T43" fmla="*/ 2147483646 h 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7">
                <a:moveTo>
                  <a:pt x="49" y="67"/>
                </a:moveTo>
                <a:lnTo>
                  <a:pt x="49" y="67"/>
                </a:lnTo>
                <a:lnTo>
                  <a:pt x="69" y="64"/>
                </a:lnTo>
                <a:lnTo>
                  <a:pt x="84" y="57"/>
                </a:lnTo>
                <a:lnTo>
                  <a:pt x="94" y="47"/>
                </a:lnTo>
                <a:lnTo>
                  <a:pt x="99" y="33"/>
                </a:lnTo>
                <a:lnTo>
                  <a:pt x="94" y="20"/>
                </a:lnTo>
                <a:lnTo>
                  <a:pt x="84" y="10"/>
                </a:lnTo>
                <a:lnTo>
                  <a:pt x="69" y="3"/>
                </a:lnTo>
                <a:lnTo>
                  <a:pt x="49" y="0"/>
                </a:lnTo>
                <a:lnTo>
                  <a:pt x="30" y="3"/>
                </a:lnTo>
                <a:lnTo>
                  <a:pt x="15" y="10"/>
                </a:lnTo>
                <a:lnTo>
                  <a:pt x="5" y="20"/>
                </a:lnTo>
                <a:lnTo>
                  <a:pt x="0" y="33"/>
                </a:lnTo>
                <a:lnTo>
                  <a:pt x="5" y="47"/>
                </a:lnTo>
                <a:lnTo>
                  <a:pt x="15" y="57"/>
                </a:lnTo>
                <a:lnTo>
                  <a:pt x="30" y="64"/>
                </a:lnTo>
                <a:lnTo>
                  <a:pt x="4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8" name="Freeform 74">
            <a:extLst>
              <a:ext uri="{FF2B5EF4-FFF2-40B4-BE49-F238E27FC236}">
                <a16:creationId xmlns:a16="http://schemas.microsoft.com/office/drawing/2014/main" id="{2A7D765F-9A3C-022F-1350-6DD2DFCC4605}"/>
              </a:ext>
            </a:extLst>
          </p:cNvPr>
          <p:cNvSpPr>
            <a:spLocks/>
          </p:cNvSpPr>
          <p:nvPr/>
        </p:nvSpPr>
        <p:spPr bwMode="auto">
          <a:xfrm>
            <a:off x="4826000" y="3810000"/>
            <a:ext cx="136525" cy="136525"/>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2147483646 w 99"/>
              <a:gd name="T21" fmla="*/ 0 h 67"/>
              <a:gd name="T22" fmla="*/ 2147483646 w 99"/>
              <a:gd name="T23" fmla="*/ 0 h 67"/>
              <a:gd name="T24" fmla="*/ 2147483646 w 99"/>
              <a:gd name="T25" fmla="*/ 2147483646 h 67"/>
              <a:gd name="T26" fmla="*/ 2147483646 w 99"/>
              <a:gd name="T27" fmla="*/ 2147483646 h 67"/>
              <a:gd name="T28" fmla="*/ 2147483646 w 99"/>
              <a:gd name="T29" fmla="*/ 2147483646 h 67"/>
              <a:gd name="T30" fmla="*/ 0 w 99"/>
              <a:gd name="T31" fmla="*/ 2147483646 h 67"/>
              <a:gd name="T32" fmla="*/ 0 w 99"/>
              <a:gd name="T33" fmla="*/ 2147483646 h 67"/>
              <a:gd name="T34" fmla="*/ 2147483646 w 99"/>
              <a:gd name="T35" fmla="*/ 2147483646 h 67"/>
              <a:gd name="T36" fmla="*/ 2147483646 w 99"/>
              <a:gd name="T37" fmla="*/ 2147483646 h 67"/>
              <a:gd name="T38" fmla="*/ 2147483646 w 99"/>
              <a:gd name="T39" fmla="*/ 2147483646 h 67"/>
              <a:gd name="T40" fmla="*/ 2147483646 w 99"/>
              <a:gd name="T41" fmla="*/ 2147483646 h 67"/>
              <a:gd name="T42" fmla="*/ 2147483646 w 99"/>
              <a:gd name="T43" fmla="*/ 2147483646 h 6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9" h="67">
                <a:moveTo>
                  <a:pt x="50" y="67"/>
                </a:moveTo>
                <a:lnTo>
                  <a:pt x="50" y="67"/>
                </a:lnTo>
                <a:lnTo>
                  <a:pt x="70" y="64"/>
                </a:lnTo>
                <a:lnTo>
                  <a:pt x="84" y="57"/>
                </a:lnTo>
                <a:lnTo>
                  <a:pt x="94" y="47"/>
                </a:lnTo>
                <a:lnTo>
                  <a:pt x="99" y="34"/>
                </a:lnTo>
                <a:lnTo>
                  <a:pt x="94" y="20"/>
                </a:lnTo>
                <a:lnTo>
                  <a:pt x="84" y="10"/>
                </a:lnTo>
                <a:lnTo>
                  <a:pt x="70" y="3"/>
                </a:lnTo>
                <a:lnTo>
                  <a:pt x="50" y="0"/>
                </a:lnTo>
                <a:lnTo>
                  <a:pt x="30" y="3"/>
                </a:lnTo>
                <a:lnTo>
                  <a:pt x="15" y="10"/>
                </a:lnTo>
                <a:lnTo>
                  <a:pt x="5" y="20"/>
                </a:lnTo>
                <a:lnTo>
                  <a:pt x="0" y="34"/>
                </a:lnTo>
                <a:lnTo>
                  <a:pt x="5" y="47"/>
                </a:lnTo>
                <a:lnTo>
                  <a:pt x="15" y="57"/>
                </a:lnTo>
                <a:lnTo>
                  <a:pt x="30" y="64"/>
                </a:lnTo>
                <a:lnTo>
                  <a:pt x="5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26699" name="Rectangle 75">
            <a:extLst>
              <a:ext uri="{FF2B5EF4-FFF2-40B4-BE49-F238E27FC236}">
                <a16:creationId xmlns:a16="http://schemas.microsoft.com/office/drawing/2014/main" id="{54588007-6D1D-19EA-F67B-F6C32C1F9705}"/>
              </a:ext>
            </a:extLst>
          </p:cNvPr>
          <p:cNvSpPr>
            <a:spLocks noChangeArrowheads="1"/>
          </p:cNvSpPr>
          <p:nvPr/>
        </p:nvSpPr>
        <p:spPr bwMode="auto">
          <a:xfrm>
            <a:off x="7315200" y="2209800"/>
            <a:ext cx="1358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Total Product</a:t>
            </a:r>
            <a:endParaRPr lang="en-US" altLang="en-US" sz="1800">
              <a:latin typeface="Arial" panose="020B0604020202020204" pitchFamily="34" charset="0"/>
            </a:endParaRPr>
          </a:p>
        </p:txBody>
      </p:sp>
      <p:sp>
        <p:nvSpPr>
          <p:cNvPr id="27680" name="Rectangle 76">
            <a:extLst>
              <a:ext uri="{FF2B5EF4-FFF2-40B4-BE49-F238E27FC236}">
                <a16:creationId xmlns:a16="http://schemas.microsoft.com/office/drawing/2014/main" id="{65ECAD03-ACBA-4ABC-7E07-FCFFE1D08ABB}"/>
              </a:ext>
            </a:extLst>
          </p:cNvPr>
          <p:cNvSpPr>
            <a:spLocks noChangeArrowheads="1"/>
          </p:cNvSpPr>
          <p:nvPr/>
        </p:nvSpPr>
        <p:spPr bwMode="auto">
          <a:xfrm>
            <a:off x="7011988" y="3013075"/>
            <a:ext cx="392112" cy="20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26701" name="Rectangle 77">
            <a:extLst>
              <a:ext uri="{FF2B5EF4-FFF2-40B4-BE49-F238E27FC236}">
                <a16:creationId xmlns:a16="http://schemas.microsoft.com/office/drawing/2014/main" id="{F9B1C4EC-28EC-67C7-8744-A752A5DB6912}"/>
              </a:ext>
            </a:extLst>
          </p:cNvPr>
          <p:cNvSpPr>
            <a:spLocks noChangeArrowheads="1"/>
          </p:cNvSpPr>
          <p:nvPr/>
        </p:nvSpPr>
        <p:spPr bwMode="auto">
          <a:xfrm>
            <a:off x="6286500" y="2952750"/>
            <a:ext cx="285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Symbol" pitchFamily="2" charset="2"/>
              </a:rPr>
              <a:t>D</a:t>
            </a:r>
            <a:r>
              <a:rPr lang="en-US" altLang="en-US" sz="1800" i="1">
                <a:solidFill>
                  <a:srgbClr val="000000"/>
                </a:solidFill>
                <a:latin typeface="Arial" panose="020B0604020202020204" pitchFamily="34" charset="0"/>
              </a:rPr>
              <a:t>Q </a:t>
            </a:r>
            <a:r>
              <a:rPr lang="en-US" altLang="en-US" sz="1800">
                <a:solidFill>
                  <a:srgbClr val="000000"/>
                </a:solidFill>
                <a:latin typeface="Arial" panose="020B0604020202020204" pitchFamily="34" charset="0"/>
              </a:rPr>
              <a:t>from hiring fourth worker</a:t>
            </a:r>
            <a:endParaRPr lang="en-US" altLang="en-US" sz="1800">
              <a:latin typeface="Arial" panose="020B0604020202020204" pitchFamily="34" charset="0"/>
            </a:endParaRPr>
          </a:p>
        </p:txBody>
      </p:sp>
      <p:sp>
        <p:nvSpPr>
          <p:cNvPr id="27682" name="Rectangle 78">
            <a:extLst>
              <a:ext uri="{FF2B5EF4-FFF2-40B4-BE49-F238E27FC236}">
                <a16:creationId xmlns:a16="http://schemas.microsoft.com/office/drawing/2014/main" id="{6B1486AC-1609-3604-D04F-7DBA8A2A0B5A}"/>
              </a:ext>
            </a:extLst>
          </p:cNvPr>
          <p:cNvSpPr>
            <a:spLocks noChangeArrowheads="1"/>
          </p:cNvSpPr>
          <p:nvPr/>
        </p:nvSpPr>
        <p:spPr bwMode="auto">
          <a:xfrm>
            <a:off x="7004050" y="3482975"/>
            <a:ext cx="392113"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26703" name="Rectangle 79">
            <a:extLst>
              <a:ext uri="{FF2B5EF4-FFF2-40B4-BE49-F238E27FC236}">
                <a16:creationId xmlns:a16="http://schemas.microsoft.com/office/drawing/2014/main" id="{A86DBF64-7B30-E680-69C9-D436D180DAAB}"/>
              </a:ext>
            </a:extLst>
          </p:cNvPr>
          <p:cNvSpPr>
            <a:spLocks noChangeArrowheads="1"/>
          </p:cNvSpPr>
          <p:nvPr/>
        </p:nvSpPr>
        <p:spPr bwMode="auto">
          <a:xfrm>
            <a:off x="5776913" y="3429000"/>
            <a:ext cx="2717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Symbol" pitchFamily="2" charset="2"/>
              </a:rPr>
              <a:t>D</a:t>
            </a:r>
            <a:r>
              <a:rPr lang="en-US" altLang="en-US" sz="1800" i="1">
                <a:solidFill>
                  <a:srgbClr val="000000"/>
                </a:solidFill>
                <a:latin typeface="Arial" panose="020B0604020202020204" pitchFamily="34" charset="0"/>
              </a:rPr>
              <a:t>Q </a:t>
            </a:r>
            <a:r>
              <a:rPr lang="en-US" altLang="en-US" sz="1800">
                <a:solidFill>
                  <a:srgbClr val="000000"/>
                </a:solidFill>
                <a:latin typeface="Arial" panose="020B0604020202020204" pitchFamily="34" charset="0"/>
              </a:rPr>
              <a:t>from hiring third worker</a:t>
            </a:r>
            <a:endParaRPr lang="en-US" altLang="en-US" sz="1800">
              <a:latin typeface="Arial" panose="020B0604020202020204" pitchFamily="34" charset="0"/>
            </a:endParaRPr>
          </a:p>
        </p:txBody>
      </p:sp>
      <p:sp>
        <p:nvSpPr>
          <p:cNvPr id="27684" name="Rectangle 80">
            <a:extLst>
              <a:ext uri="{FF2B5EF4-FFF2-40B4-BE49-F238E27FC236}">
                <a16:creationId xmlns:a16="http://schemas.microsoft.com/office/drawing/2014/main" id="{E49CC982-7B2A-30EB-BA1B-07846B7E8506}"/>
              </a:ext>
            </a:extLst>
          </p:cNvPr>
          <p:cNvSpPr>
            <a:spLocks noChangeArrowheads="1"/>
          </p:cNvSpPr>
          <p:nvPr/>
        </p:nvSpPr>
        <p:spPr bwMode="auto">
          <a:xfrm>
            <a:off x="6996113" y="4281488"/>
            <a:ext cx="392112" cy="239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26705" name="Rectangle 81">
            <a:extLst>
              <a:ext uri="{FF2B5EF4-FFF2-40B4-BE49-F238E27FC236}">
                <a16:creationId xmlns:a16="http://schemas.microsoft.com/office/drawing/2014/main" id="{70E4A64B-54B8-D523-223D-2EE583029990}"/>
              </a:ext>
            </a:extLst>
          </p:cNvPr>
          <p:cNvSpPr>
            <a:spLocks noChangeArrowheads="1"/>
          </p:cNvSpPr>
          <p:nvPr/>
        </p:nvSpPr>
        <p:spPr bwMode="auto">
          <a:xfrm>
            <a:off x="5172075" y="4241800"/>
            <a:ext cx="3009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Symbol" pitchFamily="2" charset="2"/>
              </a:rPr>
              <a:t>D</a:t>
            </a:r>
            <a:r>
              <a:rPr lang="en-US" altLang="en-US" sz="1800" i="1">
                <a:solidFill>
                  <a:srgbClr val="000000"/>
                </a:solidFill>
                <a:latin typeface="Arial" panose="020B0604020202020204" pitchFamily="34" charset="0"/>
              </a:rPr>
              <a:t>Q </a:t>
            </a:r>
            <a:r>
              <a:rPr lang="en-US" altLang="en-US" sz="1800">
                <a:solidFill>
                  <a:srgbClr val="000000"/>
                </a:solidFill>
                <a:latin typeface="Arial" panose="020B0604020202020204" pitchFamily="34" charset="0"/>
              </a:rPr>
              <a:t>from hiring second worker</a:t>
            </a:r>
            <a:endParaRPr lang="en-US" altLang="en-US" sz="1800">
              <a:latin typeface="Arial" panose="020B0604020202020204" pitchFamily="34" charset="0"/>
            </a:endParaRPr>
          </a:p>
        </p:txBody>
      </p:sp>
      <p:grpSp>
        <p:nvGrpSpPr>
          <p:cNvPr id="26706" name="Group 82">
            <a:extLst>
              <a:ext uri="{FF2B5EF4-FFF2-40B4-BE49-F238E27FC236}">
                <a16:creationId xmlns:a16="http://schemas.microsoft.com/office/drawing/2014/main" id="{670D6086-291A-957B-631D-5E5E315DD07A}"/>
              </a:ext>
            </a:extLst>
          </p:cNvPr>
          <p:cNvGrpSpPr>
            <a:grpSpLocks/>
          </p:cNvGrpSpPr>
          <p:nvPr/>
        </p:nvGrpSpPr>
        <p:grpSpPr bwMode="auto">
          <a:xfrm>
            <a:off x="3781425" y="3243263"/>
            <a:ext cx="1603375" cy="1587"/>
            <a:chOff x="1432" y="1786"/>
            <a:chExt cx="1010" cy="1"/>
          </a:xfrm>
        </p:grpSpPr>
        <p:sp>
          <p:nvSpPr>
            <p:cNvPr id="27751" name="Line 83">
              <a:extLst>
                <a:ext uri="{FF2B5EF4-FFF2-40B4-BE49-F238E27FC236}">
                  <a16:creationId xmlns:a16="http://schemas.microsoft.com/office/drawing/2014/main" id="{14709ED9-6B9D-BB5F-C8DF-92CE277C6215}"/>
                </a:ext>
              </a:extLst>
            </p:cNvPr>
            <p:cNvSpPr>
              <a:spLocks noChangeShapeType="1"/>
            </p:cNvSpPr>
            <p:nvPr/>
          </p:nvSpPr>
          <p:spPr bwMode="auto">
            <a:xfrm>
              <a:off x="1432"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2" name="Line 84">
              <a:extLst>
                <a:ext uri="{FF2B5EF4-FFF2-40B4-BE49-F238E27FC236}">
                  <a16:creationId xmlns:a16="http://schemas.microsoft.com/office/drawing/2014/main" id="{B7D2F966-8AFD-0592-F950-6FE380829E40}"/>
                </a:ext>
              </a:extLst>
            </p:cNvPr>
            <p:cNvSpPr>
              <a:spLocks noChangeShapeType="1"/>
            </p:cNvSpPr>
            <p:nvPr/>
          </p:nvSpPr>
          <p:spPr bwMode="auto">
            <a:xfrm>
              <a:off x="1551"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3" name="Line 85">
              <a:extLst>
                <a:ext uri="{FF2B5EF4-FFF2-40B4-BE49-F238E27FC236}">
                  <a16:creationId xmlns:a16="http://schemas.microsoft.com/office/drawing/2014/main" id="{DAD1FE3A-B63F-9842-DC51-27355ACC7D61}"/>
                </a:ext>
              </a:extLst>
            </p:cNvPr>
            <p:cNvSpPr>
              <a:spLocks noChangeShapeType="1"/>
            </p:cNvSpPr>
            <p:nvPr/>
          </p:nvSpPr>
          <p:spPr bwMode="auto">
            <a:xfrm>
              <a:off x="1669" y="1786"/>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4" name="Line 86">
              <a:extLst>
                <a:ext uri="{FF2B5EF4-FFF2-40B4-BE49-F238E27FC236}">
                  <a16:creationId xmlns:a16="http://schemas.microsoft.com/office/drawing/2014/main" id="{46EB2AC9-2D16-1A4C-0095-35B76A33C4D2}"/>
                </a:ext>
              </a:extLst>
            </p:cNvPr>
            <p:cNvSpPr>
              <a:spLocks noChangeShapeType="1"/>
            </p:cNvSpPr>
            <p:nvPr/>
          </p:nvSpPr>
          <p:spPr bwMode="auto">
            <a:xfrm>
              <a:off x="1788" y="1786"/>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5" name="Line 87">
              <a:extLst>
                <a:ext uri="{FF2B5EF4-FFF2-40B4-BE49-F238E27FC236}">
                  <a16:creationId xmlns:a16="http://schemas.microsoft.com/office/drawing/2014/main" id="{007BD2D7-D2E2-4221-F8F6-50C1BED35215}"/>
                </a:ext>
              </a:extLst>
            </p:cNvPr>
            <p:cNvSpPr>
              <a:spLocks noChangeShapeType="1"/>
            </p:cNvSpPr>
            <p:nvPr/>
          </p:nvSpPr>
          <p:spPr bwMode="auto">
            <a:xfrm>
              <a:off x="1907"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6" name="Line 88">
              <a:extLst>
                <a:ext uri="{FF2B5EF4-FFF2-40B4-BE49-F238E27FC236}">
                  <a16:creationId xmlns:a16="http://schemas.microsoft.com/office/drawing/2014/main" id="{A7DCF21E-CA32-27D8-4908-E4A6E06B8A19}"/>
                </a:ext>
              </a:extLst>
            </p:cNvPr>
            <p:cNvSpPr>
              <a:spLocks noChangeShapeType="1"/>
            </p:cNvSpPr>
            <p:nvPr/>
          </p:nvSpPr>
          <p:spPr bwMode="auto">
            <a:xfrm>
              <a:off x="2026"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7" name="Line 89">
              <a:extLst>
                <a:ext uri="{FF2B5EF4-FFF2-40B4-BE49-F238E27FC236}">
                  <a16:creationId xmlns:a16="http://schemas.microsoft.com/office/drawing/2014/main" id="{6210E944-E987-D5FD-302A-1F8C765BB877}"/>
                </a:ext>
              </a:extLst>
            </p:cNvPr>
            <p:cNvSpPr>
              <a:spLocks noChangeShapeType="1"/>
            </p:cNvSpPr>
            <p:nvPr/>
          </p:nvSpPr>
          <p:spPr bwMode="auto">
            <a:xfrm>
              <a:off x="2145"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8" name="Line 90">
              <a:extLst>
                <a:ext uri="{FF2B5EF4-FFF2-40B4-BE49-F238E27FC236}">
                  <a16:creationId xmlns:a16="http://schemas.microsoft.com/office/drawing/2014/main" id="{005CFEE0-544B-5C72-646C-638A6FB06AA0}"/>
                </a:ext>
              </a:extLst>
            </p:cNvPr>
            <p:cNvSpPr>
              <a:spLocks noChangeShapeType="1"/>
            </p:cNvSpPr>
            <p:nvPr/>
          </p:nvSpPr>
          <p:spPr bwMode="auto">
            <a:xfrm>
              <a:off x="2264" y="1786"/>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9" name="Line 91">
              <a:extLst>
                <a:ext uri="{FF2B5EF4-FFF2-40B4-BE49-F238E27FC236}">
                  <a16:creationId xmlns:a16="http://schemas.microsoft.com/office/drawing/2014/main" id="{F5449C91-FE4C-0111-572A-76829F2E9EE4}"/>
                </a:ext>
              </a:extLst>
            </p:cNvPr>
            <p:cNvSpPr>
              <a:spLocks noChangeShapeType="1"/>
            </p:cNvSpPr>
            <p:nvPr/>
          </p:nvSpPr>
          <p:spPr bwMode="auto">
            <a:xfrm>
              <a:off x="2382" y="1786"/>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26716" name="Group 92">
            <a:extLst>
              <a:ext uri="{FF2B5EF4-FFF2-40B4-BE49-F238E27FC236}">
                <a16:creationId xmlns:a16="http://schemas.microsoft.com/office/drawing/2014/main" id="{344C90FB-61D6-D226-C7F0-1E22B95DEB59}"/>
              </a:ext>
            </a:extLst>
          </p:cNvPr>
          <p:cNvGrpSpPr>
            <a:grpSpLocks/>
          </p:cNvGrpSpPr>
          <p:nvPr/>
        </p:nvGrpSpPr>
        <p:grpSpPr bwMode="auto">
          <a:xfrm>
            <a:off x="3773488" y="2900363"/>
            <a:ext cx="2168525" cy="1587"/>
            <a:chOff x="1427" y="1570"/>
            <a:chExt cx="1366" cy="1"/>
          </a:xfrm>
        </p:grpSpPr>
        <p:sp>
          <p:nvSpPr>
            <p:cNvPr id="27739" name="Line 93">
              <a:extLst>
                <a:ext uri="{FF2B5EF4-FFF2-40B4-BE49-F238E27FC236}">
                  <a16:creationId xmlns:a16="http://schemas.microsoft.com/office/drawing/2014/main" id="{39D373FE-9CBD-BC8B-E2B3-11A34F1308B9}"/>
                </a:ext>
              </a:extLst>
            </p:cNvPr>
            <p:cNvSpPr>
              <a:spLocks noChangeShapeType="1"/>
            </p:cNvSpPr>
            <p:nvPr/>
          </p:nvSpPr>
          <p:spPr bwMode="auto">
            <a:xfrm>
              <a:off x="1427"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0" name="Line 94">
              <a:extLst>
                <a:ext uri="{FF2B5EF4-FFF2-40B4-BE49-F238E27FC236}">
                  <a16:creationId xmlns:a16="http://schemas.microsoft.com/office/drawing/2014/main" id="{11242FC7-15EB-8A93-31FD-2C5968CAB52C}"/>
                </a:ext>
              </a:extLst>
            </p:cNvPr>
            <p:cNvSpPr>
              <a:spLocks noChangeShapeType="1"/>
            </p:cNvSpPr>
            <p:nvPr/>
          </p:nvSpPr>
          <p:spPr bwMode="auto">
            <a:xfrm>
              <a:off x="1546"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1" name="Line 95">
              <a:extLst>
                <a:ext uri="{FF2B5EF4-FFF2-40B4-BE49-F238E27FC236}">
                  <a16:creationId xmlns:a16="http://schemas.microsoft.com/office/drawing/2014/main" id="{6F1FA6C6-53C6-3900-81B6-B4B2D57673BF}"/>
                </a:ext>
              </a:extLst>
            </p:cNvPr>
            <p:cNvSpPr>
              <a:spLocks noChangeShapeType="1"/>
            </p:cNvSpPr>
            <p:nvPr/>
          </p:nvSpPr>
          <p:spPr bwMode="auto">
            <a:xfrm>
              <a:off x="1664"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2" name="Line 96">
              <a:extLst>
                <a:ext uri="{FF2B5EF4-FFF2-40B4-BE49-F238E27FC236}">
                  <a16:creationId xmlns:a16="http://schemas.microsoft.com/office/drawing/2014/main" id="{A2FC88E2-84F3-2D33-CE5C-B9C838024851}"/>
                </a:ext>
              </a:extLst>
            </p:cNvPr>
            <p:cNvSpPr>
              <a:spLocks noChangeShapeType="1"/>
            </p:cNvSpPr>
            <p:nvPr/>
          </p:nvSpPr>
          <p:spPr bwMode="auto">
            <a:xfrm>
              <a:off x="1783"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3" name="Line 97">
              <a:extLst>
                <a:ext uri="{FF2B5EF4-FFF2-40B4-BE49-F238E27FC236}">
                  <a16:creationId xmlns:a16="http://schemas.microsoft.com/office/drawing/2014/main" id="{A5198360-3E8A-454F-F568-96EE381DD1E4}"/>
                </a:ext>
              </a:extLst>
            </p:cNvPr>
            <p:cNvSpPr>
              <a:spLocks noChangeShapeType="1"/>
            </p:cNvSpPr>
            <p:nvPr/>
          </p:nvSpPr>
          <p:spPr bwMode="auto">
            <a:xfrm>
              <a:off x="1902"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4" name="Line 98">
              <a:extLst>
                <a:ext uri="{FF2B5EF4-FFF2-40B4-BE49-F238E27FC236}">
                  <a16:creationId xmlns:a16="http://schemas.microsoft.com/office/drawing/2014/main" id="{D1D3FB7D-7737-6756-FA61-A5CD0BCC6F04}"/>
                </a:ext>
              </a:extLst>
            </p:cNvPr>
            <p:cNvSpPr>
              <a:spLocks noChangeShapeType="1"/>
            </p:cNvSpPr>
            <p:nvPr/>
          </p:nvSpPr>
          <p:spPr bwMode="auto">
            <a:xfrm>
              <a:off x="2021"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5" name="Line 99">
              <a:extLst>
                <a:ext uri="{FF2B5EF4-FFF2-40B4-BE49-F238E27FC236}">
                  <a16:creationId xmlns:a16="http://schemas.microsoft.com/office/drawing/2014/main" id="{A4438165-0F4C-BAB0-C876-5C6D0FE95BAC}"/>
                </a:ext>
              </a:extLst>
            </p:cNvPr>
            <p:cNvSpPr>
              <a:spLocks noChangeShapeType="1"/>
            </p:cNvSpPr>
            <p:nvPr/>
          </p:nvSpPr>
          <p:spPr bwMode="auto">
            <a:xfrm>
              <a:off x="2140"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6" name="Line 100">
              <a:extLst>
                <a:ext uri="{FF2B5EF4-FFF2-40B4-BE49-F238E27FC236}">
                  <a16:creationId xmlns:a16="http://schemas.microsoft.com/office/drawing/2014/main" id="{70B324AD-B9A7-A540-68E7-C3C3CD7A7EC3}"/>
                </a:ext>
              </a:extLst>
            </p:cNvPr>
            <p:cNvSpPr>
              <a:spLocks noChangeShapeType="1"/>
            </p:cNvSpPr>
            <p:nvPr/>
          </p:nvSpPr>
          <p:spPr bwMode="auto">
            <a:xfrm>
              <a:off x="2259"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7" name="Line 101">
              <a:extLst>
                <a:ext uri="{FF2B5EF4-FFF2-40B4-BE49-F238E27FC236}">
                  <a16:creationId xmlns:a16="http://schemas.microsoft.com/office/drawing/2014/main" id="{5C3A6F11-1CC2-90AE-52B5-2FC3D8A81B32}"/>
                </a:ext>
              </a:extLst>
            </p:cNvPr>
            <p:cNvSpPr>
              <a:spLocks noChangeShapeType="1"/>
            </p:cNvSpPr>
            <p:nvPr/>
          </p:nvSpPr>
          <p:spPr bwMode="auto">
            <a:xfrm>
              <a:off x="2377"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8" name="Line 102">
              <a:extLst>
                <a:ext uri="{FF2B5EF4-FFF2-40B4-BE49-F238E27FC236}">
                  <a16:creationId xmlns:a16="http://schemas.microsoft.com/office/drawing/2014/main" id="{3619DB9C-53CA-53FF-2CE1-14E0B3DBAB53}"/>
                </a:ext>
              </a:extLst>
            </p:cNvPr>
            <p:cNvSpPr>
              <a:spLocks noChangeShapeType="1"/>
            </p:cNvSpPr>
            <p:nvPr/>
          </p:nvSpPr>
          <p:spPr bwMode="auto">
            <a:xfrm>
              <a:off x="2496"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49" name="Line 103">
              <a:extLst>
                <a:ext uri="{FF2B5EF4-FFF2-40B4-BE49-F238E27FC236}">
                  <a16:creationId xmlns:a16="http://schemas.microsoft.com/office/drawing/2014/main" id="{097BED74-1D06-CC3A-200D-3F819A872583}"/>
                </a:ext>
              </a:extLst>
            </p:cNvPr>
            <p:cNvSpPr>
              <a:spLocks noChangeShapeType="1"/>
            </p:cNvSpPr>
            <p:nvPr/>
          </p:nvSpPr>
          <p:spPr bwMode="auto">
            <a:xfrm>
              <a:off x="2615" y="1570"/>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50" name="Line 104">
              <a:extLst>
                <a:ext uri="{FF2B5EF4-FFF2-40B4-BE49-F238E27FC236}">
                  <a16:creationId xmlns:a16="http://schemas.microsoft.com/office/drawing/2014/main" id="{8410FBC4-726A-CD77-4A05-135B8FBF65D2}"/>
                </a:ext>
              </a:extLst>
            </p:cNvPr>
            <p:cNvSpPr>
              <a:spLocks noChangeShapeType="1"/>
            </p:cNvSpPr>
            <p:nvPr/>
          </p:nvSpPr>
          <p:spPr bwMode="auto">
            <a:xfrm>
              <a:off x="2734" y="1570"/>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26729" name="Group 105">
            <a:extLst>
              <a:ext uri="{FF2B5EF4-FFF2-40B4-BE49-F238E27FC236}">
                <a16:creationId xmlns:a16="http://schemas.microsoft.com/office/drawing/2014/main" id="{E73D9F68-E7A4-E141-418B-68C75C116158}"/>
              </a:ext>
            </a:extLst>
          </p:cNvPr>
          <p:cNvGrpSpPr>
            <a:grpSpLocks/>
          </p:cNvGrpSpPr>
          <p:nvPr/>
        </p:nvGrpSpPr>
        <p:grpSpPr bwMode="auto">
          <a:xfrm>
            <a:off x="3749675" y="2563813"/>
            <a:ext cx="2830513" cy="1587"/>
            <a:chOff x="1412" y="1358"/>
            <a:chExt cx="1783" cy="1"/>
          </a:xfrm>
        </p:grpSpPr>
        <p:sp>
          <p:nvSpPr>
            <p:cNvPr id="27723" name="Line 106">
              <a:extLst>
                <a:ext uri="{FF2B5EF4-FFF2-40B4-BE49-F238E27FC236}">
                  <a16:creationId xmlns:a16="http://schemas.microsoft.com/office/drawing/2014/main" id="{3F46220F-22B2-924D-D11A-AAE926C9D18A}"/>
                </a:ext>
              </a:extLst>
            </p:cNvPr>
            <p:cNvSpPr>
              <a:spLocks noChangeShapeType="1"/>
            </p:cNvSpPr>
            <p:nvPr/>
          </p:nvSpPr>
          <p:spPr bwMode="auto">
            <a:xfrm>
              <a:off x="1412"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4" name="Line 107">
              <a:extLst>
                <a:ext uri="{FF2B5EF4-FFF2-40B4-BE49-F238E27FC236}">
                  <a16:creationId xmlns:a16="http://schemas.microsoft.com/office/drawing/2014/main" id="{BA1CACF7-95AA-7D1F-BDE8-6B101F5D5A56}"/>
                </a:ext>
              </a:extLst>
            </p:cNvPr>
            <p:cNvSpPr>
              <a:spLocks noChangeShapeType="1"/>
            </p:cNvSpPr>
            <p:nvPr/>
          </p:nvSpPr>
          <p:spPr bwMode="auto">
            <a:xfrm>
              <a:off x="1531"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5" name="Line 108">
              <a:extLst>
                <a:ext uri="{FF2B5EF4-FFF2-40B4-BE49-F238E27FC236}">
                  <a16:creationId xmlns:a16="http://schemas.microsoft.com/office/drawing/2014/main" id="{908C312E-4AD4-6AAB-7248-8C3C10B787A4}"/>
                </a:ext>
              </a:extLst>
            </p:cNvPr>
            <p:cNvSpPr>
              <a:spLocks noChangeShapeType="1"/>
            </p:cNvSpPr>
            <p:nvPr/>
          </p:nvSpPr>
          <p:spPr bwMode="auto">
            <a:xfrm>
              <a:off x="1650"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6" name="Line 109">
              <a:extLst>
                <a:ext uri="{FF2B5EF4-FFF2-40B4-BE49-F238E27FC236}">
                  <a16:creationId xmlns:a16="http://schemas.microsoft.com/office/drawing/2014/main" id="{97418658-1EF7-3ABC-F3F1-B34212FC7C44}"/>
                </a:ext>
              </a:extLst>
            </p:cNvPr>
            <p:cNvSpPr>
              <a:spLocks noChangeShapeType="1"/>
            </p:cNvSpPr>
            <p:nvPr/>
          </p:nvSpPr>
          <p:spPr bwMode="auto">
            <a:xfrm>
              <a:off x="1768" y="1358"/>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7" name="Line 110">
              <a:extLst>
                <a:ext uri="{FF2B5EF4-FFF2-40B4-BE49-F238E27FC236}">
                  <a16:creationId xmlns:a16="http://schemas.microsoft.com/office/drawing/2014/main" id="{17321714-A81B-9327-6D66-7C6344F301CE}"/>
                </a:ext>
              </a:extLst>
            </p:cNvPr>
            <p:cNvSpPr>
              <a:spLocks noChangeShapeType="1"/>
            </p:cNvSpPr>
            <p:nvPr/>
          </p:nvSpPr>
          <p:spPr bwMode="auto">
            <a:xfrm>
              <a:off x="1887" y="1358"/>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8" name="Line 111">
              <a:extLst>
                <a:ext uri="{FF2B5EF4-FFF2-40B4-BE49-F238E27FC236}">
                  <a16:creationId xmlns:a16="http://schemas.microsoft.com/office/drawing/2014/main" id="{73A34F13-3F6B-46CC-D082-ECB530A00D62}"/>
                </a:ext>
              </a:extLst>
            </p:cNvPr>
            <p:cNvSpPr>
              <a:spLocks noChangeShapeType="1"/>
            </p:cNvSpPr>
            <p:nvPr/>
          </p:nvSpPr>
          <p:spPr bwMode="auto">
            <a:xfrm>
              <a:off x="2006" y="1358"/>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9" name="Line 112">
              <a:extLst>
                <a:ext uri="{FF2B5EF4-FFF2-40B4-BE49-F238E27FC236}">
                  <a16:creationId xmlns:a16="http://schemas.microsoft.com/office/drawing/2014/main" id="{9592DED2-907B-7A30-FC21-B50936EFE4F5}"/>
                </a:ext>
              </a:extLst>
            </p:cNvPr>
            <p:cNvSpPr>
              <a:spLocks noChangeShapeType="1"/>
            </p:cNvSpPr>
            <p:nvPr/>
          </p:nvSpPr>
          <p:spPr bwMode="auto">
            <a:xfrm>
              <a:off x="2125"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0" name="Line 113">
              <a:extLst>
                <a:ext uri="{FF2B5EF4-FFF2-40B4-BE49-F238E27FC236}">
                  <a16:creationId xmlns:a16="http://schemas.microsoft.com/office/drawing/2014/main" id="{720ADFB4-AD0E-99CE-BA53-C4AFF811000D}"/>
                </a:ext>
              </a:extLst>
            </p:cNvPr>
            <p:cNvSpPr>
              <a:spLocks noChangeShapeType="1"/>
            </p:cNvSpPr>
            <p:nvPr/>
          </p:nvSpPr>
          <p:spPr bwMode="auto">
            <a:xfrm>
              <a:off x="2244"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1" name="Line 114">
              <a:extLst>
                <a:ext uri="{FF2B5EF4-FFF2-40B4-BE49-F238E27FC236}">
                  <a16:creationId xmlns:a16="http://schemas.microsoft.com/office/drawing/2014/main" id="{A041F64A-673C-B8E8-ED3A-6C242883776B}"/>
                </a:ext>
              </a:extLst>
            </p:cNvPr>
            <p:cNvSpPr>
              <a:spLocks noChangeShapeType="1"/>
            </p:cNvSpPr>
            <p:nvPr/>
          </p:nvSpPr>
          <p:spPr bwMode="auto">
            <a:xfrm>
              <a:off x="2363"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2" name="Line 115">
              <a:extLst>
                <a:ext uri="{FF2B5EF4-FFF2-40B4-BE49-F238E27FC236}">
                  <a16:creationId xmlns:a16="http://schemas.microsoft.com/office/drawing/2014/main" id="{2A1A62B4-B8E3-186C-E8D6-A5947B5F39A2}"/>
                </a:ext>
              </a:extLst>
            </p:cNvPr>
            <p:cNvSpPr>
              <a:spLocks noChangeShapeType="1"/>
            </p:cNvSpPr>
            <p:nvPr/>
          </p:nvSpPr>
          <p:spPr bwMode="auto">
            <a:xfrm>
              <a:off x="2481" y="1358"/>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3" name="Line 116">
              <a:extLst>
                <a:ext uri="{FF2B5EF4-FFF2-40B4-BE49-F238E27FC236}">
                  <a16:creationId xmlns:a16="http://schemas.microsoft.com/office/drawing/2014/main" id="{E6D560A7-7B24-6462-9B93-8A5F8D081EFE}"/>
                </a:ext>
              </a:extLst>
            </p:cNvPr>
            <p:cNvSpPr>
              <a:spLocks noChangeShapeType="1"/>
            </p:cNvSpPr>
            <p:nvPr/>
          </p:nvSpPr>
          <p:spPr bwMode="auto">
            <a:xfrm>
              <a:off x="2600" y="1358"/>
              <a:ext cx="6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4" name="Line 117">
              <a:extLst>
                <a:ext uri="{FF2B5EF4-FFF2-40B4-BE49-F238E27FC236}">
                  <a16:creationId xmlns:a16="http://schemas.microsoft.com/office/drawing/2014/main" id="{293B1B07-ADF4-09A1-1D15-9D09241BCAE9}"/>
                </a:ext>
              </a:extLst>
            </p:cNvPr>
            <p:cNvSpPr>
              <a:spLocks noChangeShapeType="1"/>
            </p:cNvSpPr>
            <p:nvPr/>
          </p:nvSpPr>
          <p:spPr bwMode="auto">
            <a:xfrm>
              <a:off x="2719"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5" name="Line 118">
              <a:extLst>
                <a:ext uri="{FF2B5EF4-FFF2-40B4-BE49-F238E27FC236}">
                  <a16:creationId xmlns:a16="http://schemas.microsoft.com/office/drawing/2014/main" id="{656920F5-35D3-4D26-1DB2-C3D8C315E6AA}"/>
                </a:ext>
              </a:extLst>
            </p:cNvPr>
            <p:cNvSpPr>
              <a:spLocks noChangeShapeType="1"/>
            </p:cNvSpPr>
            <p:nvPr/>
          </p:nvSpPr>
          <p:spPr bwMode="auto">
            <a:xfrm>
              <a:off x="2838"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6" name="Line 119">
              <a:extLst>
                <a:ext uri="{FF2B5EF4-FFF2-40B4-BE49-F238E27FC236}">
                  <a16:creationId xmlns:a16="http://schemas.microsoft.com/office/drawing/2014/main" id="{2D7C17AD-9BB5-08AF-E130-87E05550CD51}"/>
                </a:ext>
              </a:extLst>
            </p:cNvPr>
            <p:cNvSpPr>
              <a:spLocks noChangeShapeType="1"/>
            </p:cNvSpPr>
            <p:nvPr/>
          </p:nvSpPr>
          <p:spPr bwMode="auto">
            <a:xfrm>
              <a:off x="2957"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7" name="Line 120">
              <a:extLst>
                <a:ext uri="{FF2B5EF4-FFF2-40B4-BE49-F238E27FC236}">
                  <a16:creationId xmlns:a16="http://schemas.microsoft.com/office/drawing/2014/main" id="{F1C7D898-964D-B698-EF61-C1E1FC28CD3B}"/>
                </a:ext>
              </a:extLst>
            </p:cNvPr>
            <p:cNvSpPr>
              <a:spLocks noChangeShapeType="1"/>
            </p:cNvSpPr>
            <p:nvPr/>
          </p:nvSpPr>
          <p:spPr bwMode="auto">
            <a:xfrm>
              <a:off x="3076" y="1358"/>
              <a:ext cx="5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38" name="Line 121">
              <a:extLst>
                <a:ext uri="{FF2B5EF4-FFF2-40B4-BE49-F238E27FC236}">
                  <a16:creationId xmlns:a16="http://schemas.microsoft.com/office/drawing/2014/main" id="{CC2E8CF1-287B-AEB0-109A-6639521BBB72}"/>
                </a:ext>
              </a:extLst>
            </p:cNvPr>
            <p:cNvSpPr>
              <a:spLocks noChangeShapeType="1"/>
            </p:cNvSpPr>
            <p:nvPr/>
          </p:nvSpPr>
          <p:spPr bwMode="auto">
            <a:xfrm>
              <a:off x="3194" y="1358"/>
              <a:ext cx="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sp>
        <p:nvSpPr>
          <p:cNvPr id="27689" name="Rectangle 122">
            <a:extLst>
              <a:ext uri="{FF2B5EF4-FFF2-40B4-BE49-F238E27FC236}">
                <a16:creationId xmlns:a16="http://schemas.microsoft.com/office/drawing/2014/main" id="{334D1157-9DB7-4263-3E5D-923ACEB2AE77}"/>
              </a:ext>
            </a:extLst>
          </p:cNvPr>
          <p:cNvSpPr>
            <a:spLocks noChangeArrowheads="1"/>
          </p:cNvSpPr>
          <p:nvPr/>
        </p:nvSpPr>
        <p:spPr bwMode="auto">
          <a:xfrm>
            <a:off x="7004050" y="4929188"/>
            <a:ext cx="392113" cy="234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26747" name="Rectangle 123">
            <a:extLst>
              <a:ext uri="{FF2B5EF4-FFF2-40B4-BE49-F238E27FC236}">
                <a16:creationId xmlns:a16="http://schemas.microsoft.com/office/drawing/2014/main" id="{D1F16232-6DD9-4BA6-A7A9-0FDDFA29F2EF}"/>
              </a:ext>
            </a:extLst>
          </p:cNvPr>
          <p:cNvSpPr>
            <a:spLocks noChangeArrowheads="1"/>
          </p:cNvSpPr>
          <p:nvPr/>
        </p:nvSpPr>
        <p:spPr bwMode="auto">
          <a:xfrm>
            <a:off x="4645025" y="4905375"/>
            <a:ext cx="2641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Symbol" pitchFamily="2" charset="2"/>
              </a:rPr>
              <a:t>D</a:t>
            </a:r>
            <a:r>
              <a:rPr lang="en-US" altLang="en-US" sz="1800" i="1">
                <a:solidFill>
                  <a:srgbClr val="000000"/>
                </a:solidFill>
                <a:latin typeface="Arial" panose="020B0604020202020204" pitchFamily="34" charset="0"/>
              </a:rPr>
              <a:t>Q </a:t>
            </a:r>
            <a:r>
              <a:rPr lang="en-US" altLang="en-US" sz="1800">
                <a:solidFill>
                  <a:srgbClr val="000000"/>
                </a:solidFill>
                <a:latin typeface="Arial" panose="020B0604020202020204" pitchFamily="34" charset="0"/>
              </a:rPr>
              <a:t>from hiring first worker</a:t>
            </a:r>
            <a:endParaRPr lang="en-US" altLang="en-US" sz="1800">
              <a:latin typeface="Symbol" pitchFamily="2" charset="2"/>
            </a:endParaRPr>
          </a:p>
        </p:txBody>
      </p:sp>
      <p:sp>
        <p:nvSpPr>
          <p:cNvPr id="26748" name="Rectangle 124">
            <a:extLst>
              <a:ext uri="{FF2B5EF4-FFF2-40B4-BE49-F238E27FC236}">
                <a16:creationId xmlns:a16="http://schemas.microsoft.com/office/drawing/2014/main" id="{207CC436-9605-8437-0153-4F98B7B47AB8}"/>
              </a:ext>
            </a:extLst>
          </p:cNvPr>
          <p:cNvSpPr>
            <a:spLocks noChangeArrowheads="1"/>
          </p:cNvSpPr>
          <p:nvPr/>
        </p:nvSpPr>
        <p:spPr bwMode="auto">
          <a:xfrm>
            <a:off x="3632200" y="5849938"/>
            <a:ext cx="11684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000000"/>
                </a:solidFill>
                <a:latin typeface="Arial" panose="020B0604020202020204" pitchFamily="34" charset="0"/>
              </a:rPr>
              <a:t>increasing marginal returns</a:t>
            </a:r>
            <a:endParaRPr lang="en-US" altLang="en-US" sz="1800">
              <a:latin typeface="Arial" panose="020B0604020202020204" pitchFamily="34" charset="0"/>
            </a:endParaRPr>
          </a:p>
        </p:txBody>
      </p:sp>
      <p:sp>
        <p:nvSpPr>
          <p:cNvPr id="26749" name="Rectangle 125">
            <a:extLst>
              <a:ext uri="{FF2B5EF4-FFF2-40B4-BE49-F238E27FC236}">
                <a16:creationId xmlns:a16="http://schemas.microsoft.com/office/drawing/2014/main" id="{95C59639-DE1B-32E0-24F5-CDDF255F095E}"/>
              </a:ext>
            </a:extLst>
          </p:cNvPr>
          <p:cNvSpPr>
            <a:spLocks noChangeArrowheads="1"/>
          </p:cNvSpPr>
          <p:nvPr/>
        </p:nvSpPr>
        <p:spPr bwMode="auto">
          <a:xfrm>
            <a:off x="5181600" y="5849938"/>
            <a:ext cx="1676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spcBef>
                <a:spcPct val="0"/>
              </a:spcBef>
              <a:buFontTx/>
              <a:buNone/>
            </a:pPr>
            <a:r>
              <a:rPr lang="en-US" altLang="en-US" sz="1800">
                <a:solidFill>
                  <a:srgbClr val="000000"/>
                </a:solidFill>
                <a:latin typeface="Arial" panose="020B0604020202020204" pitchFamily="34" charset="0"/>
              </a:rPr>
              <a:t>diminishing marginal returns</a:t>
            </a:r>
            <a:endParaRPr lang="en-US" altLang="en-US" sz="1800">
              <a:latin typeface="Arial" panose="020B0604020202020204" pitchFamily="34" charset="0"/>
            </a:endParaRPr>
          </a:p>
        </p:txBody>
      </p:sp>
      <p:sp>
        <p:nvSpPr>
          <p:cNvPr id="26750" name="Freeform 126">
            <a:extLst>
              <a:ext uri="{FF2B5EF4-FFF2-40B4-BE49-F238E27FC236}">
                <a16:creationId xmlns:a16="http://schemas.microsoft.com/office/drawing/2014/main" id="{36ACEFA6-BBC3-9474-AB98-F72C2D4B6AEC}"/>
              </a:ext>
            </a:extLst>
          </p:cNvPr>
          <p:cNvSpPr>
            <a:spLocks/>
          </p:cNvSpPr>
          <p:nvPr/>
        </p:nvSpPr>
        <p:spPr bwMode="auto">
          <a:xfrm>
            <a:off x="6045200" y="2938463"/>
            <a:ext cx="125413" cy="314325"/>
          </a:xfrm>
          <a:custGeom>
            <a:avLst/>
            <a:gdLst>
              <a:gd name="T0" fmla="*/ 0 w 79"/>
              <a:gd name="T1" fmla="*/ 0 h 198"/>
              <a:gd name="T2" fmla="*/ 0 w 79"/>
              <a:gd name="T3" fmla="*/ 0 h 198"/>
              <a:gd name="T4" fmla="*/ 2147483646 w 79"/>
              <a:gd name="T5" fmla="*/ 0 h 198"/>
              <a:gd name="T6" fmla="*/ 2147483646 w 79"/>
              <a:gd name="T7" fmla="*/ 2147483646 h 198"/>
              <a:gd name="T8" fmla="*/ 2147483646 w 79"/>
              <a:gd name="T9" fmla="*/ 2147483646 h 198"/>
              <a:gd name="T10" fmla="*/ 2147483646 w 79"/>
              <a:gd name="T11" fmla="*/ 2147483646 h 198"/>
              <a:gd name="T12" fmla="*/ 2147483646 w 79"/>
              <a:gd name="T13" fmla="*/ 2147483646 h 198"/>
              <a:gd name="T14" fmla="*/ 2147483646 w 79"/>
              <a:gd name="T15" fmla="*/ 2147483646 h 198"/>
              <a:gd name="T16" fmla="*/ 2147483646 w 79"/>
              <a:gd name="T17" fmla="*/ 2147483646 h 198"/>
              <a:gd name="T18" fmla="*/ 2147483646 w 79"/>
              <a:gd name="T19" fmla="*/ 2147483646 h 198"/>
              <a:gd name="T20" fmla="*/ 2147483646 w 79"/>
              <a:gd name="T21" fmla="*/ 2147483646 h 198"/>
              <a:gd name="T22" fmla="*/ 2147483646 w 79"/>
              <a:gd name="T23" fmla="*/ 2147483646 h 198"/>
              <a:gd name="T24" fmla="*/ 2147483646 w 79"/>
              <a:gd name="T25" fmla="*/ 2147483646 h 198"/>
              <a:gd name="T26" fmla="*/ 2147483646 w 79"/>
              <a:gd name="T27" fmla="*/ 2147483646 h 198"/>
              <a:gd name="T28" fmla="*/ 2147483646 w 79"/>
              <a:gd name="T29" fmla="*/ 2147483646 h 198"/>
              <a:gd name="T30" fmla="*/ 2147483646 w 79"/>
              <a:gd name="T31" fmla="*/ 2147483646 h 198"/>
              <a:gd name="T32" fmla="*/ 2147483646 w 79"/>
              <a:gd name="T33" fmla="*/ 2147483646 h 198"/>
              <a:gd name="T34" fmla="*/ 2147483646 w 79"/>
              <a:gd name="T35" fmla="*/ 2147483646 h 198"/>
              <a:gd name="T36" fmla="*/ 2147483646 w 79"/>
              <a:gd name="T37" fmla="*/ 2147483646 h 198"/>
              <a:gd name="T38" fmla="*/ 2147483646 w 79"/>
              <a:gd name="T39" fmla="*/ 2147483646 h 198"/>
              <a:gd name="T40" fmla="*/ 2147483646 w 79"/>
              <a:gd name="T41" fmla="*/ 2147483646 h 198"/>
              <a:gd name="T42" fmla="*/ 2147483646 w 79"/>
              <a:gd name="T43" fmla="*/ 2147483646 h 198"/>
              <a:gd name="T44" fmla="*/ 0 w 79"/>
              <a:gd name="T45" fmla="*/ 2147483646 h 1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9" h="198">
                <a:moveTo>
                  <a:pt x="0" y="0"/>
                </a:moveTo>
                <a:lnTo>
                  <a:pt x="0" y="0"/>
                </a:lnTo>
                <a:lnTo>
                  <a:pt x="15" y="0"/>
                </a:lnTo>
                <a:lnTo>
                  <a:pt x="29" y="6"/>
                </a:lnTo>
                <a:lnTo>
                  <a:pt x="34" y="13"/>
                </a:lnTo>
                <a:lnTo>
                  <a:pt x="39" y="23"/>
                </a:lnTo>
                <a:lnTo>
                  <a:pt x="39" y="74"/>
                </a:lnTo>
                <a:lnTo>
                  <a:pt x="39" y="84"/>
                </a:lnTo>
                <a:lnTo>
                  <a:pt x="49" y="91"/>
                </a:lnTo>
                <a:lnTo>
                  <a:pt x="64" y="97"/>
                </a:lnTo>
                <a:lnTo>
                  <a:pt x="79" y="97"/>
                </a:lnTo>
                <a:lnTo>
                  <a:pt x="64" y="101"/>
                </a:lnTo>
                <a:lnTo>
                  <a:pt x="49" y="104"/>
                </a:lnTo>
                <a:lnTo>
                  <a:pt x="39" y="114"/>
                </a:lnTo>
                <a:lnTo>
                  <a:pt x="39" y="124"/>
                </a:lnTo>
                <a:lnTo>
                  <a:pt x="39" y="175"/>
                </a:lnTo>
                <a:lnTo>
                  <a:pt x="34" y="182"/>
                </a:lnTo>
                <a:lnTo>
                  <a:pt x="29" y="192"/>
                </a:lnTo>
                <a:lnTo>
                  <a:pt x="15" y="195"/>
                </a:lnTo>
                <a:lnTo>
                  <a:pt x="0" y="198"/>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6751" name="Freeform 127">
            <a:extLst>
              <a:ext uri="{FF2B5EF4-FFF2-40B4-BE49-F238E27FC236}">
                <a16:creationId xmlns:a16="http://schemas.microsoft.com/office/drawing/2014/main" id="{E5B26DAA-552F-4668-2B73-A76C8B67714B}"/>
              </a:ext>
            </a:extLst>
          </p:cNvPr>
          <p:cNvSpPr>
            <a:spLocks/>
          </p:cNvSpPr>
          <p:nvPr/>
        </p:nvSpPr>
        <p:spPr bwMode="auto">
          <a:xfrm>
            <a:off x="5589588" y="3290888"/>
            <a:ext cx="125412" cy="566737"/>
          </a:xfrm>
          <a:custGeom>
            <a:avLst/>
            <a:gdLst>
              <a:gd name="T0" fmla="*/ 0 w 79"/>
              <a:gd name="T1" fmla="*/ 0 h 357"/>
              <a:gd name="T2" fmla="*/ 0 w 79"/>
              <a:gd name="T3" fmla="*/ 0 h 357"/>
              <a:gd name="T4" fmla="*/ 2147483646 w 79"/>
              <a:gd name="T5" fmla="*/ 0 h 357"/>
              <a:gd name="T6" fmla="*/ 2147483646 w 79"/>
              <a:gd name="T7" fmla="*/ 2147483646 h 357"/>
              <a:gd name="T8" fmla="*/ 2147483646 w 79"/>
              <a:gd name="T9" fmla="*/ 2147483646 h 357"/>
              <a:gd name="T10" fmla="*/ 2147483646 w 79"/>
              <a:gd name="T11" fmla="*/ 2147483646 h 357"/>
              <a:gd name="T12" fmla="*/ 2147483646 w 79"/>
              <a:gd name="T13" fmla="*/ 2147483646 h 357"/>
              <a:gd name="T14" fmla="*/ 2147483646 w 79"/>
              <a:gd name="T15" fmla="*/ 2147483646 h 357"/>
              <a:gd name="T16" fmla="*/ 2147483646 w 79"/>
              <a:gd name="T17" fmla="*/ 2147483646 h 357"/>
              <a:gd name="T18" fmla="*/ 2147483646 w 79"/>
              <a:gd name="T19" fmla="*/ 2147483646 h 357"/>
              <a:gd name="T20" fmla="*/ 2147483646 w 79"/>
              <a:gd name="T21" fmla="*/ 2147483646 h 357"/>
              <a:gd name="T22" fmla="*/ 2147483646 w 79"/>
              <a:gd name="T23" fmla="*/ 2147483646 h 357"/>
              <a:gd name="T24" fmla="*/ 2147483646 w 79"/>
              <a:gd name="T25" fmla="*/ 2147483646 h 357"/>
              <a:gd name="T26" fmla="*/ 2147483646 w 79"/>
              <a:gd name="T27" fmla="*/ 2147483646 h 357"/>
              <a:gd name="T28" fmla="*/ 2147483646 w 79"/>
              <a:gd name="T29" fmla="*/ 2147483646 h 357"/>
              <a:gd name="T30" fmla="*/ 2147483646 w 79"/>
              <a:gd name="T31" fmla="*/ 2147483646 h 357"/>
              <a:gd name="T32" fmla="*/ 2147483646 w 79"/>
              <a:gd name="T33" fmla="*/ 2147483646 h 357"/>
              <a:gd name="T34" fmla="*/ 2147483646 w 79"/>
              <a:gd name="T35" fmla="*/ 2147483646 h 357"/>
              <a:gd name="T36" fmla="*/ 2147483646 w 79"/>
              <a:gd name="T37" fmla="*/ 2147483646 h 357"/>
              <a:gd name="T38" fmla="*/ 2147483646 w 79"/>
              <a:gd name="T39" fmla="*/ 2147483646 h 357"/>
              <a:gd name="T40" fmla="*/ 2147483646 w 79"/>
              <a:gd name="T41" fmla="*/ 2147483646 h 357"/>
              <a:gd name="T42" fmla="*/ 2147483646 w 79"/>
              <a:gd name="T43" fmla="*/ 2147483646 h 357"/>
              <a:gd name="T44" fmla="*/ 0 w 79"/>
              <a:gd name="T45" fmla="*/ 2147483646 h 3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9" h="357">
                <a:moveTo>
                  <a:pt x="0" y="0"/>
                </a:moveTo>
                <a:lnTo>
                  <a:pt x="0" y="0"/>
                </a:lnTo>
                <a:lnTo>
                  <a:pt x="14" y="0"/>
                </a:lnTo>
                <a:lnTo>
                  <a:pt x="29" y="7"/>
                </a:lnTo>
                <a:lnTo>
                  <a:pt x="34" y="17"/>
                </a:lnTo>
                <a:lnTo>
                  <a:pt x="39" y="27"/>
                </a:lnTo>
                <a:lnTo>
                  <a:pt x="39" y="152"/>
                </a:lnTo>
                <a:lnTo>
                  <a:pt x="44" y="162"/>
                </a:lnTo>
                <a:lnTo>
                  <a:pt x="49" y="172"/>
                </a:lnTo>
                <a:lnTo>
                  <a:pt x="64" y="175"/>
                </a:lnTo>
                <a:lnTo>
                  <a:pt x="79" y="179"/>
                </a:lnTo>
                <a:lnTo>
                  <a:pt x="64" y="182"/>
                </a:lnTo>
                <a:lnTo>
                  <a:pt x="49" y="185"/>
                </a:lnTo>
                <a:lnTo>
                  <a:pt x="44" y="196"/>
                </a:lnTo>
                <a:lnTo>
                  <a:pt x="39" y="206"/>
                </a:lnTo>
                <a:lnTo>
                  <a:pt x="39" y="330"/>
                </a:lnTo>
                <a:lnTo>
                  <a:pt x="34" y="341"/>
                </a:lnTo>
                <a:lnTo>
                  <a:pt x="29" y="351"/>
                </a:lnTo>
                <a:lnTo>
                  <a:pt x="14" y="357"/>
                </a:lnTo>
                <a:lnTo>
                  <a:pt x="0" y="357"/>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6752" name="Freeform 128">
            <a:extLst>
              <a:ext uri="{FF2B5EF4-FFF2-40B4-BE49-F238E27FC236}">
                <a16:creationId xmlns:a16="http://schemas.microsoft.com/office/drawing/2014/main" id="{4A51B957-D6A5-6C7F-CEBE-8EAF6EE8BFBF}"/>
              </a:ext>
            </a:extLst>
          </p:cNvPr>
          <p:cNvSpPr>
            <a:spLocks/>
          </p:cNvSpPr>
          <p:nvPr/>
        </p:nvSpPr>
        <p:spPr bwMode="auto">
          <a:xfrm>
            <a:off x="4999038" y="3927475"/>
            <a:ext cx="125412" cy="866775"/>
          </a:xfrm>
          <a:custGeom>
            <a:avLst/>
            <a:gdLst>
              <a:gd name="T0" fmla="*/ 0 w 79"/>
              <a:gd name="T1" fmla="*/ 0 h 546"/>
              <a:gd name="T2" fmla="*/ 0 w 79"/>
              <a:gd name="T3" fmla="*/ 0 h 546"/>
              <a:gd name="T4" fmla="*/ 2147483646 w 79"/>
              <a:gd name="T5" fmla="*/ 2147483646 h 546"/>
              <a:gd name="T6" fmla="*/ 2147483646 w 79"/>
              <a:gd name="T7" fmla="*/ 2147483646 h 546"/>
              <a:gd name="T8" fmla="*/ 2147483646 w 79"/>
              <a:gd name="T9" fmla="*/ 2147483646 h 546"/>
              <a:gd name="T10" fmla="*/ 2147483646 w 79"/>
              <a:gd name="T11" fmla="*/ 2147483646 h 546"/>
              <a:gd name="T12" fmla="*/ 2147483646 w 79"/>
              <a:gd name="T13" fmla="*/ 2147483646 h 546"/>
              <a:gd name="T14" fmla="*/ 2147483646 w 79"/>
              <a:gd name="T15" fmla="*/ 2147483646 h 546"/>
              <a:gd name="T16" fmla="*/ 2147483646 w 79"/>
              <a:gd name="T17" fmla="*/ 2147483646 h 546"/>
              <a:gd name="T18" fmla="*/ 2147483646 w 79"/>
              <a:gd name="T19" fmla="*/ 2147483646 h 546"/>
              <a:gd name="T20" fmla="*/ 2147483646 w 79"/>
              <a:gd name="T21" fmla="*/ 2147483646 h 546"/>
              <a:gd name="T22" fmla="*/ 2147483646 w 79"/>
              <a:gd name="T23" fmla="*/ 2147483646 h 546"/>
              <a:gd name="T24" fmla="*/ 2147483646 w 79"/>
              <a:gd name="T25" fmla="*/ 2147483646 h 546"/>
              <a:gd name="T26" fmla="*/ 2147483646 w 79"/>
              <a:gd name="T27" fmla="*/ 2147483646 h 546"/>
              <a:gd name="T28" fmla="*/ 2147483646 w 79"/>
              <a:gd name="T29" fmla="*/ 2147483646 h 546"/>
              <a:gd name="T30" fmla="*/ 2147483646 w 79"/>
              <a:gd name="T31" fmla="*/ 2147483646 h 546"/>
              <a:gd name="T32" fmla="*/ 2147483646 w 79"/>
              <a:gd name="T33" fmla="*/ 2147483646 h 546"/>
              <a:gd name="T34" fmla="*/ 2147483646 w 79"/>
              <a:gd name="T35" fmla="*/ 2147483646 h 546"/>
              <a:gd name="T36" fmla="*/ 2147483646 w 79"/>
              <a:gd name="T37" fmla="*/ 2147483646 h 546"/>
              <a:gd name="T38" fmla="*/ 2147483646 w 79"/>
              <a:gd name="T39" fmla="*/ 2147483646 h 546"/>
              <a:gd name="T40" fmla="*/ 2147483646 w 79"/>
              <a:gd name="T41" fmla="*/ 2147483646 h 546"/>
              <a:gd name="T42" fmla="*/ 2147483646 w 79"/>
              <a:gd name="T43" fmla="*/ 2147483646 h 546"/>
              <a:gd name="T44" fmla="*/ 0 w 79"/>
              <a:gd name="T45" fmla="*/ 2147483646 h 5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9" h="546">
                <a:moveTo>
                  <a:pt x="0" y="0"/>
                </a:moveTo>
                <a:lnTo>
                  <a:pt x="0" y="0"/>
                </a:lnTo>
                <a:lnTo>
                  <a:pt x="15" y="4"/>
                </a:lnTo>
                <a:lnTo>
                  <a:pt x="30" y="7"/>
                </a:lnTo>
                <a:lnTo>
                  <a:pt x="40" y="17"/>
                </a:lnTo>
                <a:lnTo>
                  <a:pt x="40" y="27"/>
                </a:lnTo>
                <a:lnTo>
                  <a:pt x="40" y="260"/>
                </a:lnTo>
                <a:lnTo>
                  <a:pt x="45" y="270"/>
                </a:lnTo>
                <a:lnTo>
                  <a:pt x="55" y="280"/>
                </a:lnTo>
                <a:lnTo>
                  <a:pt x="65" y="287"/>
                </a:lnTo>
                <a:lnTo>
                  <a:pt x="79" y="287"/>
                </a:lnTo>
                <a:lnTo>
                  <a:pt x="65" y="290"/>
                </a:lnTo>
                <a:lnTo>
                  <a:pt x="55" y="297"/>
                </a:lnTo>
                <a:lnTo>
                  <a:pt x="45" y="304"/>
                </a:lnTo>
                <a:lnTo>
                  <a:pt x="40" y="314"/>
                </a:lnTo>
                <a:lnTo>
                  <a:pt x="40" y="519"/>
                </a:lnTo>
                <a:lnTo>
                  <a:pt x="40" y="533"/>
                </a:lnTo>
                <a:lnTo>
                  <a:pt x="30" y="540"/>
                </a:lnTo>
                <a:lnTo>
                  <a:pt x="15" y="546"/>
                </a:lnTo>
                <a:lnTo>
                  <a:pt x="0" y="54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26753" name="Freeform 129">
            <a:extLst>
              <a:ext uri="{FF2B5EF4-FFF2-40B4-BE49-F238E27FC236}">
                <a16:creationId xmlns:a16="http://schemas.microsoft.com/office/drawing/2014/main" id="{1540BCBA-33E9-E705-4422-0BAE0FFE4796}"/>
              </a:ext>
            </a:extLst>
          </p:cNvPr>
          <p:cNvSpPr>
            <a:spLocks/>
          </p:cNvSpPr>
          <p:nvPr/>
        </p:nvSpPr>
        <p:spPr bwMode="auto">
          <a:xfrm>
            <a:off x="4457700" y="4832350"/>
            <a:ext cx="125413" cy="422275"/>
          </a:xfrm>
          <a:custGeom>
            <a:avLst/>
            <a:gdLst>
              <a:gd name="T0" fmla="*/ 0 w 79"/>
              <a:gd name="T1" fmla="*/ 0 h 266"/>
              <a:gd name="T2" fmla="*/ 0 w 79"/>
              <a:gd name="T3" fmla="*/ 0 h 266"/>
              <a:gd name="T4" fmla="*/ 2147483646 w 79"/>
              <a:gd name="T5" fmla="*/ 2147483646 h 266"/>
              <a:gd name="T6" fmla="*/ 2147483646 w 79"/>
              <a:gd name="T7" fmla="*/ 2147483646 h 266"/>
              <a:gd name="T8" fmla="*/ 2147483646 w 79"/>
              <a:gd name="T9" fmla="*/ 2147483646 h 266"/>
              <a:gd name="T10" fmla="*/ 2147483646 w 79"/>
              <a:gd name="T11" fmla="*/ 2147483646 h 266"/>
              <a:gd name="T12" fmla="*/ 2147483646 w 79"/>
              <a:gd name="T13" fmla="*/ 2147483646 h 266"/>
              <a:gd name="T14" fmla="*/ 2147483646 w 79"/>
              <a:gd name="T15" fmla="*/ 2147483646 h 266"/>
              <a:gd name="T16" fmla="*/ 2147483646 w 79"/>
              <a:gd name="T17" fmla="*/ 2147483646 h 266"/>
              <a:gd name="T18" fmla="*/ 2147483646 w 79"/>
              <a:gd name="T19" fmla="*/ 2147483646 h 266"/>
              <a:gd name="T20" fmla="*/ 2147483646 w 79"/>
              <a:gd name="T21" fmla="*/ 2147483646 h 266"/>
              <a:gd name="T22" fmla="*/ 2147483646 w 79"/>
              <a:gd name="T23" fmla="*/ 2147483646 h 266"/>
              <a:gd name="T24" fmla="*/ 2147483646 w 79"/>
              <a:gd name="T25" fmla="*/ 2147483646 h 266"/>
              <a:gd name="T26" fmla="*/ 2147483646 w 79"/>
              <a:gd name="T27" fmla="*/ 2147483646 h 266"/>
              <a:gd name="T28" fmla="*/ 2147483646 w 79"/>
              <a:gd name="T29" fmla="*/ 2147483646 h 266"/>
              <a:gd name="T30" fmla="*/ 2147483646 w 79"/>
              <a:gd name="T31" fmla="*/ 2147483646 h 266"/>
              <a:gd name="T32" fmla="*/ 2147483646 w 79"/>
              <a:gd name="T33" fmla="*/ 2147483646 h 266"/>
              <a:gd name="T34" fmla="*/ 2147483646 w 79"/>
              <a:gd name="T35" fmla="*/ 2147483646 h 266"/>
              <a:gd name="T36" fmla="*/ 2147483646 w 79"/>
              <a:gd name="T37" fmla="*/ 2147483646 h 266"/>
              <a:gd name="T38" fmla="*/ 2147483646 w 79"/>
              <a:gd name="T39" fmla="*/ 2147483646 h 266"/>
              <a:gd name="T40" fmla="*/ 2147483646 w 79"/>
              <a:gd name="T41" fmla="*/ 2147483646 h 266"/>
              <a:gd name="T42" fmla="*/ 2147483646 w 79"/>
              <a:gd name="T43" fmla="*/ 2147483646 h 266"/>
              <a:gd name="T44" fmla="*/ 0 w 79"/>
              <a:gd name="T45" fmla="*/ 2147483646 h 2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9" h="266">
                <a:moveTo>
                  <a:pt x="0" y="0"/>
                </a:moveTo>
                <a:lnTo>
                  <a:pt x="0" y="0"/>
                </a:lnTo>
                <a:lnTo>
                  <a:pt x="14" y="3"/>
                </a:lnTo>
                <a:lnTo>
                  <a:pt x="29" y="7"/>
                </a:lnTo>
                <a:lnTo>
                  <a:pt x="34" y="17"/>
                </a:lnTo>
                <a:lnTo>
                  <a:pt x="39" y="27"/>
                </a:lnTo>
                <a:lnTo>
                  <a:pt x="39" y="108"/>
                </a:lnTo>
                <a:lnTo>
                  <a:pt x="44" y="118"/>
                </a:lnTo>
                <a:lnTo>
                  <a:pt x="49" y="125"/>
                </a:lnTo>
                <a:lnTo>
                  <a:pt x="64" y="131"/>
                </a:lnTo>
                <a:lnTo>
                  <a:pt x="79" y="135"/>
                </a:lnTo>
                <a:lnTo>
                  <a:pt x="64" y="135"/>
                </a:lnTo>
                <a:lnTo>
                  <a:pt x="49" y="142"/>
                </a:lnTo>
                <a:lnTo>
                  <a:pt x="44" y="152"/>
                </a:lnTo>
                <a:lnTo>
                  <a:pt x="39" y="162"/>
                </a:lnTo>
                <a:lnTo>
                  <a:pt x="39" y="239"/>
                </a:lnTo>
                <a:lnTo>
                  <a:pt x="34" y="249"/>
                </a:lnTo>
                <a:lnTo>
                  <a:pt x="29" y="260"/>
                </a:lnTo>
                <a:lnTo>
                  <a:pt x="14" y="263"/>
                </a:lnTo>
                <a:lnTo>
                  <a:pt x="0" y="26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26754" name="Group 130">
            <a:extLst>
              <a:ext uri="{FF2B5EF4-FFF2-40B4-BE49-F238E27FC236}">
                <a16:creationId xmlns:a16="http://schemas.microsoft.com/office/drawing/2014/main" id="{23821795-5DAC-F259-9C50-FBE584E77E21}"/>
              </a:ext>
            </a:extLst>
          </p:cNvPr>
          <p:cNvGrpSpPr>
            <a:grpSpLocks/>
          </p:cNvGrpSpPr>
          <p:nvPr/>
        </p:nvGrpSpPr>
        <p:grpSpPr bwMode="auto">
          <a:xfrm>
            <a:off x="4913313" y="5773738"/>
            <a:ext cx="1587" cy="706437"/>
            <a:chOff x="2135" y="3637"/>
            <a:chExt cx="1" cy="445"/>
          </a:xfrm>
        </p:grpSpPr>
        <p:sp>
          <p:nvSpPr>
            <p:cNvPr id="27717" name="Line 131">
              <a:extLst>
                <a:ext uri="{FF2B5EF4-FFF2-40B4-BE49-F238E27FC236}">
                  <a16:creationId xmlns:a16="http://schemas.microsoft.com/office/drawing/2014/main" id="{8527A63C-BC6C-0325-2C64-BF45906C7C41}"/>
                </a:ext>
              </a:extLst>
            </p:cNvPr>
            <p:cNvSpPr>
              <a:spLocks noChangeShapeType="1"/>
            </p:cNvSpPr>
            <p:nvPr/>
          </p:nvSpPr>
          <p:spPr bwMode="auto">
            <a:xfrm flipV="1">
              <a:off x="2135" y="4042"/>
              <a:ext cx="1" cy="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8" name="Line 132">
              <a:extLst>
                <a:ext uri="{FF2B5EF4-FFF2-40B4-BE49-F238E27FC236}">
                  <a16:creationId xmlns:a16="http://schemas.microsoft.com/office/drawing/2014/main" id="{444E5114-38A6-BBEE-75BE-FF718110E32E}"/>
                </a:ext>
              </a:extLst>
            </p:cNvPr>
            <p:cNvSpPr>
              <a:spLocks noChangeShapeType="1"/>
            </p:cNvSpPr>
            <p:nvPr/>
          </p:nvSpPr>
          <p:spPr bwMode="auto">
            <a:xfrm flipV="1">
              <a:off x="2135" y="3961"/>
              <a:ext cx="1" cy="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9" name="Line 133">
              <a:extLst>
                <a:ext uri="{FF2B5EF4-FFF2-40B4-BE49-F238E27FC236}">
                  <a16:creationId xmlns:a16="http://schemas.microsoft.com/office/drawing/2014/main" id="{BE4EED7A-70D2-560C-A228-ADB9546343E6}"/>
                </a:ext>
              </a:extLst>
            </p:cNvPr>
            <p:cNvSpPr>
              <a:spLocks noChangeShapeType="1"/>
            </p:cNvSpPr>
            <p:nvPr/>
          </p:nvSpPr>
          <p:spPr bwMode="auto">
            <a:xfrm flipV="1">
              <a:off x="2135" y="3880"/>
              <a:ext cx="1" cy="4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0" name="Line 134">
              <a:extLst>
                <a:ext uri="{FF2B5EF4-FFF2-40B4-BE49-F238E27FC236}">
                  <a16:creationId xmlns:a16="http://schemas.microsoft.com/office/drawing/2014/main" id="{4624601F-2F8A-BC1B-A1F7-4974506367AD}"/>
                </a:ext>
              </a:extLst>
            </p:cNvPr>
            <p:cNvSpPr>
              <a:spLocks noChangeShapeType="1"/>
            </p:cNvSpPr>
            <p:nvPr/>
          </p:nvSpPr>
          <p:spPr bwMode="auto">
            <a:xfrm flipV="1">
              <a:off x="2135" y="3799"/>
              <a:ext cx="1" cy="4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1" name="Line 135">
              <a:extLst>
                <a:ext uri="{FF2B5EF4-FFF2-40B4-BE49-F238E27FC236}">
                  <a16:creationId xmlns:a16="http://schemas.microsoft.com/office/drawing/2014/main" id="{C5101924-9B73-EEBF-D1E5-FFC28E27883D}"/>
                </a:ext>
              </a:extLst>
            </p:cNvPr>
            <p:cNvSpPr>
              <a:spLocks noChangeShapeType="1"/>
            </p:cNvSpPr>
            <p:nvPr/>
          </p:nvSpPr>
          <p:spPr bwMode="auto">
            <a:xfrm flipV="1">
              <a:off x="2135" y="3718"/>
              <a:ext cx="1" cy="4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22" name="Line 136">
              <a:extLst>
                <a:ext uri="{FF2B5EF4-FFF2-40B4-BE49-F238E27FC236}">
                  <a16:creationId xmlns:a16="http://schemas.microsoft.com/office/drawing/2014/main" id="{8AFEDEF3-BFD3-FFC0-4B34-7E7DE2BB7DE6}"/>
                </a:ext>
              </a:extLst>
            </p:cNvPr>
            <p:cNvSpPr>
              <a:spLocks noChangeShapeType="1"/>
            </p:cNvSpPr>
            <p:nvPr/>
          </p:nvSpPr>
          <p:spPr bwMode="auto">
            <a:xfrm flipV="1">
              <a:off x="2135" y="3637"/>
              <a:ext cx="1" cy="4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26761" name="Group 137">
            <a:extLst>
              <a:ext uri="{FF2B5EF4-FFF2-40B4-BE49-F238E27FC236}">
                <a16:creationId xmlns:a16="http://schemas.microsoft.com/office/drawing/2014/main" id="{38459A62-914C-C1FA-3C7E-8F5CE9EB9B2D}"/>
              </a:ext>
            </a:extLst>
          </p:cNvPr>
          <p:cNvGrpSpPr>
            <a:grpSpLocks/>
          </p:cNvGrpSpPr>
          <p:nvPr/>
        </p:nvGrpSpPr>
        <p:grpSpPr bwMode="auto">
          <a:xfrm>
            <a:off x="1995488" y="1627188"/>
            <a:ext cx="8167687" cy="4079875"/>
            <a:chOff x="297" y="1025"/>
            <a:chExt cx="5145" cy="2570"/>
          </a:xfrm>
        </p:grpSpPr>
        <p:sp>
          <p:nvSpPr>
            <p:cNvPr id="27700" name="Rectangle 138">
              <a:extLst>
                <a:ext uri="{FF2B5EF4-FFF2-40B4-BE49-F238E27FC236}">
                  <a16:creationId xmlns:a16="http://schemas.microsoft.com/office/drawing/2014/main" id="{478E18AD-B979-59F7-85CB-29AB47D92C17}"/>
                </a:ext>
              </a:extLst>
            </p:cNvPr>
            <p:cNvSpPr>
              <a:spLocks noChangeArrowheads="1"/>
            </p:cNvSpPr>
            <p:nvPr/>
          </p:nvSpPr>
          <p:spPr bwMode="auto">
            <a:xfrm>
              <a:off x="297" y="1025"/>
              <a:ext cx="10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Units of Output</a:t>
              </a:r>
              <a:endParaRPr lang="en-US" altLang="en-US" sz="1800">
                <a:latin typeface="Arial" panose="020B0604020202020204" pitchFamily="34" charset="0"/>
              </a:endParaRPr>
            </a:p>
          </p:txBody>
        </p:sp>
        <p:sp>
          <p:nvSpPr>
            <p:cNvPr id="27701" name="Rectangle 139">
              <a:extLst>
                <a:ext uri="{FF2B5EF4-FFF2-40B4-BE49-F238E27FC236}">
                  <a16:creationId xmlns:a16="http://schemas.microsoft.com/office/drawing/2014/main" id="{98E0268F-A3F0-662C-979A-7B904E064EC4}"/>
                </a:ext>
              </a:extLst>
            </p:cNvPr>
            <p:cNvSpPr>
              <a:spLocks noChangeArrowheads="1"/>
            </p:cNvSpPr>
            <p:nvPr/>
          </p:nvSpPr>
          <p:spPr bwMode="auto">
            <a:xfrm>
              <a:off x="4032" y="3414"/>
              <a:ext cx="13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Number of Workers</a:t>
              </a:r>
              <a:endParaRPr lang="en-US" altLang="en-US" sz="1800">
                <a:latin typeface="Arial" panose="020B0604020202020204" pitchFamily="34" charset="0"/>
              </a:endParaRPr>
            </a:p>
          </p:txBody>
        </p:sp>
        <p:sp>
          <p:nvSpPr>
            <p:cNvPr id="27702" name="Freeform 140">
              <a:extLst>
                <a:ext uri="{FF2B5EF4-FFF2-40B4-BE49-F238E27FC236}">
                  <a16:creationId xmlns:a16="http://schemas.microsoft.com/office/drawing/2014/main" id="{B359ACDD-2A18-3D50-4290-2305A5270671}"/>
                </a:ext>
              </a:extLst>
            </p:cNvPr>
            <p:cNvSpPr>
              <a:spLocks/>
            </p:cNvSpPr>
            <p:nvPr/>
          </p:nvSpPr>
          <p:spPr bwMode="auto">
            <a:xfrm>
              <a:off x="1417" y="1025"/>
              <a:ext cx="4025" cy="2299"/>
            </a:xfrm>
            <a:custGeom>
              <a:avLst/>
              <a:gdLst>
                <a:gd name="T0" fmla="*/ 0 w 4025"/>
                <a:gd name="T1" fmla="*/ 0 h 2037"/>
                <a:gd name="T2" fmla="*/ 0 w 4025"/>
                <a:gd name="T3" fmla="*/ 12514 h 2037"/>
                <a:gd name="T4" fmla="*/ 4025 w 4025"/>
                <a:gd name="T5" fmla="*/ 12514 h 2037"/>
                <a:gd name="T6" fmla="*/ 0 60000 65536"/>
                <a:gd name="T7" fmla="*/ 0 60000 65536"/>
                <a:gd name="T8" fmla="*/ 0 60000 65536"/>
              </a:gdLst>
              <a:ahLst/>
              <a:cxnLst>
                <a:cxn ang="T6">
                  <a:pos x="T0" y="T1"/>
                </a:cxn>
                <a:cxn ang="T7">
                  <a:pos x="T2" y="T3"/>
                </a:cxn>
                <a:cxn ang="T8">
                  <a:pos x="T4" y="T5"/>
                </a:cxn>
              </a:cxnLst>
              <a:rect l="0" t="0" r="r" b="b"/>
              <a:pathLst>
                <a:path w="4025" h="2037">
                  <a:moveTo>
                    <a:pt x="0" y="0"/>
                  </a:moveTo>
                  <a:lnTo>
                    <a:pt x="0" y="2037"/>
                  </a:lnTo>
                  <a:lnTo>
                    <a:pt x="4025" y="2037"/>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27703" name="Group 141">
              <a:extLst>
                <a:ext uri="{FF2B5EF4-FFF2-40B4-BE49-F238E27FC236}">
                  <a16:creationId xmlns:a16="http://schemas.microsoft.com/office/drawing/2014/main" id="{CCA9C8B7-5D52-1140-4417-6BAFEA710FB6}"/>
                </a:ext>
              </a:extLst>
            </p:cNvPr>
            <p:cNvGrpSpPr>
              <a:grpSpLocks/>
            </p:cNvGrpSpPr>
            <p:nvPr/>
          </p:nvGrpSpPr>
          <p:grpSpPr bwMode="auto">
            <a:xfrm>
              <a:off x="1738" y="3310"/>
              <a:ext cx="1848" cy="285"/>
              <a:chOff x="1738" y="3310"/>
              <a:chExt cx="1848" cy="285"/>
            </a:xfrm>
          </p:grpSpPr>
          <p:sp>
            <p:nvSpPr>
              <p:cNvPr id="27704" name="Line 142">
                <a:extLst>
                  <a:ext uri="{FF2B5EF4-FFF2-40B4-BE49-F238E27FC236}">
                    <a16:creationId xmlns:a16="http://schemas.microsoft.com/office/drawing/2014/main" id="{29C981A2-4216-44A4-2B7D-ACBA74598860}"/>
                  </a:ext>
                </a:extLst>
              </p:cNvPr>
              <p:cNvSpPr>
                <a:spLocks noChangeShapeType="1"/>
              </p:cNvSpPr>
              <p:nvPr/>
            </p:nvSpPr>
            <p:spPr bwMode="auto">
              <a:xfrm>
                <a:off x="3546"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05" name="Rectangle 143">
                <a:extLst>
                  <a:ext uri="{FF2B5EF4-FFF2-40B4-BE49-F238E27FC236}">
                    <a16:creationId xmlns:a16="http://schemas.microsoft.com/office/drawing/2014/main" id="{0EFCA7ED-3BF5-1BAF-F781-134FA0358B87}"/>
                  </a:ext>
                </a:extLst>
              </p:cNvPr>
              <p:cNvSpPr>
                <a:spLocks noChangeArrowheads="1"/>
              </p:cNvSpPr>
              <p:nvPr/>
            </p:nvSpPr>
            <p:spPr bwMode="auto">
              <a:xfrm>
                <a:off x="3506" y="3415"/>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6</a:t>
                </a:r>
                <a:endParaRPr lang="en-US" altLang="en-US" sz="1800">
                  <a:latin typeface="Arial" panose="020B0604020202020204" pitchFamily="34" charset="0"/>
                </a:endParaRPr>
              </a:p>
            </p:txBody>
          </p:sp>
          <p:sp>
            <p:nvSpPr>
              <p:cNvPr id="27706" name="Line 144">
                <a:extLst>
                  <a:ext uri="{FF2B5EF4-FFF2-40B4-BE49-F238E27FC236}">
                    <a16:creationId xmlns:a16="http://schemas.microsoft.com/office/drawing/2014/main" id="{DF61F9EB-B779-02E6-7C65-28438C28D189}"/>
                  </a:ext>
                </a:extLst>
              </p:cNvPr>
              <p:cNvSpPr>
                <a:spLocks noChangeShapeType="1"/>
              </p:cNvSpPr>
              <p:nvPr/>
            </p:nvSpPr>
            <p:spPr bwMode="auto">
              <a:xfrm>
                <a:off x="2135"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07" name="Rectangle 145">
                <a:extLst>
                  <a:ext uri="{FF2B5EF4-FFF2-40B4-BE49-F238E27FC236}">
                    <a16:creationId xmlns:a16="http://schemas.microsoft.com/office/drawing/2014/main" id="{F02BFC46-3034-70D1-F3CC-B8725EB6DAF7}"/>
                  </a:ext>
                </a:extLst>
              </p:cNvPr>
              <p:cNvSpPr>
                <a:spLocks noChangeArrowheads="1"/>
              </p:cNvSpPr>
              <p:nvPr/>
            </p:nvSpPr>
            <p:spPr bwMode="auto">
              <a:xfrm>
                <a:off x="2096" y="34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a:t>
                </a:r>
                <a:endParaRPr lang="en-US" altLang="en-US" sz="1800">
                  <a:latin typeface="Arial" panose="020B0604020202020204" pitchFamily="34" charset="0"/>
                </a:endParaRPr>
              </a:p>
            </p:txBody>
          </p:sp>
          <p:sp>
            <p:nvSpPr>
              <p:cNvPr id="27708" name="Line 146">
                <a:extLst>
                  <a:ext uri="{FF2B5EF4-FFF2-40B4-BE49-F238E27FC236}">
                    <a16:creationId xmlns:a16="http://schemas.microsoft.com/office/drawing/2014/main" id="{B251316B-B218-2978-731F-8EF180B54656}"/>
                  </a:ext>
                </a:extLst>
              </p:cNvPr>
              <p:cNvSpPr>
                <a:spLocks noChangeShapeType="1"/>
              </p:cNvSpPr>
              <p:nvPr/>
            </p:nvSpPr>
            <p:spPr bwMode="auto">
              <a:xfrm>
                <a:off x="2491"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09" name="Rectangle 147">
                <a:extLst>
                  <a:ext uri="{FF2B5EF4-FFF2-40B4-BE49-F238E27FC236}">
                    <a16:creationId xmlns:a16="http://schemas.microsoft.com/office/drawing/2014/main" id="{E5B546DB-4A1E-E9B9-CFA1-73A2C66C491B}"/>
                  </a:ext>
                </a:extLst>
              </p:cNvPr>
              <p:cNvSpPr>
                <a:spLocks noChangeArrowheads="1"/>
              </p:cNvSpPr>
              <p:nvPr/>
            </p:nvSpPr>
            <p:spPr bwMode="auto">
              <a:xfrm>
                <a:off x="2450" y="3422"/>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a:t>
                </a:r>
                <a:endParaRPr lang="en-US" altLang="en-US" sz="1800">
                  <a:latin typeface="Arial" panose="020B0604020202020204" pitchFamily="34" charset="0"/>
                </a:endParaRPr>
              </a:p>
            </p:txBody>
          </p:sp>
          <p:sp>
            <p:nvSpPr>
              <p:cNvPr id="27710" name="Line 148">
                <a:extLst>
                  <a:ext uri="{FF2B5EF4-FFF2-40B4-BE49-F238E27FC236}">
                    <a16:creationId xmlns:a16="http://schemas.microsoft.com/office/drawing/2014/main" id="{F424307A-855F-E572-D907-0A9662A6FD8A}"/>
                  </a:ext>
                </a:extLst>
              </p:cNvPr>
              <p:cNvSpPr>
                <a:spLocks noChangeShapeType="1"/>
              </p:cNvSpPr>
              <p:nvPr/>
            </p:nvSpPr>
            <p:spPr bwMode="auto">
              <a:xfrm>
                <a:off x="2848"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1" name="Rectangle 149">
                <a:extLst>
                  <a:ext uri="{FF2B5EF4-FFF2-40B4-BE49-F238E27FC236}">
                    <a16:creationId xmlns:a16="http://schemas.microsoft.com/office/drawing/2014/main" id="{F0E44656-BB19-F4BF-18E0-823D242DC149}"/>
                  </a:ext>
                </a:extLst>
              </p:cNvPr>
              <p:cNvSpPr>
                <a:spLocks noChangeArrowheads="1"/>
              </p:cNvSpPr>
              <p:nvPr/>
            </p:nvSpPr>
            <p:spPr bwMode="auto">
              <a:xfrm>
                <a:off x="2807" y="34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4</a:t>
                </a:r>
                <a:endParaRPr lang="en-US" altLang="en-US" sz="1800">
                  <a:latin typeface="Arial" panose="020B0604020202020204" pitchFamily="34" charset="0"/>
                </a:endParaRPr>
              </a:p>
            </p:txBody>
          </p:sp>
          <p:sp>
            <p:nvSpPr>
              <p:cNvPr id="27712" name="Line 150">
                <a:extLst>
                  <a:ext uri="{FF2B5EF4-FFF2-40B4-BE49-F238E27FC236}">
                    <a16:creationId xmlns:a16="http://schemas.microsoft.com/office/drawing/2014/main" id="{1017A188-704C-148B-B21F-4A96D548678C}"/>
                  </a:ext>
                </a:extLst>
              </p:cNvPr>
              <p:cNvSpPr>
                <a:spLocks noChangeShapeType="1"/>
              </p:cNvSpPr>
              <p:nvPr/>
            </p:nvSpPr>
            <p:spPr bwMode="auto">
              <a:xfrm>
                <a:off x="3199"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3" name="Rectangle 151">
                <a:extLst>
                  <a:ext uri="{FF2B5EF4-FFF2-40B4-BE49-F238E27FC236}">
                    <a16:creationId xmlns:a16="http://schemas.microsoft.com/office/drawing/2014/main" id="{E1157BDC-20A9-6D6C-F077-EEDCBC95C171}"/>
                  </a:ext>
                </a:extLst>
              </p:cNvPr>
              <p:cNvSpPr>
                <a:spLocks noChangeArrowheads="1"/>
              </p:cNvSpPr>
              <p:nvPr/>
            </p:nvSpPr>
            <p:spPr bwMode="auto">
              <a:xfrm>
                <a:off x="3157" y="3422"/>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5</a:t>
                </a:r>
                <a:endParaRPr lang="en-US" altLang="en-US" sz="1800">
                  <a:latin typeface="Arial" panose="020B0604020202020204" pitchFamily="34" charset="0"/>
                </a:endParaRPr>
              </a:p>
            </p:txBody>
          </p:sp>
          <p:sp>
            <p:nvSpPr>
              <p:cNvPr id="27714" name="Line 152">
                <a:extLst>
                  <a:ext uri="{FF2B5EF4-FFF2-40B4-BE49-F238E27FC236}">
                    <a16:creationId xmlns:a16="http://schemas.microsoft.com/office/drawing/2014/main" id="{C123AA4B-2314-7FE1-B248-6D152BD65B0F}"/>
                  </a:ext>
                </a:extLst>
              </p:cNvPr>
              <p:cNvSpPr>
                <a:spLocks noChangeShapeType="1"/>
              </p:cNvSpPr>
              <p:nvPr/>
            </p:nvSpPr>
            <p:spPr bwMode="auto">
              <a:xfrm>
                <a:off x="3546" y="3310"/>
                <a:ext cx="1" cy="1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5" name="Line 153">
                <a:extLst>
                  <a:ext uri="{FF2B5EF4-FFF2-40B4-BE49-F238E27FC236}">
                    <a16:creationId xmlns:a16="http://schemas.microsoft.com/office/drawing/2014/main" id="{AD48B74D-1F23-5CA4-0E9E-A2381BE99BB8}"/>
                  </a:ext>
                </a:extLst>
              </p:cNvPr>
              <p:cNvSpPr>
                <a:spLocks noChangeShapeType="1"/>
              </p:cNvSpPr>
              <p:nvPr/>
            </p:nvSpPr>
            <p:spPr bwMode="auto">
              <a:xfrm>
                <a:off x="1778" y="3327"/>
                <a:ext cx="1" cy="8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27716" name="Rectangle 154">
                <a:extLst>
                  <a:ext uri="{FF2B5EF4-FFF2-40B4-BE49-F238E27FC236}">
                    <a16:creationId xmlns:a16="http://schemas.microsoft.com/office/drawing/2014/main" id="{17BFC2BF-3E19-8D2D-217C-2501F059D5E4}"/>
                  </a:ext>
                </a:extLst>
              </p:cNvPr>
              <p:cNvSpPr>
                <a:spLocks noChangeArrowheads="1"/>
              </p:cNvSpPr>
              <p:nvPr/>
            </p:nvSpPr>
            <p:spPr bwMode="auto">
              <a:xfrm>
                <a:off x="1738" y="3415"/>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a:t>
                </a:r>
                <a:endParaRPr lang="en-US" altLang="en-US" sz="1800">
                  <a:latin typeface="Arial" panose="020B0604020202020204" pitchFamily="34" charset="0"/>
                </a:endParaRPr>
              </a:p>
            </p:txBody>
          </p:sp>
        </p:grpSp>
      </p:grpSp>
      <p:sp>
        <p:nvSpPr>
          <p:cNvPr id="26779" name="Line 155">
            <a:extLst>
              <a:ext uri="{FF2B5EF4-FFF2-40B4-BE49-F238E27FC236}">
                <a16:creationId xmlns:a16="http://schemas.microsoft.com/office/drawing/2014/main" id="{F514A75A-232D-EF27-6A05-E57A08DEAB0C}"/>
              </a:ext>
            </a:extLst>
          </p:cNvPr>
          <p:cNvSpPr>
            <a:spLocks noChangeShapeType="1"/>
          </p:cNvSpPr>
          <p:nvPr/>
        </p:nvSpPr>
        <p:spPr bwMode="auto">
          <a:xfrm>
            <a:off x="7151688" y="2366963"/>
            <a:ext cx="0" cy="28956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761"/>
                                        </p:tgtEl>
                                        <p:attrNameLst>
                                          <p:attrName>style.visibility</p:attrName>
                                        </p:attrNameLst>
                                      </p:cBhvr>
                                      <p:to>
                                        <p:strVal val="visible"/>
                                      </p:to>
                                    </p:set>
                                    <p:animEffect transition="in" filter="wipe(left)">
                                      <p:cBhvr>
                                        <p:cTn id="7" dur="500"/>
                                        <p:tgtEl>
                                          <p:spTgt spid="267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688"/>
                                        </p:tgtEl>
                                        <p:attrNameLst>
                                          <p:attrName>style.visibility</p:attrName>
                                        </p:attrNameLst>
                                      </p:cBhvr>
                                      <p:to>
                                        <p:strVal val="visible"/>
                                      </p:to>
                                    </p:set>
                                    <p:animEffect transition="in" filter="wipe(down)">
                                      <p:cBhvr>
                                        <p:cTn id="12" dur="500"/>
                                        <p:tgtEl>
                                          <p:spTgt spid="26688"/>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0"/>
                                          </p:stCondLst>
                                        </p:cTn>
                                        <p:tgtEl>
                                          <p:spTgt spid="26693"/>
                                        </p:tgtEl>
                                        <p:attrNameLst>
                                          <p:attrName>style.visibility</p:attrName>
                                        </p:attrNameLst>
                                      </p:cBhvr>
                                      <p:to>
                                        <p:strVal val="visible"/>
                                      </p:to>
                                    </p:set>
                                  </p:childTnLst>
                                </p:cTn>
                              </p:par>
                            </p:childTnLst>
                          </p:cTn>
                        </p:par>
                        <p:par>
                          <p:cTn id="16" fill="hold" nodeType="afterGroup">
                            <p:stCondLst>
                              <p:cond delay="500"/>
                            </p:stCondLst>
                            <p:childTnLst>
                              <p:par>
                                <p:cTn id="17" presetID="22" presetClass="entr" presetSubtype="2" fill="hold" nodeType="afterEffect">
                                  <p:stCondLst>
                                    <p:cond delay="0"/>
                                  </p:stCondLst>
                                  <p:childTnLst>
                                    <p:set>
                                      <p:cBhvr>
                                        <p:cTn id="18" dur="1" fill="hold">
                                          <p:stCondLst>
                                            <p:cond delay="0"/>
                                          </p:stCondLst>
                                        </p:cTn>
                                        <p:tgtEl>
                                          <p:spTgt spid="26664"/>
                                        </p:tgtEl>
                                        <p:attrNameLst>
                                          <p:attrName>style.visibility</p:attrName>
                                        </p:attrNameLst>
                                      </p:cBhvr>
                                      <p:to>
                                        <p:strVal val="visible"/>
                                      </p:to>
                                    </p:set>
                                    <p:animEffect transition="in" filter="wipe(right)">
                                      <p:cBhvr>
                                        <p:cTn id="19" dur="500"/>
                                        <p:tgtEl>
                                          <p:spTgt spid="26664"/>
                                        </p:tgtEl>
                                      </p:cBhvr>
                                    </p:animEffect>
                                  </p:childTnLst>
                                </p:cTn>
                              </p:par>
                            </p:childTnLst>
                          </p:cTn>
                        </p:par>
                        <p:par>
                          <p:cTn id="20" fill="hold" nodeType="afterGroup">
                            <p:stCondLst>
                              <p:cond delay="1000"/>
                            </p:stCondLst>
                            <p:childTnLst>
                              <p:par>
                                <p:cTn id="21" presetID="22" presetClass="entr" presetSubtype="2" fill="hold" nodeType="afterEffect">
                                  <p:stCondLst>
                                    <p:cond delay="0"/>
                                  </p:stCondLst>
                                  <p:childTnLst>
                                    <p:set>
                                      <p:cBhvr>
                                        <p:cTn id="22" dur="1" fill="hold">
                                          <p:stCondLst>
                                            <p:cond delay="0"/>
                                          </p:stCondLst>
                                        </p:cTn>
                                        <p:tgtEl>
                                          <p:spTgt spid="26652"/>
                                        </p:tgtEl>
                                        <p:attrNameLst>
                                          <p:attrName>style.visibility</p:attrName>
                                        </p:attrNameLst>
                                      </p:cBhvr>
                                      <p:to>
                                        <p:strVal val="visible"/>
                                      </p:to>
                                    </p:set>
                                    <p:animEffect transition="in" filter="wipe(right)">
                                      <p:cBhvr>
                                        <p:cTn id="23" dur="500"/>
                                        <p:tgtEl>
                                          <p:spTgt spid="26652"/>
                                        </p:tgtEl>
                                      </p:cBhvr>
                                    </p:animEffect>
                                  </p:childTnLst>
                                </p:cTn>
                              </p:par>
                            </p:childTnLst>
                          </p:cTn>
                        </p:par>
                        <p:par>
                          <p:cTn id="24" fill="hold" nodeType="afterGroup">
                            <p:stCondLst>
                              <p:cond delay="1500"/>
                            </p:stCondLst>
                            <p:childTnLst>
                              <p:par>
                                <p:cTn id="25" presetID="1" presetClass="entr" presetSubtype="0" fill="hold" nodeType="afterEffect">
                                  <p:stCondLst>
                                    <p:cond delay="0"/>
                                  </p:stCondLst>
                                  <p:childTnLst>
                                    <p:set>
                                      <p:cBhvr>
                                        <p:cTn id="26" dur="1" fill="hold">
                                          <p:stCondLst>
                                            <p:cond delay="0"/>
                                          </p:stCondLst>
                                        </p:cTn>
                                        <p:tgtEl>
                                          <p:spTgt spid="26653"/>
                                        </p:tgtEl>
                                        <p:attrNameLst>
                                          <p:attrName>style.visibility</p:attrName>
                                        </p:attrNameLst>
                                      </p:cBhvr>
                                      <p:to>
                                        <p:strVal val="visible"/>
                                      </p:to>
                                    </p:set>
                                  </p:childTnLst>
                                </p:cTn>
                              </p:par>
                            </p:childTnLst>
                          </p:cTn>
                        </p:par>
                        <p:par>
                          <p:cTn id="27" fill="hold" nodeType="afterGroup">
                            <p:stCondLst>
                              <p:cond delay="1500"/>
                            </p:stCondLst>
                            <p:childTnLst>
                              <p:par>
                                <p:cTn id="28" presetID="22" presetClass="entr" presetSubtype="8" fill="hold" nodeType="afterEffect">
                                  <p:stCondLst>
                                    <p:cond delay="0"/>
                                  </p:stCondLst>
                                  <p:childTnLst>
                                    <p:set>
                                      <p:cBhvr>
                                        <p:cTn id="29" dur="1" fill="hold">
                                          <p:stCondLst>
                                            <p:cond delay="0"/>
                                          </p:stCondLst>
                                        </p:cTn>
                                        <p:tgtEl>
                                          <p:spTgt spid="26753"/>
                                        </p:tgtEl>
                                        <p:attrNameLst>
                                          <p:attrName>style.visibility</p:attrName>
                                        </p:attrNameLst>
                                      </p:cBhvr>
                                      <p:to>
                                        <p:strVal val="visible"/>
                                      </p:to>
                                    </p:set>
                                    <p:animEffect transition="in" filter="wipe(left)">
                                      <p:cBhvr>
                                        <p:cTn id="30" dur="500"/>
                                        <p:tgtEl>
                                          <p:spTgt spid="26753"/>
                                        </p:tgtEl>
                                      </p:cBhvr>
                                    </p:animEffect>
                                  </p:childTnLst>
                                </p:cTn>
                              </p:par>
                            </p:childTnLst>
                          </p:cTn>
                        </p:par>
                        <p:par>
                          <p:cTn id="31" fill="hold" nodeType="afterGroup">
                            <p:stCondLst>
                              <p:cond delay="2000"/>
                            </p:stCondLst>
                            <p:childTnLst>
                              <p:par>
                                <p:cTn id="32" presetID="22" presetClass="entr" presetSubtype="8" fill="hold" nodeType="afterEffect">
                                  <p:stCondLst>
                                    <p:cond delay="0"/>
                                  </p:stCondLst>
                                  <p:childTnLst>
                                    <p:set>
                                      <p:cBhvr>
                                        <p:cTn id="33" dur="1" fill="hold">
                                          <p:stCondLst>
                                            <p:cond delay="0"/>
                                          </p:stCondLst>
                                        </p:cTn>
                                        <p:tgtEl>
                                          <p:spTgt spid="26747"/>
                                        </p:tgtEl>
                                        <p:attrNameLst>
                                          <p:attrName>style.visibility</p:attrName>
                                        </p:attrNameLst>
                                      </p:cBhvr>
                                      <p:to>
                                        <p:strVal val="visible"/>
                                      </p:to>
                                    </p:set>
                                    <p:animEffect transition="in" filter="wipe(left)">
                                      <p:cBhvr>
                                        <p:cTn id="34" dur="500"/>
                                        <p:tgtEl>
                                          <p:spTgt spid="2674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26679"/>
                                        </p:tgtEl>
                                        <p:attrNameLst>
                                          <p:attrName>style.visibility</p:attrName>
                                        </p:attrNameLst>
                                      </p:cBhvr>
                                      <p:to>
                                        <p:strVal val="visible"/>
                                      </p:to>
                                    </p:set>
                                    <p:animEffect transition="in" filter="wipe(down)">
                                      <p:cBhvr>
                                        <p:cTn id="39" dur="500"/>
                                        <p:tgtEl>
                                          <p:spTgt spid="26679"/>
                                        </p:tgtEl>
                                      </p:cBhvr>
                                    </p:animEffect>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0"/>
                                          </p:stCondLst>
                                        </p:cTn>
                                        <p:tgtEl>
                                          <p:spTgt spid="26698"/>
                                        </p:tgtEl>
                                        <p:attrNameLst>
                                          <p:attrName>style.visibility</p:attrName>
                                        </p:attrNameLst>
                                      </p:cBhvr>
                                      <p:to>
                                        <p:strVal val="visible"/>
                                      </p:to>
                                    </p:set>
                                  </p:childTnLst>
                                </p:cTn>
                              </p:par>
                            </p:childTnLst>
                          </p:cTn>
                        </p:par>
                        <p:par>
                          <p:cTn id="43" fill="hold" nodeType="afterGroup">
                            <p:stCondLst>
                              <p:cond delay="500"/>
                            </p:stCondLst>
                            <p:childTnLst>
                              <p:par>
                                <p:cTn id="44" presetID="22" presetClass="entr" presetSubtype="2" fill="hold" nodeType="afterEffect">
                                  <p:stCondLst>
                                    <p:cond delay="0"/>
                                  </p:stCondLst>
                                  <p:childTnLst>
                                    <p:set>
                                      <p:cBhvr>
                                        <p:cTn id="45" dur="1" fill="hold">
                                          <p:stCondLst>
                                            <p:cond delay="0"/>
                                          </p:stCondLst>
                                        </p:cTn>
                                        <p:tgtEl>
                                          <p:spTgt spid="26669"/>
                                        </p:tgtEl>
                                        <p:attrNameLst>
                                          <p:attrName>style.visibility</p:attrName>
                                        </p:attrNameLst>
                                      </p:cBhvr>
                                      <p:to>
                                        <p:strVal val="visible"/>
                                      </p:to>
                                    </p:set>
                                    <p:animEffect transition="in" filter="wipe(right)">
                                      <p:cBhvr>
                                        <p:cTn id="46" dur="500"/>
                                        <p:tgtEl>
                                          <p:spTgt spid="26669"/>
                                        </p:tgtEl>
                                      </p:cBhvr>
                                    </p:animEffect>
                                  </p:childTnLst>
                                </p:cTn>
                              </p:par>
                            </p:childTnLst>
                          </p:cTn>
                        </p:par>
                        <p:par>
                          <p:cTn id="47" fill="hold" nodeType="afterGroup">
                            <p:stCondLst>
                              <p:cond delay="1000"/>
                            </p:stCondLst>
                            <p:childTnLst>
                              <p:par>
                                <p:cTn id="48" presetID="22" presetClass="entr" presetSubtype="2" fill="hold" nodeType="afterEffect">
                                  <p:stCondLst>
                                    <p:cond delay="0"/>
                                  </p:stCondLst>
                                  <p:childTnLst>
                                    <p:set>
                                      <p:cBhvr>
                                        <p:cTn id="49" dur="1" fill="hold">
                                          <p:stCondLst>
                                            <p:cond delay="0"/>
                                          </p:stCondLst>
                                        </p:cTn>
                                        <p:tgtEl>
                                          <p:spTgt spid="26654"/>
                                        </p:tgtEl>
                                        <p:attrNameLst>
                                          <p:attrName>style.visibility</p:attrName>
                                        </p:attrNameLst>
                                      </p:cBhvr>
                                      <p:to>
                                        <p:strVal val="visible"/>
                                      </p:to>
                                    </p:set>
                                    <p:animEffect transition="in" filter="wipe(right)">
                                      <p:cBhvr>
                                        <p:cTn id="50" dur="500"/>
                                        <p:tgtEl>
                                          <p:spTgt spid="26654"/>
                                        </p:tgtEl>
                                      </p:cBhvr>
                                    </p:animEffect>
                                  </p:childTnLst>
                                </p:cTn>
                              </p:par>
                            </p:childTnLst>
                          </p:cTn>
                        </p:par>
                        <p:par>
                          <p:cTn id="51" fill="hold" nodeType="afterGroup">
                            <p:stCondLst>
                              <p:cond delay="1500"/>
                            </p:stCondLst>
                            <p:childTnLst>
                              <p:par>
                                <p:cTn id="52" presetID="1" presetClass="entr" presetSubtype="0" fill="hold" nodeType="afterEffect">
                                  <p:stCondLst>
                                    <p:cond delay="0"/>
                                  </p:stCondLst>
                                  <p:childTnLst>
                                    <p:set>
                                      <p:cBhvr>
                                        <p:cTn id="53" dur="1" fill="hold">
                                          <p:stCondLst>
                                            <p:cond delay="0"/>
                                          </p:stCondLst>
                                        </p:cTn>
                                        <p:tgtEl>
                                          <p:spTgt spid="26655"/>
                                        </p:tgtEl>
                                        <p:attrNameLst>
                                          <p:attrName>style.visibility</p:attrName>
                                        </p:attrNameLst>
                                      </p:cBhvr>
                                      <p:to>
                                        <p:strVal val="visible"/>
                                      </p:to>
                                    </p:set>
                                  </p:childTnLst>
                                </p:cTn>
                              </p:par>
                            </p:childTnLst>
                          </p:cTn>
                        </p:par>
                        <p:par>
                          <p:cTn id="54" fill="hold" nodeType="afterGroup">
                            <p:stCondLst>
                              <p:cond delay="1500"/>
                            </p:stCondLst>
                            <p:childTnLst>
                              <p:par>
                                <p:cTn id="55" presetID="22" presetClass="entr" presetSubtype="8" fill="hold" nodeType="afterEffect">
                                  <p:stCondLst>
                                    <p:cond delay="0"/>
                                  </p:stCondLst>
                                  <p:childTnLst>
                                    <p:set>
                                      <p:cBhvr>
                                        <p:cTn id="56" dur="1" fill="hold">
                                          <p:stCondLst>
                                            <p:cond delay="0"/>
                                          </p:stCondLst>
                                        </p:cTn>
                                        <p:tgtEl>
                                          <p:spTgt spid="26752"/>
                                        </p:tgtEl>
                                        <p:attrNameLst>
                                          <p:attrName>style.visibility</p:attrName>
                                        </p:attrNameLst>
                                      </p:cBhvr>
                                      <p:to>
                                        <p:strVal val="visible"/>
                                      </p:to>
                                    </p:set>
                                    <p:animEffect transition="in" filter="wipe(left)">
                                      <p:cBhvr>
                                        <p:cTn id="57" dur="500"/>
                                        <p:tgtEl>
                                          <p:spTgt spid="26752"/>
                                        </p:tgtEl>
                                      </p:cBhvr>
                                    </p:animEffect>
                                  </p:childTnLst>
                                </p:cTn>
                              </p:par>
                            </p:childTnLst>
                          </p:cTn>
                        </p:par>
                        <p:par>
                          <p:cTn id="58" fill="hold" nodeType="afterGroup">
                            <p:stCondLst>
                              <p:cond delay="2000"/>
                            </p:stCondLst>
                            <p:childTnLst>
                              <p:par>
                                <p:cTn id="59" presetID="22" presetClass="entr" presetSubtype="8" fill="hold" nodeType="afterEffect">
                                  <p:stCondLst>
                                    <p:cond delay="0"/>
                                  </p:stCondLst>
                                  <p:childTnLst>
                                    <p:set>
                                      <p:cBhvr>
                                        <p:cTn id="60" dur="1" fill="hold">
                                          <p:stCondLst>
                                            <p:cond delay="0"/>
                                          </p:stCondLst>
                                        </p:cTn>
                                        <p:tgtEl>
                                          <p:spTgt spid="26705"/>
                                        </p:tgtEl>
                                        <p:attrNameLst>
                                          <p:attrName>style.visibility</p:attrName>
                                        </p:attrNameLst>
                                      </p:cBhvr>
                                      <p:to>
                                        <p:strVal val="visible"/>
                                      </p:to>
                                    </p:set>
                                    <p:animEffect transition="in" filter="wipe(left)">
                                      <p:cBhvr>
                                        <p:cTn id="61" dur="500"/>
                                        <p:tgtEl>
                                          <p:spTgt spid="2670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26676"/>
                                        </p:tgtEl>
                                        <p:attrNameLst>
                                          <p:attrName>style.visibility</p:attrName>
                                        </p:attrNameLst>
                                      </p:cBhvr>
                                      <p:to>
                                        <p:strVal val="visible"/>
                                      </p:to>
                                    </p:set>
                                    <p:animEffect transition="in" filter="wipe(down)">
                                      <p:cBhvr>
                                        <p:cTn id="66" dur="500"/>
                                        <p:tgtEl>
                                          <p:spTgt spid="26676"/>
                                        </p:tgtEl>
                                      </p:cBhvr>
                                    </p:animEffect>
                                  </p:childTnLst>
                                </p:cTn>
                              </p:par>
                            </p:childTnLst>
                          </p:cTn>
                        </p:par>
                        <p:par>
                          <p:cTn id="67" fill="hold" nodeType="afterGroup">
                            <p:stCondLst>
                              <p:cond delay="500"/>
                            </p:stCondLst>
                            <p:childTnLst>
                              <p:par>
                                <p:cTn id="68" presetID="1" presetClass="entr" presetSubtype="0" fill="hold" nodeType="afterEffect">
                                  <p:stCondLst>
                                    <p:cond delay="0"/>
                                  </p:stCondLst>
                                  <p:childTnLst>
                                    <p:set>
                                      <p:cBhvr>
                                        <p:cTn id="69" dur="1" fill="hold">
                                          <p:stCondLst>
                                            <p:cond delay="0"/>
                                          </p:stCondLst>
                                        </p:cTn>
                                        <p:tgtEl>
                                          <p:spTgt spid="26694"/>
                                        </p:tgtEl>
                                        <p:attrNameLst>
                                          <p:attrName>style.visibility</p:attrName>
                                        </p:attrNameLst>
                                      </p:cBhvr>
                                      <p:to>
                                        <p:strVal val="visible"/>
                                      </p:to>
                                    </p:set>
                                  </p:childTnLst>
                                </p:cTn>
                              </p:par>
                            </p:childTnLst>
                          </p:cTn>
                        </p:par>
                        <p:par>
                          <p:cTn id="70" fill="hold" nodeType="afterGroup">
                            <p:stCondLst>
                              <p:cond delay="500"/>
                            </p:stCondLst>
                            <p:childTnLst>
                              <p:par>
                                <p:cTn id="71" presetID="22" presetClass="entr" presetSubtype="2" fill="hold" nodeType="afterEffect">
                                  <p:stCondLst>
                                    <p:cond delay="0"/>
                                  </p:stCondLst>
                                  <p:childTnLst>
                                    <p:set>
                                      <p:cBhvr>
                                        <p:cTn id="72" dur="1" fill="hold">
                                          <p:stCondLst>
                                            <p:cond delay="0"/>
                                          </p:stCondLst>
                                        </p:cTn>
                                        <p:tgtEl>
                                          <p:spTgt spid="26706"/>
                                        </p:tgtEl>
                                        <p:attrNameLst>
                                          <p:attrName>style.visibility</p:attrName>
                                        </p:attrNameLst>
                                      </p:cBhvr>
                                      <p:to>
                                        <p:strVal val="visible"/>
                                      </p:to>
                                    </p:set>
                                    <p:animEffect transition="in" filter="wipe(right)">
                                      <p:cBhvr>
                                        <p:cTn id="73" dur="500"/>
                                        <p:tgtEl>
                                          <p:spTgt spid="26706"/>
                                        </p:tgtEl>
                                      </p:cBhvr>
                                    </p:animEffect>
                                  </p:childTnLst>
                                </p:cTn>
                              </p:par>
                            </p:childTnLst>
                          </p:cTn>
                        </p:par>
                        <p:par>
                          <p:cTn id="74" fill="hold" nodeType="afterGroup">
                            <p:stCondLst>
                              <p:cond delay="1000"/>
                            </p:stCondLst>
                            <p:childTnLst>
                              <p:par>
                                <p:cTn id="75" presetID="22" presetClass="entr" presetSubtype="2" fill="hold" nodeType="afterEffect">
                                  <p:stCondLst>
                                    <p:cond delay="0"/>
                                  </p:stCondLst>
                                  <p:childTnLst>
                                    <p:set>
                                      <p:cBhvr>
                                        <p:cTn id="76" dur="1" fill="hold">
                                          <p:stCondLst>
                                            <p:cond delay="0"/>
                                          </p:stCondLst>
                                        </p:cTn>
                                        <p:tgtEl>
                                          <p:spTgt spid="26656"/>
                                        </p:tgtEl>
                                        <p:attrNameLst>
                                          <p:attrName>style.visibility</p:attrName>
                                        </p:attrNameLst>
                                      </p:cBhvr>
                                      <p:to>
                                        <p:strVal val="visible"/>
                                      </p:to>
                                    </p:set>
                                    <p:animEffect transition="in" filter="wipe(right)">
                                      <p:cBhvr>
                                        <p:cTn id="77" dur="500"/>
                                        <p:tgtEl>
                                          <p:spTgt spid="26656"/>
                                        </p:tgtEl>
                                      </p:cBhvr>
                                    </p:animEffect>
                                  </p:childTnLst>
                                </p:cTn>
                              </p:par>
                            </p:childTnLst>
                          </p:cTn>
                        </p:par>
                        <p:par>
                          <p:cTn id="78" fill="hold" nodeType="afterGroup">
                            <p:stCondLst>
                              <p:cond delay="1500"/>
                            </p:stCondLst>
                            <p:childTnLst>
                              <p:par>
                                <p:cTn id="79" presetID="1" presetClass="entr" presetSubtype="0" fill="hold" nodeType="afterEffect">
                                  <p:stCondLst>
                                    <p:cond delay="0"/>
                                  </p:stCondLst>
                                  <p:childTnLst>
                                    <p:set>
                                      <p:cBhvr>
                                        <p:cTn id="80" dur="1" fill="hold">
                                          <p:stCondLst>
                                            <p:cond delay="0"/>
                                          </p:stCondLst>
                                        </p:cTn>
                                        <p:tgtEl>
                                          <p:spTgt spid="26657"/>
                                        </p:tgtEl>
                                        <p:attrNameLst>
                                          <p:attrName>style.visibility</p:attrName>
                                        </p:attrNameLst>
                                      </p:cBhvr>
                                      <p:to>
                                        <p:strVal val="visible"/>
                                      </p:to>
                                    </p:set>
                                  </p:childTnLst>
                                </p:cTn>
                              </p:par>
                            </p:childTnLst>
                          </p:cTn>
                        </p:par>
                        <p:par>
                          <p:cTn id="81" fill="hold" nodeType="afterGroup">
                            <p:stCondLst>
                              <p:cond delay="1500"/>
                            </p:stCondLst>
                            <p:childTnLst>
                              <p:par>
                                <p:cTn id="82" presetID="22" presetClass="entr" presetSubtype="8" fill="hold" nodeType="afterEffect">
                                  <p:stCondLst>
                                    <p:cond delay="0"/>
                                  </p:stCondLst>
                                  <p:childTnLst>
                                    <p:set>
                                      <p:cBhvr>
                                        <p:cTn id="83" dur="1" fill="hold">
                                          <p:stCondLst>
                                            <p:cond delay="0"/>
                                          </p:stCondLst>
                                        </p:cTn>
                                        <p:tgtEl>
                                          <p:spTgt spid="26751"/>
                                        </p:tgtEl>
                                        <p:attrNameLst>
                                          <p:attrName>style.visibility</p:attrName>
                                        </p:attrNameLst>
                                      </p:cBhvr>
                                      <p:to>
                                        <p:strVal val="visible"/>
                                      </p:to>
                                    </p:set>
                                    <p:animEffect transition="in" filter="wipe(left)">
                                      <p:cBhvr>
                                        <p:cTn id="84" dur="500"/>
                                        <p:tgtEl>
                                          <p:spTgt spid="26751"/>
                                        </p:tgtEl>
                                      </p:cBhvr>
                                    </p:animEffect>
                                  </p:childTnLst>
                                </p:cTn>
                              </p:par>
                            </p:childTnLst>
                          </p:cTn>
                        </p:par>
                        <p:par>
                          <p:cTn id="85" fill="hold" nodeType="afterGroup">
                            <p:stCondLst>
                              <p:cond delay="2000"/>
                            </p:stCondLst>
                            <p:childTnLst>
                              <p:par>
                                <p:cTn id="86" presetID="22" presetClass="entr" presetSubtype="8" fill="hold" nodeType="afterEffect">
                                  <p:stCondLst>
                                    <p:cond delay="0"/>
                                  </p:stCondLst>
                                  <p:childTnLst>
                                    <p:set>
                                      <p:cBhvr>
                                        <p:cTn id="87" dur="1" fill="hold">
                                          <p:stCondLst>
                                            <p:cond delay="0"/>
                                          </p:stCondLst>
                                        </p:cTn>
                                        <p:tgtEl>
                                          <p:spTgt spid="26703"/>
                                        </p:tgtEl>
                                        <p:attrNameLst>
                                          <p:attrName>style.visibility</p:attrName>
                                        </p:attrNameLst>
                                      </p:cBhvr>
                                      <p:to>
                                        <p:strVal val="visible"/>
                                      </p:to>
                                    </p:set>
                                    <p:animEffect transition="in" filter="wipe(left)">
                                      <p:cBhvr>
                                        <p:cTn id="88" dur="500"/>
                                        <p:tgtEl>
                                          <p:spTgt spid="26703"/>
                                        </p:tgtEl>
                                      </p:cBhvr>
                                    </p:animEffect>
                                  </p:childTnLst>
                                </p:cTn>
                              </p:par>
                            </p:childTnLst>
                          </p:cTn>
                        </p:par>
                        <p:par>
                          <p:cTn id="89" fill="hold" nodeType="afterGroup">
                            <p:stCondLst>
                              <p:cond delay="2500"/>
                            </p:stCondLst>
                            <p:childTnLst>
                              <p:par>
                                <p:cTn id="90" presetID="22" presetClass="entr" presetSubtype="4" fill="hold" nodeType="afterEffect">
                                  <p:stCondLst>
                                    <p:cond delay="500"/>
                                  </p:stCondLst>
                                  <p:childTnLst>
                                    <p:set>
                                      <p:cBhvr>
                                        <p:cTn id="91" dur="1" fill="hold">
                                          <p:stCondLst>
                                            <p:cond delay="0"/>
                                          </p:stCondLst>
                                        </p:cTn>
                                        <p:tgtEl>
                                          <p:spTgt spid="26682"/>
                                        </p:tgtEl>
                                        <p:attrNameLst>
                                          <p:attrName>style.visibility</p:attrName>
                                        </p:attrNameLst>
                                      </p:cBhvr>
                                      <p:to>
                                        <p:strVal val="visible"/>
                                      </p:to>
                                    </p:set>
                                    <p:animEffect transition="in" filter="wipe(down)">
                                      <p:cBhvr>
                                        <p:cTn id="92" dur="500"/>
                                        <p:tgtEl>
                                          <p:spTgt spid="26682"/>
                                        </p:tgtEl>
                                      </p:cBhvr>
                                    </p:animEffect>
                                  </p:childTnLst>
                                </p:cTn>
                              </p:par>
                            </p:childTnLst>
                          </p:cTn>
                        </p:par>
                        <p:par>
                          <p:cTn id="93" fill="hold" nodeType="afterGroup">
                            <p:stCondLst>
                              <p:cond delay="3500"/>
                            </p:stCondLst>
                            <p:childTnLst>
                              <p:par>
                                <p:cTn id="94" presetID="1" presetClass="entr" presetSubtype="0" fill="hold" nodeType="afterEffect">
                                  <p:stCondLst>
                                    <p:cond delay="500"/>
                                  </p:stCondLst>
                                  <p:childTnLst>
                                    <p:set>
                                      <p:cBhvr>
                                        <p:cTn id="95" dur="1" fill="hold">
                                          <p:stCondLst>
                                            <p:cond delay="0"/>
                                          </p:stCondLst>
                                        </p:cTn>
                                        <p:tgtEl>
                                          <p:spTgt spid="26697"/>
                                        </p:tgtEl>
                                        <p:attrNameLst>
                                          <p:attrName>style.visibility</p:attrName>
                                        </p:attrNameLst>
                                      </p:cBhvr>
                                      <p:to>
                                        <p:strVal val="visible"/>
                                      </p:to>
                                    </p:set>
                                  </p:childTnLst>
                                </p:cTn>
                              </p:par>
                            </p:childTnLst>
                          </p:cTn>
                        </p:par>
                        <p:par>
                          <p:cTn id="96" fill="hold" nodeType="afterGroup">
                            <p:stCondLst>
                              <p:cond delay="4000"/>
                            </p:stCondLst>
                            <p:childTnLst>
                              <p:par>
                                <p:cTn id="97" presetID="22" presetClass="entr" presetSubtype="2" fill="hold" nodeType="afterEffect">
                                  <p:stCondLst>
                                    <p:cond delay="500"/>
                                  </p:stCondLst>
                                  <p:childTnLst>
                                    <p:set>
                                      <p:cBhvr>
                                        <p:cTn id="98" dur="1" fill="hold">
                                          <p:stCondLst>
                                            <p:cond delay="0"/>
                                          </p:stCondLst>
                                        </p:cTn>
                                        <p:tgtEl>
                                          <p:spTgt spid="26716"/>
                                        </p:tgtEl>
                                        <p:attrNameLst>
                                          <p:attrName>style.visibility</p:attrName>
                                        </p:attrNameLst>
                                      </p:cBhvr>
                                      <p:to>
                                        <p:strVal val="visible"/>
                                      </p:to>
                                    </p:set>
                                    <p:animEffect transition="in" filter="wipe(right)">
                                      <p:cBhvr>
                                        <p:cTn id="99" dur="500"/>
                                        <p:tgtEl>
                                          <p:spTgt spid="26716"/>
                                        </p:tgtEl>
                                      </p:cBhvr>
                                    </p:animEffect>
                                  </p:childTnLst>
                                </p:cTn>
                              </p:par>
                            </p:childTnLst>
                          </p:cTn>
                        </p:par>
                        <p:par>
                          <p:cTn id="100" fill="hold" nodeType="afterGroup">
                            <p:stCondLst>
                              <p:cond delay="5000"/>
                            </p:stCondLst>
                            <p:childTnLst>
                              <p:par>
                                <p:cTn id="101" presetID="22" presetClass="entr" presetSubtype="2" fill="hold" nodeType="afterEffect">
                                  <p:stCondLst>
                                    <p:cond delay="500"/>
                                  </p:stCondLst>
                                  <p:childTnLst>
                                    <p:set>
                                      <p:cBhvr>
                                        <p:cTn id="102" dur="1" fill="hold">
                                          <p:stCondLst>
                                            <p:cond delay="0"/>
                                          </p:stCondLst>
                                        </p:cTn>
                                        <p:tgtEl>
                                          <p:spTgt spid="26658"/>
                                        </p:tgtEl>
                                        <p:attrNameLst>
                                          <p:attrName>style.visibility</p:attrName>
                                        </p:attrNameLst>
                                      </p:cBhvr>
                                      <p:to>
                                        <p:strVal val="visible"/>
                                      </p:to>
                                    </p:set>
                                    <p:animEffect transition="in" filter="wipe(right)">
                                      <p:cBhvr>
                                        <p:cTn id="103" dur="500"/>
                                        <p:tgtEl>
                                          <p:spTgt spid="26658"/>
                                        </p:tgtEl>
                                      </p:cBhvr>
                                    </p:animEffect>
                                  </p:childTnLst>
                                </p:cTn>
                              </p:par>
                            </p:childTnLst>
                          </p:cTn>
                        </p:par>
                        <p:par>
                          <p:cTn id="104" fill="hold" nodeType="afterGroup">
                            <p:stCondLst>
                              <p:cond delay="6000"/>
                            </p:stCondLst>
                            <p:childTnLst>
                              <p:par>
                                <p:cTn id="105" presetID="1" presetClass="entr" presetSubtype="0" fill="hold" nodeType="afterEffect">
                                  <p:stCondLst>
                                    <p:cond delay="500"/>
                                  </p:stCondLst>
                                  <p:childTnLst>
                                    <p:set>
                                      <p:cBhvr>
                                        <p:cTn id="106" dur="1" fill="hold">
                                          <p:stCondLst>
                                            <p:cond delay="0"/>
                                          </p:stCondLst>
                                        </p:cTn>
                                        <p:tgtEl>
                                          <p:spTgt spid="26659"/>
                                        </p:tgtEl>
                                        <p:attrNameLst>
                                          <p:attrName>style.visibility</p:attrName>
                                        </p:attrNameLst>
                                      </p:cBhvr>
                                      <p:to>
                                        <p:strVal val="visible"/>
                                      </p:to>
                                    </p:set>
                                  </p:childTnLst>
                                </p:cTn>
                              </p:par>
                            </p:childTnLst>
                          </p:cTn>
                        </p:par>
                        <p:par>
                          <p:cTn id="107" fill="hold" nodeType="afterGroup">
                            <p:stCondLst>
                              <p:cond delay="6500"/>
                            </p:stCondLst>
                            <p:childTnLst>
                              <p:par>
                                <p:cTn id="108" presetID="22" presetClass="entr" presetSubtype="8" fill="hold" nodeType="afterEffect">
                                  <p:stCondLst>
                                    <p:cond delay="500"/>
                                  </p:stCondLst>
                                  <p:childTnLst>
                                    <p:set>
                                      <p:cBhvr>
                                        <p:cTn id="109" dur="1" fill="hold">
                                          <p:stCondLst>
                                            <p:cond delay="0"/>
                                          </p:stCondLst>
                                        </p:cTn>
                                        <p:tgtEl>
                                          <p:spTgt spid="26750"/>
                                        </p:tgtEl>
                                        <p:attrNameLst>
                                          <p:attrName>style.visibility</p:attrName>
                                        </p:attrNameLst>
                                      </p:cBhvr>
                                      <p:to>
                                        <p:strVal val="visible"/>
                                      </p:to>
                                    </p:set>
                                    <p:animEffect transition="in" filter="wipe(left)">
                                      <p:cBhvr>
                                        <p:cTn id="110" dur="500"/>
                                        <p:tgtEl>
                                          <p:spTgt spid="26750"/>
                                        </p:tgtEl>
                                      </p:cBhvr>
                                    </p:animEffect>
                                  </p:childTnLst>
                                </p:cTn>
                              </p:par>
                            </p:childTnLst>
                          </p:cTn>
                        </p:par>
                        <p:par>
                          <p:cTn id="111" fill="hold" nodeType="afterGroup">
                            <p:stCondLst>
                              <p:cond delay="7500"/>
                            </p:stCondLst>
                            <p:childTnLst>
                              <p:par>
                                <p:cTn id="112" presetID="22" presetClass="entr" presetSubtype="8" fill="hold" nodeType="afterEffect">
                                  <p:stCondLst>
                                    <p:cond delay="0"/>
                                  </p:stCondLst>
                                  <p:childTnLst>
                                    <p:set>
                                      <p:cBhvr>
                                        <p:cTn id="113" dur="1" fill="hold">
                                          <p:stCondLst>
                                            <p:cond delay="0"/>
                                          </p:stCondLst>
                                        </p:cTn>
                                        <p:tgtEl>
                                          <p:spTgt spid="26701"/>
                                        </p:tgtEl>
                                        <p:attrNameLst>
                                          <p:attrName>style.visibility</p:attrName>
                                        </p:attrNameLst>
                                      </p:cBhvr>
                                      <p:to>
                                        <p:strVal val="visible"/>
                                      </p:to>
                                    </p:set>
                                    <p:animEffect transition="in" filter="wipe(left)">
                                      <p:cBhvr>
                                        <p:cTn id="114" dur="500"/>
                                        <p:tgtEl>
                                          <p:spTgt spid="26701"/>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4" fill="hold" nodeType="clickEffect">
                                  <p:stCondLst>
                                    <p:cond delay="0"/>
                                  </p:stCondLst>
                                  <p:childTnLst>
                                    <p:set>
                                      <p:cBhvr>
                                        <p:cTn id="118" dur="1" fill="hold">
                                          <p:stCondLst>
                                            <p:cond delay="0"/>
                                          </p:stCondLst>
                                        </p:cTn>
                                        <p:tgtEl>
                                          <p:spTgt spid="26685"/>
                                        </p:tgtEl>
                                        <p:attrNameLst>
                                          <p:attrName>style.visibility</p:attrName>
                                        </p:attrNameLst>
                                      </p:cBhvr>
                                      <p:to>
                                        <p:strVal val="visible"/>
                                      </p:to>
                                    </p:set>
                                    <p:animEffect transition="in" filter="wipe(down)">
                                      <p:cBhvr>
                                        <p:cTn id="119" dur="500"/>
                                        <p:tgtEl>
                                          <p:spTgt spid="26685"/>
                                        </p:tgtEl>
                                      </p:cBhvr>
                                    </p:animEffect>
                                  </p:childTnLst>
                                </p:cTn>
                              </p:par>
                            </p:childTnLst>
                          </p:cTn>
                        </p:par>
                        <p:par>
                          <p:cTn id="120" fill="hold" nodeType="afterGroup">
                            <p:stCondLst>
                              <p:cond delay="500"/>
                            </p:stCondLst>
                            <p:childTnLst>
                              <p:par>
                                <p:cTn id="121" presetID="1" presetClass="entr" presetSubtype="0" fill="hold" nodeType="afterEffect">
                                  <p:stCondLst>
                                    <p:cond delay="500"/>
                                  </p:stCondLst>
                                  <p:childTnLst>
                                    <p:set>
                                      <p:cBhvr>
                                        <p:cTn id="122" dur="1" fill="hold">
                                          <p:stCondLst>
                                            <p:cond delay="0"/>
                                          </p:stCondLst>
                                        </p:cTn>
                                        <p:tgtEl>
                                          <p:spTgt spid="26696"/>
                                        </p:tgtEl>
                                        <p:attrNameLst>
                                          <p:attrName>style.visibility</p:attrName>
                                        </p:attrNameLst>
                                      </p:cBhvr>
                                      <p:to>
                                        <p:strVal val="visible"/>
                                      </p:to>
                                    </p:set>
                                  </p:childTnLst>
                                </p:cTn>
                              </p:par>
                            </p:childTnLst>
                          </p:cTn>
                        </p:par>
                        <p:par>
                          <p:cTn id="123" fill="hold" nodeType="afterGroup">
                            <p:stCondLst>
                              <p:cond delay="1000"/>
                            </p:stCondLst>
                            <p:childTnLst>
                              <p:par>
                                <p:cTn id="124" presetID="22" presetClass="entr" presetSubtype="2" fill="hold" nodeType="afterEffect">
                                  <p:stCondLst>
                                    <p:cond delay="500"/>
                                  </p:stCondLst>
                                  <p:childTnLst>
                                    <p:set>
                                      <p:cBhvr>
                                        <p:cTn id="125" dur="1" fill="hold">
                                          <p:stCondLst>
                                            <p:cond delay="0"/>
                                          </p:stCondLst>
                                        </p:cTn>
                                        <p:tgtEl>
                                          <p:spTgt spid="26729"/>
                                        </p:tgtEl>
                                        <p:attrNameLst>
                                          <p:attrName>style.visibility</p:attrName>
                                        </p:attrNameLst>
                                      </p:cBhvr>
                                      <p:to>
                                        <p:strVal val="visible"/>
                                      </p:to>
                                    </p:set>
                                    <p:animEffect transition="in" filter="wipe(right)">
                                      <p:cBhvr>
                                        <p:cTn id="126" dur="500"/>
                                        <p:tgtEl>
                                          <p:spTgt spid="26729"/>
                                        </p:tgtEl>
                                      </p:cBhvr>
                                    </p:animEffect>
                                  </p:childTnLst>
                                </p:cTn>
                              </p:par>
                            </p:childTnLst>
                          </p:cTn>
                        </p:par>
                        <p:par>
                          <p:cTn id="127" fill="hold" nodeType="afterGroup">
                            <p:stCondLst>
                              <p:cond delay="2000"/>
                            </p:stCondLst>
                            <p:childTnLst>
                              <p:par>
                                <p:cTn id="128" presetID="22" presetClass="entr" presetSubtype="2" fill="hold" nodeType="afterEffect">
                                  <p:stCondLst>
                                    <p:cond delay="500"/>
                                  </p:stCondLst>
                                  <p:childTnLst>
                                    <p:set>
                                      <p:cBhvr>
                                        <p:cTn id="129" dur="1" fill="hold">
                                          <p:stCondLst>
                                            <p:cond delay="0"/>
                                          </p:stCondLst>
                                        </p:cTn>
                                        <p:tgtEl>
                                          <p:spTgt spid="26660"/>
                                        </p:tgtEl>
                                        <p:attrNameLst>
                                          <p:attrName>style.visibility</p:attrName>
                                        </p:attrNameLst>
                                      </p:cBhvr>
                                      <p:to>
                                        <p:strVal val="visible"/>
                                      </p:to>
                                    </p:set>
                                    <p:animEffect transition="in" filter="wipe(right)">
                                      <p:cBhvr>
                                        <p:cTn id="130" dur="500"/>
                                        <p:tgtEl>
                                          <p:spTgt spid="26660"/>
                                        </p:tgtEl>
                                      </p:cBhvr>
                                    </p:animEffect>
                                  </p:childTnLst>
                                </p:cTn>
                              </p:par>
                            </p:childTnLst>
                          </p:cTn>
                        </p:par>
                        <p:par>
                          <p:cTn id="131" fill="hold" nodeType="afterGroup">
                            <p:stCondLst>
                              <p:cond delay="3000"/>
                            </p:stCondLst>
                            <p:childTnLst>
                              <p:par>
                                <p:cTn id="132" presetID="1" presetClass="entr" presetSubtype="0" fill="hold" nodeType="afterEffect">
                                  <p:stCondLst>
                                    <p:cond delay="500"/>
                                  </p:stCondLst>
                                  <p:childTnLst>
                                    <p:set>
                                      <p:cBhvr>
                                        <p:cTn id="133" dur="1" fill="hold">
                                          <p:stCondLst>
                                            <p:cond delay="0"/>
                                          </p:stCondLst>
                                        </p:cTn>
                                        <p:tgtEl>
                                          <p:spTgt spid="26661"/>
                                        </p:tgtEl>
                                        <p:attrNameLst>
                                          <p:attrName>style.visibility</p:attrName>
                                        </p:attrNameLst>
                                      </p:cBhvr>
                                      <p:to>
                                        <p:strVal val="visible"/>
                                      </p:to>
                                    </p:set>
                                  </p:childTnLst>
                                </p:cTn>
                              </p:par>
                            </p:childTnLst>
                          </p:cTn>
                        </p:par>
                        <p:par>
                          <p:cTn id="134" fill="hold" nodeType="afterGroup">
                            <p:stCondLst>
                              <p:cond delay="3500"/>
                            </p:stCondLst>
                            <p:childTnLst>
                              <p:par>
                                <p:cTn id="135" presetID="1" presetClass="entr" presetSubtype="0" fill="hold" nodeType="afterEffect">
                                  <p:stCondLst>
                                    <p:cond delay="500"/>
                                  </p:stCondLst>
                                  <p:childTnLst>
                                    <p:set>
                                      <p:cBhvr>
                                        <p:cTn id="136" dur="1" fill="hold">
                                          <p:stCondLst>
                                            <p:cond delay="0"/>
                                          </p:stCondLst>
                                        </p:cTn>
                                        <p:tgtEl>
                                          <p:spTgt spid="26695"/>
                                        </p:tgtEl>
                                        <p:attrNameLst>
                                          <p:attrName>style.visibility</p:attrName>
                                        </p:attrNameLst>
                                      </p:cBhvr>
                                      <p:to>
                                        <p:strVal val="visible"/>
                                      </p:to>
                                    </p:set>
                                  </p:childTnLst>
                                </p:cTn>
                              </p:par>
                            </p:childTnLst>
                          </p:cTn>
                        </p:par>
                        <p:par>
                          <p:cTn id="137" fill="hold" nodeType="afterGroup">
                            <p:stCondLst>
                              <p:cond delay="4000"/>
                            </p:stCondLst>
                            <p:childTnLst>
                              <p:par>
                                <p:cTn id="138" presetID="22" presetClass="entr" presetSubtype="2" fill="hold" nodeType="afterEffect">
                                  <p:stCondLst>
                                    <p:cond delay="500"/>
                                  </p:stCondLst>
                                  <p:childTnLst>
                                    <p:set>
                                      <p:cBhvr>
                                        <p:cTn id="139" dur="1" fill="hold">
                                          <p:stCondLst>
                                            <p:cond delay="0"/>
                                          </p:stCondLst>
                                        </p:cTn>
                                        <p:tgtEl>
                                          <p:spTgt spid="26633"/>
                                        </p:tgtEl>
                                        <p:attrNameLst>
                                          <p:attrName>style.visibility</p:attrName>
                                        </p:attrNameLst>
                                      </p:cBhvr>
                                      <p:to>
                                        <p:strVal val="visible"/>
                                      </p:to>
                                    </p:set>
                                    <p:animEffect transition="in" filter="wipe(right)">
                                      <p:cBhvr>
                                        <p:cTn id="140" dur="500"/>
                                        <p:tgtEl>
                                          <p:spTgt spid="26633"/>
                                        </p:tgtEl>
                                      </p:cBhvr>
                                    </p:animEffect>
                                  </p:childTnLst>
                                </p:cTn>
                              </p:par>
                            </p:childTnLst>
                          </p:cTn>
                        </p:par>
                        <p:par>
                          <p:cTn id="141" fill="hold" nodeType="afterGroup">
                            <p:stCondLst>
                              <p:cond delay="5000"/>
                            </p:stCondLst>
                            <p:childTnLst>
                              <p:par>
                                <p:cTn id="142" presetID="1" presetClass="entr" presetSubtype="0" fill="hold" nodeType="afterEffect">
                                  <p:stCondLst>
                                    <p:cond delay="500"/>
                                  </p:stCondLst>
                                  <p:childTnLst>
                                    <p:set>
                                      <p:cBhvr>
                                        <p:cTn id="143" dur="1" fill="hold">
                                          <p:stCondLst>
                                            <p:cond delay="0"/>
                                          </p:stCondLst>
                                        </p:cTn>
                                        <p:tgtEl>
                                          <p:spTgt spid="26663"/>
                                        </p:tgtEl>
                                        <p:attrNameLst>
                                          <p:attrName>style.visibility</p:attrName>
                                        </p:attrNameLst>
                                      </p:cBhvr>
                                      <p:to>
                                        <p:strVal val="visible"/>
                                      </p:to>
                                    </p:set>
                                  </p:childTnLst>
                                </p:cTn>
                              </p:par>
                              <p:par>
                                <p:cTn id="144" presetID="1" presetClass="entr" presetSubtype="0" fill="hold" nodeType="withEffect">
                                  <p:stCondLst>
                                    <p:cond delay="500"/>
                                  </p:stCondLst>
                                  <p:childTnLst>
                                    <p:set>
                                      <p:cBhvr>
                                        <p:cTn id="145" dur="1" fill="hold">
                                          <p:stCondLst>
                                            <p:cond delay="0"/>
                                          </p:stCondLst>
                                        </p:cTn>
                                        <p:tgtEl>
                                          <p:spTgt spid="26662"/>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4" fill="hold" nodeType="clickEffect">
                                  <p:stCondLst>
                                    <p:cond delay="0"/>
                                  </p:stCondLst>
                                  <p:childTnLst>
                                    <p:set>
                                      <p:cBhvr>
                                        <p:cTn id="149" dur="1" fill="hold">
                                          <p:stCondLst>
                                            <p:cond delay="0"/>
                                          </p:stCondLst>
                                        </p:cTn>
                                        <p:tgtEl>
                                          <p:spTgt spid="26632"/>
                                        </p:tgtEl>
                                        <p:attrNameLst>
                                          <p:attrName>style.visibility</p:attrName>
                                        </p:attrNameLst>
                                      </p:cBhvr>
                                      <p:to>
                                        <p:strVal val="visible"/>
                                      </p:to>
                                    </p:set>
                                    <p:animEffect transition="in" filter="wipe(down)">
                                      <p:cBhvr>
                                        <p:cTn id="150" dur="500"/>
                                        <p:tgtEl>
                                          <p:spTgt spid="26632"/>
                                        </p:tgtEl>
                                      </p:cBhvr>
                                    </p:animEffect>
                                  </p:childTnLst>
                                </p:cTn>
                              </p:par>
                            </p:childTnLst>
                          </p:cTn>
                        </p:par>
                        <p:par>
                          <p:cTn id="151" fill="hold" nodeType="afterGroup">
                            <p:stCondLst>
                              <p:cond delay="500"/>
                            </p:stCondLst>
                            <p:childTnLst>
                              <p:par>
                                <p:cTn id="152" presetID="1" presetClass="entr" presetSubtype="0" fill="hold" nodeType="afterEffect">
                                  <p:stCondLst>
                                    <p:cond delay="0"/>
                                  </p:stCondLst>
                                  <p:childTnLst>
                                    <p:set>
                                      <p:cBhvr>
                                        <p:cTn id="153" dur="1" fill="hold">
                                          <p:stCondLst>
                                            <p:cond delay="0"/>
                                          </p:stCondLst>
                                        </p:cTn>
                                        <p:tgtEl>
                                          <p:spTgt spid="26699"/>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1" fill="hold" nodeType="clickEffect">
                                  <p:stCondLst>
                                    <p:cond delay="0"/>
                                  </p:stCondLst>
                                  <p:childTnLst>
                                    <p:set>
                                      <p:cBhvr>
                                        <p:cTn id="157" dur="1" fill="hold">
                                          <p:stCondLst>
                                            <p:cond delay="0"/>
                                          </p:stCondLst>
                                        </p:cTn>
                                        <p:tgtEl>
                                          <p:spTgt spid="26779"/>
                                        </p:tgtEl>
                                        <p:attrNameLst>
                                          <p:attrName>style.visibility</p:attrName>
                                        </p:attrNameLst>
                                      </p:cBhvr>
                                      <p:to>
                                        <p:strVal val="visible"/>
                                      </p:to>
                                    </p:set>
                                    <p:animEffect transition="in" filter="wipe(up)">
                                      <p:cBhvr>
                                        <p:cTn id="158" dur="500"/>
                                        <p:tgtEl>
                                          <p:spTgt spid="26779"/>
                                        </p:tgtEl>
                                      </p:cBhvr>
                                    </p:animEffect>
                                  </p:childTnLst>
                                </p:cTn>
                              </p:par>
                              <p:par>
                                <p:cTn id="159" presetID="22" presetClass="entr" presetSubtype="1" fill="hold" nodeType="withEffect">
                                  <p:stCondLst>
                                    <p:cond delay="0"/>
                                  </p:stCondLst>
                                  <p:childTnLst>
                                    <p:set>
                                      <p:cBhvr>
                                        <p:cTn id="160" dur="1" fill="hold">
                                          <p:stCondLst>
                                            <p:cond delay="0"/>
                                          </p:stCondLst>
                                        </p:cTn>
                                        <p:tgtEl>
                                          <p:spTgt spid="26754"/>
                                        </p:tgtEl>
                                        <p:attrNameLst>
                                          <p:attrName>style.visibility</p:attrName>
                                        </p:attrNameLst>
                                      </p:cBhvr>
                                      <p:to>
                                        <p:strVal val="visible"/>
                                      </p:to>
                                    </p:set>
                                    <p:animEffect transition="in" filter="wipe(up)">
                                      <p:cBhvr>
                                        <p:cTn id="161" dur="500"/>
                                        <p:tgtEl>
                                          <p:spTgt spid="26754"/>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26691"/>
                                        </p:tgtEl>
                                        <p:attrNameLst>
                                          <p:attrName>style.visibility</p:attrName>
                                        </p:attrNameLst>
                                      </p:cBhvr>
                                      <p:to>
                                        <p:strVal val="visible"/>
                                      </p:to>
                                    </p:set>
                                    <p:animEffect transition="in" filter="wipe(left)">
                                      <p:cBhvr>
                                        <p:cTn id="166" dur="500"/>
                                        <p:tgtEl>
                                          <p:spTgt spid="26691"/>
                                        </p:tgtEl>
                                      </p:cBhvr>
                                    </p:animEffect>
                                  </p:childTnLst>
                                </p:cTn>
                              </p:par>
                              <p:par>
                                <p:cTn id="167" presetID="22" presetClass="entr" presetSubtype="8" fill="hold" nodeType="withEffect">
                                  <p:stCondLst>
                                    <p:cond delay="0"/>
                                  </p:stCondLst>
                                  <p:childTnLst>
                                    <p:set>
                                      <p:cBhvr>
                                        <p:cTn id="168" dur="1" fill="hold">
                                          <p:stCondLst>
                                            <p:cond delay="0"/>
                                          </p:stCondLst>
                                        </p:cTn>
                                        <p:tgtEl>
                                          <p:spTgt spid="26748"/>
                                        </p:tgtEl>
                                        <p:attrNameLst>
                                          <p:attrName>style.visibility</p:attrName>
                                        </p:attrNameLst>
                                      </p:cBhvr>
                                      <p:to>
                                        <p:strVal val="visible"/>
                                      </p:to>
                                    </p:set>
                                    <p:animEffect transition="in" filter="wipe(left)">
                                      <p:cBhvr>
                                        <p:cTn id="169" dur="500"/>
                                        <p:tgtEl>
                                          <p:spTgt spid="26748"/>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8" fill="hold" nodeType="clickEffect">
                                  <p:stCondLst>
                                    <p:cond delay="0"/>
                                  </p:stCondLst>
                                  <p:childTnLst>
                                    <p:set>
                                      <p:cBhvr>
                                        <p:cTn id="173" dur="1" fill="hold">
                                          <p:stCondLst>
                                            <p:cond delay="0"/>
                                          </p:stCondLst>
                                        </p:cTn>
                                        <p:tgtEl>
                                          <p:spTgt spid="26692"/>
                                        </p:tgtEl>
                                        <p:attrNameLst>
                                          <p:attrName>style.visibility</p:attrName>
                                        </p:attrNameLst>
                                      </p:cBhvr>
                                      <p:to>
                                        <p:strVal val="visible"/>
                                      </p:to>
                                    </p:set>
                                    <p:animEffect transition="in" filter="wipe(left)">
                                      <p:cBhvr>
                                        <p:cTn id="174" dur="500"/>
                                        <p:tgtEl>
                                          <p:spTgt spid="26692"/>
                                        </p:tgtEl>
                                      </p:cBhvr>
                                    </p:animEffect>
                                  </p:childTnLst>
                                </p:cTn>
                              </p:par>
                              <p:par>
                                <p:cTn id="175" presetID="22" presetClass="entr" presetSubtype="8" fill="hold" nodeType="withEffect">
                                  <p:stCondLst>
                                    <p:cond delay="0"/>
                                  </p:stCondLst>
                                  <p:childTnLst>
                                    <p:set>
                                      <p:cBhvr>
                                        <p:cTn id="176" dur="1" fill="hold">
                                          <p:stCondLst>
                                            <p:cond delay="0"/>
                                          </p:stCondLst>
                                        </p:cTn>
                                        <p:tgtEl>
                                          <p:spTgt spid="26749"/>
                                        </p:tgtEl>
                                        <p:attrNameLst>
                                          <p:attrName>style.visibility</p:attrName>
                                        </p:attrNameLst>
                                      </p:cBhvr>
                                      <p:to>
                                        <p:strVal val="visible"/>
                                      </p:to>
                                    </p:set>
                                    <p:animEffect transition="in" filter="wipe(left)">
                                      <p:cBhvr>
                                        <p:cTn id="177" dur="500"/>
                                        <p:tgtEl>
                                          <p:spTgt spid="26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3" grpId="0"/>
      <p:bldP spid="26655" grpId="0"/>
      <p:bldP spid="26657" grpId="0"/>
      <p:bldP spid="26659" grpId="0"/>
      <p:bldP spid="26661" grpId="0"/>
      <p:bldP spid="26663" grpId="0"/>
      <p:bldP spid="26699" grpId="0"/>
      <p:bldP spid="26701" grpId="0"/>
      <p:bldP spid="26703" grpId="0"/>
      <p:bldP spid="26705" grpId="0"/>
      <p:bldP spid="26747" grpId="0"/>
      <p:bldP spid="26748" grpId="0"/>
      <p:bldP spid="2674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8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8682" name="Rectangle 2868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3" name="Rectangle 2">
            <a:extLst>
              <a:ext uri="{FF2B5EF4-FFF2-40B4-BE49-F238E27FC236}">
                <a16:creationId xmlns:a16="http://schemas.microsoft.com/office/drawing/2014/main" id="{41B6219C-EB72-2C5B-7706-279FBAAC13B4}"/>
              </a:ext>
            </a:extLst>
          </p:cNvPr>
          <p:cNvSpPr>
            <a:spLocks noGrp="1" noChangeArrowheads="1"/>
          </p:cNvSpPr>
          <p:nvPr>
            <p:ph type="title"/>
          </p:nvPr>
        </p:nvSpPr>
        <p:spPr>
          <a:xfrm>
            <a:off x="761803" y="350196"/>
            <a:ext cx="4646904" cy="1624520"/>
          </a:xfrm>
        </p:spPr>
        <p:txBody>
          <a:bodyPr anchor="ctr">
            <a:normAutofit/>
          </a:bodyPr>
          <a:lstStyle/>
          <a:p>
            <a:pPr eaLnBrk="1" hangingPunct="1"/>
            <a:r>
              <a:rPr lang="en-US" altLang="en-US" sz="3600" b="1" dirty="0">
                <a:latin typeface="Times New Roman" panose="02020603050405020304" pitchFamily="18" charset="0"/>
                <a:cs typeface="Times New Roman" panose="02020603050405020304" pitchFamily="18" charset="0"/>
              </a:rPr>
              <a:t>Marginal Returns To Labor</a:t>
            </a:r>
          </a:p>
        </p:txBody>
      </p:sp>
      <p:sp>
        <p:nvSpPr>
          <p:cNvPr id="28674" name="Rectangle 3">
            <a:extLst>
              <a:ext uri="{FF2B5EF4-FFF2-40B4-BE49-F238E27FC236}">
                <a16:creationId xmlns:a16="http://schemas.microsoft.com/office/drawing/2014/main" id="{AFFD1BBB-FE1A-2D73-AB5D-16C053F3E6AA}"/>
              </a:ext>
            </a:extLst>
          </p:cNvPr>
          <p:cNvSpPr>
            <a:spLocks noGrp="1" noChangeArrowheads="1"/>
          </p:cNvSpPr>
          <p:nvPr>
            <p:ph idx="1"/>
          </p:nvPr>
        </p:nvSpPr>
        <p:spPr>
          <a:xfrm>
            <a:off x="542346" y="2036064"/>
            <a:ext cx="5297622" cy="4032828"/>
          </a:xfrm>
        </p:spPr>
        <p:txBody>
          <a:bodyPr anchor="ctr">
            <a:normAutofit/>
          </a:bodyPr>
          <a:lstStyle/>
          <a:p>
            <a:pPr eaLnBrk="1" hangingPunct="1"/>
            <a:r>
              <a:rPr lang="en-US" altLang="en-US" sz="2000" b="1" dirty="0">
                <a:latin typeface="Times New Roman" panose="02020603050405020304" pitchFamily="18" charset="0"/>
                <a:cs typeface="Times New Roman" panose="02020603050405020304" pitchFamily="18" charset="0"/>
              </a:rPr>
              <a:t>As more and more workers are hired</a:t>
            </a:r>
          </a:p>
          <a:p>
            <a:pPr marL="1114425" lvl="2" indent="-457200" eaLnBrk="1" hangingPunct="1">
              <a:buFont typeface="Wingdings" pitchFamily="2" charset="2"/>
              <a:buChar char="§"/>
            </a:pPr>
            <a:r>
              <a:rPr lang="en-US" altLang="en-US" dirty="0">
                <a:solidFill>
                  <a:srgbClr val="FF0000"/>
                </a:solidFill>
                <a:latin typeface="Times New Roman" panose="02020603050405020304" pitchFamily="18" charset="0"/>
                <a:cs typeface="Times New Roman" panose="02020603050405020304" pitchFamily="18" charset="0"/>
              </a:rPr>
              <a:t>MPL first increases</a:t>
            </a:r>
          </a:p>
          <a:p>
            <a:pPr marL="1114425" lvl="2" indent="-457200" eaLnBrk="1" hangingPunct="1">
              <a:buFont typeface="Wingdings" pitchFamily="2" charset="2"/>
              <a:buChar char="§"/>
            </a:pPr>
            <a:r>
              <a:rPr lang="en-US" altLang="en-US" dirty="0">
                <a:solidFill>
                  <a:srgbClr val="FF0000"/>
                </a:solidFill>
                <a:latin typeface="Times New Roman" panose="02020603050405020304" pitchFamily="18" charset="0"/>
                <a:cs typeface="Times New Roman" panose="02020603050405020304" pitchFamily="18" charset="0"/>
              </a:rPr>
              <a:t>Then decreases</a:t>
            </a:r>
          </a:p>
          <a:p>
            <a:pPr marL="914400" lvl="1" indent="-457200" eaLnBrk="1" hangingPunct="1">
              <a:buFont typeface="Wingdings" pitchFamily="2" charset="2"/>
              <a:buChar char="Ø"/>
            </a:pPr>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b="1" dirty="0">
                <a:latin typeface="Times New Roman" panose="02020603050405020304" pitchFamily="18" charset="0"/>
                <a:cs typeface="Times New Roman" panose="02020603050405020304" pitchFamily="18" charset="0"/>
              </a:rPr>
              <a:t>The pattern is believed to be typical at many types of firms</a:t>
            </a:r>
          </a:p>
        </p:txBody>
      </p:sp>
      <p:pic>
        <p:nvPicPr>
          <p:cNvPr id="28676" name="Picture 28675" descr="Codes on papers">
            <a:extLst>
              <a:ext uri="{FF2B5EF4-FFF2-40B4-BE49-F238E27FC236}">
                <a16:creationId xmlns:a16="http://schemas.microsoft.com/office/drawing/2014/main" id="{91CDB965-9DFC-F42E-9E41-64CB00423DF2}"/>
              </a:ext>
            </a:extLst>
          </p:cNvPr>
          <p:cNvPicPr>
            <a:picLocks noChangeAspect="1"/>
          </p:cNvPicPr>
          <p:nvPr/>
        </p:nvPicPr>
        <p:blipFill>
          <a:blip r:embed="rId2"/>
          <a:srcRect l="21274" r="19325" b="-2"/>
          <a:stretch/>
        </p:blipFill>
        <p:spPr>
          <a:xfrm>
            <a:off x="6096000" y="1"/>
            <a:ext cx="6102825" cy="685800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3" name="Rectangle 29702">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7" name="Rectangle 2">
            <a:extLst>
              <a:ext uri="{FF2B5EF4-FFF2-40B4-BE49-F238E27FC236}">
                <a16:creationId xmlns:a16="http://schemas.microsoft.com/office/drawing/2014/main" id="{33F5AECC-1CED-7478-EEFD-5E30BEA18806}"/>
              </a:ext>
            </a:extLst>
          </p:cNvPr>
          <p:cNvSpPr>
            <a:spLocks noGrp="1" noChangeArrowheads="1"/>
          </p:cNvSpPr>
          <p:nvPr>
            <p:ph type="title"/>
          </p:nvPr>
        </p:nvSpPr>
        <p:spPr>
          <a:xfrm>
            <a:off x="841248" y="426720"/>
            <a:ext cx="10506456" cy="1919141"/>
          </a:xfrm>
        </p:spPr>
        <p:txBody>
          <a:bodyPr anchor="b">
            <a:normAutofit/>
          </a:bodyPr>
          <a:lstStyle/>
          <a:p>
            <a:pPr eaLnBrk="1" hangingPunct="1"/>
            <a:r>
              <a:rPr lang="en-US" altLang="en-US" sz="6000" b="1">
                <a:latin typeface="Times New Roman" panose="02020603050405020304" pitchFamily="18" charset="0"/>
                <a:cs typeface="Times New Roman" panose="02020603050405020304" pitchFamily="18" charset="0"/>
              </a:rPr>
              <a:t>Increasing Marginal Returns to Labor</a:t>
            </a:r>
          </a:p>
        </p:txBody>
      </p:sp>
      <p:sp>
        <p:nvSpPr>
          <p:cNvPr id="29705" name="Rectangle 2970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707" name="Rectangle 2970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698" name="Rectangle 3">
            <a:extLst>
              <a:ext uri="{FF2B5EF4-FFF2-40B4-BE49-F238E27FC236}">
                <a16:creationId xmlns:a16="http://schemas.microsoft.com/office/drawing/2014/main" id="{A609CE3D-0A89-F16C-DBD1-7A392DD252A2}"/>
              </a:ext>
            </a:extLst>
          </p:cNvPr>
          <p:cNvSpPr>
            <a:spLocks noGrp="1"/>
          </p:cNvSpPr>
          <p:nvPr>
            <p:ph idx="1"/>
          </p:nvPr>
        </p:nvSpPr>
        <p:spPr>
          <a:xfrm>
            <a:off x="841248" y="3337269"/>
            <a:ext cx="10509504" cy="2905686"/>
          </a:xfrm>
        </p:spPr>
        <p:txBody>
          <a:bodyPr rtlCol="0">
            <a:normAutofit/>
          </a:bodyPr>
          <a:lstStyle/>
          <a:p>
            <a:pPr marL="0" indent="0" eaLnBrk="1" fontAlgn="auto" hangingPunct="1">
              <a:spcAft>
                <a:spcPts val="0"/>
              </a:spcAft>
              <a:buNone/>
              <a:defRPr/>
            </a:pPr>
            <a:r>
              <a:rPr lang="en-US" altLang="en-US" b="1" dirty="0">
                <a:latin typeface="Times New Roman" panose="02020603050405020304" pitchFamily="18" charset="0"/>
                <a:cs typeface="Times New Roman" panose="02020603050405020304" pitchFamily="18" charset="0"/>
              </a:rPr>
              <a:t>When the marginal product of labor increases as employment rises, we say there are increasing marginal returns to labor</a:t>
            </a:r>
          </a:p>
          <a:p>
            <a:pPr marL="0" indent="0" eaLnBrk="1" fontAlgn="auto" hangingPunct="1">
              <a:spcAft>
                <a:spcPts val="0"/>
              </a:spcAft>
              <a:buFont typeface="Calibri" panose="020F0502020204030204" pitchFamily="34" charset="0"/>
              <a:buNone/>
              <a:defRPr/>
            </a:pPr>
            <a:endParaRPr lang="en-US" altLang="en-US" b="1" dirty="0">
              <a:latin typeface="Times New Roman" panose="02020603050405020304" pitchFamily="18" charset="0"/>
              <a:cs typeface="Times New Roman" panose="02020603050405020304" pitchFamily="18" charset="0"/>
            </a:endParaRPr>
          </a:p>
          <a:p>
            <a:pPr lvl="1" eaLnBrk="1" fontAlgn="auto" hangingPunct="1">
              <a:spcAft>
                <a:spcPts val="0"/>
              </a:spcAft>
              <a:buFont typeface="Wingdings" pitchFamily="2" charset="2"/>
              <a:buChar char="§"/>
              <a:defRPr/>
            </a:pPr>
            <a:r>
              <a:rPr lang="en-US" altLang="en-US" sz="2800" dirty="0">
                <a:solidFill>
                  <a:srgbClr val="FF0000"/>
                </a:solidFill>
                <a:latin typeface="Times New Roman" panose="02020603050405020304" pitchFamily="18" charset="0"/>
                <a:cs typeface="Times New Roman" panose="02020603050405020304" pitchFamily="18" charset="0"/>
              </a:rPr>
              <a:t>Each time a worker is hired, total output rises by more than it did when the previous worker was hired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7" name="Rectangle 3072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729" name="Rectangle 3072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731" name="Rectangle 3073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21" name="Rectangle 2">
            <a:extLst>
              <a:ext uri="{FF2B5EF4-FFF2-40B4-BE49-F238E27FC236}">
                <a16:creationId xmlns:a16="http://schemas.microsoft.com/office/drawing/2014/main" id="{35BBBE4F-E697-1D35-58B1-24029AD9AC5C}"/>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latin typeface="Times New Roman" panose="02020603050405020304" pitchFamily="18" charset="0"/>
                <a:cs typeface="Times New Roman" panose="02020603050405020304" pitchFamily="18" charset="0"/>
              </a:rPr>
              <a:t>Diminishing Returns To Labor</a:t>
            </a:r>
          </a:p>
        </p:txBody>
      </p:sp>
      <p:sp>
        <p:nvSpPr>
          <p:cNvPr id="30733" name="Rectangle 3073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722" name="Rectangle 3">
            <a:extLst>
              <a:ext uri="{FF2B5EF4-FFF2-40B4-BE49-F238E27FC236}">
                <a16:creationId xmlns:a16="http://schemas.microsoft.com/office/drawing/2014/main" id="{205C1560-E86B-EAAC-2E11-26C01FCB663C}"/>
              </a:ext>
            </a:extLst>
          </p:cNvPr>
          <p:cNvSpPr>
            <a:spLocks noGrp="1" noChangeArrowheads="1"/>
          </p:cNvSpPr>
          <p:nvPr>
            <p:ph idx="1"/>
          </p:nvPr>
        </p:nvSpPr>
        <p:spPr>
          <a:xfrm>
            <a:off x="1115568" y="2481943"/>
            <a:ext cx="10168128" cy="3695020"/>
          </a:xfrm>
        </p:spPr>
        <p:txBody>
          <a:bodyPr>
            <a:normAutofit/>
          </a:bodyPr>
          <a:lstStyle/>
          <a:p>
            <a:pPr eaLnBrk="1" hangingPunct="1"/>
            <a:r>
              <a:rPr lang="en-US" altLang="en-US" sz="2400" b="1">
                <a:latin typeface="Times New Roman" panose="02020603050405020304" pitchFamily="18" charset="0"/>
                <a:cs typeface="Times New Roman" panose="02020603050405020304" pitchFamily="18" charset="0"/>
              </a:rPr>
              <a:t>When the marginal product of labor is decreasing </a:t>
            </a:r>
          </a:p>
          <a:p>
            <a:pPr marL="542925" lvl="1" indent="-342900" eaLnBrk="1" hangingPunct="1">
              <a:buFont typeface="Wingdings" pitchFamily="2" charset="2"/>
              <a:buChar char="§"/>
            </a:pPr>
            <a:r>
              <a:rPr lang="en-US" altLang="en-US">
                <a:latin typeface="Times New Roman" panose="02020603050405020304" pitchFamily="18" charset="0"/>
                <a:cs typeface="Times New Roman" panose="02020603050405020304" pitchFamily="18" charset="0"/>
              </a:rPr>
              <a:t>There are diminishing marginal returns to labor</a:t>
            </a:r>
          </a:p>
          <a:p>
            <a:pPr marL="542925" lvl="1" indent="-342900" eaLnBrk="1" hangingPunct="1">
              <a:buFont typeface="Wingdings" pitchFamily="2" charset="2"/>
              <a:buChar char="§"/>
            </a:pPr>
            <a:r>
              <a:rPr lang="en-US" altLang="en-US">
                <a:latin typeface="Times New Roman" panose="02020603050405020304" pitchFamily="18" charset="0"/>
                <a:cs typeface="Times New Roman" panose="02020603050405020304" pitchFamily="18" charset="0"/>
              </a:rPr>
              <a:t>Output rises when another worker is added so the marginal product is positive</a:t>
            </a:r>
          </a:p>
          <a:p>
            <a:pPr marL="542925" lvl="1" indent="-342900" eaLnBrk="1" hangingPunct="1">
              <a:buFont typeface="Wingdings" pitchFamily="2" charset="2"/>
              <a:buChar char="§"/>
            </a:pPr>
            <a:r>
              <a:rPr lang="en-US" altLang="en-US">
                <a:latin typeface="Times New Roman" panose="02020603050405020304" pitchFamily="18" charset="0"/>
                <a:cs typeface="Times New Roman" panose="02020603050405020304" pitchFamily="18" charset="0"/>
              </a:rPr>
              <a:t>But the rise in output is smaller and smaller with each successive worker</a:t>
            </a:r>
          </a:p>
          <a:p>
            <a:pPr eaLnBrk="1" hangingPunct="1"/>
            <a:endParaRPr lang="en-US" altLang="en-US" sz="2400" b="1">
              <a:latin typeface="Times New Roman" panose="02020603050405020304" pitchFamily="18" charset="0"/>
              <a:cs typeface="Times New Roman" panose="02020603050405020304" pitchFamily="18" charset="0"/>
            </a:endParaRPr>
          </a:p>
          <a:p>
            <a:pPr eaLnBrk="1" hangingPunct="1"/>
            <a:r>
              <a:rPr lang="en-US" altLang="en-US" sz="2400" b="1">
                <a:latin typeface="Times New Roman" panose="02020603050405020304" pitchFamily="18" charset="0"/>
                <a:cs typeface="Times New Roman" panose="02020603050405020304" pitchFamily="18" charset="0"/>
              </a:rPr>
              <a:t>The law of diminishing (marginal) returns states that as we continue to add more of any one input (holding the other inputs constant)</a:t>
            </a:r>
          </a:p>
          <a:p>
            <a:pPr marL="542925" lvl="1" indent="-342900" eaLnBrk="1" hangingPunct="1">
              <a:buFont typeface="Wingdings" pitchFamily="2" charset="2"/>
              <a:buChar char="§"/>
            </a:pPr>
            <a:r>
              <a:rPr lang="en-US" altLang="en-US">
                <a:latin typeface="Times New Roman" panose="02020603050405020304" pitchFamily="18" charset="0"/>
                <a:cs typeface="Times New Roman" panose="02020603050405020304" pitchFamily="18" charset="0"/>
              </a:rPr>
              <a:t>Its marginal product will eventually decline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39" name="Group 571">
            <a:extLst>
              <a:ext uri="{FF2B5EF4-FFF2-40B4-BE49-F238E27FC236}">
                <a16:creationId xmlns:a16="http://schemas.microsoft.com/office/drawing/2014/main" id="{4C345B86-4089-AB2F-A2DD-1B1CD0698E36}"/>
              </a:ext>
            </a:extLst>
          </p:cNvPr>
          <p:cNvGraphicFramePr>
            <a:graphicFrameLocks noGrp="1"/>
          </p:cNvGraphicFramePr>
          <p:nvPr/>
        </p:nvGraphicFramePr>
        <p:xfrm>
          <a:off x="914400" y="1371600"/>
          <a:ext cx="3276600" cy="518160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937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495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endParaRPr kumimoji="0" lang="en-US" altLang="en-US" sz="15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1807" name="Object 573">
            <a:extLst>
              <a:ext uri="{FF2B5EF4-FFF2-40B4-BE49-F238E27FC236}">
                <a16:creationId xmlns:a16="http://schemas.microsoft.com/office/drawing/2014/main" id="{F04D04B3-80C4-6345-F2AD-DDD34CB2F624}"/>
              </a:ext>
            </a:extLst>
          </p:cNvPr>
          <p:cNvGraphicFramePr>
            <a:graphicFrameLocks noChangeAspect="1"/>
          </p:cNvGraphicFramePr>
          <p:nvPr/>
        </p:nvGraphicFramePr>
        <p:xfrm>
          <a:off x="6096000" y="381000"/>
          <a:ext cx="5314950" cy="4724400"/>
        </p:xfrm>
        <a:graphic>
          <a:graphicData uri="http://schemas.openxmlformats.org/presentationml/2006/ole">
            <mc:AlternateContent xmlns:mc="http://schemas.openxmlformats.org/markup-compatibility/2006">
              <mc:Choice xmlns:v="urn:schemas-microsoft-com:vml" Requires="v">
                <p:oleObj name="Chart" r:id="rId2" imgW="3327400" imgH="2413000" progId="Excel.Chart.8">
                  <p:embed/>
                </p:oleObj>
              </mc:Choice>
              <mc:Fallback>
                <p:oleObj name="Chart" r:id="rId2" imgW="3327400" imgH="2413000" progId="Excel.Chart.8">
                  <p:embed/>
                  <p:pic>
                    <p:nvPicPr>
                      <p:cNvPr id="31807" name="Object 573">
                        <a:extLst>
                          <a:ext uri="{FF2B5EF4-FFF2-40B4-BE49-F238E27FC236}">
                            <a16:creationId xmlns:a16="http://schemas.microsoft.com/office/drawing/2014/main" id="{F04D04B3-80C4-6345-F2AD-DDD34CB2F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81000"/>
                        <a:ext cx="5314950" cy="472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808" name="Rectangle 581">
            <a:extLst>
              <a:ext uri="{FF2B5EF4-FFF2-40B4-BE49-F238E27FC236}">
                <a16:creationId xmlns:a16="http://schemas.microsoft.com/office/drawing/2014/main" id="{0FE321DC-6C07-E8C6-7BCD-8B22D9BAAD03}"/>
              </a:ext>
            </a:extLst>
          </p:cNvPr>
          <p:cNvSpPr>
            <a:spLocks noChangeArrowheads="1"/>
          </p:cNvSpPr>
          <p:nvPr/>
        </p:nvSpPr>
        <p:spPr bwMode="auto">
          <a:xfrm>
            <a:off x="1524000" y="31305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aphicFrame>
        <p:nvGraphicFramePr>
          <p:cNvPr id="31809" name="Object 580">
            <a:extLst>
              <a:ext uri="{FF2B5EF4-FFF2-40B4-BE49-F238E27FC236}">
                <a16:creationId xmlns:a16="http://schemas.microsoft.com/office/drawing/2014/main" id="{22B648BD-EAE0-9EE3-ECC1-234A43BC400F}"/>
              </a:ext>
            </a:extLst>
          </p:cNvPr>
          <p:cNvGraphicFramePr>
            <a:graphicFrameLocks noChangeAspect="1"/>
          </p:cNvGraphicFramePr>
          <p:nvPr/>
        </p:nvGraphicFramePr>
        <p:xfrm>
          <a:off x="1066800" y="533400"/>
          <a:ext cx="2101850" cy="533400"/>
        </p:xfrm>
        <a:graphic>
          <a:graphicData uri="http://schemas.openxmlformats.org/presentationml/2006/ole">
            <mc:AlternateContent xmlns:mc="http://schemas.openxmlformats.org/markup-compatibility/2006">
              <mc:Choice xmlns:v="urn:schemas-microsoft-com:vml" Requires="v">
                <p:oleObj name="Equation" r:id="rId4" imgW="18427700" imgH="5270500" progId="Equation.3">
                  <p:embed/>
                </p:oleObj>
              </mc:Choice>
              <mc:Fallback>
                <p:oleObj name="Equation" r:id="rId4" imgW="18427700" imgH="5270500" progId="Equation.3">
                  <p:embed/>
                  <p:pic>
                    <p:nvPicPr>
                      <p:cNvPr id="31809" name="Object 580">
                        <a:extLst>
                          <a:ext uri="{FF2B5EF4-FFF2-40B4-BE49-F238E27FC236}">
                            <a16:creationId xmlns:a16="http://schemas.microsoft.com/office/drawing/2014/main" id="{22B648BD-EAE0-9EE3-ECC1-234A43BC40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533400"/>
                        <a:ext cx="21018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Group 2">
            <a:extLst>
              <a:ext uri="{FF2B5EF4-FFF2-40B4-BE49-F238E27FC236}">
                <a16:creationId xmlns:a16="http://schemas.microsoft.com/office/drawing/2014/main" id="{D26D3F77-CFA2-9837-236F-B46A4E0417A1}"/>
              </a:ext>
            </a:extLst>
          </p:cNvPr>
          <p:cNvGraphicFramePr>
            <a:graphicFrameLocks noGrp="1"/>
          </p:cNvGraphicFramePr>
          <p:nvPr/>
        </p:nvGraphicFramePr>
        <p:xfrm>
          <a:off x="914400" y="304800"/>
          <a:ext cx="3276600" cy="518160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937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495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2831" name="Object 65">
            <a:extLst>
              <a:ext uri="{FF2B5EF4-FFF2-40B4-BE49-F238E27FC236}">
                <a16:creationId xmlns:a16="http://schemas.microsoft.com/office/drawing/2014/main" id="{08C4188B-0AB6-9A3E-E506-2A9D794D85B7}"/>
              </a:ext>
            </a:extLst>
          </p:cNvPr>
          <p:cNvGraphicFramePr>
            <a:graphicFrameLocks noChangeAspect="1"/>
          </p:cNvGraphicFramePr>
          <p:nvPr/>
        </p:nvGraphicFramePr>
        <p:xfrm>
          <a:off x="5943600" y="220663"/>
          <a:ext cx="4724400" cy="4198937"/>
        </p:xfrm>
        <a:graphic>
          <a:graphicData uri="http://schemas.openxmlformats.org/presentationml/2006/ole">
            <mc:AlternateContent xmlns:mc="http://schemas.openxmlformats.org/markup-compatibility/2006">
              <mc:Choice xmlns:v="urn:schemas-microsoft-com:vml" Requires="v">
                <p:oleObj name="Chart" r:id="rId2" imgW="3327400" imgH="2413000" progId="Excel.Chart.8">
                  <p:embed/>
                </p:oleObj>
              </mc:Choice>
              <mc:Fallback>
                <p:oleObj name="Chart" r:id="rId2" imgW="3327400" imgH="2413000" progId="Excel.Chart.8">
                  <p:embed/>
                  <p:pic>
                    <p:nvPicPr>
                      <p:cNvPr id="32831" name="Object 65">
                        <a:extLst>
                          <a:ext uri="{FF2B5EF4-FFF2-40B4-BE49-F238E27FC236}">
                            <a16:creationId xmlns:a16="http://schemas.microsoft.com/office/drawing/2014/main" id="{08C4188B-0AB6-9A3E-E506-2A9D794D8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20663"/>
                        <a:ext cx="4724400" cy="41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32" name="Rectangle 78">
            <a:extLst>
              <a:ext uri="{FF2B5EF4-FFF2-40B4-BE49-F238E27FC236}">
                <a16:creationId xmlns:a16="http://schemas.microsoft.com/office/drawing/2014/main" id="{DCF199B7-DAE8-BF81-0696-FD6DDE59AFC3}"/>
              </a:ext>
            </a:extLst>
          </p:cNvPr>
          <p:cNvSpPr>
            <a:spLocks noChangeArrowheads="1"/>
          </p:cNvSpPr>
          <p:nvPr/>
        </p:nvSpPr>
        <p:spPr bwMode="auto">
          <a:xfrm>
            <a:off x="1524000" y="304958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aphicFrame>
        <p:nvGraphicFramePr>
          <p:cNvPr id="32833" name="Object 77">
            <a:extLst>
              <a:ext uri="{FF2B5EF4-FFF2-40B4-BE49-F238E27FC236}">
                <a16:creationId xmlns:a16="http://schemas.microsoft.com/office/drawing/2014/main" id="{0941C1E4-E822-903B-F281-C31F7E1D6EEF}"/>
              </a:ext>
            </a:extLst>
          </p:cNvPr>
          <p:cNvGraphicFramePr>
            <a:graphicFrameLocks noChangeAspect="1"/>
          </p:cNvGraphicFramePr>
          <p:nvPr/>
        </p:nvGraphicFramePr>
        <p:xfrm>
          <a:off x="7467600" y="4592638"/>
          <a:ext cx="1676400" cy="817562"/>
        </p:xfrm>
        <a:graphic>
          <a:graphicData uri="http://schemas.openxmlformats.org/presentationml/2006/ole">
            <mc:AlternateContent xmlns:mc="http://schemas.openxmlformats.org/markup-compatibility/2006">
              <mc:Choice xmlns:v="urn:schemas-microsoft-com:vml" Requires="v">
                <p:oleObj name="Equation" r:id="rId4" imgW="18427700" imgH="9067800" progId="Equation.3">
                  <p:embed/>
                </p:oleObj>
              </mc:Choice>
              <mc:Fallback>
                <p:oleObj name="Equation" r:id="rId4" imgW="18427700" imgH="9067800" progId="Equation.3">
                  <p:embed/>
                  <p:pic>
                    <p:nvPicPr>
                      <p:cNvPr id="32833" name="Object 77">
                        <a:extLst>
                          <a:ext uri="{FF2B5EF4-FFF2-40B4-BE49-F238E27FC236}">
                            <a16:creationId xmlns:a16="http://schemas.microsoft.com/office/drawing/2014/main" id="{0941C1E4-E822-903B-F281-C31F7E1D6E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4592638"/>
                        <a:ext cx="16764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34" name="Rectangle 80">
            <a:extLst>
              <a:ext uri="{FF2B5EF4-FFF2-40B4-BE49-F238E27FC236}">
                <a16:creationId xmlns:a16="http://schemas.microsoft.com/office/drawing/2014/main" id="{22ED75DA-56A5-214E-45D8-4EB73F727786}"/>
              </a:ext>
            </a:extLst>
          </p:cNvPr>
          <p:cNvSpPr>
            <a:spLocks noChangeArrowheads="1"/>
          </p:cNvSpPr>
          <p:nvPr/>
        </p:nvSpPr>
        <p:spPr bwMode="auto">
          <a:xfrm>
            <a:off x="1524000" y="304958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aphicFrame>
        <p:nvGraphicFramePr>
          <p:cNvPr id="32835" name="Object 79">
            <a:extLst>
              <a:ext uri="{FF2B5EF4-FFF2-40B4-BE49-F238E27FC236}">
                <a16:creationId xmlns:a16="http://schemas.microsoft.com/office/drawing/2014/main" id="{FB072314-A5CD-BD1E-D9A6-C49761E2B8BE}"/>
              </a:ext>
            </a:extLst>
          </p:cNvPr>
          <p:cNvGraphicFramePr>
            <a:graphicFrameLocks noChangeAspect="1"/>
          </p:cNvGraphicFramePr>
          <p:nvPr/>
        </p:nvGraphicFramePr>
        <p:xfrm>
          <a:off x="5410200" y="4619625"/>
          <a:ext cx="1600200" cy="790575"/>
        </p:xfrm>
        <a:graphic>
          <a:graphicData uri="http://schemas.openxmlformats.org/presentationml/2006/ole">
            <mc:AlternateContent xmlns:mc="http://schemas.openxmlformats.org/markup-compatibility/2006">
              <mc:Choice xmlns:v="urn:schemas-microsoft-com:vml" Requires="v">
                <p:oleObj name="Equation" r:id="rId6" imgW="18135600" imgH="9067800" progId="Equation.3">
                  <p:embed/>
                </p:oleObj>
              </mc:Choice>
              <mc:Fallback>
                <p:oleObj name="Equation" r:id="rId6" imgW="18135600" imgH="9067800" progId="Equation.3">
                  <p:embed/>
                  <p:pic>
                    <p:nvPicPr>
                      <p:cNvPr id="32835" name="Object 79">
                        <a:extLst>
                          <a:ext uri="{FF2B5EF4-FFF2-40B4-BE49-F238E27FC236}">
                            <a16:creationId xmlns:a16="http://schemas.microsoft.com/office/drawing/2014/main" id="{FB072314-A5CD-BD1E-D9A6-C49761E2B8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4619625"/>
                        <a:ext cx="1600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36" name="Rectangle 82">
            <a:extLst>
              <a:ext uri="{FF2B5EF4-FFF2-40B4-BE49-F238E27FC236}">
                <a16:creationId xmlns:a16="http://schemas.microsoft.com/office/drawing/2014/main" id="{B957D0B1-7949-64AA-DB08-F8B5447C0463}"/>
              </a:ext>
            </a:extLst>
          </p:cNvPr>
          <p:cNvSpPr>
            <a:spLocks noChangeArrowheads="1"/>
          </p:cNvSpPr>
          <p:nvPr/>
        </p:nvSpPr>
        <p:spPr bwMode="auto">
          <a:xfrm>
            <a:off x="1524000" y="304958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aphicFrame>
        <p:nvGraphicFramePr>
          <p:cNvPr id="32837" name="Object 81">
            <a:extLst>
              <a:ext uri="{FF2B5EF4-FFF2-40B4-BE49-F238E27FC236}">
                <a16:creationId xmlns:a16="http://schemas.microsoft.com/office/drawing/2014/main" id="{099A060F-1AD2-0F14-ED58-94E9D3378BA2}"/>
              </a:ext>
            </a:extLst>
          </p:cNvPr>
          <p:cNvGraphicFramePr>
            <a:graphicFrameLocks noChangeAspect="1"/>
          </p:cNvGraphicFramePr>
          <p:nvPr/>
        </p:nvGraphicFramePr>
        <p:xfrm>
          <a:off x="10210800" y="4572000"/>
          <a:ext cx="1447800" cy="860425"/>
        </p:xfrm>
        <a:graphic>
          <a:graphicData uri="http://schemas.openxmlformats.org/presentationml/2006/ole">
            <mc:AlternateContent xmlns:mc="http://schemas.openxmlformats.org/markup-compatibility/2006">
              <mc:Choice xmlns:v="urn:schemas-microsoft-com:vml" Requires="v">
                <p:oleObj name="Equation" r:id="rId8" imgW="15214600" imgH="9067800" progId="Equation.3">
                  <p:embed/>
                </p:oleObj>
              </mc:Choice>
              <mc:Fallback>
                <p:oleObj name="Equation" r:id="rId8" imgW="15214600" imgH="9067800" progId="Equation.3">
                  <p:embed/>
                  <p:pic>
                    <p:nvPicPr>
                      <p:cNvPr id="32837" name="Object 81">
                        <a:extLst>
                          <a:ext uri="{FF2B5EF4-FFF2-40B4-BE49-F238E27FC236}">
                            <a16:creationId xmlns:a16="http://schemas.microsoft.com/office/drawing/2014/main" id="{099A060F-1AD2-0F14-ED58-94E9D3378B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0800" y="4572000"/>
                        <a:ext cx="14478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Group 2">
            <a:extLst>
              <a:ext uri="{FF2B5EF4-FFF2-40B4-BE49-F238E27FC236}">
                <a16:creationId xmlns:a16="http://schemas.microsoft.com/office/drawing/2014/main" id="{F55C06D4-3D5E-D377-365E-5FCFBC068854}"/>
              </a:ext>
            </a:extLst>
          </p:cNvPr>
          <p:cNvGraphicFramePr>
            <a:graphicFrameLocks noGrp="1"/>
          </p:cNvGraphicFramePr>
          <p:nvPr/>
        </p:nvGraphicFramePr>
        <p:xfrm>
          <a:off x="990600" y="533400"/>
          <a:ext cx="3276600" cy="518160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937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368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495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3855" name="Object 64">
            <a:extLst>
              <a:ext uri="{FF2B5EF4-FFF2-40B4-BE49-F238E27FC236}">
                <a16:creationId xmlns:a16="http://schemas.microsoft.com/office/drawing/2014/main" id="{F851FC91-E020-6F10-4DC0-6102FF8F014F}"/>
              </a:ext>
            </a:extLst>
          </p:cNvPr>
          <p:cNvGraphicFramePr>
            <a:graphicFrameLocks noChangeAspect="1"/>
          </p:cNvGraphicFramePr>
          <p:nvPr/>
        </p:nvGraphicFramePr>
        <p:xfrm>
          <a:off x="6629400" y="3200400"/>
          <a:ext cx="3733800" cy="2903538"/>
        </p:xfrm>
        <a:graphic>
          <a:graphicData uri="http://schemas.openxmlformats.org/presentationml/2006/ole">
            <mc:AlternateContent xmlns:mc="http://schemas.openxmlformats.org/markup-compatibility/2006">
              <mc:Choice xmlns:v="urn:schemas-microsoft-com:vml" Requires="v">
                <p:oleObj name="Chart" r:id="rId2" imgW="3340100" imgH="2413000" progId="Excel.Chart.8">
                  <p:embed/>
                </p:oleObj>
              </mc:Choice>
              <mc:Fallback>
                <p:oleObj name="Chart" r:id="rId2" imgW="3340100" imgH="2413000" progId="Excel.Chart.8">
                  <p:embed/>
                  <p:pic>
                    <p:nvPicPr>
                      <p:cNvPr id="33855" name="Object 64">
                        <a:extLst>
                          <a:ext uri="{FF2B5EF4-FFF2-40B4-BE49-F238E27FC236}">
                            <a16:creationId xmlns:a16="http://schemas.microsoft.com/office/drawing/2014/main" id="{F851FC91-E020-6F10-4DC0-6102FF8F0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3200400"/>
                        <a:ext cx="3733800"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56" name="Object 65">
            <a:extLst>
              <a:ext uri="{FF2B5EF4-FFF2-40B4-BE49-F238E27FC236}">
                <a16:creationId xmlns:a16="http://schemas.microsoft.com/office/drawing/2014/main" id="{11D93011-157A-6E06-A299-8FF7E34CA0FC}"/>
              </a:ext>
            </a:extLst>
          </p:cNvPr>
          <p:cNvGraphicFramePr>
            <a:graphicFrameLocks noChangeAspect="1"/>
          </p:cNvGraphicFramePr>
          <p:nvPr/>
        </p:nvGraphicFramePr>
        <p:xfrm>
          <a:off x="6629400" y="0"/>
          <a:ext cx="3733800" cy="3319463"/>
        </p:xfrm>
        <a:graphic>
          <a:graphicData uri="http://schemas.openxmlformats.org/presentationml/2006/ole">
            <mc:AlternateContent xmlns:mc="http://schemas.openxmlformats.org/markup-compatibility/2006">
              <mc:Choice xmlns:v="urn:schemas-microsoft-com:vml" Requires="v">
                <p:oleObj name="Chart" r:id="rId4" imgW="3327400" imgH="2413000" progId="Excel.Chart.8">
                  <p:embed/>
                </p:oleObj>
              </mc:Choice>
              <mc:Fallback>
                <p:oleObj name="Chart" r:id="rId4" imgW="3327400" imgH="2413000" progId="Excel.Chart.8">
                  <p:embed/>
                  <p:pic>
                    <p:nvPicPr>
                      <p:cNvPr id="33856" name="Object 65">
                        <a:extLst>
                          <a:ext uri="{FF2B5EF4-FFF2-40B4-BE49-F238E27FC236}">
                            <a16:creationId xmlns:a16="http://schemas.microsoft.com/office/drawing/2014/main" id="{11D93011-157A-6E06-A299-8FF7E34CA0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0"/>
                        <a:ext cx="3733800" cy="331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Group 2">
            <a:extLst>
              <a:ext uri="{FF2B5EF4-FFF2-40B4-BE49-F238E27FC236}">
                <a16:creationId xmlns:a16="http://schemas.microsoft.com/office/drawing/2014/main" id="{4C6086F2-78E0-EA22-51DC-CD3FE8696D6C}"/>
              </a:ext>
            </a:extLst>
          </p:cNvPr>
          <p:cNvGraphicFramePr>
            <a:graphicFrameLocks noGrp="1"/>
          </p:cNvGraphicFramePr>
          <p:nvPr/>
        </p:nvGraphicFramePr>
        <p:xfrm>
          <a:off x="990600" y="457200"/>
          <a:ext cx="3276600" cy="518160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937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368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495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4879" name="Object 64">
            <a:extLst>
              <a:ext uri="{FF2B5EF4-FFF2-40B4-BE49-F238E27FC236}">
                <a16:creationId xmlns:a16="http://schemas.microsoft.com/office/drawing/2014/main" id="{637D5B99-8021-7C1D-5D8F-E8C1065EB771}"/>
              </a:ext>
            </a:extLst>
          </p:cNvPr>
          <p:cNvGraphicFramePr>
            <a:graphicFrameLocks noChangeAspect="1"/>
          </p:cNvGraphicFramePr>
          <p:nvPr/>
        </p:nvGraphicFramePr>
        <p:xfrm>
          <a:off x="6629400" y="2971800"/>
          <a:ext cx="3429000" cy="2667000"/>
        </p:xfrm>
        <a:graphic>
          <a:graphicData uri="http://schemas.openxmlformats.org/presentationml/2006/ole">
            <mc:AlternateContent xmlns:mc="http://schemas.openxmlformats.org/markup-compatibility/2006">
              <mc:Choice xmlns:v="urn:schemas-microsoft-com:vml" Requires="v">
                <p:oleObj name="Chart" r:id="rId2" imgW="3340100" imgH="2413000" progId="Excel.Chart.8">
                  <p:embed/>
                </p:oleObj>
              </mc:Choice>
              <mc:Fallback>
                <p:oleObj name="Chart" r:id="rId2" imgW="3340100" imgH="2413000" progId="Excel.Chart.8">
                  <p:embed/>
                  <p:pic>
                    <p:nvPicPr>
                      <p:cNvPr id="34879" name="Object 64">
                        <a:extLst>
                          <a:ext uri="{FF2B5EF4-FFF2-40B4-BE49-F238E27FC236}">
                            <a16:creationId xmlns:a16="http://schemas.microsoft.com/office/drawing/2014/main" id="{637D5B99-8021-7C1D-5D8F-E8C1065EB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971800"/>
                        <a:ext cx="3429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80" name="Object 65">
            <a:extLst>
              <a:ext uri="{FF2B5EF4-FFF2-40B4-BE49-F238E27FC236}">
                <a16:creationId xmlns:a16="http://schemas.microsoft.com/office/drawing/2014/main" id="{F1F471BF-6BA6-6102-CBED-268F719BEF50}"/>
              </a:ext>
            </a:extLst>
          </p:cNvPr>
          <p:cNvGraphicFramePr>
            <a:graphicFrameLocks noChangeAspect="1"/>
          </p:cNvGraphicFramePr>
          <p:nvPr/>
        </p:nvGraphicFramePr>
        <p:xfrm>
          <a:off x="6629400" y="0"/>
          <a:ext cx="3429000" cy="3048000"/>
        </p:xfrm>
        <a:graphic>
          <a:graphicData uri="http://schemas.openxmlformats.org/presentationml/2006/ole">
            <mc:AlternateContent xmlns:mc="http://schemas.openxmlformats.org/markup-compatibility/2006">
              <mc:Choice xmlns:v="urn:schemas-microsoft-com:vml" Requires="v">
                <p:oleObj name="Chart" r:id="rId4" imgW="3327400" imgH="2413000" progId="Excel.Chart.8">
                  <p:embed/>
                </p:oleObj>
              </mc:Choice>
              <mc:Fallback>
                <p:oleObj name="Chart" r:id="rId4" imgW="3327400" imgH="2413000" progId="Excel.Chart.8">
                  <p:embed/>
                  <p:pic>
                    <p:nvPicPr>
                      <p:cNvPr id="34880" name="Object 65">
                        <a:extLst>
                          <a:ext uri="{FF2B5EF4-FFF2-40B4-BE49-F238E27FC236}">
                            <a16:creationId xmlns:a16="http://schemas.microsoft.com/office/drawing/2014/main" id="{F1F471BF-6BA6-6102-CBED-268F719BEF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0"/>
                        <a:ext cx="3429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81" name="Line 67">
            <a:extLst>
              <a:ext uri="{FF2B5EF4-FFF2-40B4-BE49-F238E27FC236}">
                <a16:creationId xmlns:a16="http://schemas.microsoft.com/office/drawing/2014/main" id="{FA26CE29-0F60-A7B7-599C-4B082B6BC797}"/>
              </a:ext>
            </a:extLst>
          </p:cNvPr>
          <p:cNvSpPr>
            <a:spLocks noChangeShapeType="1"/>
          </p:cNvSpPr>
          <p:nvPr/>
        </p:nvSpPr>
        <p:spPr bwMode="auto">
          <a:xfrm>
            <a:off x="9220200" y="685800"/>
            <a:ext cx="0" cy="464820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34882" name="Line 68">
            <a:extLst>
              <a:ext uri="{FF2B5EF4-FFF2-40B4-BE49-F238E27FC236}">
                <a16:creationId xmlns:a16="http://schemas.microsoft.com/office/drawing/2014/main" id="{D2799641-FA26-5D5B-3916-C4F5D045F1B4}"/>
              </a:ext>
            </a:extLst>
          </p:cNvPr>
          <p:cNvSpPr>
            <a:spLocks noChangeShapeType="1"/>
          </p:cNvSpPr>
          <p:nvPr/>
        </p:nvSpPr>
        <p:spPr bwMode="auto">
          <a:xfrm>
            <a:off x="7772400" y="685800"/>
            <a:ext cx="0" cy="464820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Group 2">
            <a:extLst>
              <a:ext uri="{FF2B5EF4-FFF2-40B4-BE49-F238E27FC236}">
                <a16:creationId xmlns:a16="http://schemas.microsoft.com/office/drawing/2014/main" id="{73D0814B-043F-373A-73CF-5F2B3875548A}"/>
              </a:ext>
            </a:extLst>
          </p:cNvPr>
          <p:cNvGraphicFramePr>
            <a:graphicFrameLocks noGrp="1"/>
          </p:cNvGraphicFramePr>
          <p:nvPr/>
        </p:nvGraphicFramePr>
        <p:xfrm>
          <a:off x="838200" y="990600"/>
          <a:ext cx="3276600" cy="518160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937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Q</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100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90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368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98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92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430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62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480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72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504</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63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00">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495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8313">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470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-25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1"/>
                        </a:buClr>
                        <a:buSzPct val="70000"/>
                        <a:buFont typeface="Wingdings" panose="05000000000000000000" pitchFamily="2" charset="2"/>
                        <a:defRPr sz="2600">
                          <a:solidFill>
                            <a:schemeClr val="tx2"/>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defRPr sz="2400">
                          <a:solidFill>
                            <a:schemeClr val="tx2"/>
                          </a:solidFill>
                          <a:latin typeface="Arial" panose="020B0604020202020204" pitchFamily="34" charset="0"/>
                          <a:cs typeface="Arial" panose="020B0604020202020204" pitchFamily="34" charset="0"/>
                        </a:defRPr>
                      </a:lvl2pPr>
                      <a:lvl3pPr>
                        <a:spcBef>
                          <a:spcPct val="20000"/>
                        </a:spcBef>
                        <a:buClr>
                          <a:schemeClr val="accent2"/>
                        </a:buClr>
                        <a:defRPr sz="2000">
                          <a:solidFill>
                            <a:schemeClr val="tx2"/>
                          </a:solidFill>
                          <a:latin typeface="Arial" panose="020B0604020202020204" pitchFamily="34" charset="0"/>
                          <a:cs typeface="Arial" panose="020B0604020202020204" pitchFamily="34" charset="0"/>
                        </a:defRPr>
                      </a:lvl3pPr>
                      <a:lvl4pPr>
                        <a:spcBef>
                          <a:spcPct val="20000"/>
                        </a:spcBef>
                        <a:buClr>
                          <a:schemeClr val="tx1"/>
                        </a:buClr>
                        <a:defRPr>
                          <a:solidFill>
                            <a:schemeClr val="tx2"/>
                          </a:solidFill>
                          <a:latin typeface="Arial" panose="020B0604020202020204" pitchFamily="34" charset="0"/>
                          <a:cs typeface="Arial" panose="020B0604020202020204" pitchFamily="34" charset="0"/>
                        </a:defRPr>
                      </a:lvl4pPr>
                      <a:lvl5pPr>
                        <a:spcBef>
                          <a:spcPct val="20000"/>
                        </a:spcBef>
                        <a:defRPr>
                          <a:solidFill>
                            <a:schemeClr val="tx2"/>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2"/>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2"/>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2"/>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2"/>
                          </a:solidFill>
                          <a:latin typeface="Arial" panose="020B0604020202020204" pitchFamily="34" charset="0"/>
                          <a:cs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
                          <a:schemeClr val="tx1"/>
                        </a:buClr>
                        <a:buSzPct val="70000"/>
                        <a:buFont typeface="Wingdings" panose="05000000000000000000" pitchFamily="2" charset="2"/>
                        <a:buNone/>
                        <a:tabLst/>
                      </a:pP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47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5903" name="Object 64">
            <a:extLst>
              <a:ext uri="{FF2B5EF4-FFF2-40B4-BE49-F238E27FC236}">
                <a16:creationId xmlns:a16="http://schemas.microsoft.com/office/drawing/2014/main" id="{B0560B65-ED92-01D3-60AA-7BBABF1A6963}"/>
              </a:ext>
            </a:extLst>
          </p:cNvPr>
          <p:cNvGraphicFramePr>
            <a:graphicFrameLocks noChangeAspect="1"/>
          </p:cNvGraphicFramePr>
          <p:nvPr/>
        </p:nvGraphicFramePr>
        <p:xfrm>
          <a:off x="6629400" y="2971800"/>
          <a:ext cx="3429000" cy="2667000"/>
        </p:xfrm>
        <a:graphic>
          <a:graphicData uri="http://schemas.openxmlformats.org/presentationml/2006/ole">
            <mc:AlternateContent xmlns:mc="http://schemas.openxmlformats.org/markup-compatibility/2006">
              <mc:Choice xmlns:v="urn:schemas-microsoft-com:vml" Requires="v">
                <p:oleObj name="Chart" r:id="rId2" imgW="3340100" imgH="2413000" progId="Excel.Chart.8">
                  <p:embed/>
                </p:oleObj>
              </mc:Choice>
              <mc:Fallback>
                <p:oleObj name="Chart" r:id="rId2" imgW="3340100" imgH="2413000" progId="Excel.Chart.8">
                  <p:embed/>
                  <p:pic>
                    <p:nvPicPr>
                      <p:cNvPr id="35903" name="Object 64">
                        <a:extLst>
                          <a:ext uri="{FF2B5EF4-FFF2-40B4-BE49-F238E27FC236}">
                            <a16:creationId xmlns:a16="http://schemas.microsoft.com/office/drawing/2014/main" id="{B0560B65-ED92-01D3-60AA-7BBABF1A6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971800"/>
                        <a:ext cx="3429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904" name="Object 65">
            <a:extLst>
              <a:ext uri="{FF2B5EF4-FFF2-40B4-BE49-F238E27FC236}">
                <a16:creationId xmlns:a16="http://schemas.microsoft.com/office/drawing/2014/main" id="{5914E3E8-7193-86E9-82DB-71E8391034A8}"/>
              </a:ext>
            </a:extLst>
          </p:cNvPr>
          <p:cNvGraphicFramePr>
            <a:graphicFrameLocks noChangeAspect="1"/>
          </p:cNvGraphicFramePr>
          <p:nvPr/>
        </p:nvGraphicFramePr>
        <p:xfrm>
          <a:off x="6629400" y="0"/>
          <a:ext cx="3429000" cy="3048000"/>
        </p:xfrm>
        <a:graphic>
          <a:graphicData uri="http://schemas.openxmlformats.org/presentationml/2006/ole">
            <mc:AlternateContent xmlns:mc="http://schemas.openxmlformats.org/markup-compatibility/2006">
              <mc:Choice xmlns:v="urn:schemas-microsoft-com:vml" Requires="v">
                <p:oleObj name="Chart" r:id="rId4" imgW="3327400" imgH="2413000" progId="Excel.Chart.8">
                  <p:embed/>
                </p:oleObj>
              </mc:Choice>
              <mc:Fallback>
                <p:oleObj name="Chart" r:id="rId4" imgW="3327400" imgH="2413000" progId="Excel.Chart.8">
                  <p:embed/>
                  <p:pic>
                    <p:nvPicPr>
                      <p:cNvPr id="35904" name="Object 65">
                        <a:extLst>
                          <a:ext uri="{FF2B5EF4-FFF2-40B4-BE49-F238E27FC236}">
                            <a16:creationId xmlns:a16="http://schemas.microsoft.com/office/drawing/2014/main" id="{5914E3E8-7193-86E9-82DB-71E8391034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0"/>
                        <a:ext cx="3429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05" name="Rectangle 66">
            <a:extLst>
              <a:ext uri="{FF2B5EF4-FFF2-40B4-BE49-F238E27FC236}">
                <a16:creationId xmlns:a16="http://schemas.microsoft.com/office/drawing/2014/main" id="{0C4FD555-8735-715F-EE15-463EBA537506}"/>
              </a:ext>
            </a:extLst>
          </p:cNvPr>
          <p:cNvSpPr>
            <a:spLocks noChangeArrowheads="1"/>
          </p:cNvSpPr>
          <p:nvPr/>
        </p:nvSpPr>
        <p:spPr bwMode="auto">
          <a:xfrm>
            <a:off x="7772400" y="304800"/>
            <a:ext cx="1371600" cy="5029200"/>
          </a:xfrm>
          <a:prstGeom prst="rect">
            <a:avLst/>
          </a:prstGeom>
          <a:solidFill>
            <a:srgbClr val="666699">
              <a:alpha val="34117"/>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35906" name="Rectangle 67">
            <a:extLst>
              <a:ext uri="{FF2B5EF4-FFF2-40B4-BE49-F238E27FC236}">
                <a16:creationId xmlns:a16="http://schemas.microsoft.com/office/drawing/2014/main" id="{520EAE88-8466-789F-65F5-9A0C486FA923}"/>
              </a:ext>
            </a:extLst>
          </p:cNvPr>
          <p:cNvSpPr>
            <a:spLocks noChangeArrowheads="1"/>
          </p:cNvSpPr>
          <p:nvPr/>
        </p:nvSpPr>
        <p:spPr bwMode="auto">
          <a:xfrm>
            <a:off x="5862638" y="5705475"/>
            <a:ext cx="44116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1  Increasing marginal productivity zone</a:t>
            </a:r>
          </a:p>
          <a:p>
            <a:pPr eaLnBrk="1" hangingPunct="1">
              <a:lnSpc>
                <a:spcPct val="100000"/>
              </a:lnSpc>
              <a:spcBef>
                <a:spcPct val="0"/>
              </a:spcBef>
              <a:buFontTx/>
              <a:buNone/>
            </a:pPr>
            <a:r>
              <a:rPr lang="en-US" altLang="en-US" sz="1800" b="1">
                <a:solidFill>
                  <a:srgbClr val="000000"/>
                </a:solidFill>
                <a:latin typeface="Times New Roman" panose="02020603050405020304" pitchFamily="18" charset="0"/>
                <a:cs typeface="Times New Roman" panose="02020603050405020304" pitchFamily="18" charset="0"/>
              </a:rPr>
              <a:t>2   </a:t>
            </a:r>
            <a:r>
              <a:rPr lang="en-US" altLang="en-US" sz="1800" b="1">
                <a:latin typeface="Times New Roman" panose="02020603050405020304" pitchFamily="18" charset="0"/>
                <a:cs typeface="Times New Roman" panose="02020603050405020304" pitchFamily="18" charset="0"/>
              </a:rPr>
              <a:t>Diminishing marginal productivity zone</a:t>
            </a:r>
          </a:p>
          <a:p>
            <a:pPr eaLnBrk="1" hangingPunct="1">
              <a:lnSpc>
                <a:spcPct val="100000"/>
              </a:lnSpc>
              <a:spcBef>
                <a:spcPct val="0"/>
              </a:spcBef>
              <a:buFontTx/>
              <a:buNone/>
            </a:pPr>
            <a:r>
              <a:rPr lang="en-US" altLang="en-US" sz="1800" b="1">
                <a:latin typeface="Times New Roman" panose="02020603050405020304" pitchFamily="18" charset="0"/>
                <a:cs typeface="Times New Roman" panose="02020603050405020304" pitchFamily="18" charset="0"/>
              </a:rPr>
              <a:t>3  Negative </a:t>
            </a:r>
            <a:r>
              <a:rPr lang="en-US" altLang="en-US" sz="1800" b="1">
                <a:solidFill>
                  <a:srgbClr val="000000"/>
                </a:solidFill>
                <a:latin typeface="Times New Roman" panose="02020603050405020304" pitchFamily="18" charset="0"/>
                <a:cs typeface="Times New Roman" panose="02020603050405020304" pitchFamily="18" charset="0"/>
              </a:rPr>
              <a:t>marginal productivity zone</a:t>
            </a:r>
          </a:p>
        </p:txBody>
      </p:sp>
      <p:sp>
        <p:nvSpPr>
          <p:cNvPr id="35907" name="Oval 68">
            <a:extLst>
              <a:ext uri="{FF2B5EF4-FFF2-40B4-BE49-F238E27FC236}">
                <a16:creationId xmlns:a16="http://schemas.microsoft.com/office/drawing/2014/main" id="{E5821077-7A46-23C2-5ED0-6AC67D9FC9D8}"/>
              </a:ext>
            </a:extLst>
          </p:cNvPr>
          <p:cNvSpPr>
            <a:spLocks noChangeArrowheads="1"/>
          </p:cNvSpPr>
          <p:nvPr/>
        </p:nvSpPr>
        <p:spPr bwMode="auto">
          <a:xfrm>
            <a:off x="7162800" y="2819400"/>
            <a:ext cx="533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a:latin typeface="Arial" panose="020B0604020202020204" pitchFamily="34" charset="0"/>
              </a:rPr>
              <a:t>1</a:t>
            </a:r>
          </a:p>
        </p:txBody>
      </p:sp>
      <p:sp>
        <p:nvSpPr>
          <p:cNvPr id="35908" name="Oval 69">
            <a:extLst>
              <a:ext uri="{FF2B5EF4-FFF2-40B4-BE49-F238E27FC236}">
                <a16:creationId xmlns:a16="http://schemas.microsoft.com/office/drawing/2014/main" id="{65063317-9E1B-C259-1899-DCB362A6A388}"/>
              </a:ext>
            </a:extLst>
          </p:cNvPr>
          <p:cNvSpPr>
            <a:spLocks noChangeArrowheads="1"/>
          </p:cNvSpPr>
          <p:nvPr/>
        </p:nvSpPr>
        <p:spPr bwMode="auto">
          <a:xfrm>
            <a:off x="8077200" y="2819400"/>
            <a:ext cx="533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a:latin typeface="Arial" panose="020B0604020202020204" pitchFamily="34" charset="0"/>
              </a:rPr>
              <a:t>2</a:t>
            </a:r>
          </a:p>
        </p:txBody>
      </p:sp>
      <p:sp>
        <p:nvSpPr>
          <p:cNvPr id="35909" name="Oval 70">
            <a:extLst>
              <a:ext uri="{FF2B5EF4-FFF2-40B4-BE49-F238E27FC236}">
                <a16:creationId xmlns:a16="http://schemas.microsoft.com/office/drawing/2014/main" id="{1A4F846A-26B4-1596-78C5-F69D1F65912C}"/>
              </a:ext>
            </a:extLst>
          </p:cNvPr>
          <p:cNvSpPr>
            <a:spLocks noChangeArrowheads="1"/>
          </p:cNvSpPr>
          <p:nvPr/>
        </p:nvSpPr>
        <p:spPr bwMode="auto">
          <a:xfrm>
            <a:off x="9220200" y="2819400"/>
            <a:ext cx="5334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a:latin typeface="Arial" panose="020B0604020202020204" pitchFamily="34" charset="0"/>
              </a:rPr>
              <a:t>3</a:t>
            </a:r>
          </a:p>
        </p:txBody>
      </p:sp>
      <p:sp>
        <p:nvSpPr>
          <p:cNvPr id="35910" name="Rectangle 71">
            <a:extLst>
              <a:ext uri="{FF2B5EF4-FFF2-40B4-BE49-F238E27FC236}">
                <a16:creationId xmlns:a16="http://schemas.microsoft.com/office/drawing/2014/main" id="{7AA601EE-BA9D-CED1-879D-53456741AB01}"/>
              </a:ext>
            </a:extLst>
          </p:cNvPr>
          <p:cNvSpPr>
            <a:spLocks noChangeArrowheads="1"/>
          </p:cNvSpPr>
          <p:nvPr/>
        </p:nvSpPr>
        <p:spPr bwMode="auto">
          <a:xfrm>
            <a:off x="685800" y="304800"/>
            <a:ext cx="3886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00" b="1">
                <a:latin typeface="Times New Roman" panose="02020603050405020304" pitchFamily="18" charset="0"/>
                <a:cs typeface="Times New Roman" panose="02020603050405020304" pitchFamily="18" charset="0"/>
              </a:rPr>
              <a:t>Short term production function</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820" y="436911"/>
            <a:ext cx="7498080" cy="562074"/>
          </a:xfrm>
        </p:spPr>
        <p:txBody>
          <a:bodyPr>
            <a:normAutofit fontScale="90000"/>
          </a:bodyPr>
          <a:lstStyle/>
          <a:p>
            <a:pPr algn="just"/>
            <a:r>
              <a:rPr lang="en-US" b="1" dirty="0">
                <a:latin typeface="Times New Roman" panose="02020603050405020304" pitchFamily="18" charset="0"/>
                <a:cs typeface="Times New Roman" panose="02020603050405020304" pitchFamily="18" charset="0"/>
              </a:rPr>
              <a:t>Exercise</a:t>
            </a:r>
            <a:endParaRPr lang="en-IN" b="1"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115024598"/>
              </p:ext>
            </p:extLst>
          </p:nvPr>
        </p:nvGraphicFramePr>
        <p:xfrm>
          <a:off x="1487090" y="1436084"/>
          <a:ext cx="8095321" cy="4985005"/>
        </p:xfrm>
        <a:graphic>
          <a:graphicData uri="http://schemas.openxmlformats.org/drawingml/2006/table">
            <a:tbl>
              <a:tblPr firstRow="1" bandRow="1">
                <a:tableStyleId>{5C22544A-7EE6-4342-B048-85BDC9FD1C3A}</a:tableStyleId>
              </a:tblPr>
              <a:tblGrid>
                <a:gridCol w="1524325">
                  <a:extLst>
                    <a:ext uri="{9D8B030D-6E8A-4147-A177-3AD203B41FA5}">
                      <a16:colId xmlns:a16="http://schemas.microsoft.com/office/drawing/2014/main" val="20000"/>
                    </a:ext>
                  </a:extLst>
                </a:gridCol>
                <a:gridCol w="1911314">
                  <a:extLst>
                    <a:ext uri="{9D8B030D-6E8A-4147-A177-3AD203B41FA5}">
                      <a16:colId xmlns:a16="http://schemas.microsoft.com/office/drawing/2014/main" val="20001"/>
                    </a:ext>
                  </a:extLst>
                </a:gridCol>
                <a:gridCol w="2229633">
                  <a:extLst>
                    <a:ext uri="{9D8B030D-6E8A-4147-A177-3AD203B41FA5}">
                      <a16:colId xmlns:a16="http://schemas.microsoft.com/office/drawing/2014/main" val="20002"/>
                    </a:ext>
                  </a:extLst>
                </a:gridCol>
                <a:gridCol w="2430049">
                  <a:extLst>
                    <a:ext uri="{9D8B030D-6E8A-4147-A177-3AD203B41FA5}">
                      <a16:colId xmlns:a16="http://schemas.microsoft.com/office/drawing/2014/main" val="20003"/>
                    </a:ext>
                  </a:extLst>
                </a:gridCol>
              </a:tblGrid>
              <a:tr h="733775">
                <a:tc>
                  <a:txBody>
                    <a:bodyPr/>
                    <a:lstStyle/>
                    <a:p>
                      <a:pPr algn="ctr"/>
                      <a:r>
                        <a:rPr lang="en-US" dirty="0">
                          <a:latin typeface="Times New Roman" panose="02020603050405020304" pitchFamily="18" charset="0"/>
                          <a:cs typeface="Times New Roman" panose="02020603050405020304" pitchFamily="18" charset="0"/>
                        </a:rPr>
                        <a:t>No. of Workers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Total Product (TP)</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Average Product (AP)</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Marginal</a:t>
                      </a:r>
                      <a:r>
                        <a:rPr lang="en-US" baseline="0" dirty="0">
                          <a:latin typeface="Times New Roman" panose="02020603050405020304" pitchFamily="18" charset="0"/>
                          <a:cs typeface="Times New Roman" panose="02020603050405020304" pitchFamily="18" charset="0"/>
                        </a:rPr>
                        <a:t> Product (MP)</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25123">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425123">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22</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425123">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36</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425123">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52</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425123">
                <a:tc>
                  <a:txBody>
                    <a:bodyPr/>
                    <a:lstStyle/>
                    <a:p>
                      <a:pPr algn="ctr"/>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66</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425123">
                <a:tc>
                  <a:txBody>
                    <a:bodyPr/>
                    <a:lstStyle/>
                    <a:p>
                      <a:pPr algn="ctr"/>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76</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r h="425123">
                <a:tc>
                  <a:txBody>
                    <a:bodyPr/>
                    <a:lstStyle/>
                    <a:p>
                      <a:pPr algn="ctr"/>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82</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r h="425123">
                <a:tc>
                  <a:txBody>
                    <a:bodyPr/>
                    <a:lstStyle/>
                    <a:p>
                      <a:pPr algn="ctr"/>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85</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8"/>
                  </a:ext>
                </a:extLst>
              </a:tr>
              <a:tr h="425123">
                <a:tc>
                  <a:txBody>
                    <a:bodyPr/>
                    <a:lstStyle/>
                    <a:p>
                      <a:pPr algn="ctr"/>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85</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9"/>
                  </a:ext>
                </a:extLst>
              </a:tr>
              <a:tr h="425123">
                <a:tc>
                  <a:txBody>
                    <a:bodyPr/>
                    <a:lstStyle/>
                    <a:p>
                      <a:pPr algn="ctr"/>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83</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Content Placeholder 5">
            <a:extLst>
              <a:ext uri="{FF2B5EF4-FFF2-40B4-BE49-F238E27FC236}">
                <a16:creationId xmlns:a16="http://schemas.microsoft.com/office/drawing/2014/main" id="{C5129E7E-EFA7-6B93-4BE3-91F095F1E697}"/>
              </a:ext>
            </a:extLst>
          </p:cNvPr>
          <p:cNvGraphicFramePr>
            <a:graphicFrameLocks noGrp="1"/>
          </p:cNvGraphicFramePr>
          <p:nvPr>
            <p:ph idx="1"/>
            <p:extLst>
              <p:ext uri="{D42A27DB-BD31-4B8C-83A1-F6EECF244321}">
                <p14:modId xmlns:p14="http://schemas.microsoft.com/office/powerpoint/2010/main" val="3562751146"/>
              </p:ext>
            </p:extLst>
          </p:nvPr>
        </p:nvGraphicFramePr>
        <p:xfrm>
          <a:off x="6741895" y="1595342"/>
          <a:ext cx="503445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Theory of Production for Total Product, Average Product, Marginal Product  43316544 Vector Art at Vecteezy">
            <a:extLst>
              <a:ext uri="{FF2B5EF4-FFF2-40B4-BE49-F238E27FC236}">
                <a16:creationId xmlns:a16="http://schemas.microsoft.com/office/drawing/2014/main" id="{867AE860-5E80-D5D8-22CA-502E895275AC}"/>
              </a:ext>
            </a:extLst>
          </p:cNvPr>
          <p:cNvPicPr>
            <a:picLocks noChangeAspect="1"/>
          </p:cNvPicPr>
          <p:nvPr/>
        </p:nvPicPr>
        <p:blipFill>
          <a:blip r:embed="rId7"/>
          <a:stretch>
            <a:fillRect/>
          </a:stretch>
        </p:blipFill>
        <p:spPr>
          <a:xfrm>
            <a:off x="1255483" y="183700"/>
            <a:ext cx="5465378" cy="6157982"/>
          </a:xfrm>
          <a:prstGeom prst="rect">
            <a:avLst/>
          </a:prstGeom>
        </p:spPr>
      </p:pic>
    </p:spTree>
    <p:extLst>
      <p:ext uri="{BB962C8B-B14F-4D97-AF65-F5344CB8AC3E}">
        <p14:creationId xmlns:p14="http://schemas.microsoft.com/office/powerpoint/2010/main" val="940776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Stopwatch with time motion blur">
            <a:extLst>
              <a:ext uri="{FF2B5EF4-FFF2-40B4-BE49-F238E27FC236}">
                <a16:creationId xmlns:a16="http://schemas.microsoft.com/office/drawing/2014/main" id="{ED9A9B44-1FE2-12BB-7BDD-015B4445DC63}"/>
              </a:ext>
            </a:extLst>
          </p:cNvPr>
          <p:cNvPicPr>
            <a:picLocks noChangeAspect="1"/>
          </p:cNvPicPr>
          <p:nvPr/>
        </p:nvPicPr>
        <p:blipFill>
          <a:blip r:embed="rId2"/>
          <a:srcRect r="-4" b="15490"/>
          <a:stretch/>
        </p:blipFill>
        <p:spPr>
          <a:xfrm>
            <a:off x="-1" y="-2"/>
            <a:ext cx="5410198" cy="6858002"/>
          </a:xfrm>
          <a:prstGeom prst="rect">
            <a:avLst/>
          </a:prstGeom>
        </p:spPr>
      </p:pic>
      <p:sp useBgFill="1">
        <p:nvSpPr>
          <p:cNvPr id="20" name="Rectangle 19">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US" b="1" dirty="0">
                <a:latin typeface="Times New Roman" panose="02020603050405020304" pitchFamily="18" charset="0"/>
                <a:cs typeface="Times New Roman" panose="02020603050405020304" pitchFamily="18" charset="0"/>
              </a:rPr>
              <a:t>Long Run Production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34900" y="2548128"/>
            <a:ext cx="5918187" cy="3828288"/>
          </a:xfrm>
        </p:spPr>
        <p:txBody>
          <a:bodyPr anchor="ctr">
            <a:normAutofit fontScale="92500" lnSpcReduction="20000"/>
          </a:bodyPr>
          <a:lstStyle/>
          <a:p>
            <a:r>
              <a:rPr lang="en-US">
                <a:latin typeface="Times New Roman" panose="02020603050405020304" pitchFamily="18" charset="0"/>
                <a:cs typeface="Times New Roman" panose="02020603050405020304" pitchFamily="18" charset="0"/>
              </a:rPr>
              <a:t>It refers to a period of time in which the supply of all the input is elastic, but not enough to permit a change in technology. </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In the long run, the availability of even fixed factors increases. </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Thus, in the long run, the production of commodities can be increased by employing more of both, variable and fixed inputs. </a:t>
            </a: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868" name="Picture 36867" descr="Calculator, pen, compass, money and a paper with graphs printed on it">
            <a:extLst>
              <a:ext uri="{FF2B5EF4-FFF2-40B4-BE49-F238E27FC236}">
                <a16:creationId xmlns:a16="http://schemas.microsoft.com/office/drawing/2014/main" id="{E3F60CDF-1DA0-2083-929B-561946B353FC}"/>
              </a:ext>
            </a:extLst>
          </p:cNvPr>
          <p:cNvPicPr>
            <a:picLocks noChangeAspect="1"/>
          </p:cNvPicPr>
          <p:nvPr/>
        </p:nvPicPr>
        <p:blipFill>
          <a:blip r:embed="rId2"/>
          <a:srcRect l="28346" r="24123" b="-2"/>
          <a:stretch/>
        </p:blipFill>
        <p:spPr>
          <a:xfrm>
            <a:off x="-1" y="-2"/>
            <a:ext cx="5410198" cy="6858002"/>
          </a:xfrm>
          <a:prstGeom prst="rect">
            <a:avLst/>
          </a:prstGeom>
        </p:spPr>
      </p:pic>
      <p:sp useBgFill="1">
        <p:nvSpPr>
          <p:cNvPr id="36874" name="Rectangle 3687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5" name="Rectangle 2">
            <a:extLst>
              <a:ext uri="{FF2B5EF4-FFF2-40B4-BE49-F238E27FC236}">
                <a16:creationId xmlns:a16="http://schemas.microsoft.com/office/drawing/2014/main" id="{3CC7369C-0A60-9E8E-152B-33B125CAC9CA}"/>
              </a:ext>
            </a:extLst>
          </p:cNvPr>
          <p:cNvSpPr>
            <a:spLocks noGrp="1" noChangeArrowheads="1"/>
          </p:cNvSpPr>
          <p:nvPr>
            <p:ph type="title"/>
          </p:nvPr>
        </p:nvSpPr>
        <p:spPr>
          <a:xfrm>
            <a:off x="6115317" y="405685"/>
            <a:ext cx="5464968" cy="1559301"/>
          </a:xfrm>
        </p:spPr>
        <p:txBody>
          <a:bodyPr>
            <a:normAutofit/>
          </a:bodyPr>
          <a:lstStyle/>
          <a:p>
            <a:pPr eaLnBrk="1" hangingPunct="1"/>
            <a:r>
              <a:rPr lang="en-US" altLang="en-US" sz="5400" b="1" dirty="0">
                <a:latin typeface="Times New Roman" panose="02020603050405020304" pitchFamily="18" charset="0"/>
                <a:cs typeface="Times New Roman" panose="02020603050405020304" pitchFamily="18" charset="0"/>
              </a:rPr>
              <a:t>Costs</a:t>
            </a:r>
          </a:p>
        </p:txBody>
      </p:sp>
      <p:sp>
        <p:nvSpPr>
          <p:cNvPr id="36866" name="Rectangle 3">
            <a:extLst>
              <a:ext uri="{FF2B5EF4-FFF2-40B4-BE49-F238E27FC236}">
                <a16:creationId xmlns:a16="http://schemas.microsoft.com/office/drawing/2014/main" id="{ED583419-9D31-DB96-BFA6-785F813B4948}"/>
              </a:ext>
            </a:extLst>
          </p:cNvPr>
          <p:cNvSpPr>
            <a:spLocks noGrp="1"/>
          </p:cNvSpPr>
          <p:nvPr>
            <p:ph idx="1"/>
          </p:nvPr>
        </p:nvSpPr>
        <p:spPr>
          <a:xfrm>
            <a:off x="5990056" y="2668043"/>
            <a:ext cx="5696727" cy="3709115"/>
          </a:xfrm>
        </p:spPr>
        <p:txBody>
          <a:bodyPr rtlCol="0" anchor="ctr">
            <a:normAutofit/>
          </a:bodyPr>
          <a:lstStyle/>
          <a:p>
            <a:pPr eaLnBrk="1" fontAlgn="auto" hangingPunct="1">
              <a:spcAft>
                <a:spcPts val="0"/>
              </a:spcAft>
              <a:defRPr/>
            </a:pPr>
            <a:r>
              <a:rPr lang="en-US" altLang="en-US" b="1" dirty="0">
                <a:latin typeface="Times New Roman" panose="02020603050405020304" pitchFamily="18" charset="0"/>
                <a:cs typeface="Times New Roman" panose="02020603050405020304" pitchFamily="18" charset="0"/>
              </a:rPr>
              <a:t>A firm’s total cost of producing a given level of output is the opportunity cost of the owners</a:t>
            </a:r>
          </a:p>
          <a:p>
            <a:pPr marL="342900" lvl="1" indent="0" eaLnBrk="1" fontAlgn="auto" hangingPunct="1">
              <a:spcAft>
                <a:spcPts val="0"/>
              </a:spcAft>
              <a:buFont typeface="Calibri" panose="020F0502020204030204" pitchFamily="34" charset="0"/>
              <a:buNone/>
              <a:defRPr/>
            </a:pPr>
            <a:endParaRPr lang="en-US" altLang="en-US" sz="2800" dirty="0">
              <a:latin typeface="Times New Roman" panose="02020603050405020304" pitchFamily="18" charset="0"/>
              <a:cs typeface="Times New Roman" panose="02020603050405020304" pitchFamily="18" charset="0"/>
            </a:endParaRPr>
          </a:p>
          <a:p>
            <a:pPr marL="800100" lvl="1" indent="-457200" eaLnBrk="1" fontAlgn="auto" hangingPunct="1">
              <a:spcAft>
                <a:spcPts val="0"/>
              </a:spcAft>
              <a:buFont typeface="Wingdings" pitchFamily="2" charset="2"/>
              <a:buChar char="§"/>
              <a:defRPr/>
            </a:pPr>
            <a:r>
              <a:rPr lang="en-US" altLang="en-US" sz="2800" dirty="0">
                <a:latin typeface="Times New Roman" panose="02020603050405020304" pitchFamily="18" charset="0"/>
                <a:cs typeface="Times New Roman" panose="02020603050405020304" pitchFamily="18" charset="0"/>
              </a:rPr>
              <a:t>Everything they must give up in order to produce that amount of output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D936131D-BCC5-F3D3-10DF-E78A2000A1D6}"/>
              </a:ext>
            </a:extLst>
          </p:cNvPr>
          <p:cNvSpPr>
            <a:spLocks noGrp="1" noChangeArrowheads="1"/>
          </p:cNvSpPr>
          <p:nvPr>
            <p:ph type="title"/>
          </p:nvPr>
        </p:nvSpPr>
        <p:spPr>
          <a:xfrm>
            <a:off x="5925958" y="596329"/>
            <a:ext cx="5523253" cy="1616203"/>
          </a:xfrm>
        </p:spPr>
        <p:txBody>
          <a:bodyPr anchor="b">
            <a:normAutofit/>
          </a:bodyPr>
          <a:lstStyle/>
          <a:p>
            <a:pPr eaLnBrk="1" hangingPunct="1"/>
            <a:r>
              <a:rPr lang="en-US" altLang="en-US" sz="3200" b="1" dirty="0">
                <a:latin typeface="Times New Roman" panose="02020603050405020304" pitchFamily="18" charset="0"/>
                <a:cs typeface="Times New Roman" panose="02020603050405020304" pitchFamily="18" charset="0"/>
              </a:rPr>
              <a:t>The Irrelevance of Sunk Costs</a:t>
            </a:r>
          </a:p>
        </p:txBody>
      </p:sp>
      <p:pic>
        <p:nvPicPr>
          <p:cNvPr id="37892" name="Picture 37891" descr="White calculator">
            <a:extLst>
              <a:ext uri="{FF2B5EF4-FFF2-40B4-BE49-F238E27FC236}">
                <a16:creationId xmlns:a16="http://schemas.microsoft.com/office/drawing/2014/main" id="{0A59D5D7-AD97-CD4E-A221-D5759D7377CD}"/>
              </a:ext>
            </a:extLst>
          </p:cNvPr>
          <p:cNvPicPr>
            <a:picLocks noChangeAspect="1"/>
          </p:cNvPicPr>
          <p:nvPr/>
        </p:nvPicPr>
        <p:blipFill>
          <a:blip r:embed="rId2"/>
          <a:srcRect r="28068" b="-1"/>
          <a:stretch/>
        </p:blipFill>
        <p:spPr>
          <a:xfrm>
            <a:off x="21" y="10"/>
            <a:ext cx="5471866" cy="6857990"/>
          </a:xfrm>
          <a:prstGeom prst="rect">
            <a:avLst/>
          </a:prstGeom>
        </p:spPr>
      </p:pic>
      <p:sp>
        <p:nvSpPr>
          <p:cNvPr id="37896" name="Rectangle 37895">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8" name="Rectangle 37897">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900" name="Rectangle 3789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7890" name="Rectangle 3">
            <a:extLst>
              <a:ext uri="{FF2B5EF4-FFF2-40B4-BE49-F238E27FC236}">
                <a16:creationId xmlns:a16="http://schemas.microsoft.com/office/drawing/2014/main" id="{9E247D38-8559-8997-10D9-14586BD926B0}"/>
              </a:ext>
            </a:extLst>
          </p:cNvPr>
          <p:cNvSpPr>
            <a:spLocks noGrp="1" noChangeArrowheads="1"/>
          </p:cNvSpPr>
          <p:nvPr>
            <p:ph idx="1"/>
          </p:nvPr>
        </p:nvSpPr>
        <p:spPr>
          <a:xfrm>
            <a:off x="6091521" y="2533476"/>
            <a:ext cx="5940822" cy="3852810"/>
          </a:xfrm>
        </p:spPr>
        <p:txBody>
          <a:bodyPr anchor="t">
            <a:normAutofit/>
          </a:bodyPr>
          <a:lstStyle/>
          <a:p>
            <a:pPr eaLnBrk="1" hangingPunct="1"/>
            <a:r>
              <a:rPr lang="en-US" altLang="en-US" sz="2400" dirty="0">
                <a:latin typeface="Times New Roman" panose="02020603050405020304" pitchFamily="18" charset="0"/>
                <a:cs typeface="Times New Roman" panose="02020603050405020304" pitchFamily="18" charset="0"/>
              </a:rPr>
              <a:t>Sunk cost is one that </a:t>
            </a:r>
            <a:r>
              <a:rPr lang="en-US" altLang="en-US" sz="2400" b="1" dirty="0">
                <a:latin typeface="Times New Roman" panose="02020603050405020304" pitchFamily="18" charset="0"/>
                <a:cs typeface="Times New Roman" panose="02020603050405020304" pitchFamily="18" charset="0"/>
              </a:rPr>
              <a:t>already has been paid</a:t>
            </a:r>
            <a:r>
              <a:rPr lang="en-US" altLang="en-US" sz="2400" dirty="0">
                <a:latin typeface="Times New Roman" panose="02020603050405020304" pitchFamily="18" charset="0"/>
                <a:cs typeface="Times New Roman" panose="02020603050405020304" pitchFamily="18" charset="0"/>
              </a:rPr>
              <a:t>, or </a:t>
            </a:r>
            <a:r>
              <a:rPr lang="en-US" altLang="en-US" sz="2400" b="1" dirty="0">
                <a:latin typeface="Times New Roman" panose="02020603050405020304" pitchFamily="18" charset="0"/>
                <a:cs typeface="Times New Roman" panose="02020603050405020304" pitchFamily="18" charset="0"/>
              </a:rPr>
              <a:t>must be paid</a:t>
            </a:r>
            <a:r>
              <a:rPr lang="en-US" altLang="en-US" sz="2400" dirty="0">
                <a:latin typeface="Times New Roman" panose="02020603050405020304" pitchFamily="18" charset="0"/>
                <a:cs typeface="Times New Roman" panose="02020603050405020304" pitchFamily="18" charset="0"/>
              </a:rPr>
              <a:t>, regardless of any future action being considered</a:t>
            </a:r>
          </a:p>
          <a:p>
            <a:pPr eaLnBrk="1" hangingPunct="1"/>
            <a:r>
              <a:rPr lang="en-US" altLang="en-US" sz="2400" b="1" dirty="0">
                <a:latin typeface="Times New Roman" panose="02020603050405020304" pitchFamily="18" charset="0"/>
                <a:cs typeface="Times New Roman" panose="02020603050405020304" pitchFamily="18" charset="0"/>
              </a:rPr>
              <a:t>Should not be considered when making decisions</a:t>
            </a:r>
          </a:p>
          <a:p>
            <a:pPr eaLnBrk="1" hangingPunct="1"/>
            <a:r>
              <a:rPr lang="en-US" altLang="en-US" sz="2400" b="1" dirty="0">
                <a:latin typeface="Times New Roman" panose="02020603050405020304" pitchFamily="18" charset="0"/>
                <a:cs typeface="Times New Roman" panose="02020603050405020304" pitchFamily="18" charset="0"/>
              </a:rPr>
              <a:t>Even a future payment can be sunk</a:t>
            </a:r>
          </a:p>
          <a:p>
            <a:pPr marL="342900" lvl="1" indent="0" eaLnBrk="1" hangingPunct="1">
              <a:buFont typeface="Calibri" panose="020F0502020204030204" pitchFamily="34" charset="0"/>
              <a:buNone/>
            </a:pPr>
            <a:r>
              <a:rPr lang="en-US" altLang="en-US" dirty="0">
                <a:latin typeface="Times New Roman" panose="02020603050405020304" pitchFamily="18" charset="0"/>
                <a:cs typeface="Times New Roman" panose="02020603050405020304" pitchFamily="18" charset="0"/>
              </a:rPr>
              <a:t>If an unavoidable commitment to pay it has already been made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026"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013" name="Picture 43012" descr="Old wrinkled hands with some coins">
            <a:extLst>
              <a:ext uri="{FF2B5EF4-FFF2-40B4-BE49-F238E27FC236}">
                <a16:creationId xmlns:a16="http://schemas.microsoft.com/office/drawing/2014/main" id="{73E3789D-085E-8AAD-2574-51A34F260247}"/>
              </a:ext>
            </a:extLst>
          </p:cNvPr>
          <p:cNvPicPr>
            <a:picLocks noChangeAspect="1"/>
          </p:cNvPicPr>
          <p:nvPr/>
        </p:nvPicPr>
        <p:blipFill>
          <a:blip r:embed="rId2"/>
          <a:srcRect l="13213" r="34128" b="-2"/>
          <a:stretch/>
        </p:blipFill>
        <p:spPr>
          <a:xfrm>
            <a:off x="-1" y="-2"/>
            <a:ext cx="5410198" cy="6858002"/>
          </a:xfrm>
          <a:prstGeom prst="rect">
            <a:avLst/>
          </a:prstGeom>
        </p:spPr>
      </p:pic>
      <p:sp useBgFill="1">
        <p:nvSpPr>
          <p:cNvPr id="43028" name="Rectangle 43027">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3" name="Rectangle 2">
            <a:extLst>
              <a:ext uri="{FF2B5EF4-FFF2-40B4-BE49-F238E27FC236}">
                <a16:creationId xmlns:a16="http://schemas.microsoft.com/office/drawing/2014/main" id="{F1AF8202-0795-A869-DA9D-9F832931118E}"/>
              </a:ext>
            </a:extLst>
          </p:cNvPr>
          <p:cNvSpPr>
            <a:spLocks noGrp="1" noChangeArrowheads="1"/>
          </p:cNvSpPr>
          <p:nvPr>
            <p:ph type="title"/>
          </p:nvPr>
        </p:nvSpPr>
        <p:spPr>
          <a:xfrm>
            <a:off x="5781488" y="405685"/>
            <a:ext cx="5946054" cy="1559301"/>
          </a:xfrm>
        </p:spPr>
        <p:txBody>
          <a:bodyPr>
            <a:normAutofit/>
          </a:bodyPr>
          <a:lstStyle/>
          <a:p>
            <a:pPr eaLnBrk="1" hangingPunct="1"/>
            <a:r>
              <a:rPr lang="en-US" altLang="en-US" sz="4000" b="1" dirty="0">
                <a:latin typeface="Times New Roman" panose="02020603050405020304" pitchFamily="18" charset="0"/>
                <a:cs typeface="Times New Roman" panose="02020603050405020304" pitchFamily="18" charset="0"/>
              </a:rPr>
              <a:t>Explicit vs. Implicit Costs</a:t>
            </a:r>
          </a:p>
        </p:txBody>
      </p:sp>
      <p:sp>
        <p:nvSpPr>
          <p:cNvPr id="43011" name="Rectangle 3">
            <a:extLst>
              <a:ext uri="{FF2B5EF4-FFF2-40B4-BE49-F238E27FC236}">
                <a16:creationId xmlns:a16="http://schemas.microsoft.com/office/drawing/2014/main" id="{84E02067-6045-A4C2-3974-1A8DDA1C2CAE}"/>
              </a:ext>
            </a:extLst>
          </p:cNvPr>
          <p:cNvSpPr>
            <a:spLocks noGrp="1" noChangeArrowheads="1"/>
          </p:cNvSpPr>
          <p:nvPr>
            <p:ph idx="1"/>
          </p:nvPr>
        </p:nvSpPr>
        <p:spPr>
          <a:xfrm>
            <a:off x="5536504" y="2539999"/>
            <a:ext cx="6437782" cy="4122057"/>
          </a:xfrm>
        </p:spPr>
        <p:txBody>
          <a:bodyPr rtlCol="0" anchor="ctr">
            <a:normAutofit/>
          </a:bodyPr>
          <a:lstStyle/>
          <a:p>
            <a:pPr eaLnBrk="1" fontAlgn="auto" hangingPunct="1">
              <a:spcAft>
                <a:spcPts val="0"/>
              </a:spcAft>
              <a:defRPr/>
            </a:pPr>
            <a:r>
              <a:rPr lang="en-US" altLang="en-US" sz="2400" b="1" dirty="0">
                <a:latin typeface="Times New Roman" panose="02020603050405020304" pitchFamily="18" charset="0"/>
                <a:cs typeface="Times New Roman" panose="02020603050405020304" pitchFamily="18" charset="0"/>
              </a:rPr>
              <a:t>Types of costs</a:t>
            </a:r>
          </a:p>
          <a:p>
            <a:pPr marL="1115568" lvl="2" indent="-457200" eaLnBrk="1" fontAlgn="auto" hangingPunct="1">
              <a:spcAft>
                <a:spcPts val="0"/>
              </a:spcAft>
              <a:buFont typeface="Wingdings" pitchFamily="2" charset="2"/>
              <a:buChar char="§"/>
              <a:defRPr/>
            </a:pPr>
            <a:r>
              <a:rPr lang="en-US" altLang="en-US" sz="2400" b="1" dirty="0">
                <a:solidFill>
                  <a:srgbClr val="FF0000"/>
                </a:solidFill>
                <a:latin typeface="Times New Roman" panose="02020603050405020304" pitchFamily="18" charset="0"/>
                <a:cs typeface="Times New Roman" panose="02020603050405020304" pitchFamily="18" charset="0"/>
              </a:rPr>
              <a:t>Explicit (involving actual payments)</a:t>
            </a:r>
          </a:p>
          <a:p>
            <a:pPr marL="685800" lvl="2" indent="0" eaLnBrk="1" fontAlgn="auto" hangingPunct="1">
              <a:spcAft>
                <a:spcPts val="0"/>
              </a:spcAft>
              <a:buFont typeface="Calibri" panose="020F0502020204030204" pitchFamily="34" charset="0"/>
              <a:buNone/>
              <a:defRPr/>
            </a:pPr>
            <a:r>
              <a:rPr lang="en-US" altLang="en-US" sz="2400" dirty="0">
                <a:latin typeface="Times New Roman" panose="02020603050405020304" pitchFamily="18" charset="0"/>
                <a:cs typeface="Times New Roman" panose="02020603050405020304" pitchFamily="18" charset="0"/>
              </a:rPr>
              <a:t> Money actually paid out for the use of inputs</a:t>
            </a:r>
          </a:p>
          <a:p>
            <a:pPr marL="566928" lvl="2" indent="-182880" eaLnBrk="1" fontAlgn="auto" hangingPunct="1">
              <a:spcAft>
                <a:spcPts val="0"/>
              </a:spcAft>
              <a:defRPr/>
            </a:pPr>
            <a:endParaRPr lang="en-US" altLang="en-US" sz="2400" b="1" dirty="0">
              <a:latin typeface="Times New Roman" panose="02020603050405020304" pitchFamily="18" charset="0"/>
              <a:cs typeface="Times New Roman" panose="02020603050405020304" pitchFamily="18" charset="0"/>
            </a:endParaRPr>
          </a:p>
          <a:p>
            <a:pPr marL="1115568" lvl="2" indent="-457200" eaLnBrk="1" fontAlgn="auto" hangingPunct="1">
              <a:spcAft>
                <a:spcPts val="0"/>
              </a:spcAft>
              <a:buFont typeface="Wingdings" pitchFamily="2" charset="2"/>
              <a:buChar char="§"/>
              <a:defRPr/>
            </a:pPr>
            <a:r>
              <a:rPr lang="en-US" altLang="en-US" sz="2400" b="1" dirty="0">
                <a:solidFill>
                  <a:srgbClr val="FF0000"/>
                </a:solidFill>
                <a:latin typeface="Times New Roman" panose="02020603050405020304" pitchFamily="18" charset="0"/>
                <a:cs typeface="Times New Roman" panose="02020603050405020304" pitchFamily="18" charset="0"/>
              </a:rPr>
              <a:t>Implicit (no money changes hands)</a:t>
            </a:r>
          </a:p>
          <a:p>
            <a:pPr marL="685800" lvl="2" indent="0" eaLnBrk="1" fontAlgn="auto" hangingPunct="1">
              <a:spcAft>
                <a:spcPts val="0"/>
              </a:spcAft>
              <a:buFont typeface="Calibri" panose="020F0502020204030204" pitchFamily="34" charset="0"/>
              <a:buNone/>
              <a:defRPr/>
            </a:pPr>
            <a:r>
              <a:rPr lang="en-US" altLang="en-US" sz="2400" dirty="0">
                <a:latin typeface="Times New Roman" panose="02020603050405020304" pitchFamily="18" charset="0"/>
                <a:cs typeface="Times New Roman" panose="02020603050405020304" pitchFamily="18" charset="0"/>
              </a:rPr>
              <a:t>The cost of inputs for which there is no direct money payment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04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036" name="Picture 44035" descr="Calculator, pen, compass, money and a paper with graphs printed on it">
            <a:extLst>
              <a:ext uri="{FF2B5EF4-FFF2-40B4-BE49-F238E27FC236}">
                <a16:creationId xmlns:a16="http://schemas.microsoft.com/office/drawing/2014/main" id="{7A0A35B0-FD7E-D72C-C89A-CB2A142B5E30}"/>
              </a:ext>
            </a:extLst>
          </p:cNvPr>
          <p:cNvPicPr>
            <a:picLocks noChangeAspect="1"/>
          </p:cNvPicPr>
          <p:nvPr/>
        </p:nvPicPr>
        <p:blipFill>
          <a:blip r:embed="rId2"/>
          <a:srcRect l="28346" r="24123" b="-2"/>
          <a:stretch/>
        </p:blipFill>
        <p:spPr>
          <a:xfrm>
            <a:off x="-1" y="-2"/>
            <a:ext cx="4426858" cy="6858002"/>
          </a:xfrm>
          <a:prstGeom prst="rect">
            <a:avLst/>
          </a:prstGeom>
        </p:spPr>
      </p:pic>
      <p:sp useBgFill="1">
        <p:nvSpPr>
          <p:cNvPr id="44042" name="Rectangle 4404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4" name="Rectangle 2">
            <a:extLst>
              <a:ext uri="{FF2B5EF4-FFF2-40B4-BE49-F238E27FC236}">
                <a16:creationId xmlns:a16="http://schemas.microsoft.com/office/drawing/2014/main" id="{0D04213A-1A4D-1395-ECDD-84BD1B1514E4}"/>
              </a:ext>
            </a:extLst>
          </p:cNvPr>
          <p:cNvSpPr>
            <a:spLocks noGrp="1" noChangeArrowheads="1"/>
          </p:cNvSpPr>
          <p:nvPr>
            <p:ph type="title"/>
          </p:nvPr>
        </p:nvSpPr>
        <p:spPr>
          <a:xfrm>
            <a:off x="4692919" y="405685"/>
            <a:ext cx="6947538" cy="1559301"/>
          </a:xfrm>
        </p:spPr>
        <p:txBody>
          <a:bodyPr rtlCol="0">
            <a:normAutofit/>
          </a:bodyPr>
          <a:lstStyle/>
          <a:p>
            <a:pPr eaLnBrk="1" fontAlgn="auto" hangingPunct="1">
              <a:spcAft>
                <a:spcPts val="0"/>
              </a:spcAft>
              <a:defRPr/>
            </a:pPr>
            <a:r>
              <a:rPr lang="en-US" altLang="en-US" sz="4000" b="1" dirty="0">
                <a:latin typeface="Times New Roman" panose="02020603050405020304" pitchFamily="18" charset="0"/>
                <a:cs typeface="Times New Roman" panose="02020603050405020304" pitchFamily="18" charset="0"/>
              </a:rPr>
              <a:t>Economic vs. Accounting Costs	</a:t>
            </a:r>
          </a:p>
        </p:txBody>
      </p:sp>
      <p:sp>
        <p:nvSpPr>
          <p:cNvPr id="39938" name="Rectangle 3">
            <a:extLst>
              <a:ext uri="{FF2B5EF4-FFF2-40B4-BE49-F238E27FC236}">
                <a16:creationId xmlns:a16="http://schemas.microsoft.com/office/drawing/2014/main" id="{4B0477FE-5617-C107-D619-68082CC917CF}"/>
              </a:ext>
            </a:extLst>
          </p:cNvPr>
          <p:cNvSpPr>
            <a:spLocks noGrp="1" noChangeArrowheads="1"/>
          </p:cNvSpPr>
          <p:nvPr>
            <p:ph idx="1"/>
          </p:nvPr>
        </p:nvSpPr>
        <p:spPr>
          <a:xfrm>
            <a:off x="4692918" y="2370671"/>
            <a:ext cx="7319541" cy="4081644"/>
          </a:xfrm>
        </p:spPr>
        <p:txBody>
          <a:bodyPr anchor="ctr">
            <a:normAutofit/>
          </a:bodyPr>
          <a:lstStyle/>
          <a:p>
            <a:pPr lvl="1" eaLnBrk="1" hangingPunct="1"/>
            <a:r>
              <a:rPr lang="en-US" altLang="en-US" sz="3200" dirty="0">
                <a:latin typeface="Times New Roman" panose="02020603050405020304" pitchFamily="18" charset="0"/>
                <a:cs typeface="Times New Roman" panose="02020603050405020304" pitchFamily="18" charset="0"/>
              </a:rPr>
              <a:t>Economic costs are theoretical constructs that are intended to aid in rational decision-making.</a:t>
            </a:r>
          </a:p>
          <a:p>
            <a:pPr marL="0" indent="0" eaLnBrk="1" hangingPunct="1">
              <a:buFont typeface="Calibri" panose="020F0502020204030204" pitchFamily="34" charset="0"/>
              <a:buNone/>
            </a:pPr>
            <a:endParaRPr lang="en-US" altLang="en-US" sz="3200" dirty="0">
              <a:latin typeface="Times New Roman" panose="02020603050405020304" pitchFamily="18" charset="0"/>
              <a:cs typeface="Times New Roman" panose="02020603050405020304" pitchFamily="18" charset="0"/>
            </a:endParaRPr>
          </a:p>
          <a:p>
            <a:pPr lvl="1" eaLnBrk="1" hangingPunct="1"/>
            <a:r>
              <a:rPr lang="en-US" altLang="en-US" sz="3200" dirty="0">
                <a:latin typeface="Times New Roman" panose="02020603050405020304" pitchFamily="18" charset="0"/>
                <a:cs typeface="Times New Roman" panose="02020603050405020304" pitchFamily="18" charset="0"/>
              </a:rPr>
              <a:t>Accounting costs are legal constructs intended to provide uniformity in measurement.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5067" name="Rectangle 4506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1" name="Rectangle 2">
            <a:extLst>
              <a:ext uri="{FF2B5EF4-FFF2-40B4-BE49-F238E27FC236}">
                <a16:creationId xmlns:a16="http://schemas.microsoft.com/office/drawing/2014/main" id="{B6132D03-7ADA-7FD7-6C89-BE9E0748D7B0}"/>
              </a:ext>
            </a:extLst>
          </p:cNvPr>
          <p:cNvSpPr>
            <a:spLocks noGrp="1" noChangeArrowheads="1"/>
          </p:cNvSpPr>
          <p:nvPr>
            <p:ph type="title"/>
          </p:nvPr>
        </p:nvSpPr>
        <p:spPr>
          <a:xfrm>
            <a:off x="761803" y="350196"/>
            <a:ext cx="4646904" cy="1624520"/>
          </a:xfrm>
        </p:spPr>
        <p:txBody>
          <a:bodyPr anchor="ctr">
            <a:normAutofit/>
          </a:bodyPr>
          <a:lstStyle/>
          <a:p>
            <a:pPr eaLnBrk="1" hangingPunct="1"/>
            <a:r>
              <a:rPr lang="en-US" altLang="en-US" b="1" dirty="0">
                <a:latin typeface="Times New Roman" panose="02020603050405020304" pitchFamily="18" charset="0"/>
                <a:cs typeface="Times New Roman" panose="02020603050405020304" pitchFamily="18" charset="0"/>
              </a:rPr>
              <a:t>Profit</a:t>
            </a:r>
          </a:p>
        </p:txBody>
      </p:sp>
      <p:sp>
        <p:nvSpPr>
          <p:cNvPr id="45059" name="Rectangle 3">
            <a:extLst>
              <a:ext uri="{FF2B5EF4-FFF2-40B4-BE49-F238E27FC236}">
                <a16:creationId xmlns:a16="http://schemas.microsoft.com/office/drawing/2014/main" id="{4ECCE69A-B758-3808-70EE-AD468152F4E1}"/>
              </a:ext>
            </a:extLst>
          </p:cNvPr>
          <p:cNvSpPr>
            <a:spLocks noGrp="1" noChangeArrowheads="1"/>
          </p:cNvSpPr>
          <p:nvPr>
            <p:ph idx="1"/>
          </p:nvPr>
        </p:nvSpPr>
        <p:spPr>
          <a:xfrm>
            <a:off x="311859" y="2467432"/>
            <a:ext cx="6872712" cy="3686626"/>
          </a:xfrm>
        </p:spPr>
        <p:txBody>
          <a:bodyPr rtlCol="0" anchor="ctr">
            <a:normAutofit/>
          </a:bodyPr>
          <a:lstStyle/>
          <a:p>
            <a:pPr eaLnBrk="1" fontAlgn="auto" hangingPunct="1">
              <a:spcAft>
                <a:spcPts val="0"/>
              </a:spcAft>
              <a:defRPr/>
            </a:pPr>
            <a:r>
              <a:rPr lang="en-US" altLang="en-US" sz="2400" b="1" dirty="0">
                <a:latin typeface="Times New Roman" panose="02020603050405020304" pitchFamily="18" charset="0"/>
                <a:cs typeface="Times New Roman" panose="02020603050405020304" pitchFamily="18" charset="0"/>
              </a:rPr>
              <a:t>Profit = Total Revenue – Total Costs</a:t>
            </a:r>
          </a:p>
          <a:p>
            <a:pPr eaLnBrk="1" fontAlgn="auto" hangingPunct="1">
              <a:spcAft>
                <a:spcPts val="0"/>
              </a:spcAft>
              <a:defRPr/>
            </a:pPr>
            <a:r>
              <a:rPr lang="en-US" altLang="en-US" sz="2400" b="1" dirty="0">
                <a:latin typeface="Times New Roman" panose="02020603050405020304" pitchFamily="18" charset="0"/>
                <a:cs typeface="Times New Roman" panose="02020603050405020304" pitchFamily="18" charset="0"/>
              </a:rPr>
              <a:t>Total Net Benefits = Total Benefits minus Total Costs</a:t>
            </a:r>
          </a:p>
          <a:p>
            <a:pPr eaLnBrk="1" fontAlgn="auto" hangingPunct="1">
              <a:spcAft>
                <a:spcPts val="0"/>
              </a:spcAft>
              <a:defRPr/>
            </a:pPr>
            <a:r>
              <a:rPr lang="en-US" altLang="en-US" sz="2400" b="1" dirty="0">
                <a:latin typeface="Times New Roman" panose="02020603050405020304" pitchFamily="18" charset="0"/>
                <a:cs typeface="Times New Roman" panose="02020603050405020304" pitchFamily="18" charset="0"/>
              </a:rPr>
              <a:t>Costs as Opportunity Costs</a:t>
            </a:r>
          </a:p>
          <a:p>
            <a:pPr marL="1115568" lvl="2" indent="-457200" eaLnBrk="1" fontAlgn="auto" hangingPunct="1">
              <a:spcAft>
                <a:spcPts val="0"/>
              </a:spcAft>
              <a:buFont typeface="Wingdings" pitchFamily="2" charset="2"/>
              <a:buChar char="§"/>
              <a:defRPr/>
            </a:pPr>
            <a:r>
              <a:rPr lang="en-US" altLang="en-US" sz="2400" b="1" dirty="0">
                <a:latin typeface="Times New Roman" panose="02020603050405020304" pitchFamily="18" charset="0"/>
                <a:cs typeface="Times New Roman" panose="02020603050405020304" pitchFamily="18" charset="0"/>
              </a:rPr>
              <a:t>Explicit Costs</a:t>
            </a:r>
          </a:p>
          <a:p>
            <a:pPr marL="1115568" lvl="2" indent="-457200" eaLnBrk="1" fontAlgn="auto" hangingPunct="1">
              <a:spcAft>
                <a:spcPts val="0"/>
              </a:spcAft>
              <a:buFont typeface="Wingdings" pitchFamily="2" charset="2"/>
              <a:buChar char="§"/>
              <a:defRPr/>
            </a:pPr>
            <a:r>
              <a:rPr lang="en-US" altLang="en-US" sz="2400" b="1" dirty="0">
                <a:latin typeface="Times New Roman" panose="02020603050405020304" pitchFamily="18" charset="0"/>
                <a:cs typeface="Times New Roman" panose="02020603050405020304" pitchFamily="18" charset="0"/>
              </a:rPr>
              <a:t>Implicit Costs</a:t>
            </a:r>
          </a:p>
          <a:p>
            <a:pPr marL="566928" lvl="2" indent="-182880" eaLnBrk="1" fontAlgn="auto" hangingPunct="1">
              <a:spcAft>
                <a:spcPts val="0"/>
              </a:spcAft>
              <a:defRPr/>
            </a:pPr>
            <a:r>
              <a:rPr lang="en-US" altLang="en-US" sz="2400" dirty="0">
                <a:latin typeface="Times New Roman" panose="02020603050405020304" pitchFamily="18" charset="0"/>
                <a:cs typeface="Times New Roman" panose="02020603050405020304" pitchFamily="18" charset="0"/>
              </a:rPr>
              <a:t>The opportunity cost of entrepreneur’s invested capital</a:t>
            </a:r>
          </a:p>
          <a:p>
            <a:pPr marL="566928" lvl="2" indent="-182880" eaLnBrk="1" fontAlgn="auto" hangingPunct="1">
              <a:spcAft>
                <a:spcPts val="0"/>
              </a:spcAft>
              <a:defRPr/>
            </a:pPr>
            <a:r>
              <a:rPr lang="en-US" altLang="en-US" sz="2400" dirty="0">
                <a:latin typeface="Times New Roman" panose="02020603050405020304" pitchFamily="18" charset="0"/>
                <a:cs typeface="Times New Roman" panose="02020603050405020304" pitchFamily="18" charset="0"/>
              </a:rPr>
              <a:t>The opportunity cost of the entrepreneur’s time</a:t>
            </a:r>
          </a:p>
        </p:txBody>
      </p:sp>
      <p:pic>
        <p:nvPicPr>
          <p:cNvPr id="45061" name="Picture 45060" descr="Desk with productivity items">
            <a:extLst>
              <a:ext uri="{FF2B5EF4-FFF2-40B4-BE49-F238E27FC236}">
                <a16:creationId xmlns:a16="http://schemas.microsoft.com/office/drawing/2014/main" id="{2358CA1B-8A66-0D44-4A88-B90DB9164857}"/>
              </a:ext>
            </a:extLst>
          </p:cNvPr>
          <p:cNvPicPr>
            <a:picLocks noChangeAspect="1"/>
          </p:cNvPicPr>
          <p:nvPr/>
        </p:nvPicPr>
        <p:blipFill>
          <a:blip r:embed="rId2"/>
          <a:srcRect l="27925" r="12675" b="-2"/>
          <a:stretch/>
        </p:blipFill>
        <p:spPr>
          <a:xfrm>
            <a:off x="7286171" y="1"/>
            <a:ext cx="4912654"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4">
            <a:extLst>
              <a:ext uri="{FF2B5EF4-FFF2-40B4-BE49-F238E27FC236}">
                <a16:creationId xmlns:a16="http://schemas.microsoft.com/office/drawing/2014/main" id="{817DC439-52FC-E43C-BC61-0D3F1C87F573}"/>
              </a:ext>
            </a:extLst>
          </p:cNvPr>
          <p:cNvSpPr txBox="1">
            <a:spLocks noChangeArrowheads="1"/>
          </p:cNvSpPr>
          <p:nvPr/>
        </p:nvSpPr>
        <p:spPr bwMode="auto">
          <a:xfrm>
            <a:off x="8088313" y="6680200"/>
            <a:ext cx="18034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800" b="1">
                <a:solidFill>
                  <a:schemeClr val="bg1"/>
                </a:solidFill>
                <a:latin typeface="Arial" panose="020B0604020202020204" pitchFamily="34" charset="0"/>
              </a:rPr>
              <a:t>Copyright © 2004  South-Western</a:t>
            </a:r>
          </a:p>
        </p:txBody>
      </p:sp>
      <p:grpSp>
        <p:nvGrpSpPr>
          <p:cNvPr id="6149" name="Group 5">
            <a:extLst>
              <a:ext uri="{FF2B5EF4-FFF2-40B4-BE49-F238E27FC236}">
                <a16:creationId xmlns:a16="http://schemas.microsoft.com/office/drawing/2014/main" id="{5F873E9F-3C79-7BCC-A9C9-7ABFA433C266}"/>
              </a:ext>
            </a:extLst>
          </p:cNvPr>
          <p:cNvGrpSpPr>
            <a:grpSpLocks/>
          </p:cNvGrpSpPr>
          <p:nvPr/>
        </p:nvGrpSpPr>
        <p:grpSpPr bwMode="auto">
          <a:xfrm>
            <a:off x="1760538" y="1847850"/>
            <a:ext cx="1231900" cy="4498975"/>
            <a:chOff x="149" y="1164"/>
            <a:chExt cx="776" cy="2834"/>
          </a:xfrm>
        </p:grpSpPr>
        <p:sp>
          <p:nvSpPr>
            <p:cNvPr id="42009" name="Freeform 6">
              <a:extLst>
                <a:ext uri="{FF2B5EF4-FFF2-40B4-BE49-F238E27FC236}">
                  <a16:creationId xmlns:a16="http://schemas.microsoft.com/office/drawing/2014/main" id="{0A4662AD-B559-3635-923B-CC8344D3C244}"/>
                </a:ext>
              </a:extLst>
            </p:cNvPr>
            <p:cNvSpPr>
              <a:spLocks/>
            </p:cNvSpPr>
            <p:nvPr/>
          </p:nvSpPr>
          <p:spPr bwMode="auto">
            <a:xfrm>
              <a:off x="819" y="1164"/>
              <a:ext cx="106" cy="2834"/>
            </a:xfrm>
            <a:custGeom>
              <a:avLst/>
              <a:gdLst>
                <a:gd name="T0" fmla="*/ 2147483646 w 8"/>
                <a:gd name="T1" fmla="*/ 0 h 213"/>
                <a:gd name="T2" fmla="*/ 2147483646 w 8"/>
                <a:gd name="T3" fmla="*/ 2147483646 h 213"/>
                <a:gd name="T4" fmla="*/ 2147483646 w 8"/>
                <a:gd name="T5" fmla="*/ 2147483646 h 213"/>
                <a:gd name="T6" fmla="*/ 0 w 8"/>
                <a:gd name="T7" fmla="*/ 2147483646 h 213"/>
                <a:gd name="T8" fmla="*/ 2147483646 w 8"/>
                <a:gd name="T9" fmla="*/ 2147483646 h 213"/>
                <a:gd name="T10" fmla="*/ 2147483646 w 8"/>
                <a:gd name="T11" fmla="*/ 2147483646 h 213"/>
                <a:gd name="T12" fmla="*/ 2147483646 w 8"/>
                <a:gd name="T13" fmla="*/ 2147483646 h 2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213">
                  <a:moveTo>
                    <a:pt x="8" y="0"/>
                  </a:moveTo>
                  <a:cubicBezTo>
                    <a:pt x="6" y="0"/>
                    <a:pt x="4" y="3"/>
                    <a:pt x="4" y="5"/>
                  </a:cubicBezTo>
                  <a:cubicBezTo>
                    <a:pt x="4" y="103"/>
                    <a:pt x="4" y="103"/>
                    <a:pt x="4" y="103"/>
                  </a:cubicBezTo>
                  <a:cubicBezTo>
                    <a:pt x="4" y="105"/>
                    <a:pt x="3" y="107"/>
                    <a:pt x="0" y="107"/>
                  </a:cubicBezTo>
                  <a:cubicBezTo>
                    <a:pt x="3" y="107"/>
                    <a:pt x="4" y="109"/>
                    <a:pt x="4" y="111"/>
                  </a:cubicBezTo>
                  <a:cubicBezTo>
                    <a:pt x="4" y="208"/>
                    <a:pt x="4" y="208"/>
                    <a:pt x="4" y="208"/>
                  </a:cubicBezTo>
                  <a:cubicBezTo>
                    <a:pt x="4" y="210"/>
                    <a:pt x="6" y="213"/>
                    <a:pt x="8" y="213"/>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42010" name="Rectangle 7">
              <a:extLst>
                <a:ext uri="{FF2B5EF4-FFF2-40B4-BE49-F238E27FC236}">
                  <a16:creationId xmlns:a16="http://schemas.microsoft.com/office/drawing/2014/main" id="{D7E1591D-AA7B-D3AE-E487-CF8B8C6ECBDF}"/>
                </a:ext>
              </a:extLst>
            </p:cNvPr>
            <p:cNvSpPr>
              <a:spLocks noChangeArrowheads="1"/>
            </p:cNvSpPr>
            <p:nvPr/>
          </p:nvSpPr>
          <p:spPr bwMode="auto">
            <a:xfrm>
              <a:off x="149" y="2490"/>
              <a:ext cx="6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Revenue</a:t>
              </a:r>
              <a:endParaRPr lang="en-US" altLang="en-US" sz="1800">
                <a:latin typeface="Arial" panose="020B0604020202020204" pitchFamily="34" charset="0"/>
              </a:endParaRPr>
            </a:p>
          </p:txBody>
        </p:sp>
      </p:grpSp>
      <p:grpSp>
        <p:nvGrpSpPr>
          <p:cNvPr id="6152" name="Group 8">
            <a:extLst>
              <a:ext uri="{FF2B5EF4-FFF2-40B4-BE49-F238E27FC236}">
                <a16:creationId xmlns:a16="http://schemas.microsoft.com/office/drawing/2014/main" id="{A776FB2D-3B68-FCB7-1CDF-58729ADE32F3}"/>
              </a:ext>
            </a:extLst>
          </p:cNvPr>
          <p:cNvGrpSpPr>
            <a:grpSpLocks/>
          </p:cNvGrpSpPr>
          <p:nvPr/>
        </p:nvGrpSpPr>
        <p:grpSpPr bwMode="auto">
          <a:xfrm>
            <a:off x="5157788" y="3198813"/>
            <a:ext cx="1430337" cy="3148012"/>
            <a:chOff x="2289" y="2015"/>
            <a:chExt cx="901" cy="1983"/>
          </a:xfrm>
        </p:grpSpPr>
        <p:sp>
          <p:nvSpPr>
            <p:cNvPr id="42004" name="Rectangle 9">
              <a:extLst>
                <a:ext uri="{FF2B5EF4-FFF2-40B4-BE49-F238E27FC236}">
                  <a16:creationId xmlns:a16="http://schemas.microsoft.com/office/drawing/2014/main" id="{B2399753-05A9-79FF-9E72-68F82585EC31}"/>
                </a:ext>
              </a:extLst>
            </p:cNvPr>
            <p:cNvSpPr>
              <a:spLocks noChangeArrowheads="1"/>
            </p:cNvSpPr>
            <p:nvPr/>
          </p:nvSpPr>
          <p:spPr bwMode="auto">
            <a:xfrm>
              <a:off x="2478" y="2748"/>
              <a:ext cx="30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Total</a:t>
              </a:r>
              <a:endParaRPr lang="en-US" altLang="en-US" sz="1800">
                <a:latin typeface="Arial" panose="020B0604020202020204" pitchFamily="34" charset="0"/>
              </a:endParaRPr>
            </a:p>
          </p:txBody>
        </p:sp>
        <p:grpSp>
          <p:nvGrpSpPr>
            <p:cNvPr id="42005" name="Group 10">
              <a:extLst>
                <a:ext uri="{FF2B5EF4-FFF2-40B4-BE49-F238E27FC236}">
                  <a16:creationId xmlns:a16="http://schemas.microsoft.com/office/drawing/2014/main" id="{DEC6F285-A85D-3FFE-FEE3-227556811A26}"/>
                </a:ext>
              </a:extLst>
            </p:cNvPr>
            <p:cNvGrpSpPr>
              <a:grpSpLocks/>
            </p:cNvGrpSpPr>
            <p:nvPr/>
          </p:nvGrpSpPr>
          <p:grpSpPr bwMode="auto">
            <a:xfrm>
              <a:off x="2289" y="2015"/>
              <a:ext cx="901" cy="1983"/>
              <a:chOff x="2289" y="2015"/>
              <a:chExt cx="901" cy="1983"/>
            </a:xfrm>
          </p:grpSpPr>
          <p:sp>
            <p:nvSpPr>
              <p:cNvPr id="42007" name="Freeform 11">
                <a:extLst>
                  <a:ext uri="{FF2B5EF4-FFF2-40B4-BE49-F238E27FC236}">
                    <a16:creationId xmlns:a16="http://schemas.microsoft.com/office/drawing/2014/main" id="{CE8F5FB5-C603-C862-980F-3E5E1E3BB4B8}"/>
                  </a:ext>
                </a:extLst>
              </p:cNvPr>
              <p:cNvSpPr>
                <a:spLocks/>
              </p:cNvSpPr>
              <p:nvPr/>
            </p:nvSpPr>
            <p:spPr bwMode="auto">
              <a:xfrm>
                <a:off x="2289" y="2015"/>
                <a:ext cx="106" cy="1983"/>
              </a:xfrm>
              <a:custGeom>
                <a:avLst/>
                <a:gdLst>
                  <a:gd name="T0" fmla="*/ 0 w 8"/>
                  <a:gd name="T1" fmla="*/ 0 h 149"/>
                  <a:gd name="T2" fmla="*/ 2147483646 w 8"/>
                  <a:gd name="T3" fmla="*/ 2147483646 h 149"/>
                  <a:gd name="T4" fmla="*/ 2147483646 w 8"/>
                  <a:gd name="T5" fmla="*/ 2147483646 h 149"/>
                  <a:gd name="T6" fmla="*/ 2147483646 w 8"/>
                  <a:gd name="T7" fmla="*/ 2147483646 h 149"/>
                  <a:gd name="T8" fmla="*/ 2147483646 w 8"/>
                  <a:gd name="T9" fmla="*/ 2147483646 h 149"/>
                  <a:gd name="T10" fmla="*/ 2147483646 w 8"/>
                  <a:gd name="T11" fmla="*/ 2147483646 h 149"/>
                  <a:gd name="T12" fmla="*/ 0 w 8"/>
                  <a:gd name="T13" fmla="*/ 2147483646 h 1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149">
                    <a:moveTo>
                      <a:pt x="0" y="0"/>
                    </a:moveTo>
                    <a:cubicBezTo>
                      <a:pt x="3" y="0"/>
                      <a:pt x="4" y="3"/>
                      <a:pt x="4" y="5"/>
                    </a:cubicBezTo>
                    <a:cubicBezTo>
                      <a:pt x="4" y="71"/>
                      <a:pt x="4" y="71"/>
                      <a:pt x="4" y="71"/>
                    </a:cubicBezTo>
                    <a:cubicBezTo>
                      <a:pt x="4" y="73"/>
                      <a:pt x="6" y="75"/>
                      <a:pt x="8" y="75"/>
                    </a:cubicBezTo>
                    <a:cubicBezTo>
                      <a:pt x="6" y="75"/>
                      <a:pt x="4" y="77"/>
                      <a:pt x="4" y="79"/>
                    </a:cubicBezTo>
                    <a:cubicBezTo>
                      <a:pt x="4" y="144"/>
                      <a:pt x="4" y="144"/>
                      <a:pt x="4" y="144"/>
                    </a:cubicBezTo>
                    <a:cubicBezTo>
                      <a:pt x="4" y="146"/>
                      <a:pt x="3" y="149"/>
                      <a:pt x="0" y="149"/>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42008" name="Rectangle 12">
                <a:extLst>
                  <a:ext uri="{FF2B5EF4-FFF2-40B4-BE49-F238E27FC236}">
                    <a16:creationId xmlns:a16="http://schemas.microsoft.com/office/drawing/2014/main" id="{87000C75-E954-7198-F5C1-7B097D8C5DD6}"/>
                  </a:ext>
                </a:extLst>
              </p:cNvPr>
              <p:cNvSpPr>
                <a:spLocks noChangeArrowheads="1"/>
              </p:cNvSpPr>
              <p:nvPr/>
            </p:nvSpPr>
            <p:spPr bwMode="auto">
              <a:xfrm>
                <a:off x="2478" y="2925"/>
                <a:ext cx="7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dirty="0">
                    <a:solidFill>
                      <a:srgbClr val="000000"/>
                    </a:solidFill>
                    <a:latin typeface="Arial" panose="020B0604020202020204" pitchFamily="34" charset="0"/>
                  </a:rPr>
                  <a:t>opportunity</a:t>
                </a:r>
                <a:endParaRPr lang="en-US" altLang="en-US" sz="1800" dirty="0">
                  <a:latin typeface="Arial" panose="020B0604020202020204" pitchFamily="34" charset="0"/>
                </a:endParaRPr>
              </a:p>
            </p:txBody>
          </p:sp>
        </p:grpSp>
        <p:sp>
          <p:nvSpPr>
            <p:cNvPr id="42006" name="Rectangle 13">
              <a:extLst>
                <a:ext uri="{FF2B5EF4-FFF2-40B4-BE49-F238E27FC236}">
                  <a16:creationId xmlns:a16="http://schemas.microsoft.com/office/drawing/2014/main" id="{B717AF29-791F-E627-C224-C9C32D0062C2}"/>
                </a:ext>
              </a:extLst>
            </p:cNvPr>
            <p:cNvSpPr>
              <a:spLocks noChangeArrowheads="1"/>
            </p:cNvSpPr>
            <p:nvPr/>
          </p:nvSpPr>
          <p:spPr bwMode="auto">
            <a:xfrm>
              <a:off x="2478" y="3103"/>
              <a:ext cx="3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costs</a:t>
              </a:r>
              <a:endParaRPr lang="en-US" altLang="en-US" sz="1800">
                <a:latin typeface="Arial" panose="020B0604020202020204" pitchFamily="34" charset="0"/>
              </a:endParaRPr>
            </a:p>
          </p:txBody>
        </p:sp>
      </p:grpSp>
      <p:sp>
        <p:nvSpPr>
          <p:cNvPr id="41988" name="Rectangle 14">
            <a:extLst>
              <a:ext uri="{FF2B5EF4-FFF2-40B4-BE49-F238E27FC236}">
                <a16:creationId xmlns:a16="http://schemas.microsoft.com/office/drawing/2014/main" id="{3E8FDBCE-3BD8-8DAF-6806-FD858916C084}"/>
              </a:ext>
            </a:extLst>
          </p:cNvPr>
          <p:cNvSpPr>
            <a:spLocks noChangeArrowheads="1"/>
          </p:cNvSpPr>
          <p:nvPr/>
        </p:nvSpPr>
        <p:spPr bwMode="auto">
          <a:xfrm>
            <a:off x="3157538" y="1095375"/>
            <a:ext cx="2044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How an Economist</a:t>
            </a:r>
            <a:endParaRPr lang="en-US" altLang="en-US" sz="1800">
              <a:latin typeface="Arial" panose="020B0604020202020204" pitchFamily="34" charset="0"/>
            </a:endParaRPr>
          </a:p>
        </p:txBody>
      </p:sp>
      <p:sp>
        <p:nvSpPr>
          <p:cNvPr id="41989" name="Rectangle 15">
            <a:extLst>
              <a:ext uri="{FF2B5EF4-FFF2-40B4-BE49-F238E27FC236}">
                <a16:creationId xmlns:a16="http://schemas.microsoft.com/office/drawing/2014/main" id="{9784292F-10EE-1B55-8F63-991B4E947725}"/>
              </a:ext>
            </a:extLst>
          </p:cNvPr>
          <p:cNvSpPr>
            <a:spLocks noChangeArrowheads="1"/>
          </p:cNvSpPr>
          <p:nvPr/>
        </p:nvSpPr>
        <p:spPr bwMode="auto">
          <a:xfrm>
            <a:off x="3475038" y="1377950"/>
            <a:ext cx="139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Views a Firm</a:t>
            </a:r>
            <a:endParaRPr lang="en-US" altLang="en-US" sz="1800">
              <a:latin typeface="Arial" panose="020B0604020202020204" pitchFamily="34" charset="0"/>
            </a:endParaRPr>
          </a:p>
        </p:txBody>
      </p:sp>
      <p:sp>
        <p:nvSpPr>
          <p:cNvPr id="41990" name="Rectangle 16">
            <a:extLst>
              <a:ext uri="{FF2B5EF4-FFF2-40B4-BE49-F238E27FC236}">
                <a16:creationId xmlns:a16="http://schemas.microsoft.com/office/drawing/2014/main" id="{C8B86FAF-3578-86B8-CAEB-425B05C62CB6}"/>
              </a:ext>
            </a:extLst>
          </p:cNvPr>
          <p:cNvSpPr>
            <a:spLocks noChangeArrowheads="1"/>
          </p:cNvSpPr>
          <p:nvPr/>
        </p:nvSpPr>
        <p:spPr bwMode="auto">
          <a:xfrm>
            <a:off x="7180263" y="1095375"/>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How an Accountant</a:t>
            </a:r>
            <a:endParaRPr lang="en-US" altLang="en-US" sz="1800">
              <a:latin typeface="Arial" panose="020B0604020202020204" pitchFamily="34" charset="0"/>
            </a:endParaRPr>
          </a:p>
        </p:txBody>
      </p:sp>
      <p:sp>
        <p:nvSpPr>
          <p:cNvPr id="41991" name="Rectangle 17">
            <a:extLst>
              <a:ext uri="{FF2B5EF4-FFF2-40B4-BE49-F238E27FC236}">
                <a16:creationId xmlns:a16="http://schemas.microsoft.com/office/drawing/2014/main" id="{5C6EBB8C-9D28-D864-0BEA-BC83CF1147F4}"/>
              </a:ext>
            </a:extLst>
          </p:cNvPr>
          <p:cNvSpPr>
            <a:spLocks noChangeArrowheads="1"/>
          </p:cNvSpPr>
          <p:nvPr/>
        </p:nvSpPr>
        <p:spPr bwMode="auto">
          <a:xfrm>
            <a:off x="7540625" y="1377950"/>
            <a:ext cx="139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Views a Firm</a:t>
            </a:r>
            <a:endParaRPr lang="en-US" altLang="en-US" sz="1800">
              <a:latin typeface="Arial" panose="020B0604020202020204" pitchFamily="34" charset="0"/>
            </a:endParaRPr>
          </a:p>
        </p:txBody>
      </p:sp>
      <p:grpSp>
        <p:nvGrpSpPr>
          <p:cNvPr id="6162" name="Group 18">
            <a:extLst>
              <a:ext uri="{FF2B5EF4-FFF2-40B4-BE49-F238E27FC236}">
                <a16:creationId xmlns:a16="http://schemas.microsoft.com/office/drawing/2014/main" id="{0262490A-1F0F-8C8D-698E-045E2521D341}"/>
              </a:ext>
            </a:extLst>
          </p:cNvPr>
          <p:cNvGrpSpPr>
            <a:grpSpLocks/>
          </p:cNvGrpSpPr>
          <p:nvPr/>
        </p:nvGrpSpPr>
        <p:grpSpPr bwMode="auto">
          <a:xfrm>
            <a:off x="9172575" y="1847850"/>
            <a:ext cx="1266825" cy="4498975"/>
            <a:chOff x="4818" y="1164"/>
            <a:chExt cx="798" cy="2834"/>
          </a:xfrm>
        </p:grpSpPr>
        <p:sp>
          <p:nvSpPr>
            <p:cNvPr id="42002" name="Freeform 19">
              <a:extLst>
                <a:ext uri="{FF2B5EF4-FFF2-40B4-BE49-F238E27FC236}">
                  <a16:creationId xmlns:a16="http://schemas.microsoft.com/office/drawing/2014/main" id="{50D113CD-77A2-8FD5-3179-2B8CB1C7F515}"/>
                </a:ext>
              </a:extLst>
            </p:cNvPr>
            <p:cNvSpPr>
              <a:spLocks/>
            </p:cNvSpPr>
            <p:nvPr/>
          </p:nvSpPr>
          <p:spPr bwMode="auto">
            <a:xfrm>
              <a:off x="4818" y="1164"/>
              <a:ext cx="106" cy="2834"/>
            </a:xfrm>
            <a:custGeom>
              <a:avLst/>
              <a:gdLst>
                <a:gd name="T0" fmla="*/ 0 w 8"/>
                <a:gd name="T1" fmla="*/ 0 h 213"/>
                <a:gd name="T2" fmla="*/ 2147483646 w 8"/>
                <a:gd name="T3" fmla="*/ 2147483646 h 213"/>
                <a:gd name="T4" fmla="*/ 2147483646 w 8"/>
                <a:gd name="T5" fmla="*/ 2147483646 h 213"/>
                <a:gd name="T6" fmla="*/ 2147483646 w 8"/>
                <a:gd name="T7" fmla="*/ 2147483646 h 213"/>
                <a:gd name="T8" fmla="*/ 2147483646 w 8"/>
                <a:gd name="T9" fmla="*/ 2147483646 h 213"/>
                <a:gd name="T10" fmla="*/ 2147483646 w 8"/>
                <a:gd name="T11" fmla="*/ 2147483646 h 213"/>
                <a:gd name="T12" fmla="*/ 0 w 8"/>
                <a:gd name="T13" fmla="*/ 2147483646 h 2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213">
                  <a:moveTo>
                    <a:pt x="0" y="0"/>
                  </a:moveTo>
                  <a:cubicBezTo>
                    <a:pt x="2" y="0"/>
                    <a:pt x="4" y="3"/>
                    <a:pt x="4" y="5"/>
                  </a:cubicBezTo>
                  <a:cubicBezTo>
                    <a:pt x="4" y="103"/>
                    <a:pt x="4" y="103"/>
                    <a:pt x="4" y="103"/>
                  </a:cubicBezTo>
                  <a:cubicBezTo>
                    <a:pt x="4" y="105"/>
                    <a:pt x="6" y="107"/>
                    <a:pt x="8" y="107"/>
                  </a:cubicBezTo>
                  <a:cubicBezTo>
                    <a:pt x="6" y="107"/>
                    <a:pt x="4" y="109"/>
                    <a:pt x="4" y="111"/>
                  </a:cubicBezTo>
                  <a:cubicBezTo>
                    <a:pt x="4" y="208"/>
                    <a:pt x="4" y="208"/>
                    <a:pt x="4" y="208"/>
                  </a:cubicBezTo>
                  <a:cubicBezTo>
                    <a:pt x="4" y="210"/>
                    <a:pt x="2" y="213"/>
                    <a:pt x="0" y="213"/>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42003" name="Rectangle 20">
              <a:extLst>
                <a:ext uri="{FF2B5EF4-FFF2-40B4-BE49-F238E27FC236}">
                  <a16:creationId xmlns:a16="http://schemas.microsoft.com/office/drawing/2014/main" id="{35007EF1-AE2D-E230-BF31-FA5E4D4D5A7B}"/>
                </a:ext>
              </a:extLst>
            </p:cNvPr>
            <p:cNvSpPr>
              <a:spLocks noChangeArrowheads="1"/>
            </p:cNvSpPr>
            <p:nvPr/>
          </p:nvSpPr>
          <p:spPr bwMode="auto">
            <a:xfrm>
              <a:off x="5016" y="2490"/>
              <a:ext cx="6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Revenue</a:t>
              </a:r>
              <a:endParaRPr lang="en-US" altLang="en-US" sz="1800">
                <a:latin typeface="Arial" panose="020B0604020202020204" pitchFamily="34" charset="0"/>
              </a:endParaRPr>
            </a:p>
          </p:txBody>
        </p:sp>
      </p:grpSp>
      <p:grpSp>
        <p:nvGrpSpPr>
          <p:cNvPr id="6165" name="Group 21">
            <a:extLst>
              <a:ext uri="{FF2B5EF4-FFF2-40B4-BE49-F238E27FC236}">
                <a16:creationId xmlns:a16="http://schemas.microsoft.com/office/drawing/2014/main" id="{F8406591-26C6-8BB9-B820-0DB267C5C247}"/>
              </a:ext>
            </a:extLst>
          </p:cNvPr>
          <p:cNvGrpSpPr>
            <a:grpSpLocks/>
          </p:cNvGrpSpPr>
          <p:nvPr/>
        </p:nvGrpSpPr>
        <p:grpSpPr bwMode="auto">
          <a:xfrm>
            <a:off x="3119438" y="1847850"/>
            <a:ext cx="1912937" cy="1350963"/>
            <a:chOff x="1005" y="1164"/>
            <a:chExt cx="1205" cy="851"/>
          </a:xfrm>
        </p:grpSpPr>
        <p:sp>
          <p:nvSpPr>
            <p:cNvPr id="41999" name="Rectangle 22">
              <a:extLst>
                <a:ext uri="{FF2B5EF4-FFF2-40B4-BE49-F238E27FC236}">
                  <a16:creationId xmlns:a16="http://schemas.microsoft.com/office/drawing/2014/main" id="{D069E038-BCEC-FDFB-D115-B3307D7A621E}"/>
                </a:ext>
              </a:extLst>
            </p:cNvPr>
            <p:cNvSpPr>
              <a:spLocks noChangeArrowheads="1"/>
            </p:cNvSpPr>
            <p:nvPr/>
          </p:nvSpPr>
          <p:spPr bwMode="auto">
            <a:xfrm>
              <a:off x="1005" y="1164"/>
              <a:ext cx="1205" cy="851"/>
            </a:xfrm>
            <a:prstGeom prst="rect">
              <a:avLst/>
            </a:prstGeom>
            <a:solidFill>
              <a:schemeClr val="bg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42000" name="Rectangle 23">
              <a:extLst>
                <a:ext uri="{FF2B5EF4-FFF2-40B4-BE49-F238E27FC236}">
                  <a16:creationId xmlns:a16="http://schemas.microsoft.com/office/drawing/2014/main" id="{962C5F9D-4F59-D9CB-69CD-CF0F35DCBD4E}"/>
                </a:ext>
              </a:extLst>
            </p:cNvPr>
            <p:cNvSpPr>
              <a:spLocks noChangeArrowheads="1"/>
            </p:cNvSpPr>
            <p:nvPr/>
          </p:nvSpPr>
          <p:spPr bwMode="auto">
            <a:xfrm>
              <a:off x="1323" y="1423"/>
              <a:ext cx="6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Economic</a:t>
              </a:r>
              <a:endParaRPr lang="en-US" altLang="en-US" sz="1800">
                <a:latin typeface="Arial" panose="020B0604020202020204" pitchFamily="34" charset="0"/>
              </a:endParaRPr>
            </a:p>
          </p:txBody>
        </p:sp>
        <p:sp>
          <p:nvSpPr>
            <p:cNvPr id="42001" name="Rectangle 24">
              <a:extLst>
                <a:ext uri="{FF2B5EF4-FFF2-40B4-BE49-F238E27FC236}">
                  <a16:creationId xmlns:a16="http://schemas.microsoft.com/office/drawing/2014/main" id="{355957F7-6C2B-CF43-ADAC-A4A2ABBFA765}"/>
                </a:ext>
              </a:extLst>
            </p:cNvPr>
            <p:cNvSpPr>
              <a:spLocks noChangeArrowheads="1"/>
            </p:cNvSpPr>
            <p:nvPr/>
          </p:nvSpPr>
          <p:spPr bwMode="auto">
            <a:xfrm>
              <a:off x="1474" y="1601"/>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profit</a:t>
              </a:r>
              <a:endParaRPr lang="en-US" altLang="en-US" sz="1800">
                <a:latin typeface="Arial" panose="020B0604020202020204" pitchFamily="34" charset="0"/>
              </a:endParaRPr>
            </a:p>
          </p:txBody>
        </p:sp>
      </p:grpSp>
      <p:grpSp>
        <p:nvGrpSpPr>
          <p:cNvPr id="6169" name="Group 25">
            <a:extLst>
              <a:ext uri="{FF2B5EF4-FFF2-40B4-BE49-F238E27FC236}">
                <a16:creationId xmlns:a16="http://schemas.microsoft.com/office/drawing/2014/main" id="{F8030272-6C9C-C743-4001-F7FE1E13363C}"/>
              </a:ext>
            </a:extLst>
          </p:cNvPr>
          <p:cNvGrpSpPr>
            <a:grpSpLocks/>
          </p:cNvGrpSpPr>
          <p:nvPr/>
        </p:nvGrpSpPr>
        <p:grpSpPr bwMode="auto">
          <a:xfrm>
            <a:off x="3119439" y="3205164"/>
            <a:ext cx="1912937" cy="1311275"/>
            <a:chOff x="1005" y="2019"/>
            <a:chExt cx="1205" cy="826"/>
          </a:xfrm>
          <a:solidFill>
            <a:schemeClr val="bg1"/>
          </a:solidFill>
        </p:grpSpPr>
        <p:sp>
          <p:nvSpPr>
            <p:cNvPr id="46105" name="Rectangle 26">
              <a:extLst>
                <a:ext uri="{FF2B5EF4-FFF2-40B4-BE49-F238E27FC236}">
                  <a16:creationId xmlns:a16="http://schemas.microsoft.com/office/drawing/2014/main" id="{BC8BF264-9528-73A6-886F-06C390302CEB}"/>
                </a:ext>
              </a:extLst>
            </p:cNvPr>
            <p:cNvSpPr>
              <a:spLocks noChangeArrowheads="1"/>
            </p:cNvSpPr>
            <p:nvPr/>
          </p:nvSpPr>
          <p:spPr bwMode="auto">
            <a:xfrm>
              <a:off x="1005" y="2019"/>
              <a:ext cx="1205" cy="826"/>
            </a:xfrm>
            <a:prstGeom prst="rect">
              <a:avLst/>
            </a:prstGeom>
            <a:grp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a:p>
          </p:txBody>
        </p:sp>
        <p:sp>
          <p:nvSpPr>
            <p:cNvPr id="46106" name="Rectangle 27">
              <a:extLst>
                <a:ext uri="{FF2B5EF4-FFF2-40B4-BE49-F238E27FC236}">
                  <a16:creationId xmlns:a16="http://schemas.microsoft.com/office/drawing/2014/main" id="{A07D73B1-2F54-E718-21EC-DCA4DF01D689}"/>
                </a:ext>
              </a:extLst>
            </p:cNvPr>
            <p:cNvSpPr>
              <a:spLocks noChangeArrowheads="1"/>
            </p:cNvSpPr>
            <p:nvPr/>
          </p:nvSpPr>
          <p:spPr bwMode="auto">
            <a:xfrm>
              <a:off x="1411" y="2250"/>
              <a:ext cx="448"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Implicit</a:t>
              </a:r>
              <a:endParaRPr lang="en-US" altLang="en-US"/>
            </a:p>
          </p:txBody>
        </p:sp>
        <p:sp>
          <p:nvSpPr>
            <p:cNvPr id="46107" name="Rectangle 28">
              <a:extLst>
                <a:ext uri="{FF2B5EF4-FFF2-40B4-BE49-F238E27FC236}">
                  <a16:creationId xmlns:a16="http://schemas.microsoft.com/office/drawing/2014/main" id="{4343DC59-0E63-065C-7BC6-26348FBB8B4D}"/>
                </a:ext>
              </a:extLst>
            </p:cNvPr>
            <p:cNvSpPr>
              <a:spLocks noChangeArrowheads="1"/>
            </p:cNvSpPr>
            <p:nvPr/>
          </p:nvSpPr>
          <p:spPr bwMode="auto">
            <a:xfrm>
              <a:off x="1469" y="2428"/>
              <a:ext cx="336"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costs</a:t>
              </a:r>
              <a:endParaRPr lang="en-US" altLang="en-US"/>
            </a:p>
          </p:txBody>
        </p:sp>
      </p:grpSp>
      <p:grpSp>
        <p:nvGrpSpPr>
          <p:cNvPr id="6173" name="Group 29">
            <a:extLst>
              <a:ext uri="{FF2B5EF4-FFF2-40B4-BE49-F238E27FC236}">
                <a16:creationId xmlns:a16="http://schemas.microsoft.com/office/drawing/2014/main" id="{C72B3729-BF5F-B302-E3A3-029CD0483DB2}"/>
              </a:ext>
            </a:extLst>
          </p:cNvPr>
          <p:cNvGrpSpPr>
            <a:grpSpLocks/>
          </p:cNvGrpSpPr>
          <p:nvPr/>
        </p:nvGrpSpPr>
        <p:grpSpPr bwMode="auto">
          <a:xfrm>
            <a:off x="3119439" y="4510089"/>
            <a:ext cx="1912937" cy="1836737"/>
            <a:chOff x="1005" y="2841"/>
            <a:chExt cx="1205" cy="1157"/>
          </a:xfrm>
          <a:solidFill>
            <a:schemeClr val="bg1"/>
          </a:solidFill>
        </p:grpSpPr>
        <p:sp>
          <p:nvSpPr>
            <p:cNvPr id="46102" name="Rectangle 30">
              <a:extLst>
                <a:ext uri="{FF2B5EF4-FFF2-40B4-BE49-F238E27FC236}">
                  <a16:creationId xmlns:a16="http://schemas.microsoft.com/office/drawing/2014/main" id="{A0D4488E-71C2-727B-EE32-E3B3BBE8B00B}"/>
                </a:ext>
              </a:extLst>
            </p:cNvPr>
            <p:cNvSpPr>
              <a:spLocks noChangeArrowheads="1"/>
            </p:cNvSpPr>
            <p:nvPr/>
          </p:nvSpPr>
          <p:spPr bwMode="auto">
            <a:xfrm>
              <a:off x="1005" y="2841"/>
              <a:ext cx="1205" cy="1157"/>
            </a:xfrm>
            <a:prstGeom prst="rect">
              <a:avLst/>
            </a:prstGeom>
            <a:grp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a:p>
          </p:txBody>
        </p:sp>
        <p:sp>
          <p:nvSpPr>
            <p:cNvPr id="46103" name="Rectangle 31">
              <a:extLst>
                <a:ext uri="{FF2B5EF4-FFF2-40B4-BE49-F238E27FC236}">
                  <a16:creationId xmlns:a16="http://schemas.microsoft.com/office/drawing/2014/main" id="{B6BD8D1C-84E3-3F3A-F696-DCAA13F2B0F8}"/>
                </a:ext>
              </a:extLst>
            </p:cNvPr>
            <p:cNvSpPr>
              <a:spLocks noChangeArrowheads="1"/>
            </p:cNvSpPr>
            <p:nvPr/>
          </p:nvSpPr>
          <p:spPr bwMode="auto">
            <a:xfrm>
              <a:off x="1407" y="3237"/>
              <a:ext cx="456"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Explicit</a:t>
              </a:r>
              <a:endParaRPr lang="en-US" altLang="en-US"/>
            </a:p>
          </p:txBody>
        </p:sp>
        <p:sp>
          <p:nvSpPr>
            <p:cNvPr id="46104" name="Rectangle 32">
              <a:extLst>
                <a:ext uri="{FF2B5EF4-FFF2-40B4-BE49-F238E27FC236}">
                  <a16:creationId xmlns:a16="http://schemas.microsoft.com/office/drawing/2014/main" id="{DF4AB571-5449-0057-31E9-6476DB62BC85}"/>
                </a:ext>
              </a:extLst>
            </p:cNvPr>
            <p:cNvSpPr>
              <a:spLocks noChangeArrowheads="1"/>
            </p:cNvSpPr>
            <p:nvPr/>
          </p:nvSpPr>
          <p:spPr bwMode="auto">
            <a:xfrm>
              <a:off x="1469" y="3414"/>
              <a:ext cx="336"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costs</a:t>
              </a:r>
              <a:endParaRPr lang="en-US" altLang="en-US"/>
            </a:p>
          </p:txBody>
        </p:sp>
      </p:grpSp>
      <p:grpSp>
        <p:nvGrpSpPr>
          <p:cNvPr id="6177" name="Group 33">
            <a:extLst>
              <a:ext uri="{FF2B5EF4-FFF2-40B4-BE49-F238E27FC236}">
                <a16:creationId xmlns:a16="http://schemas.microsoft.com/office/drawing/2014/main" id="{EC27962F-20B7-4945-4F1F-2F0BC2BC3323}"/>
              </a:ext>
            </a:extLst>
          </p:cNvPr>
          <p:cNvGrpSpPr>
            <a:grpSpLocks/>
          </p:cNvGrpSpPr>
          <p:nvPr/>
        </p:nvGrpSpPr>
        <p:grpSpPr bwMode="auto">
          <a:xfrm>
            <a:off x="7175500" y="4503739"/>
            <a:ext cx="1892300" cy="1836737"/>
            <a:chOff x="3560" y="2837"/>
            <a:chExt cx="1192" cy="1157"/>
          </a:xfrm>
          <a:solidFill>
            <a:schemeClr val="bg1"/>
          </a:solidFill>
        </p:grpSpPr>
        <p:sp>
          <p:nvSpPr>
            <p:cNvPr id="46099" name="Rectangle 34">
              <a:extLst>
                <a:ext uri="{FF2B5EF4-FFF2-40B4-BE49-F238E27FC236}">
                  <a16:creationId xmlns:a16="http://schemas.microsoft.com/office/drawing/2014/main" id="{CE93526C-ED89-66E6-F162-D555A41EC4C6}"/>
                </a:ext>
              </a:extLst>
            </p:cNvPr>
            <p:cNvSpPr>
              <a:spLocks noChangeArrowheads="1"/>
            </p:cNvSpPr>
            <p:nvPr/>
          </p:nvSpPr>
          <p:spPr bwMode="auto">
            <a:xfrm>
              <a:off x="3560" y="2837"/>
              <a:ext cx="1192" cy="1157"/>
            </a:xfrm>
            <a:prstGeom prst="rect">
              <a:avLst/>
            </a:prstGeom>
            <a:grp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a:p>
          </p:txBody>
        </p:sp>
        <p:sp>
          <p:nvSpPr>
            <p:cNvPr id="46100" name="Rectangle 35">
              <a:extLst>
                <a:ext uri="{FF2B5EF4-FFF2-40B4-BE49-F238E27FC236}">
                  <a16:creationId xmlns:a16="http://schemas.microsoft.com/office/drawing/2014/main" id="{A078C10B-2B49-BF16-6011-C7CBFD36C518}"/>
                </a:ext>
              </a:extLst>
            </p:cNvPr>
            <p:cNvSpPr>
              <a:spLocks noChangeArrowheads="1"/>
            </p:cNvSpPr>
            <p:nvPr/>
          </p:nvSpPr>
          <p:spPr bwMode="auto">
            <a:xfrm>
              <a:off x="3944" y="3237"/>
              <a:ext cx="456"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Explicit</a:t>
              </a:r>
              <a:endParaRPr lang="en-US" altLang="en-US"/>
            </a:p>
          </p:txBody>
        </p:sp>
        <p:sp>
          <p:nvSpPr>
            <p:cNvPr id="46101" name="Rectangle 36">
              <a:extLst>
                <a:ext uri="{FF2B5EF4-FFF2-40B4-BE49-F238E27FC236}">
                  <a16:creationId xmlns:a16="http://schemas.microsoft.com/office/drawing/2014/main" id="{C9DD0A79-4611-A24C-77C3-5F6BEB99BB48}"/>
                </a:ext>
              </a:extLst>
            </p:cNvPr>
            <p:cNvSpPr>
              <a:spLocks noChangeArrowheads="1"/>
            </p:cNvSpPr>
            <p:nvPr/>
          </p:nvSpPr>
          <p:spPr bwMode="auto">
            <a:xfrm>
              <a:off x="4006" y="3414"/>
              <a:ext cx="336"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costs</a:t>
              </a:r>
              <a:endParaRPr lang="en-US" altLang="en-US"/>
            </a:p>
          </p:txBody>
        </p:sp>
      </p:grpSp>
      <p:grpSp>
        <p:nvGrpSpPr>
          <p:cNvPr id="6181" name="Group 37">
            <a:extLst>
              <a:ext uri="{FF2B5EF4-FFF2-40B4-BE49-F238E27FC236}">
                <a16:creationId xmlns:a16="http://schemas.microsoft.com/office/drawing/2014/main" id="{F545AC51-0C5F-9909-01A9-81AFEE6D6F4E}"/>
              </a:ext>
            </a:extLst>
          </p:cNvPr>
          <p:cNvGrpSpPr>
            <a:grpSpLocks/>
          </p:cNvGrpSpPr>
          <p:nvPr/>
        </p:nvGrpSpPr>
        <p:grpSpPr bwMode="auto">
          <a:xfrm>
            <a:off x="7175500" y="1855788"/>
            <a:ext cx="1892300" cy="2641600"/>
            <a:chOff x="3560" y="1169"/>
            <a:chExt cx="1192" cy="1664"/>
          </a:xfrm>
          <a:solidFill>
            <a:schemeClr val="bg1"/>
          </a:solidFill>
        </p:grpSpPr>
        <p:sp>
          <p:nvSpPr>
            <p:cNvPr id="46096" name="Rectangle 38">
              <a:extLst>
                <a:ext uri="{FF2B5EF4-FFF2-40B4-BE49-F238E27FC236}">
                  <a16:creationId xmlns:a16="http://schemas.microsoft.com/office/drawing/2014/main" id="{C4C5ABDE-2E77-7EF4-55E8-AE588879C29C}"/>
                </a:ext>
              </a:extLst>
            </p:cNvPr>
            <p:cNvSpPr>
              <a:spLocks noChangeArrowheads="1"/>
            </p:cNvSpPr>
            <p:nvPr/>
          </p:nvSpPr>
          <p:spPr bwMode="auto">
            <a:xfrm>
              <a:off x="3560" y="1169"/>
              <a:ext cx="1192" cy="1664"/>
            </a:xfrm>
            <a:prstGeom prst="rect">
              <a:avLst/>
            </a:prstGeom>
            <a:grp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a:p>
          </p:txBody>
        </p:sp>
        <p:sp>
          <p:nvSpPr>
            <p:cNvPr id="46097" name="Rectangle 39">
              <a:extLst>
                <a:ext uri="{FF2B5EF4-FFF2-40B4-BE49-F238E27FC236}">
                  <a16:creationId xmlns:a16="http://schemas.microsoft.com/office/drawing/2014/main" id="{0579F295-FE72-F122-0E0C-59E2E1E0F406}"/>
                </a:ext>
              </a:extLst>
            </p:cNvPr>
            <p:cNvSpPr>
              <a:spLocks noChangeArrowheads="1"/>
            </p:cNvSpPr>
            <p:nvPr/>
          </p:nvSpPr>
          <p:spPr bwMode="auto">
            <a:xfrm>
              <a:off x="3835" y="1815"/>
              <a:ext cx="712"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Accounting</a:t>
              </a:r>
              <a:endParaRPr lang="en-US" altLang="en-US"/>
            </a:p>
          </p:txBody>
        </p:sp>
        <p:sp>
          <p:nvSpPr>
            <p:cNvPr id="46098" name="Rectangle 40">
              <a:extLst>
                <a:ext uri="{FF2B5EF4-FFF2-40B4-BE49-F238E27FC236}">
                  <a16:creationId xmlns:a16="http://schemas.microsoft.com/office/drawing/2014/main" id="{30CB5C9A-9537-292D-4FE3-0904CDD4662B}"/>
                </a:ext>
              </a:extLst>
            </p:cNvPr>
            <p:cNvSpPr>
              <a:spLocks noChangeArrowheads="1"/>
            </p:cNvSpPr>
            <p:nvPr/>
          </p:nvSpPr>
          <p:spPr bwMode="auto">
            <a:xfrm>
              <a:off x="4026" y="1993"/>
              <a:ext cx="320" cy="173"/>
            </a:xfrm>
            <a:prstGeom prst="rect">
              <a:avLst/>
            </a:prstGeom>
            <a:grpFill/>
            <a:ln>
              <a:noFill/>
            </a:ln>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a:solidFill>
                    <a:srgbClr val="000000"/>
                  </a:solidFill>
                </a:rPr>
                <a:t>profit</a:t>
              </a:r>
              <a:endParaRPr lang="en-US" altLang="en-US"/>
            </a:p>
          </p:txBody>
        </p:sp>
      </p:grpSp>
      <p:sp>
        <p:nvSpPr>
          <p:cNvPr id="41998" name="Title 1">
            <a:extLst>
              <a:ext uri="{FF2B5EF4-FFF2-40B4-BE49-F238E27FC236}">
                <a16:creationId xmlns:a16="http://schemas.microsoft.com/office/drawing/2014/main" id="{11E18A54-B8F8-BDE8-3035-9079552CDC45}"/>
              </a:ext>
            </a:extLst>
          </p:cNvPr>
          <p:cNvSpPr>
            <a:spLocks noGrp="1" noChangeArrowheads="1"/>
          </p:cNvSpPr>
          <p:nvPr>
            <p:ph type="title"/>
          </p:nvPr>
        </p:nvSpPr>
        <p:spPr>
          <a:xfrm>
            <a:off x="228600" y="401638"/>
            <a:ext cx="8229600" cy="808037"/>
          </a:xfrm>
        </p:spPr>
        <p:txBody>
          <a:bodyPr>
            <a:normAutofit fontScale="90000"/>
          </a:bodyPr>
          <a:lstStyle/>
          <a:p>
            <a:pPr algn="ctr" eaLnBrk="1" hangingPunct="1"/>
            <a:r>
              <a:rPr lang="en-US" altLang="en-US" sz="4000" b="1" dirty="0">
                <a:latin typeface="Times New Roman" panose="02020603050405020304" pitchFamily="18" charset="0"/>
                <a:cs typeface="Times New Roman" panose="02020603050405020304" pitchFamily="18" charset="0"/>
              </a:rPr>
              <a:t>Economic versus Accounting Profit</a:t>
            </a:r>
            <a:br>
              <a:rPr lang="en-US" altLang="en-US" sz="4000" b="1" dirty="0"/>
            </a:br>
            <a:endParaRPr lang="en-US" altLang="en-US" sz="40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77"/>
                                        </p:tgtEl>
                                        <p:attrNameLst>
                                          <p:attrName>style.visibility</p:attrName>
                                        </p:attrNameLst>
                                      </p:cBhvr>
                                      <p:to>
                                        <p:strVal val="visible"/>
                                      </p:to>
                                    </p:set>
                                    <p:animEffect transition="in" filter="dissolve">
                                      <p:cBhvr>
                                        <p:cTn id="7" dur="500"/>
                                        <p:tgtEl>
                                          <p:spTgt spid="61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181"/>
                                        </p:tgtEl>
                                        <p:attrNameLst>
                                          <p:attrName>style.visibility</p:attrName>
                                        </p:attrNameLst>
                                      </p:cBhvr>
                                      <p:to>
                                        <p:strVal val="visible"/>
                                      </p:to>
                                    </p:set>
                                    <p:animEffect transition="in" filter="dissolve">
                                      <p:cBhvr>
                                        <p:cTn id="12" dur="500"/>
                                        <p:tgtEl>
                                          <p:spTgt spid="6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62"/>
                                        </p:tgtEl>
                                        <p:attrNameLst>
                                          <p:attrName>style.visibility</p:attrName>
                                        </p:attrNameLst>
                                      </p:cBhvr>
                                      <p:to>
                                        <p:strVal val="visible"/>
                                      </p:to>
                                    </p:set>
                                    <p:animEffect transition="in" filter="wipe(left)">
                                      <p:cBhvr>
                                        <p:cTn id="17" dur="500"/>
                                        <p:tgtEl>
                                          <p:spTgt spid="61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173"/>
                                        </p:tgtEl>
                                        <p:attrNameLst>
                                          <p:attrName>style.visibility</p:attrName>
                                        </p:attrNameLst>
                                      </p:cBhvr>
                                      <p:to>
                                        <p:strVal val="visible"/>
                                      </p:to>
                                    </p:set>
                                    <p:animEffect transition="in" filter="dissolve">
                                      <p:cBhvr>
                                        <p:cTn id="22" dur="500"/>
                                        <p:tgtEl>
                                          <p:spTgt spid="61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169"/>
                                        </p:tgtEl>
                                        <p:attrNameLst>
                                          <p:attrName>style.visibility</p:attrName>
                                        </p:attrNameLst>
                                      </p:cBhvr>
                                      <p:to>
                                        <p:strVal val="visible"/>
                                      </p:to>
                                    </p:set>
                                    <p:animEffect transition="in" filter="dissolve">
                                      <p:cBhvr>
                                        <p:cTn id="27" dur="500"/>
                                        <p:tgtEl>
                                          <p:spTgt spid="61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165"/>
                                        </p:tgtEl>
                                        <p:attrNameLst>
                                          <p:attrName>style.visibility</p:attrName>
                                        </p:attrNameLst>
                                      </p:cBhvr>
                                      <p:to>
                                        <p:strVal val="visible"/>
                                      </p:to>
                                    </p:set>
                                    <p:animEffect transition="in" filter="dissolve">
                                      <p:cBhvr>
                                        <p:cTn id="32" dur="500"/>
                                        <p:tgtEl>
                                          <p:spTgt spid="61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6149"/>
                                        </p:tgtEl>
                                        <p:attrNameLst>
                                          <p:attrName>style.visibility</p:attrName>
                                        </p:attrNameLst>
                                      </p:cBhvr>
                                      <p:to>
                                        <p:strVal val="visible"/>
                                      </p:to>
                                    </p:set>
                                    <p:animEffect transition="in" filter="wipe(right)">
                                      <p:cBhvr>
                                        <p:cTn id="37" dur="500"/>
                                        <p:tgtEl>
                                          <p:spTgt spid="61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152"/>
                                        </p:tgtEl>
                                        <p:attrNameLst>
                                          <p:attrName>style.visibility</p:attrName>
                                        </p:attrNameLst>
                                      </p:cBhvr>
                                      <p:to>
                                        <p:strVal val="visible"/>
                                      </p:to>
                                    </p:set>
                                    <p:animEffect transition="in" filter="wipe(left)">
                                      <p:cBhvr>
                                        <p:cTn id="42"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C6086E-E102-23F6-9AD4-314CF5720C1A}"/>
              </a:ext>
            </a:extLst>
          </p:cNvPr>
          <p:cNvSpPr>
            <a:spLocks noGrp="1"/>
          </p:cNvSpPr>
          <p:nvPr>
            <p:ph type="title"/>
          </p:nvPr>
        </p:nvSpPr>
        <p:spPr>
          <a:xfrm>
            <a:off x="1028700" y="1967266"/>
            <a:ext cx="2628900" cy="2547257"/>
          </a:xfrm>
          <a:noFill/>
        </p:spPr>
        <p:txBody>
          <a:bodyPr anchor="ctr">
            <a:normAutofit/>
          </a:bodyPr>
          <a:lstStyle/>
          <a:p>
            <a:pPr algn="ctr"/>
            <a:r>
              <a:rPr lang="en-US" altLang="en-US" sz="3600" b="1" dirty="0">
                <a:solidFill>
                  <a:srgbClr val="FFFFFF"/>
                </a:solidFill>
                <a:latin typeface="Times New Roman" panose="02020603050405020304" pitchFamily="18" charset="0"/>
                <a:cs typeface="Times New Roman" panose="02020603050405020304" pitchFamily="18" charset="0"/>
              </a:rPr>
              <a:t>Economic vs. Accounting Profit</a:t>
            </a:r>
            <a:endParaRPr lang="en-LK" sz="3600" dirty="0">
              <a:solidFill>
                <a:srgbClr val="FFFFFF"/>
              </a:solidFill>
            </a:endParaRPr>
          </a:p>
        </p:txBody>
      </p:sp>
      <p:pic>
        <p:nvPicPr>
          <p:cNvPr id="4" name="Picture 3" descr="A diagram of a cost and economic cost&#10;&#10;AI-generated content may be incorrect.">
            <a:extLst>
              <a:ext uri="{FF2B5EF4-FFF2-40B4-BE49-F238E27FC236}">
                <a16:creationId xmlns:a16="http://schemas.microsoft.com/office/drawing/2014/main" id="{E4918FFD-AA9B-40D4-6B1A-E185F042F6A4}"/>
              </a:ext>
            </a:extLst>
          </p:cNvPr>
          <p:cNvPicPr>
            <a:picLocks noChangeAspect="1"/>
          </p:cNvPicPr>
          <p:nvPr/>
        </p:nvPicPr>
        <p:blipFill>
          <a:blip r:embed="rId2"/>
          <a:stretch>
            <a:fillRect/>
          </a:stretch>
        </p:blipFill>
        <p:spPr>
          <a:xfrm>
            <a:off x="4777316" y="715555"/>
            <a:ext cx="6780700" cy="5424560"/>
          </a:xfrm>
          <a:prstGeom prst="rect">
            <a:avLst/>
          </a:prstGeom>
        </p:spPr>
      </p:pic>
    </p:spTree>
    <p:extLst>
      <p:ext uri="{BB962C8B-B14F-4D97-AF65-F5344CB8AC3E}">
        <p14:creationId xmlns:p14="http://schemas.microsoft.com/office/powerpoint/2010/main" val="3153213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6A157A0-66E1-F315-0000-77E39B200D74}"/>
              </a:ext>
            </a:extLst>
          </p:cNvPr>
          <p:cNvSpPr>
            <a:spLocks noGrp="1" noChangeArrowheads="1"/>
          </p:cNvSpPr>
          <p:nvPr>
            <p:ph type="title"/>
          </p:nvPr>
        </p:nvSpPr>
        <p:spPr>
          <a:xfrm>
            <a:off x="762000" y="287338"/>
            <a:ext cx="9677400" cy="1449387"/>
          </a:xfrm>
          <a:solidFill>
            <a:schemeClr val="bg1"/>
          </a:solidFill>
        </p:spPr>
        <p:txBody>
          <a:bodyPr rtlCol="0">
            <a:noAutofit/>
          </a:bodyPr>
          <a:lstStyle/>
          <a:p>
            <a:pPr eaLnBrk="1" fontAlgn="auto" hangingPunct="1">
              <a:spcAft>
                <a:spcPts val="0"/>
              </a:spcAft>
              <a:defRPr/>
            </a:pPr>
            <a:r>
              <a:rPr lang="en-US" altLang="en-US" sz="5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vs. Accounting profit</a:t>
            </a:r>
            <a:endParaRPr lang="en-US" altLang="en-US" sz="5400" b="1" dirty="0">
              <a:latin typeface="Times New Roman" panose="02020603050405020304" pitchFamily="18" charset="0"/>
              <a:cs typeface="Times New Roman" panose="02020603050405020304" pitchFamily="18" charset="0"/>
            </a:endParaRPr>
          </a:p>
        </p:txBody>
      </p:sp>
      <p:sp>
        <p:nvSpPr>
          <p:cNvPr id="30723" name="Rectangle 3">
            <a:extLst>
              <a:ext uri="{FF2B5EF4-FFF2-40B4-BE49-F238E27FC236}">
                <a16:creationId xmlns:a16="http://schemas.microsoft.com/office/drawing/2014/main" id="{5D7DA129-F50D-5FEC-D958-6D0683BF235F}"/>
              </a:ext>
            </a:extLst>
          </p:cNvPr>
          <p:cNvSpPr>
            <a:spLocks noGrp="1" noChangeArrowheads="1"/>
          </p:cNvSpPr>
          <p:nvPr>
            <p:ph idx="1"/>
          </p:nvPr>
        </p:nvSpPr>
        <p:spPr>
          <a:xfrm>
            <a:off x="838200" y="1973263"/>
            <a:ext cx="10515600" cy="4351337"/>
          </a:xfrm>
          <a:solidFill>
            <a:schemeClr val="bg1"/>
          </a:solidFill>
        </p:spPr>
        <p:txBody>
          <a:bodyPr rtlCol="0">
            <a:normAutofit/>
          </a:bodyPr>
          <a:lstStyle/>
          <a:p>
            <a:pPr eaLnBrk="1" fontAlgn="auto" hangingPunct="1">
              <a:spcBef>
                <a:spcPct val="50000"/>
              </a:spcBef>
              <a:spcAft>
                <a:spcPts val="0"/>
              </a:spcAft>
              <a:defRPr/>
            </a:pPr>
            <a:r>
              <a:rPr lang="en-US" altLang="en-US" sz="3200" b="1" dirty="0">
                <a:effectLst>
                  <a:outerShdw blurRad="38100" dist="38100" dir="2700000" algn="tl">
                    <a:srgbClr val="C0C0C0"/>
                  </a:outerShdw>
                </a:effectLst>
              </a:rPr>
              <a:t> </a:t>
            </a: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profit = Total revenue - All economic costs</a:t>
            </a:r>
          </a:p>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Accounting profit = Total revenue - All accounting costs</a:t>
            </a:r>
          </a:p>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Accounting costs include only current or historical explicit costs, not implicit costs</a:t>
            </a:r>
          </a:p>
        </p:txBody>
      </p:sp>
    </p:spTree>
    <p:extLst>
      <p:ext uri="{BB962C8B-B14F-4D97-AF65-F5344CB8AC3E}">
        <p14:creationId xmlns:p14="http://schemas.microsoft.com/office/powerpoint/2010/main" val="4196151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strips(upRight)">
                                      <p:cBhvr>
                                        <p:cTn id="7" dur="5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strips(upRight)">
                                      <p:cBhvr>
                                        <p:cTn id="12" dur="500"/>
                                        <p:tgtEl>
                                          <p:spTgt spid="307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strips(upRight)">
                                      <p:cBhvr>
                                        <p:cTn id="17" dur="5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D0815F8-7ACB-50AE-5279-DEB91E572524}"/>
              </a:ext>
            </a:extLst>
          </p:cNvPr>
          <p:cNvSpPr>
            <a:spLocks noGrp="1" noChangeArrowheads="1"/>
          </p:cNvSpPr>
          <p:nvPr>
            <p:ph type="title"/>
          </p:nvPr>
        </p:nvSpPr>
        <p:spPr>
          <a:xfrm>
            <a:off x="609600" y="365125"/>
            <a:ext cx="10515600" cy="1325563"/>
          </a:xfrm>
        </p:spPr>
        <p:txBody>
          <a:bodyPr rtlCol="0">
            <a:noAutofit/>
          </a:bodyPr>
          <a:lstStyle/>
          <a:p>
            <a:pPr eaLnBrk="1" fontAlgn="auto" hangingPunct="1">
              <a:spcAft>
                <a:spcPts val="0"/>
              </a:spcAft>
              <a:defRPr/>
            </a:pPr>
            <a:r>
              <a:rPr lang="en-US" altLang="en-US" sz="5400" b="1" dirty="0">
                <a:solidFill>
                  <a:schemeClr val="tx1">
                    <a:lumMod val="75000"/>
                    <a:lumOff val="25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vs. Accounting profit</a:t>
            </a:r>
            <a:endParaRPr lang="en-US" altLang="en-US" sz="54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6689D1B3-C80C-56F4-9EC3-3FB7F08F0F28}"/>
              </a:ext>
            </a:extLst>
          </p:cNvPr>
          <p:cNvSpPr>
            <a:spLocks noGrp="1" noChangeArrowheads="1"/>
          </p:cNvSpPr>
          <p:nvPr>
            <p:ph idx="1"/>
          </p:nvPr>
        </p:nvSpPr>
        <p:spPr>
          <a:xfrm>
            <a:off x="838200" y="1981200"/>
            <a:ext cx="10972800" cy="4351338"/>
          </a:xfrm>
        </p:spPr>
        <p:txBody>
          <a:bodyPr rtlCol="0">
            <a:normAutofit/>
          </a:bodyPr>
          <a:lstStyle/>
          <a:p>
            <a:pPr eaLnBrk="1" fontAlgn="auto" hangingPunct="1">
              <a:spcAft>
                <a:spcPts val="0"/>
              </a:spcAft>
              <a:defRPr/>
            </a:pP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The difference between economic cost and accounting cost is the opportunity cost of resources supplied by the firm’s owner. </a:t>
            </a:r>
          </a:p>
          <a:p>
            <a:pPr eaLnBrk="1" fontAlgn="auto" hangingPunct="1">
              <a:spcAft>
                <a:spcPts val="0"/>
              </a:spcAft>
              <a:defRPr/>
            </a:pP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The opportunity cost of these owner-supplied resources is called </a:t>
            </a:r>
            <a:r>
              <a:rPr lang="en-US" altLang="en-US" sz="36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normal profit</a:t>
            </a: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lang="en-US" altLang="en-US" sz="3600" dirty="0">
              <a:latin typeface="Times New Roman" panose="02020603050405020304" pitchFamily="18" charset="0"/>
              <a:cs typeface="Times New Roman" panose="02020603050405020304" pitchFamily="18" charset="0"/>
            </a:endParaRPr>
          </a:p>
          <a:p>
            <a:pPr eaLnBrk="1" fontAlgn="auto" hangingPunct="1">
              <a:spcBef>
                <a:spcPct val="50000"/>
              </a:spcBef>
              <a:spcAft>
                <a:spcPts val="0"/>
              </a:spcAft>
              <a:defRPr/>
            </a:pP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Normal profit is the cost of production.</a:t>
            </a:r>
          </a:p>
          <a:p>
            <a:pPr marL="91440" indent="-91440" eaLnBrk="1" fontAlgn="auto" hangingPunct="1">
              <a:spcBef>
                <a:spcPct val="50000"/>
              </a:spcBef>
              <a:spcAft>
                <a:spcPts val="0"/>
              </a:spcAft>
              <a:buFont typeface="Wingdings" panose="05000000000000000000" pitchFamily="2" charset="2"/>
              <a:buChar char="Ø"/>
              <a:defRPr/>
            </a:pP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spcAft>
                <a:spcPts val="0"/>
              </a:spcAft>
              <a:buFont typeface="Wingdings" panose="05000000000000000000" pitchFamily="2" charset="2"/>
              <a:buChar char="Ø"/>
              <a:defRPr/>
            </a:pP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spcBef>
                <a:spcPct val="50000"/>
              </a:spcBef>
              <a:spcAft>
                <a:spcPts val="0"/>
              </a:spcAft>
              <a:defRPr/>
            </a:pPr>
            <a:endParaRPr lang="en-US" altLang="en-US" dirty="0">
              <a:solidFill>
                <a:schemeClr val="tx1">
                  <a:lumMod val="75000"/>
                  <a:lumOff val="25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983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strips(upRight)">
                                      <p:cBhvr>
                                        <p:cTn id="7" dur="500"/>
                                        <p:tgtEl>
                                          <p:spTgt spid="31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strips(upRight)">
                                      <p:cBhvr>
                                        <p:cTn id="12" dur="500"/>
                                        <p:tgtEl>
                                          <p:spTgt spid="31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strips(upRight)">
                                      <p:cBhvr>
                                        <p:cTn id="17" dur="500"/>
                                        <p:tgtEl>
                                          <p:spTgt spid="31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8819B08-FADA-18B8-4EB1-6E9D31FA908B}"/>
              </a:ext>
            </a:extLst>
          </p:cNvPr>
          <p:cNvSpPr>
            <a:spLocks noGrp="1" noChangeArrowheads="1"/>
          </p:cNvSpPr>
          <p:nvPr>
            <p:ph type="title"/>
          </p:nvPr>
        </p:nvSpPr>
        <p:spPr/>
        <p:txBody>
          <a:bodyPr rtlCol="0">
            <a:noAutofit/>
          </a:bodyPr>
          <a:lstStyle/>
          <a:p>
            <a:pPr eaLnBrk="1" fontAlgn="auto" hangingPunct="1">
              <a:spcAft>
                <a:spcPts val="0"/>
              </a:spcAft>
              <a:defRPr/>
            </a:pPr>
            <a:r>
              <a:rPr lang="en-US" altLang="en-US" sz="5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vs. Accounting profit</a:t>
            </a:r>
            <a:endParaRPr lang="en-US" altLang="en-US" sz="5400" b="1" dirty="0">
              <a:latin typeface="Times New Roman" panose="02020603050405020304" pitchFamily="18" charset="0"/>
              <a:cs typeface="Times New Roman" panose="02020603050405020304" pitchFamily="18" charset="0"/>
            </a:endParaRPr>
          </a:p>
        </p:txBody>
      </p:sp>
      <p:sp>
        <p:nvSpPr>
          <p:cNvPr id="33795" name="Rectangle 3">
            <a:extLst>
              <a:ext uri="{FF2B5EF4-FFF2-40B4-BE49-F238E27FC236}">
                <a16:creationId xmlns:a16="http://schemas.microsoft.com/office/drawing/2014/main" id="{EAB04F48-5851-54EE-73E8-14CE2887EAEB}"/>
              </a:ext>
            </a:extLst>
          </p:cNvPr>
          <p:cNvSpPr>
            <a:spLocks noGrp="1" noChangeArrowheads="1"/>
          </p:cNvSpPr>
          <p:nvPr>
            <p:ph idx="1"/>
          </p:nvPr>
        </p:nvSpPr>
        <p:spPr>
          <a:xfrm>
            <a:off x="914400" y="1846263"/>
            <a:ext cx="10668000" cy="4022725"/>
          </a:xfrm>
        </p:spPr>
        <p:txBody>
          <a:bodyPr rtlCol="0">
            <a:normAutofit/>
          </a:bodyPr>
          <a:lstStyle/>
          <a:p>
            <a:pPr eaLnBrk="1" fontAlgn="auto" hangingPunct="1">
              <a:spcAft>
                <a:spcPts val="0"/>
              </a:spcAft>
              <a:defRPr/>
            </a:pP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If a firm is receiving economic losses (negative economic profits), the owners are receiving less income than could be received if their resources were employed in an alternative use.</a:t>
            </a:r>
          </a:p>
          <a:p>
            <a:pPr eaLnBrk="1" fontAlgn="auto" hangingPunct="1">
              <a:spcAft>
                <a:spcPts val="0"/>
              </a:spcAft>
              <a:defRPr/>
            </a:pPr>
            <a:r>
              <a:rPr lang="en-US" altLang="en-US" sz="36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In the long run, we'd expect to see firms leave the industry when this occurs.</a:t>
            </a:r>
          </a:p>
          <a:p>
            <a:pPr marL="91440" indent="-91440" eaLnBrk="1" fontAlgn="auto" hangingPunct="1">
              <a:spcAft>
                <a:spcPts val="0"/>
              </a:spcAft>
              <a:buFont typeface="Wingdings" panose="05000000000000000000" pitchFamily="2" charset="2"/>
              <a:buChar char="Ø"/>
              <a:defRPr/>
            </a:pP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spcBef>
                <a:spcPct val="50000"/>
              </a:spcBef>
              <a:spcAft>
                <a:spcPts val="0"/>
              </a:spcAft>
              <a:buFont typeface="Wingdings" panose="05000000000000000000" pitchFamily="2" charset="2"/>
              <a:buChar char="Ø"/>
              <a:defRPr/>
            </a:pP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spcAft>
                <a:spcPts val="0"/>
              </a:spcAft>
              <a:buFont typeface="Wingdings" panose="05000000000000000000" pitchFamily="2" charset="2"/>
              <a:buChar char="Ø"/>
              <a:defRPr/>
            </a:pP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spcBef>
                <a:spcPct val="50000"/>
              </a:spcBef>
              <a:spcAft>
                <a:spcPts val="0"/>
              </a:spcAft>
              <a:defRPr/>
            </a:pPr>
            <a:endParaRPr lang="en-US" altLang="en-US" dirty="0">
              <a:solidFill>
                <a:schemeClr val="tx1">
                  <a:lumMod val="75000"/>
                  <a:lumOff val="25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829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strips(upRight)">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strips(upRight)">
                                      <p:cBhvr>
                                        <p:cTn id="12" dur="500"/>
                                        <p:tgtEl>
                                          <p:spTgt spid="337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1E55AA2-E6A5-FD71-ED21-7D41BEFD9667}"/>
              </a:ext>
            </a:extLst>
          </p:cNvPr>
          <p:cNvSpPr>
            <a:spLocks noGrp="1" noChangeArrowheads="1"/>
          </p:cNvSpPr>
          <p:nvPr>
            <p:ph type="title"/>
          </p:nvPr>
        </p:nvSpPr>
        <p:spPr>
          <a:xfrm>
            <a:off x="914400" y="287338"/>
            <a:ext cx="7543800" cy="931862"/>
          </a:xfrm>
        </p:spPr>
        <p:txBody>
          <a:bodyPr rtlCol="0">
            <a:normAutofit/>
          </a:bodyPr>
          <a:lstStyle/>
          <a:p>
            <a:pPr eaLnBrk="1" fontAlgn="auto" hangingPunct="1">
              <a:spcAft>
                <a:spcPts val="0"/>
              </a:spcAft>
              <a:defRPr/>
            </a:pPr>
            <a:r>
              <a:rPr lang="en-US" altLang="en-US" sz="5400" b="1" dirty="0">
                <a:solidFill>
                  <a:schemeClr val="tx1">
                    <a:lumMod val="75000"/>
                    <a:lumOff val="25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profit</a:t>
            </a:r>
            <a:endParaRPr lang="en-US" altLang="en-US" sz="54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5843" name="Rectangle 3">
            <a:extLst>
              <a:ext uri="{FF2B5EF4-FFF2-40B4-BE49-F238E27FC236}">
                <a16:creationId xmlns:a16="http://schemas.microsoft.com/office/drawing/2014/main" id="{EBA248C7-60E2-DC56-9C62-87A03D1C9CF1}"/>
              </a:ext>
            </a:extLst>
          </p:cNvPr>
          <p:cNvSpPr>
            <a:spLocks noGrp="1" noChangeArrowheads="1"/>
          </p:cNvSpPr>
          <p:nvPr>
            <p:ph idx="1"/>
          </p:nvPr>
        </p:nvSpPr>
        <p:spPr>
          <a:xfrm>
            <a:off x="1066800" y="1446213"/>
            <a:ext cx="10058400" cy="4497387"/>
          </a:xfrm>
        </p:spPr>
        <p:txBody>
          <a:bodyPr rtlCol="0">
            <a:noAutofit/>
          </a:bodyPr>
          <a:lstStyle/>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Economic profit = Total Revenue - Economic Costs</a:t>
            </a:r>
          </a:p>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When output rises, both total revenue and total costs increase</a:t>
            </a:r>
          </a:p>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Profits increase when output increases if total revenue rises by more than total costs.</a:t>
            </a:r>
          </a:p>
          <a:p>
            <a:pPr eaLnBrk="1" fontAlgn="auto" hangingPunct="1">
              <a:spcBef>
                <a:spcPct val="50000"/>
              </a:spcBef>
              <a:spcAft>
                <a:spcPts val="0"/>
              </a:spcAft>
              <a:defRPr/>
            </a:pPr>
            <a:r>
              <a:rPr lang="en-US" altLang="en-US" sz="32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Profits decrease when output rises if total costs rise by more than total revenue</a:t>
            </a:r>
          </a:p>
          <a:p>
            <a:pPr marL="91440" indent="-91440" eaLnBrk="1" fontAlgn="auto" hangingPunct="1">
              <a:spcBef>
                <a:spcPct val="50000"/>
              </a:spcBef>
              <a:spcAft>
                <a:spcPts val="0"/>
              </a:spcAft>
              <a:defRPr/>
            </a:pPr>
            <a:endParaRPr lang="en-US" alt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920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p:cTn id="7" dur="500" fill="hold"/>
                                        <p:tgtEl>
                                          <p:spTgt spid="358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584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35843">
                                            <p:txEl>
                                              <p:pRg st="1" end="1"/>
                                            </p:txEl>
                                          </p:spTgt>
                                        </p:tgtEl>
                                        <p:attrNameLst>
                                          <p:attrName>style.visibility</p:attrName>
                                        </p:attrNameLst>
                                      </p:cBhvr>
                                      <p:to>
                                        <p:strVal val="visible"/>
                                      </p:to>
                                    </p:set>
                                    <p:anim calcmode="lin" valueType="num">
                                      <p:cBhvr>
                                        <p:cTn id="13" dur="500" fill="hold"/>
                                        <p:tgtEl>
                                          <p:spTgt spid="3584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584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35843">
                                            <p:txEl>
                                              <p:pRg st="2" end="2"/>
                                            </p:txEl>
                                          </p:spTgt>
                                        </p:tgtEl>
                                        <p:attrNameLst>
                                          <p:attrName>style.visibility</p:attrName>
                                        </p:attrNameLst>
                                      </p:cBhvr>
                                      <p:to>
                                        <p:strVal val="visible"/>
                                      </p:to>
                                    </p:set>
                                    <p:anim calcmode="lin" valueType="num">
                                      <p:cBhvr>
                                        <p:cTn id="19" dur="500" fill="hold"/>
                                        <p:tgtEl>
                                          <p:spTgt spid="3584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584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35843">
                                            <p:txEl>
                                              <p:pRg st="3" end="3"/>
                                            </p:txEl>
                                          </p:spTgt>
                                        </p:tgtEl>
                                        <p:attrNameLst>
                                          <p:attrName>style.visibility</p:attrName>
                                        </p:attrNameLst>
                                      </p:cBhvr>
                                      <p:to>
                                        <p:strVal val="visible"/>
                                      </p:to>
                                    </p:set>
                                    <p:anim calcmode="lin" valueType="num">
                                      <p:cBhvr>
                                        <p:cTn id="25" dur="500" fill="hold"/>
                                        <p:tgtEl>
                                          <p:spTgt spid="3584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584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43015" name="Rectangle 43014">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17" name="Rectangle 43016">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3009" name="Rectangle 2">
            <a:extLst>
              <a:ext uri="{FF2B5EF4-FFF2-40B4-BE49-F238E27FC236}">
                <a16:creationId xmlns:a16="http://schemas.microsoft.com/office/drawing/2014/main" id="{E38F5503-66E0-CB5E-3768-4DFBA69B4D41}"/>
              </a:ext>
            </a:extLst>
          </p:cNvPr>
          <p:cNvSpPr>
            <a:spLocks noGrp="1" noChangeArrowheads="1"/>
          </p:cNvSpPr>
          <p:nvPr>
            <p:ph type="title"/>
          </p:nvPr>
        </p:nvSpPr>
        <p:spPr>
          <a:xfrm>
            <a:off x="804672" y="457200"/>
            <a:ext cx="10579608" cy="1188720"/>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Costs in the Short Run</a:t>
            </a:r>
          </a:p>
        </p:txBody>
      </p:sp>
      <p:grpSp>
        <p:nvGrpSpPr>
          <p:cNvPr id="43019" name="Group 43018">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43020" name="Freeform: Shape 43019">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1" name="Freeform: Shape 43020">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2" name="Freeform: Shape 43021">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3023" name="Freeform: Shape 43022">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025" name="Group 43024">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43026" name="Freeform: Shape 43025">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7" name="Freeform: Shape 43026">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8" name="Freeform: Shape 43027">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9" name="Freeform: Shape 43028">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3011" name="Rectangle 3">
            <a:extLst>
              <a:ext uri="{FF2B5EF4-FFF2-40B4-BE49-F238E27FC236}">
                <a16:creationId xmlns:a16="http://schemas.microsoft.com/office/drawing/2014/main" id="{6FAAC20A-C2BE-3C62-9626-E64BC9046A61}"/>
              </a:ext>
            </a:extLst>
          </p:cNvPr>
          <p:cNvGraphicFramePr>
            <a:graphicFrameLocks noGrp="1"/>
          </p:cNvGraphicFramePr>
          <p:nvPr>
            <p:ph idx="1"/>
            <p:extLst>
              <p:ext uri="{D42A27DB-BD31-4B8C-83A1-F6EECF244321}">
                <p14:modId xmlns:p14="http://schemas.microsoft.com/office/powerpoint/2010/main" val="2668344369"/>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4105" y="802955"/>
            <a:ext cx="4977976" cy="1454051"/>
          </a:xfrm>
        </p:spPr>
        <p:txBody>
          <a:bodyPr>
            <a:normAutofit/>
          </a:bodyPr>
          <a:lstStyle/>
          <a:p>
            <a:r>
              <a:rPr lang="en-US" b="1" dirty="0">
                <a:latin typeface="Times New Roman" panose="02020603050405020304" pitchFamily="18" charset="0"/>
                <a:cs typeface="Times New Roman" panose="02020603050405020304" pitchFamily="18" charset="0"/>
              </a:rPr>
              <a:t>Fixed Cost </a:t>
            </a:r>
            <a:endParaRPr lang="en-IN" b="1" dirty="0">
              <a:latin typeface="Times New Roman" panose="02020603050405020304" pitchFamily="18" charset="0"/>
              <a:cs typeface="Times New Roman" panose="02020603050405020304" pitchFamily="18" charset="0"/>
            </a:endParaRPr>
          </a:p>
        </p:txBody>
      </p:sp>
      <p:pic>
        <p:nvPicPr>
          <p:cNvPr id="7" name="Graphic 6" descr="Factory">
            <a:extLst>
              <a:ext uri="{FF2B5EF4-FFF2-40B4-BE49-F238E27FC236}">
                <a16:creationId xmlns:a16="http://schemas.microsoft.com/office/drawing/2014/main" id="{A9B7F449-CDFD-E855-0213-464EFBAAA8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p:cNvSpPr>
            <a:spLocks noGrp="1"/>
          </p:cNvSpPr>
          <p:nvPr>
            <p:ph idx="1"/>
          </p:nvPr>
        </p:nvSpPr>
        <p:spPr>
          <a:xfrm>
            <a:off x="6094105" y="2188661"/>
            <a:ext cx="5746522" cy="3866384"/>
          </a:xfrm>
        </p:spPr>
        <p:txBody>
          <a:bodyPr anchor="ctr">
            <a:normAutofit fontScale="92500" lnSpcReduction="10000"/>
          </a:bodyPr>
          <a:lstStyle/>
          <a:p>
            <a:r>
              <a:rPr lang="en-US" sz="2400" dirty="0">
                <a:latin typeface="Times New Roman" panose="02020603050405020304" pitchFamily="18" charset="0"/>
                <a:cs typeface="Times New Roman" panose="02020603050405020304" pitchFamily="18" charset="0"/>
              </a:rPr>
              <a:t>Fixed costs are those costs that do not vary with the volume of production.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Even if the production is zero, a firm will have to incur fixed costs.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Examples are rent, interest, depreciation, insurance, salaries, etc.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is also called supplementary costs, capacity costs, period costs, or overhead costs. </a:t>
            </a:r>
            <a:endParaRPr lang="en-IN" sz="24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4105" y="802955"/>
            <a:ext cx="4977976" cy="1454051"/>
          </a:xfrm>
        </p:spPr>
        <p:txBody>
          <a:bodyPr>
            <a:normAutofit/>
          </a:bodyPr>
          <a:lstStyle/>
          <a:p>
            <a:r>
              <a:rPr lang="en-US" b="1" dirty="0">
                <a:latin typeface="Times New Roman" panose="02020603050405020304" pitchFamily="18" charset="0"/>
                <a:cs typeface="Times New Roman" panose="02020603050405020304" pitchFamily="18" charset="0"/>
              </a:rPr>
              <a:t>Variable Cost</a:t>
            </a:r>
            <a:endParaRPr lang="en-IN" b="1" dirty="0">
              <a:latin typeface="Times New Roman" panose="02020603050405020304" pitchFamily="18" charset="0"/>
              <a:cs typeface="Times New Roman" panose="02020603050405020304" pitchFamily="18" charset="0"/>
            </a:endParaRPr>
          </a:p>
        </p:txBody>
      </p:sp>
      <p:pic>
        <p:nvPicPr>
          <p:cNvPr id="7" name="Graphic 6" descr="Bar Graph with Upward Trend">
            <a:extLst>
              <a:ext uri="{FF2B5EF4-FFF2-40B4-BE49-F238E27FC236}">
                <a16:creationId xmlns:a16="http://schemas.microsoft.com/office/drawing/2014/main" id="{DCBF59E2-466F-6E93-B797-4058D2C6DA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p:cNvSpPr>
            <a:spLocks noGrp="1"/>
          </p:cNvSpPr>
          <p:nvPr>
            <p:ph idx="1"/>
          </p:nvPr>
        </p:nvSpPr>
        <p:spPr>
          <a:xfrm>
            <a:off x="6094102" y="2257006"/>
            <a:ext cx="5780571" cy="3993482"/>
          </a:xfrm>
        </p:spPr>
        <p:txBody>
          <a:bodyPr anchor="ctr">
            <a:normAutofit fontScale="92500" lnSpcReduction="20000"/>
          </a:bodyPr>
          <a:lstStyle/>
          <a:p>
            <a:r>
              <a:rPr lang="en-US" sz="2400" dirty="0">
                <a:latin typeface="Times New Roman" panose="02020603050405020304" pitchFamily="18" charset="0"/>
                <a:cs typeface="Times New Roman" panose="02020603050405020304" pitchFamily="18" charset="0"/>
              </a:rPr>
              <a:t>Variable costs are those costs that change with the quantity of production.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When the output increases, the variable cost also increases, and when the output decreases, the variable cost also decreases.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Examples are materials, wages, power, stores, etc.</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Variable costs are also known as prime costs or direct costs. </a:t>
            </a:r>
            <a:endParaRPr lang="en-IN" sz="24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136" name="Rectangle 4813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138" name="Rectangle 4813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8140" name="Rectangle 4813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033" name="Rectangle 2">
            <a:extLst>
              <a:ext uri="{FF2B5EF4-FFF2-40B4-BE49-F238E27FC236}">
                <a16:creationId xmlns:a16="http://schemas.microsoft.com/office/drawing/2014/main" id="{39835C78-2AE0-41F5-A0C8-A9101C10F6FC}"/>
              </a:ext>
            </a:extLst>
          </p:cNvPr>
          <p:cNvSpPr>
            <a:spLocks noGrp="1" noChangeArrowheads="1"/>
          </p:cNvSpPr>
          <p:nvPr>
            <p:ph type="title"/>
          </p:nvPr>
        </p:nvSpPr>
        <p:spPr>
          <a:xfrm>
            <a:off x="827470"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Measuring Short-Run Costs:  Total Costs</a:t>
            </a:r>
          </a:p>
        </p:txBody>
      </p:sp>
      <p:sp>
        <p:nvSpPr>
          <p:cNvPr id="48142" name="Rectangle 4814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8131" name="Rectangle 3">
            <a:extLst>
              <a:ext uri="{FF2B5EF4-FFF2-40B4-BE49-F238E27FC236}">
                <a16:creationId xmlns:a16="http://schemas.microsoft.com/office/drawing/2014/main" id="{E6087218-64C6-DDB3-0FFB-BC93244ED883}"/>
              </a:ext>
            </a:extLst>
          </p:cNvPr>
          <p:cNvSpPr>
            <a:spLocks noGrp="1" noChangeArrowheads="1"/>
          </p:cNvSpPr>
          <p:nvPr>
            <p:ph idx="1"/>
          </p:nvPr>
        </p:nvSpPr>
        <p:spPr>
          <a:xfrm>
            <a:off x="1115568" y="2481943"/>
            <a:ext cx="10168128" cy="3695020"/>
          </a:xfrm>
        </p:spPr>
        <p:txBody>
          <a:bodyPr rtlCol="0">
            <a:normAutofit fontScale="92500" lnSpcReduction="10000"/>
          </a:bodyPr>
          <a:lstStyle/>
          <a:p>
            <a:pPr eaLnBrk="1" fontAlgn="auto" hangingPunct="1">
              <a:spcAft>
                <a:spcPts val="0"/>
              </a:spcAft>
              <a:defRPr/>
            </a:pPr>
            <a:r>
              <a:rPr lang="en-US" altLang="en-US" b="1" dirty="0">
                <a:latin typeface="Times New Roman" panose="02020603050405020304" pitchFamily="18" charset="0"/>
                <a:cs typeface="Times New Roman" panose="02020603050405020304" pitchFamily="18" charset="0"/>
              </a:rPr>
              <a:t>Types of total costs</a:t>
            </a:r>
          </a:p>
          <a:p>
            <a:pPr marL="1229868" lvl="2" indent="-571500" eaLnBrk="1" fontAlgn="auto" hangingPunct="1">
              <a:spcAft>
                <a:spcPts val="0"/>
              </a:spcAft>
              <a:buFont typeface="Wingdings" pitchFamily="2" charset="2"/>
              <a:buChar char="§"/>
              <a:defRPr/>
            </a:pPr>
            <a:r>
              <a:rPr lang="en-US" altLang="en-US" sz="2800" b="1" dirty="0">
                <a:latin typeface="Times New Roman" panose="02020603050405020304" pitchFamily="18" charset="0"/>
                <a:cs typeface="Times New Roman" panose="02020603050405020304" pitchFamily="18" charset="0"/>
              </a:rPr>
              <a:t>Fixed costs</a:t>
            </a:r>
          </a:p>
          <a:p>
            <a:pPr marL="685800" lvl="2" indent="0" eaLnBrk="1" fontAlgn="auto" hangingPunct="1">
              <a:spcAft>
                <a:spcPts val="0"/>
              </a:spcAft>
              <a:buFont typeface="Calibri" panose="020F0502020204030204" pitchFamily="34" charset="0"/>
              <a:buNone/>
              <a:defRPr/>
            </a:pPr>
            <a:r>
              <a:rPr lang="en-US" altLang="en-US" sz="2800" dirty="0">
                <a:latin typeface="Times New Roman" panose="02020603050405020304" pitchFamily="18" charset="0"/>
                <a:cs typeface="Times New Roman" panose="02020603050405020304" pitchFamily="18" charset="0"/>
              </a:rPr>
              <a:t>      Cost of all inputs that are fixed in the short run</a:t>
            </a:r>
          </a:p>
          <a:p>
            <a:pPr marL="1229868" lvl="2" indent="-571500" eaLnBrk="1" fontAlgn="auto" hangingPunct="1">
              <a:spcAft>
                <a:spcPts val="0"/>
              </a:spcAft>
              <a:buFont typeface="Wingdings" pitchFamily="2" charset="2"/>
              <a:buChar char="§"/>
              <a:defRPr/>
            </a:pPr>
            <a:r>
              <a:rPr lang="en-US" altLang="en-US" sz="2800" b="1" dirty="0">
                <a:latin typeface="Times New Roman" panose="02020603050405020304" pitchFamily="18" charset="0"/>
                <a:cs typeface="Times New Roman" panose="02020603050405020304" pitchFamily="18" charset="0"/>
              </a:rPr>
              <a:t>Total variable costs</a:t>
            </a:r>
          </a:p>
          <a:p>
            <a:pPr marL="685800" lvl="2" indent="0" eaLnBrk="1" fontAlgn="auto" hangingPunct="1">
              <a:spcAft>
                <a:spcPts val="0"/>
              </a:spcAft>
              <a:buFont typeface="Calibri" panose="020F0502020204030204" pitchFamily="34" charset="0"/>
              <a:buNone/>
              <a:defRPr/>
            </a:pPr>
            <a:r>
              <a:rPr lang="en-US" altLang="en-US" sz="2800" dirty="0">
                <a:latin typeface="Times New Roman" panose="02020603050405020304" pitchFamily="18" charset="0"/>
                <a:cs typeface="Times New Roman" panose="02020603050405020304" pitchFamily="18" charset="0"/>
              </a:rPr>
              <a:t>      Cost of all variable inputs used in producing a</a:t>
            </a:r>
          </a:p>
          <a:p>
            <a:pPr marL="685800" lvl="2" indent="0" eaLnBrk="1" fontAlgn="auto" hangingPunct="1">
              <a:spcAft>
                <a:spcPts val="0"/>
              </a:spcAft>
              <a:buFont typeface="Calibri" panose="020F0502020204030204" pitchFamily="34" charset="0"/>
              <a:buNone/>
              <a:defRPr/>
            </a:pPr>
            <a:r>
              <a:rPr lang="en-US" altLang="en-US" sz="2800" dirty="0">
                <a:latin typeface="Times New Roman" panose="02020603050405020304" pitchFamily="18" charset="0"/>
                <a:cs typeface="Times New Roman" panose="02020603050405020304" pitchFamily="18" charset="0"/>
              </a:rPr>
              <a:t>       particular level of output</a:t>
            </a:r>
          </a:p>
          <a:p>
            <a:pPr marL="1229868" lvl="2" indent="-571500" eaLnBrk="1" fontAlgn="auto" hangingPunct="1">
              <a:spcAft>
                <a:spcPts val="0"/>
              </a:spcAft>
              <a:buFont typeface="Wingdings" pitchFamily="2" charset="2"/>
              <a:buChar char="§"/>
              <a:defRPr/>
            </a:pPr>
            <a:r>
              <a:rPr lang="en-US" altLang="en-US" sz="2800" b="1" dirty="0">
                <a:latin typeface="Times New Roman" panose="02020603050405020304" pitchFamily="18" charset="0"/>
                <a:cs typeface="Times New Roman" panose="02020603050405020304" pitchFamily="18" charset="0"/>
              </a:rPr>
              <a:t>Total costs</a:t>
            </a:r>
          </a:p>
          <a:p>
            <a:pPr marL="1755648" lvl="4" indent="-457200" eaLnBrk="1" fontAlgn="auto" hangingPunct="1">
              <a:spcAft>
                <a:spcPts val="0"/>
              </a:spcAft>
              <a:defRPr/>
            </a:pPr>
            <a:r>
              <a:rPr lang="en-US" altLang="en-US" sz="2800" dirty="0">
                <a:latin typeface="Times New Roman" panose="02020603050405020304" pitchFamily="18" charset="0"/>
                <a:cs typeface="Times New Roman" panose="02020603050405020304" pitchFamily="18" charset="0"/>
              </a:rPr>
              <a:t>Cost of all inputs - fixed and variable</a:t>
            </a:r>
          </a:p>
          <a:p>
            <a:pPr marL="1755648" lvl="4" indent="-457200" eaLnBrk="1" fontAlgn="auto" hangingPunct="1">
              <a:spcAft>
                <a:spcPts val="0"/>
              </a:spcAft>
              <a:defRPr/>
            </a:pPr>
            <a:r>
              <a:rPr lang="en-US" altLang="en-US" sz="3200" b="1" dirty="0">
                <a:solidFill>
                  <a:srgbClr val="FF0000"/>
                </a:solidFill>
                <a:latin typeface="Times New Roman" panose="02020603050405020304" pitchFamily="18" charset="0"/>
                <a:cs typeface="Times New Roman" panose="02020603050405020304" pitchFamily="18" charset="0"/>
              </a:rPr>
              <a:t>TC = TFC + TVC</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F530569A-23D8-B1B4-C152-6D5F510D8481}"/>
              </a:ext>
            </a:extLst>
          </p:cNvPr>
          <p:cNvSpPr>
            <a:spLocks noGrp="1" noChangeArrowheads="1"/>
          </p:cNvSpPr>
          <p:nvPr>
            <p:ph type="title"/>
          </p:nvPr>
        </p:nvSpPr>
        <p:spPr/>
        <p:txBody>
          <a:bodyPr/>
          <a:lstStyle/>
          <a:p>
            <a:pPr eaLnBrk="1" hangingPunct="1"/>
            <a:r>
              <a:rPr lang="en-US" altLang="en-US" b="1">
                <a:latin typeface="Times New Roman" panose="02020603050405020304" pitchFamily="18" charset="0"/>
                <a:cs typeface="Times New Roman" panose="02020603050405020304" pitchFamily="18" charset="0"/>
              </a:rPr>
              <a:t>The Firm’s Total Cost Curves</a:t>
            </a:r>
          </a:p>
        </p:txBody>
      </p:sp>
      <p:sp>
        <p:nvSpPr>
          <p:cNvPr id="33800" name="Freeform 8">
            <a:extLst>
              <a:ext uri="{FF2B5EF4-FFF2-40B4-BE49-F238E27FC236}">
                <a16:creationId xmlns:a16="http://schemas.microsoft.com/office/drawing/2014/main" id="{ED46A985-6398-4A71-69D2-DBDC1EFAE4E3}"/>
              </a:ext>
            </a:extLst>
          </p:cNvPr>
          <p:cNvSpPr>
            <a:spLocks/>
          </p:cNvSpPr>
          <p:nvPr/>
        </p:nvSpPr>
        <p:spPr bwMode="auto">
          <a:xfrm>
            <a:off x="3352800" y="3062288"/>
            <a:ext cx="5937250" cy="2259012"/>
          </a:xfrm>
          <a:custGeom>
            <a:avLst/>
            <a:gdLst>
              <a:gd name="T0" fmla="*/ 0 w 3740"/>
              <a:gd name="T1" fmla="*/ 2147483646 h 1423"/>
              <a:gd name="T2" fmla="*/ 0 w 3740"/>
              <a:gd name="T3" fmla="*/ 2147483646 h 1423"/>
              <a:gd name="T4" fmla="*/ 2147483646 w 3740"/>
              <a:gd name="T5" fmla="*/ 2147483646 h 1423"/>
              <a:gd name="T6" fmla="*/ 2147483646 w 3740"/>
              <a:gd name="T7" fmla="*/ 2147483646 h 1423"/>
              <a:gd name="T8" fmla="*/ 2147483646 w 3740"/>
              <a:gd name="T9" fmla="*/ 2147483646 h 1423"/>
              <a:gd name="T10" fmla="*/ 2147483646 w 3740"/>
              <a:gd name="T11" fmla="*/ 2147483646 h 1423"/>
              <a:gd name="T12" fmla="*/ 2147483646 w 3740"/>
              <a:gd name="T13" fmla="*/ 2147483646 h 1423"/>
              <a:gd name="T14" fmla="*/ 2147483646 w 3740"/>
              <a:gd name="T15" fmla="*/ 2147483646 h 1423"/>
              <a:gd name="T16" fmla="*/ 2147483646 w 3740"/>
              <a:gd name="T17" fmla="*/ 2147483646 h 1423"/>
              <a:gd name="T18" fmla="*/ 2147483646 w 3740"/>
              <a:gd name="T19" fmla="*/ 2147483646 h 1423"/>
              <a:gd name="T20" fmla="*/ 2147483646 w 3740"/>
              <a:gd name="T21" fmla="*/ 2147483646 h 1423"/>
              <a:gd name="T22" fmla="*/ 2147483646 w 3740"/>
              <a:gd name="T23" fmla="*/ 2147483646 h 1423"/>
              <a:gd name="T24" fmla="*/ 2147483646 w 3740"/>
              <a:gd name="T25" fmla="*/ 2147483646 h 1423"/>
              <a:gd name="T26" fmla="*/ 2147483646 w 3740"/>
              <a:gd name="T27" fmla="*/ 2147483646 h 1423"/>
              <a:gd name="T28" fmla="*/ 2147483646 w 3740"/>
              <a:gd name="T29" fmla="*/ 2147483646 h 1423"/>
              <a:gd name="T30" fmla="*/ 2147483646 w 3740"/>
              <a:gd name="T31" fmla="*/ 2147483646 h 1423"/>
              <a:gd name="T32" fmla="*/ 2147483646 w 3740"/>
              <a:gd name="T33" fmla="*/ 2147483646 h 1423"/>
              <a:gd name="T34" fmla="*/ 2147483646 w 3740"/>
              <a:gd name="T35" fmla="*/ 2147483646 h 1423"/>
              <a:gd name="T36" fmla="*/ 2147483646 w 3740"/>
              <a:gd name="T37" fmla="*/ 2147483646 h 1423"/>
              <a:gd name="T38" fmla="*/ 2147483646 w 3740"/>
              <a:gd name="T39" fmla="*/ 2147483646 h 1423"/>
              <a:gd name="T40" fmla="*/ 2147483646 w 3740"/>
              <a:gd name="T41" fmla="*/ 2147483646 h 1423"/>
              <a:gd name="T42" fmla="*/ 2147483646 w 3740"/>
              <a:gd name="T43" fmla="*/ 2147483646 h 1423"/>
              <a:gd name="T44" fmla="*/ 2147483646 w 3740"/>
              <a:gd name="T45" fmla="*/ 2147483646 h 1423"/>
              <a:gd name="T46" fmla="*/ 2147483646 w 3740"/>
              <a:gd name="T47" fmla="*/ 2147483646 h 1423"/>
              <a:gd name="T48" fmla="*/ 2147483646 w 3740"/>
              <a:gd name="T49" fmla="*/ 2147483646 h 1423"/>
              <a:gd name="T50" fmla="*/ 2147483646 w 3740"/>
              <a:gd name="T51" fmla="*/ 2147483646 h 1423"/>
              <a:gd name="T52" fmla="*/ 2147483646 w 3740"/>
              <a:gd name="T53" fmla="*/ 2147483646 h 1423"/>
              <a:gd name="T54" fmla="*/ 2147483646 w 3740"/>
              <a:gd name="T55" fmla="*/ 2147483646 h 1423"/>
              <a:gd name="T56" fmla="*/ 2147483646 w 3740"/>
              <a:gd name="T57" fmla="*/ 2147483646 h 1423"/>
              <a:gd name="T58" fmla="*/ 2147483646 w 3740"/>
              <a:gd name="T59" fmla="*/ 2147483646 h 1423"/>
              <a:gd name="T60" fmla="*/ 2147483646 w 3740"/>
              <a:gd name="T61" fmla="*/ 0 h 142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740" h="1423">
                <a:moveTo>
                  <a:pt x="0" y="1423"/>
                </a:moveTo>
                <a:lnTo>
                  <a:pt x="0" y="1423"/>
                </a:lnTo>
                <a:lnTo>
                  <a:pt x="76" y="1369"/>
                </a:lnTo>
                <a:lnTo>
                  <a:pt x="153" y="1323"/>
                </a:lnTo>
                <a:lnTo>
                  <a:pt x="233" y="1283"/>
                </a:lnTo>
                <a:lnTo>
                  <a:pt x="314" y="1249"/>
                </a:lnTo>
                <a:lnTo>
                  <a:pt x="404" y="1219"/>
                </a:lnTo>
                <a:lnTo>
                  <a:pt x="489" y="1193"/>
                </a:lnTo>
                <a:lnTo>
                  <a:pt x="583" y="1173"/>
                </a:lnTo>
                <a:lnTo>
                  <a:pt x="682" y="1149"/>
                </a:lnTo>
                <a:lnTo>
                  <a:pt x="897" y="1113"/>
                </a:lnTo>
                <a:lnTo>
                  <a:pt x="1135" y="1069"/>
                </a:lnTo>
                <a:lnTo>
                  <a:pt x="1269" y="1043"/>
                </a:lnTo>
                <a:lnTo>
                  <a:pt x="1408" y="1013"/>
                </a:lnTo>
                <a:lnTo>
                  <a:pt x="1556" y="979"/>
                </a:lnTo>
                <a:lnTo>
                  <a:pt x="1713" y="939"/>
                </a:lnTo>
                <a:lnTo>
                  <a:pt x="1865" y="896"/>
                </a:lnTo>
                <a:lnTo>
                  <a:pt x="2018" y="849"/>
                </a:lnTo>
                <a:lnTo>
                  <a:pt x="2166" y="799"/>
                </a:lnTo>
                <a:lnTo>
                  <a:pt x="2314" y="746"/>
                </a:lnTo>
                <a:lnTo>
                  <a:pt x="2453" y="689"/>
                </a:lnTo>
                <a:lnTo>
                  <a:pt x="2592" y="629"/>
                </a:lnTo>
                <a:lnTo>
                  <a:pt x="2726" y="569"/>
                </a:lnTo>
                <a:lnTo>
                  <a:pt x="2861" y="506"/>
                </a:lnTo>
                <a:lnTo>
                  <a:pt x="2986" y="443"/>
                </a:lnTo>
                <a:lnTo>
                  <a:pt x="3107" y="379"/>
                </a:lnTo>
                <a:lnTo>
                  <a:pt x="3228" y="313"/>
                </a:lnTo>
                <a:lnTo>
                  <a:pt x="3341" y="249"/>
                </a:lnTo>
                <a:lnTo>
                  <a:pt x="3551" y="119"/>
                </a:lnTo>
                <a:lnTo>
                  <a:pt x="3740" y="0"/>
                </a:lnTo>
              </a:path>
            </a:pathLst>
          </a:custGeom>
          <a:noFill/>
          <a:ln w="57150">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3801" name="Freeform 9">
            <a:extLst>
              <a:ext uri="{FF2B5EF4-FFF2-40B4-BE49-F238E27FC236}">
                <a16:creationId xmlns:a16="http://schemas.microsoft.com/office/drawing/2014/main" id="{0770F8C0-1FFB-FABD-3522-59423F0D1146}"/>
              </a:ext>
            </a:extLst>
          </p:cNvPr>
          <p:cNvSpPr>
            <a:spLocks/>
          </p:cNvSpPr>
          <p:nvPr/>
        </p:nvSpPr>
        <p:spPr bwMode="auto">
          <a:xfrm>
            <a:off x="3367088" y="2601913"/>
            <a:ext cx="5922962" cy="2205037"/>
          </a:xfrm>
          <a:custGeom>
            <a:avLst/>
            <a:gdLst>
              <a:gd name="T0" fmla="*/ 0 w 3731"/>
              <a:gd name="T1" fmla="*/ 2147483646 h 1389"/>
              <a:gd name="T2" fmla="*/ 0 w 3731"/>
              <a:gd name="T3" fmla="*/ 2147483646 h 1389"/>
              <a:gd name="T4" fmla="*/ 2147483646 w 3731"/>
              <a:gd name="T5" fmla="*/ 2147483646 h 1389"/>
              <a:gd name="T6" fmla="*/ 2147483646 w 3731"/>
              <a:gd name="T7" fmla="*/ 2147483646 h 1389"/>
              <a:gd name="T8" fmla="*/ 2147483646 w 3731"/>
              <a:gd name="T9" fmla="*/ 2147483646 h 1389"/>
              <a:gd name="T10" fmla="*/ 2147483646 w 3731"/>
              <a:gd name="T11" fmla="*/ 2147483646 h 1389"/>
              <a:gd name="T12" fmla="*/ 2147483646 w 3731"/>
              <a:gd name="T13" fmla="*/ 2147483646 h 1389"/>
              <a:gd name="T14" fmla="*/ 2147483646 w 3731"/>
              <a:gd name="T15" fmla="*/ 2147483646 h 1389"/>
              <a:gd name="T16" fmla="*/ 2147483646 w 3731"/>
              <a:gd name="T17" fmla="*/ 2147483646 h 1389"/>
              <a:gd name="T18" fmla="*/ 2147483646 w 3731"/>
              <a:gd name="T19" fmla="*/ 2147483646 h 1389"/>
              <a:gd name="T20" fmla="*/ 2147483646 w 3731"/>
              <a:gd name="T21" fmla="*/ 2147483646 h 1389"/>
              <a:gd name="T22" fmla="*/ 2147483646 w 3731"/>
              <a:gd name="T23" fmla="*/ 2147483646 h 1389"/>
              <a:gd name="T24" fmla="*/ 2147483646 w 3731"/>
              <a:gd name="T25" fmla="*/ 2147483646 h 1389"/>
              <a:gd name="T26" fmla="*/ 2147483646 w 3731"/>
              <a:gd name="T27" fmla="*/ 2147483646 h 1389"/>
              <a:gd name="T28" fmla="*/ 2147483646 w 3731"/>
              <a:gd name="T29" fmla="*/ 2147483646 h 1389"/>
              <a:gd name="T30" fmla="*/ 2147483646 w 3731"/>
              <a:gd name="T31" fmla="*/ 2147483646 h 1389"/>
              <a:gd name="T32" fmla="*/ 2147483646 w 3731"/>
              <a:gd name="T33" fmla="*/ 2147483646 h 1389"/>
              <a:gd name="T34" fmla="*/ 2147483646 w 3731"/>
              <a:gd name="T35" fmla="*/ 2147483646 h 1389"/>
              <a:gd name="T36" fmla="*/ 2147483646 w 3731"/>
              <a:gd name="T37" fmla="*/ 2147483646 h 1389"/>
              <a:gd name="T38" fmla="*/ 2147483646 w 3731"/>
              <a:gd name="T39" fmla="*/ 2147483646 h 1389"/>
              <a:gd name="T40" fmla="*/ 2147483646 w 3731"/>
              <a:gd name="T41" fmla="*/ 2147483646 h 1389"/>
              <a:gd name="T42" fmla="*/ 2147483646 w 3731"/>
              <a:gd name="T43" fmla="*/ 2147483646 h 1389"/>
              <a:gd name="T44" fmla="*/ 2147483646 w 3731"/>
              <a:gd name="T45" fmla="*/ 2147483646 h 1389"/>
              <a:gd name="T46" fmla="*/ 2147483646 w 3731"/>
              <a:gd name="T47" fmla="*/ 2147483646 h 1389"/>
              <a:gd name="T48" fmla="*/ 2147483646 w 3731"/>
              <a:gd name="T49" fmla="*/ 2147483646 h 1389"/>
              <a:gd name="T50" fmla="*/ 2147483646 w 3731"/>
              <a:gd name="T51" fmla="*/ 0 h 138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731" h="1389">
                <a:moveTo>
                  <a:pt x="0" y="1389"/>
                </a:moveTo>
                <a:lnTo>
                  <a:pt x="0" y="1389"/>
                </a:lnTo>
                <a:lnTo>
                  <a:pt x="265" y="1303"/>
                </a:lnTo>
                <a:lnTo>
                  <a:pt x="511" y="1229"/>
                </a:lnTo>
                <a:lnTo>
                  <a:pt x="744" y="1163"/>
                </a:lnTo>
                <a:lnTo>
                  <a:pt x="969" y="1106"/>
                </a:lnTo>
                <a:lnTo>
                  <a:pt x="1417" y="993"/>
                </a:lnTo>
                <a:lnTo>
                  <a:pt x="1646" y="929"/>
                </a:lnTo>
                <a:lnTo>
                  <a:pt x="1883" y="863"/>
                </a:lnTo>
                <a:lnTo>
                  <a:pt x="2018" y="819"/>
                </a:lnTo>
                <a:lnTo>
                  <a:pt x="2148" y="776"/>
                </a:lnTo>
                <a:lnTo>
                  <a:pt x="2278" y="729"/>
                </a:lnTo>
                <a:lnTo>
                  <a:pt x="2408" y="683"/>
                </a:lnTo>
                <a:lnTo>
                  <a:pt x="2533" y="633"/>
                </a:lnTo>
                <a:lnTo>
                  <a:pt x="2659" y="579"/>
                </a:lnTo>
                <a:lnTo>
                  <a:pt x="2780" y="526"/>
                </a:lnTo>
                <a:lnTo>
                  <a:pt x="2901" y="469"/>
                </a:lnTo>
                <a:lnTo>
                  <a:pt x="3018" y="416"/>
                </a:lnTo>
                <a:lnTo>
                  <a:pt x="3130" y="356"/>
                </a:lnTo>
                <a:lnTo>
                  <a:pt x="3242" y="300"/>
                </a:lnTo>
                <a:lnTo>
                  <a:pt x="3345" y="240"/>
                </a:lnTo>
                <a:lnTo>
                  <a:pt x="3448" y="180"/>
                </a:lnTo>
                <a:lnTo>
                  <a:pt x="3547" y="120"/>
                </a:lnTo>
                <a:lnTo>
                  <a:pt x="3641" y="60"/>
                </a:lnTo>
                <a:lnTo>
                  <a:pt x="3731" y="0"/>
                </a:lnTo>
              </a:path>
            </a:pathLst>
          </a:custGeom>
          <a:noFill/>
          <a:ln w="57150">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3802" name="Rectangle 10">
            <a:extLst>
              <a:ext uri="{FF2B5EF4-FFF2-40B4-BE49-F238E27FC236}">
                <a16:creationId xmlns:a16="http://schemas.microsoft.com/office/drawing/2014/main" id="{57A2F441-8658-A06C-D0AC-A8685A12D866}"/>
              </a:ext>
            </a:extLst>
          </p:cNvPr>
          <p:cNvSpPr>
            <a:spLocks noChangeArrowheads="1"/>
          </p:cNvSpPr>
          <p:nvPr/>
        </p:nvSpPr>
        <p:spPr bwMode="auto">
          <a:xfrm>
            <a:off x="9310688" y="2341563"/>
            <a:ext cx="304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TC</a:t>
            </a:r>
            <a:endParaRPr lang="en-US" altLang="en-US" sz="1800">
              <a:latin typeface="Arial" panose="020B0604020202020204" pitchFamily="34" charset="0"/>
            </a:endParaRPr>
          </a:p>
        </p:txBody>
      </p:sp>
      <p:grpSp>
        <p:nvGrpSpPr>
          <p:cNvPr id="33803" name="Group 11">
            <a:extLst>
              <a:ext uri="{FF2B5EF4-FFF2-40B4-BE49-F238E27FC236}">
                <a16:creationId xmlns:a16="http://schemas.microsoft.com/office/drawing/2014/main" id="{0840E549-7E3C-F518-71EE-86BF33AA16CA}"/>
              </a:ext>
            </a:extLst>
          </p:cNvPr>
          <p:cNvGrpSpPr>
            <a:grpSpLocks/>
          </p:cNvGrpSpPr>
          <p:nvPr/>
        </p:nvGrpSpPr>
        <p:grpSpPr bwMode="auto">
          <a:xfrm>
            <a:off x="2403475" y="1973263"/>
            <a:ext cx="7273925" cy="4275137"/>
            <a:chOff x="552" y="1008"/>
            <a:chExt cx="4582" cy="2693"/>
          </a:xfrm>
        </p:grpSpPr>
        <p:sp>
          <p:nvSpPr>
            <p:cNvPr id="45070" name="Rectangle 12">
              <a:extLst>
                <a:ext uri="{FF2B5EF4-FFF2-40B4-BE49-F238E27FC236}">
                  <a16:creationId xmlns:a16="http://schemas.microsoft.com/office/drawing/2014/main" id="{78874E04-96E1-813B-348B-341921C88B22}"/>
                </a:ext>
              </a:extLst>
            </p:cNvPr>
            <p:cNvSpPr>
              <a:spLocks noChangeArrowheads="1"/>
            </p:cNvSpPr>
            <p:nvPr/>
          </p:nvSpPr>
          <p:spPr bwMode="auto">
            <a:xfrm>
              <a:off x="1024" y="32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0</a:t>
              </a:r>
              <a:endParaRPr lang="en-US" altLang="en-US" sz="1800">
                <a:latin typeface="Arial" panose="020B0604020202020204" pitchFamily="34" charset="0"/>
              </a:endParaRPr>
            </a:p>
          </p:txBody>
        </p:sp>
        <p:grpSp>
          <p:nvGrpSpPr>
            <p:cNvPr id="45071" name="Group 13">
              <a:extLst>
                <a:ext uri="{FF2B5EF4-FFF2-40B4-BE49-F238E27FC236}">
                  <a16:creationId xmlns:a16="http://schemas.microsoft.com/office/drawing/2014/main" id="{07FF4BF8-E92B-D5AB-46FB-AEB3AAF62B19}"/>
                </a:ext>
              </a:extLst>
            </p:cNvPr>
            <p:cNvGrpSpPr>
              <a:grpSpLocks/>
            </p:cNvGrpSpPr>
            <p:nvPr/>
          </p:nvGrpSpPr>
          <p:grpSpPr bwMode="auto">
            <a:xfrm>
              <a:off x="552" y="1008"/>
              <a:ext cx="4582" cy="2693"/>
              <a:chOff x="552" y="1008"/>
              <a:chExt cx="4582" cy="2693"/>
            </a:xfrm>
          </p:grpSpPr>
          <p:sp>
            <p:nvSpPr>
              <p:cNvPr id="45072" name="Line 14">
                <a:extLst>
                  <a:ext uri="{FF2B5EF4-FFF2-40B4-BE49-F238E27FC236}">
                    <a16:creationId xmlns:a16="http://schemas.microsoft.com/office/drawing/2014/main" id="{C6D3AAB5-5992-DD2B-D4F4-496FE7598B0A}"/>
                  </a:ext>
                </a:extLst>
              </p:cNvPr>
              <p:cNvSpPr>
                <a:spLocks noChangeShapeType="1"/>
              </p:cNvSpPr>
              <p:nvPr/>
            </p:nvSpPr>
            <p:spPr bwMode="auto">
              <a:xfrm>
                <a:off x="2793" y="3181"/>
                <a:ext cx="1" cy="86"/>
              </a:xfrm>
              <a:prstGeom prst="line">
                <a:avLst/>
              </a:prstGeom>
              <a:noFill/>
              <a:ln w="14351">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73" name="Line 15">
                <a:extLst>
                  <a:ext uri="{FF2B5EF4-FFF2-40B4-BE49-F238E27FC236}">
                    <a16:creationId xmlns:a16="http://schemas.microsoft.com/office/drawing/2014/main" id="{7CD17575-4DBD-6849-D5C0-14E7B0D94262}"/>
                  </a:ext>
                </a:extLst>
              </p:cNvPr>
              <p:cNvSpPr>
                <a:spLocks noChangeShapeType="1"/>
              </p:cNvSpPr>
              <p:nvPr/>
            </p:nvSpPr>
            <p:spPr bwMode="auto">
              <a:xfrm>
                <a:off x="1695" y="3181"/>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74" name="Rectangle 16">
                <a:extLst>
                  <a:ext uri="{FF2B5EF4-FFF2-40B4-BE49-F238E27FC236}">
                    <a16:creationId xmlns:a16="http://schemas.microsoft.com/office/drawing/2014/main" id="{BD4898B2-1E80-7C6C-E4EA-C9D1417AEEDA}"/>
                  </a:ext>
                </a:extLst>
              </p:cNvPr>
              <p:cNvSpPr>
                <a:spLocks noChangeArrowheads="1"/>
              </p:cNvSpPr>
              <p:nvPr/>
            </p:nvSpPr>
            <p:spPr bwMode="auto">
              <a:xfrm>
                <a:off x="552" y="1008"/>
                <a:ext cx="52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RS ‘000</a:t>
                </a:r>
                <a:endParaRPr lang="en-US" altLang="en-US" sz="1800">
                  <a:latin typeface="Arial" panose="020B0604020202020204" pitchFamily="34" charset="0"/>
                </a:endParaRPr>
              </a:p>
            </p:txBody>
          </p:sp>
          <p:sp>
            <p:nvSpPr>
              <p:cNvPr id="45075" name="Line 17">
                <a:extLst>
                  <a:ext uri="{FF2B5EF4-FFF2-40B4-BE49-F238E27FC236}">
                    <a16:creationId xmlns:a16="http://schemas.microsoft.com/office/drawing/2014/main" id="{F16F4778-45B3-EA17-4D82-76DDCB0D00EC}"/>
                  </a:ext>
                </a:extLst>
              </p:cNvPr>
              <p:cNvSpPr>
                <a:spLocks noChangeShapeType="1"/>
              </p:cNvSpPr>
              <p:nvPr/>
            </p:nvSpPr>
            <p:spPr bwMode="auto">
              <a:xfrm>
                <a:off x="1060" y="2658"/>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76" name="Rectangle 18">
                <a:extLst>
                  <a:ext uri="{FF2B5EF4-FFF2-40B4-BE49-F238E27FC236}">
                    <a16:creationId xmlns:a16="http://schemas.microsoft.com/office/drawing/2014/main" id="{3672DD63-F595-623D-209C-E69E201FD541}"/>
                  </a:ext>
                </a:extLst>
              </p:cNvPr>
              <p:cNvSpPr>
                <a:spLocks noChangeArrowheads="1"/>
              </p:cNvSpPr>
              <p:nvPr/>
            </p:nvSpPr>
            <p:spPr bwMode="auto">
              <a:xfrm>
                <a:off x="800" y="2572"/>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135</a:t>
                </a:r>
                <a:endParaRPr lang="en-US" altLang="en-US" sz="1800">
                  <a:latin typeface="Arial" panose="020B0604020202020204" pitchFamily="34" charset="0"/>
                </a:endParaRPr>
              </a:p>
            </p:txBody>
          </p:sp>
          <p:sp>
            <p:nvSpPr>
              <p:cNvPr id="45077" name="Line 19">
                <a:extLst>
                  <a:ext uri="{FF2B5EF4-FFF2-40B4-BE49-F238E27FC236}">
                    <a16:creationId xmlns:a16="http://schemas.microsoft.com/office/drawing/2014/main" id="{F0AF11FB-8EE1-96D9-8595-76BA2831783F}"/>
                  </a:ext>
                </a:extLst>
              </p:cNvPr>
              <p:cNvSpPr>
                <a:spLocks noChangeShapeType="1"/>
              </p:cNvSpPr>
              <p:nvPr/>
            </p:nvSpPr>
            <p:spPr bwMode="auto">
              <a:xfrm>
                <a:off x="1060" y="2158"/>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78" name="Line 20">
                <a:extLst>
                  <a:ext uri="{FF2B5EF4-FFF2-40B4-BE49-F238E27FC236}">
                    <a16:creationId xmlns:a16="http://schemas.microsoft.com/office/drawing/2014/main" id="{13B73EB2-41EA-EEC4-BB70-E434582297C6}"/>
                  </a:ext>
                </a:extLst>
              </p:cNvPr>
              <p:cNvSpPr>
                <a:spLocks noChangeShapeType="1"/>
              </p:cNvSpPr>
              <p:nvPr/>
            </p:nvSpPr>
            <p:spPr bwMode="auto">
              <a:xfrm>
                <a:off x="1060" y="2385"/>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79" name="Rectangle 21">
                <a:extLst>
                  <a:ext uri="{FF2B5EF4-FFF2-40B4-BE49-F238E27FC236}">
                    <a16:creationId xmlns:a16="http://schemas.microsoft.com/office/drawing/2014/main" id="{934D9BBC-7AD0-39E0-CD9F-67CF99043331}"/>
                  </a:ext>
                </a:extLst>
              </p:cNvPr>
              <p:cNvSpPr>
                <a:spLocks noChangeArrowheads="1"/>
              </p:cNvSpPr>
              <p:nvPr/>
            </p:nvSpPr>
            <p:spPr bwMode="auto">
              <a:xfrm>
                <a:off x="800" y="2297"/>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195</a:t>
                </a:r>
                <a:endParaRPr lang="en-US" altLang="en-US" sz="1800">
                  <a:latin typeface="Arial" panose="020B0604020202020204" pitchFamily="34" charset="0"/>
                </a:endParaRPr>
              </a:p>
            </p:txBody>
          </p:sp>
          <p:sp>
            <p:nvSpPr>
              <p:cNvPr id="45080" name="Rectangle 22">
                <a:extLst>
                  <a:ext uri="{FF2B5EF4-FFF2-40B4-BE49-F238E27FC236}">
                    <a16:creationId xmlns:a16="http://schemas.microsoft.com/office/drawing/2014/main" id="{7457B644-FADD-1EAC-0934-AFBB9358721C}"/>
                  </a:ext>
                </a:extLst>
              </p:cNvPr>
              <p:cNvSpPr>
                <a:spLocks noChangeArrowheads="1"/>
              </p:cNvSpPr>
              <p:nvPr/>
            </p:nvSpPr>
            <p:spPr bwMode="auto">
              <a:xfrm>
                <a:off x="800" y="207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255</a:t>
                </a:r>
                <a:endParaRPr lang="en-US" altLang="en-US" sz="1800">
                  <a:latin typeface="Arial" panose="020B0604020202020204" pitchFamily="34" charset="0"/>
                </a:endParaRPr>
              </a:p>
            </p:txBody>
          </p:sp>
          <p:sp>
            <p:nvSpPr>
              <p:cNvPr id="45081" name="Line 23">
                <a:extLst>
                  <a:ext uri="{FF2B5EF4-FFF2-40B4-BE49-F238E27FC236}">
                    <a16:creationId xmlns:a16="http://schemas.microsoft.com/office/drawing/2014/main" id="{AC147FD6-6857-DEE9-6ECA-281D03CF77ED}"/>
                  </a:ext>
                </a:extLst>
              </p:cNvPr>
              <p:cNvSpPr>
                <a:spLocks noChangeShapeType="1"/>
              </p:cNvSpPr>
              <p:nvPr/>
            </p:nvSpPr>
            <p:spPr bwMode="auto">
              <a:xfrm>
                <a:off x="1060" y="1918"/>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82" name="Line 24">
                <a:extLst>
                  <a:ext uri="{FF2B5EF4-FFF2-40B4-BE49-F238E27FC236}">
                    <a16:creationId xmlns:a16="http://schemas.microsoft.com/office/drawing/2014/main" id="{EA3A5B55-F0B4-2A5F-2930-4580A45136B4}"/>
                  </a:ext>
                </a:extLst>
              </p:cNvPr>
              <p:cNvSpPr>
                <a:spLocks noChangeShapeType="1"/>
              </p:cNvSpPr>
              <p:nvPr/>
            </p:nvSpPr>
            <p:spPr bwMode="auto">
              <a:xfrm>
                <a:off x="1060" y="1678"/>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83" name="Rectangle 25">
                <a:extLst>
                  <a:ext uri="{FF2B5EF4-FFF2-40B4-BE49-F238E27FC236}">
                    <a16:creationId xmlns:a16="http://schemas.microsoft.com/office/drawing/2014/main" id="{3DD7D211-7F13-C3AB-C6D6-8018A59B0FA0}"/>
                  </a:ext>
                </a:extLst>
              </p:cNvPr>
              <p:cNvSpPr>
                <a:spLocks noChangeArrowheads="1"/>
              </p:cNvSpPr>
              <p:nvPr/>
            </p:nvSpPr>
            <p:spPr bwMode="auto">
              <a:xfrm>
                <a:off x="800" y="183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315</a:t>
                </a:r>
                <a:endParaRPr lang="en-US" altLang="en-US" sz="1800">
                  <a:latin typeface="Arial" panose="020B0604020202020204" pitchFamily="34" charset="0"/>
                </a:endParaRPr>
              </a:p>
            </p:txBody>
          </p:sp>
          <p:sp>
            <p:nvSpPr>
              <p:cNvPr id="45084" name="Rectangle 26">
                <a:extLst>
                  <a:ext uri="{FF2B5EF4-FFF2-40B4-BE49-F238E27FC236}">
                    <a16:creationId xmlns:a16="http://schemas.microsoft.com/office/drawing/2014/main" id="{FD1ED6E8-F6B3-35AC-4333-165ABC4F8475}"/>
                  </a:ext>
                </a:extLst>
              </p:cNvPr>
              <p:cNvSpPr>
                <a:spLocks noChangeArrowheads="1"/>
              </p:cNvSpPr>
              <p:nvPr/>
            </p:nvSpPr>
            <p:spPr bwMode="auto">
              <a:xfrm>
                <a:off x="800" y="1591"/>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375</a:t>
                </a:r>
                <a:endParaRPr lang="en-US" altLang="en-US" sz="1800">
                  <a:latin typeface="Arial" panose="020B0604020202020204" pitchFamily="34" charset="0"/>
                </a:endParaRPr>
              </a:p>
            </p:txBody>
          </p:sp>
          <p:sp>
            <p:nvSpPr>
              <p:cNvPr id="45085" name="Line 27">
                <a:extLst>
                  <a:ext uri="{FF2B5EF4-FFF2-40B4-BE49-F238E27FC236}">
                    <a16:creationId xmlns:a16="http://schemas.microsoft.com/office/drawing/2014/main" id="{EE985D0C-A9D6-2D3D-BB80-EE78F8FE22AA}"/>
                  </a:ext>
                </a:extLst>
              </p:cNvPr>
              <p:cNvSpPr>
                <a:spLocks noChangeShapeType="1"/>
              </p:cNvSpPr>
              <p:nvPr/>
            </p:nvSpPr>
            <p:spPr bwMode="auto">
              <a:xfrm>
                <a:off x="1060" y="1445"/>
                <a:ext cx="8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86" name="Rectangle 28">
                <a:extLst>
                  <a:ext uri="{FF2B5EF4-FFF2-40B4-BE49-F238E27FC236}">
                    <a16:creationId xmlns:a16="http://schemas.microsoft.com/office/drawing/2014/main" id="{C50EE185-5E8F-0CF6-3FBF-9310B2309F0F}"/>
                  </a:ext>
                </a:extLst>
              </p:cNvPr>
              <p:cNvSpPr>
                <a:spLocks noChangeArrowheads="1"/>
              </p:cNvSpPr>
              <p:nvPr/>
            </p:nvSpPr>
            <p:spPr bwMode="auto">
              <a:xfrm>
                <a:off x="720" y="1357"/>
                <a:ext cx="24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435</a:t>
                </a:r>
                <a:endParaRPr lang="en-US" altLang="en-US" sz="1800">
                  <a:latin typeface="Arial" panose="020B0604020202020204" pitchFamily="34" charset="0"/>
                </a:endParaRPr>
              </a:p>
            </p:txBody>
          </p:sp>
          <p:sp>
            <p:nvSpPr>
              <p:cNvPr id="45087" name="Line 29">
                <a:extLst>
                  <a:ext uri="{FF2B5EF4-FFF2-40B4-BE49-F238E27FC236}">
                    <a16:creationId xmlns:a16="http://schemas.microsoft.com/office/drawing/2014/main" id="{86ADE399-F65F-B99C-25DB-98720AF59370}"/>
                  </a:ext>
                </a:extLst>
              </p:cNvPr>
              <p:cNvSpPr>
                <a:spLocks noChangeShapeType="1"/>
              </p:cNvSpPr>
              <p:nvPr/>
            </p:nvSpPr>
            <p:spPr bwMode="auto">
              <a:xfrm>
                <a:off x="3524" y="3181"/>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88" name="Rectangle 30">
                <a:extLst>
                  <a:ext uri="{FF2B5EF4-FFF2-40B4-BE49-F238E27FC236}">
                    <a16:creationId xmlns:a16="http://schemas.microsoft.com/office/drawing/2014/main" id="{0FA49BD4-4B99-FCB7-F36E-87ABF6C3B15C}"/>
                  </a:ext>
                </a:extLst>
              </p:cNvPr>
              <p:cNvSpPr>
                <a:spLocks noChangeArrowheads="1"/>
              </p:cNvSpPr>
              <p:nvPr/>
            </p:nvSpPr>
            <p:spPr bwMode="auto">
              <a:xfrm>
                <a:off x="1616" y="3274"/>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a:t>
                </a:r>
                <a:endParaRPr lang="en-US" altLang="en-US" sz="1800">
                  <a:latin typeface="Arial" panose="020B0604020202020204" pitchFamily="34" charset="0"/>
                </a:endParaRPr>
              </a:p>
            </p:txBody>
          </p:sp>
          <p:sp>
            <p:nvSpPr>
              <p:cNvPr id="45089" name="Rectangle 31">
                <a:extLst>
                  <a:ext uri="{FF2B5EF4-FFF2-40B4-BE49-F238E27FC236}">
                    <a16:creationId xmlns:a16="http://schemas.microsoft.com/office/drawing/2014/main" id="{B102CD31-15BF-0943-F98F-B4FC7374CBA3}"/>
                  </a:ext>
                </a:extLst>
              </p:cNvPr>
              <p:cNvSpPr>
                <a:spLocks noChangeArrowheads="1"/>
              </p:cNvSpPr>
              <p:nvPr/>
            </p:nvSpPr>
            <p:spPr bwMode="auto">
              <a:xfrm>
                <a:off x="2714" y="3274"/>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90</a:t>
                </a:r>
                <a:endParaRPr lang="en-US" altLang="en-US" sz="1800">
                  <a:latin typeface="Arial" panose="020B0604020202020204" pitchFamily="34" charset="0"/>
                </a:endParaRPr>
              </a:p>
            </p:txBody>
          </p:sp>
          <p:sp>
            <p:nvSpPr>
              <p:cNvPr id="45090" name="Rectangle 32">
                <a:extLst>
                  <a:ext uri="{FF2B5EF4-FFF2-40B4-BE49-F238E27FC236}">
                    <a16:creationId xmlns:a16="http://schemas.microsoft.com/office/drawing/2014/main" id="{A072155A-6EAA-94D6-6348-5C5945E1E4D5}"/>
                  </a:ext>
                </a:extLst>
              </p:cNvPr>
              <p:cNvSpPr>
                <a:spLocks noChangeArrowheads="1"/>
              </p:cNvSpPr>
              <p:nvPr/>
            </p:nvSpPr>
            <p:spPr bwMode="auto">
              <a:xfrm>
                <a:off x="3403" y="327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130</a:t>
                </a:r>
                <a:endParaRPr lang="en-US" altLang="en-US" sz="1800">
                  <a:latin typeface="Arial" panose="020B0604020202020204" pitchFamily="34" charset="0"/>
                </a:endParaRPr>
              </a:p>
            </p:txBody>
          </p:sp>
          <p:sp>
            <p:nvSpPr>
              <p:cNvPr id="45091" name="Line 33">
                <a:extLst>
                  <a:ext uri="{FF2B5EF4-FFF2-40B4-BE49-F238E27FC236}">
                    <a16:creationId xmlns:a16="http://schemas.microsoft.com/office/drawing/2014/main" id="{69E6386B-4095-A5AA-83D3-04CE8A4D7AAB}"/>
                  </a:ext>
                </a:extLst>
              </p:cNvPr>
              <p:cNvSpPr>
                <a:spLocks noChangeShapeType="1"/>
              </p:cNvSpPr>
              <p:nvPr/>
            </p:nvSpPr>
            <p:spPr bwMode="auto">
              <a:xfrm>
                <a:off x="4044" y="3181"/>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92" name="Rectangle 34">
                <a:extLst>
                  <a:ext uri="{FF2B5EF4-FFF2-40B4-BE49-F238E27FC236}">
                    <a16:creationId xmlns:a16="http://schemas.microsoft.com/office/drawing/2014/main" id="{07BF8063-79A7-CC34-670E-CF287533D673}"/>
                  </a:ext>
                </a:extLst>
              </p:cNvPr>
              <p:cNvSpPr>
                <a:spLocks noChangeArrowheads="1"/>
              </p:cNvSpPr>
              <p:nvPr/>
            </p:nvSpPr>
            <p:spPr bwMode="auto">
              <a:xfrm>
                <a:off x="3925" y="327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161</a:t>
                </a:r>
                <a:endParaRPr lang="en-US" altLang="en-US" sz="1800">
                  <a:latin typeface="Arial" panose="020B0604020202020204" pitchFamily="34" charset="0"/>
                </a:endParaRPr>
              </a:p>
            </p:txBody>
          </p:sp>
          <p:sp>
            <p:nvSpPr>
              <p:cNvPr id="45093" name="Rectangle 35">
                <a:extLst>
                  <a:ext uri="{FF2B5EF4-FFF2-40B4-BE49-F238E27FC236}">
                    <a16:creationId xmlns:a16="http://schemas.microsoft.com/office/drawing/2014/main" id="{EF2E0556-EEB4-00AB-33B5-4CFEC0498D38}"/>
                  </a:ext>
                </a:extLst>
              </p:cNvPr>
              <p:cNvSpPr>
                <a:spLocks noChangeArrowheads="1"/>
              </p:cNvSpPr>
              <p:nvPr/>
            </p:nvSpPr>
            <p:spPr bwMode="auto">
              <a:xfrm>
                <a:off x="3928" y="3528"/>
                <a:ext cx="10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Units of Output</a:t>
                </a:r>
                <a:endParaRPr lang="en-US" altLang="en-US" sz="1800">
                  <a:latin typeface="Arial" panose="020B0604020202020204" pitchFamily="34" charset="0"/>
                </a:endParaRPr>
              </a:p>
            </p:txBody>
          </p:sp>
          <p:sp>
            <p:nvSpPr>
              <p:cNvPr id="45094" name="Line 36">
                <a:extLst>
                  <a:ext uri="{FF2B5EF4-FFF2-40B4-BE49-F238E27FC236}">
                    <a16:creationId xmlns:a16="http://schemas.microsoft.com/office/drawing/2014/main" id="{8FD1F131-E389-6AB2-6236-CC71A4533DD7}"/>
                  </a:ext>
                </a:extLst>
              </p:cNvPr>
              <p:cNvSpPr>
                <a:spLocks noChangeShapeType="1"/>
              </p:cNvSpPr>
              <p:nvPr/>
            </p:nvSpPr>
            <p:spPr bwMode="auto">
              <a:xfrm>
                <a:off x="4524" y="3181"/>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95" name="Rectangle 37">
                <a:extLst>
                  <a:ext uri="{FF2B5EF4-FFF2-40B4-BE49-F238E27FC236}">
                    <a16:creationId xmlns:a16="http://schemas.microsoft.com/office/drawing/2014/main" id="{F270C717-F4A1-101D-2A31-E8ACDAF4046D}"/>
                  </a:ext>
                </a:extLst>
              </p:cNvPr>
              <p:cNvSpPr>
                <a:spLocks noChangeArrowheads="1"/>
              </p:cNvSpPr>
              <p:nvPr/>
            </p:nvSpPr>
            <p:spPr bwMode="auto">
              <a:xfrm>
                <a:off x="4404" y="327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184</a:t>
                </a:r>
                <a:endParaRPr lang="en-US" altLang="en-US" sz="1800">
                  <a:latin typeface="Arial" panose="020B0604020202020204" pitchFamily="34" charset="0"/>
                </a:endParaRPr>
              </a:p>
            </p:txBody>
          </p:sp>
          <p:sp>
            <p:nvSpPr>
              <p:cNvPr id="45096" name="Line 38">
                <a:extLst>
                  <a:ext uri="{FF2B5EF4-FFF2-40B4-BE49-F238E27FC236}">
                    <a16:creationId xmlns:a16="http://schemas.microsoft.com/office/drawing/2014/main" id="{C50365B7-DCD8-14A3-5682-DC8E0FF1E8CD}"/>
                  </a:ext>
                </a:extLst>
              </p:cNvPr>
              <p:cNvSpPr>
                <a:spLocks noChangeShapeType="1"/>
              </p:cNvSpPr>
              <p:nvPr/>
            </p:nvSpPr>
            <p:spPr bwMode="auto">
              <a:xfrm>
                <a:off x="4883" y="3181"/>
                <a:ext cx="1" cy="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5097" name="Rectangle 39">
                <a:extLst>
                  <a:ext uri="{FF2B5EF4-FFF2-40B4-BE49-F238E27FC236}">
                    <a16:creationId xmlns:a16="http://schemas.microsoft.com/office/drawing/2014/main" id="{9CC0A8A1-39BE-6350-8708-AFD747B63911}"/>
                  </a:ext>
                </a:extLst>
              </p:cNvPr>
              <p:cNvSpPr>
                <a:spLocks noChangeArrowheads="1"/>
              </p:cNvSpPr>
              <p:nvPr/>
            </p:nvSpPr>
            <p:spPr bwMode="auto">
              <a:xfrm>
                <a:off x="4763" y="3274"/>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196</a:t>
                </a:r>
                <a:endParaRPr lang="en-US" altLang="en-US" sz="1800">
                  <a:latin typeface="Arial" panose="020B0604020202020204" pitchFamily="34" charset="0"/>
                </a:endParaRPr>
              </a:p>
            </p:txBody>
          </p:sp>
          <p:sp>
            <p:nvSpPr>
              <p:cNvPr id="45098" name="Freeform 40">
                <a:extLst>
                  <a:ext uri="{FF2B5EF4-FFF2-40B4-BE49-F238E27FC236}">
                    <a16:creationId xmlns:a16="http://schemas.microsoft.com/office/drawing/2014/main" id="{5CE730C3-AC4B-8B25-80A0-D7E09F8A7338}"/>
                  </a:ext>
                </a:extLst>
              </p:cNvPr>
              <p:cNvSpPr>
                <a:spLocks/>
              </p:cNvSpPr>
              <p:nvPr/>
            </p:nvSpPr>
            <p:spPr bwMode="auto">
              <a:xfrm>
                <a:off x="1148" y="1008"/>
                <a:ext cx="3986" cy="2167"/>
              </a:xfrm>
              <a:custGeom>
                <a:avLst/>
                <a:gdLst>
                  <a:gd name="T0" fmla="*/ 0 w 3986"/>
                  <a:gd name="T1" fmla="*/ 0 h 2017"/>
                  <a:gd name="T2" fmla="*/ 0 w 3986"/>
                  <a:gd name="T3" fmla="*/ 5915 h 2017"/>
                  <a:gd name="T4" fmla="*/ 3986 w 3986"/>
                  <a:gd name="T5" fmla="*/ 5915 h 2017"/>
                  <a:gd name="T6" fmla="*/ 0 60000 65536"/>
                  <a:gd name="T7" fmla="*/ 0 60000 65536"/>
                  <a:gd name="T8" fmla="*/ 0 60000 65536"/>
                </a:gdLst>
                <a:ahLst/>
                <a:cxnLst>
                  <a:cxn ang="T6">
                    <a:pos x="T0" y="T1"/>
                  </a:cxn>
                  <a:cxn ang="T7">
                    <a:pos x="T2" y="T3"/>
                  </a:cxn>
                  <a:cxn ang="T8">
                    <a:pos x="T4" y="T5"/>
                  </a:cxn>
                </a:cxnLst>
                <a:rect l="0" t="0" r="r" b="b"/>
                <a:pathLst>
                  <a:path w="3986" h="2017">
                    <a:moveTo>
                      <a:pt x="0" y="0"/>
                    </a:moveTo>
                    <a:lnTo>
                      <a:pt x="0" y="2017"/>
                    </a:lnTo>
                    <a:lnTo>
                      <a:pt x="3986" y="2017"/>
                    </a:lnTo>
                  </a:path>
                </a:pathLst>
              </a:custGeom>
              <a:noFill/>
              <a:ln w="285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grpSp>
      <p:sp>
        <p:nvSpPr>
          <p:cNvPr id="33833" name="Rectangle 41">
            <a:extLst>
              <a:ext uri="{FF2B5EF4-FFF2-40B4-BE49-F238E27FC236}">
                <a16:creationId xmlns:a16="http://schemas.microsoft.com/office/drawing/2014/main" id="{105ACF24-E514-3C6B-FC34-7E80EAFEFFBF}"/>
              </a:ext>
            </a:extLst>
          </p:cNvPr>
          <p:cNvSpPr>
            <a:spLocks noChangeArrowheads="1"/>
          </p:cNvSpPr>
          <p:nvPr/>
        </p:nvSpPr>
        <p:spPr bwMode="auto">
          <a:xfrm>
            <a:off x="6705600" y="2935288"/>
            <a:ext cx="444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TFC</a:t>
            </a:r>
            <a:endParaRPr lang="en-US" altLang="en-US" sz="1800">
              <a:latin typeface="Arial" panose="020B0604020202020204" pitchFamily="34" charset="0"/>
            </a:endParaRPr>
          </a:p>
        </p:txBody>
      </p:sp>
      <p:sp>
        <p:nvSpPr>
          <p:cNvPr id="33834" name="Line 42">
            <a:extLst>
              <a:ext uri="{FF2B5EF4-FFF2-40B4-BE49-F238E27FC236}">
                <a16:creationId xmlns:a16="http://schemas.microsoft.com/office/drawing/2014/main" id="{7F96A50F-D9D5-F4C5-AEE6-8DB308B87049}"/>
              </a:ext>
            </a:extLst>
          </p:cNvPr>
          <p:cNvSpPr>
            <a:spLocks noChangeShapeType="1"/>
          </p:cNvSpPr>
          <p:nvPr/>
        </p:nvSpPr>
        <p:spPr bwMode="auto">
          <a:xfrm>
            <a:off x="3338513" y="4822825"/>
            <a:ext cx="5553075" cy="1588"/>
          </a:xfrm>
          <a:prstGeom prst="line">
            <a:avLst/>
          </a:prstGeom>
          <a:noFill/>
          <a:ln w="57150">
            <a:solidFill>
              <a:srgbClr val="6D184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33835" name="Rectangle 43">
            <a:extLst>
              <a:ext uri="{FF2B5EF4-FFF2-40B4-BE49-F238E27FC236}">
                <a16:creationId xmlns:a16="http://schemas.microsoft.com/office/drawing/2014/main" id="{FAA720E7-FDE0-B8A7-F639-38867375F09F}"/>
              </a:ext>
            </a:extLst>
          </p:cNvPr>
          <p:cNvSpPr>
            <a:spLocks noChangeArrowheads="1"/>
          </p:cNvSpPr>
          <p:nvPr/>
        </p:nvSpPr>
        <p:spPr bwMode="auto">
          <a:xfrm>
            <a:off x="8926513" y="4718050"/>
            <a:ext cx="444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TFC</a:t>
            </a:r>
            <a:endParaRPr lang="en-US" altLang="en-US" sz="1800">
              <a:latin typeface="Arial" panose="020B0604020202020204" pitchFamily="34" charset="0"/>
            </a:endParaRPr>
          </a:p>
        </p:txBody>
      </p:sp>
      <p:sp>
        <p:nvSpPr>
          <p:cNvPr id="33836" name="Rectangle 44">
            <a:extLst>
              <a:ext uri="{FF2B5EF4-FFF2-40B4-BE49-F238E27FC236}">
                <a16:creationId xmlns:a16="http://schemas.microsoft.com/office/drawing/2014/main" id="{6B58850E-3CE0-E58A-1F99-D5910921541F}"/>
              </a:ext>
            </a:extLst>
          </p:cNvPr>
          <p:cNvSpPr>
            <a:spLocks noChangeArrowheads="1"/>
          </p:cNvSpPr>
          <p:nvPr/>
        </p:nvSpPr>
        <p:spPr bwMode="auto">
          <a:xfrm>
            <a:off x="9296400" y="2828925"/>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TVC</a:t>
            </a:r>
            <a:endParaRPr lang="en-US" altLang="en-US" sz="1800">
              <a:latin typeface="Arial" panose="020B0604020202020204" pitchFamily="34" charset="0"/>
            </a:endParaRPr>
          </a:p>
        </p:txBody>
      </p:sp>
      <p:sp>
        <p:nvSpPr>
          <p:cNvPr id="33837" name="Line 45">
            <a:extLst>
              <a:ext uri="{FF2B5EF4-FFF2-40B4-BE49-F238E27FC236}">
                <a16:creationId xmlns:a16="http://schemas.microsoft.com/office/drawing/2014/main" id="{89A8A155-4C8A-4BB8-7800-F1CBC1E60506}"/>
              </a:ext>
            </a:extLst>
          </p:cNvPr>
          <p:cNvSpPr>
            <a:spLocks noChangeShapeType="1"/>
          </p:cNvSpPr>
          <p:nvPr/>
        </p:nvSpPr>
        <p:spPr bwMode="auto">
          <a:xfrm>
            <a:off x="6249988" y="4852988"/>
            <a:ext cx="0" cy="444500"/>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33838" name="Line 46">
            <a:extLst>
              <a:ext uri="{FF2B5EF4-FFF2-40B4-BE49-F238E27FC236}">
                <a16:creationId xmlns:a16="http://schemas.microsoft.com/office/drawing/2014/main" id="{211CD6F1-EF34-D62E-257F-84CCC0E75F10}"/>
              </a:ext>
            </a:extLst>
          </p:cNvPr>
          <p:cNvSpPr>
            <a:spLocks noChangeShapeType="1"/>
          </p:cNvSpPr>
          <p:nvPr/>
        </p:nvSpPr>
        <p:spPr bwMode="auto">
          <a:xfrm>
            <a:off x="6245225" y="4024313"/>
            <a:ext cx="9525" cy="460375"/>
          </a:xfrm>
          <a:prstGeom prst="line">
            <a:avLst/>
          </a:prstGeom>
          <a:noFill/>
          <a:ln w="571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33839" name="Freeform 47">
            <a:extLst>
              <a:ext uri="{FF2B5EF4-FFF2-40B4-BE49-F238E27FC236}">
                <a16:creationId xmlns:a16="http://schemas.microsoft.com/office/drawing/2014/main" id="{81797DD3-62E6-30A3-207A-BD7AFB2DA639}"/>
              </a:ext>
            </a:extLst>
          </p:cNvPr>
          <p:cNvSpPr>
            <a:spLocks/>
          </p:cNvSpPr>
          <p:nvPr/>
        </p:nvSpPr>
        <p:spPr bwMode="auto">
          <a:xfrm>
            <a:off x="6478588" y="3209925"/>
            <a:ext cx="654050" cy="1825625"/>
          </a:xfrm>
          <a:custGeom>
            <a:avLst/>
            <a:gdLst>
              <a:gd name="T0" fmla="*/ 0 w 412"/>
              <a:gd name="T1" fmla="*/ 2147483646 h 1150"/>
              <a:gd name="T2" fmla="*/ 0 w 412"/>
              <a:gd name="T3" fmla="*/ 2147483646 h 1150"/>
              <a:gd name="T4" fmla="*/ 2147483646 w 412"/>
              <a:gd name="T5" fmla="*/ 2147483646 h 1150"/>
              <a:gd name="T6" fmla="*/ 2147483646 w 412"/>
              <a:gd name="T7" fmla="*/ 2147483646 h 1150"/>
              <a:gd name="T8" fmla="*/ 2147483646 w 412"/>
              <a:gd name="T9" fmla="*/ 2147483646 h 1150"/>
              <a:gd name="T10" fmla="*/ 2147483646 w 412"/>
              <a:gd name="T11" fmla="*/ 2147483646 h 1150"/>
              <a:gd name="T12" fmla="*/ 2147483646 w 412"/>
              <a:gd name="T13" fmla="*/ 2147483646 h 1150"/>
              <a:gd name="T14" fmla="*/ 2147483646 w 412"/>
              <a:gd name="T15" fmla="*/ 2147483646 h 1150"/>
              <a:gd name="T16" fmla="*/ 2147483646 w 412"/>
              <a:gd name="T17" fmla="*/ 2147483646 h 1150"/>
              <a:gd name="T18" fmla="*/ 2147483646 w 412"/>
              <a:gd name="T19" fmla="*/ 2147483646 h 1150"/>
              <a:gd name="T20" fmla="*/ 2147483646 w 412"/>
              <a:gd name="T21" fmla="*/ 2147483646 h 1150"/>
              <a:gd name="T22" fmla="*/ 2147483646 w 412"/>
              <a:gd name="T23" fmla="*/ 2147483646 h 1150"/>
              <a:gd name="T24" fmla="*/ 2147483646 w 412"/>
              <a:gd name="T25" fmla="*/ 2147483646 h 1150"/>
              <a:gd name="T26" fmla="*/ 2147483646 w 412"/>
              <a:gd name="T27" fmla="*/ 2147483646 h 1150"/>
              <a:gd name="T28" fmla="*/ 2147483646 w 412"/>
              <a:gd name="T29" fmla="*/ 2147483646 h 1150"/>
              <a:gd name="T30" fmla="*/ 2147483646 w 412"/>
              <a:gd name="T31" fmla="*/ 2147483646 h 1150"/>
              <a:gd name="T32" fmla="*/ 2147483646 w 412"/>
              <a:gd name="T33" fmla="*/ 2147483646 h 1150"/>
              <a:gd name="T34" fmla="*/ 2147483646 w 412"/>
              <a:gd name="T35" fmla="*/ 2147483646 h 1150"/>
              <a:gd name="T36" fmla="*/ 2147483646 w 412"/>
              <a:gd name="T37" fmla="*/ 2147483646 h 1150"/>
              <a:gd name="T38" fmla="*/ 2147483646 w 412"/>
              <a:gd name="T39" fmla="*/ 2147483646 h 1150"/>
              <a:gd name="T40" fmla="*/ 2147483646 w 412"/>
              <a:gd name="T41" fmla="*/ 2147483646 h 1150"/>
              <a:gd name="T42" fmla="*/ 2147483646 w 412"/>
              <a:gd name="T43" fmla="*/ 2147483646 h 1150"/>
              <a:gd name="T44" fmla="*/ 2147483646 w 412"/>
              <a:gd name="T45" fmla="*/ 2147483646 h 1150"/>
              <a:gd name="T46" fmla="*/ 2147483646 w 412"/>
              <a:gd name="T47" fmla="*/ 0 h 11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12" h="1150">
                <a:moveTo>
                  <a:pt x="0" y="1150"/>
                </a:moveTo>
                <a:lnTo>
                  <a:pt x="0" y="1150"/>
                </a:lnTo>
                <a:lnTo>
                  <a:pt x="35" y="1130"/>
                </a:lnTo>
                <a:lnTo>
                  <a:pt x="67" y="1106"/>
                </a:lnTo>
                <a:lnTo>
                  <a:pt x="98" y="1080"/>
                </a:lnTo>
                <a:lnTo>
                  <a:pt x="125" y="1050"/>
                </a:lnTo>
                <a:lnTo>
                  <a:pt x="152" y="1016"/>
                </a:lnTo>
                <a:lnTo>
                  <a:pt x="179" y="980"/>
                </a:lnTo>
                <a:lnTo>
                  <a:pt x="233" y="906"/>
                </a:lnTo>
                <a:lnTo>
                  <a:pt x="278" y="823"/>
                </a:lnTo>
                <a:lnTo>
                  <a:pt x="313" y="733"/>
                </a:lnTo>
                <a:lnTo>
                  <a:pt x="349" y="643"/>
                </a:lnTo>
                <a:lnTo>
                  <a:pt x="376" y="553"/>
                </a:lnTo>
                <a:lnTo>
                  <a:pt x="394" y="460"/>
                </a:lnTo>
                <a:lnTo>
                  <a:pt x="408" y="373"/>
                </a:lnTo>
                <a:lnTo>
                  <a:pt x="412" y="290"/>
                </a:lnTo>
                <a:lnTo>
                  <a:pt x="408" y="210"/>
                </a:lnTo>
                <a:lnTo>
                  <a:pt x="399" y="140"/>
                </a:lnTo>
                <a:lnTo>
                  <a:pt x="390" y="110"/>
                </a:lnTo>
                <a:lnTo>
                  <a:pt x="376" y="83"/>
                </a:lnTo>
                <a:lnTo>
                  <a:pt x="363" y="56"/>
                </a:lnTo>
                <a:lnTo>
                  <a:pt x="349" y="36"/>
                </a:lnTo>
                <a:lnTo>
                  <a:pt x="331" y="16"/>
                </a:lnTo>
                <a:lnTo>
                  <a:pt x="309" y="0"/>
                </a:lnTo>
              </a:path>
            </a:pathLst>
          </a:custGeom>
          <a:noFill/>
          <a:ln w="28575" cmpd="sng">
            <a:solidFill>
              <a:srgbClr val="0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3840" name="Freeform 48">
            <a:extLst>
              <a:ext uri="{FF2B5EF4-FFF2-40B4-BE49-F238E27FC236}">
                <a16:creationId xmlns:a16="http://schemas.microsoft.com/office/drawing/2014/main" id="{929ECC5E-B9E1-308F-51D2-5B1BFFF9FA29}"/>
              </a:ext>
            </a:extLst>
          </p:cNvPr>
          <p:cNvSpPr>
            <a:spLocks/>
          </p:cNvSpPr>
          <p:nvPr/>
        </p:nvSpPr>
        <p:spPr bwMode="auto">
          <a:xfrm>
            <a:off x="6421438" y="3203575"/>
            <a:ext cx="419100" cy="1016000"/>
          </a:xfrm>
          <a:custGeom>
            <a:avLst/>
            <a:gdLst>
              <a:gd name="T0" fmla="*/ 0 w 264"/>
              <a:gd name="T1" fmla="*/ 2147483646 h 640"/>
              <a:gd name="T2" fmla="*/ 0 w 264"/>
              <a:gd name="T3" fmla="*/ 2147483646 h 640"/>
              <a:gd name="T4" fmla="*/ 2147483646 w 264"/>
              <a:gd name="T5" fmla="*/ 2147483646 h 640"/>
              <a:gd name="T6" fmla="*/ 2147483646 w 264"/>
              <a:gd name="T7" fmla="*/ 2147483646 h 640"/>
              <a:gd name="T8" fmla="*/ 2147483646 w 264"/>
              <a:gd name="T9" fmla="*/ 2147483646 h 640"/>
              <a:gd name="T10" fmla="*/ 2147483646 w 264"/>
              <a:gd name="T11" fmla="*/ 2147483646 h 640"/>
              <a:gd name="T12" fmla="*/ 2147483646 w 264"/>
              <a:gd name="T13" fmla="*/ 2147483646 h 640"/>
              <a:gd name="T14" fmla="*/ 2147483646 w 264"/>
              <a:gd name="T15" fmla="*/ 2147483646 h 640"/>
              <a:gd name="T16" fmla="*/ 2147483646 w 264"/>
              <a:gd name="T17" fmla="*/ 2147483646 h 640"/>
              <a:gd name="T18" fmla="*/ 2147483646 w 264"/>
              <a:gd name="T19" fmla="*/ 2147483646 h 640"/>
              <a:gd name="T20" fmla="*/ 2147483646 w 264"/>
              <a:gd name="T21" fmla="*/ 2147483646 h 640"/>
              <a:gd name="T22" fmla="*/ 2147483646 w 264"/>
              <a:gd name="T23" fmla="*/ 2147483646 h 640"/>
              <a:gd name="T24" fmla="*/ 2147483646 w 264"/>
              <a:gd name="T25" fmla="*/ 2147483646 h 640"/>
              <a:gd name="T26" fmla="*/ 2147483646 w 264"/>
              <a:gd name="T27" fmla="*/ 2147483646 h 640"/>
              <a:gd name="T28" fmla="*/ 2147483646 w 264"/>
              <a:gd name="T29" fmla="*/ 2147483646 h 640"/>
              <a:gd name="T30" fmla="*/ 2147483646 w 264"/>
              <a:gd name="T31" fmla="*/ 0 h 6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64" h="640">
                <a:moveTo>
                  <a:pt x="0" y="640"/>
                </a:moveTo>
                <a:lnTo>
                  <a:pt x="0" y="640"/>
                </a:lnTo>
                <a:lnTo>
                  <a:pt x="9" y="637"/>
                </a:lnTo>
                <a:lnTo>
                  <a:pt x="22" y="627"/>
                </a:lnTo>
                <a:lnTo>
                  <a:pt x="49" y="604"/>
                </a:lnTo>
                <a:lnTo>
                  <a:pt x="76" y="574"/>
                </a:lnTo>
                <a:lnTo>
                  <a:pt x="103" y="534"/>
                </a:lnTo>
                <a:lnTo>
                  <a:pt x="125" y="490"/>
                </a:lnTo>
                <a:lnTo>
                  <a:pt x="152" y="440"/>
                </a:lnTo>
                <a:lnTo>
                  <a:pt x="197" y="334"/>
                </a:lnTo>
                <a:lnTo>
                  <a:pt x="233" y="227"/>
                </a:lnTo>
                <a:lnTo>
                  <a:pt x="255" y="130"/>
                </a:lnTo>
                <a:lnTo>
                  <a:pt x="260" y="87"/>
                </a:lnTo>
                <a:lnTo>
                  <a:pt x="264" y="50"/>
                </a:lnTo>
                <a:lnTo>
                  <a:pt x="260" y="20"/>
                </a:lnTo>
                <a:lnTo>
                  <a:pt x="251" y="0"/>
                </a:lnTo>
              </a:path>
            </a:pathLst>
          </a:custGeom>
          <a:noFill/>
          <a:ln w="28575" cmpd="sng">
            <a:solidFill>
              <a:srgbClr val="0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LK"/>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834"/>
                                        </p:tgtEl>
                                        <p:attrNameLst>
                                          <p:attrName>style.visibility</p:attrName>
                                        </p:attrNameLst>
                                      </p:cBhvr>
                                      <p:to>
                                        <p:strVal val="visible"/>
                                      </p:to>
                                    </p:set>
                                    <p:animEffect transition="in" filter="wipe(left)">
                                      <p:cBhvr>
                                        <p:cTn id="7" dur="500"/>
                                        <p:tgtEl>
                                          <p:spTgt spid="33834"/>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338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33800"/>
                                        </p:tgtEl>
                                        <p:attrNameLst>
                                          <p:attrName>style.visibility</p:attrName>
                                        </p:attrNameLst>
                                      </p:cBhvr>
                                      <p:to>
                                        <p:strVal val="visible"/>
                                      </p:to>
                                    </p:set>
                                    <p:animEffect transition="in" filter="wipe(down)">
                                      <p:cBhvr>
                                        <p:cTn id="15" dur="500"/>
                                        <p:tgtEl>
                                          <p:spTgt spid="33800"/>
                                        </p:tgtEl>
                                      </p:cBhvr>
                                    </p:animEffect>
                                  </p:childTnLst>
                                </p:cTn>
                              </p:par>
                            </p:childTnLst>
                          </p:cTn>
                        </p:par>
                        <p:par>
                          <p:cTn id="16" fill="hold" nodeType="afterGroup">
                            <p:stCondLst>
                              <p:cond delay="500"/>
                            </p:stCondLst>
                            <p:childTnLst>
                              <p:par>
                                <p:cTn id="17" presetID="1" presetClass="entr" presetSubtype="0" fill="hold" nodeType="afterEffect">
                                  <p:stCondLst>
                                    <p:cond delay="0"/>
                                  </p:stCondLst>
                                  <p:childTnLst>
                                    <p:set>
                                      <p:cBhvr>
                                        <p:cTn id="18" dur="1" fill="hold">
                                          <p:stCondLst>
                                            <p:cond delay="0"/>
                                          </p:stCondLst>
                                        </p:cTn>
                                        <p:tgtEl>
                                          <p:spTgt spid="338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3833"/>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1" fill="hold" nodeType="afterEffect">
                                  <p:stCondLst>
                                    <p:cond delay="0"/>
                                  </p:stCondLst>
                                  <p:childTnLst>
                                    <p:set>
                                      <p:cBhvr>
                                        <p:cTn id="25" dur="1" fill="hold">
                                          <p:stCondLst>
                                            <p:cond delay="0"/>
                                          </p:stCondLst>
                                        </p:cTn>
                                        <p:tgtEl>
                                          <p:spTgt spid="33839"/>
                                        </p:tgtEl>
                                        <p:attrNameLst>
                                          <p:attrName>style.visibility</p:attrName>
                                        </p:attrNameLst>
                                      </p:cBhvr>
                                      <p:to>
                                        <p:strVal val="visible"/>
                                      </p:to>
                                    </p:set>
                                    <p:animEffect transition="in" filter="wipe(up)">
                                      <p:cBhvr>
                                        <p:cTn id="26" dur="500"/>
                                        <p:tgtEl>
                                          <p:spTgt spid="33839"/>
                                        </p:tgtEl>
                                      </p:cBhvr>
                                    </p:animEffect>
                                  </p:childTnLst>
                                </p:cTn>
                              </p:par>
                            </p:childTnLst>
                          </p:cTn>
                        </p:par>
                        <p:par>
                          <p:cTn id="27" fill="hold" nodeType="afterGroup">
                            <p:stCondLst>
                              <p:cond delay="500"/>
                            </p:stCondLst>
                            <p:childTnLst>
                              <p:par>
                                <p:cTn id="28" presetID="16" presetClass="entr" presetSubtype="42" fill="hold" nodeType="afterEffect">
                                  <p:stCondLst>
                                    <p:cond delay="0"/>
                                  </p:stCondLst>
                                  <p:childTnLst>
                                    <p:set>
                                      <p:cBhvr>
                                        <p:cTn id="29" dur="1" fill="hold">
                                          <p:stCondLst>
                                            <p:cond delay="0"/>
                                          </p:stCondLst>
                                        </p:cTn>
                                        <p:tgtEl>
                                          <p:spTgt spid="33837"/>
                                        </p:tgtEl>
                                        <p:attrNameLst>
                                          <p:attrName>style.visibility</p:attrName>
                                        </p:attrNameLst>
                                      </p:cBhvr>
                                      <p:to>
                                        <p:strVal val="visible"/>
                                      </p:to>
                                    </p:set>
                                    <p:animEffect transition="in" filter="barn(outHorizontal)">
                                      <p:cBhvr>
                                        <p:cTn id="30" dur="500"/>
                                        <p:tgtEl>
                                          <p:spTgt spid="3383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33840"/>
                                        </p:tgtEl>
                                        <p:attrNameLst>
                                          <p:attrName>style.visibility</p:attrName>
                                        </p:attrNameLst>
                                      </p:cBhvr>
                                      <p:to>
                                        <p:strVal val="visible"/>
                                      </p:to>
                                    </p:set>
                                    <p:animEffect transition="in" filter="wipe(up)">
                                      <p:cBhvr>
                                        <p:cTn id="35" dur="500"/>
                                        <p:tgtEl>
                                          <p:spTgt spid="33840"/>
                                        </p:tgtEl>
                                      </p:cBhvr>
                                    </p:animEffect>
                                  </p:childTnLst>
                                </p:cTn>
                              </p:par>
                            </p:childTnLst>
                          </p:cTn>
                        </p:par>
                        <p:par>
                          <p:cTn id="36" fill="hold" nodeType="afterGroup">
                            <p:stCondLst>
                              <p:cond delay="500"/>
                            </p:stCondLst>
                            <p:childTnLst>
                              <p:par>
                                <p:cTn id="37" presetID="16" presetClass="entr" presetSubtype="42" fill="hold" nodeType="afterEffect">
                                  <p:stCondLst>
                                    <p:cond delay="0"/>
                                  </p:stCondLst>
                                  <p:childTnLst>
                                    <p:set>
                                      <p:cBhvr>
                                        <p:cTn id="38" dur="1" fill="hold">
                                          <p:stCondLst>
                                            <p:cond delay="0"/>
                                          </p:stCondLst>
                                        </p:cTn>
                                        <p:tgtEl>
                                          <p:spTgt spid="33838"/>
                                        </p:tgtEl>
                                        <p:attrNameLst>
                                          <p:attrName>style.visibility</p:attrName>
                                        </p:attrNameLst>
                                      </p:cBhvr>
                                      <p:to>
                                        <p:strVal val="visible"/>
                                      </p:to>
                                    </p:set>
                                    <p:animEffect transition="in" filter="barn(outHorizontal)">
                                      <p:cBhvr>
                                        <p:cTn id="39" dur="500"/>
                                        <p:tgtEl>
                                          <p:spTgt spid="33838"/>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33801"/>
                                        </p:tgtEl>
                                        <p:attrNameLst>
                                          <p:attrName>style.visibility</p:attrName>
                                        </p:attrNameLst>
                                      </p:cBhvr>
                                      <p:to>
                                        <p:strVal val="visible"/>
                                      </p:to>
                                    </p:set>
                                    <p:animEffect transition="in" filter="wipe(left)">
                                      <p:cBhvr>
                                        <p:cTn id="43" dur="500"/>
                                        <p:tgtEl>
                                          <p:spTgt spid="33801"/>
                                        </p:tgtEl>
                                      </p:cBhvr>
                                    </p:animEffect>
                                  </p:childTnLst>
                                </p:cTn>
                              </p:par>
                            </p:childTnLst>
                          </p:cTn>
                        </p:par>
                        <p:par>
                          <p:cTn id="44" fill="hold" nodeType="afterGroup">
                            <p:stCondLst>
                              <p:cond delay="1500"/>
                            </p:stCondLst>
                            <p:childTnLst>
                              <p:par>
                                <p:cTn id="45" presetID="1" presetClass="entr" presetSubtype="0" fill="hold" nodeType="afterEffect">
                                  <p:stCondLst>
                                    <p:cond delay="0"/>
                                  </p:stCondLst>
                                  <p:childTnLst>
                                    <p:set>
                                      <p:cBhvr>
                                        <p:cTn id="46" dur="1" fill="hold">
                                          <p:stCondLst>
                                            <p:cond delay="0"/>
                                          </p:stCondLst>
                                        </p:cTn>
                                        <p:tgtEl>
                                          <p:spTgt spid="33802"/>
                                        </p:tgtEl>
                                        <p:attrNameLst>
                                          <p:attrName>style.visibility</p:attrName>
                                        </p:attrNameLst>
                                      </p:cBhvr>
                                      <p:to>
                                        <p:strVal val="visible"/>
                                      </p:to>
                                    </p:set>
                                  </p:childTnLst>
                                </p:cTn>
                              </p:par>
                            </p:childTnLst>
                          </p:cTn>
                        </p:par>
                        <p:par>
                          <p:cTn id="47" fill="hold" nodeType="afterGroup">
                            <p:stCondLst>
                              <p:cond delay="1500"/>
                            </p:stCondLst>
                            <p:childTnLst>
                              <p:par>
                                <p:cTn id="48" presetID="22" presetClass="entr" presetSubtype="8" fill="hold" nodeType="afterEffect">
                                  <p:stCondLst>
                                    <p:cond delay="0"/>
                                  </p:stCondLst>
                                  <p:childTnLst>
                                    <p:set>
                                      <p:cBhvr>
                                        <p:cTn id="49" dur="1" fill="hold">
                                          <p:stCondLst>
                                            <p:cond delay="0"/>
                                          </p:stCondLst>
                                        </p:cTn>
                                        <p:tgtEl>
                                          <p:spTgt spid="33803"/>
                                        </p:tgtEl>
                                        <p:attrNameLst>
                                          <p:attrName>style.visibility</p:attrName>
                                        </p:attrNameLst>
                                      </p:cBhvr>
                                      <p:to>
                                        <p:strVal val="visible"/>
                                      </p:to>
                                    </p:set>
                                    <p:animEffect transition="in" filter="wipe(left)">
                                      <p:cBhvr>
                                        <p:cTn id="50" dur="500"/>
                                        <p:tgtEl>
                                          <p:spTgt spid="33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2" grpId="0"/>
      <p:bldP spid="33833" grpId="0"/>
      <p:bldP spid="33835" grpId="0"/>
      <p:bldP spid="338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F12CB684-077D-E217-AD88-2BEBA65EA839}"/>
              </a:ext>
            </a:extLst>
          </p:cNvPr>
          <p:cNvSpPr>
            <a:spLocks noGrp="1" noChangeArrowheads="1"/>
          </p:cNvSpPr>
          <p:nvPr>
            <p:ph type="title"/>
          </p:nvPr>
        </p:nvSpPr>
        <p:spPr>
          <a:xfrm>
            <a:off x="533400" y="179388"/>
            <a:ext cx="8229600" cy="1143000"/>
          </a:xfrm>
        </p:spPr>
        <p:txBody>
          <a:bodyPr/>
          <a:lstStyle/>
          <a:p>
            <a:pPr eaLnBrk="1" hangingPunct="1"/>
            <a:r>
              <a:rPr lang="en-US" altLang="en-US" sz="6000" b="1" dirty="0">
                <a:latin typeface="Times New Roman" panose="02020603050405020304" pitchFamily="18" charset="0"/>
                <a:cs typeface="Times New Roman" panose="02020603050405020304" pitchFamily="18" charset="0"/>
              </a:rPr>
              <a:t>Average Costs</a:t>
            </a:r>
          </a:p>
        </p:txBody>
      </p:sp>
      <p:sp>
        <p:nvSpPr>
          <p:cNvPr id="46082" name="Rectangle 3">
            <a:extLst>
              <a:ext uri="{FF2B5EF4-FFF2-40B4-BE49-F238E27FC236}">
                <a16:creationId xmlns:a16="http://schemas.microsoft.com/office/drawing/2014/main" id="{92F93710-9DCE-A7E6-743D-12DA73E03D52}"/>
              </a:ext>
            </a:extLst>
          </p:cNvPr>
          <p:cNvSpPr>
            <a:spLocks noGrp="1"/>
          </p:cNvSpPr>
          <p:nvPr>
            <p:ph type="body" sz="half" idx="1"/>
          </p:nvPr>
        </p:nvSpPr>
        <p:spPr>
          <a:xfrm>
            <a:off x="1981200" y="1600200"/>
            <a:ext cx="8153400" cy="914400"/>
          </a:xfrm>
        </p:spPr>
        <p:txBody>
          <a:bodyPr rtlCol="0">
            <a:normAutofit lnSpcReduction="10000"/>
          </a:bodyPr>
          <a:lstStyle/>
          <a:p>
            <a:pPr eaLnBrk="1" fontAlgn="auto" hangingPunct="1">
              <a:spcAft>
                <a:spcPts val="0"/>
              </a:spcAft>
              <a:defRPr/>
            </a:pPr>
            <a:r>
              <a:rPr lang="en-US" altLang="en-US" sz="3200" dirty="0">
                <a:latin typeface="Times New Roman" panose="02020603050405020304" pitchFamily="18" charset="0"/>
                <a:cs typeface="Times New Roman" panose="02020603050405020304" pitchFamily="18" charset="0"/>
              </a:rPr>
              <a:t>Average fixed cost (AFC)</a:t>
            </a:r>
          </a:p>
          <a:p>
            <a:pPr marL="342900" lvl="1" indent="0" eaLnBrk="1" fontAlgn="auto" hangingPunct="1">
              <a:spcAft>
                <a:spcPts val="0"/>
              </a:spcAft>
              <a:buFont typeface="Calibri" panose="020F0502020204030204" pitchFamily="34" charset="0"/>
              <a:buNone/>
              <a:defRPr/>
            </a:pPr>
            <a:r>
              <a:rPr lang="en-US" altLang="en-US" dirty="0">
                <a:latin typeface="Times New Roman" panose="02020603050405020304" pitchFamily="18" charset="0"/>
                <a:cs typeface="Times New Roman" panose="02020603050405020304" pitchFamily="18" charset="0"/>
              </a:rPr>
              <a:t>Total fixed cost divided by the quantity of output produced</a:t>
            </a:r>
          </a:p>
        </p:txBody>
      </p:sp>
      <p:sp>
        <p:nvSpPr>
          <p:cNvPr id="46083" name="Text Box 6">
            <a:extLst>
              <a:ext uri="{FF2B5EF4-FFF2-40B4-BE49-F238E27FC236}">
                <a16:creationId xmlns:a16="http://schemas.microsoft.com/office/drawing/2014/main" id="{D3E26AF9-DC3B-853A-3268-56E1D644D2C6}"/>
              </a:ext>
            </a:extLst>
          </p:cNvPr>
          <p:cNvSpPr txBox="1">
            <a:spLocks noChangeArrowheads="1"/>
          </p:cNvSpPr>
          <p:nvPr/>
        </p:nvSpPr>
        <p:spPr bwMode="auto">
          <a:xfrm>
            <a:off x="2193925" y="3495675"/>
            <a:ext cx="7940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34823" name="Text Box 7">
            <a:extLst>
              <a:ext uri="{FF2B5EF4-FFF2-40B4-BE49-F238E27FC236}">
                <a16:creationId xmlns:a16="http://schemas.microsoft.com/office/drawing/2014/main" id="{A540DE30-C93F-E2E3-8234-3149DC1B0903}"/>
              </a:ext>
            </a:extLst>
          </p:cNvPr>
          <p:cNvSpPr txBox="1">
            <a:spLocks noChangeArrowheads="1"/>
          </p:cNvSpPr>
          <p:nvPr/>
        </p:nvSpPr>
        <p:spPr bwMode="auto">
          <a:xfrm>
            <a:off x="1828800" y="3154363"/>
            <a:ext cx="794067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3200">
                <a:latin typeface="Times New Roman" panose="02020603050405020304" pitchFamily="18" charset="0"/>
                <a:cs typeface="Times New Roman" panose="02020603050405020304" pitchFamily="18" charset="0"/>
              </a:rPr>
              <a:t>Average variable cost (TVC)</a:t>
            </a:r>
          </a:p>
          <a:p>
            <a:pPr lvl="1" eaLnBrk="1" hangingPunct="1">
              <a:lnSpc>
                <a:spcPct val="100000"/>
              </a:lnSpc>
              <a:spcBef>
                <a:spcPct val="0"/>
              </a:spcBef>
              <a:buFontTx/>
              <a:buNone/>
            </a:pPr>
            <a:r>
              <a:rPr lang="en-US" altLang="en-US">
                <a:latin typeface="Times New Roman" panose="02020603050405020304" pitchFamily="18" charset="0"/>
                <a:cs typeface="Times New Roman" panose="02020603050405020304" pitchFamily="18" charset="0"/>
              </a:rPr>
              <a:t>Total variable cost divided by the quantity of output produced</a:t>
            </a:r>
          </a:p>
        </p:txBody>
      </p:sp>
      <p:sp>
        <p:nvSpPr>
          <p:cNvPr id="34826" name="Text Box 10">
            <a:extLst>
              <a:ext uri="{FF2B5EF4-FFF2-40B4-BE49-F238E27FC236}">
                <a16:creationId xmlns:a16="http://schemas.microsoft.com/office/drawing/2014/main" id="{F2AC26E8-2A3E-F45F-FDBD-B3A907E0033D}"/>
              </a:ext>
            </a:extLst>
          </p:cNvPr>
          <p:cNvSpPr txBox="1">
            <a:spLocks noChangeArrowheads="1"/>
          </p:cNvSpPr>
          <p:nvPr/>
        </p:nvSpPr>
        <p:spPr bwMode="auto">
          <a:xfrm>
            <a:off x="1841500" y="4843463"/>
            <a:ext cx="7559675"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3200">
                <a:latin typeface="Times New Roman" panose="02020603050405020304" pitchFamily="18" charset="0"/>
                <a:cs typeface="Times New Roman" panose="02020603050405020304" pitchFamily="18" charset="0"/>
              </a:rPr>
              <a:t>Average total cost (TC)</a:t>
            </a:r>
          </a:p>
          <a:p>
            <a:pPr lvl="1" eaLnBrk="1" hangingPunct="1">
              <a:lnSpc>
                <a:spcPct val="100000"/>
              </a:lnSpc>
              <a:spcBef>
                <a:spcPct val="0"/>
              </a:spcBef>
              <a:buFontTx/>
              <a:buNone/>
            </a:pPr>
            <a:r>
              <a:rPr lang="en-US" altLang="en-US">
                <a:latin typeface="Times New Roman" panose="02020603050405020304" pitchFamily="18" charset="0"/>
                <a:cs typeface="Times New Roman" panose="02020603050405020304" pitchFamily="18" charset="0"/>
              </a:rPr>
              <a:t>Total cost divided by the quantity of output produced</a:t>
            </a:r>
          </a:p>
        </p:txBody>
      </p:sp>
      <p:graphicFrame>
        <p:nvGraphicFramePr>
          <p:cNvPr id="34828" name="Object 12">
            <a:extLst>
              <a:ext uri="{FF2B5EF4-FFF2-40B4-BE49-F238E27FC236}">
                <a16:creationId xmlns:a16="http://schemas.microsoft.com/office/drawing/2014/main" id="{55DD821A-38A9-2F86-0BCD-2161F1D6FB45}"/>
              </a:ext>
            </a:extLst>
          </p:cNvPr>
          <p:cNvGraphicFramePr>
            <a:graphicFrameLocks noChangeAspect="1"/>
          </p:cNvGraphicFramePr>
          <p:nvPr/>
        </p:nvGraphicFramePr>
        <p:xfrm>
          <a:off x="4237038" y="2514600"/>
          <a:ext cx="1309687" cy="693738"/>
        </p:xfrm>
        <a:graphic>
          <a:graphicData uri="http://schemas.openxmlformats.org/presentationml/2006/ole">
            <mc:AlternateContent xmlns:mc="http://schemas.openxmlformats.org/markup-compatibility/2006">
              <mc:Choice xmlns:v="urn:schemas-microsoft-com:vml" Requires="v">
                <p:oleObj name="Equation" r:id="rId2" imgW="18427700" imgH="9652000" progId="Equation.3">
                  <p:embed/>
                </p:oleObj>
              </mc:Choice>
              <mc:Fallback>
                <p:oleObj name="Equation" r:id="rId2" imgW="18427700" imgH="9652000" progId="Equation.3">
                  <p:embed/>
                  <p:pic>
                    <p:nvPicPr>
                      <p:cNvPr id="34828" name="Object 12">
                        <a:extLst>
                          <a:ext uri="{FF2B5EF4-FFF2-40B4-BE49-F238E27FC236}">
                            <a16:creationId xmlns:a16="http://schemas.microsoft.com/office/drawing/2014/main" id="{55DD821A-38A9-2F86-0BCD-2161F1D6F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038" y="2514600"/>
                        <a:ext cx="1309687" cy="693738"/>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35" name="Object 19">
            <a:extLst>
              <a:ext uri="{FF2B5EF4-FFF2-40B4-BE49-F238E27FC236}">
                <a16:creationId xmlns:a16="http://schemas.microsoft.com/office/drawing/2014/main" id="{4C1EF5E2-0C4A-2306-572F-EE9CC39B8CA8}"/>
              </a:ext>
            </a:extLst>
          </p:cNvPr>
          <p:cNvGraphicFramePr>
            <a:graphicFrameLocks noChangeAspect="1"/>
          </p:cNvGraphicFramePr>
          <p:nvPr/>
        </p:nvGraphicFramePr>
        <p:xfrm>
          <a:off x="4237038" y="4108450"/>
          <a:ext cx="1447800" cy="692150"/>
        </p:xfrm>
        <a:graphic>
          <a:graphicData uri="http://schemas.openxmlformats.org/presentationml/2006/ole">
            <mc:AlternateContent xmlns:mc="http://schemas.openxmlformats.org/markup-compatibility/2006">
              <mc:Choice xmlns:v="urn:schemas-microsoft-com:vml" Requires="v">
                <p:oleObj name="Equation" r:id="rId4" imgW="19596100" imgH="9359900" progId="Equation.3">
                  <p:embed/>
                </p:oleObj>
              </mc:Choice>
              <mc:Fallback>
                <p:oleObj name="Equation" r:id="rId4" imgW="19596100" imgH="9359900" progId="Equation.3">
                  <p:embed/>
                  <p:pic>
                    <p:nvPicPr>
                      <p:cNvPr id="34835" name="Object 19">
                        <a:extLst>
                          <a:ext uri="{FF2B5EF4-FFF2-40B4-BE49-F238E27FC236}">
                            <a16:creationId xmlns:a16="http://schemas.microsoft.com/office/drawing/2014/main" id="{4C1EF5E2-0C4A-2306-572F-EE9CC39B8C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7038" y="4108450"/>
                        <a:ext cx="1447800" cy="69215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50" name="Object 34">
            <a:extLst>
              <a:ext uri="{FF2B5EF4-FFF2-40B4-BE49-F238E27FC236}">
                <a16:creationId xmlns:a16="http://schemas.microsoft.com/office/drawing/2014/main" id="{87AB1B1B-0BE8-3BAE-D899-2BDF1A507114}"/>
              </a:ext>
            </a:extLst>
          </p:cNvPr>
          <p:cNvGraphicFramePr>
            <a:graphicFrameLocks noChangeAspect="1"/>
          </p:cNvGraphicFramePr>
          <p:nvPr/>
        </p:nvGraphicFramePr>
        <p:xfrm>
          <a:off x="4357688" y="6018213"/>
          <a:ext cx="1295400" cy="703262"/>
        </p:xfrm>
        <a:graphic>
          <a:graphicData uri="http://schemas.openxmlformats.org/presentationml/2006/ole">
            <mc:AlternateContent xmlns:mc="http://schemas.openxmlformats.org/markup-compatibility/2006">
              <mc:Choice xmlns:v="urn:schemas-microsoft-com:vml" Requires="v">
                <p:oleObj name="Equation" r:id="rId6" imgW="17259300" imgH="9359900" progId="Equation.3">
                  <p:embed/>
                </p:oleObj>
              </mc:Choice>
              <mc:Fallback>
                <p:oleObj name="Equation" r:id="rId6" imgW="17259300" imgH="9359900" progId="Equation.3">
                  <p:embed/>
                  <p:pic>
                    <p:nvPicPr>
                      <p:cNvPr id="34850" name="Object 34">
                        <a:extLst>
                          <a:ext uri="{FF2B5EF4-FFF2-40B4-BE49-F238E27FC236}">
                            <a16:creationId xmlns:a16="http://schemas.microsoft.com/office/drawing/2014/main" id="{87AB1B1B-0BE8-3BAE-D899-2BDF1A5071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7688" y="6018213"/>
                        <a:ext cx="1295400" cy="703262"/>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4828"/>
                                        </p:tgtEl>
                                        <p:attrNameLst>
                                          <p:attrName>style.visibility</p:attrName>
                                        </p:attrNameLst>
                                      </p:cBhvr>
                                      <p:to>
                                        <p:strVal val="visible"/>
                                      </p:to>
                                    </p:set>
                                    <p:animEffect transition="in" filter="slide(fromBottom)">
                                      <p:cBhvr>
                                        <p:cTn id="7" dur="500"/>
                                        <p:tgtEl>
                                          <p:spTgt spid="34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823"/>
                                        </p:tgtEl>
                                        <p:attrNameLst>
                                          <p:attrName>style.visibility</p:attrName>
                                        </p:attrNameLst>
                                      </p:cBhvr>
                                      <p:to>
                                        <p:strVal val="visible"/>
                                      </p:to>
                                    </p:set>
                                    <p:animEffect transition="in" filter="slide(fromBottom)">
                                      <p:cBhvr>
                                        <p:cTn id="12" dur="500"/>
                                        <p:tgtEl>
                                          <p:spTgt spid="348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4835"/>
                                        </p:tgtEl>
                                        <p:attrNameLst>
                                          <p:attrName>style.visibility</p:attrName>
                                        </p:attrNameLst>
                                      </p:cBhvr>
                                      <p:to>
                                        <p:strVal val="visible"/>
                                      </p:to>
                                    </p:set>
                                    <p:animEffect transition="in" filter="slide(fromBottom)">
                                      <p:cBhvr>
                                        <p:cTn id="17" dur="500"/>
                                        <p:tgtEl>
                                          <p:spTgt spid="348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4826"/>
                                        </p:tgtEl>
                                        <p:attrNameLst>
                                          <p:attrName>style.visibility</p:attrName>
                                        </p:attrNameLst>
                                      </p:cBhvr>
                                      <p:to>
                                        <p:strVal val="visible"/>
                                      </p:to>
                                    </p:set>
                                    <p:animEffect transition="in" filter="slide(fromBottom)">
                                      <p:cBhvr>
                                        <p:cTn id="22" dur="500"/>
                                        <p:tgtEl>
                                          <p:spTgt spid="348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34850"/>
                                        </p:tgtEl>
                                        <p:attrNameLst>
                                          <p:attrName>style.visibility</p:attrName>
                                        </p:attrNameLst>
                                      </p:cBhvr>
                                      <p:to>
                                        <p:strVal val="visible"/>
                                      </p:to>
                                    </p:set>
                                    <p:animEffect transition="in" filter="slide(fromBottom)">
                                      <p:cBhvr>
                                        <p:cTn id="27" dur="500"/>
                                        <p:tgtEl>
                                          <p:spTgt spid="34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P spid="348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4095255A-56F2-2257-98D3-D65FCB0699EC}"/>
              </a:ext>
            </a:extLst>
          </p:cNvPr>
          <p:cNvSpPr>
            <a:spLocks noGrp="1" noChangeArrowheads="1"/>
          </p:cNvSpPr>
          <p:nvPr>
            <p:ph type="title"/>
          </p:nvPr>
        </p:nvSpPr>
        <p:spPr/>
        <p:txBody>
          <a:bodyPr/>
          <a:lstStyle/>
          <a:p>
            <a:pPr eaLnBrk="1" hangingPunct="1"/>
            <a:r>
              <a:rPr lang="en-US" altLang="en-US" b="1">
                <a:latin typeface="Times New Roman" panose="02020603050405020304" pitchFamily="18" charset="0"/>
                <a:cs typeface="Times New Roman" panose="02020603050405020304" pitchFamily="18" charset="0"/>
              </a:rPr>
              <a:t>Marginal Cost</a:t>
            </a:r>
          </a:p>
        </p:txBody>
      </p:sp>
      <p:sp>
        <p:nvSpPr>
          <p:cNvPr id="55299" name="Rectangle 3">
            <a:extLst>
              <a:ext uri="{FF2B5EF4-FFF2-40B4-BE49-F238E27FC236}">
                <a16:creationId xmlns:a16="http://schemas.microsoft.com/office/drawing/2014/main" id="{E672F7E1-9051-3A0D-6114-6636437011AA}"/>
              </a:ext>
            </a:extLst>
          </p:cNvPr>
          <p:cNvSpPr>
            <a:spLocks noGrp="1" noChangeArrowheads="1"/>
          </p:cNvSpPr>
          <p:nvPr>
            <p:ph type="body" sz="half" idx="1"/>
          </p:nvPr>
        </p:nvSpPr>
        <p:spPr>
          <a:xfrm>
            <a:off x="990600" y="1219200"/>
            <a:ext cx="8229600" cy="2286000"/>
          </a:xfrm>
        </p:spPr>
        <p:txBody>
          <a:bodyPr rtlCol="0">
            <a:normAutofit lnSpcReduction="10000"/>
          </a:bodyPr>
          <a:lstStyle/>
          <a:p>
            <a:pPr marL="91440" indent="-91440" eaLnBrk="1" fontAlgn="auto" hangingPunct="1">
              <a:spcAft>
                <a:spcPts val="0"/>
              </a:spcAft>
              <a:defRPr/>
            </a:pPr>
            <a:r>
              <a:rPr lang="en-US" altLang="en-US" sz="3200" b="1" dirty="0">
                <a:latin typeface="Times New Roman" panose="02020603050405020304" pitchFamily="18" charset="0"/>
                <a:cs typeface="Times New Roman" panose="02020603050405020304" pitchFamily="18" charset="0"/>
              </a:rPr>
              <a:t>Marginal Cost</a:t>
            </a:r>
          </a:p>
          <a:p>
            <a:pPr marL="342900" lvl="1" indent="0" eaLnBrk="1" fontAlgn="auto" hangingPunct="1">
              <a:spcAft>
                <a:spcPts val="0"/>
              </a:spcAft>
              <a:buFont typeface="Calibri" panose="020F0502020204030204" pitchFamily="34" charset="0"/>
              <a:buNone/>
              <a:defRPr/>
            </a:pPr>
            <a:r>
              <a:rPr lang="en-US" altLang="en-US" sz="2800" dirty="0">
                <a:latin typeface="Times New Roman" panose="02020603050405020304" pitchFamily="18" charset="0"/>
                <a:cs typeface="Times New Roman" panose="02020603050405020304" pitchFamily="18" charset="0"/>
              </a:rPr>
              <a:t>Increase in total cost from producing one more unit or output</a:t>
            </a:r>
          </a:p>
          <a:p>
            <a:pPr marL="91440" indent="-91440" eaLnBrk="1" fontAlgn="auto" hangingPunct="1">
              <a:spcAft>
                <a:spcPts val="0"/>
              </a:spcAft>
              <a:defRPr/>
            </a:pPr>
            <a:r>
              <a:rPr lang="en-US" altLang="en-US" sz="3200" b="1" dirty="0">
                <a:latin typeface="Times New Roman" panose="02020603050405020304" pitchFamily="18" charset="0"/>
                <a:cs typeface="Times New Roman" panose="02020603050405020304" pitchFamily="18" charset="0"/>
              </a:rPr>
              <a:t>Marginal cost is the change in total cost (</a:t>
            </a:r>
            <a:r>
              <a:rPr lang="el-GR" altLang="en-US" sz="3200" b="1" dirty="0">
                <a:latin typeface="Times New Roman" panose="02020603050405020304" pitchFamily="18" charset="0"/>
                <a:cs typeface="Times New Roman" panose="02020603050405020304" pitchFamily="18" charset="0"/>
              </a:rPr>
              <a:t>Δ</a:t>
            </a:r>
            <a:r>
              <a:rPr lang="en-US" altLang="en-US" sz="3200" b="1" dirty="0">
                <a:latin typeface="Times New Roman" panose="02020603050405020304" pitchFamily="18" charset="0"/>
                <a:cs typeface="Times New Roman" panose="02020603050405020304" pitchFamily="18" charset="0"/>
              </a:rPr>
              <a:t>TC) divided by the change in output (</a:t>
            </a:r>
            <a:r>
              <a:rPr lang="el-GR" altLang="en-US" sz="3200" b="1" dirty="0">
                <a:latin typeface="Times New Roman" panose="02020603050405020304" pitchFamily="18" charset="0"/>
                <a:cs typeface="Times New Roman" panose="02020603050405020304" pitchFamily="18" charset="0"/>
              </a:rPr>
              <a:t>Δ</a:t>
            </a:r>
            <a:r>
              <a:rPr lang="en-US" altLang="en-US" sz="3200" b="1" dirty="0">
                <a:latin typeface="Times New Roman" panose="02020603050405020304" pitchFamily="18" charset="0"/>
                <a:cs typeface="Times New Roman" panose="02020603050405020304" pitchFamily="18" charset="0"/>
              </a:rPr>
              <a:t>Q)</a:t>
            </a:r>
            <a:endParaRPr lang="el-GR" altLang="en-US" sz="3200" b="1" dirty="0">
              <a:latin typeface="Times New Roman" panose="02020603050405020304" pitchFamily="18" charset="0"/>
              <a:cs typeface="Times New Roman" panose="02020603050405020304" pitchFamily="18" charset="0"/>
            </a:endParaRPr>
          </a:p>
        </p:txBody>
      </p:sp>
      <p:graphicFrame>
        <p:nvGraphicFramePr>
          <p:cNvPr id="47107" name="Object 4">
            <a:extLst>
              <a:ext uri="{FF2B5EF4-FFF2-40B4-BE49-F238E27FC236}">
                <a16:creationId xmlns:a16="http://schemas.microsoft.com/office/drawing/2014/main" id="{F3CD045C-194B-3467-6251-E12CA6AE323D}"/>
              </a:ext>
            </a:extLst>
          </p:cNvPr>
          <p:cNvGraphicFramePr>
            <a:graphicFrameLocks noGrp="1" noChangeAspect="1"/>
          </p:cNvGraphicFramePr>
          <p:nvPr>
            <p:ph sz="half" idx="2"/>
          </p:nvPr>
        </p:nvGraphicFramePr>
        <p:xfrm>
          <a:off x="3886200" y="3505200"/>
          <a:ext cx="1598613" cy="838200"/>
        </p:xfrm>
        <a:graphic>
          <a:graphicData uri="http://schemas.openxmlformats.org/presentationml/2006/ole">
            <mc:AlternateContent xmlns:mc="http://schemas.openxmlformats.org/markup-compatibility/2006">
              <mc:Choice xmlns:v="urn:schemas-microsoft-com:vml" Requires="v">
                <p:oleObj name="Equation" r:id="rId2" imgW="17843500" imgH="9359900" progId="Equation.3">
                  <p:embed/>
                </p:oleObj>
              </mc:Choice>
              <mc:Fallback>
                <p:oleObj name="Equation" r:id="rId2" imgW="17843500" imgH="9359900" progId="Equation.3">
                  <p:embed/>
                  <p:pic>
                    <p:nvPicPr>
                      <p:cNvPr id="47107" name="Object 4">
                        <a:extLst>
                          <a:ext uri="{FF2B5EF4-FFF2-40B4-BE49-F238E27FC236}">
                            <a16:creationId xmlns:a16="http://schemas.microsoft.com/office/drawing/2014/main" id="{F3CD045C-194B-3467-6251-E12CA6AE323D}"/>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505200"/>
                        <a:ext cx="1598613" cy="8382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6" name="Text Box 6">
            <a:extLst>
              <a:ext uri="{FF2B5EF4-FFF2-40B4-BE49-F238E27FC236}">
                <a16:creationId xmlns:a16="http://schemas.microsoft.com/office/drawing/2014/main" id="{39185F47-56E7-6D84-BEE7-F25F46018098}"/>
              </a:ext>
            </a:extLst>
          </p:cNvPr>
          <p:cNvSpPr txBox="1">
            <a:spLocks noChangeArrowheads="1"/>
          </p:cNvSpPr>
          <p:nvPr/>
        </p:nvSpPr>
        <p:spPr bwMode="auto">
          <a:xfrm>
            <a:off x="381000" y="4584700"/>
            <a:ext cx="10972800" cy="138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914400" indent="-4572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eaLnBrk="1" hangingPunct="1">
              <a:lnSpc>
                <a:spcPct val="100000"/>
              </a:lnSpc>
              <a:spcBef>
                <a:spcPct val="0"/>
              </a:spcBef>
            </a:pPr>
            <a:r>
              <a:rPr lang="en-US" altLang="en-US" sz="2800">
                <a:latin typeface="Times New Roman" panose="02020603050405020304" pitchFamily="18" charset="0"/>
                <a:cs typeface="Times New Roman" panose="02020603050405020304" pitchFamily="18" charset="0"/>
              </a:rPr>
              <a:t>Tells us how much cost rises per unit increase in output</a:t>
            </a:r>
          </a:p>
          <a:p>
            <a:pPr lvl="1" eaLnBrk="1" hangingPunct="1">
              <a:lnSpc>
                <a:spcPct val="100000"/>
              </a:lnSpc>
              <a:spcBef>
                <a:spcPct val="0"/>
              </a:spcBef>
            </a:pPr>
            <a:r>
              <a:rPr lang="en-US" altLang="en-US" sz="2800">
                <a:latin typeface="Times New Roman" panose="02020603050405020304" pitchFamily="18" charset="0"/>
                <a:cs typeface="Times New Roman" panose="02020603050405020304" pitchFamily="18" charset="0"/>
              </a:rPr>
              <a:t>The marginal cost for any change in output is equal to the shape of the total cost curve along that interval of the output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slide(fromBottom)">
                                      <p:cBhvr>
                                        <p:cTn id="7"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6B92B86F-DBA8-2C0C-5F74-2E6A7B589BF8}"/>
              </a:ext>
            </a:extLst>
          </p:cNvPr>
          <p:cNvSpPr>
            <a:spLocks noGrp="1" noChangeArrowheads="1"/>
          </p:cNvSpPr>
          <p:nvPr>
            <p:ph type="title"/>
          </p:nvPr>
        </p:nvSpPr>
        <p:spPr>
          <a:xfrm>
            <a:off x="609600" y="188913"/>
            <a:ext cx="8229600" cy="1143000"/>
          </a:xfrm>
        </p:spPr>
        <p:txBody>
          <a:bodyPr/>
          <a:lstStyle/>
          <a:p>
            <a:pPr eaLnBrk="1" hangingPunct="1"/>
            <a:r>
              <a:rPr lang="en-US" altLang="en-US" b="1">
                <a:latin typeface="Times New Roman" panose="02020603050405020304" pitchFamily="18" charset="0"/>
                <a:cs typeface="Times New Roman" panose="02020603050405020304" pitchFamily="18" charset="0"/>
              </a:rPr>
              <a:t>Average And Marginal Costs</a:t>
            </a:r>
          </a:p>
        </p:txBody>
      </p:sp>
      <p:sp>
        <p:nvSpPr>
          <p:cNvPr id="38920" name="Rectangle 8">
            <a:extLst>
              <a:ext uri="{FF2B5EF4-FFF2-40B4-BE49-F238E27FC236}">
                <a16:creationId xmlns:a16="http://schemas.microsoft.com/office/drawing/2014/main" id="{89CA1DE8-1077-3F53-C911-FA2CF3820AEA}"/>
              </a:ext>
            </a:extLst>
          </p:cNvPr>
          <p:cNvSpPr>
            <a:spLocks noChangeArrowheads="1"/>
          </p:cNvSpPr>
          <p:nvPr/>
        </p:nvSpPr>
        <p:spPr bwMode="auto">
          <a:xfrm>
            <a:off x="8751888" y="1685925"/>
            <a:ext cx="35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MC</a:t>
            </a:r>
            <a:endParaRPr lang="en-US" altLang="en-US" sz="1800">
              <a:latin typeface="Arial" panose="020B0604020202020204" pitchFamily="34" charset="0"/>
            </a:endParaRPr>
          </a:p>
        </p:txBody>
      </p:sp>
      <p:sp>
        <p:nvSpPr>
          <p:cNvPr id="38921" name="Rectangle 9">
            <a:extLst>
              <a:ext uri="{FF2B5EF4-FFF2-40B4-BE49-F238E27FC236}">
                <a16:creationId xmlns:a16="http://schemas.microsoft.com/office/drawing/2014/main" id="{1FAFC30D-35E9-DC74-9FB7-72751FAA8E36}"/>
              </a:ext>
            </a:extLst>
          </p:cNvPr>
          <p:cNvSpPr>
            <a:spLocks noChangeArrowheads="1"/>
          </p:cNvSpPr>
          <p:nvPr/>
        </p:nvSpPr>
        <p:spPr bwMode="auto">
          <a:xfrm>
            <a:off x="9312275" y="3863975"/>
            <a:ext cx="469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AVC</a:t>
            </a:r>
            <a:endParaRPr lang="en-US" altLang="en-US" sz="1800">
              <a:latin typeface="Arial" panose="020B0604020202020204" pitchFamily="34" charset="0"/>
            </a:endParaRPr>
          </a:p>
        </p:txBody>
      </p:sp>
      <p:sp>
        <p:nvSpPr>
          <p:cNvPr id="38922" name="Rectangle 10">
            <a:extLst>
              <a:ext uri="{FF2B5EF4-FFF2-40B4-BE49-F238E27FC236}">
                <a16:creationId xmlns:a16="http://schemas.microsoft.com/office/drawing/2014/main" id="{8DC5A6C0-BC0D-C86C-BD65-A0D20AF0F9D7}"/>
              </a:ext>
            </a:extLst>
          </p:cNvPr>
          <p:cNvSpPr>
            <a:spLocks noChangeArrowheads="1"/>
          </p:cNvSpPr>
          <p:nvPr/>
        </p:nvSpPr>
        <p:spPr bwMode="auto">
          <a:xfrm>
            <a:off x="9293225" y="3551238"/>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ATC</a:t>
            </a:r>
            <a:endParaRPr lang="en-US" altLang="en-US" sz="1800">
              <a:latin typeface="Arial" panose="020B0604020202020204" pitchFamily="34" charset="0"/>
            </a:endParaRPr>
          </a:p>
        </p:txBody>
      </p:sp>
      <p:sp>
        <p:nvSpPr>
          <p:cNvPr id="38923" name="Line 11">
            <a:extLst>
              <a:ext uri="{FF2B5EF4-FFF2-40B4-BE49-F238E27FC236}">
                <a16:creationId xmlns:a16="http://schemas.microsoft.com/office/drawing/2014/main" id="{E4A2CCB4-07B3-B52C-AC8D-AFEC3F431CBC}"/>
              </a:ext>
            </a:extLst>
          </p:cNvPr>
          <p:cNvSpPr>
            <a:spLocks noChangeShapeType="1"/>
          </p:cNvSpPr>
          <p:nvPr/>
        </p:nvSpPr>
        <p:spPr bwMode="auto">
          <a:xfrm>
            <a:off x="4938713" y="3214688"/>
            <a:ext cx="1587" cy="882650"/>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38924" name="Rectangle 12">
            <a:extLst>
              <a:ext uri="{FF2B5EF4-FFF2-40B4-BE49-F238E27FC236}">
                <a16:creationId xmlns:a16="http://schemas.microsoft.com/office/drawing/2014/main" id="{6FB04B21-7EB9-A2D9-FF5B-D72A92460E59}"/>
              </a:ext>
            </a:extLst>
          </p:cNvPr>
          <p:cNvSpPr>
            <a:spLocks noChangeArrowheads="1"/>
          </p:cNvSpPr>
          <p:nvPr/>
        </p:nvSpPr>
        <p:spPr bwMode="auto">
          <a:xfrm>
            <a:off x="4216400" y="346075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AFC</a:t>
            </a:r>
            <a:endParaRPr lang="en-US" altLang="en-US" sz="1800">
              <a:latin typeface="Arial" panose="020B0604020202020204" pitchFamily="34" charset="0"/>
            </a:endParaRPr>
          </a:p>
        </p:txBody>
      </p:sp>
      <p:sp>
        <p:nvSpPr>
          <p:cNvPr id="38925" name="Freeform 13">
            <a:extLst>
              <a:ext uri="{FF2B5EF4-FFF2-40B4-BE49-F238E27FC236}">
                <a16:creationId xmlns:a16="http://schemas.microsoft.com/office/drawing/2014/main" id="{E01FC3B9-30CF-D6B4-ACB3-2E555D4C793B}"/>
              </a:ext>
            </a:extLst>
          </p:cNvPr>
          <p:cNvSpPr>
            <a:spLocks/>
          </p:cNvSpPr>
          <p:nvPr/>
        </p:nvSpPr>
        <p:spPr bwMode="auto">
          <a:xfrm>
            <a:off x="3579813" y="1957388"/>
            <a:ext cx="5399087" cy="2817812"/>
          </a:xfrm>
          <a:custGeom>
            <a:avLst/>
            <a:gdLst>
              <a:gd name="T0" fmla="*/ 0 w 3401"/>
              <a:gd name="T1" fmla="*/ 2147483646 h 1775"/>
              <a:gd name="T2" fmla="*/ 0 w 3401"/>
              <a:gd name="T3" fmla="*/ 2147483646 h 1775"/>
              <a:gd name="T4" fmla="*/ 2147483646 w 3401"/>
              <a:gd name="T5" fmla="*/ 2147483646 h 1775"/>
              <a:gd name="T6" fmla="*/ 2147483646 w 3401"/>
              <a:gd name="T7" fmla="*/ 2147483646 h 1775"/>
              <a:gd name="T8" fmla="*/ 2147483646 w 3401"/>
              <a:gd name="T9" fmla="*/ 2147483646 h 1775"/>
              <a:gd name="T10" fmla="*/ 2147483646 w 3401"/>
              <a:gd name="T11" fmla="*/ 2147483646 h 1775"/>
              <a:gd name="T12" fmla="*/ 2147483646 w 3401"/>
              <a:gd name="T13" fmla="*/ 2147483646 h 1775"/>
              <a:gd name="T14" fmla="*/ 2147483646 w 3401"/>
              <a:gd name="T15" fmla="*/ 2147483646 h 1775"/>
              <a:gd name="T16" fmla="*/ 2147483646 w 3401"/>
              <a:gd name="T17" fmla="*/ 2147483646 h 1775"/>
              <a:gd name="T18" fmla="*/ 2147483646 w 3401"/>
              <a:gd name="T19" fmla="*/ 2147483646 h 1775"/>
              <a:gd name="T20" fmla="*/ 2147483646 w 3401"/>
              <a:gd name="T21" fmla="*/ 2147483646 h 1775"/>
              <a:gd name="T22" fmla="*/ 2147483646 w 3401"/>
              <a:gd name="T23" fmla="*/ 2147483646 h 1775"/>
              <a:gd name="T24" fmla="*/ 2147483646 w 3401"/>
              <a:gd name="T25" fmla="*/ 2147483646 h 1775"/>
              <a:gd name="T26" fmla="*/ 2147483646 w 3401"/>
              <a:gd name="T27" fmla="*/ 2147483646 h 1775"/>
              <a:gd name="T28" fmla="*/ 2147483646 w 3401"/>
              <a:gd name="T29" fmla="*/ 2147483646 h 1775"/>
              <a:gd name="T30" fmla="*/ 2147483646 w 3401"/>
              <a:gd name="T31" fmla="*/ 2147483646 h 1775"/>
              <a:gd name="T32" fmla="*/ 2147483646 w 3401"/>
              <a:gd name="T33" fmla="*/ 2147483646 h 1775"/>
              <a:gd name="T34" fmla="*/ 2147483646 w 3401"/>
              <a:gd name="T35" fmla="*/ 2147483646 h 1775"/>
              <a:gd name="T36" fmla="*/ 2147483646 w 3401"/>
              <a:gd name="T37" fmla="*/ 2147483646 h 1775"/>
              <a:gd name="T38" fmla="*/ 2147483646 w 3401"/>
              <a:gd name="T39" fmla="*/ 2147483646 h 1775"/>
              <a:gd name="T40" fmla="*/ 2147483646 w 3401"/>
              <a:gd name="T41" fmla="*/ 2147483646 h 1775"/>
              <a:gd name="T42" fmla="*/ 2147483646 w 3401"/>
              <a:gd name="T43" fmla="*/ 2147483646 h 1775"/>
              <a:gd name="T44" fmla="*/ 2147483646 w 3401"/>
              <a:gd name="T45" fmla="*/ 2147483646 h 1775"/>
              <a:gd name="T46" fmla="*/ 2147483646 w 3401"/>
              <a:gd name="T47" fmla="*/ 2147483646 h 1775"/>
              <a:gd name="T48" fmla="*/ 2147483646 w 3401"/>
              <a:gd name="T49" fmla="*/ 2147483646 h 1775"/>
              <a:gd name="T50" fmla="*/ 2147483646 w 3401"/>
              <a:gd name="T51" fmla="*/ 2147483646 h 1775"/>
              <a:gd name="T52" fmla="*/ 2147483646 w 3401"/>
              <a:gd name="T53" fmla="*/ 2147483646 h 1775"/>
              <a:gd name="T54" fmla="*/ 2147483646 w 3401"/>
              <a:gd name="T55" fmla="*/ 2147483646 h 1775"/>
              <a:gd name="T56" fmla="*/ 2147483646 w 3401"/>
              <a:gd name="T57" fmla="*/ 2147483646 h 1775"/>
              <a:gd name="T58" fmla="*/ 2147483646 w 3401"/>
              <a:gd name="T59" fmla="*/ 2147483646 h 1775"/>
              <a:gd name="T60" fmla="*/ 2147483646 w 3401"/>
              <a:gd name="T61" fmla="*/ 2147483646 h 1775"/>
              <a:gd name="T62" fmla="*/ 2147483646 w 3401"/>
              <a:gd name="T63" fmla="*/ 2147483646 h 1775"/>
              <a:gd name="T64" fmla="*/ 2147483646 w 3401"/>
              <a:gd name="T65" fmla="*/ 2147483646 h 1775"/>
              <a:gd name="T66" fmla="*/ 2147483646 w 3401"/>
              <a:gd name="T67" fmla="*/ 2147483646 h 1775"/>
              <a:gd name="T68" fmla="*/ 2147483646 w 3401"/>
              <a:gd name="T69" fmla="*/ 2147483646 h 1775"/>
              <a:gd name="T70" fmla="*/ 2147483646 w 3401"/>
              <a:gd name="T71" fmla="*/ 2147483646 h 1775"/>
              <a:gd name="T72" fmla="*/ 2147483646 w 3401"/>
              <a:gd name="T73" fmla="*/ 2147483646 h 1775"/>
              <a:gd name="T74" fmla="*/ 2147483646 w 3401"/>
              <a:gd name="T75" fmla="*/ 2147483646 h 1775"/>
              <a:gd name="T76" fmla="*/ 2147483646 w 3401"/>
              <a:gd name="T77" fmla="*/ 2147483646 h 1775"/>
              <a:gd name="T78" fmla="*/ 2147483646 w 3401"/>
              <a:gd name="T79" fmla="*/ 2147483646 h 1775"/>
              <a:gd name="T80" fmla="*/ 2147483646 w 3401"/>
              <a:gd name="T81" fmla="*/ 2147483646 h 1775"/>
              <a:gd name="T82" fmla="*/ 2147483646 w 3401"/>
              <a:gd name="T83" fmla="*/ 2147483646 h 1775"/>
              <a:gd name="T84" fmla="*/ 2147483646 w 3401"/>
              <a:gd name="T85" fmla="*/ 2147483646 h 1775"/>
              <a:gd name="T86" fmla="*/ 2147483646 w 3401"/>
              <a:gd name="T87" fmla="*/ 2147483646 h 1775"/>
              <a:gd name="T88" fmla="*/ 2147483646 w 3401"/>
              <a:gd name="T89" fmla="*/ 2147483646 h 1775"/>
              <a:gd name="T90" fmla="*/ 2147483646 w 3401"/>
              <a:gd name="T91" fmla="*/ 2147483646 h 1775"/>
              <a:gd name="T92" fmla="*/ 2147483646 w 3401"/>
              <a:gd name="T93" fmla="*/ 2147483646 h 1775"/>
              <a:gd name="T94" fmla="*/ 2147483646 w 3401"/>
              <a:gd name="T95" fmla="*/ 2147483646 h 1775"/>
              <a:gd name="T96" fmla="*/ 2147483646 w 3401"/>
              <a:gd name="T97" fmla="*/ 0 h 177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401" h="1775">
                <a:moveTo>
                  <a:pt x="0" y="1228"/>
                </a:moveTo>
                <a:lnTo>
                  <a:pt x="0" y="1228"/>
                </a:lnTo>
                <a:lnTo>
                  <a:pt x="90" y="1338"/>
                </a:lnTo>
                <a:lnTo>
                  <a:pt x="138" y="1393"/>
                </a:lnTo>
                <a:lnTo>
                  <a:pt x="191" y="1443"/>
                </a:lnTo>
                <a:lnTo>
                  <a:pt x="239" y="1490"/>
                </a:lnTo>
                <a:lnTo>
                  <a:pt x="293" y="1535"/>
                </a:lnTo>
                <a:lnTo>
                  <a:pt x="347" y="1578"/>
                </a:lnTo>
                <a:lnTo>
                  <a:pt x="407" y="1618"/>
                </a:lnTo>
                <a:lnTo>
                  <a:pt x="461" y="1653"/>
                </a:lnTo>
                <a:lnTo>
                  <a:pt x="521" y="1683"/>
                </a:lnTo>
                <a:lnTo>
                  <a:pt x="575" y="1710"/>
                </a:lnTo>
                <a:lnTo>
                  <a:pt x="635" y="1732"/>
                </a:lnTo>
                <a:lnTo>
                  <a:pt x="695" y="1750"/>
                </a:lnTo>
                <a:lnTo>
                  <a:pt x="748" y="1765"/>
                </a:lnTo>
                <a:lnTo>
                  <a:pt x="808" y="1772"/>
                </a:lnTo>
                <a:lnTo>
                  <a:pt x="868" y="1775"/>
                </a:lnTo>
                <a:lnTo>
                  <a:pt x="916" y="1772"/>
                </a:lnTo>
                <a:lnTo>
                  <a:pt x="976" y="1767"/>
                </a:lnTo>
                <a:lnTo>
                  <a:pt x="1036" y="1755"/>
                </a:lnTo>
                <a:lnTo>
                  <a:pt x="1108" y="1742"/>
                </a:lnTo>
                <a:lnTo>
                  <a:pt x="1263" y="1705"/>
                </a:lnTo>
                <a:lnTo>
                  <a:pt x="1425" y="1663"/>
                </a:lnTo>
                <a:lnTo>
                  <a:pt x="1593" y="1615"/>
                </a:lnTo>
                <a:lnTo>
                  <a:pt x="1748" y="1565"/>
                </a:lnTo>
                <a:lnTo>
                  <a:pt x="1880" y="1523"/>
                </a:lnTo>
                <a:lnTo>
                  <a:pt x="1988" y="1485"/>
                </a:lnTo>
                <a:lnTo>
                  <a:pt x="2168" y="1418"/>
                </a:lnTo>
                <a:lnTo>
                  <a:pt x="2317" y="1358"/>
                </a:lnTo>
                <a:lnTo>
                  <a:pt x="2581" y="1246"/>
                </a:lnTo>
                <a:lnTo>
                  <a:pt x="2653" y="1211"/>
                </a:lnTo>
                <a:lnTo>
                  <a:pt x="2725" y="1168"/>
                </a:lnTo>
                <a:lnTo>
                  <a:pt x="2796" y="1118"/>
                </a:lnTo>
                <a:lnTo>
                  <a:pt x="2868" y="1064"/>
                </a:lnTo>
                <a:lnTo>
                  <a:pt x="2934" y="1001"/>
                </a:lnTo>
                <a:lnTo>
                  <a:pt x="3006" y="931"/>
                </a:lnTo>
                <a:lnTo>
                  <a:pt x="3072" y="851"/>
                </a:lnTo>
                <a:lnTo>
                  <a:pt x="3138" y="767"/>
                </a:lnTo>
                <a:lnTo>
                  <a:pt x="3192" y="682"/>
                </a:lnTo>
                <a:lnTo>
                  <a:pt x="3240" y="589"/>
                </a:lnTo>
                <a:lnTo>
                  <a:pt x="3282" y="489"/>
                </a:lnTo>
                <a:lnTo>
                  <a:pt x="3317" y="387"/>
                </a:lnTo>
                <a:lnTo>
                  <a:pt x="3341" y="285"/>
                </a:lnTo>
                <a:lnTo>
                  <a:pt x="3365" y="185"/>
                </a:lnTo>
                <a:lnTo>
                  <a:pt x="3401" y="0"/>
                </a:lnTo>
              </a:path>
            </a:pathLst>
          </a:custGeom>
          <a:noFill/>
          <a:ln w="5715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8926" name="Freeform 14">
            <a:extLst>
              <a:ext uri="{FF2B5EF4-FFF2-40B4-BE49-F238E27FC236}">
                <a16:creationId xmlns:a16="http://schemas.microsoft.com/office/drawing/2014/main" id="{91BD15C6-A945-90D7-CD68-5B21D24BE1B5}"/>
              </a:ext>
            </a:extLst>
          </p:cNvPr>
          <p:cNvSpPr>
            <a:spLocks/>
          </p:cNvSpPr>
          <p:nvPr/>
        </p:nvSpPr>
        <p:spPr bwMode="auto">
          <a:xfrm>
            <a:off x="4044950" y="1774825"/>
            <a:ext cx="5133975" cy="2184400"/>
          </a:xfrm>
          <a:custGeom>
            <a:avLst/>
            <a:gdLst>
              <a:gd name="T0" fmla="*/ 0 w 3234"/>
              <a:gd name="T1" fmla="*/ 0 h 1376"/>
              <a:gd name="T2" fmla="*/ 0 w 3234"/>
              <a:gd name="T3" fmla="*/ 0 h 1376"/>
              <a:gd name="T4" fmla="*/ 2147483646 w 3234"/>
              <a:gd name="T5" fmla="*/ 2147483646 h 1376"/>
              <a:gd name="T6" fmla="*/ 2147483646 w 3234"/>
              <a:gd name="T7" fmla="*/ 2147483646 h 1376"/>
              <a:gd name="T8" fmla="*/ 2147483646 w 3234"/>
              <a:gd name="T9" fmla="*/ 2147483646 h 1376"/>
              <a:gd name="T10" fmla="*/ 2147483646 w 3234"/>
              <a:gd name="T11" fmla="*/ 2147483646 h 1376"/>
              <a:gd name="T12" fmla="*/ 2147483646 w 3234"/>
              <a:gd name="T13" fmla="*/ 2147483646 h 1376"/>
              <a:gd name="T14" fmla="*/ 2147483646 w 3234"/>
              <a:gd name="T15" fmla="*/ 2147483646 h 1376"/>
              <a:gd name="T16" fmla="*/ 2147483646 w 3234"/>
              <a:gd name="T17" fmla="*/ 2147483646 h 1376"/>
              <a:gd name="T18" fmla="*/ 2147483646 w 3234"/>
              <a:gd name="T19" fmla="*/ 2147483646 h 1376"/>
              <a:gd name="T20" fmla="*/ 2147483646 w 3234"/>
              <a:gd name="T21" fmla="*/ 2147483646 h 1376"/>
              <a:gd name="T22" fmla="*/ 2147483646 w 3234"/>
              <a:gd name="T23" fmla="*/ 2147483646 h 1376"/>
              <a:gd name="T24" fmla="*/ 2147483646 w 3234"/>
              <a:gd name="T25" fmla="*/ 2147483646 h 1376"/>
              <a:gd name="T26" fmla="*/ 2147483646 w 3234"/>
              <a:gd name="T27" fmla="*/ 2147483646 h 1376"/>
              <a:gd name="T28" fmla="*/ 2147483646 w 3234"/>
              <a:gd name="T29" fmla="*/ 2147483646 h 1376"/>
              <a:gd name="T30" fmla="*/ 2147483646 w 3234"/>
              <a:gd name="T31" fmla="*/ 2147483646 h 1376"/>
              <a:gd name="T32" fmla="*/ 2147483646 w 3234"/>
              <a:gd name="T33" fmla="*/ 2147483646 h 1376"/>
              <a:gd name="T34" fmla="*/ 2147483646 w 3234"/>
              <a:gd name="T35" fmla="*/ 2147483646 h 1376"/>
              <a:gd name="T36" fmla="*/ 2147483646 w 3234"/>
              <a:gd name="T37" fmla="*/ 2147483646 h 1376"/>
              <a:gd name="T38" fmla="*/ 2147483646 w 3234"/>
              <a:gd name="T39" fmla="*/ 2147483646 h 1376"/>
              <a:gd name="T40" fmla="*/ 2147483646 w 3234"/>
              <a:gd name="T41" fmla="*/ 2147483646 h 1376"/>
              <a:gd name="T42" fmla="*/ 2147483646 w 3234"/>
              <a:gd name="T43" fmla="*/ 2147483646 h 1376"/>
              <a:gd name="T44" fmla="*/ 2147483646 w 3234"/>
              <a:gd name="T45" fmla="*/ 2147483646 h 1376"/>
              <a:gd name="T46" fmla="*/ 2147483646 w 3234"/>
              <a:gd name="T47" fmla="*/ 2147483646 h 1376"/>
              <a:gd name="T48" fmla="*/ 2147483646 w 3234"/>
              <a:gd name="T49" fmla="*/ 2147483646 h 1376"/>
              <a:gd name="T50" fmla="*/ 2147483646 w 3234"/>
              <a:gd name="T51" fmla="*/ 2147483646 h 1376"/>
              <a:gd name="T52" fmla="*/ 2147483646 w 3234"/>
              <a:gd name="T53" fmla="*/ 2147483646 h 1376"/>
              <a:gd name="T54" fmla="*/ 2147483646 w 3234"/>
              <a:gd name="T55" fmla="*/ 2147483646 h 1376"/>
              <a:gd name="T56" fmla="*/ 2147483646 w 3234"/>
              <a:gd name="T57" fmla="*/ 2147483646 h 1376"/>
              <a:gd name="T58" fmla="*/ 2147483646 w 3234"/>
              <a:gd name="T59" fmla="*/ 2147483646 h 1376"/>
              <a:gd name="T60" fmla="*/ 2147483646 w 3234"/>
              <a:gd name="T61" fmla="*/ 2147483646 h 1376"/>
              <a:gd name="T62" fmla="*/ 2147483646 w 3234"/>
              <a:gd name="T63" fmla="*/ 2147483646 h 1376"/>
              <a:gd name="T64" fmla="*/ 2147483646 w 3234"/>
              <a:gd name="T65" fmla="*/ 2147483646 h 1376"/>
              <a:gd name="T66" fmla="*/ 2147483646 w 3234"/>
              <a:gd name="T67" fmla="*/ 2147483646 h 1376"/>
              <a:gd name="T68" fmla="*/ 2147483646 w 3234"/>
              <a:gd name="T69" fmla="*/ 2147483646 h 1376"/>
              <a:gd name="T70" fmla="*/ 2147483646 w 3234"/>
              <a:gd name="T71" fmla="*/ 2147483646 h 1376"/>
              <a:gd name="T72" fmla="*/ 2147483646 w 3234"/>
              <a:gd name="T73" fmla="*/ 2147483646 h 1376"/>
              <a:gd name="T74" fmla="*/ 2147483646 w 3234"/>
              <a:gd name="T75" fmla="*/ 2147483646 h 1376"/>
              <a:gd name="T76" fmla="*/ 2147483646 w 3234"/>
              <a:gd name="T77" fmla="*/ 2147483646 h 1376"/>
              <a:gd name="T78" fmla="*/ 2147483646 w 3234"/>
              <a:gd name="T79" fmla="*/ 2147483646 h 1376"/>
              <a:gd name="T80" fmla="*/ 2147483646 w 3234"/>
              <a:gd name="T81" fmla="*/ 2147483646 h 137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234" h="1376">
                <a:moveTo>
                  <a:pt x="0" y="0"/>
                </a:moveTo>
                <a:lnTo>
                  <a:pt x="0" y="0"/>
                </a:lnTo>
                <a:lnTo>
                  <a:pt x="48" y="108"/>
                </a:lnTo>
                <a:lnTo>
                  <a:pt x="102" y="210"/>
                </a:lnTo>
                <a:lnTo>
                  <a:pt x="156" y="305"/>
                </a:lnTo>
                <a:lnTo>
                  <a:pt x="222" y="397"/>
                </a:lnTo>
                <a:lnTo>
                  <a:pt x="288" y="487"/>
                </a:lnTo>
                <a:lnTo>
                  <a:pt x="354" y="575"/>
                </a:lnTo>
                <a:lnTo>
                  <a:pt x="509" y="754"/>
                </a:lnTo>
                <a:lnTo>
                  <a:pt x="617" y="879"/>
                </a:lnTo>
                <a:lnTo>
                  <a:pt x="677" y="934"/>
                </a:lnTo>
                <a:lnTo>
                  <a:pt x="737" y="991"/>
                </a:lnTo>
                <a:lnTo>
                  <a:pt x="821" y="1046"/>
                </a:lnTo>
                <a:lnTo>
                  <a:pt x="917" y="1104"/>
                </a:lnTo>
                <a:lnTo>
                  <a:pt x="1036" y="1166"/>
                </a:lnTo>
                <a:lnTo>
                  <a:pt x="1186" y="1233"/>
                </a:lnTo>
                <a:lnTo>
                  <a:pt x="1228" y="1251"/>
                </a:lnTo>
                <a:lnTo>
                  <a:pt x="1270" y="1266"/>
                </a:lnTo>
                <a:lnTo>
                  <a:pt x="1324" y="1281"/>
                </a:lnTo>
                <a:lnTo>
                  <a:pt x="1378" y="1293"/>
                </a:lnTo>
                <a:lnTo>
                  <a:pt x="1497" y="1318"/>
                </a:lnTo>
                <a:lnTo>
                  <a:pt x="1629" y="1338"/>
                </a:lnTo>
                <a:lnTo>
                  <a:pt x="1773" y="1353"/>
                </a:lnTo>
                <a:lnTo>
                  <a:pt x="1917" y="1366"/>
                </a:lnTo>
                <a:lnTo>
                  <a:pt x="2072" y="1373"/>
                </a:lnTo>
                <a:lnTo>
                  <a:pt x="2228" y="1376"/>
                </a:lnTo>
                <a:lnTo>
                  <a:pt x="2378" y="1373"/>
                </a:lnTo>
                <a:lnTo>
                  <a:pt x="2533" y="1368"/>
                </a:lnTo>
                <a:lnTo>
                  <a:pt x="2677" y="1356"/>
                </a:lnTo>
                <a:lnTo>
                  <a:pt x="2749" y="1348"/>
                </a:lnTo>
                <a:lnTo>
                  <a:pt x="2815" y="1338"/>
                </a:lnTo>
                <a:lnTo>
                  <a:pt x="2881" y="1328"/>
                </a:lnTo>
                <a:lnTo>
                  <a:pt x="2941" y="1316"/>
                </a:lnTo>
                <a:lnTo>
                  <a:pt x="3000" y="1303"/>
                </a:lnTo>
                <a:lnTo>
                  <a:pt x="3054" y="1288"/>
                </a:lnTo>
                <a:lnTo>
                  <a:pt x="3108" y="1273"/>
                </a:lnTo>
                <a:lnTo>
                  <a:pt x="3156" y="1256"/>
                </a:lnTo>
                <a:lnTo>
                  <a:pt x="3198" y="1236"/>
                </a:lnTo>
                <a:lnTo>
                  <a:pt x="3234" y="1216"/>
                </a:lnTo>
              </a:path>
            </a:pathLst>
          </a:custGeom>
          <a:noFill/>
          <a:ln w="5715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8927" name="Freeform 15">
            <a:extLst>
              <a:ext uri="{FF2B5EF4-FFF2-40B4-BE49-F238E27FC236}">
                <a16:creationId xmlns:a16="http://schemas.microsoft.com/office/drawing/2014/main" id="{24934D40-CB29-BD80-5895-B6B56280421D}"/>
              </a:ext>
            </a:extLst>
          </p:cNvPr>
          <p:cNvSpPr>
            <a:spLocks/>
          </p:cNvSpPr>
          <p:nvPr/>
        </p:nvSpPr>
        <p:spPr bwMode="auto">
          <a:xfrm>
            <a:off x="4064000" y="3903663"/>
            <a:ext cx="5114925" cy="577850"/>
          </a:xfrm>
          <a:custGeom>
            <a:avLst/>
            <a:gdLst>
              <a:gd name="T0" fmla="*/ 0 w 3222"/>
              <a:gd name="T1" fmla="*/ 0 h 364"/>
              <a:gd name="T2" fmla="*/ 0 w 3222"/>
              <a:gd name="T3" fmla="*/ 0 h 364"/>
              <a:gd name="T4" fmla="*/ 2147483646 w 3222"/>
              <a:gd name="T5" fmla="*/ 2147483646 h 364"/>
              <a:gd name="T6" fmla="*/ 2147483646 w 3222"/>
              <a:gd name="T7" fmla="*/ 2147483646 h 364"/>
              <a:gd name="T8" fmla="*/ 2147483646 w 3222"/>
              <a:gd name="T9" fmla="*/ 2147483646 h 364"/>
              <a:gd name="T10" fmla="*/ 2147483646 w 3222"/>
              <a:gd name="T11" fmla="*/ 2147483646 h 364"/>
              <a:gd name="T12" fmla="*/ 2147483646 w 3222"/>
              <a:gd name="T13" fmla="*/ 2147483646 h 364"/>
              <a:gd name="T14" fmla="*/ 2147483646 w 3222"/>
              <a:gd name="T15" fmla="*/ 2147483646 h 364"/>
              <a:gd name="T16" fmla="*/ 2147483646 w 3222"/>
              <a:gd name="T17" fmla="*/ 2147483646 h 364"/>
              <a:gd name="T18" fmla="*/ 2147483646 w 3222"/>
              <a:gd name="T19" fmla="*/ 2147483646 h 364"/>
              <a:gd name="T20" fmla="*/ 2147483646 w 3222"/>
              <a:gd name="T21" fmla="*/ 2147483646 h 364"/>
              <a:gd name="T22" fmla="*/ 2147483646 w 3222"/>
              <a:gd name="T23" fmla="*/ 2147483646 h 364"/>
              <a:gd name="T24" fmla="*/ 2147483646 w 3222"/>
              <a:gd name="T25" fmla="*/ 2147483646 h 364"/>
              <a:gd name="T26" fmla="*/ 2147483646 w 3222"/>
              <a:gd name="T27" fmla="*/ 2147483646 h 364"/>
              <a:gd name="T28" fmla="*/ 2147483646 w 3222"/>
              <a:gd name="T29" fmla="*/ 2147483646 h 364"/>
              <a:gd name="T30" fmla="*/ 2147483646 w 3222"/>
              <a:gd name="T31" fmla="*/ 2147483646 h 364"/>
              <a:gd name="T32" fmla="*/ 2147483646 w 3222"/>
              <a:gd name="T33" fmla="*/ 2147483646 h 364"/>
              <a:gd name="T34" fmla="*/ 2147483646 w 3222"/>
              <a:gd name="T35" fmla="*/ 2147483646 h 364"/>
              <a:gd name="T36" fmla="*/ 2147483646 w 3222"/>
              <a:gd name="T37" fmla="*/ 2147483646 h 364"/>
              <a:gd name="T38" fmla="*/ 2147483646 w 3222"/>
              <a:gd name="T39" fmla="*/ 2147483646 h 364"/>
              <a:gd name="T40" fmla="*/ 2147483646 w 3222"/>
              <a:gd name="T41" fmla="*/ 2147483646 h 364"/>
              <a:gd name="T42" fmla="*/ 2147483646 w 3222"/>
              <a:gd name="T43" fmla="*/ 2147483646 h 364"/>
              <a:gd name="T44" fmla="*/ 2147483646 w 3222"/>
              <a:gd name="T45" fmla="*/ 2147483646 h 364"/>
              <a:gd name="T46" fmla="*/ 2147483646 w 3222"/>
              <a:gd name="T47" fmla="*/ 2147483646 h 364"/>
              <a:gd name="T48" fmla="*/ 2147483646 w 3222"/>
              <a:gd name="T49" fmla="*/ 2147483646 h 364"/>
              <a:gd name="T50" fmla="*/ 2147483646 w 3222"/>
              <a:gd name="T51" fmla="*/ 2147483646 h 364"/>
              <a:gd name="T52" fmla="*/ 2147483646 w 3222"/>
              <a:gd name="T53" fmla="*/ 2147483646 h 364"/>
              <a:gd name="T54" fmla="*/ 2147483646 w 3222"/>
              <a:gd name="T55" fmla="*/ 2147483646 h 364"/>
              <a:gd name="T56" fmla="*/ 2147483646 w 3222"/>
              <a:gd name="T57" fmla="*/ 2147483646 h 364"/>
              <a:gd name="T58" fmla="*/ 2147483646 w 3222"/>
              <a:gd name="T59" fmla="*/ 2147483646 h 364"/>
              <a:gd name="T60" fmla="*/ 2147483646 w 3222"/>
              <a:gd name="T61" fmla="*/ 2147483646 h 364"/>
              <a:gd name="T62" fmla="*/ 2147483646 w 3222"/>
              <a:gd name="T63" fmla="*/ 2147483646 h 364"/>
              <a:gd name="T64" fmla="*/ 2147483646 w 3222"/>
              <a:gd name="T65" fmla="*/ 2147483646 h 364"/>
              <a:gd name="T66" fmla="*/ 2147483646 w 3222"/>
              <a:gd name="T67" fmla="*/ 2147483646 h 364"/>
              <a:gd name="T68" fmla="*/ 2147483646 w 3222"/>
              <a:gd name="T69" fmla="*/ 2147483646 h 36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22" h="364">
                <a:moveTo>
                  <a:pt x="0" y="0"/>
                </a:moveTo>
                <a:lnTo>
                  <a:pt x="0" y="0"/>
                </a:lnTo>
                <a:lnTo>
                  <a:pt x="114" y="50"/>
                </a:lnTo>
                <a:lnTo>
                  <a:pt x="228" y="97"/>
                </a:lnTo>
                <a:lnTo>
                  <a:pt x="336" y="137"/>
                </a:lnTo>
                <a:lnTo>
                  <a:pt x="443" y="175"/>
                </a:lnTo>
                <a:lnTo>
                  <a:pt x="545" y="209"/>
                </a:lnTo>
                <a:lnTo>
                  <a:pt x="641" y="239"/>
                </a:lnTo>
                <a:lnTo>
                  <a:pt x="737" y="267"/>
                </a:lnTo>
                <a:lnTo>
                  <a:pt x="827" y="289"/>
                </a:lnTo>
                <a:lnTo>
                  <a:pt x="916" y="309"/>
                </a:lnTo>
                <a:lnTo>
                  <a:pt x="1000" y="327"/>
                </a:lnTo>
                <a:lnTo>
                  <a:pt x="1084" y="339"/>
                </a:lnTo>
                <a:lnTo>
                  <a:pt x="1162" y="349"/>
                </a:lnTo>
                <a:lnTo>
                  <a:pt x="1234" y="357"/>
                </a:lnTo>
                <a:lnTo>
                  <a:pt x="1306" y="362"/>
                </a:lnTo>
                <a:lnTo>
                  <a:pt x="1378" y="364"/>
                </a:lnTo>
                <a:lnTo>
                  <a:pt x="1443" y="364"/>
                </a:lnTo>
                <a:lnTo>
                  <a:pt x="1593" y="359"/>
                </a:lnTo>
                <a:lnTo>
                  <a:pt x="1737" y="354"/>
                </a:lnTo>
                <a:lnTo>
                  <a:pt x="1869" y="347"/>
                </a:lnTo>
                <a:lnTo>
                  <a:pt x="2000" y="339"/>
                </a:lnTo>
                <a:lnTo>
                  <a:pt x="2120" y="329"/>
                </a:lnTo>
                <a:lnTo>
                  <a:pt x="2234" y="317"/>
                </a:lnTo>
                <a:lnTo>
                  <a:pt x="2342" y="304"/>
                </a:lnTo>
                <a:lnTo>
                  <a:pt x="2450" y="289"/>
                </a:lnTo>
                <a:lnTo>
                  <a:pt x="2551" y="272"/>
                </a:lnTo>
                <a:lnTo>
                  <a:pt x="2647" y="252"/>
                </a:lnTo>
                <a:lnTo>
                  <a:pt x="2749" y="229"/>
                </a:lnTo>
                <a:lnTo>
                  <a:pt x="2839" y="204"/>
                </a:lnTo>
                <a:lnTo>
                  <a:pt x="2935" y="177"/>
                </a:lnTo>
                <a:lnTo>
                  <a:pt x="3030" y="145"/>
                </a:lnTo>
                <a:lnTo>
                  <a:pt x="3126" y="112"/>
                </a:lnTo>
                <a:lnTo>
                  <a:pt x="3222" y="77"/>
                </a:lnTo>
              </a:path>
            </a:pathLst>
          </a:custGeom>
          <a:noFill/>
          <a:ln w="5715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38928" name="Freeform 16">
            <a:extLst>
              <a:ext uri="{FF2B5EF4-FFF2-40B4-BE49-F238E27FC236}">
                <a16:creationId xmlns:a16="http://schemas.microsoft.com/office/drawing/2014/main" id="{6B7FF01F-6C75-0CA3-F5EB-6BF91E7CD108}"/>
              </a:ext>
            </a:extLst>
          </p:cNvPr>
          <p:cNvSpPr>
            <a:spLocks/>
          </p:cNvSpPr>
          <p:nvPr/>
        </p:nvSpPr>
        <p:spPr bwMode="auto">
          <a:xfrm>
            <a:off x="6146800" y="4413250"/>
            <a:ext cx="136525" cy="136525"/>
          </a:xfrm>
          <a:custGeom>
            <a:avLst/>
            <a:gdLst>
              <a:gd name="T0" fmla="*/ 2147483646 w 120"/>
              <a:gd name="T1" fmla="*/ 2147483646 h 50"/>
              <a:gd name="T2" fmla="*/ 2147483646 w 120"/>
              <a:gd name="T3" fmla="*/ 2147483646 h 50"/>
              <a:gd name="T4" fmla="*/ 2147483646 w 120"/>
              <a:gd name="T5" fmla="*/ 2147483646 h 50"/>
              <a:gd name="T6" fmla="*/ 2147483646 w 120"/>
              <a:gd name="T7" fmla="*/ 2147483646 h 50"/>
              <a:gd name="T8" fmla="*/ 2147483646 w 120"/>
              <a:gd name="T9" fmla="*/ 2147483646 h 50"/>
              <a:gd name="T10" fmla="*/ 2147483646 w 120"/>
              <a:gd name="T11" fmla="*/ 2147483646 h 50"/>
              <a:gd name="T12" fmla="*/ 2147483646 w 120"/>
              <a:gd name="T13" fmla="*/ 2147483646 h 50"/>
              <a:gd name="T14" fmla="*/ 2147483646 w 120"/>
              <a:gd name="T15" fmla="*/ 2147483646 h 50"/>
              <a:gd name="T16" fmla="*/ 2147483646 w 120"/>
              <a:gd name="T17" fmla="*/ 2147483646 h 50"/>
              <a:gd name="T18" fmla="*/ 2147483646 w 120"/>
              <a:gd name="T19" fmla="*/ 2147483646 h 50"/>
              <a:gd name="T20" fmla="*/ 2147483646 w 120"/>
              <a:gd name="T21" fmla="*/ 0 h 50"/>
              <a:gd name="T22" fmla="*/ 2147483646 w 120"/>
              <a:gd name="T23" fmla="*/ 0 h 50"/>
              <a:gd name="T24" fmla="*/ 2147483646 w 120"/>
              <a:gd name="T25" fmla="*/ 2147483646 h 50"/>
              <a:gd name="T26" fmla="*/ 2147483646 w 120"/>
              <a:gd name="T27" fmla="*/ 2147483646 h 50"/>
              <a:gd name="T28" fmla="*/ 2147483646 w 120"/>
              <a:gd name="T29" fmla="*/ 2147483646 h 50"/>
              <a:gd name="T30" fmla="*/ 0 w 120"/>
              <a:gd name="T31" fmla="*/ 2147483646 h 50"/>
              <a:gd name="T32" fmla="*/ 0 w 120"/>
              <a:gd name="T33" fmla="*/ 2147483646 h 50"/>
              <a:gd name="T34" fmla="*/ 2147483646 w 120"/>
              <a:gd name="T35" fmla="*/ 2147483646 h 50"/>
              <a:gd name="T36" fmla="*/ 2147483646 w 120"/>
              <a:gd name="T37" fmla="*/ 2147483646 h 50"/>
              <a:gd name="T38" fmla="*/ 2147483646 w 120"/>
              <a:gd name="T39" fmla="*/ 2147483646 h 50"/>
              <a:gd name="T40" fmla="*/ 2147483646 w 120"/>
              <a:gd name="T41" fmla="*/ 2147483646 h 50"/>
              <a:gd name="T42" fmla="*/ 2147483646 w 120"/>
              <a:gd name="T43" fmla="*/ 2147483646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0" h="50">
                <a:moveTo>
                  <a:pt x="60" y="50"/>
                </a:moveTo>
                <a:lnTo>
                  <a:pt x="60" y="50"/>
                </a:lnTo>
                <a:lnTo>
                  <a:pt x="84" y="48"/>
                </a:lnTo>
                <a:lnTo>
                  <a:pt x="102" y="43"/>
                </a:lnTo>
                <a:lnTo>
                  <a:pt x="114" y="35"/>
                </a:lnTo>
                <a:lnTo>
                  <a:pt x="120" y="25"/>
                </a:lnTo>
                <a:lnTo>
                  <a:pt x="114" y="15"/>
                </a:lnTo>
                <a:lnTo>
                  <a:pt x="102" y="8"/>
                </a:lnTo>
                <a:lnTo>
                  <a:pt x="84" y="3"/>
                </a:lnTo>
                <a:lnTo>
                  <a:pt x="60" y="0"/>
                </a:lnTo>
                <a:lnTo>
                  <a:pt x="36" y="3"/>
                </a:lnTo>
                <a:lnTo>
                  <a:pt x="18" y="8"/>
                </a:lnTo>
                <a:lnTo>
                  <a:pt x="6" y="15"/>
                </a:lnTo>
                <a:lnTo>
                  <a:pt x="0" y="25"/>
                </a:lnTo>
                <a:lnTo>
                  <a:pt x="6" y="35"/>
                </a:lnTo>
                <a:lnTo>
                  <a:pt x="18" y="43"/>
                </a:lnTo>
                <a:lnTo>
                  <a:pt x="36" y="48"/>
                </a:lnTo>
                <a:lnTo>
                  <a:pt x="6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38929" name="Freeform 17">
            <a:extLst>
              <a:ext uri="{FF2B5EF4-FFF2-40B4-BE49-F238E27FC236}">
                <a16:creationId xmlns:a16="http://schemas.microsoft.com/office/drawing/2014/main" id="{3F5968B9-6096-41F4-BBB5-74FA6F405D11}"/>
              </a:ext>
            </a:extLst>
          </p:cNvPr>
          <p:cNvSpPr>
            <a:spLocks/>
          </p:cNvSpPr>
          <p:nvPr/>
        </p:nvSpPr>
        <p:spPr bwMode="auto">
          <a:xfrm>
            <a:off x="7572375" y="3890963"/>
            <a:ext cx="136525" cy="136525"/>
          </a:xfrm>
          <a:custGeom>
            <a:avLst/>
            <a:gdLst>
              <a:gd name="T0" fmla="*/ 2147483646 w 120"/>
              <a:gd name="T1" fmla="*/ 2147483646 h 50"/>
              <a:gd name="T2" fmla="*/ 2147483646 w 120"/>
              <a:gd name="T3" fmla="*/ 2147483646 h 50"/>
              <a:gd name="T4" fmla="*/ 2147483646 w 120"/>
              <a:gd name="T5" fmla="*/ 2147483646 h 50"/>
              <a:gd name="T6" fmla="*/ 2147483646 w 120"/>
              <a:gd name="T7" fmla="*/ 2147483646 h 50"/>
              <a:gd name="T8" fmla="*/ 2147483646 w 120"/>
              <a:gd name="T9" fmla="*/ 2147483646 h 50"/>
              <a:gd name="T10" fmla="*/ 2147483646 w 120"/>
              <a:gd name="T11" fmla="*/ 2147483646 h 50"/>
              <a:gd name="T12" fmla="*/ 2147483646 w 120"/>
              <a:gd name="T13" fmla="*/ 2147483646 h 50"/>
              <a:gd name="T14" fmla="*/ 2147483646 w 120"/>
              <a:gd name="T15" fmla="*/ 2147483646 h 50"/>
              <a:gd name="T16" fmla="*/ 2147483646 w 120"/>
              <a:gd name="T17" fmla="*/ 2147483646 h 50"/>
              <a:gd name="T18" fmla="*/ 2147483646 w 120"/>
              <a:gd name="T19" fmla="*/ 2147483646 h 50"/>
              <a:gd name="T20" fmla="*/ 2147483646 w 120"/>
              <a:gd name="T21" fmla="*/ 0 h 50"/>
              <a:gd name="T22" fmla="*/ 2147483646 w 120"/>
              <a:gd name="T23" fmla="*/ 0 h 50"/>
              <a:gd name="T24" fmla="*/ 2147483646 w 120"/>
              <a:gd name="T25" fmla="*/ 2147483646 h 50"/>
              <a:gd name="T26" fmla="*/ 2147483646 w 120"/>
              <a:gd name="T27" fmla="*/ 2147483646 h 50"/>
              <a:gd name="T28" fmla="*/ 0 w 120"/>
              <a:gd name="T29" fmla="*/ 2147483646 h 50"/>
              <a:gd name="T30" fmla="*/ 0 w 120"/>
              <a:gd name="T31" fmla="*/ 2147483646 h 50"/>
              <a:gd name="T32" fmla="*/ 0 w 120"/>
              <a:gd name="T33" fmla="*/ 2147483646 h 50"/>
              <a:gd name="T34" fmla="*/ 0 w 120"/>
              <a:gd name="T35" fmla="*/ 2147483646 h 50"/>
              <a:gd name="T36" fmla="*/ 2147483646 w 120"/>
              <a:gd name="T37" fmla="*/ 2147483646 h 50"/>
              <a:gd name="T38" fmla="*/ 2147483646 w 120"/>
              <a:gd name="T39" fmla="*/ 2147483646 h 50"/>
              <a:gd name="T40" fmla="*/ 2147483646 w 120"/>
              <a:gd name="T41" fmla="*/ 2147483646 h 50"/>
              <a:gd name="T42" fmla="*/ 2147483646 w 120"/>
              <a:gd name="T43" fmla="*/ 2147483646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0" h="50">
                <a:moveTo>
                  <a:pt x="60" y="50"/>
                </a:moveTo>
                <a:lnTo>
                  <a:pt x="60" y="50"/>
                </a:lnTo>
                <a:lnTo>
                  <a:pt x="84" y="47"/>
                </a:lnTo>
                <a:lnTo>
                  <a:pt x="102" y="42"/>
                </a:lnTo>
                <a:lnTo>
                  <a:pt x="114" y="35"/>
                </a:lnTo>
                <a:lnTo>
                  <a:pt x="120" y="25"/>
                </a:lnTo>
                <a:lnTo>
                  <a:pt x="114" y="15"/>
                </a:lnTo>
                <a:lnTo>
                  <a:pt x="102" y="7"/>
                </a:lnTo>
                <a:lnTo>
                  <a:pt x="84" y="2"/>
                </a:lnTo>
                <a:lnTo>
                  <a:pt x="60" y="0"/>
                </a:lnTo>
                <a:lnTo>
                  <a:pt x="36" y="2"/>
                </a:lnTo>
                <a:lnTo>
                  <a:pt x="18" y="7"/>
                </a:lnTo>
                <a:lnTo>
                  <a:pt x="0" y="15"/>
                </a:lnTo>
                <a:lnTo>
                  <a:pt x="0" y="25"/>
                </a:lnTo>
                <a:lnTo>
                  <a:pt x="0" y="35"/>
                </a:lnTo>
                <a:lnTo>
                  <a:pt x="18" y="42"/>
                </a:lnTo>
                <a:lnTo>
                  <a:pt x="36" y="47"/>
                </a:lnTo>
                <a:lnTo>
                  <a:pt x="6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38930" name="Freeform 18">
            <a:extLst>
              <a:ext uri="{FF2B5EF4-FFF2-40B4-BE49-F238E27FC236}">
                <a16:creationId xmlns:a16="http://schemas.microsoft.com/office/drawing/2014/main" id="{5A94A870-FFFC-776E-E97A-FBDEE0624D82}"/>
              </a:ext>
            </a:extLst>
          </p:cNvPr>
          <p:cNvSpPr>
            <a:spLocks/>
          </p:cNvSpPr>
          <p:nvPr/>
        </p:nvSpPr>
        <p:spPr bwMode="auto">
          <a:xfrm>
            <a:off x="3522663" y="3843338"/>
            <a:ext cx="136525" cy="136525"/>
          </a:xfrm>
          <a:custGeom>
            <a:avLst/>
            <a:gdLst>
              <a:gd name="T0" fmla="*/ 2147483646 w 120"/>
              <a:gd name="T1" fmla="*/ 2147483646 h 50"/>
              <a:gd name="T2" fmla="*/ 2147483646 w 120"/>
              <a:gd name="T3" fmla="*/ 2147483646 h 50"/>
              <a:gd name="T4" fmla="*/ 2147483646 w 120"/>
              <a:gd name="T5" fmla="*/ 2147483646 h 50"/>
              <a:gd name="T6" fmla="*/ 2147483646 w 120"/>
              <a:gd name="T7" fmla="*/ 2147483646 h 50"/>
              <a:gd name="T8" fmla="*/ 2147483646 w 120"/>
              <a:gd name="T9" fmla="*/ 2147483646 h 50"/>
              <a:gd name="T10" fmla="*/ 2147483646 w 120"/>
              <a:gd name="T11" fmla="*/ 2147483646 h 50"/>
              <a:gd name="T12" fmla="*/ 2147483646 w 120"/>
              <a:gd name="T13" fmla="*/ 2147483646 h 50"/>
              <a:gd name="T14" fmla="*/ 2147483646 w 120"/>
              <a:gd name="T15" fmla="*/ 2147483646 h 50"/>
              <a:gd name="T16" fmla="*/ 2147483646 w 120"/>
              <a:gd name="T17" fmla="*/ 2147483646 h 50"/>
              <a:gd name="T18" fmla="*/ 2147483646 w 120"/>
              <a:gd name="T19" fmla="*/ 2147483646 h 50"/>
              <a:gd name="T20" fmla="*/ 2147483646 w 120"/>
              <a:gd name="T21" fmla="*/ 0 h 50"/>
              <a:gd name="T22" fmla="*/ 2147483646 w 120"/>
              <a:gd name="T23" fmla="*/ 0 h 50"/>
              <a:gd name="T24" fmla="*/ 2147483646 w 120"/>
              <a:gd name="T25" fmla="*/ 2147483646 h 50"/>
              <a:gd name="T26" fmla="*/ 2147483646 w 120"/>
              <a:gd name="T27" fmla="*/ 2147483646 h 50"/>
              <a:gd name="T28" fmla="*/ 2147483646 w 120"/>
              <a:gd name="T29" fmla="*/ 2147483646 h 50"/>
              <a:gd name="T30" fmla="*/ 0 w 120"/>
              <a:gd name="T31" fmla="*/ 2147483646 h 50"/>
              <a:gd name="T32" fmla="*/ 0 w 120"/>
              <a:gd name="T33" fmla="*/ 2147483646 h 50"/>
              <a:gd name="T34" fmla="*/ 2147483646 w 120"/>
              <a:gd name="T35" fmla="*/ 2147483646 h 50"/>
              <a:gd name="T36" fmla="*/ 2147483646 w 120"/>
              <a:gd name="T37" fmla="*/ 2147483646 h 50"/>
              <a:gd name="T38" fmla="*/ 2147483646 w 120"/>
              <a:gd name="T39" fmla="*/ 2147483646 h 50"/>
              <a:gd name="T40" fmla="*/ 2147483646 w 120"/>
              <a:gd name="T41" fmla="*/ 2147483646 h 50"/>
              <a:gd name="T42" fmla="*/ 2147483646 w 120"/>
              <a:gd name="T43" fmla="*/ 2147483646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0" h="50">
                <a:moveTo>
                  <a:pt x="60" y="50"/>
                </a:moveTo>
                <a:lnTo>
                  <a:pt x="60" y="50"/>
                </a:lnTo>
                <a:lnTo>
                  <a:pt x="84" y="47"/>
                </a:lnTo>
                <a:lnTo>
                  <a:pt x="102" y="42"/>
                </a:lnTo>
                <a:lnTo>
                  <a:pt x="114" y="35"/>
                </a:lnTo>
                <a:lnTo>
                  <a:pt x="120" y="25"/>
                </a:lnTo>
                <a:lnTo>
                  <a:pt x="114" y="15"/>
                </a:lnTo>
                <a:lnTo>
                  <a:pt x="102" y="7"/>
                </a:lnTo>
                <a:lnTo>
                  <a:pt x="84" y="2"/>
                </a:lnTo>
                <a:lnTo>
                  <a:pt x="60" y="0"/>
                </a:lnTo>
                <a:lnTo>
                  <a:pt x="36" y="2"/>
                </a:lnTo>
                <a:lnTo>
                  <a:pt x="18" y="7"/>
                </a:lnTo>
                <a:lnTo>
                  <a:pt x="6" y="15"/>
                </a:lnTo>
                <a:lnTo>
                  <a:pt x="0" y="25"/>
                </a:lnTo>
                <a:lnTo>
                  <a:pt x="6" y="35"/>
                </a:lnTo>
                <a:lnTo>
                  <a:pt x="18" y="42"/>
                </a:lnTo>
                <a:lnTo>
                  <a:pt x="36" y="47"/>
                </a:lnTo>
                <a:lnTo>
                  <a:pt x="6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38931" name="Freeform 19">
            <a:extLst>
              <a:ext uri="{FF2B5EF4-FFF2-40B4-BE49-F238E27FC236}">
                <a16:creationId xmlns:a16="http://schemas.microsoft.com/office/drawing/2014/main" id="{48C520AB-1624-B2C7-3B63-11962EEC9BFD}"/>
              </a:ext>
            </a:extLst>
          </p:cNvPr>
          <p:cNvSpPr>
            <a:spLocks/>
          </p:cNvSpPr>
          <p:nvPr/>
        </p:nvSpPr>
        <p:spPr bwMode="auto">
          <a:xfrm>
            <a:off x="4891088" y="4710113"/>
            <a:ext cx="136525" cy="136525"/>
          </a:xfrm>
          <a:custGeom>
            <a:avLst/>
            <a:gdLst>
              <a:gd name="T0" fmla="*/ 2147483646 w 120"/>
              <a:gd name="T1" fmla="*/ 2147483646 h 50"/>
              <a:gd name="T2" fmla="*/ 2147483646 w 120"/>
              <a:gd name="T3" fmla="*/ 2147483646 h 50"/>
              <a:gd name="T4" fmla="*/ 2147483646 w 120"/>
              <a:gd name="T5" fmla="*/ 2147483646 h 50"/>
              <a:gd name="T6" fmla="*/ 2147483646 w 120"/>
              <a:gd name="T7" fmla="*/ 2147483646 h 50"/>
              <a:gd name="T8" fmla="*/ 2147483646 w 120"/>
              <a:gd name="T9" fmla="*/ 2147483646 h 50"/>
              <a:gd name="T10" fmla="*/ 2147483646 w 120"/>
              <a:gd name="T11" fmla="*/ 2147483646 h 50"/>
              <a:gd name="T12" fmla="*/ 2147483646 w 120"/>
              <a:gd name="T13" fmla="*/ 2147483646 h 50"/>
              <a:gd name="T14" fmla="*/ 2147483646 w 120"/>
              <a:gd name="T15" fmla="*/ 2147483646 h 50"/>
              <a:gd name="T16" fmla="*/ 2147483646 w 120"/>
              <a:gd name="T17" fmla="*/ 2147483646 h 50"/>
              <a:gd name="T18" fmla="*/ 2147483646 w 120"/>
              <a:gd name="T19" fmla="*/ 0 h 50"/>
              <a:gd name="T20" fmla="*/ 2147483646 w 120"/>
              <a:gd name="T21" fmla="*/ 0 h 50"/>
              <a:gd name="T22" fmla="*/ 2147483646 w 120"/>
              <a:gd name="T23" fmla="*/ 0 h 50"/>
              <a:gd name="T24" fmla="*/ 2147483646 w 120"/>
              <a:gd name="T25" fmla="*/ 0 h 50"/>
              <a:gd name="T26" fmla="*/ 2147483646 w 120"/>
              <a:gd name="T27" fmla="*/ 2147483646 h 50"/>
              <a:gd name="T28" fmla="*/ 2147483646 w 120"/>
              <a:gd name="T29" fmla="*/ 2147483646 h 50"/>
              <a:gd name="T30" fmla="*/ 0 w 120"/>
              <a:gd name="T31" fmla="*/ 2147483646 h 50"/>
              <a:gd name="T32" fmla="*/ 0 w 120"/>
              <a:gd name="T33" fmla="*/ 2147483646 h 50"/>
              <a:gd name="T34" fmla="*/ 2147483646 w 120"/>
              <a:gd name="T35" fmla="*/ 2147483646 h 50"/>
              <a:gd name="T36" fmla="*/ 2147483646 w 120"/>
              <a:gd name="T37" fmla="*/ 2147483646 h 50"/>
              <a:gd name="T38" fmla="*/ 2147483646 w 120"/>
              <a:gd name="T39" fmla="*/ 2147483646 h 50"/>
              <a:gd name="T40" fmla="*/ 2147483646 w 120"/>
              <a:gd name="T41" fmla="*/ 2147483646 h 50"/>
              <a:gd name="T42" fmla="*/ 2147483646 w 120"/>
              <a:gd name="T43" fmla="*/ 2147483646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0" h="50">
                <a:moveTo>
                  <a:pt x="60" y="50"/>
                </a:moveTo>
                <a:lnTo>
                  <a:pt x="60" y="50"/>
                </a:lnTo>
                <a:lnTo>
                  <a:pt x="84" y="48"/>
                </a:lnTo>
                <a:lnTo>
                  <a:pt x="102" y="43"/>
                </a:lnTo>
                <a:lnTo>
                  <a:pt x="114" y="35"/>
                </a:lnTo>
                <a:lnTo>
                  <a:pt x="120" y="25"/>
                </a:lnTo>
                <a:lnTo>
                  <a:pt x="114" y="15"/>
                </a:lnTo>
                <a:lnTo>
                  <a:pt x="102" y="8"/>
                </a:lnTo>
                <a:lnTo>
                  <a:pt x="84" y="0"/>
                </a:lnTo>
                <a:lnTo>
                  <a:pt x="60" y="0"/>
                </a:lnTo>
                <a:lnTo>
                  <a:pt x="36" y="0"/>
                </a:lnTo>
                <a:lnTo>
                  <a:pt x="18" y="8"/>
                </a:lnTo>
                <a:lnTo>
                  <a:pt x="6" y="15"/>
                </a:lnTo>
                <a:lnTo>
                  <a:pt x="0" y="25"/>
                </a:lnTo>
                <a:lnTo>
                  <a:pt x="6" y="35"/>
                </a:lnTo>
                <a:lnTo>
                  <a:pt x="18" y="43"/>
                </a:lnTo>
                <a:lnTo>
                  <a:pt x="36" y="48"/>
                </a:lnTo>
                <a:lnTo>
                  <a:pt x="6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grpSp>
        <p:nvGrpSpPr>
          <p:cNvPr id="38932" name="Group 20">
            <a:extLst>
              <a:ext uri="{FF2B5EF4-FFF2-40B4-BE49-F238E27FC236}">
                <a16:creationId xmlns:a16="http://schemas.microsoft.com/office/drawing/2014/main" id="{9CB53294-DA27-C294-577B-CBE285E1DC01}"/>
              </a:ext>
            </a:extLst>
          </p:cNvPr>
          <p:cNvGrpSpPr>
            <a:grpSpLocks/>
          </p:cNvGrpSpPr>
          <p:nvPr/>
        </p:nvGrpSpPr>
        <p:grpSpPr bwMode="auto">
          <a:xfrm>
            <a:off x="2166938" y="1609725"/>
            <a:ext cx="7820025" cy="4770438"/>
            <a:chOff x="405" y="1014"/>
            <a:chExt cx="4926" cy="3005"/>
          </a:xfrm>
        </p:grpSpPr>
        <p:sp>
          <p:nvSpPr>
            <p:cNvPr id="48147" name="Rectangle 21">
              <a:extLst>
                <a:ext uri="{FF2B5EF4-FFF2-40B4-BE49-F238E27FC236}">
                  <a16:creationId xmlns:a16="http://schemas.microsoft.com/office/drawing/2014/main" id="{DF3541B5-31BC-C628-D1B0-D521FF9403E7}"/>
                </a:ext>
              </a:extLst>
            </p:cNvPr>
            <p:cNvSpPr>
              <a:spLocks noChangeArrowheads="1"/>
            </p:cNvSpPr>
            <p:nvPr/>
          </p:nvSpPr>
          <p:spPr bwMode="auto">
            <a:xfrm>
              <a:off x="4283" y="3846"/>
              <a:ext cx="10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Units of Output</a:t>
              </a:r>
              <a:endParaRPr lang="en-US" altLang="en-US" sz="1800">
                <a:latin typeface="Arial" panose="020B0604020202020204" pitchFamily="34" charset="0"/>
              </a:endParaRPr>
            </a:p>
          </p:txBody>
        </p:sp>
        <p:grpSp>
          <p:nvGrpSpPr>
            <p:cNvPr id="48148" name="Group 22">
              <a:extLst>
                <a:ext uri="{FF2B5EF4-FFF2-40B4-BE49-F238E27FC236}">
                  <a16:creationId xmlns:a16="http://schemas.microsoft.com/office/drawing/2014/main" id="{2E2FEA4C-1C9A-DE2D-49C6-0239ED673F70}"/>
                </a:ext>
              </a:extLst>
            </p:cNvPr>
            <p:cNvGrpSpPr>
              <a:grpSpLocks/>
            </p:cNvGrpSpPr>
            <p:nvPr/>
          </p:nvGrpSpPr>
          <p:grpSpPr bwMode="auto">
            <a:xfrm>
              <a:off x="405" y="1014"/>
              <a:ext cx="4926" cy="2799"/>
              <a:chOff x="405" y="1014"/>
              <a:chExt cx="4926" cy="2799"/>
            </a:xfrm>
          </p:grpSpPr>
          <p:sp>
            <p:nvSpPr>
              <p:cNvPr id="48149" name="Freeform 23">
                <a:extLst>
                  <a:ext uri="{FF2B5EF4-FFF2-40B4-BE49-F238E27FC236}">
                    <a16:creationId xmlns:a16="http://schemas.microsoft.com/office/drawing/2014/main" id="{C48F64B2-0F2E-8BFB-478F-8C02CA208C43}"/>
                  </a:ext>
                </a:extLst>
              </p:cNvPr>
              <p:cNvSpPr>
                <a:spLocks/>
              </p:cNvSpPr>
              <p:nvPr/>
            </p:nvSpPr>
            <p:spPr bwMode="auto">
              <a:xfrm>
                <a:off x="998" y="1014"/>
                <a:ext cx="4333" cy="2541"/>
              </a:xfrm>
              <a:custGeom>
                <a:avLst/>
                <a:gdLst>
                  <a:gd name="T0" fmla="*/ 0 w 4324"/>
                  <a:gd name="T1" fmla="*/ 0 h 2454"/>
                  <a:gd name="T2" fmla="*/ 0 w 4324"/>
                  <a:gd name="T3" fmla="*/ 4139 h 2454"/>
                  <a:gd name="T4" fmla="*/ 4459 w 4324"/>
                  <a:gd name="T5" fmla="*/ 4139 h 2454"/>
                  <a:gd name="T6" fmla="*/ 0 60000 65536"/>
                  <a:gd name="T7" fmla="*/ 0 60000 65536"/>
                  <a:gd name="T8" fmla="*/ 0 60000 65536"/>
                </a:gdLst>
                <a:ahLst/>
                <a:cxnLst>
                  <a:cxn ang="T6">
                    <a:pos x="T0" y="T1"/>
                  </a:cxn>
                  <a:cxn ang="T7">
                    <a:pos x="T2" y="T3"/>
                  </a:cxn>
                  <a:cxn ang="T8">
                    <a:pos x="T4" y="T5"/>
                  </a:cxn>
                </a:cxnLst>
                <a:rect l="0" t="0" r="r" b="b"/>
                <a:pathLst>
                  <a:path w="4324" h="2454">
                    <a:moveTo>
                      <a:pt x="0" y="0"/>
                    </a:moveTo>
                    <a:lnTo>
                      <a:pt x="0" y="2454"/>
                    </a:lnTo>
                    <a:lnTo>
                      <a:pt x="4324" y="2454"/>
                    </a:lnTo>
                  </a:path>
                </a:pathLst>
              </a:custGeom>
              <a:noFill/>
              <a:ln w="381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48150" name="Rectangle 24">
                <a:extLst>
                  <a:ext uri="{FF2B5EF4-FFF2-40B4-BE49-F238E27FC236}">
                    <a16:creationId xmlns:a16="http://schemas.microsoft.com/office/drawing/2014/main" id="{1940CC2E-4635-3AE4-D7DB-7670D61A7B3A}"/>
                  </a:ext>
                </a:extLst>
              </p:cNvPr>
              <p:cNvSpPr>
                <a:spLocks noChangeArrowheads="1"/>
              </p:cNvSpPr>
              <p:nvPr/>
            </p:nvSpPr>
            <p:spPr bwMode="auto">
              <a:xfrm>
                <a:off x="405" y="1014"/>
                <a:ext cx="18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Rs</a:t>
                </a:r>
                <a:endParaRPr lang="en-US" altLang="en-US" sz="1800">
                  <a:latin typeface="Arial" panose="020B0604020202020204" pitchFamily="34" charset="0"/>
                </a:endParaRPr>
              </a:p>
            </p:txBody>
          </p:sp>
          <p:sp>
            <p:nvSpPr>
              <p:cNvPr id="48151" name="Rectangle 25">
                <a:extLst>
                  <a:ext uri="{FF2B5EF4-FFF2-40B4-BE49-F238E27FC236}">
                    <a16:creationId xmlns:a16="http://schemas.microsoft.com/office/drawing/2014/main" id="{202BC96A-4C3C-A436-489F-90B1A84427C3}"/>
                  </a:ext>
                </a:extLst>
              </p:cNvPr>
              <p:cNvSpPr>
                <a:spLocks noChangeArrowheads="1"/>
              </p:cNvSpPr>
              <p:nvPr/>
            </p:nvSpPr>
            <p:spPr bwMode="auto">
              <a:xfrm>
                <a:off x="733" y="1280"/>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4</a:t>
                </a:r>
                <a:endParaRPr lang="en-US" altLang="en-US" sz="1800">
                  <a:latin typeface="Arial" panose="020B0604020202020204" pitchFamily="34" charset="0"/>
                </a:endParaRPr>
              </a:p>
            </p:txBody>
          </p:sp>
          <p:sp>
            <p:nvSpPr>
              <p:cNvPr id="48152" name="Rectangle 26">
                <a:extLst>
                  <a:ext uri="{FF2B5EF4-FFF2-40B4-BE49-F238E27FC236}">
                    <a16:creationId xmlns:a16="http://schemas.microsoft.com/office/drawing/2014/main" id="{721F47F3-B3D1-F4DA-A7C2-BE91992012A4}"/>
                  </a:ext>
                </a:extLst>
              </p:cNvPr>
              <p:cNvSpPr>
                <a:spLocks noChangeArrowheads="1"/>
              </p:cNvSpPr>
              <p:nvPr/>
            </p:nvSpPr>
            <p:spPr bwMode="auto">
              <a:xfrm>
                <a:off x="813" y="182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a:t>
                </a:r>
                <a:endParaRPr lang="en-US" altLang="en-US" sz="1800">
                  <a:latin typeface="Arial" panose="020B0604020202020204" pitchFamily="34" charset="0"/>
                </a:endParaRPr>
              </a:p>
            </p:txBody>
          </p:sp>
          <p:sp>
            <p:nvSpPr>
              <p:cNvPr id="48153" name="Rectangle 27">
                <a:extLst>
                  <a:ext uri="{FF2B5EF4-FFF2-40B4-BE49-F238E27FC236}">
                    <a16:creationId xmlns:a16="http://schemas.microsoft.com/office/drawing/2014/main" id="{A0DBF3E5-65F1-85FA-4A46-248BDD752BC4}"/>
                  </a:ext>
                </a:extLst>
              </p:cNvPr>
              <p:cNvSpPr>
                <a:spLocks noChangeArrowheads="1"/>
              </p:cNvSpPr>
              <p:nvPr/>
            </p:nvSpPr>
            <p:spPr bwMode="auto">
              <a:xfrm>
                <a:off x="813" y="237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a:t>
                </a:r>
                <a:endParaRPr lang="en-US" altLang="en-US" sz="1800">
                  <a:latin typeface="Arial" panose="020B0604020202020204" pitchFamily="34" charset="0"/>
                </a:endParaRPr>
              </a:p>
            </p:txBody>
          </p:sp>
          <p:sp>
            <p:nvSpPr>
              <p:cNvPr id="48154" name="Rectangle 28">
                <a:extLst>
                  <a:ext uri="{FF2B5EF4-FFF2-40B4-BE49-F238E27FC236}">
                    <a16:creationId xmlns:a16="http://schemas.microsoft.com/office/drawing/2014/main" id="{B97D4756-74A5-4F85-064E-DD954020C624}"/>
                  </a:ext>
                </a:extLst>
              </p:cNvPr>
              <p:cNvSpPr>
                <a:spLocks noChangeArrowheads="1"/>
              </p:cNvSpPr>
              <p:nvPr/>
            </p:nvSpPr>
            <p:spPr bwMode="auto">
              <a:xfrm>
                <a:off x="813" y="291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a:t>
                </a:r>
                <a:endParaRPr lang="en-US" altLang="en-US" sz="1800">
                  <a:latin typeface="Arial" panose="020B0604020202020204" pitchFamily="34" charset="0"/>
                </a:endParaRPr>
              </a:p>
            </p:txBody>
          </p:sp>
          <p:sp>
            <p:nvSpPr>
              <p:cNvPr id="48155" name="Line 29">
                <a:extLst>
                  <a:ext uri="{FF2B5EF4-FFF2-40B4-BE49-F238E27FC236}">
                    <a16:creationId xmlns:a16="http://schemas.microsoft.com/office/drawing/2014/main" id="{52A2A09C-DF57-75BE-49E3-5C06323FCBBB}"/>
                  </a:ext>
                </a:extLst>
              </p:cNvPr>
              <p:cNvSpPr>
                <a:spLocks noChangeShapeType="1"/>
              </p:cNvSpPr>
              <p:nvPr/>
            </p:nvSpPr>
            <p:spPr bwMode="auto">
              <a:xfrm>
                <a:off x="912" y="1366"/>
                <a:ext cx="8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56" name="Line 30">
                <a:extLst>
                  <a:ext uri="{FF2B5EF4-FFF2-40B4-BE49-F238E27FC236}">
                    <a16:creationId xmlns:a16="http://schemas.microsoft.com/office/drawing/2014/main" id="{3F0F4C13-1AC1-89E6-3617-8A46B2E84315}"/>
                  </a:ext>
                </a:extLst>
              </p:cNvPr>
              <p:cNvSpPr>
                <a:spLocks noChangeShapeType="1"/>
              </p:cNvSpPr>
              <p:nvPr/>
            </p:nvSpPr>
            <p:spPr bwMode="auto">
              <a:xfrm>
                <a:off x="912" y="1912"/>
                <a:ext cx="8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57" name="Line 31">
                <a:extLst>
                  <a:ext uri="{FF2B5EF4-FFF2-40B4-BE49-F238E27FC236}">
                    <a16:creationId xmlns:a16="http://schemas.microsoft.com/office/drawing/2014/main" id="{4FFC3830-5256-D624-7541-7C7BD977A0B9}"/>
                  </a:ext>
                </a:extLst>
              </p:cNvPr>
              <p:cNvSpPr>
                <a:spLocks noChangeShapeType="1"/>
              </p:cNvSpPr>
              <p:nvPr/>
            </p:nvSpPr>
            <p:spPr bwMode="auto">
              <a:xfrm>
                <a:off x="912" y="2459"/>
                <a:ext cx="8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58" name="Line 32">
                <a:extLst>
                  <a:ext uri="{FF2B5EF4-FFF2-40B4-BE49-F238E27FC236}">
                    <a16:creationId xmlns:a16="http://schemas.microsoft.com/office/drawing/2014/main" id="{02A340E8-3A32-EDFD-5310-7B69DEA1DB61}"/>
                  </a:ext>
                </a:extLst>
              </p:cNvPr>
              <p:cNvSpPr>
                <a:spLocks noChangeShapeType="1"/>
              </p:cNvSpPr>
              <p:nvPr/>
            </p:nvSpPr>
            <p:spPr bwMode="auto">
              <a:xfrm>
                <a:off x="912" y="3008"/>
                <a:ext cx="8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59" name="Line 33">
                <a:extLst>
                  <a:ext uri="{FF2B5EF4-FFF2-40B4-BE49-F238E27FC236}">
                    <a16:creationId xmlns:a16="http://schemas.microsoft.com/office/drawing/2014/main" id="{501B4692-CE3F-3232-C6A0-234E68BEBBCA}"/>
                  </a:ext>
                </a:extLst>
              </p:cNvPr>
              <p:cNvSpPr>
                <a:spLocks noChangeShapeType="1"/>
              </p:cNvSpPr>
              <p:nvPr/>
            </p:nvSpPr>
            <p:spPr bwMode="auto">
              <a:xfrm>
                <a:off x="2768" y="3562"/>
                <a:ext cx="1" cy="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60" name="Line 34">
                <a:extLst>
                  <a:ext uri="{FF2B5EF4-FFF2-40B4-BE49-F238E27FC236}">
                    <a16:creationId xmlns:a16="http://schemas.microsoft.com/office/drawing/2014/main" id="{A329C28C-5BCD-FF31-A40C-69DB67C66214}"/>
                  </a:ext>
                </a:extLst>
              </p:cNvPr>
              <p:cNvSpPr>
                <a:spLocks noChangeShapeType="1"/>
              </p:cNvSpPr>
              <p:nvPr/>
            </p:nvSpPr>
            <p:spPr bwMode="auto">
              <a:xfrm>
                <a:off x="1594" y="3562"/>
                <a:ext cx="1" cy="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61" name="Line 35">
                <a:extLst>
                  <a:ext uri="{FF2B5EF4-FFF2-40B4-BE49-F238E27FC236}">
                    <a16:creationId xmlns:a16="http://schemas.microsoft.com/office/drawing/2014/main" id="{E148D322-CDBD-84D0-938B-DA5BB73241E1}"/>
                  </a:ext>
                </a:extLst>
              </p:cNvPr>
              <p:cNvSpPr>
                <a:spLocks noChangeShapeType="1"/>
              </p:cNvSpPr>
              <p:nvPr/>
            </p:nvSpPr>
            <p:spPr bwMode="auto">
              <a:xfrm>
                <a:off x="3558" y="3562"/>
                <a:ext cx="1" cy="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62" name="Rectangle 36">
                <a:extLst>
                  <a:ext uri="{FF2B5EF4-FFF2-40B4-BE49-F238E27FC236}">
                    <a16:creationId xmlns:a16="http://schemas.microsoft.com/office/drawing/2014/main" id="{46195C79-865E-87F1-549C-FB7092930B95}"/>
                  </a:ext>
                </a:extLst>
              </p:cNvPr>
              <p:cNvSpPr>
                <a:spLocks noChangeArrowheads="1"/>
              </p:cNvSpPr>
              <p:nvPr/>
            </p:nvSpPr>
            <p:spPr bwMode="auto">
              <a:xfrm>
                <a:off x="1512" y="3635"/>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a:t>
                </a:r>
                <a:endParaRPr lang="en-US" altLang="en-US" sz="1800">
                  <a:latin typeface="Arial" panose="020B0604020202020204" pitchFamily="34" charset="0"/>
                </a:endParaRPr>
              </a:p>
            </p:txBody>
          </p:sp>
          <p:sp>
            <p:nvSpPr>
              <p:cNvPr id="48163" name="Rectangle 37">
                <a:extLst>
                  <a:ext uri="{FF2B5EF4-FFF2-40B4-BE49-F238E27FC236}">
                    <a16:creationId xmlns:a16="http://schemas.microsoft.com/office/drawing/2014/main" id="{DC67403C-4795-7BF4-39EF-EBA935DABEBD}"/>
                  </a:ext>
                </a:extLst>
              </p:cNvPr>
              <p:cNvSpPr>
                <a:spLocks noChangeArrowheads="1"/>
              </p:cNvSpPr>
              <p:nvPr/>
            </p:nvSpPr>
            <p:spPr bwMode="auto">
              <a:xfrm>
                <a:off x="2687" y="3635"/>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90</a:t>
                </a:r>
                <a:endParaRPr lang="en-US" altLang="en-US" sz="1800">
                  <a:latin typeface="Arial" panose="020B0604020202020204" pitchFamily="34" charset="0"/>
                </a:endParaRPr>
              </a:p>
            </p:txBody>
          </p:sp>
          <p:sp>
            <p:nvSpPr>
              <p:cNvPr id="48164" name="Rectangle 38">
                <a:extLst>
                  <a:ext uri="{FF2B5EF4-FFF2-40B4-BE49-F238E27FC236}">
                    <a16:creationId xmlns:a16="http://schemas.microsoft.com/office/drawing/2014/main" id="{C2545D50-3C7A-629D-1093-935F0A6AC0CB}"/>
                  </a:ext>
                </a:extLst>
              </p:cNvPr>
              <p:cNvSpPr>
                <a:spLocks noChangeArrowheads="1"/>
              </p:cNvSpPr>
              <p:nvPr/>
            </p:nvSpPr>
            <p:spPr bwMode="auto">
              <a:xfrm>
                <a:off x="3436" y="3635"/>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130</a:t>
                </a:r>
                <a:endParaRPr lang="en-US" altLang="en-US" sz="1800">
                  <a:latin typeface="Arial" panose="020B0604020202020204" pitchFamily="34" charset="0"/>
                </a:endParaRPr>
              </a:p>
            </p:txBody>
          </p:sp>
          <p:sp>
            <p:nvSpPr>
              <p:cNvPr id="48165" name="Rectangle 39">
                <a:extLst>
                  <a:ext uri="{FF2B5EF4-FFF2-40B4-BE49-F238E27FC236}">
                    <a16:creationId xmlns:a16="http://schemas.microsoft.com/office/drawing/2014/main" id="{0C084C04-1C7F-1456-EA1E-168915324798}"/>
                  </a:ext>
                </a:extLst>
              </p:cNvPr>
              <p:cNvSpPr>
                <a:spLocks noChangeArrowheads="1"/>
              </p:cNvSpPr>
              <p:nvPr/>
            </p:nvSpPr>
            <p:spPr bwMode="auto">
              <a:xfrm>
                <a:off x="4068" y="3635"/>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161</a:t>
                </a:r>
                <a:endParaRPr lang="en-US" altLang="en-US" sz="1800">
                  <a:latin typeface="Arial" panose="020B0604020202020204" pitchFamily="34" charset="0"/>
                </a:endParaRPr>
              </a:p>
            </p:txBody>
          </p:sp>
          <p:sp>
            <p:nvSpPr>
              <p:cNvPr id="48166" name="Line 40">
                <a:extLst>
                  <a:ext uri="{FF2B5EF4-FFF2-40B4-BE49-F238E27FC236}">
                    <a16:creationId xmlns:a16="http://schemas.microsoft.com/office/drawing/2014/main" id="{8FA34D8A-1C50-EB10-D155-E36FF0717FB8}"/>
                  </a:ext>
                </a:extLst>
              </p:cNvPr>
              <p:cNvSpPr>
                <a:spLocks noChangeShapeType="1"/>
              </p:cNvSpPr>
              <p:nvPr/>
            </p:nvSpPr>
            <p:spPr bwMode="auto">
              <a:xfrm>
                <a:off x="4187" y="3562"/>
                <a:ext cx="1" cy="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67" name="Line 41">
                <a:extLst>
                  <a:ext uri="{FF2B5EF4-FFF2-40B4-BE49-F238E27FC236}">
                    <a16:creationId xmlns:a16="http://schemas.microsoft.com/office/drawing/2014/main" id="{3357043F-3671-A31B-B7F0-75790E47FAE4}"/>
                  </a:ext>
                </a:extLst>
              </p:cNvPr>
              <p:cNvSpPr>
                <a:spLocks noChangeShapeType="1"/>
              </p:cNvSpPr>
              <p:nvPr/>
            </p:nvSpPr>
            <p:spPr bwMode="auto">
              <a:xfrm>
                <a:off x="4816" y="3562"/>
                <a:ext cx="1" cy="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48168" name="Rectangle 42">
                <a:extLst>
                  <a:ext uri="{FF2B5EF4-FFF2-40B4-BE49-F238E27FC236}">
                    <a16:creationId xmlns:a16="http://schemas.microsoft.com/office/drawing/2014/main" id="{79C9029F-43B5-0FDC-D3C2-67CD03984E47}"/>
                  </a:ext>
                </a:extLst>
              </p:cNvPr>
              <p:cNvSpPr>
                <a:spLocks noChangeArrowheads="1"/>
              </p:cNvSpPr>
              <p:nvPr/>
            </p:nvSpPr>
            <p:spPr bwMode="auto">
              <a:xfrm>
                <a:off x="4696" y="3635"/>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196</a:t>
                </a:r>
                <a:endParaRPr lang="en-US" altLang="en-US" sz="1800">
                  <a:latin typeface="Arial" panose="020B0604020202020204" pitchFamily="34" charset="0"/>
                </a:endParaRPr>
              </a:p>
            </p:txBody>
          </p:sp>
          <p:sp>
            <p:nvSpPr>
              <p:cNvPr id="48169" name="Rectangle 43">
                <a:extLst>
                  <a:ext uri="{FF2B5EF4-FFF2-40B4-BE49-F238E27FC236}">
                    <a16:creationId xmlns:a16="http://schemas.microsoft.com/office/drawing/2014/main" id="{A2F0FAA6-5999-1F79-6287-98A43D2EBC9B}"/>
                  </a:ext>
                </a:extLst>
              </p:cNvPr>
              <p:cNvSpPr>
                <a:spLocks noChangeArrowheads="1"/>
              </p:cNvSpPr>
              <p:nvPr/>
            </p:nvSpPr>
            <p:spPr bwMode="auto">
              <a:xfrm>
                <a:off x="870" y="364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0</a:t>
                </a:r>
                <a:endParaRPr lang="en-US" altLang="en-US" sz="1800">
                  <a:latin typeface="Arial" panose="020B0604020202020204" pitchFamily="34" charset="0"/>
                </a:endParaRPr>
              </a:p>
            </p:txBody>
          </p:sp>
        </p:grpSp>
      </p:grpSp>
      <p:sp>
        <p:nvSpPr>
          <p:cNvPr id="38956" name="Line 44">
            <a:extLst>
              <a:ext uri="{FF2B5EF4-FFF2-40B4-BE49-F238E27FC236}">
                <a16:creationId xmlns:a16="http://schemas.microsoft.com/office/drawing/2014/main" id="{F30D17CC-38EF-55FB-EF30-F955A20F99BE}"/>
              </a:ext>
            </a:extLst>
          </p:cNvPr>
          <p:cNvSpPr>
            <a:spLocks noChangeShapeType="1"/>
          </p:cNvSpPr>
          <p:nvPr/>
        </p:nvSpPr>
        <p:spPr bwMode="auto">
          <a:xfrm flipH="1">
            <a:off x="3122613" y="3902075"/>
            <a:ext cx="4572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38957" name="Line 45">
            <a:extLst>
              <a:ext uri="{FF2B5EF4-FFF2-40B4-BE49-F238E27FC236}">
                <a16:creationId xmlns:a16="http://schemas.microsoft.com/office/drawing/2014/main" id="{7A07C2C0-377A-13ED-99E0-BE1CCC70D997}"/>
              </a:ext>
            </a:extLst>
          </p:cNvPr>
          <p:cNvSpPr>
            <a:spLocks noChangeShapeType="1"/>
          </p:cNvSpPr>
          <p:nvPr/>
        </p:nvSpPr>
        <p:spPr bwMode="auto">
          <a:xfrm>
            <a:off x="3581400" y="3886200"/>
            <a:ext cx="0" cy="17526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38958" name="Line 46">
            <a:extLst>
              <a:ext uri="{FF2B5EF4-FFF2-40B4-BE49-F238E27FC236}">
                <a16:creationId xmlns:a16="http://schemas.microsoft.com/office/drawing/2014/main" id="{5F833322-41FB-B8DE-1FEE-94FD39010DC0}"/>
              </a:ext>
            </a:extLst>
          </p:cNvPr>
          <p:cNvSpPr>
            <a:spLocks noChangeShapeType="1"/>
          </p:cNvSpPr>
          <p:nvPr/>
        </p:nvSpPr>
        <p:spPr bwMode="auto">
          <a:xfrm>
            <a:off x="3124200" y="4776788"/>
            <a:ext cx="182880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38959" name="Line 47">
            <a:extLst>
              <a:ext uri="{FF2B5EF4-FFF2-40B4-BE49-F238E27FC236}">
                <a16:creationId xmlns:a16="http://schemas.microsoft.com/office/drawing/2014/main" id="{E1781D5A-DCB0-668B-8DDD-C8A26F4CF117}"/>
              </a:ext>
            </a:extLst>
          </p:cNvPr>
          <p:cNvSpPr>
            <a:spLocks noChangeShapeType="1"/>
          </p:cNvSpPr>
          <p:nvPr/>
        </p:nvSpPr>
        <p:spPr bwMode="auto">
          <a:xfrm>
            <a:off x="4953000" y="4800600"/>
            <a:ext cx="0" cy="8382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932"/>
                                        </p:tgtEl>
                                        <p:attrNameLst>
                                          <p:attrName>style.visibility</p:attrName>
                                        </p:attrNameLst>
                                      </p:cBhvr>
                                      <p:to>
                                        <p:strVal val="visible"/>
                                      </p:to>
                                    </p:set>
                                    <p:animEffect transition="in" filter="wipe(left)">
                                      <p:cBhvr>
                                        <p:cTn id="7" dur="500"/>
                                        <p:tgtEl>
                                          <p:spTgt spid="389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8927"/>
                                        </p:tgtEl>
                                        <p:attrNameLst>
                                          <p:attrName>style.visibility</p:attrName>
                                        </p:attrNameLst>
                                      </p:cBhvr>
                                      <p:to>
                                        <p:strVal val="visible"/>
                                      </p:to>
                                    </p:set>
                                    <p:animEffect transition="in" filter="wipe(left)">
                                      <p:cBhvr>
                                        <p:cTn id="12" dur="500"/>
                                        <p:tgtEl>
                                          <p:spTgt spid="38927"/>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0"/>
                                          </p:stCondLst>
                                        </p:cTn>
                                        <p:tgtEl>
                                          <p:spTgt spid="3892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42" fill="hold" nodeType="clickEffect">
                                  <p:stCondLst>
                                    <p:cond delay="0"/>
                                  </p:stCondLst>
                                  <p:childTnLst>
                                    <p:set>
                                      <p:cBhvr>
                                        <p:cTn id="19" dur="1" fill="hold">
                                          <p:stCondLst>
                                            <p:cond delay="0"/>
                                          </p:stCondLst>
                                        </p:cTn>
                                        <p:tgtEl>
                                          <p:spTgt spid="38923"/>
                                        </p:tgtEl>
                                        <p:attrNameLst>
                                          <p:attrName>style.visibility</p:attrName>
                                        </p:attrNameLst>
                                      </p:cBhvr>
                                      <p:to>
                                        <p:strVal val="visible"/>
                                      </p:to>
                                    </p:set>
                                    <p:animEffect transition="in" filter="barn(outHorizontal)">
                                      <p:cBhvr>
                                        <p:cTn id="20" dur="500"/>
                                        <p:tgtEl>
                                          <p:spTgt spid="38923"/>
                                        </p:tgtEl>
                                      </p:cBhvr>
                                    </p:animEffect>
                                  </p:childTnLst>
                                </p:cTn>
                              </p:par>
                              <p:par>
                                <p:cTn id="21" presetID="1" presetClass="entr" presetSubtype="0" fill="hold" nodeType="withEffect">
                                  <p:stCondLst>
                                    <p:cond delay="0"/>
                                  </p:stCondLst>
                                  <p:childTnLst>
                                    <p:set>
                                      <p:cBhvr>
                                        <p:cTn id="22" dur="1" fill="hold">
                                          <p:stCondLst>
                                            <p:cond delay="0"/>
                                          </p:stCondLst>
                                        </p:cTn>
                                        <p:tgtEl>
                                          <p:spTgt spid="38924"/>
                                        </p:tgtEl>
                                        <p:attrNameLst>
                                          <p:attrName>style.visibility</p:attrName>
                                        </p:attrNameLst>
                                      </p:cBhvr>
                                      <p:to>
                                        <p:strVal val="visible"/>
                                      </p:to>
                                    </p:se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38926"/>
                                        </p:tgtEl>
                                        <p:attrNameLst>
                                          <p:attrName>style.visibility</p:attrName>
                                        </p:attrNameLst>
                                      </p:cBhvr>
                                      <p:to>
                                        <p:strVal val="visible"/>
                                      </p:to>
                                    </p:set>
                                    <p:animEffect transition="in" filter="wipe(left)">
                                      <p:cBhvr>
                                        <p:cTn id="26" dur="500"/>
                                        <p:tgtEl>
                                          <p:spTgt spid="38926"/>
                                        </p:tgtEl>
                                      </p:cBhvr>
                                    </p:animEffect>
                                  </p:childTnLst>
                                </p:cTn>
                              </p:par>
                            </p:childTnLst>
                          </p:cTn>
                        </p:par>
                        <p:par>
                          <p:cTn id="27" fill="hold" nodeType="afterGroup">
                            <p:stCondLst>
                              <p:cond delay="1000"/>
                            </p:stCondLst>
                            <p:childTnLst>
                              <p:par>
                                <p:cTn id="28" presetID="1" presetClass="entr" presetSubtype="0" fill="hold" nodeType="afterEffect">
                                  <p:stCondLst>
                                    <p:cond delay="0"/>
                                  </p:stCondLst>
                                  <p:childTnLst>
                                    <p:set>
                                      <p:cBhvr>
                                        <p:cTn id="29" dur="1" fill="hold">
                                          <p:stCondLst>
                                            <p:cond delay="0"/>
                                          </p:stCondLst>
                                        </p:cTn>
                                        <p:tgtEl>
                                          <p:spTgt spid="3892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8925"/>
                                        </p:tgtEl>
                                        <p:attrNameLst>
                                          <p:attrName>style.visibility</p:attrName>
                                        </p:attrNameLst>
                                      </p:cBhvr>
                                      <p:to>
                                        <p:strVal val="visible"/>
                                      </p:to>
                                    </p:set>
                                    <p:animEffect transition="in" filter="wipe(left)">
                                      <p:cBhvr>
                                        <p:cTn id="34" dur="500"/>
                                        <p:tgtEl>
                                          <p:spTgt spid="38925"/>
                                        </p:tgtEl>
                                      </p:cBhvr>
                                    </p:animEffec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0"/>
                                          </p:stCondLst>
                                        </p:cTn>
                                        <p:tgtEl>
                                          <p:spTgt spid="38920"/>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300"/>
                                  </p:stCondLst>
                                  <p:childTnLst>
                                    <p:set>
                                      <p:cBhvr>
                                        <p:cTn id="40" dur="1" fill="hold">
                                          <p:stCondLst>
                                            <p:cond delay="0"/>
                                          </p:stCondLst>
                                        </p:cTn>
                                        <p:tgtEl>
                                          <p:spTgt spid="38930"/>
                                        </p:tgtEl>
                                        <p:attrNameLst>
                                          <p:attrName>style.visibility</p:attrName>
                                        </p:attrNameLst>
                                      </p:cBhvr>
                                      <p:to>
                                        <p:strVal val="visible"/>
                                      </p:to>
                                    </p:set>
                                  </p:childTnLst>
                                </p:cTn>
                              </p:par>
                            </p:childTnLst>
                          </p:cTn>
                        </p:par>
                        <p:par>
                          <p:cTn id="41" fill="hold" nodeType="afterGroup">
                            <p:stCondLst>
                              <p:cond delay="800"/>
                            </p:stCondLst>
                            <p:childTnLst>
                              <p:par>
                                <p:cTn id="42" presetID="1" presetClass="entr" presetSubtype="0" fill="hold" nodeType="afterEffect">
                                  <p:stCondLst>
                                    <p:cond delay="300"/>
                                  </p:stCondLst>
                                  <p:childTnLst>
                                    <p:set>
                                      <p:cBhvr>
                                        <p:cTn id="43" dur="1" fill="hold">
                                          <p:stCondLst>
                                            <p:cond delay="0"/>
                                          </p:stCondLst>
                                        </p:cTn>
                                        <p:tgtEl>
                                          <p:spTgt spid="38931"/>
                                        </p:tgtEl>
                                        <p:attrNameLst>
                                          <p:attrName>style.visibility</p:attrName>
                                        </p:attrNameLst>
                                      </p:cBhvr>
                                      <p:to>
                                        <p:strVal val="visible"/>
                                      </p:to>
                                    </p:set>
                                  </p:childTnLst>
                                </p:cTn>
                              </p:par>
                            </p:childTnLst>
                          </p:cTn>
                        </p:par>
                        <p:par>
                          <p:cTn id="44" fill="hold" nodeType="afterGroup">
                            <p:stCondLst>
                              <p:cond delay="1100"/>
                            </p:stCondLst>
                            <p:childTnLst>
                              <p:par>
                                <p:cTn id="45" presetID="1" presetClass="entr" presetSubtype="0" fill="hold" nodeType="afterEffect">
                                  <p:stCondLst>
                                    <p:cond delay="300"/>
                                  </p:stCondLst>
                                  <p:childTnLst>
                                    <p:set>
                                      <p:cBhvr>
                                        <p:cTn id="46" dur="1" fill="hold">
                                          <p:stCondLst>
                                            <p:cond delay="0"/>
                                          </p:stCondLst>
                                        </p:cTn>
                                        <p:tgtEl>
                                          <p:spTgt spid="38928"/>
                                        </p:tgtEl>
                                        <p:attrNameLst>
                                          <p:attrName>style.visibility</p:attrName>
                                        </p:attrNameLst>
                                      </p:cBhvr>
                                      <p:to>
                                        <p:strVal val="visible"/>
                                      </p:to>
                                    </p:set>
                                  </p:childTnLst>
                                </p:cTn>
                              </p:par>
                            </p:childTnLst>
                          </p:cTn>
                        </p:par>
                        <p:par>
                          <p:cTn id="47" fill="hold" nodeType="afterGroup">
                            <p:stCondLst>
                              <p:cond delay="1400"/>
                            </p:stCondLst>
                            <p:childTnLst>
                              <p:par>
                                <p:cTn id="48" presetID="1" presetClass="entr" presetSubtype="0" fill="hold" nodeType="afterEffect">
                                  <p:stCondLst>
                                    <p:cond delay="300"/>
                                  </p:stCondLst>
                                  <p:childTnLst>
                                    <p:set>
                                      <p:cBhvr>
                                        <p:cTn id="49" dur="1" fill="hold">
                                          <p:stCondLst>
                                            <p:cond delay="0"/>
                                          </p:stCondLst>
                                        </p:cTn>
                                        <p:tgtEl>
                                          <p:spTgt spid="3892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2" fill="hold" nodeType="clickEffect">
                                  <p:stCondLst>
                                    <p:cond delay="0"/>
                                  </p:stCondLst>
                                  <p:childTnLst>
                                    <p:set>
                                      <p:cBhvr>
                                        <p:cTn id="53" dur="1" fill="hold">
                                          <p:stCondLst>
                                            <p:cond delay="0"/>
                                          </p:stCondLst>
                                        </p:cTn>
                                        <p:tgtEl>
                                          <p:spTgt spid="38956"/>
                                        </p:tgtEl>
                                        <p:attrNameLst>
                                          <p:attrName>style.visibility</p:attrName>
                                        </p:attrNameLst>
                                      </p:cBhvr>
                                      <p:to>
                                        <p:strVal val="visible"/>
                                      </p:to>
                                    </p:set>
                                    <p:animEffect transition="in" filter="wipe(right)">
                                      <p:cBhvr>
                                        <p:cTn id="54" dur="500"/>
                                        <p:tgtEl>
                                          <p:spTgt spid="38956"/>
                                        </p:tgtEl>
                                      </p:cBhvr>
                                    </p:animEffect>
                                  </p:childTnLst>
                                </p:cTn>
                              </p:par>
                              <p:par>
                                <p:cTn id="55" presetID="22" presetClass="entr" presetSubtype="1" fill="hold" nodeType="withEffect">
                                  <p:stCondLst>
                                    <p:cond delay="0"/>
                                  </p:stCondLst>
                                  <p:childTnLst>
                                    <p:set>
                                      <p:cBhvr>
                                        <p:cTn id="56" dur="1" fill="hold">
                                          <p:stCondLst>
                                            <p:cond delay="0"/>
                                          </p:stCondLst>
                                        </p:cTn>
                                        <p:tgtEl>
                                          <p:spTgt spid="38957"/>
                                        </p:tgtEl>
                                        <p:attrNameLst>
                                          <p:attrName>style.visibility</p:attrName>
                                        </p:attrNameLst>
                                      </p:cBhvr>
                                      <p:to>
                                        <p:strVal val="visible"/>
                                      </p:to>
                                    </p:set>
                                    <p:animEffect transition="in" filter="wipe(up)">
                                      <p:cBhvr>
                                        <p:cTn id="57" dur="500"/>
                                        <p:tgtEl>
                                          <p:spTgt spid="38957"/>
                                        </p:tgtEl>
                                      </p:cBhvr>
                                    </p:animEffect>
                                  </p:childTnLst>
                                </p:cTn>
                              </p:par>
                              <p:par>
                                <p:cTn id="58" presetID="22" presetClass="entr" presetSubtype="2" fill="hold" nodeType="withEffect">
                                  <p:stCondLst>
                                    <p:cond delay="0"/>
                                  </p:stCondLst>
                                  <p:childTnLst>
                                    <p:set>
                                      <p:cBhvr>
                                        <p:cTn id="59" dur="1" fill="hold">
                                          <p:stCondLst>
                                            <p:cond delay="0"/>
                                          </p:stCondLst>
                                        </p:cTn>
                                        <p:tgtEl>
                                          <p:spTgt spid="38958"/>
                                        </p:tgtEl>
                                        <p:attrNameLst>
                                          <p:attrName>style.visibility</p:attrName>
                                        </p:attrNameLst>
                                      </p:cBhvr>
                                      <p:to>
                                        <p:strVal val="visible"/>
                                      </p:to>
                                    </p:set>
                                    <p:animEffect transition="in" filter="wipe(right)">
                                      <p:cBhvr>
                                        <p:cTn id="60" dur="500"/>
                                        <p:tgtEl>
                                          <p:spTgt spid="38958"/>
                                        </p:tgtEl>
                                      </p:cBhvr>
                                    </p:animEffect>
                                  </p:childTnLst>
                                </p:cTn>
                              </p:par>
                              <p:par>
                                <p:cTn id="61" presetID="22" presetClass="entr" presetSubtype="1" fill="hold" nodeType="withEffect">
                                  <p:stCondLst>
                                    <p:cond delay="0"/>
                                  </p:stCondLst>
                                  <p:childTnLst>
                                    <p:set>
                                      <p:cBhvr>
                                        <p:cTn id="62" dur="1" fill="hold">
                                          <p:stCondLst>
                                            <p:cond delay="0"/>
                                          </p:stCondLst>
                                        </p:cTn>
                                        <p:tgtEl>
                                          <p:spTgt spid="38959"/>
                                        </p:tgtEl>
                                        <p:attrNameLst>
                                          <p:attrName>style.visibility</p:attrName>
                                        </p:attrNameLst>
                                      </p:cBhvr>
                                      <p:to>
                                        <p:strVal val="visible"/>
                                      </p:to>
                                    </p:set>
                                    <p:animEffect transition="in" filter="wipe(up)">
                                      <p:cBhvr>
                                        <p:cTn id="63" dur="500"/>
                                        <p:tgtEl>
                                          <p:spTgt spid="38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p:bldP spid="38921" grpId="0"/>
      <p:bldP spid="38922" grpId="0"/>
      <p:bldP spid="3892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158" name="Rectangle 4915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160" name="Rectangle 4915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162" name="Rectangle 4916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153" name="Rectangle 2">
            <a:extLst>
              <a:ext uri="{FF2B5EF4-FFF2-40B4-BE49-F238E27FC236}">
                <a16:creationId xmlns:a16="http://schemas.microsoft.com/office/drawing/2014/main" id="{54E1013F-9A05-563C-2D7F-C348230463F7}"/>
              </a:ext>
            </a:extLst>
          </p:cNvPr>
          <p:cNvSpPr>
            <a:spLocks noGrp="1" noChangeArrowheads="1"/>
          </p:cNvSpPr>
          <p:nvPr>
            <p:ph type="title"/>
          </p:nvPr>
        </p:nvSpPr>
        <p:spPr>
          <a:xfrm>
            <a:off x="1115568" y="548640"/>
            <a:ext cx="10168128" cy="1179576"/>
          </a:xfrm>
        </p:spPr>
        <p:txBody>
          <a:bodyPr>
            <a:normAutofit fontScale="90000"/>
          </a:bodyPr>
          <a:lstStyle/>
          <a:p>
            <a:pPr eaLnBrk="1" hangingPunct="1"/>
            <a:r>
              <a:rPr lang="en-US" altLang="en-US" sz="4000" b="1" dirty="0">
                <a:latin typeface="Times New Roman" panose="02020603050405020304" pitchFamily="18" charset="0"/>
                <a:cs typeface="Times New Roman" panose="02020603050405020304" pitchFamily="18" charset="0"/>
              </a:rPr>
              <a:t>Explaining the Shape of the Marginal Cost Curve</a:t>
            </a:r>
          </a:p>
        </p:txBody>
      </p:sp>
      <p:sp>
        <p:nvSpPr>
          <p:cNvPr id="49164" name="Rectangle 4916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939" name="Rectangle 3">
            <a:extLst>
              <a:ext uri="{FF2B5EF4-FFF2-40B4-BE49-F238E27FC236}">
                <a16:creationId xmlns:a16="http://schemas.microsoft.com/office/drawing/2014/main" id="{1E50569F-6F19-B4B4-8D94-52276E337BBD}"/>
              </a:ext>
            </a:extLst>
          </p:cNvPr>
          <p:cNvSpPr>
            <a:spLocks noGrp="1" noChangeArrowheads="1"/>
          </p:cNvSpPr>
          <p:nvPr>
            <p:ph idx="1"/>
          </p:nvPr>
        </p:nvSpPr>
        <p:spPr>
          <a:xfrm>
            <a:off x="727262" y="2481943"/>
            <a:ext cx="10168128" cy="3695020"/>
          </a:xfrm>
        </p:spPr>
        <p:txBody>
          <a:bodyPr rtlCol="0">
            <a:normAutofit/>
          </a:bodyPr>
          <a:lstStyle/>
          <a:p>
            <a:pPr marL="91440" indent="-91440" eaLnBrk="1" fontAlgn="auto" hangingPunct="1">
              <a:spcAft>
                <a:spcPts val="0"/>
              </a:spcAft>
              <a:defRPr/>
            </a:pPr>
            <a:r>
              <a:rPr lang="en-US" altLang="en-US" sz="3200">
                <a:latin typeface="Times New Roman" panose="02020603050405020304" pitchFamily="18" charset="0"/>
                <a:cs typeface="Times New Roman" panose="02020603050405020304" pitchFamily="18" charset="0"/>
              </a:rPr>
              <a:t>When the marginal product of labor (MPL) rises, marginal cost (MC) falls</a:t>
            </a:r>
          </a:p>
          <a:p>
            <a:pPr marL="0" indent="0" eaLnBrk="1" fontAlgn="auto" hangingPunct="1">
              <a:spcAft>
                <a:spcPts val="0"/>
              </a:spcAft>
              <a:buFont typeface="Calibri" panose="020F0502020204030204" pitchFamily="34" charset="0"/>
              <a:buNone/>
              <a:defRPr/>
            </a:pPr>
            <a:endParaRPr lang="en-US" altLang="en-US" sz="3200">
              <a:latin typeface="Times New Roman" panose="02020603050405020304" pitchFamily="18" charset="0"/>
              <a:cs typeface="Times New Roman" panose="02020603050405020304" pitchFamily="18" charset="0"/>
            </a:endParaRPr>
          </a:p>
          <a:p>
            <a:pPr marL="91440" indent="-91440" eaLnBrk="1" fontAlgn="auto" hangingPunct="1">
              <a:spcAft>
                <a:spcPts val="0"/>
              </a:spcAft>
              <a:defRPr/>
            </a:pPr>
            <a:r>
              <a:rPr lang="en-US" altLang="en-US" sz="3200">
                <a:latin typeface="Times New Roman" panose="02020603050405020304" pitchFamily="18" charset="0"/>
                <a:cs typeface="Times New Roman" panose="02020603050405020304" pitchFamily="18" charset="0"/>
              </a:rPr>
              <a:t>Since MPL ordinarily rises and then falls, MC will do the opposite. it will fall first and then rise</a:t>
            </a:r>
          </a:p>
          <a:p>
            <a:pPr marL="91440" indent="-91440" eaLnBrk="1" fontAlgn="auto" hangingPunct="1">
              <a:spcAft>
                <a:spcPts val="0"/>
              </a:spcAft>
              <a:defRPr/>
            </a:pPr>
            <a:endParaRPr lang="en-US" altLang="en-US" sz="3200" b="1">
              <a:latin typeface="Times New Roman" panose="02020603050405020304" pitchFamily="18" charset="0"/>
              <a:cs typeface="Times New Roman" panose="02020603050405020304" pitchFamily="18" charset="0"/>
            </a:endParaRPr>
          </a:p>
          <a:p>
            <a:pPr marL="342900" lvl="1" indent="0" eaLnBrk="1" fontAlgn="auto" hangingPunct="1">
              <a:spcAft>
                <a:spcPts val="0"/>
              </a:spcAft>
              <a:buFont typeface="Calibri" panose="020F0502020204030204" pitchFamily="34" charset="0"/>
              <a:buNone/>
              <a:defRPr/>
            </a:pPr>
            <a:r>
              <a:rPr lang="en-US" altLang="en-US" sz="3200">
                <a:latin typeface="Times New Roman" panose="02020603050405020304" pitchFamily="18" charset="0"/>
                <a:cs typeface="Times New Roman" panose="02020603050405020304" pitchFamily="18" charset="0"/>
              </a:rPr>
              <a:t>Thus, the MC curve is U-shaped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3" descr="Chart, line chart&#10;&#10;Description automatically generated">
            <a:extLst>
              <a:ext uri="{FF2B5EF4-FFF2-40B4-BE49-F238E27FC236}">
                <a16:creationId xmlns:a16="http://schemas.microsoft.com/office/drawing/2014/main" id="{D34EEF61-68DE-C5E6-50C3-F3335C90E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57200"/>
            <a:ext cx="8229600" cy="617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07" name="Rectangle 5120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209" name="Rectangle 5120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211" name="Rectangle 5121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01" name="Rectangle 2">
            <a:extLst>
              <a:ext uri="{FF2B5EF4-FFF2-40B4-BE49-F238E27FC236}">
                <a16:creationId xmlns:a16="http://schemas.microsoft.com/office/drawing/2014/main" id="{AC90EEC2-A006-ED45-8A6F-8992563D0FA3}"/>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Average And Marginal Costs</a:t>
            </a:r>
          </a:p>
        </p:txBody>
      </p:sp>
      <p:sp>
        <p:nvSpPr>
          <p:cNvPr id="51213" name="Rectangle 5121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202" name="Rectangle 3">
            <a:extLst>
              <a:ext uri="{FF2B5EF4-FFF2-40B4-BE49-F238E27FC236}">
                <a16:creationId xmlns:a16="http://schemas.microsoft.com/office/drawing/2014/main" id="{9672AE06-5FA8-F99C-FBCF-7E6B88343F79}"/>
              </a:ext>
            </a:extLst>
          </p:cNvPr>
          <p:cNvSpPr>
            <a:spLocks noGrp="1" noChangeArrowheads="1"/>
          </p:cNvSpPr>
          <p:nvPr>
            <p:ph idx="1"/>
          </p:nvPr>
        </p:nvSpPr>
        <p:spPr>
          <a:xfrm>
            <a:off x="602002" y="2256474"/>
            <a:ext cx="11120606" cy="4232008"/>
          </a:xfrm>
        </p:spPr>
        <p:txBody>
          <a:bodyPr>
            <a:normAutofit/>
          </a:bodyPr>
          <a:lstStyle/>
          <a:p>
            <a:pPr eaLnBrk="1" hangingPunct="1"/>
            <a:r>
              <a:rPr lang="en-US" altLang="en-US" sz="2400" b="1">
                <a:latin typeface="Times New Roman" panose="02020603050405020304" pitchFamily="18" charset="0"/>
                <a:cs typeface="Times New Roman" panose="02020603050405020304" pitchFamily="18" charset="0"/>
              </a:rPr>
              <a:t>At low levels of output, the MC curve lies below the AVC and ATC curves</a:t>
            </a:r>
          </a:p>
          <a:p>
            <a:pPr marL="342900" lvl="1" indent="0" eaLnBrk="1" hangingPunct="1">
              <a:buFont typeface="Calibri" panose="020F0502020204030204" pitchFamily="34" charset="0"/>
              <a:buNone/>
            </a:pPr>
            <a:r>
              <a:rPr lang="en-US" altLang="en-US">
                <a:latin typeface="Times New Roman" panose="02020603050405020304" pitchFamily="18" charset="0"/>
                <a:cs typeface="Times New Roman" panose="02020603050405020304" pitchFamily="18" charset="0"/>
              </a:rPr>
              <a:t>These curves will slope downward</a:t>
            </a:r>
          </a:p>
          <a:p>
            <a:pPr eaLnBrk="1" hangingPunct="1"/>
            <a:r>
              <a:rPr lang="en-US" altLang="en-US" sz="2400" b="1">
                <a:latin typeface="Times New Roman" panose="02020603050405020304" pitchFamily="18" charset="0"/>
                <a:cs typeface="Times New Roman" panose="02020603050405020304" pitchFamily="18" charset="0"/>
              </a:rPr>
              <a:t>At higher levels of output, the MC curve will rise above the AVC and ATC curves</a:t>
            </a:r>
          </a:p>
          <a:p>
            <a:pPr marL="342900" lvl="1" indent="0" eaLnBrk="1" hangingPunct="1">
              <a:buFont typeface="Calibri" panose="020F0502020204030204" pitchFamily="34" charset="0"/>
              <a:buNone/>
            </a:pPr>
            <a:r>
              <a:rPr lang="en-US" altLang="en-US">
                <a:latin typeface="Times New Roman" panose="02020603050405020304" pitchFamily="18" charset="0"/>
                <a:cs typeface="Times New Roman" panose="02020603050405020304" pitchFamily="18" charset="0"/>
              </a:rPr>
              <a:t>These curves will slope upward</a:t>
            </a:r>
          </a:p>
          <a:p>
            <a:pPr eaLnBrk="1" hangingPunct="1"/>
            <a:r>
              <a:rPr lang="en-US" altLang="en-US" sz="2400" b="1">
                <a:latin typeface="Times New Roman" panose="02020603050405020304" pitchFamily="18" charset="0"/>
                <a:cs typeface="Times New Roman" panose="02020603050405020304" pitchFamily="18" charset="0"/>
              </a:rPr>
              <a:t>As output increases; the average curves will first slope downward and then slope upward</a:t>
            </a:r>
          </a:p>
          <a:p>
            <a:pPr marL="342900" lvl="1" indent="0" eaLnBrk="1" hangingPunct="1">
              <a:buFont typeface="Calibri" panose="020F0502020204030204" pitchFamily="34" charset="0"/>
              <a:buNone/>
            </a:pPr>
            <a:r>
              <a:rPr lang="en-US" altLang="en-US">
                <a:latin typeface="Times New Roman" panose="02020603050405020304" pitchFamily="18" charset="0"/>
                <a:cs typeface="Times New Roman" panose="02020603050405020304" pitchFamily="18" charset="0"/>
              </a:rPr>
              <a:t>Will have a U-shape</a:t>
            </a:r>
          </a:p>
          <a:p>
            <a:pPr eaLnBrk="1" hangingPunct="1"/>
            <a:r>
              <a:rPr lang="en-US" altLang="en-US" sz="2400" b="1">
                <a:latin typeface="Times New Roman" panose="02020603050405020304" pitchFamily="18" charset="0"/>
                <a:cs typeface="Times New Roman" panose="02020603050405020304" pitchFamily="18" charset="0"/>
              </a:rPr>
              <a:t>MC curve will intersect the minimum points of the AVC and ATC curves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5BD36A43-C5AA-E486-FE11-D689FFA50E97}"/>
              </a:ext>
            </a:extLst>
          </p:cNvPr>
          <p:cNvSpPr>
            <a:spLocks noGrp="1" noChangeArrowheads="1"/>
          </p:cNvSpPr>
          <p:nvPr>
            <p:ph type="title"/>
          </p:nvPr>
        </p:nvSpPr>
        <p:spPr/>
        <p:txBody>
          <a:bodyPr/>
          <a:lstStyle/>
          <a:p>
            <a:pPr eaLnBrk="1" hangingPunct="1"/>
            <a:r>
              <a:rPr lang="en-LK" altLang="en-LK" b="1">
                <a:latin typeface="Times New Roman" panose="02020603050405020304" pitchFamily="18" charset="0"/>
                <a:cs typeface="Times New Roman" panose="02020603050405020304" pitchFamily="18" charset="0"/>
              </a:rPr>
              <a:t>Average and Marginal Costs</a:t>
            </a:r>
          </a:p>
        </p:txBody>
      </p:sp>
      <p:pic>
        <p:nvPicPr>
          <p:cNvPr id="52226" name="Content Placeholder 4" descr="Chart, line chart&#10;&#10;Description automatically generated">
            <a:extLst>
              <a:ext uri="{FF2B5EF4-FFF2-40B4-BE49-F238E27FC236}">
                <a16:creationId xmlns:a16="http://schemas.microsoft.com/office/drawing/2014/main" id="{7BED6575-85DA-D311-08A7-16583D083E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0200" y="1676400"/>
            <a:ext cx="8001000" cy="48768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255" name="Rectangle 5325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3257" name="Rectangle 5325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259" name="Rectangle 5325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49" name="Rectangle 2">
            <a:extLst>
              <a:ext uri="{FF2B5EF4-FFF2-40B4-BE49-F238E27FC236}">
                <a16:creationId xmlns:a16="http://schemas.microsoft.com/office/drawing/2014/main" id="{42B3D5AB-2CA1-2AE3-4688-65B0F6C1C8C3}"/>
              </a:ext>
            </a:extLst>
          </p:cNvPr>
          <p:cNvSpPr>
            <a:spLocks noGrp="1" noChangeArrowheads="1"/>
          </p:cNvSpPr>
          <p:nvPr>
            <p:ph type="title"/>
          </p:nvPr>
        </p:nvSpPr>
        <p:spPr>
          <a:xfrm>
            <a:off x="827470"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Cost Formulas</a:t>
            </a:r>
          </a:p>
        </p:txBody>
      </p:sp>
      <p:sp>
        <p:nvSpPr>
          <p:cNvPr id="53261" name="Rectangle 5326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3250" name="Rectangle 3">
            <a:extLst>
              <a:ext uri="{FF2B5EF4-FFF2-40B4-BE49-F238E27FC236}">
                <a16:creationId xmlns:a16="http://schemas.microsoft.com/office/drawing/2014/main" id="{52537715-1F5B-FAA2-0035-58D568068F6F}"/>
              </a:ext>
            </a:extLst>
          </p:cNvPr>
          <p:cNvSpPr>
            <a:spLocks noGrp="1" noChangeArrowheads="1"/>
          </p:cNvSpPr>
          <p:nvPr>
            <p:ph idx="1"/>
          </p:nvPr>
        </p:nvSpPr>
        <p:spPr>
          <a:xfrm>
            <a:off x="1115568" y="2481943"/>
            <a:ext cx="10168128" cy="3695020"/>
          </a:xfrm>
        </p:spPr>
        <p:txBody>
          <a:bodyPr>
            <a:normAutofit/>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TC = TFC +TVC</a:t>
            </a:r>
          </a:p>
          <a:p>
            <a:pPr eaLnBrk="1" hangingPunct="1"/>
            <a:r>
              <a:rPr lang="en-US" altLang="en-US" sz="3200" b="1" dirty="0">
                <a:latin typeface="Times New Roman" panose="02020603050405020304" pitchFamily="18" charset="0"/>
                <a:cs typeface="Times New Roman" panose="02020603050405020304" pitchFamily="18" charset="0"/>
              </a:rPr>
              <a:t>Dividing both sides of the total cost formula by Q, we get the average cost formula:</a:t>
            </a:r>
          </a:p>
          <a:p>
            <a:pPr lvl="2" eaLnBrk="1" hangingPunct="1">
              <a:buFont typeface="Wingdings" pitchFamily="2" charset="2"/>
              <a:buChar char="§"/>
            </a:pPr>
            <a:r>
              <a:rPr lang="en-US" altLang="en-US" sz="3200" dirty="0">
                <a:latin typeface="Times New Roman" panose="02020603050405020304" pitchFamily="18" charset="0"/>
                <a:cs typeface="Times New Roman" panose="02020603050405020304" pitchFamily="18" charset="0"/>
              </a:rPr>
              <a:t>TC/Q = TFC/Q + TVC/Q        ATC = AFC +AVC</a:t>
            </a:r>
          </a:p>
          <a:p>
            <a:pPr lvl="2" eaLnBrk="1" hangingPunct="1">
              <a:buFont typeface="Wingdings" pitchFamily="2" charset="2"/>
              <a:buChar char="§"/>
            </a:pPr>
            <a:r>
              <a:rPr lang="en-US" altLang="en-US" sz="3200" dirty="0">
                <a:latin typeface="Times New Roman" panose="02020603050405020304" pitchFamily="18" charset="0"/>
                <a:cs typeface="Times New Roman" panose="02020603050405020304" pitchFamily="18" charset="0"/>
              </a:rPr>
              <a:t>Average Total Cost = Average Fixed Cost + Average Variable Cost</a:t>
            </a:r>
          </a:p>
        </p:txBody>
      </p:sp>
      <p:sp>
        <p:nvSpPr>
          <p:cNvPr id="2" name="Right Arrow 1">
            <a:extLst>
              <a:ext uri="{FF2B5EF4-FFF2-40B4-BE49-F238E27FC236}">
                <a16:creationId xmlns:a16="http://schemas.microsoft.com/office/drawing/2014/main" id="{9C5B33D2-80FD-67DD-7D06-17A6B6208079}"/>
              </a:ext>
            </a:extLst>
          </p:cNvPr>
          <p:cNvSpPr/>
          <p:nvPr/>
        </p:nvSpPr>
        <p:spPr>
          <a:xfrm>
            <a:off x="6701425" y="4146114"/>
            <a:ext cx="400833" cy="1753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K"/>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3" name="Object 2">
            <a:extLst>
              <a:ext uri="{FF2B5EF4-FFF2-40B4-BE49-F238E27FC236}">
                <a16:creationId xmlns:a16="http://schemas.microsoft.com/office/drawing/2014/main" id="{F3A76773-7C06-F3C3-FB56-E74DA684E9BF}"/>
              </a:ext>
            </a:extLst>
          </p:cNvPr>
          <p:cNvGraphicFramePr>
            <a:graphicFrameLocks noChangeAspect="1"/>
          </p:cNvGraphicFramePr>
          <p:nvPr/>
        </p:nvGraphicFramePr>
        <p:xfrm>
          <a:off x="1600200" y="609600"/>
          <a:ext cx="7010400" cy="5848350"/>
        </p:xfrm>
        <a:graphic>
          <a:graphicData uri="http://schemas.openxmlformats.org/presentationml/2006/ole">
            <mc:AlternateContent xmlns:mc="http://schemas.openxmlformats.org/markup-compatibility/2006">
              <mc:Choice xmlns:v="urn:schemas-microsoft-com:vml" Requires="v">
                <p:oleObj name="Worksheet" r:id="rId2" imgW="3860800" imgH="3225800" progId="Excel.Sheet.8">
                  <p:embed/>
                </p:oleObj>
              </mc:Choice>
              <mc:Fallback>
                <p:oleObj name="Worksheet" r:id="rId2" imgW="3860800" imgH="3225800" progId="Excel.Sheet.8">
                  <p:embed/>
                  <p:pic>
                    <p:nvPicPr>
                      <p:cNvPr id="54273" name="Object 2">
                        <a:extLst>
                          <a:ext uri="{FF2B5EF4-FFF2-40B4-BE49-F238E27FC236}">
                            <a16:creationId xmlns:a16="http://schemas.microsoft.com/office/drawing/2014/main" id="{F3A76773-7C06-F3C3-FB56-E74DA684E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609600"/>
                        <a:ext cx="701040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7" name="Object 2">
            <a:extLst>
              <a:ext uri="{FF2B5EF4-FFF2-40B4-BE49-F238E27FC236}">
                <a16:creationId xmlns:a16="http://schemas.microsoft.com/office/drawing/2014/main" id="{5DEFBA50-D16A-B2A3-941A-A373C0BD04A0}"/>
              </a:ext>
            </a:extLst>
          </p:cNvPr>
          <p:cNvGraphicFramePr>
            <a:graphicFrameLocks noChangeAspect="1"/>
          </p:cNvGraphicFramePr>
          <p:nvPr/>
        </p:nvGraphicFramePr>
        <p:xfrm>
          <a:off x="1600200" y="696913"/>
          <a:ext cx="7162800" cy="5551487"/>
        </p:xfrm>
        <a:graphic>
          <a:graphicData uri="http://schemas.openxmlformats.org/presentationml/2006/ole">
            <mc:AlternateContent xmlns:mc="http://schemas.openxmlformats.org/markup-compatibility/2006">
              <mc:Choice xmlns:v="urn:schemas-microsoft-com:vml" Requires="v">
                <p:oleObj name="Worksheet" r:id="rId2" imgW="4559300" imgH="3530600" progId="Excel.Sheet.8">
                  <p:embed/>
                </p:oleObj>
              </mc:Choice>
              <mc:Fallback>
                <p:oleObj name="Worksheet" r:id="rId2" imgW="4559300" imgH="3530600" progId="Excel.Sheet.8">
                  <p:embed/>
                  <p:pic>
                    <p:nvPicPr>
                      <p:cNvPr id="55297" name="Object 2">
                        <a:extLst>
                          <a:ext uri="{FF2B5EF4-FFF2-40B4-BE49-F238E27FC236}">
                            <a16:creationId xmlns:a16="http://schemas.microsoft.com/office/drawing/2014/main" id="{5DEFBA50-D16A-B2A3-941A-A373C0BD0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696913"/>
                        <a:ext cx="71628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4">
            <a:extLst>
              <a:ext uri="{FF2B5EF4-FFF2-40B4-BE49-F238E27FC236}">
                <a16:creationId xmlns:a16="http://schemas.microsoft.com/office/drawing/2014/main" id="{AB647C04-9A4B-F3B9-E0D8-85C5CD273892}"/>
              </a:ext>
            </a:extLst>
          </p:cNvPr>
          <p:cNvSpPr txBox="1">
            <a:spLocks noChangeArrowheads="1"/>
          </p:cNvSpPr>
          <p:nvPr/>
        </p:nvSpPr>
        <p:spPr bwMode="auto">
          <a:xfrm>
            <a:off x="8088313" y="6680200"/>
            <a:ext cx="18034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800" b="1">
                <a:solidFill>
                  <a:schemeClr val="bg1"/>
                </a:solidFill>
                <a:latin typeface="Arial" panose="020B0604020202020204" pitchFamily="34" charset="0"/>
              </a:rPr>
              <a:t>Copyright © 2004  South-Western</a:t>
            </a:r>
          </a:p>
        </p:txBody>
      </p:sp>
      <p:sp>
        <p:nvSpPr>
          <p:cNvPr id="56322" name="Rectangle 5">
            <a:extLst>
              <a:ext uri="{FF2B5EF4-FFF2-40B4-BE49-F238E27FC236}">
                <a16:creationId xmlns:a16="http://schemas.microsoft.com/office/drawing/2014/main" id="{7D7A212C-0603-8D29-E466-20FF52DC2BF0}"/>
              </a:ext>
            </a:extLst>
          </p:cNvPr>
          <p:cNvSpPr>
            <a:spLocks noChangeArrowheads="1"/>
          </p:cNvSpPr>
          <p:nvPr/>
        </p:nvSpPr>
        <p:spPr bwMode="auto">
          <a:xfrm>
            <a:off x="3316288" y="1303338"/>
            <a:ext cx="5737225" cy="4713287"/>
          </a:xfrm>
          <a:prstGeom prst="rect">
            <a:avLst/>
          </a:prstGeom>
          <a:solidFill>
            <a:srgbClr val="F3F6F9"/>
          </a:solidFill>
          <a:ln w="174625">
            <a:solidFill>
              <a:srgbClr val="F3F6F9"/>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3" name="Rectangle 6">
            <a:extLst>
              <a:ext uri="{FF2B5EF4-FFF2-40B4-BE49-F238E27FC236}">
                <a16:creationId xmlns:a16="http://schemas.microsoft.com/office/drawing/2014/main" id="{04F20AC5-DBA0-CD4D-F4A5-857E782CB9B0}"/>
              </a:ext>
            </a:extLst>
          </p:cNvPr>
          <p:cNvSpPr>
            <a:spLocks noChangeArrowheads="1"/>
          </p:cNvSpPr>
          <p:nvPr/>
        </p:nvSpPr>
        <p:spPr bwMode="auto">
          <a:xfrm>
            <a:off x="3316288" y="1303338"/>
            <a:ext cx="5737225" cy="4713287"/>
          </a:xfrm>
          <a:prstGeom prst="rect">
            <a:avLst/>
          </a:prstGeom>
          <a:solidFill>
            <a:srgbClr val="F2F4F8"/>
          </a:solidFill>
          <a:ln w="158750">
            <a:solidFill>
              <a:srgbClr val="F2F4F8"/>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4" name="Rectangle 7">
            <a:extLst>
              <a:ext uri="{FF2B5EF4-FFF2-40B4-BE49-F238E27FC236}">
                <a16:creationId xmlns:a16="http://schemas.microsoft.com/office/drawing/2014/main" id="{09042D96-5EA8-8AD5-E731-73F1D09AE6E9}"/>
              </a:ext>
            </a:extLst>
          </p:cNvPr>
          <p:cNvSpPr>
            <a:spLocks noChangeArrowheads="1"/>
          </p:cNvSpPr>
          <p:nvPr/>
        </p:nvSpPr>
        <p:spPr bwMode="auto">
          <a:xfrm>
            <a:off x="3316288" y="1303338"/>
            <a:ext cx="5737225" cy="4713287"/>
          </a:xfrm>
          <a:prstGeom prst="rect">
            <a:avLst/>
          </a:prstGeom>
          <a:solidFill>
            <a:srgbClr val="F1F4F7"/>
          </a:solidFill>
          <a:ln w="142875">
            <a:solidFill>
              <a:srgbClr val="F1F4F7"/>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5" name="Rectangle 8">
            <a:extLst>
              <a:ext uri="{FF2B5EF4-FFF2-40B4-BE49-F238E27FC236}">
                <a16:creationId xmlns:a16="http://schemas.microsoft.com/office/drawing/2014/main" id="{98FC08FE-D721-9B47-163B-6610D520EA56}"/>
              </a:ext>
            </a:extLst>
          </p:cNvPr>
          <p:cNvSpPr>
            <a:spLocks noChangeArrowheads="1"/>
          </p:cNvSpPr>
          <p:nvPr/>
        </p:nvSpPr>
        <p:spPr bwMode="auto">
          <a:xfrm>
            <a:off x="3316288" y="1303338"/>
            <a:ext cx="5737225" cy="4713287"/>
          </a:xfrm>
          <a:prstGeom prst="rect">
            <a:avLst/>
          </a:prstGeom>
          <a:solidFill>
            <a:srgbClr val="F0F2F5"/>
          </a:solidFill>
          <a:ln w="127000">
            <a:solidFill>
              <a:srgbClr val="F0F2F5"/>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6" name="Rectangle 9">
            <a:extLst>
              <a:ext uri="{FF2B5EF4-FFF2-40B4-BE49-F238E27FC236}">
                <a16:creationId xmlns:a16="http://schemas.microsoft.com/office/drawing/2014/main" id="{5C4D4CE7-A74A-BE06-693E-E4D21172C241}"/>
              </a:ext>
            </a:extLst>
          </p:cNvPr>
          <p:cNvSpPr>
            <a:spLocks noChangeArrowheads="1"/>
          </p:cNvSpPr>
          <p:nvPr/>
        </p:nvSpPr>
        <p:spPr bwMode="auto">
          <a:xfrm>
            <a:off x="3316288" y="1303338"/>
            <a:ext cx="5737225" cy="4713287"/>
          </a:xfrm>
          <a:prstGeom prst="rect">
            <a:avLst/>
          </a:prstGeom>
          <a:solidFill>
            <a:srgbClr val="EEF1F4"/>
          </a:solidFill>
          <a:ln w="111125">
            <a:solidFill>
              <a:srgbClr val="EEF1F4"/>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7" name="Rectangle 10">
            <a:extLst>
              <a:ext uri="{FF2B5EF4-FFF2-40B4-BE49-F238E27FC236}">
                <a16:creationId xmlns:a16="http://schemas.microsoft.com/office/drawing/2014/main" id="{6AD89DCC-35A2-CCD7-602B-106ACE372A78}"/>
              </a:ext>
            </a:extLst>
          </p:cNvPr>
          <p:cNvSpPr>
            <a:spLocks noChangeArrowheads="1"/>
          </p:cNvSpPr>
          <p:nvPr/>
        </p:nvSpPr>
        <p:spPr bwMode="auto">
          <a:xfrm>
            <a:off x="3316288" y="1303338"/>
            <a:ext cx="5737225" cy="4713287"/>
          </a:xfrm>
          <a:prstGeom prst="rect">
            <a:avLst/>
          </a:prstGeom>
          <a:solidFill>
            <a:srgbClr val="EDEFF3"/>
          </a:solidFill>
          <a:ln w="95250">
            <a:solidFill>
              <a:srgbClr val="EDEFF3"/>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8" name="Rectangle 11">
            <a:extLst>
              <a:ext uri="{FF2B5EF4-FFF2-40B4-BE49-F238E27FC236}">
                <a16:creationId xmlns:a16="http://schemas.microsoft.com/office/drawing/2014/main" id="{BD9DD61B-DC43-208A-DE3C-1E03FCBCF0EC}"/>
              </a:ext>
            </a:extLst>
          </p:cNvPr>
          <p:cNvSpPr>
            <a:spLocks noChangeArrowheads="1"/>
          </p:cNvSpPr>
          <p:nvPr/>
        </p:nvSpPr>
        <p:spPr bwMode="auto">
          <a:xfrm>
            <a:off x="3316288" y="1303338"/>
            <a:ext cx="5737225" cy="4713287"/>
          </a:xfrm>
          <a:prstGeom prst="rect">
            <a:avLst/>
          </a:prstGeom>
          <a:solidFill>
            <a:srgbClr val="EBEEF2"/>
          </a:solidFill>
          <a:ln w="79375">
            <a:solidFill>
              <a:srgbClr val="EBEEF2"/>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29" name="Rectangle 12">
            <a:extLst>
              <a:ext uri="{FF2B5EF4-FFF2-40B4-BE49-F238E27FC236}">
                <a16:creationId xmlns:a16="http://schemas.microsoft.com/office/drawing/2014/main" id="{C843C224-0962-D092-5958-FF41F8E411C7}"/>
              </a:ext>
            </a:extLst>
          </p:cNvPr>
          <p:cNvSpPr>
            <a:spLocks noChangeArrowheads="1"/>
          </p:cNvSpPr>
          <p:nvPr/>
        </p:nvSpPr>
        <p:spPr bwMode="auto">
          <a:xfrm>
            <a:off x="3316288" y="1303338"/>
            <a:ext cx="5737225" cy="4713287"/>
          </a:xfrm>
          <a:prstGeom prst="rect">
            <a:avLst/>
          </a:prstGeom>
          <a:solidFill>
            <a:srgbClr val="EAECF1"/>
          </a:solidFill>
          <a:ln w="63500">
            <a:solidFill>
              <a:srgbClr val="EAECF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30" name="Rectangle 13">
            <a:extLst>
              <a:ext uri="{FF2B5EF4-FFF2-40B4-BE49-F238E27FC236}">
                <a16:creationId xmlns:a16="http://schemas.microsoft.com/office/drawing/2014/main" id="{5C7773FF-441D-4387-B4BC-58784526429C}"/>
              </a:ext>
            </a:extLst>
          </p:cNvPr>
          <p:cNvSpPr>
            <a:spLocks noChangeArrowheads="1"/>
          </p:cNvSpPr>
          <p:nvPr/>
        </p:nvSpPr>
        <p:spPr bwMode="auto">
          <a:xfrm>
            <a:off x="3316288" y="1303338"/>
            <a:ext cx="5737225" cy="4713287"/>
          </a:xfrm>
          <a:prstGeom prst="rect">
            <a:avLst/>
          </a:prstGeom>
          <a:solidFill>
            <a:srgbClr val="E9EBF0"/>
          </a:solidFill>
          <a:ln w="47625">
            <a:solidFill>
              <a:srgbClr val="E9EBF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31" name="Rectangle 14">
            <a:extLst>
              <a:ext uri="{FF2B5EF4-FFF2-40B4-BE49-F238E27FC236}">
                <a16:creationId xmlns:a16="http://schemas.microsoft.com/office/drawing/2014/main" id="{953B9476-1823-11B3-3F58-DF1682034274}"/>
              </a:ext>
            </a:extLst>
          </p:cNvPr>
          <p:cNvSpPr>
            <a:spLocks noChangeArrowheads="1"/>
          </p:cNvSpPr>
          <p:nvPr/>
        </p:nvSpPr>
        <p:spPr bwMode="auto">
          <a:xfrm>
            <a:off x="3316288" y="1303338"/>
            <a:ext cx="5737225" cy="4713287"/>
          </a:xfrm>
          <a:prstGeom prst="rect">
            <a:avLst/>
          </a:prstGeom>
          <a:solidFill>
            <a:srgbClr val="E7EAEF"/>
          </a:solidFill>
          <a:ln w="31750">
            <a:solidFill>
              <a:srgbClr val="E7EAEF"/>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32" name="Rectangle 15">
            <a:extLst>
              <a:ext uri="{FF2B5EF4-FFF2-40B4-BE49-F238E27FC236}">
                <a16:creationId xmlns:a16="http://schemas.microsoft.com/office/drawing/2014/main" id="{37680946-7432-4E48-CBE8-BFDACB52138A}"/>
              </a:ext>
            </a:extLst>
          </p:cNvPr>
          <p:cNvSpPr>
            <a:spLocks noChangeArrowheads="1"/>
          </p:cNvSpPr>
          <p:nvPr/>
        </p:nvSpPr>
        <p:spPr bwMode="auto">
          <a:xfrm>
            <a:off x="3316288" y="1303338"/>
            <a:ext cx="5737225" cy="4713287"/>
          </a:xfrm>
          <a:prstGeom prst="rect">
            <a:avLst/>
          </a:prstGeom>
          <a:solidFill>
            <a:srgbClr val="E6E9EF"/>
          </a:solidFill>
          <a:ln w="15875">
            <a:solidFill>
              <a:srgbClr val="E6E9EF"/>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33" name="Rectangle 16">
            <a:extLst>
              <a:ext uri="{FF2B5EF4-FFF2-40B4-BE49-F238E27FC236}">
                <a16:creationId xmlns:a16="http://schemas.microsoft.com/office/drawing/2014/main" id="{5DFB523C-5124-F633-C028-C2D9F9148873}"/>
              </a:ext>
            </a:extLst>
          </p:cNvPr>
          <p:cNvSpPr>
            <a:spLocks noChangeArrowheads="1"/>
          </p:cNvSpPr>
          <p:nvPr/>
        </p:nvSpPr>
        <p:spPr bwMode="auto">
          <a:xfrm>
            <a:off x="3205163" y="1192213"/>
            <a:ext cx="5818187" cy="47450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334" name="Freeform 17">
            <a:extLst>
              <a:ext uri="{FF2B5EF4-FFF2-40B4-BE49-F238E27FC236}">
                <a16:creationId xmlns:a16="http://schemas.microsoft.com/office/drawing/2014/main" id="{DF67D485-25B6-B74D-3A25-E9865E2F6C8C}"/>
              </a:ext>
            </a:extLst>
          </p:cNvPr>
          <p:cNvSpPr>
            <a:spLocks/>
          </p:cNvSpPr>
          <p:nvPr/>
        </p:nvSpPr>
        <p:spPr bwMode="auto">
          <a:xfrm>
            <a:off x="3205163" y="1192213"/>
            <a:ext cx="5818187" cy="4745037"/>
          </a:xfrm>
          <a:custGeom>
            <a:avLst/>
            <a:gdLst>
              <a:gd name="T0" fmla="*/ 0 w 3665"/>
              <a:gd name="T1" fmla="*/ 0 h 2989"/>
              <a:gd name="T2" fmla="*/ 0 w 3665"/>
              <a:gd name="T3" fmla="*/ 2147483646 h 2989"/>
              <a:gd name="T4" fmla="*/ 2147483646 w 3665"/>
              <a:gd name="T5" fmla="*/ 2147483646 h 2989"/>
              <a:gd name="T6" fmla="*/ 0 60000 65536"/>
              <a:gd name="T7" fmla="*/ 0 60000 65536"/>
              <a:gd name="T8" fmla="*/ 0 60000 65536"/>
            </a:gdLst>
            <a:ahLst/>
            <a:cxnLst>
              <a:cxn ang="T6">
                <a:pos x="T0" y="T1"/>
              </a:cxn>
              <a:cxn ang="T7">
                <a:pos x="T2" y="T3"/>
              </a:cxn>
              <a:cxn ang="T8">
                <a:pos x="T4" y="T5"/>
              </a:cxn>
            </a:cxnLst>
            <a:rect l="0" t="0" r="r" b="b"/>
            <a:pathLst>
              <a:path w="3665" h="2989">
                <a:moveTo>
                  <a:pt x="0" y="0"/>
                </a:moveTo>
                <a:lnTo>
                  <a:pt x="0" y="2989"/>
                </a:lnTo>
                <a:lnTo>
                  <a:pt x="3665" y="2989"/>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56335" name="Line 18">
            <a:extLst>
              <a:ext uri="{FF2B5EF4-FFF2-40B4-BE49-F238E27FC236}">
                <a16:creationId xmlns:a16="http://schemas.microsoft.com/office/drawing/2014/main" id="{DDFFEC36-7624-637A-851A-1105090C8503}"/>
              </a:ext>
            </a:extLst>
          </p:cNvPr>
          <p:cNvSpPr>
            <a:spLocks noChangeShapeType="1"/>
          </p:cNvSpPr>
          <p:nvPr/>
        </p:nvSpPr>
        <p:spPr bwMode="auto">
          <a:xfrm>
            <a:off x="3205163" y="1573213"/>
            <a:ext cx="127000"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36" name="Line 19">
            <a:extLst>
              <a:ext uri="{FF2B5EF4-FFF2-40B4-BE49-F238E27FC236}">
                <a16:creationId xmlns:a16="http://schemas.microsoft.com/office/drawing/2014/main" id="{AFCC07EE-03ED-018E-2B01-10BBC63258FC}"/>
              </a:ext>
            </a:extLst>
          </p:cNvPr>
          <p:cNvSpPr>
            <a:spLocks noChangeShapeType="1"/>
          </p:cNvSpPr>
          <p:nvPr/>
        </p:nvSpPr>
        <p:spPr bwMode="auto">
          <a:xfrm>
            <a:off x="3205163" y="187325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37" name="Line 20">
            <a:extLst>
              <a:ext uri="{FF2B5EF4-FFF2-40B4-BE49-F238E27FC236}">
                <a16:creationId xmlns:a16="http://schemas.microsoft.com/office/drawing/2014/main" id="{B07402FD-B4CB-90F5-943F-21CC972964B3}"/>
              </a:ext>
            </a:extLst>
          </p:cNvPr>
          <p:cNvSpPr>
            <a:spLocks noChangeShapeType="1"/>
          </p:cNvSpPr>
          <p:nvPr/>
        </p:nvSpPr>
        <p:spPr bwMode="auto">
          <a:xfrm>
            <a:off x="3205163" y="219075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38" name="Line 21">
            <a:extLst>
              <a:ext uri="{FF2B5EF4-FFF2-40B4-BE49-F238E27FC236}">
                <a16:creationId xmlns:a16="http://schemas.microsoft.com/office/drawing/2014/main" id="{3A04099E-075D-A0C3-254C-715A0638D621}"/>
              </a:ext>
            </a:extLst>
          </p:cNvPr>
          <p:cNvSpPr>
            <a:spLocks noChangeShapeType="1"/>
          </p:cNvSpPr>
          <p:nvPr/>
        </p:nvSpPr>
        <p:spPr bwMode="auto">
          <a:xfrm>
            <a:off x="3205163" y="250825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39" name="Line 22">
            <a:extLst>
              <a:ext uri="{FF2B5EF4-FFF2-40B4-BE49-F238E27FC236}">
                <a16:creationId xmlns:a16="http://schemas.microsoft.com/office/drawing/2014/main" id="{29F6EA3E-0DFC-DA65-9351-B580EE73FD88}"/>
              </a:ext>
            </a:extLst>
          </p:cNvPr>
          <p:cNvSpPr>
            <a:spLocks noChangeShapeType="1"/>
          </p:cNvSpPr>
          <p:nvPr/>
        </p:nvSpPr>
        <p:spPr bwMode="auto">
          <a:xfrm>
            <a:off x="3205163" y="280987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0" name="Line 23">
            <a:extLst>
              <a:ext uri="{FF2B5EF4-FFF2-40B4-BE49-F238E27FC236}">
                <a16:creationId xmlns:a16="http://schemas.microsoft.com/office/drawing/2014/main" id="{A8376C9F-70BB-8A6F-FAFA-C9A67CCE9895}"/>
              </a:ext>
            </a:extLst>
          </p:cNvPr>
          <p:cNvSpPr>
            <a:spLocks noChangeShapeType="1"/>
          </p:cNvSpPr>
          <p:nvPr/>
        </p:nvSpPr>
        <p:spPr bwMode="auto">
          <a:xfrm>
            <a:off x="3205163" y="312737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1" name="Line 24">
            <a:extLst>
              <a:ext uri="{FF2B5EF4-FFF2-40B4-BE49-F238E27FC236}">
                <a16:creationId xmlns:a16="http://schemas.microsoft.com/office/drawing/2014/main" id="{C53050E8-5810-F6C1-8727-6293B2FF0360}"/>
              </a:ext>
            </a:extLst>
          </p:cNvPr>
          <p:cNvSpPr>
            <a:spLocks noChangeShapeType="1"/>
          </p:cNvSpPr>
          <p:nvPr/>
        </p:nvSpPr>
        <p:spPr bwMode="auto">
          <a:xfrm>
            <a:off x="3205163" y="344487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2" name="Line 25">
            <a:extLst>
              <a:ext uri="{FF2B5EF4-FFF2-40B4-BE49-F238E27FC236}">
                <a16:creationId xmlns:a16="http://schemas.microsoft.com/office/drawing/2014/main" id="{CD3ED029-E441-5E15-19D7-F9A348CBB241}"/>
              </a:ext>
            </a:extLst>
          </p:cNvPr>
          <p:cNvSpPr>
            <a:spLocks noChangeShapeType="1"/>
          </p:cNvSpPr>
          <p:nvPr/>
        </p:nvSpPr>
        <p:spPr bwMode="auto">
          <a:xfrm>
            <a:off x="3205163" y="376237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3" name="Line 26">
            <a:extLst>
              <a:ext uri="{FF2B5EF4-FFF2-40B4-BE49-F238E27FC236}">
                <a16:creationId xmlns:a16="http://schemas.microsoft.com/office/drawing/2014/main" id="{ABD07F8E-0FB2-3C9E-FA67-E5D88D522FC0}"/>
              </a:ext>
            </a:extLst>
          </p:cNvPr>
          <p:cNvSpPr>
            <a:spLocks noChangeShapeType="1"/>
          </p:cNvSpPr>
          <p:nvPr/>
        </p:nvSpPr>
        <p:spPr bwMode="auto">
          <a:xfrm>
            <a:off x="3205163" y="406400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4" name="Line 27">
            <a:extLst>
              <a:ext uri="{FF2B5EF4-FFF2-40B4-BE49-F238E27FC236}">
                <a16:creationId xmlns:a16="http://schemas.microsoft.com/office/drawing/2014/main" id="{D12F4FA0-5214-5EF0-B815-96FB0578F355}"/>
              </a:ext>
            </a:extLst>
          </p:cNvPr>
          <p:cNvSpPr>
            <a:spLocks noChangeShapeType="1"/>
          </p:cNvSpPr>
          <p:nvPr/>
        </p:nvSpPr>
        <p:spPr bwMode="auto">
          <a:xfrm>
            <a:off x="3205163" y="438150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5" name="Line 28">
            <a:extLst>
              <a:ext uri="{FF2B5EF4-FFF2-40B4-BE49-F238E27FC236}">
                <a16:creationId xmlns:a16="http://schemas.microsoft.com/office/drawing/2014/main" id="{8388E5B8-C638-3BB1-37B9-66489CBB4B87}"/>
              </a:ext>
            </a:extLst>
          </p:cNvPr>
          <p:cNvSpPr>
            <a:spLocks noChangeShapeType="1"/>
          </p:cNvSpPr>
          <p:nvPr/>
        </p:nvSpPr>
        <p:spPr bwMode="auto">
          <a:xfrm>
            <a:off x="3205163" y="4699000"/>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6" name="Line 29">
            <a:extLst>
              <a:ext uri="{FF2B5EF4-FFF2-40B4-BE49-F238E27FC236}">
                <a16:creationId xmlns:a16="http://schemas.microsoft.com/office/drawing/2014/main" id="{5B06049D-B60F-10EC-80AA-995FE5AD9ABB}"/>
              </a:ext>
            </a:extLst>
          </p:cNvPr>
          <p:cNvSpPr>
            <a:spLocks noChangeShapeType="1"/>
          </p:cNvSpPr>
          <p:nvPr/>
        </p:nvSpPr>
        <p:spPr bwMode="auto">
          <a:xfrm>
            <a:off x="3205163" y="500062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7" name="Line 30">
            <a:extLst>
              <a:ext uri="{FF2B5EF4-FFF2-40B4-BE49-F238E27FC236}">
                <a16:creationId xmlns:a16="http://schemas.microsoft.com/office/drawing/2014/main" id="{EA39EE07-C240-19B3-9683-ADD9AD965B7F}"/>
              </a:ext>
            </a:extLst>
          </p:cNvPr>
          <p:cNvSpPr>
            <a:spLocks noChangeShapeType="1"/>
          </p:cNvSpPr>
          <p:nvPr/>
        </p:nvSpPr>
        <p:spPr bwMode="auto">
          <a:xfrm>
            <a:off x="3205163" y="531812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8" name="Line 31">
            <a:extLst>
              <a:ext uri="{FF2B5EF4-FFF2-40B4-BE49-F238E27FC236}">
                <a16:creationId xmlns:a16="http://schemas.microsoft.com/office/drawing/2014/main" id="{EC6B5766-B9E8-BDB0-B9B2-DBA888A23D44}"/>
              </a:ext>
            </a:extLst>
          </p:cNvPr>
          <p:cNvSpPr>
            <a:spLocks noChangeShapeType="1"/>
          </p:cNvSpPr>
          <p:nvPr/>
        </p:nvSpPr>
        <p:spPr bwMode="auto">
          <a:xfrm>
            <a:off x="3205163" y="5635625"/>
            <a:ext cx="127000"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49" name="Line 32">
            <a:extLst>
              <a:ext uri="{FF2B5EF4-FFF2-40B4-BE49-F238E27FC236}">
                <a16:creationId xmlns:a16="http://schemas.microsoft.com/office/drawing/2014/main" id="{9087C05A-CD7A-A64A-0F95-A82EEC5F87C5}"/>
              </a:ext>
            </a:extLst>
          </p:cNvPr>
          <p:cNvSpPr>
            <a:spLocks noChangeShapeType="1"/>
          </p:cNvSpPr>
          <p:nvPr/>
        </p:nvSpPr>
        <p:spPr bwMode="auto">
          <a:xfrm>
            <a:off x="3584575" y="5810250"/>
            <a:ext cx="1588"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0" name="Line 33">
            <a:extLst>
              <a:ext uri="{FF2B5EF4-FFF2-40B4-BE49-F238E27FC236}">
                <a16:creationId xmlns:a16="http://schemas.microsoft.com/office/drawing/2014/main" id="{42EB8AFB-C52D-8EE5-B8BA-0868EB73F6D5}"/>
              </a:ext>
            </a:extLst>
          </p:cNvPr>
          <p:cNvSpPr>
            <a:spLocks noChangeShapeType="1"/>
          </p:cNvSpPr>
          <p:nvPr/>
        </p:nvSpPr>
        <p:spPr bwMode="auto">
          <a:xfrm>
            <a:off x="3963988" y="5810250"/>
            <a:ext cx="1587"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1" name="Line 34">
            <a:extLst>
              <a:ext uri="{FF2B5EF4-FFF2-40B4-BE49-F238E27FC236}">
                <a16:creationId xmlns:a16="http://schemas.microsoft.com/office/drawing/2014/main" id="{E2456064-1220-DC8E-B533-5749E672AECF}"/>
              </a:ext>
            </a:extLst>
          </p:cNvPr>
          <p:cNvSpPr>
            <a:spLocks noChangeShapeType="1"/>
          </p:cNvSpPr>
          <p:nvPr/>
        </p:nvSpPr>
        <p:spPr bwMode="auto">
          <a:xfrm>
            <a:off x="4343400" y="5810250"/>
            <a:ext cx="1588"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2" name="Line 35">
            <a:extLst>
              <a:ext uri="{FF2B5EF4-FFF2-40B4-BE49-F238E27FC236}">
                <a16:creationId xmlns:a16="http://schemas.microsoft.com/office/drawing/2014/main" id="{1DA948D8-BC4B-7A7F-9141-17A74053C967}"/>
              </a:ext>
            </a:extLst>
          </p:cNvPr>
          <p:cNvSpPr>
            <a:spLocks noChangeShapeType="1"/>
          </p:cNvSpPr>
          <p:nvPr/>
        </p:nvSpPr>
        <p:spPr bwMode="auto">
          <a:xfrm>
            <a:off x="4722813" y="5810250"/>
            <a:ext cx="1587"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3" name="Line 36">
            <a:extLst>
              <a:ext uri="{FF2B5EF4-FFF2-40B4-BE49-F238E27FC236}">
                <a16:creationId xmlns:a16="http://schemas.microsoft.com/office/drawing/2014/main" id="{80D83AEE-C438-7329-E20B-6C84E6E1A2D8}"/>
              </a:ext>
            </a:extLst>
          </p:cNvPr>
          <p:cNvSpPr>
            <a:spLocks noChangeShapeType="1"/>
          </p:cNvSpPr>
          <p:nvPr/>
        </p:nvSpPr>
        <p:spPr bwMode="auto">
          <a:xfrm>
            <a:off x="5102225" y="5810250"/>
            <a:ext cx="1588"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4" name="Line 37">
            <a:extLst>
              <a:ext uri="{FF2B5EF4-FFF2-40B4-BE49-F238E27FC236}">
                <a16:creationId xmlns:a16="http://schemas.microsoft.com/office/drawing/2014/main" id="{B4605678-7D10-32CA-8974-C1CEF97D6924}"/>
              </a:ext>
            </a:extLst>
          </p:cNvPr>
          <p:cNvSpPr>
            <a:spLocks noChangeShapeType="1"/>
          </p:cNvSpPr>
          <p:nvPr/>
        </p:nvSpPr>
        <p:spPr bwMode="auto">
          <a:xfrm>
            <a:off x="5481638" y="5810250"/>
            <a:ext cx="1587"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5" name="Line 38">
            <a:extLst>
              <a:ext uri="{FF2B5EF4-FFF2-40B4-BE49-F238E27FC236}">
                <a16:creationId xmlns:a16="http://schemas.microsoft.com/office/drawing/2014/main" id="{6BA7A5AD-72E9-6AC6-05DD-166C05E0248D}"/>
              </a:ext>
            </a:extLst>
          </p:cNvPr>
          <p:cNvSpPr>
            <a:spLocks noChangeShapeType="1"/>
          </p:cNvSpPr>
          <p:nvPr/>
        </p:nvSpPr>
        <p:spPr bwMode="auto">
          <a:xfrm>
            <a:off x="5861050" y="5810250"/>
            <a:ext cx="1588"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6" name="Line 39">
            <a:extLst>
              <a:ext uri="{FF2B5EF4-FFF2-40B4-BE49-F238E27FC236}">
                <a16:creationId xmlns:a16="http://schemas.microsoft.com/office/drawing/2014/main" id="{46D9045B-79DE-A21F-CC4F-97312846E6C3}"/>
              </a:ext>
            </a:extLst>
          </p:cNvPr>
          <p:cNvSpPr>
            <a:spLocks noChangeShapeType="1"/>
          </p:cNvSpPr>
          <p:nvPr/>
        </p:nvSpPr>
        <p:spPr bwMode="auto">
          <a:xfrm>
            <a:off x="6240463" y="5810250"/>
            <a:ext cx="1587"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7" name="Line 40">
            <a:extLst>
              <a:ext uri="{FF2B5EF4-FFF2-40B4-BE49-F238E27FC236}">
                <a16:creationId xmlns:a16="http://schemas.microsoft.com/office/drawing/2014/main" id="{8A0A2A33-BAA6-F549-0F14-64543CABEEC5}"/>
              </a:ext>
            </a:extLst>
          </p:cNvPr>
          <p:cNvSpPr>
            <a:spLocks noChangeShapeType="1"/>
          </p:cNvSpPr>
          <p:nvPr/>
        </p:nvSpPr>
        <p:spPr bwMode="auto">
          <a:xfrm>
            <a:off x="6619875" y="5810250"/>
            <a:ext cx="1588"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358" name="Line 41">
            <a:extLst>
              <a:ext uri="{FF2B5EF4-FFF2-40B4-BE49-F238E27FC236}">
                <a16:creationId xmlns:a16="http://schemas.microsoft.com/office/drawing/2014/main" id="{BC679623-2A4D-D152-4526-2DCBDC55A0A2}"/>
              </a:ext>
            </a:extLst>
          </p:cNvPr>
          <p:cNvSpPr>
            <a:spLocks noChangeShapeType="1"/>
          </p:cNvSpPr>
          <p:nvPr/>
        </p:nvSpPr>
        <p:spPr bwMode="auto">
          <a:xfrm>
            <a:off x="6999288" y="5810250"/>
            <a:ext cx="1587" cy="127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nvGrpSpPr>
          <p:cNvPr id="15402" name="Group 42">
            <a:extLst>
              <a:ext uri="{FF2B5EF4-FFF2-40B4-BE49-F238E27FC236}">
                <a16:creationId xmlns:a16="http://schemas.microsoft.com/office/drawing/2014/main" id="{F521E42A-3E9F-44DB-0E0A-2E2C806DD8F7}"/>
              </a:ext>
            </a:extLst>
          </p:cNvPr>
          <p:cNvGrpSpPr>
            <a:grpSpLocks/>
          </p:cNvGrpSpPr>
          <p:nvPr/>
        </p:nvGrpSpPr>
        <p:grpSpPr bwMode="auto">
          <a:xfrm>
            <a:off x="3395663" y="3317875"/>
            <a:ext cx="3429000" cy="2254250"/>
            <a:chOff x="1179" y="2090"/>
            <a:chExt cx="2160" cy="1420"/>
          </a:xfrm>
        </p:grpSpPr>
        <p:sp>
          <p:nvSpPr>
            <p:cNvPr id="56467" name="Line 43">
              <a:extLst>
                <a:ext uri="{FF2B5EF4-FFF2-40B4-BE49-F238E27FC236}">
                  <a16:creationId xmlns:a16="http://schemas.microsoft.com/office/drawing/2014/main" id="{4A77D3D3-E2F5-C793-C558-2350C64B0789}"/>
                </a:ext>
              </a:extLst>
            </p:cNvPr>
            <p:cNvSpPr>
              <a:spLocks noChangeShapeType="1"/>
            </p:cNvSpPr>
            <p:nvPr/>
          </p:nvSpPr>
          <p:spPr bwMode="auto">
            <a:xfrm flipH="1">
              <a:off x="1179" y="3350"/>
              <a:ext cx="23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8" name="Line 44">
              <a:extLst>
                <a:ext uri="{FF2B5EF4-FFF2-40B4-BE49-F238E27FC236}">
                  <a16:creationId xmlns:a16="http://schemas.microsoft.com/office/drawing/2014/main" id="{945D126C-D99D-75E1-23A7-B1D95B95F526}"/>
                </a:ext>
              </a:extLst>
            </p:cNvPr>
            <p:cNvSpPr>
              <a:spLocks noChangeShapeType="1"/>
            </p:cNvSpPr>
            <p:nvPr/>
          </p:nvSpPr>
          <p:spPr bwMode="auto">
            <a:xfrm flipH="1">
              <a:off x="1418" y="3190"/>
              <a:ext cx="23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9" name="Line 45">
              <a:extLst>
                <a:ext uri="{FF2B5EF4-FFF2-40B4-BE49-F238E27FC236}">
                  <a16:creationId xmlns:a16="http://schemas.microsoft.com/office/drawing/2014/main" id="{15E6BB14-6267-381C-F599-E6EB7ECA3630}"/>
                </a:ext>
              </a:extLst>
            </p:cNvPr>
            <p:cNvSpPr>
              <a:spLocks noChangeShapeType="1"/>
            </p:cNvSpPr>
            <p:nvPr/>
          </p:nvSpPr>
          <p:spPr bwMode="auto">
            <a:xfrm flipH="1">
              <a:off x="1657" y="3030"/>
              <a:ext cx="23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0" name="Line 46">
              <a:extLst>
                <a:ext uri="{FF2B5EF4-FFF2-40B4-BE49-F238E27FC236}">
                  <a16:creationId xmlns:a16="http://schemas.microsoft.com/office/drawing/2014/main" id="{4C4431C0-15EB-C4A6-DBBD-621521D3C769}"/>
                </a:ext>
              </a:extLst>
            </p:cNvPr>
            <p:cNvSpPr>
              <a:spLocks noChangeShapeType="1"/>
            </p:cNvSpPr>
            <p:nvPr/>
          </p:nvSpPr>
          <p:spPr bwMode="auto">
            <a:xfrm flipH="1">
              <a:off x="1896" y="2880"/>
              <a:ext cx="239" cy="15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1" name="Line 47">
              <a:extLst>
                <a:ext uri="{FF2B5EF4-FFF2-40B4-BE49-F238E27FC236}">
                  <a16:creationId xmlns:a16="http://schemas.microsoft.com/office/drawing/2014/main" id="{683014FF-6F56-D207-5858-A48E28455634}"/>
                </a:ext>
              </a:extLst>
            </p:cNvPr>
            <p:cNvSpPr>
              <a:spLocks noChangeShapeType="1"/>
            </p:cNvSpPr>
            <p:nvPr/>
          </p:nvSpPr>
          <p:spPr bwMode="auto">
            <a:xfrm flipH="1">
              <a:off x="2135" y="2720"/>
              <a:ext cx="238"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2" name="Line 48">
              <a:extLst>
                <a:ext uri="{FF2B5EF4-FFF2-40B4-BE49-F238E27FC236}">
                  <a16:creationId xmlns:a16="http://schemas.microsoft.com/office/drawing/2014/main" id="{42E6B3B4-C0BF-CE14-CBA7-F5AFBC956F22}"/>
                </a:ext>
              </a:extLst>
            </p:cNvPr>
            <p:cNvSpPr>
              <a:spLocks noChangeShapeType="1"/>
            </p:cNvSpPr>
            <p:nvPr/>
          </p:nvSpPr>
          <p:spPr bwMode="auto">
            <a:xfrm flipH="1">
              <a:off x="2373" y="2560"/>
              <a:ext cx="23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3" name="Line 49">
              <a:extLst>
                <a:ext uri="{FF2B5EF4-FFF2-40B4-BE49-F238E27FC236}">
                  <a16:creationId xmlns:a16="http://schemas.microsoft.com/office/drawing/2014/main" id="{9F1FB41B-C117-E373-8161-BB2A77F1ABCC}"/>
                </a:ext>
              </a:extLst>
            </p:cNvPr>
            <p:cNvSpPr>
              <a:spLocks noChangeShapeType="1"/>
            </p:cNvSpPr>
            <p:nvPr/>
          </p:nvSpPr>
          <p:spPr bwMode="auto">
            <a:xfrm flipH="1">
              <a:off x="2612" y="2400"/>
              <a:ext cx="24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4" name="Line 50">
              <a:extLst>
                <a:ext uri="{FF2B5EF4-FFF2-40B4-BE49-F238E27FC236}">
                  <a16:creationId xmlns:a16="http://schemas.microsoft.com/office/drawing/2014/main" id="{230A71E4-8EDC-2AB6-C680-49F58998A860}"/>
                </a:ext>
              </a:extLst>
            </p:cNvPr>
            <p:cNvSpPr>
              <a:spLocks noChangeShapeType="1"/>
            </p:cNvSpPr>
            <p:nvPr/>
          </p:nvSpPr>
          <p:spPr bwMode="auto">
            <a:xfrm flipH="1">
              <a:off x="2861" y="2250"/>
              <a:ext cx="239" cy="15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75" name="Line 51">
              <a:extLst>
                <a:ext uri="{FF2B5EF4-FFF2-40B4-BE49-F238E27FC236}">
                  <a16:creationId xmlns:a16="http://schemas.microsoft.com/office/drawing/2014/main" id="{3A2F38FC-ABB6-5D2D-C8BA-6791020BB927}"/>
                </a:ext>
              </a:extLst>
            </p:cNvPr>
            <p:cNvSpPr>
              <a:spLocks noChangeShapeType="1"/>
            </p:cNvSpPr>
            <p:nvPr/>
          </p:nvSpPr>
          <p:spPr bwMode="auto">
            <a:xfrm flipH="1">
              <a:off x="3100" y="2090"/>
              <a:ext cx="239" cy="160"/>
            </a:xfrm>
            <a:prstGeom prst="line">
              <a:avLst/>
            </a:prstGeom>
            <a:noFill/>
            <a:ln w="47625">
              <a:solidFill>
                <a:srgbClr val="AD0D1B"/>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5412" name="Group 52">
            <a:extLst>
              <a:ext uri="{FF2B5EF4-FFF2-40B4-BE49-F238E27FC236}">
                <a16:creationId xmlns:a16="http://schemas.microsoft.com/office/drawing/2014/main" id="{C57E837F-B123-49B2-788C-5A30E7441C86}"/>
              </a:ext>
            </a:extLst>
          </p:cNvPr>
          <p:cNvGrpSpPr>
            <a:grpSpLocks/>
          </p:cNvGrpSpPr>
          <p:nvPr/>
        </p:nvGrpSpPr>
        <p:grpSpPr bwMode="auto">
          <a:xfrm>
            <a:off x="3584575" y="2190750"/>
            <a:ext cx="3430588" cy="3381375"/>
            <a:chOff x="1298" y="1380"/>
            <a:chExt cx="2161" cy="2130"/>
          </a:xfrm>
        </p:grpSpPr>
        <p:sp>
          <p:nvSpPr>
            <p:cNvPr id="56458" name="Line 53">
              <a:extLst>
                <a:ext uri="{FF2B5EF4-FFF2-40B4-BE49-F238E27FC236}">
                  <a16:creationId xmlns:a16="http://schemas.microsoft.com/office/drawing/2014/main" id="{C73A19FC-E0DF-1529-282E-47FE1939E41A}"/>
                </a:ext>
              </a:extLst>
            </p:cNvPr>
            <p:cNvSpPr>
              <a:spLocks noChangeShapeType="1"/>
            </p:cNvSpPr>
            <p:nvPr/>
          </p:nvSpPr>
          <p:spPr bwMode="auto">
            <a:xfrm flipH="1" flipV="1">
              <a:off x="1298" y="1380"/>
              <a:ext cx="239" cy="11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9" name="Line 54">
              <a:extLst>
                <a:ext uri="{FF2B5EF4-FFF2-40B4-BE49-F238E27FC236}">
                  <a16:creationId xmlns:a16="http://schemas.microsoft.com/office/drawing/2014/main" id="{C8D8F76A-15F5-ED9C-F51E-C293BB3BDDB4}"/>
                </a:ext>
              </a:extLst>
            </p:cNvPr>
            <p:cNvSpPr>
              <a:spLocks noChangeShapeType="1"/>
            </p:cNvSpPr>
            <p:nvPr/>
          </p:nvSpPr>
          <p:spPr bwMode="auto">
            <a:xfrm flipH="1" flipV="1">
              <a:off x="1537" y="2560"/>
              <a:ext cx="239" cy="40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0" name="Line 55">
              <a:extLst>
                <a:ext uri="{FF2B5EF4-FFF2-40B4-BE49-F238E27FC236}">
                  <a16:creationId xmlns:a16="http://schemas.microsoft.com/office/drawing/2014/main" id="{DF5717B4-C49D-28FC-3BEC-06B3D32B460E}"/>
                </a:ext>
              </a:extLst>
            </p:cNvPr>
            <p:cNvSpPr>
              <a:spLocks noChangeShapeType="1"/>
            </p:cNvSpPr>
            <p:nvPr/>
          </p:nvSpPr>
          <p:spPr bwMode="auto">
            <a:xfrm flipH="1" flipV="1">
              <a:off x="1776" y="2960"/>
              <a:ext cx="239" cy="19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1" name="Line 56">
              <a:extLst>
                <a:ext uri="{FF2B5EF4-FFF2-40B4-BE49-F238E27FC236}">
                  <a16:creationId xmlns:a16="http://schemas.microsoft.com/office/drawing/2014/main" id="{B762889B-5E7C-DE29-4A51-E85BBC1CCD8A}"/>
                </a:ext>
              </a:extLst>
            </p:cNvPr>
            <p:cNvSpPr>
              <a:spLocks noChangeShapeType="1"/>
            </p:cNvSpPr>
            <p:nvPr/>
          </p:nvSpPr>
          <p:spPr bwMode="auto">
            <a:xfrm flipH="1" flipV="1">
              <a:off x="2015" y="3150"/>
              <a:ext cx="239" cy="12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2" name="Line 57">
              <a:extLst>
                <a:ext uri="{FF2B5EF4-FFF2-40B4-BE49-F238E27FC236}">
                  <a16:creationId xmlns:a16="http://schemas.microsoft.com/office/drawing/2014/main" id="{13217F9B-2D29-171C-F584-2E7E9285101C}"/>
                </a:ext>
              </a:extLst>
            </p:cNvPr>
            <p:cNvSpPr>
              <a:spLocks noChangeShapeType="1"/>
            </p:cNvSpPr>
            <p:nvPr/>
          </p:nvSpPr>
          <p:spPr bwMode="auto">
            <a:xfrm flipH="1" flipV="1">
              <a:off x="2254" y="327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3" name="Line 58">
              <a:extLst>
                <a:ext uri="{FF2B5EF4-FFF2-40B4-BE49-F238E27FC236}">
                  <a16:creationId xmlns:a16="http://schemas.microsoft.com/office/drawing/2014/main" id="{6D198C62-41F4-1B25-AACA-2077DC4C4069}"/>
                </a:ext>
              </a:extLst>
            </p:cNvPr>
            <p:cNvSpPr>
              <a:spLocks noChangeShapeType="1"/>
            </p:cNvSpPr>
            <p:nvPr/>
          </p:nvSpPr>
          <p:spPr bwMode="auto">
            <a:xfrm flipH="1" flipV="1">
              <a:off x="2493" y="3350"/>
              <a:ext cx="239" cy="6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4" name="Line 59">
              <a:extLst>
                <a:ext uri="{FF2B5EF4-FFF2-40B4-BE49-F238E27FC236}">
                  <a16:creationId xmlns:a16="http://schemas.microsoft.com/office/drawing/2014/main" id="{354AE6FF-09B3-5D00-EA97-EDF4E3DAEBB2}"/>
                </a:ext>
              </a:extLst>
            </p:cNvPr>
            <p:cNvSpPr>
              <a:spLocks noChangeShapeType="1"/>
            </p:cNvSpPr>
            <p:nvPr/>
          </p:nvSpPr>
          <p:spPr bwMode="auto">
            <a:xfrm flipH="1" flipV="1">
              <a:off x="2732" y="3410"/>
              <a:ext cx="249" cy="3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5" name="Line 60">
              <a:extLst>
                <a:ext uri="{FF2B5EF4-FFF2-40B4-BE49-F238E27FC236}">
                  <a16:creationId xmlns:a16="http://schemas.microsoft.com/office/drawing/2014/main" id="{6D407A99-3572-C4BC-B6DC-08B35A3BDF7F}"/>
                </a:ext>
              </a:extLst>
            </p:cNvPr>
            <p:cNvSpPr>
              <a:spLocks noChangeShapeType="1"/>
            </p:cNvSpPr>
            <p:nvPr/>
          </p:nvSpPr>
          <p:spPr bwMode="auto">
            <a:xfrm flipH="1" flipV="1">
              <a:off x="2981" y="3440"/>
              <a:ext cx="239" cy="4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66" name="Line 61">
              <a:extLst>
                <a:ext uri="{FF2B5EF4-FFF2-40B4-BE49-F238E27FC236}">
                  <a16:creationId xmlns:a16="http://schemas.microsoft.com/office/drawing/2014/main" id="{A9A888EE-FC33-7A7E-20F6-CDAE631D5892}"/>
                </a:ext>
              </a:extLst>
            </p:cNvPr>
            <p:cNvSpPr>
              <a:spLocks noChangeShapeType="1"/>
            </p:cNvSpPr>
            <p:nvPr/>
          </p:nvSpPr>
          <p:spPr bwMode="auto">
            <a:xfrm flipH="1" flipV="1">
              <a:off x="3220" y="3480"/>
              <a:ext cx="239" cy="3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5422" name="Group 62">
            <a:extLst>
              <a:ext uri="{FF2B5EF4-FFF2-40B4-BE49-F238E27FC236}">
                <a16:creationId xmlns:a16="http://schemas.microsoft.com/office/drawing/2014/main" id="{9EAC16C5-72D2-EDA1-BA61-945ABB9FBE0A}"/>
              </a:ext>
            </a:extLst>
          </p:cNvPr>
          <p:cNvGrpSpPr>
            <a:grpSpLocks/>
          </p:cNvGrpSpPr>
          <p:nvPr/>
        </p:nvGrpSpPr>
        <p:grpSpPr bwMode="auto">
          <a:xfrm>
            <a:off x="3584575" y="4445000"/>
            <a:ext cx="3430588" cy="1127125"/>
            <a:chOff x="1298" y="2800"/>
            <a:chExt cx="2161" cy="710"/>
          </a:xfrm>
        </p:grpSpPr>
        <p:sp>
          <p:nvSpPr>
            <p:cNvPr id="56449" name="Line 63">
              <a:extLst>
                <a:ext uri="{FF2B5EF4-FFF2-40B4-BE49-F238E27FC236}">
                  <a16:creationId xmlns:a16="http://schemas.microsoft.com/office/drawing/2014/main" id="{69E890DB-9DEA-994F-9816-E3E78D6FB31B}"/>
                </a:ext>
              </a:extLst>
            </p:cNvPr>
            <p:cNvSpPr>
              <a:spLocks noChangeShapeType="1"/>
            </p:cNvSpPr>
            <p:nvPr/>
          </p:nvSpPr>
          <p:spPr bwMode="auto">
            <a:xfrm flipH="1">
              <a:off x="1298" y="343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0" name="Line 64">
              <a:extLst>
                <a:ext uri="{FF2B5EF4-FFF2-40B4-BE49-F238E27FC236}">
                  <a16:creationId xmlns:a16="http://schemas.microsoft.com/office/drawing/2014/main" id="{B611B92D-3D6F-FFFB-EAAD-B16F1294A66C}"/>
                </a:ext>
              </a:extLst>
            </p:cNvPr>
            <p:cNvSpPr>
              <a:spLocks noChangeShapeType="1"/>
            </p:cNvSpPr>
            <p:nvPr/>
          </p:nvSpPr>
          <p:spPr bwMode="auto">
            <a:xfrm flipH="1">
              <a:off x="1537" y="335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1" name="Line 65">
              <a:extLst>
                <a:ext uri="{FF2B5EF4-FFF2-40B4-BE49-F238E27FC236}">
                  <a16:creationId xmlns:a16="http://schemas.microsoft.com/office/drawing/2014/main" id="{24D3A285-574C-EC9F-1ADC-BA6927CED9E1}"/>
                </a:ext>
              </a:extLst>
            </p:cNvPr>
            <p:cNvSpPr>
              <a:spLocks noChangeShapeType="1"/>
            </p:cNvSpPr>
            <p:nvPr/>
          </p:nvSpPr>
          <p:spPr bwMode="auto">
            <a:xfrm flipH="1">
              <a:off x="1776" y="327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2" name="Line 66">
              <a:extLst>
                <a:ext uri="{FF2B5EF4-FFF2-40B4-BE49-F238E27FC236}">
                  <a16:creationId xmlns:a16="http://schemas.microsoft.com/office/drawing/2014/main" id="{735A9349-BE6B-21E5-2D03-CBC362198BD8}"/>
                </a:ext>
              </a:extLst>
            </p:cNvPr>
            <p:cNvSpPr>
              <a:spLocks noChangeShapeType="1"/>
            </p:cNvSpPr>
            <p:nvPr/>
          </p:nvSpPr>
          <p:spPr bwMode="auto">
            <a:xfrm flipH="1">
              <a:off x="2015" y="319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3" name="Line 67">
              <a:extLst>
                <a:ext uri="{FF2B5EF4-FFF2-40B4-BE49-F238E27FC236}">
                  <a16:creationId xmlns:a16="http://schemas.microsoft.com/office/drawing/2014/main" id="{3F1C5676-5520-BA75-414C-7F276C7DCF28}"/>
                </a:ext>
              </a:extLst>
            </p:cNvPr>
            <p:cNvSpPr>
              <a:spLocks noChangeShapeType="1"/>
            </p:cNvSpPr>
            <p:nvPr/>
          </p:nvSpPr>
          <p:spPr bwMode="auto">
            <a:xfrm flipH="1">
              <a:off x="2254" y="311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4" name="Line 68">
              <a:extLst>
                <a:ext uri="{FF2B5EF4-FFF2-40B4-BE49-F238E27FC236}">
                  <a16:creationId xmlns:a16="http://schemas.microsoft.com/office/drawing/2014/main" id="{B6F8B1A0-3B4C-465F-C8CC-A58D48D1B539}"/>
                </a:ext>
              </a:extLst>
            </p:cNvPr>
            <p:cNvSpPr>
              <a:spLocks noChangeShapeType="1"/>
            </p:cNvSpPr>
            <p:nvPr/>
          </p:nvSpPr>
          <p:spPr bwMode="auto">
            <a:xfrm flipH="1">
              <a:off x="2493" y="303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5" name="Line 69">
              <a:extLst>
                <a:ext uri="{FF2B5EF4-FFF2-40B4-BE49-F238E27FC236}">
                  <a16:creationId xmlns:a16="http://schemas.microsoft.com/office/drawing/2014/main" id="{29842464-772F-57E4-9E4B-41F256FB0FBE}"/>
                </a:ext>
              </a:extLst>
            </p:cNvPr>
            <p:cNvSpPr>
              <a:spLocks noChangeShapeType="1"/>
            </p:cNvSpPr>
            <p:nvPr/>
          </p:nvSpPr>
          <p:spPr bwMode="auto">
            <a:xfrm flipH="1">
              <a:off x="2732" y="2960"/>
              <a:ext cx="249" cy="7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6" name="Line 70">
              <a:extLst>
                <a:ext uri="{FF2B5EF4-FFF2-40B4-BE49-F238E27FC236}">
                  <a16:creationId xmlns:a16="http://schemas.microsoft.com/office/drawing/2014/main" id="{07CE1DD6-DBA2-61D4-B740-C7CC3C2A68A7}"/>
                </a:ext>
              </a:extLst>
            </p:cNvPr>
            <p:cNvSpPr>
              <a:spLocks noChangeShapeType="1"/>
            </p:cNvSpPr>
            <p:nvPr/>
          </p:nvSpPr>
          <p:spPr bwMode="auto">
            <a:xfrm flipH="1">
              <a:off x="2981" y="288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57" name="Line 71">
              <a:extLst>
                <a:ext uri="{FF2B5EF4-FFF2-40B4-BE49-F238E27FC236}">
                  <a16:creationId xmlns:a16="http://schemas.microsoft.com/office/drawing/2014/main" id="{2FA4CAFB-1867-06F6-8CEC-24C28015FE4E}"/>
                </a:ext>
              </a:extLst>
            </p:cNvPr>
            <p:cNvSpPr>
              <a:spLocks noChangeShapeType="1"/>
            </p:cNvSpPr>
            <p:nvPr/>
          </p:nvSpPr>
          <p:spPr bwMode="auto">
            <a:xfrm flipH="1">
              <a:off x="3220" y="2800"/>
              <a:ext cx="239" cy="8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5432" name="Group 72">
            <a:extLst>
              <a:ext uri="{FF2B5EF4-FFF2-40B4-BE49-F238E27FC236}">
                <a16:creationId xmlns:a16="http://schemas.microsoft.com/office/drawing/2014/main" id="{E7DB0EB2-19E2-1DF2-B37F-A4FAE628B311}"/>
              </a:ext>
            </a:extLst>
          </p:cNvPr>
          <p:cNvGrpSpPr>
            <a:grpSpLocks/>
          </p:cNvGrpSpPr>
          <p:nvPr/>
        </p:nvGrpSpPr>
        <p:grpSpPr bwMode="auto">
          <a:xfrm>
            <a:off x="3584575" y="1809750"/>
            <a:ext cx="3430588" cy="2509838"/>
            <a:chOff x="1298" y="1140"/>
            <a:chExt cx="2161" cy="1581"/>
          </a:xfrm>
        </p:grpSpPr>
        <p:sp>
          <p:nvSpPr>
            <p:cNvPr id="56440" name="Line 73">
              <a:extLst>
                <a:ext uri="{FF2B5EF4-FFF2-40B4-BE49-F238E27FC236}">
                  <a16:creationId xmlns:a16="http://schemas.microsoft.com/office/drawing/2014/main" id="{190A0995-360E-6B62-4AE7-1D1CC6C2F169}"/>
                </a:ext>
              </a:extLst>
            </p:cNvPr>
            <p:cNvSpPr>
              <a:spLocks noChangeShapeType="1"/>
            </p:cNvSpPr>
            <p:nvPr/>
          </p:nvSpPr>
          <p:spPr bwMode="auto">
            <a:xfrm flipH="1" flipV="1">
              <a:off x="1298" y="1140"/>
              <a:ext cx="239" cy="111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1" name="Line 74">
              <a:extLst>
                <a:ext uri="{FF2B5EF4-FFF2-40B4-BE49-F238E27FC236}">
                  <a16:creationId xmlns:a16="http://schemas.microsoft.com/office/drawing/2014/main" id="{3666C0D8-DC90-63C8-0FE9-5FFCE3CC081F}"/>
                </a:ext>
              </a:extLst>
            </p:cNvPr>
            <p:cNvSpPr>
              <a:spLocks noChangeShapeType="1"/>
            </p:cNvSpPr>
            <p:nvPr/>
          </p:nvSpPr>
          <p:spPr bwMode="auto">
            <a:xfrm flipH="1" flipV="1">
              <a:off x="1537" y="2250"/>
              <a:ext cx="239" cy="31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2" name="Line 75">
              <a:extLst>
                <a:ext uri="{FF2B5EF4-FFF2-40B4-BE49-F238E27FC236}">
                  <a16:creationId xmlns:a16="http://schemas.microsoft.com/office/drawing/2014/main" id="{E5A1195F-3994-F260-7C5A-06F769A667BD}"/>
                </a:ext>
              </a:extLst>
            </p:cNvPr>
            <p:cNvSpPr>
              <a:spLocks noChangeShapeType="1"/>
            </p:cNvSpPr>
            <p:nvPr/>
          </p:nvSpPr>
          <p:spPr bwMode="auto">
            <a:xfrm flipH="1" flipV="1">
              <a:off x="1776" y="2560"/>
              <a:ext cx="239" cy="12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3" name="Line 76">
              <a:extLst>
                <a:ext uri="{FF2B5EF4-FFF2-40B4-BE49-F238E27FC236}">
                  <a16:creationId xmlns:a16="http://schemas.microsoft.com/office/drawing/2014/main" id="{0CEAB60B-5A32-9DEF-8926-2B557992EAA2}"/>
                </a:ext>
              </a:extLst>
            </p:cNvPr>
            <p:cNvSpPr>
              <a:spLocks noChangeShapeType="1"/>
            </p:cNvSpPr>
            <p:nvPr/>
          </p:nvSpPr>
          <p:spPr bwMode="auto">
            <a:xfrm flipH="1" flipV="1">
              <a:off x="2015" y="2680"/>
              <a:ext cx="239" cy="4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4" name="Line 77">
              <a:extLst>
                <a:ext uri="{FF2B5EF4-FFF2-40B4-BE49-F238E27FC236}">
                  <a16:creationId xmlns:a16="http://schemas.microsoft.com/office/drawing/2014/main" id="{AD5E26AB-01FB-0D93-A81F-C8D60867B903}"/>
                </a:ext>
              </a:extLst>
            </p:cNvPr>
            <p:cNvSpPr>
              <a:spLocks noChangeShapeType="1"/>
            </p:cNvSpPr>
            <p:nvPr/>
          </p:nvSpPr>
          <p:spPr bwMode="auto">
            <a:xfrm flipH="1">
              <a:off x="2254" y="2720"/>
              <a:ext cx="239" cy="1"/>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5" name="Line 78">
              <a:extLst>
                <a:ext uri="{FF2B5EF4-FFF2-40B4-BE49-F238E27FC236}">
                  <a16:creationId xmlns:a16="http://schemas.microsoft.com/office/drawing/2014/main" id="{7FDD6F3A-660E-7721-FC69-0CB3BCFF4B92}"/>
                </a:ext>
              </a:extLst>
            </p:cNvPr>
            <p:cNvSpPr>
              <a:spLocks noChangeShapeType="1"/>
            </p:cNvSpPr>
            <p:nvPr/>
          </p:nvSpPr>
          <p:spPr bwMode="auto">
            <a:xfrm flipH="1">
              <a:off x="2493" y="2700"/>
              <a:ext cx="239" cy="2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6" name="Line 79">
              <a:extLst>
                <a:ext uri="{FF2B5EF4-FFF2-40B4-BE49-F238E27FC236}">
                  <a16:creationId xmlns:a16="http://schemas.microsoft.com/office/drawing/2014/main" id="{DBEC7D89-F308-A11B-FAAF-39E60CE7C051}"/>
                </a:ext>
              </a:extLst>
            </p:cNvPr>
            <p:cNvSpPr>
              <a:spLocks noChangeShapeType="1"/>
            </p:cNvSpPr>
            <p:nvPr/>
          </p:nvSpPr>
          <p:spPr bwMode="auto">
            <a:xfrm flipH="1">
              <a:off x="2732" y="2660"/>
              <a:ext cx="249" cy="4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7" name="Line 80">
              <a:extLst>
                <a:ext uri="{FF2B5EF4-FFF2-40B4-BE49-F238E27FC236}">
                  <a16:creationId xmlns:a16="http://schemas.microsoft.com/office/drawing/2014/main" id="{6CE723DE-131B-B00D-5421-C77DF8396C09}"/>
                </a:ext>
              </a:extLst>
            </p:cNvPr>
            <p:cNvSpPr>
              <a:spLocks noChangeShapeType="1"/>
            </p:cNvSpPr>
            <p:nvPr/>
          </p:nvSpPr>
          <p:spPr bwMode="auto">
            <a:xfrm flipH="1">
              <a:off x="2981" y="2620"/>
              <a:ext cx="239" cy="4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56448" name="Line 81">
              <a:extLst>
                <a:ext uri="{FF2B5EF4-FFF2-40B4-BE49-F238E27FC236}">
                  <a16:creationId xmlns:a16="http://schemas.microsoft.com/office/drawing/2014/main" id="{BB6BF844-8DEA-FA58-1EEF-00F4725260C9}"/>
                </a:ext>
              </a:extLst>
            </p:cNvPr>
            <p:cNvSpPr>
              <a:spLocks noChangeShapeType="1"/>
            </p:cNvSpPr>
            <p:nvPr/>
          </p:nvSpPr>
          <p:spPr bwMode="auto">
            <a:xfrm flipH="1">
              <a:off x="3220" y="2560"/>
              <a:ext cx="239" cy="60"/>
            </a:xfrm>
            <a:prstGeom prst="line">
              <a:avLst/>
            </a:prstGeom>
            <a:noFill/>
            <a:ln w="47625">
              <a:solidFill>
                <a:srgbClr val="003F95"/>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5442" name="Group 82">
            <a:extLst>
              <a:ext uri="{FF2B5EF4-FFF2-40B4-BE49-F238E27FC236}">
                <a16:creationId xmlns:a16="http://schemas.microsoft.com/office/drawing/2014/main" id="{BF3877A6-82A1-5D58-10DC-F454B4517E9B}"/>
              </a:ext>
            </a:extLst>
          </p:cNvPr>
          <p:cNvGrpSpPr>
            <a:grpSpLocks/>
          </p:cNvGrpSpPr>
          <p:nvPr/>
        </p:nvGrpSpPr>
        <p:grpSpPr bwMode="auto">
          <a:xfrm>
            <a:off x="3552825" y="4397375"/>
            <a:ext cx="3506788" cy="1219200"/>
            <a:chOff x="1278" y="2770"/>
            <a:chExt cx="2209" cy="768"/>
          </a:xfrm>
        </p:grpSpPr>
        <p:sp>
          <p:nvSpPr>
            <p:cNvPr id="56430" name="Oval 83">
              <a:extLst>
                <a:ext uri="{FF2B5EF4-FFF2-40B4-BE49-F238E27FC236}">
                  <a16:creationId xmlns:a16="http://schemas.microsoft.com/office/drawing/2014/main" id="{ECDCE7B3-C754-75A3-43AF-5DF3EC76960B}"/>
                </a:ext>
              </a:extLst>
            </p:cNvPr>
            <p:cNvSpPr>
              <a:spLocks noChangeArrowheads="1"/>
            </p:cNvSpPr>
            <p:nvPr/>
          </p:nvSpPr>
          <p:spPr bwMode="auto">
            <a:xfrm>
              <a:off x="1278" y="348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1" name="Oval 84">
              <a:extLst>
                <a:ext uri="{FF2B5EF4-FFF2-40B4-BE49-F238E27FC236}">
                  <a16:creationId xmlns:a16="http://schemas.microsoft.com/office/drawing/2014/main" id="{A37B7C8D-DA3E-E73D-D7EE-23C1FA64F858}"/>
                </a:ext>
              </a:extLst>
            </p:cNvPr>
            <p:cNvSpPr>
              <a:spLocks noChangeArrowheads="1"/>
            </p:cNvSpPr>
            <p:nvPr/>
          </p:nvSpPr>
          <p:spPr bwMode="auto">
            <a:xfrm>
              <a:off x="1517" y="340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2" name="Oval 85">
              <a:extLst>
                <a:ext uri="{FF2B5EF4-FFF2-40B4-BE49-F238E27FC236}">
                  <a16:creationId xmlns:a16="http://schemas.microsoft.com/office/drawing/2014/main" id="{655E06AC-0BF9-0B74-3A20-2980510B3C24}"/>
                </a:ext>
              </a:extLst>
            </p:cNvPr>
            <p:cNvSpPr>
              <a:spLocks noChangeArrowheads="1"/>
            </p:cNvSpPr>
            <p:nvPr/>
          </p:nvSpPr>
          <p:spPr bwMode="auto">
            <a:xfrm>
              <a:off x="1756" y="33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3" name="Oval 86">
              <a:extLst>
                <a:ext uri="{FF2B5EF4-FFF2-40B4-BE49-F238E27FC236}">
                  <a16:creationId xmlns:a16="http://schemas.microsoft.com/office/drawing/2014/main" id="{C3C90581-5632-34CD-CD78-3CCEA8F0145E}"/>
                </a:ext>
              </a:extLst>
            </p:cNvPr>
            <p:cNvSpPr>
              <a:spLocks noChangeArrowheads="1"/>
            </p:cNvSpPr>
            <p:nvPr/>
          </p:nvSpPr>
          <p:spPr bwMode="auto">
            <a:xfrm>
              <a:off x="1995" y="32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4" name="Oval 87">
              <a:extLst>
                <a:ext uri="{FF2B5EF4-FFF2-40B4-BE49-F238E27FC236}">
                  <a16:creationId xmlns:a16="http://schemas.microsoft.com/office/drawing/2014/main" id="{A9DD6CE2-99E6-B249-76AC-27072D907C37}"/>
                </a:ext>
              </a:extLst>
            </p:cNvPr>
            <p:cNvSpPr>
              <a:spLocks noChangeArrowheads="1"/>
            </p:cNvSpPr>
            <p:nvPr/>
          </p:nvSpPr>
          <p:spPr bwMode="auto">
            <a:xfrm>
              <a:off x="2234" y="317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5" name="Oval 88">
              <a:extLst>
                <a:ext uri="{FF2B5EF4-FFF2-40B4-BE49-F238E27FC236}">
                  <a16:creationId xmlns:a16="http://schemas.microsoft.com/office/drawing/2014/main" id="{6D8F9BE5-36C3-0E47-DEDF-9E8854CD1192}"/>
                </a:ext>
              </a:extLst>
            </p:cNvPr>
            <p:cNvSpPr>
              <a:spLocks noChangeArrowheads="1"/>
            </p:cNvSpPr>
            <p:nvPr/>
          </p:nvSpPr>
          <p:spPr bwMode="auto">
            <a:xfrm>
              <a:off x="2473" y="309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6" name="Oval 89">
              <a:extLst>
                <a:ext uri="{FF2B5EF4-FFF2-40B4-BE49-F238E27FC236}">
                  <a16:creationId xmlns:a16="http://schemas.microsoft.com/office/drawing/2014/main" id="{706D1DC9-41D5-29C9-8E28-B9A7EFCD0691}"/>
                </a:ext>
              </a:extLst>
            </p:cNvPr>
            <p:cNvSpPr>
              <a:spLocks noChangeArrowheads="1"/>
            </p:cNvSpPr>
            <p:nvPr/>
          </p:nvSpPr>
          <p:spPr bwMode="auto">
            <a:xfrm>
              <a:off x="2712" y="301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7" name="Oval 90">
              <a:extLst>
                <a:ext uri="{FF2B5EF4-FFF2-40B4-BE49-F238E27FC236}">
                  <a16:creationId xmlns:a16="http://schemas.microsoft.com/office/drawing/2014/main" id="{64FDA6A5-AD5C-E703-FCE5-881B4FBA977F}"/>
                </a:ext>
              </a:extLst>
            </p:cNvPr>
            <p:cNvSpPr>
              <a:spLocks noChangeArrowheads="1"/>
            </p:cNvSpPr>
            <p:nvPr/>
          </p:nvSpPr>
          <p:spPr bwMode="auto">
            <a:xfrm>
              <a:off x="2951" y="293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8" name="Oval 91">
              <a:extLst>
                <a:ext uri="{FF2B5EF4-FFF2-40B4-BE49-F238E27FC236}">
                  <a16:creationId xmlns:a16="http://schemas.microsoft.com/office/drawing/2014/main" id="{B127F719-3550-44E7-EB67-6E60379948E8}"/>
                </a:ext>
              </a:extLst>
            </p:cNvPr>
            <p:cNvSpPr>
              <a:spLocks noChangeArrowheads="1"/>
            </p:cNvSpPr>
            <p:nvPr/>
          </p:nvSpPr>
          <p:spPr bwMode="auto">
            <a:xfrm>
              <a:off x="3190" y="285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39" name="Oval 92">
              <a:extLst>
                <a:ext uri="{FF2B5EF4-FFF2-40B4-BE49-F238E27FC236}">
                  <a16:creationId xmlns:a16="http://schemas.microsoft.com/office/drawing/2014/main" id="{995AB294-E55A-E18B-0C77-B3928708B01A}"/>
                </a:ext>
              </a:extLst>
            </p:cNvPr>
            <p:cNvSpPr>
              <a:spLocks noChangeArrowheads="1"/>
            </p:cNvSpPr>
            <p:nvPr/>
          </p:nvSpPr>
          <p:spPr bwMode="auto">
            <a:xfrm>
              <a:off x="3429" y="277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pSp>
      <p:grpSp>
        <p:nvGrpSpPr>
          <p:cNvPr id="15453" name="Group 93">
            <a:extLst>
              <a:ext uri="{FF2B5EF4-FFF2-40B4-BE49-F238E27FC236}">
                <a16:creationId xmlns:a16="http://schemas.microsoft.com/office/drawing/2014/main" id="{193C978A-44EF-F9B7-C3CC-D0005883A72A}"/>
              </a:ext>
            </a:extLst>
          </p:cNvPr>
          <p:cNvGrpSpPr>
            <a:grpSpLocks/>
          </p:cNvGrpSpPr>
          <p:nvPr/>
        </p:nvGrpSpPr>
        <p:grpSpPr bwMode="auto">
          <a:xfrm>
            <a:off x="3552825" y="2143125"/>
            <a:ext cx="3506788" cy="3473450"/>
            <a:chOff x="1278" y="1350"/>
            <a:chExt cx="2209" cy="2188"/>
          </a:xfrm>
        </p:grpSpPr>
        <p:sp>
          <p:nvSpPr>
            <p:cNvPr id="56420" name="Oval 94">
              <a:extLst>
                <a:ext uri="{FF2B5EF4-FFF2-40B4-BE49-F238E27FC236}">
                  <a16:creationId xmlns:a16="http://schemas.microsoft.com/office/drawing/2014/main" id="{07FF9EFA-1122-0234-B84D-3ADB3CF144A0}"/>
                </a:ext>
              </a:extLst>
            </p:cNvPr>
            <p:cNvSpPr>
              <a:spLocks noChangeArrowheads="1"/>
            </p:cNvSpPr>
            <p:nvPr/>
          </p:nvSpPr>
          <p:spPr bwMode="auto">
            <a:xfrm>
              <a:off x="3429" y="348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1" name="Oval 95">
              <a:extLst>
                <a:ext uri="{FF2B5EF4-FFF2-40B4-BE49-F238E27FC236}">
                  <a16:creationId xmlns:a16="http://schemas.microsoft.com/office/drawing/2014/main" id="{D15F8CAE-4B56-B00B-3364-A6057BA9B37D}"/>
                </a:ext>
              </a:extLst>
            </p:cNvPr>
            <p:cNvSpPr>
              <a:spLocks noChangeArrowheads="1"/>
            </p:cNvSpPr>
            <p:nvPr/>
          </p:nvSpPr>
          <p:spPr bwMode="auto">
            <a:xfrm>
              <a:off x="3190" y="346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2" name="Oval 96">
              <a:extLst>
                <a:ext uri="{FF2B5EF4-FFF2-40B4-BE49-F238E27FC236}">
                  <a16:creationId xmlns:a16="http://schemas.microsoft.com/office/drawing/2014/main" id="{7ADB2992-B45D-7056-FD73-DCD0F17551A3}"/>
                </a:ext>
              </a:extLst>
            </p:cNvPr>
            <p:cNvSpPr>
              <a:spLocks noChangeArrowheads="1"/>
            </p:cNvSpPr>
            <p:nvPr/>
          </p:nvSpPr>
          <p:spPr bwMode="auto">
            <a:xfrm>
              <a:off x="2951" y="34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3" name="Oval 97">
              <a:extLst>
                <a:ext uri="{FF2B5EF4-FFF2-40B4-BE49-F238E27FC236}">
                  <a16:creationId xmlns:a16="http://schemas.microsoft.com/office/drawing/2014/main" id="{12319077-8611-D14C-8CC0-FDB8A9765E9E}"/>
                </a:ext>
              </a:extLst>
            </p:cNvPr>
            <p:cNvSpPr>
              <a:spLocks noChangeArrowheads="1"/>
            </p:cNvSpPr>
            <p:nvPr/>
          </p:nvSpPr>
          <p:spPr bwMode="auto">
            <a:xfrm>
              <a:off x="2712" y="338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4" name="Oval 98">
              <a:extLst>
                <a:ext uri="{FF2B5EF4-FFF2-40B4-BE49-F238E27FC236}">
                  <a16:creationId xmlns:a16="http://schemas.microsoft.com/office/drawing/2014/main" id="{83BF2A2F-BB51-9FEF-65B3-1D5253D3DEF1}"/>
                </a:ext>
              </a:extLst>
            </p:cNvPr>
            <p:cNvSpPr>
              <a:spLocks noChangeArrowheads="1"/>
            </p:cNvSpPr>
            <p:nvPr/>
          </p:nvSpPr>
          <p:spPr bwMode="auto">
            <a:xfrm>
              <a:off x="2473" y="33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5" name="Oval 99">
              <a:extLst>
                <a:ext uri="{FF2B5EF4-FFF2-40B4-BE49-F238E27FC236}">
                  <a16:creationId xmlns:a16="http://schemas.microsoft.com/office/drawing/2014/main" id="{9776544A-8207-5C0E-FB01-6C57EB2FED30}"/>
                </a:ext>
              </a:extLst>
            </p:cNvPr>
            <p:cNvSpPr>
              <a:spLocks noChangeArrowheads="1"/>
            </p:cNvSpPr>
            <p:nvPr/>
          </p:nvSpPr>
          <p:spPr bwMode="auto">
            <a:xfrm>
              <a:off x="2234" y="32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6" name="Oval 100">
              <a:extLst>
                <a:ext uri="{FF2B5EF4-FFF2-40B4-BE49-F238E27FC236}">
                  <a16:creationId xmlns:a16="http://schemas.microsoft.com/office/drawing/2014/main" id="{B5BFD363-EFA4-CEFB-7E59-05C43ECBBCB9}"/>
                </a:ext>
              </a:extLst>
            </p:cNvPr>
            <p:cNvSpPr>
              <a:spLocks noChangeArrowheads="1"/>
            </p:cNvSpPr>
            <p:nvPr/>
          </p:nvSpPr>
          <p:spPr bwMode="auto">
            <a:xfrm>
              <a:off x="1995" y="313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7" name="Oval 101">
              <a:extLst>
                <a:ext uri="{FF2B5EF4-FFF2-40B4-BE49-F238E27FC236}">
                  <a16:creationId xmlns:a16="http://schemas.microsoft.com/office/drawing/2014/main" id="{3307FA0F-433B-03F5-019D-8D452A22E5DE}"/>
                </a:ext>
              </a:extLst>
            </p:cNvPr>
            <p:cNvSpPr>
              <a:spLocks noChangeArrowheads="1"/>
            </p:cNvSpPr>
            <p:nvPr/>
          </p:nvSpPr>
          <p:spPr bwMode="auto">
            <a:xfrm>
              <a:off x="1756" y="293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8" name="Oval 102">
              <a:extLst>
                <a:ext uri="{FF2B5EF4-FFF2-40B4-BE49-F238E27FC236}">
                  <a16:creationId xmlns:a16="http://schemas.microsoft.com/office/drawing/2014/main" id="{6DB12CCE-27CA-923F-0459-F00BF2A375F6}"/>
                </a:ext>
              </a:extLst>
            </p:cNvPr>
            <p:cNvSpPr>
              <a:spLocks noChangeArrowheads="1"/>
            </p:cNvSpPr>
            <p:nvPr/>
          </p:nvSpPr>
          <p:spPr bwMode="auto">
            <a:xfrm>
              <a:off x="1278" y="135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29" name="Oval 103">
              <a:extLst>
                <a:ext uri="{FF2B5EF4-FFF2-40B4-BE49-F238E27FC236}">
                  <a16:creationId xmlns:a16="http://schemas.microsoft.com/office/drawing/2014/main" id="{E3ED12A0-613F-F9C0-E5BC-7550994DA985}"/>
                </a:ext>
              </a:extLst>
            </p:cNvPr>
            <p:cNvSpPr>
              <a:spLocks noChangeArrowheads="1"/>
            </p:cNvSpPr>
            <p:nvPr/>
          </p:nvSpPr>
          <p:spPr bwMode="auto">
            <a:xfrm>
              <a:off x="1517" y="25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pSp>
      <p:grpSp>
        <p:nvGrpSpPr>
          <p:cNvPr id="15464" name="Group 104">
            <a:extLst>
              <a:ext uri="{FF2B5EF4-FFF2-40B4-BE49-F238E27FC236}">
                <a16:creationId xmlns:a16="http://schemas.microsoft.com/office/drawing/2014/main" id="{24D66585-C6B2-5674-1291-561D23482B98}"/>
              </a:ext>
            </a:extLst>
          </p:cNvPr>
          <p:cNvGrpSpPr>
            <a:grpSpLocks/>
          </p:cNvGrpSpPr>
          <p:nvPr/>
        </p:nvGrpSpPr>
        <p:grpSpPr bwMode="auto">
          <a:xfrm>
            <a:off x="3363913" y="3270250"/>
            <a:ext cx="3506787" cy="2346325"/>
            <a:chOff x="1159" y="2060"/>
            <a:chExt cx="2209" cy="1478"/>
          </a:xfrm>
        </p:grpSpPr>
        <p:sp>
          <p:nvSpPr>
            <p:cNvPr id="56410" name="Oval 105">
              <a:extLst>
                <a:ext uri="{FF2B5EF4-FFF2-40B4-BE49-F238E27FC236}">
                  <a16:creationId xmlns:a16="http://schemas.microsoft.com/office/drawing/2014/main" id="{0F440EC9-C1F7-2944-25AF-B236D5FA590C}"/>
                </a:ext>
              </a:extLst>
            </p:cNvPr>
            <p:cNvSpPr>
              <a:spLocks noChangeArrowheads="1"/>
            </p:cNvSpPr>
            <p:nvPr/>
          </p:nvSpPr>
          <p:spPr bwMode="auto">
            <a:xfrm>
              <a:off x="1159" y="348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1" name="Oval 106">
              <a:extLst>
                <a:ext uri="{FF2B5EF4-FFF2-40B4-BE49-F238E27FC236}">
                  <a16:creationId xmlns:a16="http://schemas.microsoft.com/office/drawing/2014/main" id="{30CE80E5-A4A4-F978-E3CF-E0AADB8631F1}"/>
                </a:ext>
              </a:extLst>
            </p:cNvPr>
            <p:cNvSpPr>
              <a:spLocks noChangeArrowheads="1"/>
            </p:cNvSpPr>
            <p:nvPr/>
          </p:nvSpPr>
          <p:spPr bwMode="auto">
            <a:xfrm>
              <a:off x="1398" y="33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2" name="Oval 107">
              <a:extLst>
                <a:ext uri="{FF2B5EF4-FFF2-40B4-BE49-F238E27FC236}">
                  <a16:creationId xmlns:a16="http://schemas.microsoft.com/office/drawing/2014/main" id="{2C90A023-1FD1-BF29-1C66-C12AAB148B7C}"/>
                </a:ext>
              </a:extLst>
            </p:cNvPr>
            <p:cNvSpPr>
              <a:spLocks noChangeArrowheads="1"/>
            </p:cNvSpPr>
            <p:nvPr/>
          </p:nvSpPr>
          <p:spPr bwMode="auto">
            <a:xfrm>
              <a:off x="1637" y="317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3" name="Oval 108">
              <a:extLst>
                <a:ext uri="{FF2B5EF4-FFF2-40B4-BE49-F238E27FC236}">
                  <a16:creationId xmlns:a16="http://schemas.microsoft.com/office/drawing/2014/main" id="{CB240081-9F8E-F8A0-A626-1EDC8CC6C89A}"/>
                </a:ext>
              </a:extLst>
            </p:cNvPr>
            <p:cNvSpPr>
              <a:spLocks noChangeArrowheads="1"/>
            </p:cNvSpPr>
            <p:nvPr/>
          </p:nvSpPr>
          <p:spPr bwMode="auto">
            <a:xfrm>
              <a:off x="1876" y="301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4" name="Oval 109">
              <a:extLst>
                <a:ext uri="{FF2B5EF4-FFF2-40B4-BE49-F238E27FC236}">
                  <a16:creationId xmlns:a16="http://schemas.microsoft.com/office/drawing/2014/main" id="{E7FD6D9B-7F3E-0AB3-CB48-864611FE2199}"/>
                </a:ext>
              </a:extLst>
            </p:cNvPr>
            <p:cNvSpPr>
              <a:spLocks noChangeArrowheads="1"/>
            </p:cNvSpPr>
            <p:nvPr/>
          </p:nvSpPr>
          <p:spPr bwMode="auto">
            <a:xfrm>
              <a:off x="2115" y="285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5" name="Oval 110">
              <a:extLst>
                <a:ext uri="{FF2B5EF4-FFF2-40B4-BE49-F238E27FC236}">
                  <a16:creationId xmlns:a16="http://schemas.microsoft.com/office/drawing/2014/main" id="{38559E34-A8E2-AAB2-8B87-8C9BBA3203D7}"/>
                </a:ext>
              </a:extLst>
            </p:cNvPr>
            <p:cNvSpPr>
              <a:spLocks noChangeArrowheads="1"/>
            </p:cNvSpPr>
            <p:nvPr/>
          </p:nvSpPr>
          <p:spPr bwMode="auto">
            <a:xfrm>
              <a:off x="2354" y="269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6" name="Oval 111">
              <a:extLst>
                <a:ext uri="{FF2B5EF4-FFF2-40B4-BE49-F238E27FC236}">
                  <a16:creationId xmlns:a16="http://schemas.microsoft.com/office/drawing/2014/main" id="{FBC5950D-4597-1850-1BEC-E0E2CC5ECE71}"/>
                </a:ext>
              </a:extLst>
            </p:cNvPr>
            <p:cNvSpPr>
              <a:spLocks noChangeArrowheads="1"/>
            </p:cNvSpPr>
            <p:nvPr/>
          </p:nvSpPr>
          <p:spPr bwMode="auto">
            <a:xfrm>
              <a:off x="2593" y="25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7" name="Oval 112">
              <a:extLst>
                <a:ext uri="{FF2B5EF4-FFF2-40B4-BE49-F238E27FC236}">
                  <a16:creationId xmlns:a16="http://schemas.microsoft.com/office/drawing/2014/main" id="{CDB8705A-3067-B3E4-5CBA-AC95A4BA52B6}"/>
                </a:ext>
              </a:extLst>
            </p:cNvPr>
            <p:cNvSpPr>
              <a:spLocks noChangeArrowheads="1"/>
            </p:cNvSpPr>
            <p:nvPr/>
          </p:nvSpPr>
          <p:spPr bwMode="auto">
            <a:xfrm>
              <a:off x="2832" y="238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8" name="Oval 113">
              <a:extLst>
                <a:ext uri="{FF2B5EF4-FFF2-40B4-BE49-F238E27FC236}">
                  <a16:creationId xmlns:a16="http://schemas.microsoft.com/office/drawing/2014/main" id="{3211D98B-F227-8340-2987-4C54035CA39B}"/>
                </a:ext>
              </a:extLst>
            </p:cNvPr>
            <p:cNvSpPr>
              <a:spLocks noChangeArrowheads="1"/>
            </p:cNvSpPr>
            <p:nvPr/>
          </p:nvSpPr>
          <p:spPr bwMode="auto">
            <a:xfrm>
              <a:off x="3071" y="22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19" name="Oval 114">
              <a:extLst>
                <a:ext uri="{FF2B5EF4-FFF2-40B4-BE49-F238E27FC236}">
                  <a16:creationId xmlns:a16="http://schemas.microsoft.com/office/drawing/2014/main" id="{8843BD11-8626-F230-D648-4B5C9C5932FF}"/>
                </a:ext>
              </a:extLst>
            </p:cNvPr>
            <p:cNvSpPr>
              <a:spLocks noChangeArrowheads="1"/>
            </p:cNvSpPr>
            <p:nvPr/>
          </p:nvSpPr>
          <p:spPr bwMode="auto">
            <a:xfrm>
              <a:off x="3310" y="206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pSp>
      <p:grpSp>
        <p:nvGrpSpPr>
          <p:cNvPr id="15475" name="Group 115">
            <a:extLst>
              <a:ext uri="{FF2B5EF4-FFF2-40B4-BE49-F238E27FC236}">
                <a16:creationId xmlns:a16="http://schemas.microsoft.com/office/drawing/2014/main" id="{DAD1B81E-30F9-2052-1D6C-B0E446F5BFFD}"/>
              </a:ext>
            </a:extLst>
          </p:cNvPr>
          <p:cNvGrpSpPr>
            <a:grpSpLocks/>
          </p:cNvGrpSpPr>
          <p:nvPr/>
        </p:nvGrpSpPr>
        <p:grpSpPr bwMode="auto">
          <a:xfrm>
            <a:off x="3552825" y="1778000"/>
            <a:ext cx="3506788" cy="2584450"/>
            <a:chOff x="1278" y="1120"/>
            <a:chExt cx="2209" cy="1628"/>
          </a:xfrm>
        </p:grpSpPr>
        <p:sp>
          <p:nvSpPr>
            <p:cNvPr id="56400" name="Oval 116">
              <a:extLst>
                <a:ext uri="{FF2B5EF4-FFF2-40B4-BE49-F238E27FC236}">
                  <a16:creationId xmlns:a16="http://schemas.microsoft.com/office/drawing/2014/main" id="{C4F84FD8-D1BE-69BE-5762-FF1470F72EEF}"/>
                </a:ext>
              </a:extLst>
            </p:cNvPr>
            <p:cNvSpPr>
              <a:spLocks noChangeArrowheads="1"/>
            </p:cNvSpPr>
            <p:nvPr/>
          </p:nvSpPr>
          <p:spPr bwMode="auto">
            <a:xfrm>
              <a:off x="2234" y="269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1" name="Oval 117">
              <a:extLst>
                <a:ext uri="{FF2B5EF4-FFF2-40B4-BE49-F238E27FC236}">
                  <a16:creationId xmlns:a16="http://schemas.microsoft.com/office/drawing/2014/main" id="{4B60CBEA-D626-3BC3-C61C-CC7151BDEED3}"/>
                </a:ext>
              </a:extLst>
            </p:cNvPr>
            <p:cNvSpPr>
              <a:spLocks noChangeArrowheads="1"/>
            </p:cNvSpPr>
            <p:nvPr/>
          </p:nvSpPr>
          <p:spPr bwMode="auto">
            <a:xfrm>
              <a:off x="1995" y="265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2" name="Oval 118">
              <a:extLst>
                <a:ext uri="{FF2B5EF4-FFF2-40B4-BE49-F238E27FC236}">
                  <a16:creationId xmlns:a16="http://schemas.microsoft.com/office/drawing/2014/main" id="{33AA0614-0021-2DB5-A6BE-638B37B59DFD}"/>
                </a:ext>
              </a:extLst>
            </p:cNvPr>
            <p:cNvSpPr>
              <a:spLocks noChangeArrowheads="1"/>
            </p:cNvSpPr>
            <p:nvPr/>
          </p:nvSpPr>
          <p:spPr bwMode="auto">
            <a:xfrm>
              <a:off x="1756" y="25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3" name="Oval 119">
              <a:extLst>
                <a:ext uri="{FF2B5EF4-FFF2-40B4-BE49-F238E27FC236}">
                  <a16:creationId xmlns:a16="http://schemas.microsoft.com/office/drawing/2014/main" id="{4798FBB4-7ED8-85CA-30DB-5419E3C0863B}"/>
                </a:ext>
              </a:extLst>
            </p:cNvPr>
            <p:cNvSpPr>
              <a:spLocks noChangeArrowheads="1"/>
            </p:cNvSpPr>
            <p:nvPr/>
          </p:nvSpPr>
          <p:spPr bwMode="auto">
            <a:xfrm>
              <a:off x="1517" y="22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4" name="Oval 120">
              <a:extLst>
                <a:ext uri="{FF2B5EF4-FFF2-40B4-BE49-F238E27FC236}">
                  <a16:creationId xmlns:a16="http://schemas.microsoft.com/office/drawing/2014/main" id="{6D6CFCF5-2CA7-5D94-F6C7-B8BA518BB075}"/>
                </a:ext>
              </a:extLst>
            </p:cNvPr>
            <p:cNvSpPr>
              <a:spLocks noChangeArrowheads="1"/>
            </p:cNvSpPr>
            <p:nvPr/>
          </p:nvSpPr>
          <p:spPr bwMode="auto">
            <a:xfrm>
              <a:off x="1278" y="112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5" name="Oval 121">
              <a:extLst>
                <a:ext uri="{FF2B5EF4-FFF2-40B4-BE49-F238E27FC236}">
                  <a16:creationId xmlns:a16="http://schemas.microsoft.com/office/drawing/2014/main" id="{01BBE18E-F149-83FE-8B95-23C8B3A58121}"/>
                </a:ext>
              </a:extLst>
            </p:cNvPr>
            <p:cNvSpPr>
              <a:spLocks noChangeArrowheads="1"/>
            </p:cNvSpPr>
            <p:nvPr/>
          </p:nvSpPr>
          <p:spPr bwMode="auto">
            <a:xfrm>
              <a:off x="3429" y="254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6" name="Oval 122">
              <a:extLst>
                <a:ext uri="{FF2B5EF4-FFF2-40B4-BE49-F238E27FC236}">
                  <a16:creationId xmlns:a16="http://schemas.microsoft.com/office/drawing/2014/main" id="{2FA04F6B-5DEF-8D8F-6B91-5FDF688C467E}"/>
                </a:ext>
              </a:extLst>
            </p:cNvPr>
            <p:cNvSpPr>
              <a:spLocks noChangeArrowheads="1"/>
            </p:cNvSpPr>
            <p:nvPr/>
          </p:nvSpPr>
          <p:spPr bwMode="auto">
            <a:xfrm>
              <a:off x="3190" y="259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7" name="Oval 123">
              <a:extLst>
                <a:ext uri="{FF2B5EF4-FFF2-40B4-BE49-F238E27FC236}">
                  <a16:creationId xmlns:a16="http://schemas.microsoft.com/office/drawing/2014/main" id="{07F8012A-7C05-453F-C9A4-C9E5436D9DE6}"/>
                </a:ext>
              </a:extLst>
            </p:cNvPr>
            <p:cNvSpPr>
              <a:spLocks noChangeArrowheads="1"/>
            </p:cNvSpPr>
            <p:nvPr/>
          </p:nvSpPr>
          <p:spPr bwMode="auto">
            <a:xfrm>
              <a:off x="2951" y="263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8" name="Oval 124">
              <a:extLst>
                <a:ext uri="{FF2B5EF4-FFF2-40B4-BE49-F238E27FC236}">
                  <a16:creationId xmlns:a16="http://schemas.microsoft.com/office/drawing/2014/main" id="{6F76D705-5135-252E-B55A-F990F33ADF48}"/>
                </a:ext>
              </a:extLst>
            </p:cNvPr>
            <p:cNvSpPr>
              <a:spLocks noChangeArrowheads="1"/>
            </p:cNvSpPr>
            <p:nvPr/>
          </p:nvSpPr>
          <p:spPr bwMode="auto">
            <a:xfrm>
              <a:off x="2712" y="267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6409" name="Oval 125">
              <a:extLst>
                <a:ext uri="{FF2B5EF4-FFF2-40B4-BE49-F238E27FC236}">
                  <a16:creationId xmlns:a16="http://schemas.microsoft.com/office/drawing/2014/main" id="{E5BDC281-D248-B53F-8E1F-B1C0CAEDA167}"/>
                </a:ext>
              </a:extLst>
            </p:cNvPr>
            <p:cNvSpPr>
              <a:spLocks noChangeArrowheads="1"/>
            </p:cNvSpPr>
            <p:nvPr/>
          </p:nvSpPr>
          <p:spPr bwMode="auto">
            <a:xfrm>
              <a:off x="2473" y="2690"/>
              <a:ext cx="58" cy="5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grpSp>
      <p:sp>
        <p:nvSpPr>
          <p:cNvPr id="56367" name="Rectangle 126">
            <a:extLst>
              <a:ext uri="{FF2B5EF4-FFF2-40B4-BE49-F238E27FC236}">
                <a16:creationId xmlns:a16="http://schemas.microsoft.com/office/drawing/2014/main" id="{F5DF208F-5C48-6019-F562-47F325014B53}"/>
              </a:ext>
            </a:extLst>
          </p:cNvPr>
          <p:cNvSpPr>
            <a:spLocks noChangeArrowheads="1"/>
          </p:cNvSpPr>
          <p:nvPr/>
        </p:nvSpPr>
        <p:spPr bwMode="auto">
          <a:xfrm>
            <a:off x="2665413" y="1190625"/>
            <a:ext cx="4603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solidFill>
                  <a:srgbClr val="000000"/>
                </a:solidFill>
                <a:latin typeface="Arial" panose="020B0604020202020204" pitchFamily="34" charset="0"/>
              </a:rPr>
              <a:t>Costs</a:t>
            </a:r>
            <a:endParaRPr lang="en-US" altLang="en-US" sz="1800">
              <a:latin typeface="Arial" panose="020B0604020202020204" pitchFamily="34" charset="0"/>
            </a:endParaRPr>
          </a:p>
        </p:txBody>
      </p:sp>
      <p:sp>
        <p:nvSpPr>
          <p:cNvPr id="56368" name="Rectangle 127">
            <a:extLst>
              <a:ext uri="{FF2B5EF4-FFF2-40B4-BE49-F238E27FC236}">
                <a16:creationId xmlns:a16="http://schemas.microsoft.com/office/drawing/2014/main" id="{04B77FCE-1BD3-722A-9C81-A6D77D1940A2}"/>
              </a:ext>
            </a:extLst>
          </p:cNvPr>
          <p:cNvSpPr>
            <a:spLocks noChangeArrowheads="1"/>
          </p:cNvSpPr>
          <p:nvPr/>
        </p:nvSpPr>
        <p:spPr bwMode="auto">
          <a:xfrm>
            <a:off x="2713038" y="1504950"/>
            <a:ext cx="4191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$3.50</a:t>
            </a:r>
            <a:endParaRPr lang="en-US" altLang="en-US" sz="1800">
              <a:latin typeface="Arial" panose="020B0604020202020204" pitchFamily="34" charset="0"/>
            </a:endParaRPr>
          </a:p>
        </p:txBody>
      </p:sp>
      <p:sp>
        <p:nvSpPr>
          <p:cNvPr id="56369" name="Rectangle 128">
            <a:extLst>
              <a:ext uri="{FF2B5EF4-FFF2-40B4-BE49-F238E27FC236}">
                <a16:creationId xmlns:a16="http://schemas.microsoft.com/office/drawing/2014/main" id="{34DC67D1-2A34-4A50-21B5-2C834276E3C7}"/>
              </a:ext>
            </a:extLst>
          </p:cNvPr>
          <p:cNvSpPr>
            <a:spLocks noChangeArrowheads="1"/>
          </p:cNvSpPr>
          <p:nvPr/>
        </p:nvSpPr>
        <p:spPr bwMode="auto">
          <a:xfrm>
            <a:off x="2806700" y="1812925"/>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3.25</a:t>
            </a:r>
            <a:endParaRPr lang="en-US" altLang="en-US" sz="1800">
              <a:latin typeface="Arial" panose="020B0604020202020204" pitchFamily="34" charset="0"/>
            </a:endParaRPr>
          </a:p>
        </p:txBody>
      </p:sp>
      <p:sp>
        <p:nvSpPr>
          <p:cNvPr id="56370" name="Rectangle 129">
            <a:extLst>
              <a:ext uri="{FF2B5EF4-FFF2-40B4-BE49-F238E27FC236}">
                <a16:creationId xmlns:a16="http://schemas.microsoft.com/office/drawing/2014/main" id="{E3396397-C670-1EF6-A3D3-23B2CFBBF6AD}"/>
              </a:ext>
            </a:extLst>
          </p:cNvPr>
          <p:cNvSpPr>
            <a:spLocks noChangeArrowheads="1"/>
          </p:cNvSpPr>
          <p:nvPr/>
        </p:nvSpPr>
        <p:spPr bwMode="auto">
          <a:xfrm>
            <a:off x="2806700" y="2122488"/>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3.00</a:t>
            </a:r>
            <a:endParaRPr lang="en-US" altLang="en-US" sz="1800">
              <a:latin typeface="Arial" panose="020B0604020202020204" pitchFamily="34" charset="0"/>
            </a:endParaRPr>
          </a:p>
        </p:txBody>
      </p:sp>
      <p:sp>
        <p:nvSpPr>
          <p:cNvPr id="56371" name="Rectangle 130">
            <a:extLst>
              <a:ext uri="{FF2B5EF4-FFF2-40B4-BE49-F238E27FC236}">
                <a16:creationId xmlns:a16="http://schemas.microsoft.com/office/drawing/2014/main" id="{ACD2C3C7-D87E-68E2-BE88-BAA6B21EFDF8}"/>
              </a:ext>
            </a:extLst>
          </p:cNvPr>
          <p:cNvSpPr>
            <a:spLocks noChangeArrowheads="1"/>
          </p:cNvSpPr>
          <p:nvPr/>
        </p:nvSpPr>
        <p:spPr bwMode="auto">
          <a:xfrm>
            <a:off x="2806700" y="2432050"/>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2.75</a:t>
            </a:r>
            <a:endParaRPr lang="en-US" altLang="en-US" sz="1800">
              <a:latin typeface="Arial" panose="020B0604020202020204" pitchFamily="34" charset="0"/>
            </a:endParaRPr>
          </a:p>
        </p:txBody>
      </p:sp>
      <p:sp>
        <p:nvSpPr>
          <p:cNvPr id="56372" name="Rectangle 131">
            <a:extLst>
              <a:ext uri="{FF2B5EF4-FFF2-40B4-BE49-F238E27FC236}">
                <a16:creationId xmlns:a16="http://schemas.microsoft.com/office/drawing/2014/main" id="{203F25EB-C472-EEAC-1824-70E89E4719CD}"/>
              </a:ext>
            </a:extLst>
          </p:cNvPr>
          <p:cNvSpPr>
            <a:spLocks noChangeArrowheads="1"/>
          </p:cNvSpPr>
          <p:nvPr/>
        </p:nvSpPr>
        <p:spPr bwMode="auto">
          <a:xfrm>
            <a:off x="2806700" y="2741613"/>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2.50</a:t>
            </a:r>
            <a:endParaRPr lang="en-US" altLang="en-US" sz="1800">
              <a:latin typeface="Arial" panose="020B0604020202020204" pitchFamily="34" charset="0"/>
            </a:endParaRPr>
          </a:p>
        </p:txBody>
      </p:sp>
      <p:sp>
        <p:nvSpPr>
          <p:cNvPr id="56373" name="Rectangle 132">
            <a:extLst>
              <a:ext uri="{FF2B5EF4-FFF2-40B4-BE49-F238E27FC236}">
                <a16:creationId xmlns:a16="http://schemas.microsoft.com/office/drawing/2014/main" id="{B87B3F87-2C64-409A-7859-8EAD7807B151}"/>
              </a:ext>
            </a:extLst>
          </p:cNvPr>
          <p:cNvSpPr>
            <a:spLocks noChangeArrowheads="1"/>
          </p:cNvSpPr>
          <p:nvPr/>
        </p:nvSpPr>
        <p:spPr bwMode="auto">
          <a:xfrm>
            <a:off x="2806700" y="3051175"/>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2.25</a:t>
            </a:r>
            <a:endParaRPr lang="en-US" altLang="en-US" sz="1800">
              <a:latin typeface="Arial" panose="020B0604020202020204" pitchFamily="34" charset="0"/>
            </a:endParaRPr>
          </a:p>
        </p:txBody>
      </p:sp>
      <p:sp>
        <p:nvSpPr>
          <p:cNvPr id="56374" name="Rectangle 133">
            <a:extLst>
              <a:ext uri="{FF2B5EF4-FFF2-40B4-BE49-F238E27FC236}">
                <a16:creationId xmlns:a16="http://schemas.microsoft.com/office/drawing/2014/main" id="{E7F71BE4-E68E-3263-2257-04F49D702FBF}"/>
              </a:ext>
            </a:extLst>
          </p:cNvPr>
          <p:cNvSpPr>
            <a:spLocks noChangeArrowheads="1"/>
          </p:cNvSpPr>
          <p:nvPr/>
        </p:nvSpPr>
        <p:spPr bwMode="auto">
          <a:xfrm>
            <a:off x="2806700" y="3359150"/>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2.00</a:t>
            </a:r>
            <a:endParaRPr lang="en-US" altLang="en-US" sz="1800">
              <a:latin typeface="Arial" panose="020B0604020202020204" pitchFamily="34" charset="0"/>
            </a:endParaRPr>
          </a:p>
        </p:txBody>
      </p:sp>
      <p:sp>
        <p:nvSpPr>
          <p:cNvPr id="56375" name="Rectangle 134">
            <a:extLst>
              <a:ext uri="{FF2B5EF4-FFF2-40B4-BE49-F238E27FC236}">
                <a16:creationId xmlns:a16="http://schemas.microsoft.com/office/drawing/2014/main" id="{31DCC0B5-9297-5943-2776-C6B6BC7071A5}"/>
              </a:ext>
            </a:extLst>
          </p:cNvPr>
          <p:cNvSpPr>
            <a:spLocks noChangeArrowheads="1"/>
          </p:cNvSpPr>
          <p:nvPr/>
        </p:nvSpPr>
        <p:spPr bwMode="auto">
          <a:xfrm>
            <a:off x="2806700" y="3675063"/>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1.75</a:t>
            </a:r>
            <a:endParaRPr lang="en-US" altLang="en-US" sz="1800">
              <a:latin typeface="Arial" panose="020B0604020202020204" pitchFamily="34" charset="0"/>
            </a:endParaRPr>
          </a:p>
        </p:txBody>
      </p:sp>
      <p:sp>
        <p:nvSpPr>
          <p:cNvPr id="56376" name="Rectangle 135">
            <a:extLst>
              <a:ext uri="{FF2B5EF4-FFF2-40B4-BE49-F238E27FC236}">
                <a16:creationId xmlns:a16="http://schemas.microsoft.com/office/drawing/2014/main" id="{BE60EB96-EA7A-6EF8-C2C0-B7B4A28732E0}"/>
              </a:ext>
            </a:extLst>
          </p:cNvPr>
          <p:cNvSpPr>
            <a:spLocks noChangeArrowheads="1"/>
          </p:cNvSpPr>
          <p:nvPr/>
        </p:nvSpPr>
        <p:spPr bwMode="auto">
          <a:xfrm>
            <a:off x="2806700" y="3983038"/>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1.50</a:t>
            </a:r>
            <a:endParaRPr lang="en-US" altLang="en-US" sz="1800">
              <a:latin typeface="Arial" panose="020B0604020202020204" pitchFamily="34" charset="0"/>
            </a:endParaRPr>
          </a:p>
        </p:txBody>
      </p:sp>
      <p:sp>
        <p:nvSpPr>
          <p:cNvPr id="56377" name="Rectangle 136">
            <a:extLst>
              <a:ext uri="{FF2B5EF4-FFF2-40B4-BE49-F238E27FC236}">
                <a16:creationId xmlns:a16="http://schemas.microsoft.com/office/drawing/2014/main" id="{9203604B-2F56-755D-99E8-BF484587F755}"/>
              </a:ext>
            </a:extLst>
          </p:cNvPr>
          <p:cNvSpPr>
            <a:spLocks noChangeArrowheads="1"/>
          </p:cNvSpPr>
          <p:nvPr/>
        </p:nvSpPr>
        <p:spPr bwMode="auto">
          <a:xfrm>
            <a:off x="2806700" y="4292600"/>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1.25</a:t>
            </a:r>
            <a:endParaRPr lang="en-US" altLang="en-US" sz="1800">
              <a:latin typeface="Arial" panose="020B0604020202020204" pitchFamily="34" charset="0"/>
            </a:endParaRPr>
          </a:p>
        </p:txBody>
      </p:sp>
      <p:sp>
        <p:nvSpPr>
          <p:cNvPr id="56378" name="Rectangle 137">
            <a:extLst>
              <a:ext uri="{FF2B5EF4-FFF2-40B4-BE49-F238E27FC236}">
                <a16:creationId xmlns:a16="http://schemas.microsoft.com/office/drawing/2014/main" id="{C902E978-0565-26BA-86F6-2D36DE8F52A8}"/>
              </a:ext>
            </a:extLst>
          </p:cNvPr>
          <p:cNvSpPr>
            <a:spLocks noChangeArrowheads="1"/>
          </p:cNvSpPr>
          <p:nvPr/>
        </p:nvSpPr>
        <p:spPr bwMode="auto">
          <a:xfrm>
            <a:off x="2806700" y="4602163"/>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1.00</a:t>
            </a:r>
            <a:endParaRPr lang="en-US" altLang="en-US" sz="1800">
              <a:latin typeface="Arial" panose="020B0604020202020204" pitchFamily="34" charset="0"/>
            </a:endParaRPr>
          </a:p>
        </p:txBody>
      </p:sp>
      <p:sp>
        <p:nvSpPr>
          <p:cNvPr id="56379" name="Rectangle 138">
            <a:extLst>
              <a:ext uri="{FF2B5EF4-FFF2-40B4-BE49-F238E27FC236}">
                <a16:creationId xmlns:a16="http://schemas.microsoft.com/office/drawing/2014/main" id="{8BA9D1A5-9761-CB6D-DCF3-92DE78F68772}"/>
              </a:ext>
            </a:extLst>
          </p:cNvPr>
          <p:cNvSpPr>
            <a:spLocks noChangeArrowheads="1"/>
          </p:cNvSpPr>
          <p:nvPr/>
        </p:nvSpPr>
        <p:spPr bwMode="auto">
          <a:xfrm>
            <a:off x="2806700" y="4911725"/>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0.75</a:t>
            </a:r>
            <a:endParaRPr lang="en-US" altLang="en-US" sz="1800">
              <a:latin typeface="Arial" panose="020B0604020202020204" pitchFamily="34" charset="0"/>
            </a:endParaRPr>
          </a:p>
        </p:txBody>
      </p:sp>
      <p:sp>
        <p:nvSpPr>
          <p:cNvPr id="56380" name="Rectangle 139">
            <a:extLst>
              <a:ext uri="{FF2B5EF4-FFF2-40B4-BE49-F238E27FC236}">
                <a16:creationId xmlns:a16="http://schemas.microsoft.com/office/drawing/2014/main" id="{EEA024B7-A062-2751-5111-D29B6B634DC3}"/>
              </a:ext>
            </a:extLst>
          </p:cNvPr>
          <p:cNvSpPr>
            <a:spLocks noChangeArrowheads="1"/>
          </p:cNvSpPr>
          <p:nvPr/>
        </p:nvSpPr>
        <p:spPr bwMode="auto">
          <a:xfrm>
            <a:off x="2806700" y="5221288"/>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0.50</a:t>
            </a:r>
            <a:endParaRPr lang="en-US" altLang="en-US" sz="1800">
              <a:latin typeface="Arial" panose="020B0604020202020204" pitchFamily="34" charset="0"/>
            </a:endParaRPr>
          </a:p>
        </p:txBody>
      </p:sp>
      <p:sp>
        <p:nvSpPr>
          <p:cNvPr id="56381" name="Rectangle 140">
            <a:extLst>
              <a:ext uri="{FF2B5EF4-FFF2-40B4-BE49-F238E27FC236}">
                <a16:creationId xmlns:a16="http://schemas.microsoft.com/office/drawing/2014/main" id="{80631BD5-EEF8-C477-E6EF-F2DEC56AE504}"/>
              </a:ext>
            </a:extLst>
          </p:cNvPr>
          <p:cNvSpPr>
            <a:spLocks noChangeArrowheads="1"/>
          </p:cNvSpPr>
          <p:nvPr/>
        </p:nvSpPr>
        <p:spPr bwMode="auto">
          <a:xfrm>
            <a:off x="2806700" y="5529263"/>
            <a:ext cx="3222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0.25</a:t>
            </a:r>
            <a:endParaRPr lang="en-US" altLang="en-US" sz="1800">
              <a:latin typeface="Arial" panose="020B0604020202020204" pitchFamily="34" charset="0"/>
            </a:endParaRPr>
          </a:p>
        </p:txBody>
      </p:sp>
      <p:sp>
        <p:nvSpPr>
          <p:cNvPr id="56382" name="Rectangle 141">
            <a:extLst>
              <a:ext uri="{FF2B5EF4-FFF2-40B4-BE49-F238E27FC236}">
                <a16:creationId xmlns:a16="http://schemas.microsoft.com/office/drawing/2014/main" id="{BE8D1A99-46EE-DDC1-4341-D19B191D5121}"/>
              </a:ext>
            </a:extLst>
          </p:cNvPr>
          <p:cNvSpPr>
            <a:spLocks noChangeArrowheads="1"/>
          </p:cNvSpPr>
          <p:nvPr/>
        </p:nvSpPr>
        <p:spPr bwMode="auto">
          <a:xfrm>
            <a:off x="8323263" y="5986463"/>
            <a:ext cx="673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solidFill>
                  <a:srgbClr val="000000"/>
                </a:solidFill>
                <a:latin typeface="Arial" panose="020B0604020202020204" pitchFamily="34" charset="0"/>
              </a:rPr>
              <a:t>Quantity</a:t>
            </a:r>
            <a:endParaRPr lang="en-US" altLang="en-US" sz="1800">
              <a:latin typeface="Arial" panose="020B0604020202020204" pitchFamily="34" charset="0"/>
            </a:endParaRPr>
          </a:p>
        </p:txBody>
      </p:sp>
      <p:sp>
        <p:nvSpPr>
          <p:cNvPr id="56383" name="Rectangle 142">
            <a:extLst>
              <a:ext uri="{FF2B5EF4-FFF2-40B4-BE49-F238E27FC236}">
                <a16:creationId xmlns:a16="http://schemas.microsoft.com/office/drawing/2014/main" id="{1C31AEE4-B414-52B2-7D73-5755C5C9F68B}"/>
              </a:ext>
            </a:extLst>
          </p:cNvPr>
          <p:cNvSpPr>
            <a:spLocks noChangeArrowheads="1"/>
          </p:cNvSpPr>
          <p:nvPr/>
        </p:nvSpPr>
        <p:spPr bwMode="auto">
          <a:xfrm>
            <a:off x="8248650" y="6196013"/>
            <a:ext cx="7477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solidFill>
                  <a:srgbClr val="000000"/>
                </a:solidFill>
                <a:latin typeface="Arial" panose="020B0604020202020204" pitchFamily="34" charset="0"/>
              </a:rPr>
              <a:t>of Output</a:t>
            </a:r>
            <a:endParaRPr lang="en-US" altLang="en-US" sz="1800">
              <a:latin typeface="Arial" panose="020B0604020202020204" pitchFamily="34" charset="0"/>
            </a:endParaRPr>
          </a:p>
        </p:txBody>
      </p:sp>
      <p:sp>
        <p:nvSpPr>
          <p:cNvPr id="56384" name="Rectangle 143">
            <a:extLst>
              <a:ext uri="{FF2B5EF4-FFF2-40B4-BE49-F238E27FC236}">
                <a16:creationId xmlns:a16="http://schemas.microsoft.com/office/drawing/2014/main" id="{4B06FB20-30AE-5099-DB55-BA9848BB9098}"/>
              </a:ext>
            </a:extLst>
          </p:cNvPr>
          <p:cNvSpPr>
            <a:spLocks noChangeArrowheads="1"/>
          </p:cNvSpPr>
          <p:nvPr/>
        </p:nvSpPr>
        <p:spPr bwMode="auto">
          <a:xfrm>
            <a:off x="6513513" y="6405563"/>
            <a:ext cx="24828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b="1">
                <a:solidFill>
                  <a:srgbClr val="000000"/>
                </a:solidFill>
                <a:latin typeface="Arial" panose="020B0604020202020204" pitchFamily="34" charset="0"/>
              </a:rPr>
              <a:t>(glasses of lemonade per hour)</a:t>
            </a:r>
            <a:endParaRPr lang="en-US" altLang="en-US" sz="1800">
              <a:latin typeface="Arial" panose="020B0604020202020204" pitchFamily="34" charset="0"/>
            </a:endParaRPr>
          </a:p>
        </p:txBody>
      </p:sp>
      <p:sp>
        <p:nvSpPr>
          <p:cNvPr id="56385" name="Rectangle 144">
            <a:extLst>
              <a:ext uri="{FF2B5EF4-FFF2-40B4-BE49-F238E27FC236}">
                <a16:creationId xmlns:a16="http://schemas.microsoft.com/office/drawing/2014/main" id="{6C584C89-EE37-1698-AD5C-87A6A3E0AE78}"/>
              </a:ext>
            </a:extLst>
          </p:cNvPr>
          <p:cNvSpPr>
            <a:spLocks noChangeArrowheads="1"/>
          </p:cNvSpPr>
          <p:nvPr/>
        </p:nvSpPr>
        <p:spPr bwMode="auto">
          <a:xfrm>
            <a:off x="3036888"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0</a:t>
            </a:r>
            <a:endParaRPr lang="en-US" altLang="en-US" sz="1800">
              <a:latin typeface="Arial" panose="020B0604020202020204" pitchFamily="34" charset="0"/>
            </a:endParaRPr>
          </a:p>
        </p:txBody>
      </p:sp>
      <p:sp>
        <p:nvSpPr>
          <p:cNvPr id="56386" name="Rectangle 145">
            <a:extLst>
              <a:ext uri="{FF2B5EF4-FFF2-40B4-BE49-F238E27FC236}">
                <a16:creationId xmlns:a16="http://schemas.microsoft.com/office/drawing/2014/main" id="{A50D2E49-19C0-094F-CEB6-EE0867BDD768}"/>
              </a:ext>
            </a:extLst>
          </p:cNvPr>
          <p:cNvSpPr>
            <a:spLocks noChangeArrowheads="1"/>
          </p:cNvSpPr>
          <p:nvPr/>
        </p:nvSpPr>
        <p:spPr bwMode="auto">
          <a:xfrm>
            <a:off x="3535363"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a:t>
            </a:r>
            <a:endParaRPr lang="en-US" altLang="en-US" sz="1800">
              <a:latin typeface="Arial" panose="020B0604020202020204" pitchFamily="34" charset="0"/>
            </a:endParaRPr>
          </a:p>
        </p:txBody>
      </p:sp>
      <p:sp>
        <p:nvSpPr>
          <p:cNvPr id="56387" name="Rectangle 146">
            <a:extLst>
              <a:ext uri="{FF2B5EF4-FFF2-40B4-BE49-F238E27FC236}">
                <a16:creationId xmlns:a16="http://schemas.microsoft.com/office/drawing/2014/main" id="{65527C53-F8EE-E0D1-422F-33DA04ACC60E}"/>
              </a:ext>
            </a:extLst>
          </p:cNvPr>
          <p:cNvSpPr>
            <a:spLocks noChangeArrowheads="1"/>
          </p:cNvSpPr>
          <p:nvPr/>
        </p:nvSpPr>
        <p:spPr bwMode="auto">
          <a:xfrm>
            <a:off x="4668838"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4</a:t>
            </a:r>
            <a:endParaRPr lang="en-US" altLang="en-US" sz="1800">
              <a:latin typeface="Arial" panose="020B0604020202020204" pitchFamily="34" charset="0"/>
            </a:endParaRPr>
          </a:p>
        </p:txBody>
      </p:sp>
      <p:sp>
        <p:nvSpPr>
          <p:cNvPr id="56388" name="Rectangle 147">
            <a:extLst>
              <a:ext uri="{FF2B5EF4-FFF2-40B4-BE49-F238E27FC236}">
                <a16:creationId xmlns:a16="http://schemas.microsoft.com/office/drawing/2014/main" id="{B3A99852-EC3B-7751-DFD2-F894895525AF}"/>
              </a:ext>
            </a:extLst>
          </p:cNvPr>
          <p:cNvSpPr>
            <a:spLocks noChangeArrowheads="1"/>
          </p:cNvSpPr>
          <p:nvPr/>
        </p:nvSpPr>
        <p:spPr bwMode="auto">
          <a:xfrm>
            <a:off x="4291013"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3</a:t>
            </a:r>
            <a:endParaRPr lang="en-US" altLang="en-US" sz="1800">
              <a:latin typeface="Arial" panose="020B0604020202020204" pitchFamily="34" charset="0"/>
            </a:endParaRPr>
          </a:p>
        </p:txBody>
      </p:sp>
      <p:sp>
        <p:nvSpPr>
          <p:cNvPr id="56389" name="Rectangle 148">
            <a:extLst>
              <a:ext uri="{FF2B5EF4-FFF2-40B4-BE49-F238E27FC236}">
                <a16:creationId xmlns:a16="http://schemas.microsoft.com/office/drawing/2014/main" id="{B24AD909-64EF-6694-0C1C-9578836E1672}"/>
              </a:ext>
            </a:extLst>
          </p:cNvPr>
          <p:cNvSpPr>
            <a:spLocks noChangeArrowheads="1"/>
          </p:cNvSpPr>
          <p:nvPr/>
        </p:nvSpPr>
        <p:spPr bwMode="auto">
          <a:xfrm>
            <a:off x="3913188"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2</a:t>
            </a:r>
            <a:endParaRPr lang="en-US" altLang="en-US" sz="1800">
              <a:latin typeface="Arial" panose="020B0604020202020204" pitchFamily="34" charset="0"/>
            </a:endParaRPr>
          </a:p>
        </p:txBody>
      </p:sp>
      <p:sp>
        <p:nvSpPr>
          <p:cNvPr id="56390" name="Rectangle 149">
            <a:extLst>
              <a:ext uri="{FF2B5EF4-FFF2-40B4-BE49-F238E27FC236}">
                <a16:creationId xmlns:a16="http://schemas.microsoft.com/office/drawing/2014/main" id="{B00942F4-8C10-7CF8-E64A-DDB25D30F8AC}"/>
              </a:ext>
            </a:extLst>
          </p:cNvPr>
          <p:cNvSpPr>
            <a:spLocks noChangeArrowheads="1"/>
          </p:cNvSpPr>
          <p:nvPr/>
        </p:nvSpPr>
        <p:spPr bwMode="auto">
          <a:xfrm>
            <a:off x="5805488"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7</a:t>
            </a:r>
            <a:endParaRPr lang="en-US" altLang="en-US" sz="1800">
              <a:latin typeface="Arial" panose="020B0604020202020204" pitchFamily="34" charset="0"/>
            </a:endParaRPr>
          </a:p>
        </p:txBody>
      </p:sp>
      <p:sp>
        <p:nvSpPr>
          <p:cNvPr id="56391" name="Rectangle 150">
            <a:extLst>
              <a:ext uri="{FF2B5EF4-FFF2-40B4-BE49-F238E27FC236}">
                <a16:creationId xmlns:a16="http://schemas.microsoft.com/office/drawing/2014/main" id="{56F65419-C6EB-7A87-42D0-485292D416B0}"/>
              </a:ext>
            </a:extLst>
          </p:cNvPr>
          <p:cNvSpPr>
            <a:spLocks noChangeArrowheads="1"/>
          </p:cNvSpPr>
          <p:nvPr/>
        </p:nvSpPr>
        <p:spPr bwMode="auto">
          <a:xfrm>
            <a:off x="5429250"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6</a:t>
            </a:r>
            <a:endParaRPr lang="en-US" altLang="en-US" sz="1800">
              <a:latin typeface="Arial" panose="020B0604020202020204" pitchFamily="34" charset="0"/>
            </a:endParaRPr>
          </a:p>
        </p:txBody>
      </p:sp>
      <p:sp>
        <p:nvSpPr>
          <p:cNvPr id="56392" name="Rectangle 151">
            <a:extLst>
              <a:ext uri="{FF2B5EF4-FFF2-40B4-BE49-F238E27FC236}">
                <a16:creationId xmlns:a16="http://schemas.microsoft.com/office/drawing/2014/main" id="{C9AE9936-2D51-FD75-9320-83BBC2BBAF60}"/>
              </a:ext>
            </a:extLst>
          </p:cNvPr>
          <p:cNvSpPr>
            <a:spLocks noChangeArrowheads="1"/>
          </p:cNvSpPr>
          <p:nvPr/>
        </p:nvSpPr>
        <p:spPr bwMode="auto">
          <a:xfrm>
            <a:off x="5051425"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5</a:t>
            </a:r>
            <a:endParaRPr lang="en-US" altLang="en-US" sz="1800">
              <a:latin typeface="Arial" panose="020B0604020202020204" pitchFamily="34" charset="0"/>
            </a:endParaRPr>
          </a:p>
        </p:txBody>
      </p:sp>
      <p:sp>
        <p:nvSpPr>
          <p:cNvPr id="56393" name="Rectangle 152">
            <a:extLst>
              <a:ext uri="{FF2B5EF4-FFF2-40B4-BE49-F238E27FC236}">
                <a16:creationId xmlns:a16="http://schemas.microsoft.com/office/drawing/2014/main" id="{43937DEF-0BA5-88AC-CC1E-F276548A424E}"/>
              </a:ext>
            </a:extLst>
          </p:cNvPr>
          <p:cNvSpPr>
            <a:spLocks noChangeArrowheads="1"/>
          </p:cNvSpPr>
          <p:nvPr/>
        </p:nvSpPr>
        <p:spPr bwMode="auto">
          <a:xfrm>
            <a:off x="6561138"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9</a:t>
            </a:r>
            <a:endParaRPr lang="en-US" altLang="en-US" sz="1800">
              <a:latin typeface="Arial" panose="020B0604020202020204" pitchFamily="34" charset="0"/>
            </a:endParaRPr>
          </a:p>
        </p:txBody>
      </p:sp>
      <p:sp>
        <p:nvSpPr>
          <p:cNvPr id="56394" name="Rectangle 153">
            <a:extLst>
              <a:ext uri="{FF2B5EF4-FFF2-40B4-BE49-F238E27FC236}">
                <a16:creationId xmlns:a16="http://schemas.microsoft.com/office/drawing/2014/main" id="{4EE2ED0E-8B5D-3A6B-0597-0942E34260BF}"/>
              </a:ext>
            </a:extLst>
          </p:cNvPr>
          <p:cNvSpPr>
            <a:spLocks noChangeArrowheads="1"/>
          </p:cNvSpPr>
          <p:nvPr/>
        </p:nvSpPr>
        <p:spPr bwMode="auto">
          <a:xfrm>
            <a:off x="6183313" y="5991225"/>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8</a:t>
            </a:r>
            <a:endParaRPr lang="en-US" altLang="en-US" sz="1800">
              <a:latin typeface="Arial" panose="020B0604020202020204" pitchFamily="34" charset="0"/>
            </a:endParaRPr>
          </a:p>
        </p:txBody>
      </p:sp>
      <p:sp>
        <p:nvSpPr>
          <p:cNvPr id="56395" name="Rectangle 154">
            <a:extLst>
              <a:ext uri="{FF2B5EF4-FFF2-40B4-BE49-F238E27FC236}">
                <a16:creationId xmlns:a16="http://schemas.microsoft.com/office/drawing/2014/main" id="{95456F17-C348-B931-1CD7-3C5CB3B7489F}"/>
              </a:ext>
            </a:extLst>
          </p:cNvPr>
          <p:cNvSpPr>
            <a:spLocks noChangeArrowheads="1"/>
          </p:cNvSpPr>
          <p:nvPr/>
        </p:nvSpPr>
        <p:spPr bwMode="auto">
          <a:xfrm>
            <a:off x="6891338" y="5991225"/>
            <a:ext cx="1841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a:solidFill>
                  <a:srgbClr val="000000"/>
                </a:solidFill>
                <a:latin typeface="Arial" panose="020B0604020202020204" pitchFamily="34" charset="0"/>
              </a:rPr>
              <a:t>10</a:t>
            </a:r>
            <a:endParaRPr lang="en-US" altLang="en-US" sz="1800">
              <a:latin typeface="Arial" panose="020B0604020202020204" pitchFamily="34" charset="0"/>
            </a:endParaRPr>
          </a:p>
        </p:txBody>
      </p:sp>
      <p:sp>
        <p:nvSpPr>
          <p:cNvPr id="15515" name="Rectangle 155">
            <a:extLst>
              <a:ext uri="{FF2B5EF4-FFF2-40B4-BE49-F238E27FC236}">
                <a16:creationId xmlns:a16="http://schemas.microsoft.com/office/drawing/2014/main" id="{8ABE1795-112E-FCAC-53E0-20CF82E3187D}"/>
              </a:ext>
            </a:extLst>
          </p:cNvPr>
          <p:cNvSpPr>
            <a:spLocks noChangeArrowheads="1"/>
          </p:cNvSpPr>
          <p:nvPr/>
        </p:nvSpPr>
        <p:spPr bwMode="auto">
          <a:xfrm>
            <a:off x="6907213" y="3208338"/>
            <a:ext cx="2571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i="1">
                <a:solidFill>
                  <a:srgbClr val="000000"/>
                </a:solidFill>
                <a:latin typeface="Arial" panose="020B0604020202020204" pitchFamily="34" charset="0"/>
              </a:rPr>
              <a:t>MC</a:t>
            </a:r>
            <a:endParaRPr lang="en-US" altLang="en-US" sz="1800">
              <a:latin typeface="Arial" panose="020B0604020202020204" pitchFamily="34" charset="0"/>
            </a:endParaRPr>
          </a:p>
        </p:txBody>
      </p:sp>
      <p:sp>
        <p:nvSpPr>
          <p:cNvPr id="15516" name="Rectangle 156">
            <a:extLst>
              <a:ext uri="{FF2B5EF4-FFF2-40B4-BE49-F238E27FC236}">
                <a16:creationId xmlns:a16="http://schemas.microsoft.com/office/drawing/2014/main" id="{E8334AAF-9F13-2204-5ED1-996AC8BE1DAB}"/>
              </a:ext>
            </a:extLst>
          </p:cNvPr>
          <p:cNvSpPr>
            <a:spLocks noChangeArrowheads="1"/>
          </p:cNvSpPr>
          <p:nvPr/>
        </p:nvSpPr>
        <p:spPr bwMode="auto">
          <a:xfrm>
            <a:off x="7091363" y="3962400"/>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i="1">
                <a:solidFill>
                  <a:srgbClr val="000000"/>
                </a:solidFill>
                <a:latin typeface="Arial" panose="020B0604020202020204" pitchFamily="34" charset="0"/>
              </a:rPr>
              <a:t>ATC</a:t>
            </a:r>
            <a:endParaRPr lang="en-US" altLang="en-US" sz="1800">
              <a:latin typeface="Arial" panose="020B0604020202020204" pitchFamily="34" charset="0"/>
            </a:endParaRPr>
          </a:p>
        </p:txBody>
      </p:sp>
      <p:sp>
        <p:nvSpPr>
          <p:cNvPr id="15517" name="Rectangle 157">
            <a:extLst>
              <a:ext uri="{FF2B5EF4-FFF2-40B4-BE49-F238E27FC236}">
                <a16:creationId xmlns:a16="http://schemas.microsoft.com/office/drawing/2014/main" id="{8255B72D-4A1A-1F25-E6C5-84233B107B13}"/>
              </a:ext>
            </a:extLst>
          </p:cNvPr>
          <p:cNvSpPr>
            <a:spLocks noChangeArrowheads="1"/>
          </p:cNvSpPr>
          <p:nvPr/>
        </p:nvSpPr>
        <p:spPr bwMode="auto">
          <a:xfrm>
            <a:off x="7100888" y="4340225"/>
            <a:ext cx="3381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i="1">
                <a:solidFill>
                  <a:srgbClr val="000000"/>
                </a:solidFill>
                <a:latin typeface="Arial" panose="020B0604020202020204" pitchFamily="34" charset="0"/>
              </a:rPr>
              <a:t>AVC</a:t>
            </a:r>
            <a:endParaRPr lang="en-US" altLang="en-US" sz="1800">
              <a:latin typeface="Arial" panose="020B0604020202020204" pitchFamily="34" charset="0"/>
            </a:endParaRPr>
          </a:p>
        </p:txBody>
      </p:sp>
      <p:sp>
        <p:nvSpPr>
          <p:cNvPr id="15518" name="Rectangle 158">
            <a:extLst>
              <a:ext uri="{FF2B5EF4-FFF2-40B4-BE49-F238E27FC236}">
                <a16:creationId xmlns:a16="http://schemas.microsoft.com/office/drawing/2014/main" id="{A8D9A4BF-9F34-7D67-E858-BED5684EEE55}"/>
              </a:ext>
            </a:extLst>
          </p:cNvPr>
          <p:cNvSpPr>
            <a:spLocks noChangeArrowheads="1"/>
          </p:cNvSpPr>
          <p:nvPr/>
        </p:nvSpPr>
        <p:spPr bwMode="auto">
          <a:xfrm>
            <a:off x="7091363" y="5446713"/>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300" i="1">
                <a:solidFill>
                  <a:srgbClr val="000000"/>
                </a:solidFill>
                <a:latin typeface="Arial" panose="020B0604020202020204" pitchFamily="34" charset="0"/>
              </a:rPr>
              <a:t>AFC</a:t>
            </a:r>
            <a:endParaRPr lang="en-US"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475"/>
                                        </p:tgtEl>
                                        <p:attrNameLst>
                                          <p:attrName>style.visibility</p:attrName>
                                        </p:attrNameLst>
                                      </p:cBhvr>
                                      <p:to>
                                        <p:strVal val="visible"/>
                                      </p:to>
                                    </p:set>
                                    <p:animEffect transition="in" filter="wipe(left)">
                                      <p:cBhvr>
                                        <p:cTn id="7" dur="500"/>
                                        <p:tgtEl>
                                          <p:spTgt spid="15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5432"/>
                                        </p:tgtEl>
                                        <p:attrNameLst>
                                          <p:attrName>style.visibility</p:attrName>
                                        </p:attrNameLst>
                                      </p:cBhvr>
                                      <p:to>
                                        <p:strVal val="visible"/>
                                      </p:to>
                                    </p:set>
                                    <p:animEffect transition="in" filter="strips(downRight)">
                                      <p:cBhvr>
                                        <p:cTn id="12" dur="500"/>
                                        <p:tgtEl>
                                          <p:spTgt spid="154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516">
                                            <p:txEl>
                                              <p:pRg st="0" end="0"/>
                                            </p:txEl>
                                          </p:spTgt>
                                        </p:tgtEl>
                                        <p:attrNameLst>
                                          <p:attrName>style.visibility</p:attrName>
                                        </p:attrNameLst>
                                      </p:cBhvr>
                                      <p:to>
                                        <p:strVal val="visible"/>
                                      </p:to>
                                    </p:set>
                                    <p:animEffect transition="in" filter="dissolve">
                                      <p:cBhvr>
                                        <p:cTn id="17" dur="500"/>
                                        <p:tgtEl>
                                          <p:spTgt spid="1551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5453"/>
                                        </p:tgtEl>
                                        <p:attrNameLst>
                                          <p:attrName>style.visibility</p:attrName>
                                        </p:attrNameLst>
                                      </p:cBhvr>
                                      <p:to>
                                        <p:strVal val="visible"/>
                                      </p:to>
                                    </p:set>
                                    <p:animEffect transition="in" filter="strips(downRight)">
                                      <p:cBhvr>
                                        <p:cTn id="22" dur="500"/>
                                        <p:tgtEl>
                                          <p:spTgt spid="154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5412"/>
                                        </p:tgtEl>
                                        <p:attrNameLst>
                                          <p:attrName>style.visibility</p:attrName>
                                        </p:attrNameLst>
                                      </p:cBhvr>
                                      <p:to>
                                        <p:strVal val="visible"/>
                                      </p:to>
                                    </p:set>
                                    <p:animEffect transition="in" filter="strips(downRight)">
                                      <p:cBhvr>
                                        <p:cTn id="27" dur="500"/>
                                        <p:tgtEl>
                                          <p:spTgt spid="154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5518">
                                            <p:txEl>
                                              <p:pRg st="0" end="0"/>
                                            </p:txEl>
                                          </p:spTgt>
                                        </p:tgtEl>
                                        <p:attrNameLst>
                                          <p:attrName>style.visibility</p:attrName>
                                        </p:attrNameLst>
                                      </p:cBhvr>
                                      <p:to>
                                        <p:strVal val="visible"/>
                                      </p:to>
                                    </p:set>
                                    <p:animEffect transition="in" filter="dissolve">
                                      <p:cBhvr>
                                        <p:cTn id="32" dur="500"/>
                                        <p:tgtEl>
                                          <p:spTgt spid="1551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3" fill="hold" nodeType="clickEffect">
                                  <p:stCondLst>
                                    <p:cond delay="0"/>
                                  </p:stCondLst>
                                  <p:childTnLst>
                                    <p:set>
                                      <p:cBhvr>
                                        <p:cTn id="36" dur="1" fill="hold">
                                          <p:stCondLst>
                                            <p:cond delay="0"/>
                                          </p:stCondLst>
                                        </p:cTn>
                                        <p:tgtEl>
                                          <p:spTgt spid="15464"/>
                                        </p:tgtEl>
                                        <p:attrNameLst>
                                          <p:attrName>style.visibility</p:attrName>
                                        </p:attrNameLst>
                                      </p:cBhvr>
                                      <p:to>
                                        <p:strVal val="visible"/>
                                      </p:to>
                                    </p:set>
                                    <p:animEffect transition="in" filter="strips(upRight)">
                                      <p:cBhvr>
                                        <p:cTn id="37" dur="500"/>
                                        <p:tgtEl>
                                          <p:spTgt spid="154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3" fill="hold" nodeType="clickEffect">
                                  <p:stCondLst>
                                    <p:cond delay="0"/>
                                  </p:stCondLst>
                                  <p:childTnLst>
                                    <p:set>
                                      <p:cBhvr>
                                        <p:cTn id="41" dur="1" fill="hold">
                                          <p:stCondLst>
                                            <p:cond delay="0"/>
                                          </p:stCondLst>
                                        </p:cTn>
                                        <p:tgtEl>
                                          <p:spTgt spid="15402"/>
                                        </p:tgtEl>
                                        <p:attrNameLst>
                                          <p:attrName>style.visibility</p:attrName>
                                        </p:attrNameLst>
                                      </p:cBhvr>
                                      <p:to>
                                        <p:strVal val="visible"/>
                                      </p:to>
                                    </p:set>
                                    <p:animEffect transition="in" filter="strips(upRight)">
                                      <p:cBhvr>
                                        <p:cTn id="42" dur="500"/>
                                        <p:tgtEl>
                                          <p:spTgt spid="1540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15515">
                                            <p:txEl>
                                              <p:pRg st="0" end="0"/>
                                            </p:txEl>
                                          </p:spTgt>
                                        </p:tgtEl>
                                        <p:attrNameLst>
                                          <p:attrName>style.visibility</p:attrName>
                                        </p:attrNameLst>
                                      </p:cBhvr>
                                      <p:to>
                                        <p:strVal val="visible"/>
                                      </p:to>
                                    </p:set>
                                    <p:animEffect transition="in" filter="dissolve">
                                      <p:cBhvr>
                                        <p:cTn id="47" dur="500"/>
                                        <p:tgtEl>
                                          <p:spTgt spid="15515">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5442"/>
                                        </p:tgtEl>
                                        <p:attrNameLst>
                                          <p:attrName>style.visibility</p:attrName>
                                        </p:attrNameLst>
                                      </p:cBhvr>
                                      <p:to>
                                        <p:strVal val="visible"/>
                                      </p:to>
                                    </p:set>
                                    <p:animEffect transition="in" filter="wipe(left)">
                                      <p:cBhvr>
                                        <p:cTn id="52" dur="500"/>
                                        <p:tgtEl>
                                          <p:spTgt spid="154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5422"/>
                                        </p:tgtEl>
                                        <p:attrNameLst>
                                          <p:attrName>style.visibility</p:attrName>
                                        </p:attrNameLst>
                                      </p:cBhvr>
                                      <p:to>
                                        <p:strVal val="visible"/>
                                      </p:to>
                                    </p:set>
                                    <p:animEffect transition="in" filter="wipe(left)">
                                      <p:cBhvr>
                                        <p:cTn id="57" dur="500"/>
                                        <p:tgtEl>
                                          <p:spTgt spid="1542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5517">
                                            <p:txEl>
                                              <p:pRg st="0" end="0"/>
                                            </p:txEl>
                                          </p:spTgt>
                                        </p:tgtEl>
                                        <p:attrNameLst>
                                          <p:attrName>style.visibility</p:attrName>
                                        </p:attrNameLst>
                                      </p:cBhvr>
                                      <p:to>
                                        <p:strVal val="visible"/>
                                      </p:to>
                                    </p:set>
                                    <p:animEffect transition="in" filter="dissolve">
                                      <p:cBhvr>
                                        <p:cTn id="62" dur="500"/>
                                        <p:tgtEl>
                                          <p:spTgt spid="155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15" grpId="0" build="p" autoUpdateAnimBg="0"/>
      <p:bldP spid="15516" grpId="0" build="p" autoUpdateAnimBg="0"/>
      <p:bldP spid="15517" grpId="0" build="p" autoUpdateAnimBg="0"/>
      <p:bldP spid="15518"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3">
            <a:extLst>
              <a:ext uri="{FF2B5EF4-FFF2-40B4-BE49-F238E27FC236}">
                <a16:creationId xmlns:a16="http://schemas.microsoft.com/office/drawing/2014/main" id="{B2AC9BA2-D423-18D4-14F6-75828BF851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04" t="5170" r="2702" b="5240"/>
          <a:stretch>
            <a:fillRect/>
          </a:stretch>
        </p:blipFill>
        <p:spPr bwMode="gray">
          <a:xfrm>
            <a:off x="1600200" y="1219200"/>
            <a:ext cx="8991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46" name="Rectangle 4">
            <a:extLst>
              <a:ext uri="{FF2B5EF4-FFF2-40B4-BE49-F238E27FC236}">
                <a16:creationId xmlns:a16="http://schemas.microsoft.com/office/drawing/2014/main" id="{C25D4330-2741-D7C2-2708-E6B1FA8A28EE}"/>
              </a:ext>
            </a:extLst>
          </p:cNvPr>
          <p:cNvSpPr>
            <a:spLocks noChangeArrowheads="1"/>
          </p:cNvSpPr>
          <p:nvPr/>
        </p:nvSpPr>
        <p:spPr bwMode="gray">
          <a:xfrm>
            <a:off x="6273800" y="2133600"/>
            <a:ext cx="4292600" cy="36576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7347" name="Rectangle 5">
            <a:extLst>
              <a:ext uri="{FF2B5EF4-FFF2-40B4-BE49-F238E27FC236}">
                <a16:creationId xmlns:a16="http://schemas.microsoft.com/office/drawing/2014/main" id="{358E59FE-C9F3-E454-E411-A796CC83738C}"/>
              </a:ext>
            </a:extLst>
          </p:cNvPr>
          <p:cNvSpPr>
            <a:spLocks noChangeArrowheads="1"/>
          </p:cNvSpPr>
          <p:nvPr/>
        </p:nvSpPr>
        <p:spPr bwMode="gray">
          <a:xfrm>
            <a:off x="3124200" y="2133600"/>
            <a:ext cx="1752600" cy="36576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latin typeface="Arial" panose="020B0604020202020204" pitchFamily="34" charset="0"/>
            </a:endParaRPr>
          </a:p>
        </p:txBody>
      </p:sp>
      <p:sp>
        <p:nvSpPr>
          <p:cNvPr id="57348" name="Title 1">
            <a:extLst>
              <a:ext uri="{FF2B5EF4-FFF2-40B4-BE49-F238E27FC236}">
                <a16:creationId xmlns:a16="http://schemas.microsoft.com/office/drawing/2014/main" id="{E2C9800D-374A-F9E1-A845-2A604AF100FB}"/>
              </a:ext>
            </a:extLst>
          </p:cNvPr>
          <p:cNvSpPr>
            <a:spLocks noGrp="1" noChangeArrowheads="1"/>
          </p:cNvSpPr>
          <p:nvPr>
            <p:ph type="title"/>
          </p:nvPr>
        </p:nvSpPr>
        <p:spPr>
          <a:xfrm>
            <a:off x="609600" y="287338"/>
            <a:ext cx="7543800" cy="855662"/>
          </a:xfrm>
        </p:spPr>
        <p:txBody>
          <a:bodyPr/>
          <a:lstStyle/>
          <a:p>
            <a:pPr eaLnBrk="1" hangingPunct="1"/>
            <a:r>
              <a:rPr lang="en-US" altLang="en-LK" b="1">
                <a:latin typeface="Times New Roman" panose="02020603050405020304" pitchFamily="18" charset="0"/>
                <a:cs typeface="Times New Roman" panose="02020603050405020304" pitchFamily="18" charset="0"/>
              </a:rPr>
              <a:t>Short-Run Cost</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3">
            <a:extLst>
              <a:ext uri="{FF2B5EF4-FFF2-40B4-BE49-F238E27FC236}">
                <a16:creationId xmlns:a16="http://schemas.microsoft.com/office/drawing/2014/main" id="{5255B3AD-A393-79F3-05D6-2E9DC4B53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04" t="3445" r="3604" b="5241"/>
          <a:stretch>
            <a:fillRect/>
          </a:stretch>
        </p:blipFill>
        <p:spPr bwMode="gray">
          <a:xfrm>
            <a:off x="1219200" y="1136650"/>
            <a:ext cx="9677400" cy="497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4">
            <a:extLst>
              <a:ext uri="{FF2B5EF4-FFF2-40B4-BE49-F238E27FC236}">
                <a16:creationId xmlns:a16="http://schemas.microsoft.com/office/drawing/2014/main" id="{A9FF5AAA-6046-8BB4-58A3-69123CC52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88" t="3242" r="2831" b="18919"/>
          <a:stretch>
            <a:fillRect/>
          </a:stretch>
        </p:blipFill>
        <p:spPr bwMode="gray">
          <a:xfrm>
            <a:off x="1143000" y="441325"/>
            <a:ext cx="9677400" cy="587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A6A32BC4-C672-98A1-D1A3-F4B9CA86CBB9}"/>
              </a:ext>
            </a:extLst>
          </p:cNvPr>
          <p:cNvSpPr>
            <a:spLocks noGrp="1" noChangeArrowheads="1"/>
          </p:cNvSpPr>
          <p:nvPr>
            <p:ph type="title"/>
          </p:nvPr>
        </p:nvSpPr>
        <p:spPr/>
        <p:txBody>
          <a:bodyPr/>
          <a:lstStyle/>
          <a:p>
            <a:r>
              <a:rPr lang="en-LK" altLang="en-LK" b="1" dirty="0">
                <a:latin typeface="Times New Roman" panose="02020603050405020304" pitchFamily="18" charset="0"/>
                <a:cs typeface="Times New Roman" panose="02020603050405020304" pitchFamily="18" charset="0"/>
              </a:rPr>
              <a:t>Question 01</a:t>
            </a:r>
          </a:p>
        </p:txBody>
      </p:sp>
      <p:graphicFrame>
        <p:nvGraphicFramePr>
          <p:cNvPr id="11" name="Table 10">
            <a:extLst>
              <a:ext uri="{FF2B5EF4-FFF2-40B4-BE49-F238E27FC236}">
                <a16:creationId xmlns:a16="http://schemas.microsoft.com/office/drawing/2014/main" id="{A08316FA-A448-B0A7-3E1B-93B509B5A8A0}"/>
              </a:ext>
            </a:extLst>
          </p:cNvPr>
          <p:cNvGraphicFramePr>
            <a:graphicFrameLocks noGrp="1"/>
          </p:cNvGraphicFramePr>
          <p:nvPr/>
        </p:nvGraphicFramePr>
        <p:xfrm>
          <a:off x="533400" y="2024063"/>
          <a:ext cx="11125200" cy="3233738"/>
        </p:xfrm>
        <a:graphic>
          <a:graphicData uri="http://schemas.openxmlformats.org/drawingml/2006/table">
            <a:tbl>
              <a:tblPr>
                <a:tableStyleId>{5940675A-B579-460E-94D1-54222C63F5DA}</a:tableStyleId>
              </a:tblPr>
              <a:tblGrid>
                <a:gridCol w="1040027">
                  <a:extLst>
                    <a:ext uri="{9D8B030D-6E8A-4147-A177-3AD203B41FA5}">
                      <a16:colId xmlns:a16="http://schemas.microsoft.com/office/drawing/2014/main" val="20000"/>
                    </a:ext>
                  </a:extLst>
                </a:gridCol>
                <a:gridCol w="1245973">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905000">
                  <a:extLst>
                    <a:ext uri="{9D8B030D-6E8A-4147-A177-3AD203B41FA5}">
                      <a16:colId xmlns:a16="http://schemas.microsoft.com/office/drawing/2014/main" val="20006"/>
                    </a:ext>
                  </a:extLst>
                </a:gridCol>
                <a:gridCol w="1447800">
                  <a:extLst>
                    <a:ext uri="{9D8B030D-6E8A-4147-A177-3AD203B41FA5}">
                      <a16:colId xmlns:a16="http://schemas.microsoft.com/office/drawing/2014/main" val="20007"/>
                    </a:ext>
                  </a:extLst>
                </a:gridCol>
              </a:tblGrid>
              <a:tr h="1061714">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Quantity</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Fixed Cost (TFC)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Variable Cost (TVC)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Cost (TC)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Marginal Cost (MC)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Fixed Cost (AFC)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Variable Cost (AVC)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Total Cost (ATC)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0"/>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3000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1"/>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150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2"/>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2</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150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3</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540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4"/>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4</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200</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5</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just"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792</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67614-C061-6351-6104-9E6F40F4E89F}"/>
            </a:ext>
          </a:extLst>
        </p:cNvPr>
        <p:cNvGrpSpPr/>
        <p:nvPr/>
      </p:nvGrpSpPr>
      <p:grpSpPr>
        <a:xfrm>
          <a:off x="0" y="0"/>
          <a:ext cx="0" cy="0"/>
          <a:chOff x="0" y="0"/>
          <a:chExt cx="0" cy="0"/>
        </a:xfrm>
      </p:grpSpPr>
      <p:sp>
        <p:nvSpPr>
          <p:cNvPr id="60417" name="Title 1">
            <a:extLst>
              <a:ext uri="{FF2B5EF4-FFF2-40B4-BE49-F238E27FC236}">
                <a16:creationId xmlns:a16="http://schemas.microsoft.com/office/drawing/2014/main" id="{DFD730E5-EE92-A5C9-5359-30DF5298F05A}"/>
              </a:ext>
            </a:extLst>
          </p:cNvPr>
          <p:cNvSpPr>
            <a:spLocks noGrp="1" noChangeArrowheads="1"/>
          </p:cNvSpPr>
          <p:nvPr>
            <p:ph type="title"/>
          </p:nvPr>
        </p:nvSpPr>
        <p:spPr/>
        <p:txBody>
          <a:bodyPr/>
          <a:lstStyle/>
          <a:p>
            <a:r>
              <a:rPr lang="en-LK" altLang="en-LK" b="1" dirty="0">
                <a:latin typeface="Times New Roman" panose="02020603050405020304" pitchFamily="18" charset="0"/>
                <a:cs typeface="Times New Roman" panose="02020603050405020304" pitchFamily="18" charset="0"/>
              </a:rPr>
              <a:t>Question 02</a:t>
            </a:r>
          </a:p>
        </p:txBody>
      </p:sp>
      <p:graphicFrame>
        <p:nvGraphicFramePr>
          <p:cNvPr id="11" name="Table 10">
            <a:extLst>
              <a:ext uri="{FF2B5EF4-FFF2-40B4-BE49-F238E27FC236}">
                <a16:creationId xmlns:a16="http://schemas.microsoft.com/office/drawing/2014/main" id="{317627AE-6AC6-2D80-0DD9-C780C5461F9B}"/>
              </a:ext>
            </a:extLst>
          </p:cNvPr>
          <p:cNvGraphicFramePr>
            <a:graphicFrameLocks noGrp="1"/>
          </p:cNvGraphicFramePr>
          <p:nvPr>
            <p:extLst>
              <p:ext uri="{D42A27DB-BD31-4B8C-83A1-F6EECF244321}">
                <p14:modId xmlns:p14="http://schemas.microsoft.com/office/powerpoint/2010/main" val="1345902841"/>
              </p:ext>
            </p:extLst>
          </p:nvPr>
        </p:nvGraphicFramePr>
        <p:xfrm>
          <a:off x="533400" y="2024063"/>
          <a:ext cx="11125200" cy="2871734"/>
        </p:xfrm>
        <a:graphic>
          <a:graphicData uri="http://schemas.openxmlformats.org/drawingml/2006/table">
            <a:tbl>
              <a:tblPr>
                <a:tableStyleId>{5940675A-B579-460E-94D1-54222C63F5DA}</a:tableStyleId>
              </a:tblPr>
              <a:tblGrid>
                <a:gridCol w="1040027">
                  <a:extLst>
                    <a:ext uri="{9D8B030D-6E8A-4147-A177-3AD203B41FA5}">
                      <a16:colId xmlns:a16="http://schemas.microsoft.com/office/drawing/2014/main" val="20000"/>
                    </a:ext>
                  </a:extLst>
                </a:gridCol>
                <a:gridCol w="1245973">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680411">
                  <a:extLst>
                    <a:ext uri="{9D8B030D-6E8A-4147-A177-3AD203B41FA5}">
                      <a16:colId xmlns:a16="http://schemas.microsoft.com/office/drawing/2014/main" val="20006"/>
                    </a:ext>
                  </a:extLst>
                </a:gridCol>
                <a:gridCol w="1672389">
                  <a:extLst>
                    <a:ext uri="{9D8B030D-6E8A-4147-A177-3AD203B41FA5}">
                      <a16:colId xmlns:a16="http://schemas.microsoft.com/office/drawing/2014/main" val="20007"/>
                    </a:ext>
                  </a:extLst>
                </a:gridCol>
              </a:tblGrid>
              <a:tr h="1061714">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Quantity</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Variable Cost (TVC)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Fixed Cost (TFC)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Total Cost (TC)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Variable Cost (AVC)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Fixed Cost (AFC)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Average Total Cost (ATC)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Marginal Cost (MC)</a:t>
                      </a:r>
                      <a:endParaRPr lang="en-LK"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0"/>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600</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2"/>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2</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190</a:t>
                      </a: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3</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90</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166.67 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4"/>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4</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500</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110</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36200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5</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 </a:t>
                      </a:r>
                      <a:endParaRPr lang="en-LK"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 200</a:t>
                      </a: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LK"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62908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144" name="Rectangle 91143">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1146" name="Rectangle 9114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1148" name="Rectangle 91147">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561" name="Rectangle 2">
            <a:extLst>
              <a:ext uri="{FF2B5EF4-FFF2-40B4-BE49-F238E27FC236}">
                <a16:creationId xmlns:a16="http://schemas.microsoft.com/office/drawing/2014/main" id="{44365352-4F49-D477-C01B-723A1B169F85}"/>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Production And Cost in the Long Run</a:t>
            </a:r>
          </a:p>
        </p:txBody>
      </p:sp>
      <p:sp>
        <p:nvSpPr>
          <p:cNvPr id="91150" name="Rectangle 91149">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1139" name="Rectangle 3">
            <a:extLst>
              <a:ext uri="{FF2B5EF4-FFF2-40B4-BE49-F238E27FC236}">
                <a16:creationId xmlns:a16="http://schemas.microsoft.com/office/drawing/2014/main" id="{061FF99C-E4DD-3935-C70D-E28D6734F1EB}"/>
              </a:ext>
            </a:extLst>
          </p:cNvPr>
          <p:cNvSpPr>
            <a:spLocks noGrp="1" noChangeArrowheads="1"/>
          </p:cNvSpPr>
          <p:nvPr>
            <p:ph idx="1"/>
          </p:nvPr>
        </p:nvSpPr>
        <p:spPr>
          <a:xfrm>
            <a:off x="664632" y="2481943"/>
            <a:ext cx="10168128" cy="3695020"/>
          </a:xfrm>
        </p:spPr>
        <p:txBody>
          <a:bodyPr rtlCol="0">
            <a:normAutofit/>
          </a:bodyPr>
          <a:lstStyle/>
          <a:p>
            <a:pPr eaLnBrk="1" fontAlgn="auto" hangingPunct="1">
              <a:spcAft>
                <a:spcPts val="0"/>
              </a:spcAft>
              <a:defRPr/>
            </a:pPr>
            <a:r>
              <a:rPr lang="en-US" altLang="en-US" sz="3200" dirty="0">
                <a:latin typeface="Times New Roman" panose="02020603050405020304" pitchFamily="18" charset="0"/>
                <a:cs typeface="Times New Roman" panose="02020603050405020304" pitchFamily="18" charset="0"/>
              </a:rPr>
              <a:t>In the long run, there are no fixed inputs or fixed costs - All inputs and all costs are variable</a:t>
            </a:r>
          </a:p>
          <a:p>
            <a:pPr marL="0" indent="0" eaLnBrk="1" fontAlgn="auto" hangingPunct="1">
              <a:spcAft>
                <a:spcPts val="0"/>
              </a:spcAft>
              <a:buFont typeface="Calibri" panose="020F0502020204030204" pitchFamily="34" charset="0"/>
              <a:buNone/>
              <a:defRPr/>
            </a:pPr>
            <a:endParaRPr lang="en-US" altLang="en-US" sz="3200" dirty="0">
              <a:latin typeface="Times New Roman" panose="02020603050405020304" pitchFamily="18" charset="0"/>
              <a:cs typeface="Times New Roman" panose="02020603050405020304" pitchFamily="18" charset="0"/>
            </a:endParaRPr>
          </a:p>
          <a:p>
            <a:pPr eaLnBrk="1" fontAlgn="auto" hangingPunct="1">
              <a:spcAft>
                <a:spcPts val="0"/>
              </a:spcAft>
              <a:defRPr/>
            </a:pPr>
            <a:r>
              <a:rPr lang="en-US" altLang="en-US" sz="3200" dirty="0">
                <a:latin typeface="Times New Roman" panose="02020603050405020304" pitchFamily="18" charset="0"/>
                <a:cs typeface="Times New Roman" panose="02020603050405020304" pitchFamily="18" charset="0"/>
              </a:rPr>
              <a:t>The firm’s goal is to earn the highest possible profit</a:t>
            </a:r>
          </a:p>
          <a:p>
            <a:pPr marL="657225" lvl="2" indent="0" eaLnBrk="1" fontAlgn="auto" hangingPunct="1">
              <a:spcAft>
                <a:spcPts val="0"/>
              </a:spcAft>
              <a:buFont typeface="Arial" panose="020B0604020202020204" pitchFamily="34" charset="0"/>
              <a:buNone/>
              <a:defRPr/>
            </a:pPr>
            <a:r>
              <a:rPr lang="en-US" altLang="en-US" sz="3200" dirty="0">
                <a:latin typeface="Times New Roman" panose="02020603050405020304" pitchFamily="18" charset="0"/>
                <a:cs typeface="Times New Roman" panose="02020603050405020304" pitchFamily="18" charset="0"/>
              </a:rPr>
              <a:t> To do this, it must follow the least-cost rule</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02E68BEB-065E-3B41-A5A4-0913A48F0F15}"/>
              </a:ext>
            </a:extLst>
          </p:cNvPr>
          <p:cNvSpPr>
            <a:spLocks noGrp="1" noChangeArrowheads="1"/>
          </p:cNvSpPr>
          <p:nvPr>
            <p:ph type="title"/>
          </p:nvPr>
        </p:nvSpPr>
        <p:spPr>
          <a:xfrm>
            <a:off x="457200" y="274638"/>
            <a:ext cx="10972800" cy="1143000"/>
          </a:xfrm>
        </p:spPr>
        <p:txBody>
          <a:bodyPr/>
          <a:lstStyle/>
          <a:p>
            <a:pPr eaLnBrk="1" hangingPunct="1"/>
            <a:r>
              <a:rPr lang="en-US" altLang="en-US" b="1">
                <a:latin typeface="Times New Roman" panose="02020603050405020304" pitchFamily="18" charset="0"/>
                <a:cs typeface="Times New Roman" panose="02020603050405020304" pitchFamily="18" charset="0"/>
              </a:rPr>
              <a:t>Production And Cost in the Long Run</a:t>
            </a:r>
          </a:p>
        </p:txBody>
      </p:sp>
      <p:sp>
        <p:nvSpPr>
          <p:cNvPr id="67586" name="Rectangle 3">
            <a:extLst>
              <a:ext uri="{FF2B5EF4-FFF2-40B4-BE49-F238E27FC236}">
                <a16:creationId xmlns:a16="http://schemas.microsoft.com/office/drawing/2014/main" id="{2F148931-7635-516C-5869-6F1A7052F286}"/>
              </a:ext>
            </a:extLst>
          </p:cNvPr>
          <p:cNvSpPr>
            <a:spLocks noGrp="1" noChangeArrowheads="1"/>
          </p:cNvSpPr>
          <p:nvPr>
            <p:ph type="body" sz="half" idx="1"/>
          </p:nvPr>
        </p:nvSpPr>
        <p:spPr>
          <a:xfrm>
            <a:off x="838200" y="1524000"/>
            <a:ext cx="10820400" cy="3581400"/>
          </a:xfrm>
        </p:spPr>
        <p:txBody>
          <a:bodyPr/>
          <a:lstStyle/>
          <a:p>
            <a:pPr marL="90488" indent="-90488" eaLnBrk="1" hangingPunct="1"/>
            <a:r>
              <a:rPr lang="en-US" altLang="en-US" sz="3200" b="1">
                <a:latin typeface="Times New Roman" panose="02020603050405020304" pitchFamily="18" charset="0"/>
                <a:cs typeface="Times New Roman" panose="02020603050405020304" pitchFamily="18" charset="0"/>
              </a:rPr>
              <a:t>Long-Run Total Cost</a:t>
            </a:r>
          </a:p>
          <a:p>
            <a:pPr marL="1114425" lvl="2" indent="-457200"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The cost of producing each quantity of output when the least-cost input mix is chosen in the long run</a:t>
            </a:r>
          </a:p>
          <a:p>
            <a:pPr marL="90488" indent="-90488" eaLnBrk="1" hangingPunct="1"/>
            <a:r>
              <a:rPr lang="en-US" altLang="en-US" sz="3200" b="1">
                <a:latin typeface="Times New Roman" panose="02020603050405020304" pitchFamily="18" charset="0"/>
                <a:cs typeface="Times New Roman" panose="02020603050405020304" pitchFamily="18" charset="0"/>
              </a:rPr>
              <a:t>Long-Run Average Total Cost</a:t>
            </a:r>
          </a:p>
          <a:p>
            <a:pPr marL="1114425" lvl="2" indent="-457200"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The cost per unit of output in the long run, when all inputs are variable</a:t>
            </a:r>
          </a:p>
          <a:p>
            <a:pPr marL="90488" indent="-90488" eaLnBrk="1" hangingPunct="1"/>
            <a:r>
              <a:rPr lang="en-US" altLang="en-US" sz="3200" b="1">
                <a:latin typeface="Times New Roman" panose="02020603050405020304" pitchFamily="18" charset="0"/>
                <a:cs typeface="Times New Roman" panose="02020603050405020304" pitchFamily="18" charset="0"/>
              </a:rPr>
              <a:t>The long-run average total cost (LRATC)</a:t>
            </a:r>
          </a:p>
          <a:p>
            <a:pPr marL="1114425" lvl="2" indent="-457200" eaLnBrk="1" hangingPunct="1">
              <a:buFont typeface="Wingdings" pitchFamily="2" charset="2"/>
              <a:buChar char="§"/>
            </a:pPr>
            <a:r>
              <a:rPr lang="en-US" altLang="en-US" sz="2400">
                <a:latin typeface="Times New Roman" panose="02020603050405020304" pitchFamily="18" charset="0"/>
                <a:cs typeface="Times New Roman" panose="02020603050405020304" pitchFamily="18" charset="0"/>
              </a:rPr>
              <a:t>Cost per unit of output in the long-run</a:t>
            </a:r>
          </a:p>
        </p:txBody>
      </p:sp>
      <p:graphicFrame>
        <p:nvGraphicFramePr>
          <p:cNvPr id="67587" name="Object 4">
            <a:extLst>
              <a:ext uri="{FF2B5EF4-FFF2-40B4-BE49-F238E27FC236}">
                <a16:creationId xmlns:a16="http://schemas.microsoft.com/office/drawing/2014/main" id="{6C36F5D1-DBC9-E6C3-38C5-17B968416375}"/>
              </a:ext>
            </a:extLst>
          </p:cNvPr>
          <p:cNvGraphicFramePr>
            <a:graphicFrameLocks noGrp="1" noChangeAspect="1"/>
          </p:cNvGraphicFramePr>
          <p:nvPr>
            <p:ph sz="half" idx="2"/>
          </p:nvPr>
        </p:nvGraphicFramePr>
        <p:xfrm>
          <a:off x="3276600" y="5181600"/>
          <a:ext cx="3200400" cy="1163638"/>
        </p:xfrm>
        <a:graphic>
          <a:graphicData uri="http://schemas.openxmlformats.org/presentationml/2006/ole">
            <mc:AlternateContent xmlns:mc="http://schemas.openxmlformats.org/markup-compatibility/2006">
              <mc:Choice xmlns:v="urn:schemas-microsoft-com:vml" Requires="v">
                <p:oleObj name="Equation" r:id="rId2" imgW="25742900" imgH="9359900" progId="Equation.3">
                  <p:embed/>
                </p:oleObj>
              </mc:Choice>
              <mc:Fallback>
                <p:oleObj name="Equation" r:id="rId2" imgW="25742900" imgH="9359900" progId="Equation.3">
                  <p:embed/>
                  <p:pic>
                    <p:nvPicPr>
                      <p:cNvPr id="67587" name="Object 4">
                        <a:extLst>
                          <a:ext uri="{FF2B5EF4-FFF2-40B4-BE49-F238E27FC236}">
                            <a16:creationId xmlns:a16="http://schemas.microsoft.com/office/drawing/2014/main" id="{6C36F5D1-DBC9-E6C3-38C5-17B968416375}"/>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5181600"/>
                        <a:ext cx="3200400" cy="1163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158059CC-764D-D165-ACAC-C7E9535BF909}"/>
              </a:ext>
            </a:extLst>
          </p:cNvPr>
          <p:cNvSpPr>
            <a:spLocks noGrp="1" noChangeArrowheads="1"/>
          </p:cNvSpPr>
          <p:nvPr>
            <p:ph type="title"/>
          </p:nvPr>
        </p:nvSpPr>
        <p:spPr>
          <a:xfrm>
            <a:off x="609600" y="365125"/>
            <a:ext cx="10515600" cy="1325563"/>
          </a:xfrm>
        </p:spPr>
        <p:txBody>
          <a:bodyPr/>
          <a:lstStyle/>
          <a:p>
            <a:pPr eaLnBrk="1" hangingPunct="1"/>
            <a:r>
              <a:rPr lang="en-US" altLang="en-US" b="1">
                <a:latin typeface="Times New Roman" panose="02020603050405020304" pitchFamily="18" charset="0"/>
                <a:cs typeface="Times New Roman" panose="02020603050405020304" pitchFamily="18" charset="0"/>
              </a:rPr>
              <a:t>The Relationship Between Long-Run And Short-Run Costs</a:t>
            </a:r>
          </a:p>
        </p:txBody>
      </p:sp>
      <p:sp>
        <p:nvSpPr>
          <p:cNvPr id="68610" name="Rectangle 3">
            <a:extLst>
              <a:ext uri="{FF2B5EF4-FFF2-40B4-BE49-F238E27FC236}">
                <a16:creationId xmlns:a16="http://schemas.microsoft.com/office/drawing/2014/main" id="{53F10D00-7B91-9B5E-B69A-641770D48E97}"/>
              </a:ext>
            </a:extLst>
          </p:cNvPr>
          <p:cNvSpPr>
            <a:spLocks noGrp="1" noChangeArrowheads="1"/>
          </p:cNvSpPr>
          <p:nvPr>
            <p:ph idx="1"/>
          </p:nvPr>
        </p:nvSpPr>
        <p:spPr>
          <a:xfrm>
            <a:off x="838200" y="1973263"/>
            <a:ext cx="10515600" cy="4351337"/>
          </a:xfrm>
        </p:spPr>
        <p:txBody>
          <a:bodyPr/>
          <a:lstStyle/>
          <a:p>
            <a:pPr eaLnBrk="1" hangingPunct="1"/>
            <a:r>
              <a:rPr lang="en-US" altLang="en-US" sz="3600">
                <a:latin typeface="Times New Roman" panose="02020603050405020304" pitchFamily="18" charset="0"/>
                <a:cs typeface="Times New Roman" panose="02020603050405020304" pitchFamily="18" charset="0"/>
              </a:rPr>
              <a:t>For some output levels, LRTC is smaller than TC</a:t>
            </a:r>
          </a:p>
          <a:p>
            <a:pPr eaLnBrk="1" hangingPunct="1"/>
            <a:r>
              <a:rPr lang="en-US" altLang="en-US" sz="3600">
                <a:latin typeface="Times New Roman" panose="02020603050405020304" pitchFamily="18" charset="0"/>
                <a:cs typeface="Times New Roman" panose="02020603050405020304" pitchFamily="18" charset="0"/>
              </a:rPr>
              <a:t>The long-run total cost can never be higher than, the short-run total cost</a:t>
            </a:r>
          </a:p>
          <a:p>
            <a:pPr eaLnBrk="1" hangingPunct="1"/>
            <a:r>
              <a:rPr lang="en-US" altLang="en-US" sz="3600">
                <a:latin typeface="Times New Roman" panose="02020603050405020304" pitchFamily="18" charset="0"/>
                <a:cs typeface="Times New Roman" panose="02020603050405020304" pitchFamily="18" charset="0"/>
              </a:rPr>
              <a:t>The long-run average cost can never be higher than the short–run average total cost</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639" name="Rectangle 6963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9641" name="Rectangle 6964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643" name="Rectangle 6964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3" name="Rectangle 2">
            <a:extLst>
              <a:ext uri="{FF2B5EF4-FFF2-40B4-BE49-F238E27FC236}">
                <a16:creationId xmlns:a16="http://schemas.microsoft.com/office/drawing/2014/main" id="{848C8350-E089-470A-52F2-80D6AB75CCBE}"/>
              </a:ext>
            </a:extLst>
          </p:cNvPr>
          <p:cNvSpPr>
            <a:spLocks noGrp="1" noChangeArrowheads="1"/>
          </p:cNvSpPr>
          <p:nvPr>
            <p:ph type="title"/>
          </p:nvPr>
        </p:nvSpPr>
        <p:spPr>
          <a:xfrm>
            <a:off x="781739"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Average Cost And Plant Size</a:t>
            </a:r>
          </a:p>
        </p:txBody>
      </p:sp>
      <p:sp>
        <p:nvSpPr>
          <p:cNvPr id="69645" name="Rectangle 6964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9634" name="Rectangle 3">
            <a:extLst>
              <a:ext uri="{FF2B5EF4-FFF2-40B4-BE49-F238E27FC236}">
                <a16:creationId xmlns:a16="http://schemas.microsoft.com/office/drawing/2014/main" id="{A35FE50D-6C62-4816-73C2-6D7AD64804A4}"/>
              </a:ext>
            </a:extLst>
          </p:cNvPr>
          <p:cNvSpPr>
            <a:spLocks noGrp="1" noChangeArrowheads="1"/>
          </p:cNvSpPr>
          <p:nvPr>
            <p:ph idx="1"/>
          </p:nvPr>
        </p:nvSpPr>
        <p:spPr>
          <a:xfrm>
            <a:off x="662644" y="2319104"/>
            <a:ext cx="11059964" cy="4219481"/>
          </a:xfrm>
        </p:spPr>
        <p:txBody>
          <a:bodyPr>
            <a:normAutofit/>
          </a:bodyPr>
          <a:lstStyle/>
          <a:p>
            <a:pPr eaLnBrk="1" hangingPunct="1"/>
            <a:r>
              <a:rPr lang="en-US" altLang="en-US">
                <a:latin typeface="Times New Roman" panose="02020603050405020304" pitchFamily="18" charset="0"/>
                <a:cs typeface="Times New Roman" panose="02020603050405020304" pitchFamily="18" charset="0"/>
              </a:rPr>
              <a:t>Plant - Collection of fixed inputs at a firm’s disposal</a:t>
            </a:r>
          </a:p>
          <a:p>
            <a:pPr eaLnBrk="1" hangingPunct="1"/>
            <a:r>
              <a:rPr lang="en-US" altLang="en-US">
                <a:latin typeface="Times New Roman" panose="02020603050405020304" pitchFamily="18" charset="0"/>
                <a:cs typeface="Times New Roman" panose="02020603050405020304" pitchFamily="18" charset="0"/>
              </a:rPr>
              <a:t>In the long run, the firm can change the size of its plant</a:t>
            </a:r>
          </a:p>
          <a:p>
            <a:pPr marL="542925" lvl="1" indent="-342900" eaLnBrk="1" hangingPunct="1">
              <a:buFont typeface="Wingdings" pitchFamily="2" charset="2"/>
              <a:buChar char="§"/>
            </a:pPr>
            <a:r>
              <a:rPr lang="en-US" altLang="en-US" sz="2800">
                <a:latin typeface="Times New Roman" panose="02020603050405020304" pitchFamily="18" charset="0"/>
                <a:cs typeface="Times New Roman" panose="02020603050405020304" pitchFamily="18" charset="0"/>
              </a:rPr>
              <a:t>In the short run, it is stuck with its current plant size</a:t>
            </a:r>
          </a:p>
          <a:p>
            <a:pPr eaLnBrk="1" hangingPunct="1"/>
            <a:r>
              <a:rPr lang="en-US" altLang="en-US">
                <a:latin typeface="Times New Roman" panose="02020603050405020304" pitchFamily="18" charset="0"/>
                <a:cs typeface="Times New Roman" panose="02020603050405020304" pitchFamily="18" charset="0"/>
              </a:rPr>
              <a:t>The ATC curve tells us how average cost behaves in the short run when the firm uses a plant of a given size</a:t>
            </a:r>
          </a:p>
          <a:p>
            <a:pPr eaLnBrk="1" hangingPunct="1"/>
            <a:r>
              <a:rPr lang="en-US" altLang="en-US">
                <a:latin typeface="Times New Roman" panose="02020603050405020304" pitchFamily="18" charset="0"/>
                <a:cs typeface="Times New Roman" panose="02020603050405020304" pitchFamily="18" charset="0"/>
              </a:rPr>
              <a:t>To produce any level of output, it will always choose that ATC curve among all of the ATC curves available that enables it to produce at the lowest possible average total cost</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143" name="Rectangle 9114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1145" name="Rectangle 9114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1147" name="Rectangle 9114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138" name="Rectangle 2">
            <a:extLst>
              <a:ext uri="{FF2B5EF4-FFF2-40B4-BE49-F238E27FC236}">
                <a16:creationId xmlns:a16="http://schemas.microsoft.com/office/drawing/2014/main" id="{F0161E7C-C29F-E6FC-A13D-39A0598088FE}"/>
              </a:ext>
            </a:extLst>
          </p:cNvPr>
          <p:cNvSpPr>
            <a:spLocks noGrp="1" noChangeArrowheads="1"/>
          </p:cNvSpPr>
          <p:nvPr>
            <p:ph type="title"/>
          </p:nvPr>
        </p:nvSpPr>
        <p:spPr>
          <a:xfrm>
            <a:off x="767225" y="548640"/>
            <a:ext cx="10168128" cy="1179576"/>
          </a:xfrm>
        </p:spPr>
        <p:txBody>
          <a:bodyPr rtlCol="0">
            <a:normAutofit/>
          </a:bodyPr>
          <a:lstStyle/>
          <a:p>
            <a:pPr eaLnBrk="1" fontAlgn="auto" hangingPunct="1">
              <a:spcAft>
                <a:spcPts val="0"/>
              </a:spcAft>
              <a:defRPr/>
            </a:pPr>
            <a:r>
              <a:rPr lang="en-US" altLang="en-US" b="1" dirty="0">
                <a:latin typeface="Times New Roman" panose="02020603050405020304" pitchFamily="18" charset="0"/>
                <a:cs typeface="Times New Roman" panose="02020603050405020304" pitchFamily="18" charset="0"/>
              </a:rPr>
              <a:t>Graphing the LRATC Curve</a:t>
            </a:r>
          </a:p>
        </p:txBody>
      </p:sp>
      <p:sp>
        <p:nvSpPr>
          <p:cNvPr id="91149" name="Rectangle 9114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0658" name="Rectangle 3">
            <a:extLst>
              <a:ext uri="{FF2B5EF4-FFF2-40B4-BE49-F238E27FC236}">
                <a16:creationId xmlns:a16="http://schemas.microsoft.com/office/drawing/2014/main" id="{98AB0DF8-1F0D-D535-1D60-0CA4E323BBFA}"/>
              </a:ext>
            </a:extLst>
          </p:cNvPr>
          <p:cNvSpPr>
            <a:spLocks noGrp="1" noChangeArrowheads="1"/>
          </p:cNvSpPr>
          <p:nvPr>
            <p:ph idx="1"/>
          </p:nvPr>
        </p:nvSpPr>
        <p:spPr>
          <a:xfrm>
            <a:off x="589476" y="2481943"/>
            <a:ext cx="10168128" cy="3695020"/>
          </a:xfrm>
        </p:spPr>
        <p:txBody>
          <a:bodyPr>
            <a:normAutofit/>
          </a:bodyPr>
          <a:lstStyle/>
          <a:p>
            <a:pPr eaLnBrk="1" hangingPunct="1"/>
            <a:r>
              <a:rPr lang="en-US" altLang="en-US" sz="3200">
                <a:latin typeface="Times New Roman" panose="02020603050405020304" pitchFamily="18" charset="0"/>
                <a:cs typeface="Times New Roman" panose="02020603050405020304" pitchFamily="18" charset="0"/>
              </a:rPr>
              <a:t>A firm’s LRATC curve combines portions of each ATC curve available to the firm in the long run</a:t>
            </a:r>
          </a:p>
          <a:p>
            <a:pPr eaLnBrk="1" hangingPunct="1"/>
            <a:r>
              <a:rPr lang="en-US" altLang="en-US" sz="3200">
                <a:latin typeface="Times New Roman" panose="02020603050405020304" pitchFamily="18" charset="0"/>
                <a:cs typeface="Times New Roman" panose="02020603050405020304" pitchFamily="18" charset="0"/>
              </a:rPr>
              <a:t>In the short run, a firm can only move along its current ATC curve</a:t>
            </a:r>
          </a:p>
          <a:p>
            <a:pPr eaLnBrk="1" hangingPunct="1"/>
            <a:r>
              <a:rPr lang="en-US" altLang="en-US" sz="3200">
                <a:latin typeface="Times New Roman" panose="02020603050405020304" pitchFamily="18" charset="0"/>
                <a:cs typeface="Times New Roman" panose="02020603050405020304" pitchFamily="18" charset="0"/>
              </a:rPr>
              <a:t>In the long run, it can move from one ATC curve to another by varying the size of its plant</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650CFB19-B792-03A3-F6D8-8449B2DA28EE}"/>
              </a:ext>
            </a:extLst>
          </p:cNvPr>
          <p:cNvSpPr>
            <a:spLocks noGrp="1" noChangeArrowheads="1"/>
          </p:cNvSpPr>
          <p:nvPr>
            <p:ph type="title"/>
          </p:nvPr>
        </p:nvSpPr>
        <p:spPr>
          <a:xfrm>
            <a:off x="914400" y="287338"/>
            <a:ext cx="7543800" cy="873125"/>
          </a:xfrm>
        </p:spPr>
        <p:txBody>
          <a:bodyPr rtlCol="0">
            <a:noAutofit/>
          </a:bodyPr>
          <a:lstStyle/>
          <a:p>
            <a:pPr eaLnBrk="1" fontAlgn="auto" hangingPunct="1">
              <a:spcAft>
                <a:spcPts val="0"/>
              </a:spcAft>
              <a:defRPr/>
            </a:pPr>
            <a:r>
              <a:rPr lang="en-US" altLang="en-US" b="1" dirty="0">
                <a:solidFill>
                  <a:schemeClr val="tx1">
                    <a:lumMod val="75000"/>
                    <a:lumOff val="25000"/>
                  </a:schemeClr>
                </a:solidFill>
                <a:latin typeface="Times New Roman" panose="02020603050405020304" pitchFamily="18" charset="0"/>
                <a:cs typeface="Times New Roman" panose="02020603050405020304" pitchFamily="18" charset="0"/>
              </a:rPr>
              <a:t>Long-Run Average Total Cost</a:t>
            </a:r>
          </a:p>
        </p:txBody>
      </p:sp>
      <p:grpSp>
        <p:nvGrpSpPr>
          <p:cNvPr id="102403" name="Group 3">
            <a:extLst>
              <a:ext uri="{FF2B5EF4-FFF2-40B4-BE49-F238E27FC236}">
                <a16:creationId xmlns:a16="http://schemas.microsoft.com/office/drawing/2014/main" id="{EC516550-AB67-7F57-E3B5-7C287D3AB22B}"/>
              </a:ext>
            </a:extLst>
          </p:cNvPr>
          <p:cNvGrpSpPr>
            <a:grpSpLocks/>
          </p:cNvGrpSpPr>
          <p:nvPr/>
        </p:nvGrpSpPr>
        <p:grpSpPr bwMode="auto">
          <a:xfrm>
            <a:off x="6726238" y="4857750"/>
            <a:ext cx="1587" cy="449263"/>
            <a:chOff x="3250" y="3108"/>
            <a:chExt cx="1" cy="283"/>
          </a:xfrm>
        </p:grpSpPr>
        <p:sp>
          <p:nvSpPr>
            <p:cNvPr id="71832" name="Line 4">
              <a:extLst>
                <a:ext uri="{FF2B5EF4-FFF2-40B4-BE49-F238E27FC236}">
                  <a16:creationId xmlns:a16="http://schemas.microsoft.com/office/drawing/2014/main" id="{9E6036C8-88A6-B533-BD36-AF30134B6269}"/>
                </a:ext>
              </a:extLst>
            </p:cNvPr>
            <p:cNvSpPr>
              <a:spLocks noChangeShapeType="1"/>
            </p:cNvSpPr>
            <p:nvPr/>
          </p:nvSpPr>
          <p:spPr bwMode="auto">
            <a:xfrm flipV="1">
              <a:off x="3250" y="3357"/>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3" name="Line 5">
              <a:extLst>
                <a:ext uri="{FF2B5EF4-FFF2-40B4-BE49-F238E27FC236}">
                  <a16:creationId xmlns:a16="http://schemas.microsoft.com/office/drawing/2014/main" id="{F5C33BDE-94BE-2199-A965-F3C135C00A93}"/>
                </a:ext>
              </a:extLst>
            </p:cNvPr>
            <p:cNvSpPr>
              <a:spLocks noChangeShapeType="1"/>
            </p:cNvSpPr>
            <p:nvPr/>
          </p:nvSpPr>
          <p:spPr bwMode="auto">
            <a:xfrm flipV="1">
              <a:off x="3250" y="328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4" name="Line 6">
              <a:extLst>
                <a:ext uri="{FF2B5EF4-FFF2-40B4-BE49-F238E27FC236}">
                  <a16:creationId xmlns:a16="http://schemas.microsoft.com/office/drawing/2014/main" id="{A2C985C9-C0C7-A77F-5609-A9743976D006}"/>
                </a:ext>
              </a:extLst>
            </p:cNvPr>
            <p:cNvSpPr>
              <a:spLocks noChangeShapeType="1"/>
            </p:cNvSpPr>
            <p:nvPr/>
          </p:nvSpPr>
          <p:spPr bwMode="auto">
            <a:xfrm flipV="1">
              <a:off x="3250" y="322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5" name="Line 7">
              <a:extLst>
                <a:ext uri="{FF2B5EF4-FFF2-40B4-BE49-F238E27FC236}">
                  <a16:creationId xmlns:a16="http://schemas.microsoft.com/office/drawing/2014/main" id="{24507107-4A9D-264A-9549-33152ECFCF5F}"/>
                </a:ext>
              </a:extLst>
            </p:cNvPr>
            <p:cNvSpPr>
              <a:spLocks noChangeShapeType="1"/>
            </p:cNvSpPr>
            <p:nvPr/>
          </p:nvSpPr>
          <p:spPr bwMode="auto">
            <a:xfrm flipV="1">
              <a:off x="3250" y="315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6" name="Line 8">
              <a:extLst>
                <a:ext uri="{FF2B5EF4-FFF2-40B4-BE49-F238E27FC236}">
                  <a16:creationId xmlns:a16="http://schemas.microsoft.com/office/drawing/2014/main" id="{59B33358-A416-E33C-2897-1FB6F64839D8}"/>
                </a:ext>
              </a:extLst>
            </p:cNvPr>
            <p:cNvSpPr>
              <a:spLocks noChangeShapeType="1"/>
            </p:cNvSpPr>
            <p:nvPr/>
          </p:nvSpPr>
          <p:spPr bwMode="auto">
            <a:xfrm flipV="1">
              <a:off x="3250" y="3108"/>
              <a:ext cx="1"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sp>
        <p:nvSpPr>
          <p:cNvPr id="102409" name="Freeform 9">
            <a:extLst>
              <a:ext uri="{FF2B5EF4-FFF2-40B4-BE49-F238E27FC236}">
                <a16:creationId xmlns:a16="http://schemas.microsoft.com/office/drawing/2014/main" id="{B8432F34-F4B4-84A3-1217-A455DF515A8C}"/>
              </a:ext>
            </a:extLst>
          </p:cNvPr>
          <p:cNvSpPr>
            <a:spLocks/>
          </p:cNvSpPr>
          <p:nvPr/>
        </p:nvSpPr>
        <p:spPr bwMode="auto">
          <a:xfrm>
            <a:off x="5581650" y="2622550"/>
            <a:ext cx="2900363" cy="657225"/>
          </a:xfrm>
          <a:custGeom>
            <a:avLst/>
            <a:gdLst>
              <a:gd name="T0" fmla="*/ 0 w 1827"/>
              <a:gd name="T1" fmla="*/ 0 h 414"/>
              <a:gd name="T2" fmla="*/ 0 w 1827"/>
              <a:gd name="T3" fmla="*/ 0 h 414"/>
              <a:gd name="T4" fmla="*/ 2147483646 w 1827"/>
              <a:gd name="T5" fmla="*/ 2147483646 h 414"/>
              <a:gd name="T6" fmla="*/ 2147483646 w 1827"/>
              <a:gd name="T7" fmla="*/ 2147483646 h 414"/>
              <a:gd name="T8" fmla="*/ 2147483646 w 1827"/>
              <a:gd name="T9" fmla="*/ 2147483646 h 414"/>
              <a:gd name="T10" fmla="*/ 2147483646 w 1827"/>
              <a:gd name="T11" fmla="*/ 2147483646 h 414"/>
              <a:gd name="T12" fmla="*/ 2147483646 w 1827"/>
              <a:gd name="T13" fmla="*/ 2147483646 h 414"/>
              <a:gd name="T14" fmla="*/ 2147483646 w 1827"/>
              <a:gd name="T15" fmla="*/ 2147483646 h 414"/>
              <a:gd name="T16" fmla="*/ 2147483646 w 1827"/>
              <a:gd name="T17" fmla="*/ 2147483646 h 414"/>
              <a:gd name="T18" fmla="*/ 2147483646 w 1827"/>
              <a:gd name="T19" fmla="*/ 2147483646 h 414"/>
              <a:gd name="T20" fmla="*/ 2147483646 w 1827"/>
              <a:gd name="T21" fmla="*/ 2147483646 h 414"/>
              <a:gd name="T22" fmla="*/ 2147483646 w 1827"/>
              <a:gd name="T23" fmla="*/ 2147483646 h 414"/>
              <a:gd name="T24" fmla="*/ 2147483646 w 1827"/>
              <a:gd name="T25" fmla="*/ 2147483646 h 414"/>
              <a:gd name="T26" fmla="*/ 2147483646 w 1827"/>
              <a:gd name="T27" fmla="*/ 2147483646 h 414"/>
              <a:gd name="T28" fmla="*/ 2147483646 w 1827"/>
              <a:gd name="T29" fmla="*/ 2147483646 h 414"/>
              <a:gd name="T30" fmla="*/ 2147483646 w 1827"/>
              <a:gd name="T31" fmla="*/ 2147483646 h 414"/>
              <a:gd name="T32" fmla="*/ 2147483646 w 1827"/>
              <a:gd name="T33" fmla="*/ 2147483646 h 414"/>
              <a:gd name="T34" fmla="*/ 2147483646 w 1827"/>
              <a:gd name="T35" fmla="*/ 2147483646 h 414"/>
              <a:gd name="T36" fmla="*/ 2147483646 w 1827"/>
              <a:gd name="T37" fmla="*/ 2147483646 h 414"/>
              <a:gd name="T38" fmla="*/ 2147483646 w 1827"/>
              <a:gd name="T39" fmla="*/ 2147483646 h 414"/>
              <a:gd name="T40" fmla="*/ 2147483646 w 1827"/>
              <a:gd name="T41" fmla="*/ 2147483646 h 414"/>
              <a:gd name="T42" fmla="*/ 2147483646 w 1827"/>
              <a:gd name="T43" fmla="*/ 2147483646 h 414"/>
              <a:gd name="T44" fmla="*/ 2147483646 w 1827"/>
              <a:gd name="T45" fmla="*/ 2147483646 h 414"/>
              <a:gd name="T46" fmla="*/ 2147483646 w 1827"/>
              <a:gd name="T47" fmla="*/ 2147483646 h 414"/>
              <a:gd name="T48" fmla="*/ 2147483646 w 1827"/>
              <a:gd name="T49" fmla="*/ 2147483646 h 414"/>
              <a:gd name="T50" fmla="*/ 2147483646 w 1827"/>
              <a:gd name="T51" fmla="*/ 2147483646 h 414"/>
              <a:gd name="T52" fmla="*/ 2147483646 w 1827"/>
              <a:gd name="T53" fmla="*/ 2147483646 h 414"/>
              <a:gd name="T54" fmla="*/ 2147483646 w 1827"/>
              <a:gd name="T55" fmla="*/ 2147483646 h 414"/>
              <a:gd name="T56" fmla="*/ 2147483646 w 1827"/>
              <a:gd name="T57" fmla="*/ 2147483646 h 414"/>
              <a:gd name="T58" fmla="*/ 2147483646 w 1827"/>
              <a:gd name="T59" fmla="*/ 2147483646 h 414"/>
              <a:gd name="T60" fmla="*/ 2147483646 w 1827"/>
              <a:gd name="T61" fmla="*/ 2147483646 h 414"/>
              <a:gd name="T62" fmla="*/ 2147483646 w 1827"/>
              <a:gd name="T63" fmla="*/ 2147483646 h 414"/>
              <a:gd name="T64" fmla="*/ 2147483646 w 1827"/>
              <a:gd name="T65" fmla="*/ 2147483646 h 414"/>
              <a:gd name="T66" fmla="*/ 2147483646 w 1827"/>
              <a:gd name="T67" fmla="*/ 2147483646 h 414"/>
              <a:gd name="T68" fmla="*/ 2147483646 w 1827"/>
              <a:gd name="T69" fmla="*/ 2147483646 h 414"/>
              <a:gd name="T70" fmla="*/ 2147483646 w 1827"/>
              <a:gd name="T71" fmla="*/ 2147483646 h 414"/>
              <a:gd name="T72" fmla="*/ 2147483646 w 1827"/>
              <a:gd name="T73" fmla="*/ 2147483646 h 414"/>
              <a:gd name="T74" fmla="*/ 2147483646 w 1827"/>
              <a:gd name="T75" fmla="*/ 2147483646 h 414"/>
              <a:gd name="T76" fmla="*/ 2147483646 w 1827"/>
              <a:gd name="T77" fmla="*/ 2147483646 h 41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827" h="414">
                <a:moveTo>
                  <a:pt x="0" y="0"/>
                </a:moveTo>
                <a:lnTo>
                  <a:pt x="0" y="0"/>
                </a:lnTo>
                <a:lnTo>
                  <a:pt x="8" y="20"/>
                </a:lnTo>
                <a:lnTo>
                  <a:pt x="20" y="43"/>
                </a:lnTo>
                <a:lnTo>
                  <a:pt x="52" y="82"/>
                </a:lnTo>
                <a:lnTo>
                  <a:pt x="96" y="122"/>
                </a:lnTo>
                <a:lnTo>
                  <a:pt x="144" y="159"/>
                </a:lnTo>
                <a:lnTo>
                  <a:pt x="196" y="193"/>
                </a:lnTo>
                <a:lnTo>
                  <a:pt x="256" y="224"/>
                </a:lnTo>
                <a:lnTo>
                  <a:pt x="320" y="255"/>
                </a:lnTo>
                <a:lnTo>
                  <a:pt x="384" y="280"/>
                </a:lnTo>
                <a:lnTo>
                  <a:pt x="452" y="306"/>
                </a:lnTo>
                <a:lnTo>
                  <a:pt x="521" y="329"/>
                </a:lnTo>
                <a:lnTo>
                  <a:pt x="589" y="348"/>
                </a:lnTo>
                <a:lnTo>
                  <a:pt x="657" y="365"/>
                </a:lnTo>
                <a:lnTo>
                  <a:pt x="721" y="380"/>
                </a:lnTo>
                <a:lnTo>
                  <a:pt x="781" y="394"/>
                </a:lnTo>
                <a:lnTo>
                  <a:pt x="833" y="402"/>
                </a:lnTo>
                <a:lnTo>
                  <a:pt x="881" y="408"/>
                </a:lnTo>
                <a:lnTo>
                  <a:pt x="933" y="411"/>
                </a:lnTo>
                <a:lnTo>
                  <a:pt x="985" y="414"/>
                </a:lnTo>
                <a:lnTo>
                  <a:pt x="1033" y="414"/>
                </a:lnTo>
                <a:lnTo>
                  <a:pt x="1085" y="414"/>
                </a:lnTo>
                <a:lnTo>
                  <a:pt x="1129" y="411"/>
                </a:lnTo>
                <a:lnTo>
                  <a:pt x="1178" y="405"/>
                </a:lnTo>
                <a:lnTo>
                  <a:pt x="1266" y="391"/>
                </a:lnTo>
                <a:lnTo>
                  <a:pt x="1346" y="374"/>
                </a:lnTo>
                <a:lnTo>
                  <a:pt x="1422" y="351"/>
                </a:lnTo>
                <a:lnTo>
                  <a:pt x="1494" y="323"/>
                </a:lnTo>
                <a:lnTo>
                  <a:pt x="1558" y="295"/>
                </a:lnTo>
                <a:lnTo>
                  <a:pt x="1614" y="266"/>
                </a:lnTo>
                <a:lnTo>
                  <a:pt x="1666" y="235"/>
                </a:lnTo>
                <a:lnTo>
                  <a:pt x="1710" y="207"/>
                </a:lnTo>
                <a:lnTo>
                  <a:pt x="1746" y="179"/>
                </a:lnTo>
                <a:lnTo>
                  <a:pt x="1779" y="153"/>
                </a:lnTo>
                <a:lnTo>
                  <a:pt x="1803" y="130"/>
                </a:lnTo>
                <a:lnTo>
                  <a:pt x="1819" y="113"/>
                </a:lnTo>
                <a:lnTo>
                  <a:pt x="1827" y="99"/>
                </a:lnTo>
              </a:path>
            </a:pathLst>
          </a:custGeom>
          <a:noFill/>
          <a:ln w="3810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102410" name="Group 10">
            <a:extLst>
              <a:ext uri="{FF2B5EF4-FFF2-40B4-BE49-F238E27FC236}">
                <a16:creationId xmlns:a16="http://schemas.microsoft.com/office/drawing/2014/main" id="{712B8242-E4FE-6641-765E-D5E58B8454B0}"/>
              </a:ext>
            </a:extLst>
          </p:cNvPr>
          <p:cNvGrpSpPr>
            <a:grpSpLocks/>
          </p:cNvGrpSpPr>
          <p:nvPr/>
        </p:nvGrpSpPr>
        <p:grpSpPr bwMode="auto">
          <a:xfrm>
            <a:off x="4976813" y="4659313"/>
            <a:ext cx="1587" cy="649287"/>
            <a:chOff x="2148" y="2983"/>
            <a:chExt cx="1" cy="409"/>
          </a:xfrm>
        </p:grpSpPr>
        <p:sp>
          <p:nvSpPr>
            <p:cNvPr id="71825" name="Line 11">
              <a:extLst>
                <a:ext uri="{FF2B5EF4-FFF2-40B4-BE49-F238E27FC236}">
                  <a16:creationId xmlns:a16="http://schemas.microsoft.com/office/drawing/2014/main" id="{36957D97-FF91-354B-1D25-C7612400BF61}"/>
                </a:ext>
              </a:extLst>
            </p:cNvPr>
            <p:cNvSpPr>
              <a:spLocks noChangeShapeType="1"/>
            </p:cNvSpPr>
            <p:nvPr/>
          </p:nvSpPr>
          <p:spPr bwMode="auto">
            <a:xfrm>
              <a:off x="2148" y="298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6" name="Line 12">
              <a:extLst>
                <a:ext uri="{FF2B5EF4-FFF2-40B4-BE49-F238E27FC236}">
                  <a16:creationId xmlns:a16="http://schemas.microsoft.com/office/drawing/2014/main" id="{5FDE77CE-EDC6-1A3F-FF10-C29B9950C00C}"/>
                </a:ext>
              </a:extLst>
            </p:cNvPr>
            <p:cNvSpPr>
              <a:spLocks noChangeShapeType="1"/>
            </p:cNvSpPr>
            <p:nvPr/>
          </p:nvSpPr>
          <p:spPr bwMode="auto">
            <a:xfrm>
              <a:off x="2148" y="305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7" name="Line 13">
              <a:extLst>
                <a:ext uri="{FF2B5EF4-FFF2-40B4-BE49-F238E27FC236}">
                  <a16:creationId xmlns:a16="http://schemas.microsoft.com/office/drawing/2014/main" id="{08AF422E-E82C-20DB-519C-9FCC6944ACC3}"/>
                </a:ext>
              </a:extLst>
            </p:cNvPr>
            <p:cNvSpPr>
              <a:spLocks noChangeShapeType="1"/>
            </p:cNvSpPr>
            <p:nvPr/>
          </p:nvSpPr>
          <p:spPr bwMode="auto">
            <a:xfrm>
              <a:off x="2148" y="311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8" name="Line 14">
              <a:extLst>
                <a:ext uri="{FF2B5EF4-FFF2-40B4-BE49-F238E27FC236}">
                  <a16:creationId xmlns:a16="http://schemas.microsoft.com/office/drawing/2014/main" id="{84FFA315-9613-0410-8974-74B12CD4D945}"/>
                </a:ext>
              </a:extLst>
            </p:cNvPr>
            <p:cNvSpPr>
              <a:spLocks noChangeShapeType="1"/>
            </p:cNvSpPr>
            <p:nvPr/>
          </p:nvSpPr>
          <p:spPr bwMode="auto">
            <a:xfrm>
              <a:off x="2148" y="3187"/>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9" name="Line 15">
              <a:extLst>
                <a:ext uri="{FF2B5EF4-FFF2-40B4-BE49-F238E27FC236}">
                  <a16:creationId xmlns:a16="http://schemas.microsoft.com/office/drawing/2014/main" id="{241CF815-8871-A0A0-0968-45D7FA2A4660}"/>
                </a:ext>
              </a:extLst>
            </p:cNvPr>
            <p:cNvSpPr>
              <a:spLocks noChangeShapeType="1"/>
            </p:cNvSpPr>
            <p:nvPr/>
          </p:nvSpPr>
          <p:spPr bwMode="auto">
            <a:xfrm>
              <a:off x="2148" y="3255"/>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0" name="Line 16">
              <a:extLst>
                <a:ext uri="{FF2B5EF4-FFF2-40B4-BE49-F238E27FC236}">
                  <a16:creationId xmlns:a16="http://schemas.microsoft.com/office/drawing/2014/main" id="{E4804709-89B7-11B9-A809-06F5AEE9F3BE}"/>
                </a:ext>
              </a:extLst>
            </p:cNvPr>
            <p:cNvSpPr>
              <a:spLocks noChangeShapeType="1"/>
            </p:cNvSpPr>
            <p:nvPr/>
          </p:nvSpPr>
          <p:spPr bwMode="auto">
            <a:xfrm>
              <a:off x="2148" y="332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31" name="Line 17">
              <a:extLst>
                <a:ext uri="{FF2B5EF4-FFF2-40B4-BE49-F238E27FC236}">
                  <a16:creationId xmlns:a16="http://schemas.microsoft.com/office/drawing/2014/main" id="{7B190269-D5B3-050F-1FE5-4811CA51EE31}"/>
                </a:ext>
              </a:extLst>
            </p:cNvPr>
            <p:cNvSpPr>
              <a:spLocks noChangeShapeType="1"/>
            </p:cNvSpPr>
            <p:nvPr/>
          </p:nvSpPr>
          <p:spPr bwMode="auto">
            <a:xfrm>
              <a:off x="2148" y="3391"/>
              <a:ext cx="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02418" name="Group 18">
            <a:extLst>
              <a:ext uri="{FF2B5EF4-FFF2-40B4-BE49-F238E27FC236}">
                <a16:creationId xmlns:a16="http://schemas.microsoft.com/office/drawing/2014/main" id="{0F8FFB06-9825-9384-B3A9-BACD124645F7}"/>
              </a:ext>
            </a:extLst>
          </p:cNvPr>
          <p:cNvGrpSpPr>
            <a:grpSpLocks/>
          </p:cNvGrpSpPr>
          <p:nvPr/>
        </p:nvGrpSpPr>
        <p:grpSpPr bwMode="auto">
          <a:xfrm>
            <a:off x="8289925" y="4668838"/>
            <a:ext cx="1588" cy="593725"/>
            <a:chOff x="4235" y="2989"/>
            <a:chExt cx="1" cy="374"/>
          </a:xfrm>
        </p:grpSpPr>
        <p:sp>
          <p:nvSpPr>
            <p:cNvPr id="71819" name="Line 19">
              <a:extLst>
                <a:ext uri="{FF2B5EF4-FFF2-40B4-BE49-F238E27FC236}">
                  <a16:creationId xmlns:a16="http://schemas.microsoft.com/office/drawing/2014/main" id="{46320A7E-2B29-F477-9E77-EC2C211E2A7E}"/>
                </a:ext>
              </a:extLst>
            </p:cNvPr>
            <p:cNvSpPr>
              <a:spLocks noChangeShapeType="1"/>
            </p:cNvSpPr>
            <p:nvPr/>
          </p:nvSpPr>
          <p:spPr bwMode="auto">
            <a:xfrm>
              <a:off x="4235" y="298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0" name="Line 20">
              <a:extLst>
                <a:ext uri="{FF2B5EF4-FFF2-40B4-BE49-F238E27FC236}">
                  <a16:creationId xmlns:a16="http://schemas.microsoft.com/office/drawing/2014/main" id="{05D4C65F-7467-D8C4-6908-80264C4FF47F}"/>
                </a:ext>
              </a:extLst>
            </p:cNvPr>
            <p:cNvSpPr>
              <a:spLocks noChangeShapeType="1"/>
            </p:cNvSpPr>
            <p:nvPr/>
          </p:nvSpPr>
          <p:spPr bwMode="auto">
            <a:xfrm>
              <a:off x="4235" y="3057"/>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1" name="Line 21">
              <a:extLst>
                <a:ext uri="{FF2B5EF4-FFF2-40B4-BE49-F238E27FC236}">
                  <a16:creationId xmlns:a16="http://schemas.microsoft.com/office/drawing/2014/main" id="{8609A2D7-0517-30AF-69CF-9B3254AD7E31}"/>
                </a:ext>
              </a:extLst>
            </p:cNvPr>
            <p:cNvSpPr>
              <a:spLocks noChangeShapeType="1"/>
            </p:cNvSpPr>
            <p:nvPr/>
          </p:nvSpPr>
          <p:spPr bwMode="auto">
            <a:xfrm>
              <a:off x="4235" y="3125"/>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2" name="Line 22">
              <a:extLst>
                <a:ext uri="{FF2B5EF4-FFF2-40B4-BE49-F238E27FC236}">
                  <a16:creationId xmlns:a16="http://schemas.microsoft.com/office/drawing/2014/main" id="{F914FDF2-933D-0C51-6045-0F013DEA529C}"/>
                </a:ext>
              </a:extLst>
            </p:cNvPr>
            <p:cNvSpPr>
              <a:spLocks noChangeShapeType="1"/>
            </p:cNvSpPr>
            <p:nvPr/>
          </p:nvSpPr>
          <p:spPr bwMode="auto">
            <a:xfrm>
              <a:off x="4235" y="319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3" name="Line 23">
              <a:extLst>
                <a:ext uri="{FF2B5EF4-FFF2-40B4-BE49-F238E27FC236}">
                  <a16:creationId xmlns:a16="http://schemas.microsoft.com/office/drawing/2014/main" id="{83787919-44E9-6150-5A18-1B1E877ACCE6}"/>
                </a:ext>
              </a:extLst>
            </p:cNvPr>
            <p:cNvSpPr>
              <a:spLocks noChangeShapeType="1"/>
            </p:cNvSpPr>
            <p:nvPr/>
          </p:nvSpPr>
          <p:spPr bwMode="auto">
            <a:xfrm>
              <a:off x="4235" y="326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24" name="Line 24">
              <a:extLst>
                <a:ext uri="{FF2B5EF4-FFF2-40B4-BE49-F238E27FC236}">
                  <a16:creationId xmlns:a16="http://schemas.microsoft.com/office/drawing/2014/main" id="{8045A26D-BD37-0292-2619-0139BCFB4DEE}"/>
                </a:ext>
              </a:extLst>
            </p:cNvPr>
            <p:cNvSpPr>
              <a:spLocks noChangeShapeType="1"/>
            </p:cNvSpPr>
            <p:nvPr/>
          </p:nvSpPr>
          <p:spPr bwMode="auto">
            <a:xfrm>
              <a:off x="4235" y="332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02425" name="Group 25">
            <a:extLst>
              <a:ext uri="{FF2B5EF4-FFF2-40B4-BE49-F238E27FC236}">
                <a16:creationId xmlns:a16="http://schemas.microsoft.com/office/drawing/2014/main" id="{0C6862CF-B56E-56AD-0EDF-3A0B4DB5AC01}"/>
              </a:ext>
            </a:extLst>
          </p:cNvPr>
          <p:cNvGrpSpPr>
            <a:grpSpLocks/>
          </p:cNvGrpSpPr>
          <p:nvPr/>
        </p:nvGrpSpPr>
        <p:grpSpPr bwMode="auto">
          <a:xfrm>
            <a:off x="9294813" y="4668838"/>
            <a:ext cx="1587" cy="485775"/>
            <a:chOff x="4868" y="2989"/>
            <a:chExt cx="1" cy="306"/>
          </a:xfrm>
        </p:grpSpPr>
        <p:sp>
          <p:nvSpPr>
            <p:cNvPr id="71814" name="Line 26">
              <a:extLst>
                <a:ext uri="{FF2B5EF4-FFF2-40B4-BE49-F238E27FC236}">
                  <a16:creationId xmlns:a16="http://schemas.microsoft.com/office/drawing/2014/main" id="{929E7A9F-EC72-1023-508E-BD562A9FB792}"/>
                </a:ext>
              </a:extLst>
            </p:cNvPr>
            <p:cNvSpPr>
              <a:spLocks noChangeShapeType="1"/>
            </p:cNvSpPr>
            <p:nvPr/>
          </p:nvSpPr>
          <p:spPr bwMode="auto">
            <a:xfrm>
              <a:off x="4868" y="298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15" name="Line 27">
              <a:extLst>
                <a:ext uri="{FF2B5EF4-FFF2-40B4-BE49-F238E27FC236}">
                  <a16:creationId xmlns:a16="http://schemas.microsoft.com/office/drawing/2014/main" id="{5FB38BAD-16F3-58BA-2C9E-C886C35A8E5E}"/>
                </a:ext>
              </a:extLst>
            </p:cNvPr>
            <p:cNvSpPr>
              <a:spLocks noChangeShapeType="1"/>
            </p:cNvSpPr>
            <p:nvPr/>
          </p:nvSpPr>
          <p:spPr bwMode="auto">
            <a:xfrm>
              <a:off x="4868" y="3057"/>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16" name="Line 28">
              <a:extLst>
                <a:ext uri="{FF2B5EF4-FFF2-40B4-BE49-F238E27FC236}">
                  <a16:creationId xmlns:a16="http://schemas.microsoft.com/office/drawing/2014/main" id="{587727AD-7808-E2FE-3BBD-7426ED6535BE}"/>
                </a:ext>
              </a:extLst>
            </p:cNvPr>
            <p:cNvSpPr>
              <a:spLocks noChangeShapeType="1"/>
            </p:cNvSpPr>
            <p:nvPr/>
          </p:nvSpPr>
          <p:spPr bwMode="auto">
            <a:xfrm>
              <a:off x="4868" y="3125"/>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17" name="Line 29">
              <a:extLst>
                <a:ext uri="{FF2B5EF4-FFF2-40B4-BE49-F238E27FC236}">
                  <a16:creationId xmlns:a16="http://schemas.microsoft.com/office/drawing/2014/main" id="{77A431D7-AC3D-00ED-47E2-947BB2191C71}"/>
                </a:ext>
              </a:extLst>
            </p:cNvPr>
            <p:cNvSpPr>
              <a:spLocks noChangeShapeType="1"/>
            </p:cNvSpPr>
            <p:nvPr/>
          </p:nvSpPr>
          <p:spPr bwMode="auto">
            <a:xfrm>
              <a:off x="4868" y="319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18" name="Line 30">
              <a:extLst>
                <a:ext uri="{FF2B5EF4-FFF2-40B4-BE49-F238E27FC236}">
                  <a16:creationId xmlns:a16="http://schemas.microsoft.com/office/drawing/2014/main" id="{8D751E3F-0E4F-8D19-9B06-E19B7E201C26}"/>
                </a:ext>
              </a:extLst>
            </p:cNvPr>
            <p:cNvSpPr>
              <a:spLocks noChangeShapeType="1"/>
            </p:cNvSpPr>
            <p:nvPr/>
          </p:nvSpPr>
          <p:spPr bwMode="auto">
            <a:xfrm>
              <a:off x="4868" y="326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sp>
        <p:nvSpPr>
          <p:cNvPr id="102431" name="Rectangle 31">
            <a:extLst>
              <a:ext uri="{FF2B5EF4-FFF2-40B4-BE49-F238E27FC236}">
                <a16:creationId xmlns:a16="http://schemas.microsoft.com/office/drawing/2014/main" id="{605F59F8-2407-6388-FFFE-A1E931DCCFA0}"/>
              </a:ext>
            </a:extLst>
          </p:cNvPr>
          <p:cNvSpPr>
            <a:spLocks noChangeArrowheads="1"/>
          </p:cNvSpPr>
          <p:nvPr/>
        </p:nvSpPr>
        <p:spPr bwMode="auto">
          <a:xfrm>
            <a:off x="9525000" y="1981200"/>
            <a:ext cx="749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LRATC</a:t>
            </a:r>
            <a:endParaRPr lang="en-US" altLang="en-US" sz="1800">
              <a:latin typeface="Arial" panose="020B0604020202020204" pitchFamily="34" charset="0"/>
            </a:endParaRPr>
          </a:p>
        </p:txBody>
      </p:sp>
      <p:sp>
        <p:nvSpPr>
          <p:cNvPr id="102432" name="Freeform 32">
            <a:extLst>
              <a:ext uri="{FF2B5EF4-FFF2-40B4-BE49-F238E27FC236}">
                <a16:creationId xmlns:a16="http://schemas.microsoft.com/office/drawing/2014/main" id="{E504342E-89D3-7184-FA01-0A3C0179A3F7}"/>
              </a:ext>
            </a:extLst>
          </p:cNvPr>
          <p:cNvSpPr>
            <a:spLocks/>
          </p:cNvSpPr>
          <p:nvPr/>
        </p:nvSpPr>
        <p:spPr bwMode="auto">
          <a:xfrm>
            <a:off x="5734050" y="2809875"/>
            <a:ext cx="127000" cy="128588"/>
          </a:xfrm>
          <a:custGeom>
            <a:avLst/>
            <a:gdLst>
              <a:gd name="T0" fmla="*/ 2147483646 w 80"/>
              <a:gd name="T1" fmla="*/ 2147483646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0 h 51"/>
              <a:gd name="T20" fmla="*/ 2147483646 w 80"/>
              <a:gd name="T21" fmla="*/ 0 h 51"/>
              <a:gd name="T22" fmla="*/ 2147483646 w 80"/>
              <a:gd name="T23" fmla="*/ 0 h 51"/>
              <a:gd name="T24" fmla="*/ 2147483646 w 80"/>
              <a:gd name="T25" fmla="*/ 0 h 51"/>
              <a:gd name="T26" fmla="*/ 2147483646 w 80"/>
              <a:gd name="T27" fmla="*/ 2147483646 h 51"/>
              <a:gd name="T28" fmla="*/ 2147483646 w 80"/>
              <a:gd name="T29" fmla="*/ 2147483646 h 51"/>
              <a:gd name="T30" fmla="*/ 0 w 80"/>
              <a:gd name="T31" fmla="*/ 2147483646 h 51"/>
              <a:gd name="T32" fmla="*/ 0 w 80"/>
              <a:gd name="T33" fmla="*/ 2147483646 h 51"/>
              <a:gd name="T34" fmla="*/ 2147483646 w 80"/>
              <a:gd name="T35" fmla="*/ 2147483646 h 51"/>
              <a:gd name="T36" fmla="*/ 2147483646 w 80"/>
              <a:gd name="T37" fmla="*/ 2147483646 h 51"/>
              <a:gd name="T38" fmla="*/ 2147483646 w 80"/>
              <a:gd name="T39" fmla="*/ 2147483646 h 51"/>
              <a:gd name="T40" fmla="*/ 2147483646 w 80"/>
              <a:gd name="T41" fmla="*/ 2147483646 h 51"/>
              <a:gd name="T42" fmla="*/ 2147483646 w 80"/>
              <a:gd name="T43" fmla="*/ 2147483646 h 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0" h="51">
                <a:moveTo>
                  <a:pt x="40" y="51"/>
                </a:moveTo>
                <a:lnTo>
                  <a:pt x="40" y="51"/>
                </a:lnTo>
                <a:lnTo>
                  <a:pt x="56" y="51"/>
                </a:lnTo>
                <a:lnTo>
                  <a:pt x="68" y="46"/>
                </a:lnTo>
                <a:lnTo>
                  <a:pt x="76" y="37"/>
                </a:lnTo>
                <a:lnTo>
                  <a:pt x="80" y="26"/>
                </a:lnTo>
                <a:lnTo>
                  <a:pt x="76" y="14"/>
                </a:lnTo>
                <a:lnTo>
                  <a:pt x="68" y="6"/>
                </a:lnTo>
                <a:lnTo>
                  <a:pt x="56" y="0"/>
                </a:lnTo>
                <a:lnTo>
                  <a:pt x="40" y="0"/>
                </a:lnTo>
                <a:lnTo>
                  <a:pt x="24" y="0"/>
                </a:lnTo>
                <a:lnTo>
                  <a:pt x="12" y="6"/>
                </a:lnTo>
                <a:lnTo>
                  <a:pt x="4" y="14"/>
                </a:lnTo>
                <a:lnTo>
                  <a:pt x="0" y="26"/>
                </a:lnTo>
                <a:lnTo>
                  <a:pt x="4" y="37"/>
                </a:lnTo>
                <a:lnTo>
                  <a:pt x="12" y="46"/>
                </a:lnTo>
                <a:lnTo>
                  <a:pt x="24" y="51"/>
                </a:lnTo>
                <a:lnTo>
                  <a:pt x="4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2433" name="Rectangle 33">
            <a:extLst>
              <a:ext uri="{FF2B5EF4-FFF2-40B4-BE49-F238E27FC236}">
                <a16:creationId xmlns:a16="http://schemas.microsoft.com/office/drawing/2014/main" id="{B78AB0C9-130A-A73C-2E90-FA444877B563}"/>
              </a:ext>
            </a:extLst>
          </p:cNvPr>
          <p:cNvSpPr>
            <a:spLocks noChangeArrowheads="1"/>
          </p:cNvSpPr>
          <p:nvPr/>
        </p:nvSpPr>
        <p:spPr bwMode="auto">
          <a:xfrm>
            <a:off x="3471863" y="1905000"/>
            <a:ext cx="5413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ATC</a:t>
            </a:r>
            <a:r>
              <a:rPr lang="en-US" altLang="en-US" sz="1800" i="1" baseline="-25000">
                <a:solidFill>
                  <a:srgbClr val="000000"/>
                </a:solidFill>
                <a:latin typeface="Arial" panose="020B0604020202020204" pitchFamily="34" charset="0"/>
              </a:rPr>
              <a:t>1</a:t>
            </a:r>
            <a:endParaRPr lang="en-US" altLang="en-US" sz="1800" baseline="-25000">
              <a:latin typeface="Arial" panose="020B0604020202020204" pitchFamily="34" charset="0"/>
            </a:endParaRPr>
          </a:p>
        </p:txBody>
      </p:sp>
      <p:sp>
        <p:nvSpPr>
          <p:cNvPr id="102434" name="Freeform 34">
            <a:extLst>
              <a:ext uri="{FF2B5EF4-FFF2-40B4-BE49-F238E27FC236}">
                <a16:creationId xmlns:a16="http://schemas.microsoft.com/office/drawing/2014/main" id="{DF473811-6346-C9A4-C519-DEA4CFEF9E5B}"/>
              </a:ext>
            </a:extLst>
          </p:cNvPr>
          <p:cNvSpPr>
            <a:spLocks/>
          </p:cNvSpPr>
          <p:nvPr/>
        </p:nvSpPr>
        <p:spPr bwMode="auto">
          <a:xfrm>
            <a:off x="7604125" y="2249488"/>
            <a:ext cx="1781175" cy="692150"/>
          </a:xfrm>
          <a:custGeom>
            <a:avLst/>
            <a:gdLst>
              <a:gd name="T0" fmla="*/ 0 w 1122"/>
              <a:gd name="T1" fmla="*/ 2147483646 h 436"/>
              <a:gd name="T2" fmla="*/ 0 w 1122"/>
              <a:gd name="T3" fmla="*/ 2147483646 h 436"/>
              <a:gd name="T4" fmla="*/ 2147483646 w 1122"/>
              <a:gd name="T5" fmla="*/ 2147483646 h 436"/>
              <a:gd name="T6" fmla="*/ 2147483646 w 1122"/>
              <a:gd name="T7" fmla="*/ 2147483646 h 436"/>
              <a:gd name="T8" fmla="*/ 2147483646 w 1122"/>
              <a:gd name="T9" fmla="*/ 2147483646 h 436"/>
              <a:gd name="T10" fmla="*/ 2147483646 w 1122"/>
              <a:gd name="T11" fmla="*/ 2147483646 h 436"/>
              <a:gd name="T12" fmla="*/ 2147483646 w 1122"/>
              <a:gd name="T13" fmla="*/ 2147483646 h 436"/>
              <a:gd name="T14" fmla="*/ 2147483646 w 1122"/>
              <a:gd name="T15" fmla="*/ 2147483646 h 436"/>
              <a:gd name="T16" fmla="*/ 2147483646 w 1122"/>
              <a:gd name="T17" fmla="*/ 2147483646 h 436"/>
              <a:gd name="T18" fmla="*/ 2147483646 w 1122"/>
              <a:gd name="T19" fmla="*/ 2147483646 h 436"/>
              <a:gd name="T20" fmla="*/ 2147483646 w 1122"/>
              <a:gd name="T21" fmla="*/ 2147483646 h 436"/>
              <a:gd name="T22" fmla="*/ 2147483646 w 1122"/>
              <a:gd name="T23" fmla="*/ 2147483646 h 436"/>
              <a:gd name="T24" fmla="*/ 2147483646 w 1122"/>
              <a:gd name="T25" fmla="*/ 2147483646 h 436"/>
              <a:gd name="T26" fmla="*/ 2147483646 w 1122"/>
              <a:gd name="T27" fmla="*/ 2147483646 h 436"/>
              <a:gd name="T28" fmla="*/ 2147483646 w 1122"/>
              <a:gd name="T29" fmla="*/ 2147483646 h 436"/>
              <a:gd name="T30" fmla="*/ 2147483646 w 1122"/>
              <a:gd name="T31" fmla="*/ 2147483646 h 436"/>
              <a:gd name="T32" fmla="*/ 2147483646 w 1122"/>
              <a:gd name="T33" fmla="*/ 2147483646 h 436"/>
              <a:gd name="T34" fmla="*/ 2147483646 w 1122"/>
              <a:gd name="T35" fmla="*/ 2147483646 h 436"/>
              <a:gd name="T36" fmla="*/ 2147483646 w 1122"/>
              <a:gd name="T37" fmla="*/ 2147483646 h 436"/>
              <a:gd name="T38" fmla="*/ 2147483646 w 1122"/>
              <a:gd name="T39" fmla="*/ 2147483646 h 436"/>
              <a:gd name="T40" fmla="*/ 2147483646 w 1122"/>
              <a:gd name="T41" fmla="*/ 2147483646 h 436"/>
              <a:gd name="T42" fmla="*/ 2147483646 w 1122"/>
              <a:gd name="T43" fmla="*/ 2147483646 h 436"/>
              <a:gd name="T44" fmla="*/ 2147483646 w 1122"/>
              <a:gd name="T45" fmla="*/ 2147483646 h 436"/>
              <a:gd name="T46" fmla="*/ 2147483646 w 1122"/>
              <a:gd name="T47" fmla="*/ 2147483646 h 436"/>
              <a:gd name="T48" fmla="*/ 2147483646 w 1122"/>
              <a:gd name="T49" fmla="*/ 2147483646 h 436"/>
              <a:gd name="T50" fmla="*/ 2147483646 w 1122"/>
              <a:gd name="T51" fmla="*/ 2147483646 h 436"/>
              <a:gd name="T52" fmla="*/ 2147483646 w 1122"/>
              <a:gd name="T53" fmla="*/ 2147483646 h 436"/>
              <a:gd name="T54" fmla="*/ 2147483646 w 1122"/>
              <a:gd name="T55" fmla="*/ 2147483646 h 436"/>
              <a:gd name="T56" fmla="*/ 2147483646 w 1122"/>
              <a:gd name="T57" fmla="*/ 2147483646 h 436"/>
              <a:gd name="T58" fmla="*/ 2147483646 w 1122"/>
              <a:gd name="T59" fmla="*/ 2147483646 h 436"/>
              <a:gd name="T60" fmla="*/ 2147483646 w 1122"/>
              <a:gd name="T61" fmla="*/ 2147483646 h 436"/>
              <a:gd name="T62" fmla="*/ 2147483646 w 1122"/>
              <a:gd name="T63" fmla="*/ 2147483646 h 436"/>
              <a:gd name="T64" fmla="*/ 2147483646 w 1122"/>
              <a:gd name="T65" fmla="*/ 2147483646 h 436"/>
              <a:gd name="T66" fmla="*/ 2147483646 w 1122"/>
              <a:gd name="T67" fmla="*/ 2147483646 h 436"/>
              <a:gd name="T68" fmla="*/ 2147483646 w 1122"/>
              <a:gd name="T69" fmla="*/ 0 h 4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22" h="436">
                <a:moveTo>
                  <a:pt x="0" y="136"/>
                </a:moveTo>
                <a:lnTo>
                  <a:pt x="0" y="136"/>
                </a:lnTo>
                <a:lnTo>
                  <a:pt x="12" y="170"/>
                </a:lnTo>
                <a:lnTo>
                  <a:pt x="28" y="204"/>
                </a:lnTo>
                <a:lnTo>
                  <a:pt x="44" y="235"/>
                </a:lnTo>
                <a:lnTo>
                  <a:pt x="64" y="263"/>
                </a:lnTo>
                <a:lnTo>
                  <a:pt x="84" y="289"/>
                </a:lnTo>
                <a:lnTo>
                  <a:pt x="108" y="314"/>
                </a:lnTo>
                <a:lnTo>
                  <a:pt x="136" y="337"/>
                </a:lnTo>
                <a:lnTo>
                  <a:pt x="164" y="357"/>
                </a:lnTo>
                <a:lnTo>
                  <a:pt x="192" y="374"/>
                </a:lnTo>
                <a:lnTo>
                  <a:pt x="224" y="391"/>
                </a:lnTo>
                <a:lnTo>
                  <a:pt x="256" y="405"/>
                </a:lnTo>
                <a:lnTo>
                  <a:pt x="292" y="416"/>
                </a:lnTo>
                <a:lnTo>
                  <a:pt x="332" y="425"/>
                </a:lnTo>
                <a:lnTo>
                  <a:pt x="368" y="431"/>
                </a:lnTo>
                <a:lnTo>
                  <a:pt x="408" y="433"/>
                </a:lnTo>
                <a:lnTo>
                  <a:pt x="452" y="436"/>
                </a:lnTo>
                <a:lnTo>
                  <a:pt x="481" y="433"/>
                </a:lnTo>
                <a:lnTo>
                  <a:pt x="517" y="431"/>
                </a:lnTo>
                <a:lnTo>
                  <a:pt x="553" y="422"/>
                </a:lnTo>
                <a:lnTo>
                  <a:pt x="593" y="411"/>
                </a:lnTo>
                <a:lnTo>
                  <a:pt x="633" y="397"/>
                </a:lnTo>
                <a:lnTo>
                  <a:pt x="677" y="380"/>
                </a:lnTo>
                <a:lnTo>
                  <a:pt x="725" y="360"/>
                </a:lnTo>
                <a:lnTo>
                  <a:pt x="769" y="334"/>
                </a:lnTo>
                <a:lnTo>
                  <a:pt x="817" y="306"/>
                </a:lnTo>
                <a:lnTo>
                  <a:pt x="865" y="275"/>
                </a:lnTo>
                <a:lnTo>
                  <a:pt x="913" y="238"/>
                </a:lnTo>
                <a:lnTo>
                  <a:pt x="957" y="198"/>
                </a:lnTo>
                <a:lnTo>
                  <a:pt x="1001" y="156"/>
                </a:lnTo>
                <a:lnTo>
                  <a:pt x="1045" y="108"/>
                </a:lnTo>
                <a:lnTo>
                  <a:pt x="1085" y="57"/>
                </a:lnTo>
                <a:lnTo>
                  <a:pt x="1122" y="0"/>
                </a:lnTo>
              </a:path>
            </a:pathLst>
          </a:custGeom>
          <a:noFill/>
          <a:ln w="3810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102435" name="Rectangle 35">
            <a:extLst>
              <a:ext uri="{FF2B5EF4-FFF2-40B4-BE49-F238E27FC236}">
                <a16:creationId xmlns:a16="http://schemas.microsoft.com/office/drawing/2014/main" id="{5B3F3496-9EF4-C900-14B0-55E363A900AA}"/>
              </a:ext>
            </a:extLst>
          </p:cNvPr>
          <p:cNvSpPr>
            <a:spLocks noChangeArrowheads="1"/>
          </p:cNvSpPr>
          <p:nvPr/>
        </p:nvSpPr>
        <p:spPr bwMode="auto">
          <a:xfrm>
            <a:off x="3395663" y="5143500"/>
            <a:ext cx="12192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0"/>
              </a:spcBef>
              <a:buFontTx/>
              <a:buNone/>
            </a:pPr>
            <a:r>
              <a:rPr lang="en-US" altLang="en-US" sz="1800">
                <a:solidFill>
                  <a:srgbClr val="000000"/>
                </a:solidFill>
                <a:latin typeface="Arial" panose="020B0604020202020204" pitchFamily="34" charset="0"/>
              </a:rPr>
              <a:t>Use 0 automated lines</a:t>
            </a:r>
          </a:p>
        </p:txBody>
      </p:sp>
      <p:sp>
        <p:nvSpPr>
          <p:cNvPr id="102436" name="Line 36">
            <a:extLst>
              <a:ext uri="{FF2B5EF4-FFF2-40B4-BE49-F238E27FC236}">
                <a16:creationId xmlns:a16="http://schemas.microsoft.com/office/drawing/2014/main" id="{F5AAB240-8C26-CF4E-6929-B8DD60D046F2}"/>
              </a:ext>
            </a:extLst>
          </p:cNvPr>
          <p:cNvSpPr>
            <a:spLocks noChangeShapeType="1"/>
          </p:cNvSpPr>
          <p:nvPr/>
        </p:nvSpPr>
        <p:spPr bwMode="auto">
          <a:xfrm>
            <a:off x="3201988" y="4924425"/>
            <a:ext cx="1641475" cy="1588"/>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2437" name="Line 37">
            <a:extLst>
              <a:ext uri="{FF2B5EF4-FFF2-40B4-BE49-F238E27FC236}">
                <a16:creationId xmlns:a16="http://schemas.microsoft.com/office/drawing/2014/main" id="{13D3ECC7-C6B5-D22A-D49A-2CA0B97B363F}"/>
              </a:ext>
            </a:extLst>
          </p:cNvPr>
          <p:cNvSpPr>
            <a:spLocks noChangeShapeType="1"/>
          </p:cNvSpPr>
          <p:nvPr/>
        </p:nvSpPr>
        <p:spPr bwMode="auto">
          <a:xfrm>
            <a:off x="5072063" y="4924425"/>
            <a:ext cx="1508125" cy="1588"/>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2438" name="Line 38">
            <a:extLst>
              <a:ext uri="{FF2B5EF4-FFF2-40B4-BE49-F238E27FC236}">
                <a16:creationId xmlns:a16="http://schemas.microsoft.com/office/drawing/2014/main" id="{CD62875C-DFBB-6B07-4C49-6193E2C75C95}"/>
              </a:ext>
            </a:extLst>
          </p:cNvPr>
          <p:cNvSpPr>
            <a:spLocks noChangeShapeType="1"/>
          </p:cNvSpPr>
          <p:nvPr/>
        </p:nvSpPr>
        <p:spPr bwMode="auto">
          <a:xfrm>
            <a:off x="6859588" y="4924425"/>
            <a:ext cx="1277937" cy="1588"/>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2439" name="Line 39">
            <a:extLst>
              <a:ext uri="{FF2B5EF4-FFF2-40B4-BE49-F238E27FC236}">
                <a16:creationId xmlns:a16="http://schemas.microsoft.com/office/drawing/2014/main" id="{C22F67A4-905E-A37B-0C0F-70BDC3AEB808}"/>
              </a:ext>
            </a:extLst>
          </p:cNvPr>
          <p:cNvSpPr>
            <a:spLocks noChangeShapeType="1"/>
          </p:cNvSpPr>
          <p:nvPr/>
        </p:nvSpPr>
        <p:spPr bwMode="auto">
          <a:xfrm>
            <a:off x="8386763" y="4924425"/>
            <a:ext cx="819150" cy="1588"/>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2440" name="Rectangle 40">
            <a:extLst>
              <a:ext uri="{FF2B5EF4-FFF2-40B4-BE49-F238E27FC236}">
                <a16:creationId xmlns:a16="http://schemas.microsoft.com/office/drawing/2014/main" id="{6A37DCD3-3092-018A-36D6-F964CFD73596}"/>
              </a:ext>
            </a:extLst>
          </p:cNvPr>
          <p:cNvSpPr>
            <a:spLocks noChangeArrowheads="1"/>
          </p:cNvSpPr>
          <p:nvPr/>
        </p:nvSpPr>
        <p:spPr bwMode="auto">
          <a:xfrm>
            <a:off x="7358063" y="2133600"/>
            <a:ext cx="5413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ATC</a:t>
            </a:r>
            <a:r>
              <a:rPr lang="en-US" altLang="en-US" sz="1800" i="1" baseline="-25000">
                <a:solidFill>
                  <a:srgbClr val="000000"/>
                </a:solidFill>
                <a:latin typeface="Arial" panose="020B0604020202020204" pitchFamily="34" charset="0"/>
              </a:rPr>
              <a:t>3</a:t>
            </a:r>
            <a:endParaRPr lang="en-US" altLang="en-US" sz="1800" baseline="-25000">
              <a:latin typeface="Arial" panose="020B0604020202020204" pitchFamily="34" charset="0"/>
            </a:endParaRPr>
          </a:p>
        </p:txBody>
      </p:sp>
      <p:sp>
        <p:nvSpPr>
          <p:cNvPr id="102441" name="Freeform 41">
            <a:extLst>
              <a:ext uri="{FF2B5EF4-FFF2-40B4-BE49-F238E27FC236}">
                <a16:creationId xmlns:a16="http://schemas.microsoft.com/office/drawing/2014/main" id="{48330750-39AE-B170-B460-CCADBBC94F1D}"/>
              </a:ext>
            </a:extLst>
          </p:cNvPr>
          <p:cNvSpPr>
            <a:spLocks/>
          </p:cNvSpPr>
          <p:nvPr/>
        </p:nvSpPr>
        <p:spPr bwMode="auto">
          <a:xfrm>
            <a:off x="3559175" y="2509838"/>
            <a:ext cx="2887663" cy="665162"/>
          </a:xfrm>
          <a:custGeom>
            <a:avLst/>
            <a:gdLst>
              <a:gd name="T0" fmla="*/ 0 w 1819"/>
              <a:gd name="T1" fmla="*/ 0 h 419"/>
              <a:gd name="T2" fmla="*/ 0 w 1819"/>
              <a:gd name="T3" fmla="*/ 0 h 419"/>
              <a:gd name="T4" fmla="*/ 2147483646 w 1819"/>
              <a:gd name="T5" fmla="*/ 2147483646 h 419"/>
              <a:gd name="T6" fmla="*/ 2147483646 w 1819"/>
              <a:gd name="T7" fmla="*/ 2147483646 h 419"/>
              <a:gd name="T8" fmla="*/ 2147483646 w 1819"/>
              <a:gd name="T9" fmla="*/ 2147483646 h 419"/>
              <a:gd name="T10" fmla="*/ 2147483646 w 1819"/>
              <a:gd name="T11" fmla="*/ 2147483646 h 419"/>
              <a:gd name="T12" fmla="*/ 2147483646 w 1819"/>
              <a:gd name="T13" fmla="*/ 2147483646 h 419"/>
              <a:gd name="T14" fmla="*/ 2147483646 w 1819"/>
              <a:gd name="T15" fmla="*/ 2147483646 h 419"/>
              <a:gd name="T16" fmla="*/ 2147483646 w 1819"/>
              <a:gd name="T17" fmla="*/ 2147483646 h 419"/>
              <a:gd name="T18" fmla="*/ 2147483646 w 1819"/>
              <a:gd name="T19" fmla="*/ 2147483646 h 419"/>
              <a:gd name="T20" fmla="*/ 2147483646 w 1819"/>
              <a:gd name="T21" fmla="*/ 2147483646 h 419"/>
              <a:gd name="T22" fmla="*/ 2147483646 w 1819"/>
              <a:gd name="T23" fmla="*/ 2147483646 h 419"/>
              <a:gd name="T24" fmla="*/ 2147483646 w 1819"/>
              <a:gd name="T25" fmla="*/ 2147483646 h 419"/>
              <a:gd name="T26" fmla="*/ 2147483646 w 1819"/>
              <a:gd name="T27" fmla="*/ 2147483646 h 419"/>
              <a:gd name="T28" fmla="*/ 2147483646 w 1819"/>
              <a:gd name="T29" fmla="*/ 2147483646 h 419"/>
              <a:gd name="T30" fmla="*/ 2147483646 w 1819"/>
              <a:gd name="T31" fmla="*/ 2147483646 h 419"/>
              <a:gd name="T32" fmla="*/ 2147483646 w 1819"/>
              <a:gd name="T33" fmla="*/ 2147483646 h 419"/>
              <a:gd name="T34" fmla="*/ 2147483646 w 1819"/>
              <a:gd name="T35" fmla="*/ 2147483646 h 419"/>
              <a:gd name="T36" fmla="*/ 2147483646 w 1819"/>
              <a:gd name="T37" fmla="*/ 2147483646 h 419"/>
              <a:gd name="T38" fmla="*/ 2147483646 w 1819"/>
              <a:gd name="T39" fmla="*/ 2147483646 h 419"/>
              <a:gd name="T40" fmla="*/ 2147483646 w 1819"/>
              <a:gd name="T41" fmla="*/ 2147483646 h 419"/>
              <a:gd name="T42" fmla="*/ 2147483646 w 1819"/>
              <a:gd name="T43" fmla="*/ 2147483646 h 419"/>
              <a:gd name="T44" fmla="*/ 2147483646 w 1819"/>
              <a:gd name="T45" fmla="*/ 2147483646 h 419"/>
              <a:gd name="T46" fmla="*/ 2147483646 w 1819"/>
              <a:gd name="T47" fmla="*/ 2147483646 h 419"/>
              <a:gd name="T48" fmla="*/ 2147483646 w 1819"/>
              <a:gd name="T49" fmla="*/ 2147483646 h 419"/>
              <a:gd name="T50" fmla="*/ 2147483646 w 1819"/>
              <a:gd name="T51" fmla="*/ 2147483646 h 419"/>
              <a:gd name="T52" fmla="*/ 2147483646 w 1819"/>
              <a:gd name="T53" fmla="*/ 2147483646 h 419"/>
              <a:gd name="T54" fmla="*/ 2147483646 w 1819"/>
              <a:gd name="T55" fmla="*/ 2147483646 h 419"/>
              <a:gd name="T56" fmla="*/ 2147483646 w 1819"/>
              <a:gd name="T57" fmla="*/ 2147483646 h 419"/>
              <a:gd name="T58" fmla="*/ 2147483646 w 1819"/>
              <a:gd name="T59" fmla="*/ 2147483646 h 419"/>
              <a:gd name="T60" fmla="*/ 2147483646 w 1819"/>
              <a:gd name="T61" fmla="*/ 2147483646 h 419"/>
              <a:gd name="T62" fmla="*/ 2147483646 w 1819"/>
              <a:gd name="T63" fmla="*/ 2147483646 h 419"/>
              <a:gd name="T64" fmla="*/ 2147483646 w 1819"/>
              <a:gd name="T65" fmla="*/ 2147483646 h 419"/>
              <a:gd name="T66" fmla="*/ 2147483646 w 1819"/>
              <a:gd name="T67" fmla="*/ 2147483646 h 4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19" h="419">
                <a:moveTo>
                  <a:pt x="0" y="0"/>
                </a:moveTo>
                <a:lnTo>
                  <a:pt x="0" y="0"/>
                </a:lnTo>
                <a:lnTo>
                  <a:pt x="32" y="43"/>
                </a:lnTo>
                <a:lnTo>
                  <a:pt x="68" y="80"/>
                </a:lnTo>
                <a:lnTo>
                  <a:pt x="104" y="119"/>
                </a:lnTo>
                <a:lnTo>
                  <a:pt x="144" y="153"/>
                </a:lnTo>
                <a:lnTo>
                  <a:pt x="188" y="187"/>
                </a:lnTo>
                <a:lnTo>
                  <a:pt x="232" y="218"/>
                </a:lnTo>
                <a:lnTo>
                  <a:pt x="280" y="247"/>
                </a:lnTo>
                <a:lnTo>
                  <a:pt x="328" y="272"/>
                </a:lnTo>
                <a:lnTo>
                  <a:pt x="376" y="298"/>
                </a:lnTo>
                <a:lnTo>
                  <a:pt x="428" y="320"/>
                </a:lnTo>
                <a:lnTo>
                  <a:pt x="484" y="340"/>
                </a:lnTo>
                <a:lnTo>
                  <a:pt x="536" y="357"/>
                </a:lnTo>
                <a:lnTo>
                  <a:pt x="593" y="371"/>
                </a:lnTo>
                <a:lnTo>
                  <a:pt x="653" y="385"/>
                </a:lnTo>
                <a:lnTo>
                  <a:pt x="713" y="397"/>
                </a:lnTo>
                <a:lnTo>
                  <a:pt x="773" y="405"/>
                </a:lnTo>
                <a:lnTo>
                  <a:pt x="833" y="414"/>
                </a:lnTo>
                <a:lnTo>
                  <a:pt x="893" y="417"/>
                </a:lnTo>
                <a:lnTo>
                  <a:pt x="957" y="419"/>
                </a:lnTo>
                <a:lnTo>
                  <a:pt x="1021" y="419"/>
                </a:lnTo>
                <a:lnTo>
                  <a:pt x="1085" y="417"/>
                </a:lnTo>
                <a:lnTo>
                  <a:pt x="1153" y="411"/>
                </a:lnTo>
                <a:lnTo>
                  <a:pt x="1218" y="405"/>
                </a:lnTo>
                <a:lnTo>
                  <a:pt x="1286" y="394"/>
                </a:lnTo>
                <a:lnTo>
                  <a:pt x="1350" y="383"/>
                </a:lnTo>
                <a:lnTo>
                  <a:pt x="1418" y="368"/>
                </a:lnTo>
                <a:lnTo>
                  <a:pt x="1482" y="351"/>
                </a:lnTo>
                <a:lnTo>
                  <a:pt x="1550" y="332"/>
                </a:lnTo>
                <a:lnTo>
                  <a:pt x="1618" y="312"/>
                </a:lnTo>
                <a:lnTo>
                  <a:pt x="1686" y="286"/>
                </a:lnTo>
                <a:lnTo>
                  <a:pt x="1750" y="261"/>
                </a:lnTo>
                <a:lnTo>
                  <a:pt x="1819" y="233"/>
                </a:lnTo>
              </a:path>
            </a:pathLst>
          </a:custGeom>
          <a:noFill/>
          <a:ln w="25400">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102442" name="Rectangle 42">
            <a:extLst>
              <a:ext uri="{FF2B5EF4-FFF2-40B4-BE49-F238E27FC236}">
                <a16:creationId xmlns:a16="http://schemas.microsoft.com/office/drawing/2014/main" id="{AB80255A-E007-6EE3-36DB-F316C20B0D43}"/>
              </a:ext>
            </a:extLst>
          </p:cNvPr>
          <p:cNvSpPr>
            <a:spLocks noChangeArrowheads="1"/>
          </p:cNvSpPr>
          <p:nvPr/>
        </p:nvSpPr>
        <p:spPr bwMode="auto">
          <a:xfrm>
            <a:off x="3290888" y="2286000"/>
            <a:ext cx="5413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ATC</a:t>
            </a:r>
            <a:r>
              <a:rPr lang="en-US" altLang="en-US" sz="1800" i="1" baseline="-25000">
                <a:solidFill>
                  <a:srgbClr val="000000"/>
                </a:solidFill>
                <a:latin typeface="Arial" panose="020B0604020202020204" pitchFamily="34" charset="0"/>
              </a:rPr>
              <a:t>0</a:t>
            </a:r>
            <a:endParaRPr lang="en-US" altLang="en-US" sz="1800" baseline="-25000">
              <a:latin typeface="Arial" panose="020B0604020202020204" pitchFamily="34" charset="0"/>
            </a:endParaRPr>
          </a:p>
        </p:txBody>
      </p:sp>
      <p:sp>
        <p:nvSpPr>
          <p:cNvPr id="102443" name="Rectangle 43">
            <a:extLst>
              <a:ext uri="{FF2B5EF4-FFF2-40B4-BE49-F238E27FC236}">
                <a16:creationId xmlns:a16="http://schemas.microsoft.com/office/drawing/2014/main" id="{59E2DFF1-34D3-08E2-DCBC-8EEED95052E9}"/>
              </a:ext>
            </a:extLst>
          </p:cNvPr>
          <p:cNvSpPr>
            <a:spLocks noChangeArrowheads="1"/>
          </p:cNvSpPr>
          <p:nvPr/>
        </p:nvSpPr>
        <p:spPr bwMode="auto">
          <a:xfrm>
            <a:off x="5892800" y="2695575"/>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C</a:t>
            </a:r>
            <a:endParaRPr lang="en-US" altLang="en-US" sz="1800">
              <a:latin typeface="Arial" panose="020B0604020202020204" pitchFamily="34" charset="0"/>
            </a:endParaRPr>
          </a:p>
        </p:txBody>
      </p:sp>
      <p:sp>
        <p:nvSpPr>
          <p:cNvPr id="102444" name="Rectangle 44">
            <a:extLst>
              <a:ext uri="{FF2B5EF4-FFF2-40B4-BE49-F238E27FC236}">
                <a16:creationId xmlns:a16="http://schemas.microsoft.com/office/drawing/2014/main" id="{9D73DD11-2CAB-BC90-95A8-3A7169C1DC37}"/>
              </a:ext>
            </a:extLst>
          </p:cNvPr>
          <p:cNvSpPr>
            <a:spLocks noChangeArrowheads="1"/>
          </p:cNvSpPr>
          <p:nvPr/>
        </p:nvSpPr>
        <p:spPr bwMode="auto">
          <a:xfrm>
            <a:off x="5861050" y="3063875"/>
            <a:ext cx="152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B</a:t>
            </a:r>
            <a:endParaRPr lang="en-US" altLang="en-US" sz="1800">
              <a:latin typeface="Arial" panose="020B0604020202020204" pitchFamily="34" charset="0"/>
            </a:endParaRPr>
          </a:p>
        </p:txBody>
      </p:sp>
      <p:sp>
        <p:nvSpPr>
          <p:cNvPr id="102445" name="Rectangle 45">
            <a:extLst>
              <a:ext uri="{FF2B5EF4-FFF2-40B4-BE49-F238E27FC236}">
                <a16:creationId xmlns:a16="http://schemas.microsoft.com/office/drawing/2014/main" id="{68777CD5-55A4-D4A4-EE15-07E398CD9991}"/>
              </a:ext>
            </a:extLst>
          </p:cNvPr>
          <p:cNvSpPr>
            <a:spLocks noChangeArrowheads="1"/>
          </p:cNvSpPr>
          <p:nvPr/>
        </p:nvSpPr>
        <p:spPr bwMode="auto">
          <a:xfrm>
            <a:off x="5880100" y="3343275"/>
            <a:ext cx="152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a:t>
            </a:r>
            <a:endParaRPr lang="en-US" altLang="en-US" sz="1800">
              <a:latin typeface="Arial" panose="020B0604020202020204" pitchFamily="34" charset="0"/>
            </a:endParaRPr>
          </a:p>
        </p:txBody>
      </p:sp>
      <p:sp>
        <p:nvSpPr>
          <p:cNvPr id="102446" name="Rectangle 46">
            <a:extLst>
              <a:ext uri="{FF2B5EF4-FFF2-40B4-BE49-F238E27FC236}">
                <a16:creationId xmlns:a16="http://schemas.microsoft.com/office/drawing/2014/main" id="{60B5F4CF-1FF4-B6C9-DA16-D5F6DD14BF58}"/>
              </a:ext>
            </a:extLst>
          </p:cNvPr>
          <p:cNvSpPr>
            <a:spLocks noChangeArrowheads="1"/>
          </p:cNvSpPr>
          <p:nvPr/>
        </p:nvSpPr>
        <p:spPr bwMode="auto">
          <a:xfrm>
            <a:off x="5300663" y="2286000"/>
            <a:ext cx="5413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ATC</a:t>
            </a:r>
            <a:r>
              <a:rPr lang="en-US" altLang="en-US" sz="1800" i="1" baseline="-25000">
                <a:solidFill>
                  <a:srgbClr val="000000"/>
                </a:solidFill>
                <a:latin typeface="Arial" panose="020B0604020202020204" pitchFamily="34" charset="0"/>
              </a:rPr>
              <a:t>2</a:t>
            </a:r>
            <a:endParaRPr lang="en-US" altLang="en-US" sz="1800" baseline="-25000">
              <a:latin typeface="Arial" panose="020B0604020202020204" pitchFamily="34" charset="0"/>
            </a:endParaRPr>
          </a:p>
        </p:txBody>
      </p:sp>
      <p:sp>
        <p:nvSpPr>
          <p:cNvPr id="102447" name="Rectangle 47">
            <a:extLst>
              <a:ext uri="{FF2B5EF4-FFF2-40B4-BE49-F238E27FC236}">
                <a16:creationId xmlns:a16="http://schemas.microsoft.com/office/drawing/2014/main" id="{CCC529A1-17CB-EBFC-427E-BC3B9D5D9C77}"/>
              </a:ext>
            </a:extLst>
          </p:cNvPr>
          <p:cNvSpPr>
            <a:spLocks noChangeArrowheads="1"/>
          </p:cNvSpPr>
          <p:nvPr/>
        </p:nvSpPr>
        <p:spPr bwMode="auto">
          <a:xfrm>
            <a:off x="6662738" y="2895600"/>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D</a:t>
            </a:r>
            <a:endParaRPr lang="en-US" altLang="en-US" sz="1800">
              <a:latin typeface="Arial" panose="020B0604020202020204" pitchFamily="34" charset="0"/>
            </a:endParaRPr>
          </a:p>
        </p:txBody>
      </p:sp>
      <p:sp>
        <p:nvSpPr>
          <p:cNvPr id="102448" name="Rectangle 48">
            <a:extLst>
              <a:ext uri="{FF2B5EF4-FFF2-40B4-BE49-F238E27FC236}">
                <a16:creationId xmlns:a16="http://schemas.microsoft.com/office/drawing/2014/main" id="{C0B4F1AB-1E79-B98C-4AD6-C48C1323B553}"/>
              </a:ext>
            </a:extLst>
          </p:cNvPr>
          <p:cNvSpPr>
            <a:spLocks noChangeArrowheads="1"/>
          </p:cNvSpPr>
          <p:nvPr/>
        </p:nvSpPr>
        <p:spPr bwMode="auto">
          <a:xfrm>
            <a:off x="6948488" y="3338513"/>
            <a:ext cx="152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E</a:t>
            </a:r>
            <a:endParaRPr lang="en-US" altLang="en-US" sz="1800">
              <a:latin typeface="Arial" panose="020B0604020202020204" pitchFamily="34" charset="0"/>
            </a:endParaRPr>
          </a:p>
        </p:txBody>
      </p:sp>
      <p:sp>
        <p:nvSpPr>
          <p:cNvPr id="102449" name="Freeform 49">
            <a:extLst>
              <a:ext uri="{FF2B5EF4-FFF2-40B4-BE49-F238E27FC236}">
                <a16:creationId xmlns:a16="http://schemas.microsoft.com/office/drawing/2014/main" id="{7DEFD720-D7DA-B558-AE9F-C34C51D302CA}"/>
              </a:ext>
            </a:extLst>
          </p:cNvPr>
          <p:cNvSpPr>
            <a:spLocks/>
          </p:cNvSpPr>
          <p:nvPr/>
        </p:nvSpPr>
        <p:spPr bwMode="auto">
          <a:xfrm>
            <a:off x="3730625" y="2190750"/>
            <a:ext cx="3733800" cy="1116013"/>
          </a:xfrm>
          <a:custGeom>
            <a:avLst/>
            <a:gdLst>
              <a:gd name="T0" fmla="*/ 0 w 2352"/>
              <a:gd name="T1" fmla="*/ 0 h 703"/>
              <a:gd name="T2" fmla="*/ 0 w 2352"/>
              <a:gd name="T3" fmla="*/ 0 h 703"/>
              <a:gd name="T4" fmla="*/ 2147483646 w 2352"/>
              <a:gd name="T5" fmla="*/ 2147483646 h 703"/>
              <a:gd name="T6" fmla="*/ 2147483646 w 2352"/>
              <a:gd name="T7" fmla="*/ 2147483646 h 703"/>
              <a:gd name="T8" fmla="*/ 2147483646 w 2352"/>
              <a:gd name="T9" fmla="*/ 2147483646 h 703"/>
              <a:gd name="T10" fmla="*/ 2147483646 w 2352"/>
              <a:gd name="T11" fmla="*/ 2147483646 h 703"/>
              <a:gd name="T12" fmla="*/ 2147483646 w 2352"/>
              <a:gd name="T13" fmla="*/ 2147483646 h 703"/>
              <a:gd name="T14" fmla="*/ 2147483646 w 2352"/>
              <a:gd name="T15" fmla="*/ 2147483646 h 703"/>
              <a:gd name="T16" fmla="*/ 2147483646 w 2352"/>
              <a:gd name="T17" fmla="*/ 2147483646 h 703"/>
              <a:gd name="T18" fmla="*/ 2147483646 w 2352"/>
              <a:gd name="T19" fmla="*/ 2147483646 h 703"/>
              <a:gd name="T20" fmla="*/ 2147483646 w 2352"/>
              <a:gd name="T21" fmla="*/ 2147483646 h 703"/>
              <a:gd name="T22" fmla="*/ 2147483646 w 2352"/>
              <a:gd name="T23" fmla="*/ 2147483646 h 703"/>
              <a:gd name="T24" fmla="*/ 2147483646 w 2352"/>
              <a:gd name="T25" fmla="*/ 2147483646 h 703"/>
              <a:gd name="T26" fmla="*/ 2147483646 w 2352"/>
              <a:gd name="T27" fmla="*/ 2147483646 h 703"/>
              <a:gd name="T28" fmla="*/ 2147483646 w 2352"/>
              <a:gd name="T29" fmla="*/ 2147483646 h 703"/>
              <a:gd name="T30" fmla="*/ 2147483646 w 2352"/>
              <a:gd name="T31" fmla="*/ 2147483646 h 703"/>
              <a:gd name="T32" fmla="*/ 2147483646 w 2352"/>
              <a:gd name="T33" fmla="*/ 2147483646 h 703"/>
              <a:gd name="T34" fmla="*/ 2147483646 w 2352"/>
              <a:gd name="T35" fmla="*/ 2147483646 h 703"/>
              <a:gd name="T36" fmla="*/ 2147483646 w 2352"/>
              <a:gd name="T37" fmla="*/ 2147483646 h 703"/>
              <a:gd name="T38" fmla="*/ 2147483646 w 2352"/>
              <a:gd name="T39" fmla="*/ 2147483646 h 703"/>
              <a:gd name="T40" fmla="*/ 2147483646 w 2352"/>
              <a:gd name="T41" fmla="*/ 2147483646 h 703"/>
              <a:gd name="T42" fmla="*/ 2147483646 w 2352"/>
              <a:gd name="T43" fmla="*/ 2147483646 h 703"/>
              <a:gd name="T44" fmla="*/ 2147483646 w 2352"/>
              <a:gd name="T45" fmla="*/ 2147483646 h 703"/>
              <a:gd name="T46" fmla="*/ 2147483646 w 2352"/>
              <a:gd name="T47" fmla="*/ 2147483646 h 703"/>
              <a:gd name="T48" fmla="*/ 2147483646 w 2352"/>
              <a:gd name="T49" fmla="*/ 2147483646 h 703"/>
              <a:gd name="T50" fmla="*/ 2147483646 w 2352"/>
              <a:gd name="T51" fmla="*/ 2147483646 h 703"/>
              <a:gd name="T52" fmla="*/ 2147483646 w 2352"/>
              <a:gd name="T53" fmla="*/ 2147483646 h 703"/>
              <a:gd name="T54" fmla="*/ 2147483646 w 2352"/>
              <a:gd name="T55" fmla="*/ 2147483646 h 703"/>
              <a:gd name="T56" fmla="*/ 2147483646 w 2352"/>
              <a:gd name="T57" fmla="*/ 2147483646 h 703"/>
              <a:gd name="T58" fmla="*/ 2147483646 w 2352"/>
              <a:gd name="T59" fmla="*/ 2147483646 h 703"/>
              <a:gd name="T60" fmla="*/ 2147483646 w 2352"/>
              <a:gd name="T61" fmla="*/ 2147483646 h 703"/>
              <a:gd name="T62" fmla="*/ 2147483646 w 2352"/>
              <a:gd name="T63" fmla="*/ 2147483646 h 703"/>
              <a:gd name="T64" fmla="*/ 2147483646 w 2352"/>
              <a:gd name="T65" fmla="*/ 2147483646 h 703"/>
              <a:gd name="T66" fmla="*/ 2147483646 w 2352"/>
              <a:gd name="T67" fmla="*/ 2147483646 h 703"/>
              <a:gd name="T68" fmla="*/ 2147483646 w 2352"/>
              <a:gd name="T69" fmla="*/ 2147483646 h 703"/>
              <a:gd name="T70" fmla="*/ 2147483646 w 2352"/>
              <a:gd name="T71" fmla="*/ 2147483646 h 703"/>
              <a:gd name="T72" fmla="*/ 2147483646 w 2352"/>
              <a:gd name="T73" fmla="*/ 2147483646 h 703"/>
              <a:gd name="T74" fmla="*/ 2147483646 w 2352"/>
              <a:gd name="T75" fmla="*/ 2147483646 h 703"/>
              <a:gd name="T76" fmla="*/ 2147483646 w 2352"/>
              <a:gd name="T77" fmla="*/ 2147483646 h 703"/>
              <a:gd name="T78" fmla="*/ 2147483646 w 2352"/>
              <a:gd name="T79" fmla="*/ 2147483646 h 70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352" h="703">
                <a:moveTo>
                  <a:pt x="0" y="0"/>
                </a:moveTo>
                <a:lnTo>
                  <a:pt x="0" y="0"/>
                </a:lnTo>
                <a:lnTo>
                  <a:pt x="24" y="48"/>
                </a:lnTo>
                <a:lnTo>
                  <a:pt x="56" y="99"/>
                </a:lnTo>
                <a:lnTo>
                  <a:pt x="96" y="147"/>
                </a:lnTo>
                <a:lnTo>
                  <a:pt x="140" y="198"/>
                </a:lnTo>
                <a:lnTo>
                  <a:pt x="184" y="247"/>
                </a:lnTo>
                <a:lnTo>
                  <a:pt x="236" y="292"/>
                </a:lnTo>
                <a:lnTo>
                  <a:pt x="292" y="337"/>
                </a:lnTo>
                <a:lnTo>
                  <a:pt x="348" y="383"/>
                </a:lnTo>
                <a:lnTo>
                  <a:pt x="404" y="422"/>
                </a:lnTo>
                <a:lnTo>
                  <a:pt x="465" y="462"/>
                </a:lnTo>
                <a:lnTo>
                  <a:pt x="521" y="499"/>
                </a:lnTo>
                <a:lnTo>
                  <a:pt x="577" y="530"/>
                </a:lnTo>
                <a:lnTo>
                  <a:pt x="633" y="558"/>
                </a:lnTo>
                <a:lnTo>
                  <a:pt x="685" y="584"/>
                </a:lnTo>
                <a:lnTo>
                  <a:pt x="733" y="603"/>
                </a:lnTo>
                <a:lnTo>
                  <a:pt x="777" y="618"/>
                </a:lnTo>
                <a:lnTo>
                  <a:pt x="841" y="635"/>
                </a:lnTo>
                <a:lnTo>
                  <a:pt x="897" y="652"/>
                </a:lnTo>
                <a:lnTo>
                  <a:pt x="957" y="666"/>
                </a:lnTo>
                <a:lnTo>
                  <a:pt x="1013" y="677"/>
                </a:lnTo>
                <a:lnTo>
                  <a:pt x="1074" y="686"/>
                </a:lnTo>
                <a:lnTo>
                  <a:pt x="1130" y="691"/>
                </a:lnTo>
                <a:lnTo>
                  <a:pt x="1182" y="697"/>
                </a:lnTo>
                <a:lnTo>
                  <a:pt x="1238" y="700"/>
                </a:lnTo>
                <a:lnTo>
                  <a:pt x="1346" y="703"/>
                </a:lnTo>
                <a:lnTo>
                  <a:pt x="1454" y="697"/>
                </a:lnTo>
                <a:lnTo>
                  <a:pt x="1558" y="691"/>
                </a:lnTo>
                <a:lnTo>
                  <a:pt x="1666" y="680"/>
                </a:lnTo>
                <a:lnTo>
                  <a:pt x="1767" y="666"/>
                </a:lnTo>
                <a:lnTo>
                  <a:pt x="1867" y="652"/>
                </a:lnTo>
                <a:lnTo>
                  <a:pt x="1959" y="632"/>
                </a:lnTo>
                <a:lnTo>
                  <a:pt x="2047" y="609"/>
                </a:lnTo>
                <a:lnTo>
                  <a:pt x="2131" y="584"/>
                </a:lnTo>
                <a:lnTo>
                  <a:pt x="2207" y="555"/>
                </a:lnTo>
                <a:lnTo>
                  <a:pt x="2283" y="524"/>
                </a:lnTo>
                <a:lnTo>
                  <a:pt x="2352" y="490"/>
                </a:lnTo>
              </a:path>
            </a:pathLst>
          </a:custGeom>
          <a:noFill/>
          <a:ln w="3810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102450" name="Group 50">
            <a:extLst>
              <a:ext uri="{FF2B5EF4-FFF2-40B4-BE49-F238E27FC236}">
                <a16:creationId xmlns:a16="http://schemas.microsoft.com/office/drawing/2014/main" id="{74FB92E9-2361-74DD-8A22-64B55324F1CF}"/>
              </a:ext>
            </a:extLst>
          </p:cNvPr>
          <p:cNvGrpSpPr>
            <a:grpSpLocks/>
          </p:cNvGrpSpPr>
          <p:nvPr/>
        </p:nvGrpSpPr>
        <p:grpSpPr bwMode="auto">
          <a:xfrm>
            <a:off x="3546475" y="2227263"/>
            <a:ext cx="5864225" cy="1087437"/>
            <a:chOff x="1247" y="1451"/>
            <a:chExt cx="3694" cy="685"/>
          </a:xfrm>
        </p:grpSpPr>
        <p:sp>
          <p:nvSpPr>
            <p:cNvPr id="71810" name="Freeform 51">
              <a:extLst>
                <a:ext uri="{FF2B5EF4-FFF2-40B4-BE49-F238E27FC236}">
                  <a16:creationId xmlns:a16="http://schemas.microsoft.com/office/drawing/2014/main" id="{2B1AF439-3E1B-2E32-B25E-F182C492EA41}"/>
                </a:ext>
              </a:extLst>
            </p:cNvPr>
            <p:cNvSpPr>
              <a:spLocks/>
            </p:cNvSpPr>
            <p:nvPr/>
          </p:nvSpPr>
          <p:spPr bwMode="auto">
            <a:xfrm>
              <a:off x="3238" y="1904"/>
              <a:ext cx="1009" cy="215"/>
            </a:xfrm>
            <a:custGeom>
              <a:avLst/>
              <a:gdLst>
                <a:gd name="T0" fmla="*/ 0 w 1009"/>
                <a:gd name="T1" fmla="*/ 178 h 215"/>
                <a:gd name="T2" fmla="*/ 0 w 1009"/>
                <a:gd name="T3" fmla="*/ 178 h 215"/>
                <a:gd name="T4" fmla="*/ 52 w 1009"/>
                <a:gd name="T5" fmla="*/ 187 h 215"/>
                <a:gd name="T6" fmla="*/ 116 w 1009"/>
                <a:gd name="T7" fmla="*/ 198 h 215"/>
                <a:gd name="T8" fmla="*/ 184 w 1009"/>
                <a:gd name="T9" fmla="*/ 207 h 215"/>
                <a:gd name="T10" fmla="*/ 260 w 1009"/>
                <a:gd name="T11" fmla="*/ 212 h 215"/>
                <a:gd name="T12" fmla="*/ 260 w 1009"/>
                <a:gd name="T13" fmla="*/ 212 h 215"/>
                <a:gd name="T14" fmla="*/ 328 w 1009"/>
                <a:gd name="T15" fmla="*/ 215 h 215"/>
                <a:gd name="T16" fmla="*/ 392 w 1009"/>
                <a:gd name="T17" fmla="*/ 212 h 215"/>
                <a:gd name="T18" fmla="*/ 453 w 1009"/>
                <a:gd name="T19" fmla="*/ 210 h 215"/>
                <a:gd name="T20" fmla="*/ 509 w 1009"/>
                <a:gd name="T21" fmla="*/ 201 h 215"/>
                <a:gd name="T22" fmla="*/ 561 w 1009"/>
                <a:gd name="T23" fmla="*/ 193 h 215"/>
                <a:gd name="T24" fmla="*/ 613 w 1009"/>
                <a:gd name="T25" fmla="*/ 181 h 215"/>
                <a:gd name="T26" fmla="*/ 661 w 1009"/>
                <a:gd name="T27" fmla="*/ 167 h 215"/>
                <a:gd name="T28" fmla="*/ 705 w 1009"/>
                <a:gd name="T29" fmla="*/ 153 h 215"/>
                <a:gd name="T30" fmla="*/ 749 w 1009"/>
                <a:gd name="T31" fmla="*/ 136 h 215"/>
                <a:gd name="T32" fmla="*/ 793 w 1009"/>
                <a:gd name="T33" fmla="*/ 119 h 215"/>
                <a:gd name="T34" fmla="*/ 869 w 1009"/>
                <a:gd name="T35" fmla="*/ 79 h 215"/>
                <a:gd name="T36" fmla="*/ 941 w 1009"/>
                <a:gd name="T37" fmla="*/ 40 h 215"/>
                <a:gd name="T38" fmla="*/ 1009 w 1009"/>
                <a:gd name="T39" fmla="*/ 0 h 2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09" h="215">
                  <a:moveTo>
                    <a:pt x="0" y="178"/>
                  </a:moveTo>
                  <a:lnTo>
                    <a:pt x="0" y="178"/>
                  </a:lnTo>
                  <a:lnTo>
                    <a:pt x="52" y="187"/>
                  </a:lnTo>
                  <a:lnTo>
                    <a:pt x="116" y="198"/>
                  </a:lnTo>
                  <a:lnTo>
                    <a:pt x="184" y="207"/>
                  </a:lnTo>
                  <a:lnTo>
                    <a:pt x="260" y="212"/>
                  </a:lnTo>
                  <a:lnTo>
                    <a:pt x="328" y="215"/>
                  </a:lnTo>
                  <a:lnTo>
                    <a:pt x="392" y="212"/>
                  </a:lnTo>
                  <a:lnTo>
                    <a:pt x="453" y="210"/>
                  </a:lnTo>
                  <a:lnTo>
                    <a:pt x="509" y="201"/>
                  </a:lnTo>
                  <a:lnTo>
                    <a:pt x="561" y="193"/>
                  </a:lnTo>
                  <a:lnTo>
                    <a:pt x="613" y="181"/>
                  </a:lnTo>
                  <a:lnTo>
                    <a:pt x="661" y="167"/>
                  </a:lnTo>
                  <a:lnTo>
                    <a:pt x="705" y="153"/>
                  </a:lnTo>
                  <a:lnTo>
                    <a:pt x="749" y="136"/>
                  </a:lnTo>
                  <a:lnTo>
                    <a:pt x="793" y="119"/>
                  </a:lnTo>
                  <a:lnTo>
                    <a:pt x="869" y="79"/>
                  </a:lnTo>
                  <a:lnTo>
                    <a:pt x="941" y="40"/>
                  </a:lnTo>
                  <a:lnTo>
                    <a:pt x="1009" y="0"/>
                  </a:lnTo>
                </a:path>
              </a:pathLst>
            </a:custGeom>
            <a:noFill/>
            <a:ln w="63500">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811" name="Freeform 52">
              <a:extLst>
                <a:ext uri="{FF2B5EF4-FFF2-40B4-BE49-F238E27FC236}">
                  <a16:creationId xmlns:a16="http://schemas.microsoft.com/office/drawing/2014/main" id="{1C7E8822-1172-3078-B807-D31A1B1B4F2E}"/>
                </a:ext>
              </a:extLst>
            </p:cNvPr>
            <p:cNvSpPr>
              <a:spLocks/>
            </p:cNvSpPr>
            <p:nvPr/>
          </p:nvSpPr>
          <p:spPr bwMode="auto">
            <a:xfrm>
              <a:off x="4239" y="1451"/>
              <a:ext cx="702" cy="450"/>
            </a:xfrm>
            <a:custGeom>
              <a:avLst/>
              <a:gdLst>
                <a:gd name="T0" fmla="*/ 0 w 702"/>
                <a:gd name="T1" fmla="*/ 450 h 450"/>
                <a:gd name="T2" fmla="*/ 0 w 702"/>
                <a:gd name="T3" fmla="*/ 450 h 450"/>
                <a:gd name="T4" fmla="*/ 45 w 702"/>
                <a:gd name="T5" fmla="*/ 450 h 450"/>
                <a:gd name="T6" fmla="*/ 93 w 702"/>
                <a:gd name="T7" fmla="*/ 445 h 450"/>
                <a:gd name="T8" fmla="*/ 137 w 702"/>
                <a:gd name="T9" fmla="*/ 436 h 450"/>
                <a:gd name="T10" fmla="*/ 185 w 702"/>
                <a:gd name="T11" fmla="*/ 425 h 450"/>
                <a:gd name="T12" fmla="*/ 233 w 702"/>
                <a:gd name="T13" fmla="*/ 408 h 450"/>
                <a:gd name="T14" fmla="*/ 281 w 702"/>
                <a:gd name="T15" fmla="*/ 388 h 450"/>
                <a:gd name="T16" fmla="*/ 329 w 702"/>
                <a:gd name="T17" fmla="*/ 365 h 450"/>
                <a:gd name="T18" fmla="*/ 373 w 702"/>
                <a:gd name="T19" fmla="*/ 337 h 450"/>
                <a:gd name="T20" fmla="*/ 421 w 702"/>
                <a:gd name="T21" fmla="*/ 306 h 450"/>
                <a:gd name="T22" fmla="*/ 465 w 702"/>
                <a:gd name="T23" fmla="*/ 272 h 450"/>
                <a:gd name="T24" fmla="*/ 509 w 702"/>
                <a:gd name="T25" fmla="*/ 235 h 450"/>
                <a:gd name="T26" fmla="*/ 553 w 702"/>
                <a:gd name="T27" fmla="*/ 195 h 450"/>
                <a:gd name="T28" fmla="*/ 593 w 702"/>
                <a:gd name="T29" fmla="*/ 150 h 450"/>
                <a:gd name="T30" fmla="*/ 629 w 702"/>
                <a:gd name="T31" fmla="*/ 102 h 450"/>
                <a:gd name="T32" fmla="*/ 666 w 702"/>
                <a:gd name="T33" fmla="*/ 54 h 450"/>
                <a:gd name="T34" fmla="*/ 702 w 702"/>
                <a:gd name="T35" fmla="*/ 0 h 4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02" h="450">
                  <a:moveTo>
                    <a:pt x="0" y="450"/>
                  </a:moveTo>
                  <a:lnTo>
                    <a:pt x="0" y="450"/>
                  </a:lnTo>
                  <a:lnTo>
                    <a:pt x="45" y="450"/>
                  </a:lnTo>
                  <a:lnTo>
                    <a:pt x="93" y="445"/>
                  </a:lnTo>
                  <a:lnTo>
                    <a:pt x="137" y="436"/>
                  </a:lnTo>
                  <a:lnTo>
                    <a:pt x="185" y="425"/>
                  </a:lnTo>
                  <a:lnTo>
                    <a:pt x="233" y="408"/>
                  </a:lnTo>
                  <a:lnTo>
                    <a:pt x="281" y="388"/>
                  </a:lnTo>
                  <a:lnTo>
                    <a:pt x="329" y="365"/>
                  </a:lnTo>
                  <a:lnTo>
                    <a:pt x="373" y="337"/>
                  </a:lnTo>
                  <a:lnTo>
                    <a:pt x="421" y="306"/>
                  </a:lnTo>
                  <a:lnTo>
                    <a:pt x="465" y="272"/>
                  </a:lnTo>
                  <a:lnTo>
                    <a:pt x="509" y="235"/>
                  </a:lnTo>
                  <a:lnTo>
                    <a:pt x="553" y="195"/>
                  </a:lnTo>
                  <a:lnTo>
                    <a:pt x="593" y="150"/>
                  </a:lnTo>
                  <a:lnTo>
                    <a:pt x="629" y="102"/>
                  </a:lnTo>
                  <a:lnTo>
                    <a:pt x="666" y="54"/>
                  </a:lnTo>
                  <a:lnTo>
                    <a:pt x="702" y="0"/>
                  </a:lnTo>
                </a:path>
              </a:pathLst>
            </a:custGeom>
            <a:noFill/>
            <a:ln w="63500">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812" name="Freeform 53">
              <a:extLst>
                <a:ext uri="{FF2B5EF4-FFF2-40B4-BE49-F238E27FC236}">
                  <a16:creationId xmlns:a16="http://schemas.microsoft.com/office/drawing/2014/main" id="{AD916D3C-A200-801A-760D-1394E98D556E}"/>
                </a:ext>
              </a:extLst>
            </p:cNvPr>
            <p:cNvSpPr>
              <a:spLocks/>
            </p:cNvSpPr>
            <p:nvPr/>
          </p:nvSpPr>
          <p:spPr bwMode="auto">
            <a:xfrm>
              <a:off x="1247" y="1618"/>
              <a:ext cx="909" cy="433"/>
            </a:xfrm>
            <a:custGeom>
              <a:avLst/>
              <a:gdLst>
                <a:gd name="T0" fmla="*/ 0 w 909"/>
                <a:gd name="T1" fmla="*/ 0 h 433"/>
                <a:gd name="T2" fmla="*/ 0 w 909"/>
                <a:gd name="T3" fmla="*/ 0 h 433"/>
                <a:gd name="T4" fmla="*/ 40 w 909"/>
                <a:gd name="T5" fmla="*/ 48 h 433"/>
                <a:gd name="T6" fmla="*/ 80 w 909"/>
                <a:gd name="T7" fmla="*/ 96 h 433"/>
                <a:gd name="T8" fmla="*/ 124 w 909"/>
                <a:gd name="T9" fmla="*/ 139 h 433"/>
                <a:gd name="T10" fmla="*/ 176 w 909"/>
                <a:gd name="T11" fmla="*/ 178 h 433"/>
                <a:gd name="T12" fmla="*/ 224 w 909"/>
                <a:gd name="T13" fmla="*/ 218 h 433"/>
                <a:gd name="T14" fmla="*/ 280 w 909"/>
                <a:gd name="T15" fmla="*/ 252 h 433"/>
                <a:gd name="T16" fmla="*/ 336 w 909"/>
                <a:gd name="T17" fmla="*/ 283 h 433"/>
                <a:gd name="T18" fmla="*/ 392 w 909"/>
                <a:gd name="T19" fmla="*/ 311 h 433"/>
                <a:gd name="T20" fmla="*/ 452 w 909"/>
                <a:gd name="T21" fmla="*/ 337 h 433"/>
                <a:gd name="T22" fmla="*/ 512 w 909"/>
                <a:gd name="T23" fmla="*/ 360 h 433"/>
                <a:gd name="T24" fmla="*/ 577 w 909"/>
                <a:gd name="T25" fmla="*/ 379 h 433"/>
                <a:gd name="T26" fmla="*/ 641 w 909"/>
                <a:gd name="T27" fmla="*/ 396 h 433"/>
                <a:gd name="T28" fmla="*/ 709 w 909"/>
                <a:gd name="T29" fmla="*/ 411 h 433"/>
                <a:gd name="T30" fmla="*/ 773 w 909"/>
                <a:gd name="T31" fmla="*/ 422 h 433"/>
                <a:gd name="T32" fmla="*/ 841 w 909"/>
                <a:gd name="T33" fmla="*/ 428 h 433"/>
                <a:gd name="T34" fmla="*/ 909 w 909"/>
                <a:gd name="T35" fmla="*/ 433 h 4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09" h="433">
                  <a:moveTo>
                    <a:pt x="0" y="0"/>
                  </a:moveTo>
                  <a:lnTo>
                    <a:pt x="0" y="0"/>
                  </a:lnTo>
                  <a:lnTo>
                    <a:pt x="40" y="48"/>
                  </a:lnTo>
                  <a:lnTo>
                    <a:pt x="80" y="96"/>
                  </a:lnTo>
                  <a:lnTo>
                    <a:pt x="124" y="139"/>
                  </a:lnTo>
                  <a:lnTo>
                    <a:pt x="176" y="178"/>
                  </a:lnTo>
                  <a:lnTo>
                    <a:pt x="224" y="218"/>
                  </a:lnTo>
                  <a:lnTo>
                    <a:pt x="280" y="252"/>
                  </a:lnTo>
                  <a:lnTo>
                    <a:pt x="336" y="283"/>
                  </a:lnTo>
                  <a:lnTo>
                    <a:pt x="392" y="311"/>
                  </a:lnTo>
                  <a:lnTo>
                    <a:pt x="452" y="337"/>
                  </a:lnTo>
                  <a:lnTo>
                    <a:pt x="512" y="360"/>
                  </a:lnTo>
                  <a:lnTo>
                    <a:pt x="577" y="379"/>
                  </a:lnTo>
                  <a:lnTo>
                    <a:pt x="641" y="396"/>
                  </a:lnTo>
                  <a:lnTo>
                    <a:pt x="709" y="411"/>
                  </a:lnTo>
                  <a:lnTo>
                    <a:pt x="773" y="422"/>
                  </a:lnTo>
                  <a:lnTo>
                    <a:pt x="841" y="428"/>
                  </a:lnTo>
                  <a:lnTo>
                    <a:pt x="909" y="433"/>
                  </a:lnTo>
                </a:path>
              </a:pathLst>
            </a:custGeom>
            <a:noFill/>
            <a:ln w="57150"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813" name="Freeform 54">
              <a:extLst>
                <a:ext uri="{FF2B5EF4-FFF2-40B4-BE49-F238E27FC236}">
                  <a16:creationId xmlns:a16="http://schemas.microsoft.com/office/drawing/2014/main" id="{323710D7-0670-E044-F2E4-F6CFC6D2B425}"/>
                </a:ext>
              </a:extLst>
            </p:cNvPr>
            <p:cNvSpPr>
              <a:spLocks/>
            </p:cNvSpPr>
            <p:nvPr/>
          </p:nvSpPr>
          <p:spPr bwMode="auto">
            <a:xfrm>
              <a:off x="2152" y="2048"/>
              <a:ext cx="1094" cy="88"/>
            </a:xfrm>
            <a:custGeom>
              <a:avLst/>
              <a:gdLst>
                <a:gd name="T0" fmla="*/ 0 w 1094"/>
                <a:gd name="T1" fmla="*/ 0 h 88"/>
                <a:gd name="T2" fmla="*/ 0 w 1094"/>
                <a:gd name="T3" fmla="*/ 0 h 88"/>
                <a:gd name="T4" fmla="*/ 76 w 1094"/>
                <a:gd name="T5" fmla="*/ 29 h 88"/>
                <a:gd name="T6" fmla="*/ 156 w 1094"/>
                <a:gd name="T7" fmla="*/ 49 h 88"/>
                <a:gd name="T8" fmla="*/ 232 w 1094"/>
                <a:gd name="T9" fmla="*/ 63 h 88"/>
                <a:gd name="T10" fmla="*/ 309 w 1094"/>
                <a:gd name="T11" fmla="*/ 74 h 88"/>
                <a:gd name="T12" fmla="*/ 385 w 1094"/>
                <a:gd name="T13" fmla="*/ 83 h 88"/>
                <a:gd name="T14" fmla="*/ 457 w 1094"/>
                <a:gd name="T15" fmla="*/ 88 h 88"/>
                <a:gd name="T16" fmla="*/ 533 w 1094"/>
                <a:gd name="T17" fmla="*/ 88 h 88"/>
                <a:gd name="T18" fmla="*/ 605 w 1094"/>
                <a:gd name="T19" fmla="*/ 88 h 88"/>
                <a:gd name="T20" fmla="*/ 673 w 1094"/>
                <a:gd name="T21" fmla="*/ 83 h 88"/>
                <a:gd name="T22" fmla="*/ 741 w 1094"/>
                <a:gd name="T23" fmla="*/ 77 h 88"/>
                <a:gd name="T24" fmla="*/ 869 w 1094"/>
                <a:gd name="T25" fmla="*/ 63 h 88"/>
                <a:gd name="T26" fmla="*/ 990 w 1094"/>
                <a:gd name="T27" fmla="*/ 46 h 88"/>
                <a:gd name="T28" fmla="*/ 1094 w 1094"/>
                <a:gd name="T29" fmla="*/ 29 h 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94" h="88">
                  <a:moveTo>
                    <a:pt x="0" y="0"/>
                  </a:moveTo>
                  <a:lnTo>
                    <a:pt x="0" y="0"/>
                  </a:lnTo>
                  <a:lnTo>
                    <a:pt x="76" y="29"/>
                  </a:lnTo>
                  <a:lnTo>
                    <a:pt x="156" y="49"/>
                  </a:lnTo>
                  <a:lnTo>
                    <a:pt x="232" y="63"/>
                  </a:lnTo>
                  <a:lnTo>
                    <a:pt x="309" y="74"/>
                  </a:lnTo>
                  <a:lnTo>
                    <a:pt x="385" y="83"/>
                  </a:lnTo>
                  <a:lnTo>
                    <a:pt x="457" y="88"/>
                  </a:lnTo>
                  <a:lnTo>
                    <a:pt x="533" y="88"/>
                  </a:lnTo>
                  <a:lnTo>
                    <a:pt x="605" y="88"/>
                  </a:lnTo>
                  <a:lnTo>
                    <a:pt x="673" y="83"/>
                  </a:lnTo>
                  <a:lnTo>
                    <a:pt x="741" y="77"/>
                  </a:lnTo>
                  <a:lnTo>
                    <a:pt x="869" y="63"/>
                  </a:lnTo>
                  <a:lnTo>
                    <a:pt x="990" y="46"/>
                  </a:lnTo>
                  <a:lnTo>
                    <a:pt x="1094" y="29"/>
                  </a:lnTo>
                </a:path>
              </a:pathLst>
            </a:custGeom>
            <a:noFill/>
            <a:ln w="63500">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grpSp>
        <p:nvGrpSpPr>
          <p:cNvPr id="102455" name="Group 55">
            <a:extLst>
              <a:ext uri="{FF2B5EF4-FFF2-40B4-BE49-F238E27FC236}">
                <a16:creationId xmlns:a16="http://schemas.microsoft.com/office/drawing/2014/main" id="{873939DA-04B9-52CF-CC11-86441E39537A}"/>
              </a:ext>
            </a:extLst>
          </p:cNvPr>
          <p:cNvGrpSpPr>
            <a:grpSpLocks/>
          </p:cNvGrpSpPr>
          <p:nvPr/>
        </p:nvGrpSpPr>
        <p:grpSpPr bwMode="auto">
          <a:xfrm>
            <a:off x="3106738" y="4354513"/>
            <a:ext cx="1587" cy="915987"/>
            <a:chOff x="970" y="2791"/>
            <a:chExt cx="1" cy="577"/>
          </a:xfrm>
        </p:grpSpPr>
        <p:sp>
          <p:nvSpPr>
            <p:cNvPr id="71801" name="Line 56">
              <a:extLst>
                <a:ext uri="{FF2B5EF4-FFF2-40B4-BE49-F238E27FC236}">
                  <a16:creationId xmlns:a16="http://schemas.microsoft.com/office/drawing/2014/main" id="{D447922D-8F98-5140-D33A-AE229CEE99FA}"/>
                </a:ext>
              </a:extLst>
            </p:cNvPr>
            <p:cNvSpPr>
              <a:spLocks noChangeShapeType="1"/>
            </p:cNvSpPr>
            <p:nvPr/>
          </p:nvSpPr>
          <p:spPr bwMode="auto">
            <a:xfrm>
              <a:off x="970" y="279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2" name="Line 57">
              <a:extLst>
                <a:ext uri="{FF2B5EF4-FFF2-40B4-BE49-F238E27FC236}">
                  <a16:creationId xmlns:a16="http://schemas.microsoft.com/office/drawing/2014/main" id="{7D31D172-DA08-122A-BC62-52B9FB6B519B}"/>
                </a:ext>
              </a:extLst>
            </p:cNvPr>
            <p:cNvSpPr>
              <a:spLocks noChangeShapeType="1"/>
            </p:cNvSpPr>
            <p:nvPr/>
          </p:nvSpPr>
          <p:spPr bwMode="auto">
            <a:xfrm>
              <a:off x="970" y="2859"/>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3" name="Line 58">
              <a:extLst>
                <a:ext uri="{FF2B5EF4-FFF2-40B4-BE49-F238E27FC236}">
                  <a16:creationId xmlns:a16="http://schemas.microsoft.com/office/drawing/2014/main" id="{ADC55469-802D-2217-A734-BD126AC5603F}"/>
                </a:ext>
              </a:extLst>
            </p:cNvPr>
            <p:cNvSpPr>
              <a:spLocks noChangeShapeType="1"/>
            </p:cNvSpPr>
            <p:nvPr/>
          </p:nvSpPr>
          <p:spPr bwMode="auto">
            <a:xfrm>
              <a:off x="970" y="2927"/>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4" name="Line 59">
              <a:extLst>
                <a:ext uri="{FF2B5EF4-FFF2-40B4-BE49-F238E27FC236}">
                  <a16:creationId xmlns:a16="http://schemas.microsoft.com/office/drawing/2014/main" id="{4606E5E6-96BF-8364-0D5E-DB09148069E3}"/>
                </a:ext>
              </a:extLst>
            </p:cNvPr>
            <p:cNvSpPr>
              <a:spLocks noChangeShapeType="1"/>
            </p:cNvSpPr>
            <p:nvPr/>
          </p:nvSpPr>
          <p:spPr bwMode="auto">
            <a:xfrm>
              <a:off x="970" y="2995"/>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5" name="Line 60">
              <a:extLst>
                <a:ext uri="{FF2B5EF4-FFF2-40B4-BE49-F238E27FC236}">
                  <a16:creationId xmlns:a16="http://schemas.microsoft.com/office/drawing/2014/main" id="{721258C8-6F10-12F4-DD34-25EE7E9D3798}"/>
                </a:ext>
              </a:extLst>
            </p:cNvPr>
            <p:cNvSpPr>
              <a:spLocks noChangeShapeType="1"/>
            </p:cNvSpPr>
            <p:nvPr/>
          </p:nvSpPr>
          <p:spPr bwMode="auto">
            <a:xfrm>
              <a:off x="970" y="3063"/>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6" name="Line 61">
              <a:extLst>
                <a:ext uri="{FF2B5EF4-FFF2-40B4-BE49-F238E27FC236}">
                  <a16:creationId xmlns:a16="http://schemas.microsoft.com/office/drawing/2014/main" id="{B0152808-3EB1-EE38-B455-CE5B1F30A64A}"/>
                </a:ext>
              </a:extLst>
            </p:cNvPr>
            <p:cNvSpPr>
              <a:spLocks noChangeShapeType="1"/>
            </p:cNvSpPr>
            <p:nvPr/>
          </p:nvSpPr>
          <p:spPr bwMode="auto">
            <a:xfrm>
              <a:off x="970" y="3131"/>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7" name="Line 62">
              <a:extLst>
                <a:ext uri="{FF2B5EF4-FFF2-40B4-BE49-F238E27FC236}">
                  <a16:creationId xmlns:a16="http://schemas.microsoft.com/office/drawing/2014/main" id="{74B97F9B-C5F6-4A9E-0E6A-7B4F740E2136}"/>
                </a:ext>
              </a:extLst>
            </p:cNvPr>
            <p:cNvSpPr>
              <a:spLocks noChangeShapeType="1"/>
            </p:cNvSpPr>
            <p:nvPr/>
          </p:nvSpPr>
          <p:spPr bwMode="auto">
            <a:xfrm>
              <a:off x="970" y="3199"/>
              <a:ext cx="1"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8" name="Line 63">
              <a:extLst>
                <a:ext uri="{FF2B5EF4-FFF2-40B4-BE49-F238E27FC236}">
                  <a16:creationId xmlns:a16="http://schemas.microsoft.com/office/drawing/2014/main" id="{EC4AA2F3-EC00-2DAD-3DF0-D79D3CD24FF6}"/>
                </a:ext>
              </a:extLst>
            </p:cNvPr>
            <p:cNvSpPr>
              <a:spLocks noChangeShapeType="1"/>
            </p:cNvSpPr>
            <p:nvPr/>
          </p:nvSpPr>
          <p:spPr bwMode="auto">
            <a:xfrm>
              <a:off x="970" y="3266"/>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9" name="Line 64">
              <a:extLst>
                <a:ext uri="{FF2B5EF4-FFF2-40B4-BE49-F238E27FC236}">
                  <a16:creationId xmlns:a16="http://schemas.microsoft.com/office/drawing/2014/main" id="{5E79ECA5-B99A-B297-1DC1-708FC9FD983D}"/>
                </a:ext>
              </a:extLst>
            </p:cNvPr>
            <p:cNvSpPr>
              <a:spLocks noChangeShapeType="1"/>
            </p:cNvSpPr>
            <p:nvPr/>
          </p:nvSpPr>
          <p:spPr bwMode="auto">
            <a:xfrm>
              <a:off x="970" y="3334"/>
              <a:ext cx="1" cy="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102465" name="Group 65">
            <a:extLst>
              <a:ext uri="{FF2B5EF4-FFF2-40B4-BE49-F238E27FC236}">
                <a16:creationId xmlns:a16="http://schemas.microsoft.com/office/drawing/2014/main" id="{C9189DBD-5700-C667-53E9-9F7365472E06}"/>
              </a:ext>
            </a:extLst>
          </p:cNvPr>
          <p:cNvGrpSpPr>
            <a:grpSpLocks/>
          </p:cNvGrpSpPr>
          <p:nvPr/>
        </p:nvGrpSpPr>
        <p:grpSpPr bwMode="auto">
          <a:xfrm>
            <a:off x="3616325" y="2366963"/>
            <a:ext cx="5680075" cy="963612"/>
            <a:chOff x="1291" y="1539"/>
            <a:chExt cx="3578" cy="607"/>
          </a:xfrm>
        </p:grpSpPr>
        <p:grpSp>
          <p:nvGrpSpPr>
            <p:cNvPr id="71759" name="Group 66">
              <a:extLst>
                <a:ext uri="{FF2B5EF4-FFF2-40B4-BE49-F238E27FC236}">
                  <a16:creationId xmlns:a16="http://schemas.microsoft.com/office/drawing/2014/main" id="{491F01BA-7522-6239-86CC-B9A32B430C57}"/>
                </a:ext>
              </a:extLst>
            </p:cNvPr>
            <p:cNvGrpSpPr>
              <a:grpSpLocks/>
            </p:cNvGrpSpPr>
            <p:nvPr/>
          </p:nvGrpSpPr>
          <p:grpSpPr bwMode="auto">
            <a:xfrm>
              <a:off x="1291" y="1689"/>
              <a:ext cx="1406" cy="457"/>
              <a:chOff x="1291" y="1689"/>
              <a:chExt cx="1406" cy="457"/>
            </a:xfrm>
          </p:grpSpPr>
          <p:sp>
            <p:nvSpPr>
              <p:cNvPr id="71786" name="Freeform 67">
                <a:extLst>
                  <a:ext uri="{FF2B5EF4-FFF2-40B4-BE49-F238E27FC236}">
                    <a16:creationId xmlns:a16="http://schemas.microsoft.com/office/drawing/2014/main" id="{F04B4E40-DB0D-E8BB-BCB3-97F6DD6A570F}"/>
                  </a:ext>
                </a:extLst>
              </p:cNvPr>
              <p:cNvSpPr>
                <a:spLocks/>
              </p:cNvSpPr>
              <p:nvPr/>
            </p:nvSpPr>
            <p:spPr bwMode="auto">
              <a:xfrm>
                <a:off x="1291" y="1689"/>
                <a:ext cx="32" cy="39"/>
              </a:xfrm>
              <a:custGeom>
                <a:avLst/>
                <a:gdLst>
                  <a:gd name="T0" fmla="*/ 0 w 32"/>
                  <a:gd name="T1" fmla="*/ 0 h 39"/>
                  <a:gd name="T2" fmla="*/ 24 w 32"/>
                  <a:gd name="T3" fmla="*/ 31 h 39"/>
                  <a:gd name="T4" fmla="*/ 32 w 32"/>
                  <a:gd name="T5" fmla="*/ 39 h 39"/>
                  <a:gd name="T6" fmla="*/ 0 60000 65536"/>
                  <a:gd name="T7" fmla="*/ 0 60000 65536"/>
                  <a:gd name="T8" fmla="*/ 0 60000 65536"/>
                </a:gdLst>
                <a:ahLst/>
                <a:cxnLst>
                  <a:cxn ang="T6">
                    <a:pos x="T0" y="T1"/>
                  </a:cxn>
                  <a:cxn ang="T7">
                    <a:pos x="T2" y="T3"/>
                  </a:cxn>
                  <a:cxn ang="T8">
                    <a:pos x="T4" y="T5"/>
                  </a:cxn>
                </a:cxnLst>
                <a:rect l="0" t="0" r="r" b="b"/>
                <a:pathLst>
                  <a:path w="32" h="39">
                    <a:moveTo>
                      <a:pt x="0" y="0"/>
                    </a:moveTo>
                    <a:lnTo>
                      <a:pt x="24" y="31"/>
                    </a:lnTo>
                    <a:lnTo>
                      <a:pt x="32" y="39"/>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87" name="Freeform 68">
                <a:extLst>
                  <a:ext uri="{FF2B5EF4-FFF2-40B4-BE49-F238E27FC236}">
                    <a16:creationId xmlns:a16="http://schemas.microsoft.com/office/drawing/2014/main" id="{6172E6CB-CC1E-1255-6101-E770D3DE326C}"/>
                  </a:ext>
                </a:extLst>
              </p:cNvPr>
              <p:cNvSpPr>
                <a:spLocks/>
              </p:cNvSpPr>
              <p:nvPr/>
            </p:nvSpPr>
            <p:spPr bwMode="auto">
              <a:xfrm>
                <a:off x="1347" y="1757"/>
                <a:ext cx="36" cy="39"/>
              </a:xfrm>
              <a:custGeom>
                <a:avLst/>
                <a:gdLst>
                  <a:gd name="T0" fmla="*/ 0 w 36"/>
                  <a:gd name="T1" fmla="*/ 0 h 39"/>
                  <a:gd name="T2" fmla="*/ 8 w 36"/>
                  <a:gd name="T3" fmla="*/ 8 h 39"/>
                  <a:gd name="T4" fmla="*/ 36 w 36"/>
                  <a:gd name="T5" fmla="*/ 39 h 39"/>
                  <a:gd name="T6" fmla="*/ 0 60000 65536"/>
                  <a:gd name="T7" fmla="*/ 0 60000 65536"/>
                  <a:gd name="T8" fmla="*/ 0 60000 65536"/>
                </a:gdLst>
                <a:ahLst/>
                <a:cxnLst>
                  <a:cxn ang="T6">
                    <a:pos x="T0" y="T1"/>
                  </a:cxn>
                  <a:cxn ang="T7">
                    <a:pos x="T2" y="T3"/>
                  </a:cxn>
                  <a:cxn ang="T8">
                    <a:pos x="T4" y="T5"/>
                  </a:cxn>
                </a:cxnLst>
                <a:rect l="0" t="0" r="r" b="b"/>
                <a:pathLst>
                  <a:path w="36" h="39">
                    <a:moveTo>
                      <a:pt x="0" y="0"/>
                    </a:moveTo>
                    <a:lnTo>
                      <a:pt x="8" y="8"/>
                    </a:lnTo>
                    <a:lnTo>
                      <a:pt x="36" y="39"/>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88" name="Freeform 69">
                <a:extLst>
                  <a:ext uri="{FF2B5EF4-FFF2-40B4-BE49-F238E27FC236}">
                    <a16:creationId xmlns:a16="http://schemas.microsoft.com/office/drawing/2014/main" id="{B92C27E6-29AA-F5FF-68C3-B9CC76BFA54D}"/>
                  </a:ext>
                </a:extLst>
              </p:cNvPr>
              <p:cNvSpPr>
                <a:spLocks/>
              </p:cNvSpPr>
              <p:nvPr/>
            </p:nvSpPr>
            <p:spPr bwMode="auto">
              <a:xfrm>
                <a:off x="1411" y="1822"/>
                <a:ext cx="40" cy="34"/>
              </a:xfrm>
              <a:custGeom>
                <a:avLst/>
                <a:gdLst>
                  <a:gd name="T0" fmla="*/ 0 w 40"/>
                  <a:gd name="T1" fmla="*/ 0 h 34"/>
                  <a:gd name="T2" fmla="*/ 32 w 40"/>
                  <a:gd name="T3" fmla="*/ 28 h 34"/>
                  <a:gd name="T4" fmla="*/ 40 w 40"/>
                  <a:gd name="T5" fmla="*/ 34 h 34"/>
                  <a:gd name="T6" fmla="*/ 0 60000 65536"/>
                  <a:gd name="T7" fmla="*/ 0 60000 65536"/>
                  <a:gd name="T8" fmla="*/ 0 60000 65536"/>
                </a:gdLst>
                <a:ahLst/>
                <a:cxnLst>
                  <a:cxn ang="T6">
                    <a:pos x="T0" y="T1"/>
                  </a:cxn>
                  <a:cxn ang="T7">
                    <a:pos x="T2" y="T3"/>
                  </a:cxn>
                  <a:cxn ang="T8">
                    <a:pos x="T4" y="T5"/>
                  </a:cxn>
                </a:cxnLst>
                <a:rect l="0" t="0" r="r" b="b"/>
                <a:pathLst>
                  <a:path w="40" h="34">
                    <a:moveTo>
                      <a:pt x="0" y="0"/>
                    </a:moveTo>
                    <a:lnTo>
                      <a:pt x="32" y="28"/>
                    </a:lnTo>
                    <a:lnTo>
                      <a:pt x="40" y="34"/>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89" name="Freeform 70">
                <a:extLst>
                  <a:ext uri="{FF2B5EF4-FFF2-40B4-BE49-F238E27FC236}">
                    <a16:creationId xmlns:a16="http://schemas.microsoft.com/office/drawing/2014/main" id="{933AD453-995F-FB1E-132E-2573AB4ECBD0}"/>
                  </a:ext>
                </a:extLst>
              </p:cNvPr>
              <p:cNvSpPr>
                <a:spLocks/>
              </p:cNvSpPr>
              <p:nvPr/>
            </p:nvSpPr>
            <p:spPr bwMode="auto">
              <a:xfrm>
                <a:off x="1487" y="1881"/>
                <a:ext cx="48" cy="31"/>
              </a:xfrm>
              <a:custGeom>
                <a:avLst/>
                <a:gdLst>
                  <a:gd name="T0" fmla="*/ 0 w 48"/>
                  <a:gd name="T1" fmla="*/ 0 h 31"/>
                  <a:gd name="T2" fmla="*/ 4 w 48"/>
                  <a:gd name="T3" fmla="*/ 6 h 31"/>
                  <a:gd name="T4" fmla="*/ 48 w 48"/>
                  <a:gd name="T5" fmla="*/ 31 h 31"/>
                  <a:gd name="T6" fmla="*/ 0 60000 65536"/>
                  <a:gd name="T7" fmla="*/ 0 60000 65536"/>
                  <a:gd name="T8" fmla="*/ 0 60000 65536"/>
                </a:gdLst>
                <a:ahLst/>
                <a:cxnLst>
                  <a:cxn ang="T6">
                    <a:pos x="T0" y="T1"/>
                  </a:cxn>
                  <a:cxn ang="T7">
                    <a:pos x="T2" y="T3"/>
                  </a:cxn>
                  <a:cxn ang="T8">
                    <a:pos x="T4" y="T5"/>
                  </a:cxn>
                </a:cxnLst>
                <a:rect l="0" t="0" r="r" b="b"/>
                <a:pathLst>
                  <a:path w="48" h="31">
                    <a:moveTo>
                      <a:pt x="0" y="0"/>
                    </a:moveTo>
                    <a:lnTo>
                      <a:pt x="4" y="6"/>
                    </a:lnTo>
                    <a:lnTo>
                      <a:pt x="48" y="31"/>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0" name="Freeform 71">
                <a:extLst>
                  <a:ext uri="{FF2B5EF4-FFF2-40B4-BE49-F238E27FC236}">
                    <a16:creationId xmlns:a16="http://schemas.microsoft.com/office/drawing/2014/main" id="{42477874-8317-291B-917C-46A35C5CA12C}"/>
                  </a:ext>
                </a:extLst>
              </p:cNvPr>
              <p:cNvSpPr>
                <a:spLocks/>
              </p:cNvSpPr>
              <p:nvPr/>
            </p:nvSpPr>
            <p:spPr bwMode="auto">
              <a:xfrm>
                <a:off x="1571" y="1932"/>
                <a:ext cx="52" cy="29"/>
              </a:xfrm>
              <a:custGeom>
                <a:avLst/>
                <a:gdLst>
                  <a:gd name="T0" fmla="*/ 0 w 52"/>
                  <a:gd name="T1" fmla="*/ 0 h 29"/>
                  <a:gd name="T2" fmla="*/ 28 w 52"/>
                  <a:gd name="T3" fmla="*/ 17 h 29"/>
                  <a:gd name="T4" fmla="*/ 52 w 52"/>
                  <a:gd name="T5" fmla="*/ 29 h 29"/>
                  <a:gd name="T6" fmla="*/ 0 60000 65536"/>
                  <a:gd name="T7" fmla="*/ 0 60000 65536"/>
                  <a:gd name="T8" fmla="*/ 0 60000 65536"/>
                </a:gdLst>
                <a:ahLst/>
                <a:cxnLst>
                  <a:cxn ang="T6">
                    <a:pos x="T0" y="T1"/>
                  </a:cxn>
                  <a:cxn ang="T7">
                    <a:pos x="T2" y="T3"/>
                  </a:cxn>
                  <a:cxn ang="T8">
                    <a:pos x="T4" y="T5"/>
                  </a:cxn>
                </a:cxnLst>
                <a:rect l="0" t="0" r="r" b="b"/>
                <a:pathLst>
                  <a:path w="52" h="29">
                    <a:moveTo>
                      <a:pt x="0" y="0"/>
                    </a:moveTo>
                    <a:lnTo>
                      <a:pt x="28" y="17"/>
                    </a:lnTo>
                    <a:lnTo>
                      <a:pt x="52" y="29"/>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1" name="Line 72">
                <a:extLst>
                  <a:ext uri="{FF2B5EF4-FFF2-40B4-BE49-F238E27FC236}">
                    <a16:creationId xmlns:a16="http://schemas.microsoft.com/office/drawing/2014/main" id="{80EBD3C5-1CD1-7130-FD10-7CF66330C3FE}"/>
                  </a:ext>
                </a:extLst>
              </p:cNvPr>
              <p:cNvSpPr>
                <a:spLocks noChangeShapeType="1"/>
              </p:cNvSpPr>
              <p:nvPr/>
            </p:nvSpPr>
            <p:spPr bwMode="auto">
              <a:xfrm>
                <a:off x="1663" y="1978"/>
                <a:ext cx="56" cy="25"/>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92" name="Freeform 73">
                <a:extLst>
                  <a:ext uri="{FF2B5EF4-FFF2-40B4-BE49-F238E27FC236}">
                    <a16:creationId xmlns:a16="http://schemas.microsoft.com/office/drawing/2014/main" id="{BBA6C969-91CE-C7C0-85EC-C597C3AB4C7B}"/>
                  </a:ext>
                </a:extLst>
              </p:cNvPr>
              <p:cNvSpPr>
                <a:spLocks/>
              </p:cNvSpPr>
              <p:nvPr/>
            </p:nvSpPr>
            <p:spPr bwMode="auto">
              <a:xfrm>
                <a:off x="1759" y="2017"/>
                <a:ext cx="61" cy="20"/>
              </a:xfrm>
              <a:custGeom>
                <a:avLst/>
                <a:gdLst>
                  <a:gd name="T0" fmla="*/ 0 w 61"/>
                  <a:gd name="T1" fmla="*/ 0 h 20"/>
                  <a:gd name="T2" fmla="*/ 20 w 61"/>
                  <a:gd name="T3" fmla="*/ 9 h 20"/>
                  <a:gd name="T4" fmla="*/ 61 w 61"/>
                  <a:gd name="T5" fmla="*/ 20 h 20"/>
                  <a:gd name="T6" fmla="*/ 0 60000 65536"/>
                  <a:gd name="T7" fmla="*/ 0 60000 65536"/>
                  <a:gd name="T8" fmla="*/ 0 60000 65536"/>
                </a:gdLst>
                <a:ahLst/>
                <a:cxnLst>
                  <a:cxn ang="T6">
                    <a:pos x="T0" y="T1"/>
                  </a:cxn>
                  <a:cxn ang="T7">
                    <a:pos x="T2" y="T3"/>
                  </a:cxn>
                  <a:cxn ang="T8">
                    <a:pos x="T4" y="T5"/>
                  </a:cxn>
                </a:cxnLst>
                <a:rect l="0" t="0" r="r" b="b"/>
                <a:pathLst>
                  <a:path w="61" h="20">
                    <a:moveTo>
                      <a:pt x="0" y="0"/>
                    </a:moveTo>
                    <a:lnTo>
                      <a:pt x="20" y="9"/>
                    </a:lnTo>
                    <a:lnTo>
                      <a:pt x="61" y="2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3" name="Freeform 74">
                <a:extLst>
                  <a:ext uri="{FF2B5EF4-FFF2-40B4-BE49-F238E27FC236}">
                    <a16:creationId xmlns:a16="http://schemas.microsoft.com/office/drawing/2014/main" id="{10E70BFB-ED38-195E-BC44-8A86C3080B76}"/>
                  </a:ext>
                </a:extLst>
              </p:cNvPr>
              <p:cNvSpPr>
                <a:spLocks/>
              </p:cNvSpPr>
              <p:nvPr/>
            </p:nvSpPr>
            <p:spPr bwMode="auto">
              <a:xfrm>
                <a:off x="1864" y="2051"/>
                <a:ext cx="60" cy="14"/>
              </a:xfrm>
              <a:custGeom>
                <a:avLst/>
                <a:gdLst>
                  <a:gd name="T0" fmla="*/ 0 w 60"/>
                  <a:gd name="T1" fmla="*/ 0 h 14"/>
                  <a:gd name="T2" fmla="*/ 44 w 60"/>
                  <a:gd name="T3" fmla="*/ 12 h 14"/>
                  <a:gd name="T4" fmla="*/ 60 w 60"/>
                  <a:gd name="T5" fmla="*/ 14 h 14"/>
                  <a:gd name="T6" fmla="*/ 0 60000 65536"/>
                  <a:gd name="T7" fmla="*/ 0 60000 65536"/>
                  <a:gd name="T8" fmla="*/ 0 60000 65536"/>
                </a:gdLst>
                <a:ahLst/>
                <a:cxnLst>
                  <a:cxn ang="T6">
                    <a:pos x="T0" y="T1"/>
                  </a:cxn>
                  <a:cxn ang="T7">
                    <a:pos x="T2" y="T3"/>
                  </a:cxn>
                  <a:cxn ang="T8">
                    <a:pos x="T4" y="T5"/>
                  </a:cxn>
                </a:cxnLst>
                <a:rect l="0" t="0" r="r" b="b"/>
                <a:pathLst>
                  <a:path w="60" h="14">
                    <a:moveTo>
                      <a:pt x="0" y="0"/>
                    </a:moveTo>
                    <a:lnTo>
                      <a:pt x="44" y="12"/>
                    </a:lnTo>
                    <a:lnTo>
                      <a:pt x="60" y="14"/>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4" name="Freeform 75">
                <a:extLst>
                  <a:ext uri="{FF2B5EF4-FFF2-40B4-BE49-F238E27FC236}">
                    <a16:creationId xmlns:a16="http://schemas.microsoft.com/office/drawing/2014/main" id="{129C5380-D36B-C414-01AF-4EB4DBF963B2}"/>
                  </a:ext>
                </a:extLst>
              </p:cNvPr>
              <p:cNvSpPr>
                <a:spLocks/>
              </p:cNvSpPr>
              <p:nvPr/>
            </p:nvSpPr>
            <p:spPr bwMode="auto">
              <a:xfrm>
                <a:off x="1968" y="2077"/>
                <a:ext cx="60" cy="14"/>
              </a:xfrm>
              <a:custGeom>
                <a:avLst/>
                <a:gdLst>
                  <a:gd name="T0" fmla="*/ 0 w 60"/>
                  <a:gd name="T1" fmla="*/ 0 h 14"/>
                  <a:gd name="T2" fmla="*/ 8 w 60"/>
                  <a:gd name="T3" fmla="*/ 3 h 14"/>
                  <a:gd name="T4" fmla="*/ 60 w 60"/>
                  <a:gd name="T5" fmla="*/ 14 h 14"/>
                  <a:gd name="T6" fmla="*/ 0 60000 65536"/>
                  <a:gd name="T7" fmla="*/ 0 60000 65536"/>
                  <a:gd name="T8" fmla="*/ 0 60000 65536"/>
                </a:gdLst>
                <a:ahLst/>
                <a:cxnLst>
                  <a:cxn ang="T6">
                    <a:pos x="T0" y="T1"/>
                  </a:cxn>
                  <a:cxn ang="T7">
                    <a:pos x="T2" y="T3"/>
                  </a:cxn>
                  <a:cxn ang="T8">
                    <a:pos x="T4" y="T5"/>
                  </a:cxn>
                </a:cxnLst>
                <a:rect l="0" t="0" r="r" b="b"/>
                <a:pathLst>
                  <a:path w="60" h="14">
                    <a:moveTo>
                      <a:pt x="0" y="0"/>
                    </a:moveTo>
                    <a:lnTo>
                      <a:pt x="8" y="3"/>
                    </a:lnTo>
                    <a:lnTo>
                      <a:pt x="60" y="14"/>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5" name="Freeform 76">
                <a:extLst>
                  <a:ext uri="{FF2B5EF4-FFF2-40B4-BE49-F238E27FC236}">
                    <a16:creationId xmlns:a16="http://schemas.microsoft.com/office/drawing/2014/main" id="{3105F6A6-22F3-3D9E-152C-D6D5BD22CA5A}"/>
                  </a:ext>
                </a:extLst>
              </p:cNvPr>
              <p:cNvSpPr>
                <a:spLocks/>
              </p:cNvSpPr>
              <p:nvPr/>
            </p:nvSpPr>
            <p:spPr bwMode="auto">
              <a:xfrm>
                <a:off x="2076" y="2099"/>
                <a:ext cx="64" cy="9"/>
              </a:xfrm>
              <a:custGeom>
                <a:avLst/>
                <a:gdLst>
                  <a:gd name="T0" fmla="*/ 0 w 64"/>
                  <a:gd name="T1" fmla="*/ 0 h 9"/>
                  <a:gd name="T2" fmla="*/ 28 w 64"/>
                  <a:gd name="T3" fmla="*/ 6 h 9"/>
                  <a:gd name="T4" fmla="*/ 64 w 64"/>
                  <a:gd name="T5" fmla="*/ 9 h 9"/>
                  <a:gd name="T6" fmla="*/ 0 60000 65536"/>
                  <a:gd name="T7" fmla="*/ 0 60000 65536"/>
                  <a:gd name="T8" fmla="*/ 0 60000 65536"/>
                </a:gdLst>
                <a:ahLst/>
                <a:cxnLst>
                  <a:cxn ang="T6">
                    <a:pos x="T0" y="T1"/>
                  </a:cxn>
                  <a:cxn ang="T7">
                    <a:pos x="T2" y="T3"/>
                  </a:cxn>
                  <a:cxn ang="T8">
                    <a:pos x="T4" y="T5"/>
                  </a:cxn>
                </a:cxnLst>
                <a:rect l="0" t="0" r="r" b="b"/>
                <a:pathLst>
                  <a:path w="64" h="9">
                    <a:moveTo>
                      <a:pt x="0" y="0"/>
                    </a:moveTo>
                    <a:lnTo>
                      <a:pt x="28" y="6"/>
                    </a:lnTo>
                    <a:lnTo>
                      <a:pt x="64" y="9"/>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6" name="Freeform 77">
                <a:extLst>
                  <a:ext uri="{FF2B5EF4-FFF2-40B4-BE49-F238E27FC236}">
                    <a16:creationId xmlns:a16="http://schemas.microsoft.com/office/drawing/2014/main" id="{EEE2CB72-E439-BA32-8B61-528CE76DD740}"/>
                  </a:ext>
                </a:extLst>
              </p:cNvPr>
              <p:cNvSpPr>
                <a:spLocks/>
              </p:cNvSpPr>
              <p:nvPr/>
            </p:nvSpPr>
            <p:spPr bwMode="auto">
              <a:xfrm>
                <a:off x="2184" y="2114"/>
                <a:ext cx="64" cy="8"/>
              </a:xfrm>
              <a:custGeom>
                <a:avLst/>
                <a:gdLst>
                  <a:gd name="T0" fmla="*/ 0 w 64"/>
                  <a:gd name="T1" fmla="*/ 0 h 8"/>
                  <a:gd name="T2" fmla="*/ 52 w 64"/>
                  <a:gd name="T3" fmla="*/ 8 h 8"/>
                  <a:gd name="T4" fmla="*/ 64 w 64"/>
                  <a:gd name="T5" fmla="*/ 8 h 8"/>
                  <a:gd name="T6" fmla="*/ 0 60000 65536"/>
                  <a:gd name="T7" fmla="*/ 0 60000 65536"/>
                  <a:gd name="T8" fmla="*/ 0 60000 65536"/>
                </a:gdLst>
                <a:ahLst/>
                <a:cxnLst>
                  <a:cxn ang="T6">
                    <a:pos x="T0" y="T1"/>
                  </a:cxn>
                  <a:cxn ang="T7">
                    <a:pos x="T2" y="T3"/>
                  </a:cxn>
                  <a:cxn ang="T8">
                    <a:pos x="T4" y="T5"/>
                  </a:cxn>
                </a:cxnLst>
                <a:rect l="0" t="0" r="r" b="b"/>
                <a:pathLst>
                  <a:path w="64" h="8">
                    <a:moveTo>
                      <a:pt x="0" y="0"/>
                    </a:moveTo>
                    <a:lnTo>
                      <a:pt x="52" y="8"/>
                    </a:lnTo>
                    <a:lnTo>
                      <a:pt x="64" y="8"/>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97" name="Line 78">
                <a:extLst>
                  <a:ext uri="{FF2B5EF4-FFF2-40B4-BE49-F238E27FC236}">
                    <a16:creationId xmlns:a16="http://schemas.microsoft.com/office/drawing/2014/main" id="{952AEF84-DCF6-6419-15A1-3EA6CEC1F553}"/>
                  </a:ext>
                </a:extLst>
              </p:cNvPr>
              <p:cNvSpPr>
                <a:spLocks noChangeShapeType="1"/>
              </p:cNvSpPr>
              <p:nvPr/>
            </p:nvSpPr>
            <p:spPr bwMode="auto">
              <a:xfrm>
                <a:off x="2296" y="2128"/>
                <a:ext cx="64" cy="5"/>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98" name="Line 79">
                <a:extLst>
                  <a:ext uri="{FF2B5EF4-FFF2-40B4-BE49-F238E27FC236}">
                    <a16:creationId xmlns:a16="http://schemas.microsoft.com/office/drawing/2014/main" id="{1E7EDFD3-DAAE-2851-4FE3-B2B27D5A7806}"/>
                  </a:ext>
                </a:extLst>
              </p:cNvPr>
              <p:cNvSpPr>
                <a:spLocks noChangeShapeType="1"/>
              </p:cNvSpPr>
              <p:nvPr/>
            </p:nvSpPr>
            <p:spPr bwMode="auto">
              <a:xfrm>
                <a:off x="2408" y="2136"/>
                <a:ext cx="65" cy="3"/>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99" name="Line 80">
                <a:extLst>
                  <a:ext uri="{FF2B5EF4-FFF2-40B4-BE49-F238E27FC236}">
                    <a16:creationId xmlns:a16="http://schemas.microsoft.com/office/drawing/2014/main" id="{787EA1AD-5744-3BCD-5254-16F47DE0A5D0}"/>
                  </a:ext>
                </a:extLst>
              </p:cNvPr>
              <p:cNvSpPr>
                <a:spLocks noChangeShapeType="1"/>
              </p:cNvSpPr>
              <p:nvPr/>
            </p:nvSpPr>
            <p:spPr bwMode="auto">
              <a:xfrm>
                <a:off x="2521" y="2142"/>
                <a:ext cx="64" cy="3"/>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800" name="Line 81">
                <a:extLst>
                  <a:ext uri="{FF2B5EF4-FFF2-40B4-BE49-F238E27FC236}">
                    <a16:creationId xmlns:a16="http://schemas.microsoft.com/office/drawing/2014/main" id="{B82D5710-E307-965B-D331-DCAD874A2234}"/>
                  </a:ext>
                </a:extLst>
              </p:cNvPr>
              <p:cNvSpPr>
                <a:spLocks noChangeShapeType="1"/>
              </p:cNvSpPr>
              <p:nvPr/>
            </p:nvSpPr>
            <p:spPr bwMode="auto">
              <a:xfrm>
                <a:off x="2633" y="2145"/>
                <a:ext cx="64" cy="1"/>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71760" name="Group 82">
              <a:extLst>
                <a:ext uri="{FF2B5EF4-FFF2-40B4-BE49-F238E27FC236}">
                  <a16:creationId xmlns:a16="http://schemas.microsoft.com/office/drawing/2014/main" id="{053549A7-727F-0861-DEA2-D64CB09BBFEA}"/>
                </a:ext>
              </a:extLst>
            </p:cNvPr>
            <p:cNvGrpSpPr>
              <a:grpSpLocks/>
            </p:cNvGrpSpPr>
            <p:nvPr/>
          </p:nvGrpSpPr>
          <p:grpSpPr bwMode="auto">
            <a:xfrm>
              <a:off x="2745" y="2142"/>
              <a:ext cx="625" cy="4"/>
              <a:chOff x="2745" y="2142"/>
              <a:chExt cx="625" cy="4"/>
            </a:xfrm>
          </p:grpSpPr>
          <p:sp>
            <p:nvSpPr>
              <p:cNvPr id="71780" name="Freeform 83">
                <a:extLst>
                  <a:ext uri="{FF2B5EF4-FFF2-40B4-BE49-F238E27FC236}">
                    <a16:creationId xmlns:a16="http://schemas.microsoft.com/office/drawing/2014/main" id="{FF705914-0D9E-97CB-6DAC-E04AAAABBD6A}"/>
                  </a:ext>
                </a:extLst>
              </p:cNvPr>
              <p:cNvSpPr>
                <a:spLocks/>
              </p:cNvSpPr>
              <p:nvPr/>
            </p:nvSpPr>
            <p:spPr bwMode="auto">
              <a:xfrm>
                <a:off x="2745" y="2145"/>
                <a:ext cx="64" cy="1"/>
              </a:xfrm>
              <a:custGeom>
                <a:avLst/>
                <a:gdLst>
                  <a:gd name="T0" fmla="*/ 0 w 64"/>
                  <a:gd name="T1" fmla="*/ 0 h 1"/>
                  <a:gd name="T2" fmla="*/ 48 w 64"/>
                  <a:gd name="T3" fmla="*/ 0 h 1"/>
                  <a:gd name="T4" fmla="*/ 64 w 64"/>
                  <a:gd name="T5" fmla="*/ 0 h 1"/>
                  <a:gd name="T6" fmla="*/ 0 60000 65536"/>
                  <a:gd name="T7" fmla="*/ 0 60000 65536"/>
                  <a:gd name="T8" fmla="*/ 0 60000 65536"/>
                </a:gdLst>
                <a:ahLst/>
                <a:cxnLst>
                  <a:cxn ang="T6">
                    <a:pos x="T0" y="T1"/>
                  </a:cxn>
                  <a:cxn ang="T7">
                    <a:pos x="T2" y="T3"/>
                  </a:cxn>
                  <a:cxn ang="T8">
                    <a:pos x="T4" y="T5"/>
                  </a:cxn>
                </a:cxnLst>
                <a:rect l="0" t="0" r="r" b="b"/>
                <a:pathLst>
                  <a:path w="64" h="1">
                    <a:moveTo>
                      <a:pt x="0" y="0"/>
                    </a:moveTo>
                    <a:lnTo>
                      <a:pt x="48" y="0"/>
                    </a:lnTo>
                    <a:lnTo>
                      <a:pt x="6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81" name="Line 84">
                <a:extLst>
                  <a:ext uri="{FF2B5EF4-FFF2-40B4-BE49-F238E27FC236}">
                    <a16:creationId xmlns:a16="http://schemas.microsoft.com/office/drawing/2014/main" id="{1FFFE80D-D13C-619D-958C-8074B70A8EE8}"/>
                  </a:ext>
                </a:extLst>
              </p:cNvPr>
              <p:cNvSpPr>
                <a:spLocks noChangeShapeType="1"/>
              </p:cNvSpPr>
              <p:nvPr/>
            </p:nvSpPr>
            <p:spPr bwMode="auto">
              <a:xfrm>
                <a:off x="2857" y="2142"/>
                <a:ext cx="64" cy="1"/>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82" name="Line 85">
                <a:extLst>
                  <a:ext uri="{FF2B5EF4-FFF2-40B4-BE49-F238E27FC236}">
                    <a16:creationId xmlns:a16="http://schemas.microsoft.com/office/drawing/2014/main" id="{90C0D7F7-7F98-23A2-0DE4-50D93B13F4CD}"/>
                  </a:ext>
                </a:extLst>
              </p:cNvPr>
              <p:cNvSpPr>
                <a:spLocks noChangeShapeType="1"/>
              </p:cNvSpPr>
              <p:nvPr/>
            </p:nvSpPr>
            <p:spPr bwMode="auto">
              <a:xfrm>
                <a:off x="2969" y="2142"/>
                <a:ext cx="64" cy="1"/>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83" name="Freeform 86">
                <a:extLst>
                  <a:ext uri="{FF2B5EF4-FFF2-40B4-BE49-F238E27FC236}">
                    <a16:creationId xmlns:a16="http://schemas.microsoft.com/office/drawing/2014/main" id="{A31887E7-AF11-B512-A2E8-180FAE3B8561}"/>
                  </a:ext>
                </a:extLst>
              </p:cNvPr>
              <p:cNvSpPr>
                <a:spLocks/>
              </p:cNvSpPr>
              <p:nvPr/>
            </p:nvSpPr>
            <p:spPr bwMode="auto">
              <a:xfrm>
                <a:off x="3082" y="2142"/>
                <a:ext cx="64" cy="1"/>
              </a:xfrm>
              <a:custGeom>
                <a:avLst/>
                <a:gdLst>
                  <a:gd name="T0" fmla="*/ 0 w 64"/>
                  <a:gd name="T1" fmla="*/ 0 h 1"/>
                  <a:gd name="T2" fmla="*/ 48 w 64"/>
                  <a:gd name="T3" fmla="*/ 0 h 1"/>
                  <a:gd name="T4" fmla="*/ 64 w 64"/>
                  <a:gd name="T5" fmla="*/ 0 h 1"/>
                  <a:gd name="T6" fmla="*/ 0 60000 65536"/>
                  <a:gd name="T7" fmla="*/ 0 60000 65536"/>
                  <a:gd name="T8" fmla="*/ 0 60000 65536"/>
                </a:gdLst>
                <a:ahLst/>
                <a:cxnLst>
                  <a:cxn ang="T6">
                    <a:pos x="T0" y="T1"/>
                  </a:cxn>
                  <a:cxn ang="T7">
                    <a:pos x="T2" y="T3"/>
                  </a:cxn>
                  <a:cxn ang="T8">
                    <a:pos x="T4" y="T5"/>
                  </a:cxn>
                </a:cxnLst>
                <a:rect l="0" t="0" r="r" b="b"/>
                <a:pathLst>
                  <a:path w="64" h="1">
                    <a:moveTo>
                      <a:pt x="0" y="0"/>
                    </a:moveTo>
                    <a:lnTo>
                      <a:pt x="48" y="0"/>
                    </a:lnTo>
                    <a:lnTo>
                      <a:pt x="6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84" name="Line 87">
                <a:extLst>
                  <a:ext uri="{FF2B5EF4-FFF2-40B4-BE49-F238E27FC236}">
                    <a16:creationId xmlns:a16="http://schemas.microsoft.com/office/drawing/2014/main" id="{FB52CDA8-2610-27C5-28A7-B28A192425CE}"/>
                  </a:ext>
                </a:extLst>
              </p:cNvPr>
              <p:cNvSpPr>
                <a:spLocks noChangeShapeType="1"/>
              </p:cNvSpPr>
              <p:nvPr/>
            </p:nvSpPr>
            <p:spPr bwMode="auto">
              <a:xfrm>
                <a:off x="3194" y="2142"/>
                <a:ext cx="64" cy="3"/>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85" name="Line 88">
                <a:extLst>
                  <a:ext uri="{FF2B5EF4-FFF2-40B4-BE49-F238E27FC236}">
                    <a16:creationId xmlns:a16="http://schemas.microsoft.com/office/drawing/2014/main" id="{4FCFDBD3-2BF1-1322-7646-B0D35FF3DD82}"/>
                  </a:ext>
                </a:extLst>
              </p:cNvPr>
              <p:cNvSpPr>
                <a:spLocks noChangeShapeType="1"/>
              </p:cNvSpPr>
              <p:nvPr/>
            </p:nvSpPr>
            <p:spPr bwMode="auto">
              <a:xfrm>
                <a:off x="3306" y="2145"/>
                <a:ext cx="64" cy="1"/>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grpSp>
        <p:grpSp>
          <p:nvGrpSpPr>
            <p:cNvPr id="71761" name="Group 89">
              <a:extLst>
                <a:ext uri="{FF2B5EF4-FFF2-40B4-BE49-F238E27FC236}">
                  <a16:creationId xmlns:a16="http://schemas.microsoft.com/office/drawing/2014/main" id="{0511ACA3-8637-A81E-78F4-83CAC01F2484}"/>
                </a:ext>
              </a:extLst>
            </p:cNvPr>
            <p:cNvGrpSpPr>
              <a:grpSpLocks/>
            </p:cNvGrpSpPr>
            <p:nvPr/>
          </p:nvGrpSpPr>
          <p:grpSpPr bwMode="auto">
            <a:xfrm>
              <a:off x="3418" y="2012"/>
              <a:ext cx="821" cy="133"/>
              <a:chOff x="3418" y="2012"/>
              <a:chExt cx="821" cy="133"/>
            </a:xfrm>
          </p:grpSpPr>
          <p:sp>
            <p:nvSpPr>
              <p:cNvPr id="71772" name="Freeform 90">
                <a:extLst>
                  <a:ext uri="{FF2B5EF4-FFF2-40B4-BE49-F238E27FC236}">
                    <a16:creationId xmlns:a16="http://schemas.microsoft.com/office/drawing/2014/main" id="{825DE6A2-904F-7A09-A998-5396FD9C3416}"/>
                  </a:ext>
                </a:extLst>
              </p:cNvPr>
              <p:cNvSpPr>
                <a:spLocks/>
              </p:cNvSpPr>
              <p:nvPr/>
            </p:nvSpPr>
            <p:spPr bwMode="auto">
              <a:xfrm>
                <a:off x="3418" y="2142"/>
                <a:ext cx="64" cy="3"/>
              </a:xfrm>
              <a:custGeom>
                <a:avLst/>
                <a:gdLst>
                  <a:gd name="T0" fmla="*/ 0 w 64"/>
                  <a:gd name="T1" fmla="*/ 3 h 3"/>
                  <a:gd name="T2" fmla="*/ 36 w 64"/>
                  <a:gd name="T3" fmla="*/ 3 h 3"/>
                  <a:gd name="T4" fmla="*/ 64 w 64"/>
                  <a:gd name="T5" fmla="*/ 0 h 3"/>
                  <a:gd name="T6" fmla="*/ 0 60000 65536"/>
                  <a:gd name="T7" fmla="*/ 0 60000 65536"/>
                  <a:gd name="T8" fmla="*/ 0 60000 65536"/>
                </a:gdLst>
                <a:ahLst/>
                <a:cxnLst>
                  <a:cxn ang="T6">
                    <a:pos x="T0" y="T1"/>
                  </a:cxn>
                  <a:cxn ang="T7">
                    <a:pos x="T2" y="T3"/>
                  </a:cxn>
                  <a:cxn ang="T8">
                    <a:pos x="T4" y="T5"/>
                  </a:cxn>
                </a:cxnLst>
                <a:rect l="0" t="0" r="r" b="b"/>
                <a:pathLst>
                  <a:path w="64" h="3">
                    <a:moveTo>
                      <a:pt x="0" y="3"/>
                    </a:moveTo>
                    <a:lnTo>
                      <a:pt x="36" y="3"/>
                    </a:lnTo>
                    <a:lnTo>
                      <a:pt x="6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3" name="Freeform 91">
                <a:extLst>
                  <a:ext uri="{FF2B5EF4-FFF2-40B4-BE49-F238E27FC236}">
                    <a16:creationId xmlns:a16="http://schemas.microsoft.com/office/drawing/2014/main" id="{7EADCB4C-B690-6C20-7C32-96C6187E2BA4}"/>
                  </a:ext>
                </a:extLst>
              </p:cNvPr>
              <p:cNvSpPr>
                <a:spLocks/>
              </p:cNvSpPr>
              <p:nvPr/>
            </p:nvSpPr>
            <p:spPr bwMode="auto">
              <a:xfrm>
                <a:off x="3530" y="2136"/>
                <a:ext cx="64" cy="3"/>
              </a:xfrm>
              <a:custGeom>
                <a:avLst/>
                <a:gdLst>
                  <a:gd name="T0" fmla="*/ 0 w 64"/>
                  <a:gd name="T1" fmla="*/ 3 h 3"/>
                  <a:gd name="T2" fmla="*/ 0 w 64"/>
                  <a:gd name="T3" fmla="*/ 3 h 3"/>
                  <a:gd name="T4" fmla="*/ 64 w 64"/>
                  <a:gd name="T5" fmla="*/ 0 h 3"/>
                  <a:gd name="T6" fmla="*/ 0 60000 65536"/>
                  <a:gd name="T7" fmla="*/ 0 60000 65536"/>
                  <a:gd name="T8" fmla="*/ 0 60000 65536"/>
                </a:gdLst>
                <a:ahLst/>
                <a:cxnLst>
                  <a:cxn ang="T6">
                    <a:pos x="T0" y="T1"/>
                  </a:cxn>
                  <a:cxn ang="T7">
                    <a:pos x="T2" y="T3"/>
                  </a:cxn>
                  <a:cxn ang="T8">
                    <a:pos x="T4" y="T5"/>
                  </a:cxn>
                </a:cxnLst>
                <a:rect l="0" t="0" r="r" b="b"/>
                <a:pathLst>
                  <a:path w="64" h="3">
                    <a:moveTo>
                      <a:pt x="0" y="3"/>
                    </a:moveTo>
                    <a:lnTo>
                      <a:pt x="0" y="3"/>
                    </a:lnTo>
                    <a:lnTo>
                      <a:pt x="6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4" name="Freeform 92">
                <a:extLst>
                  <a:ext uri="{FF2B5EF4-FFF2-40B4-BE49-F238E27FC236}">
                    <a16:creationId xmlns:a16="http://schemas.microsoft.com/office/drawing/2014/main" id="{6ED8723B-4F19-8E7B-E432-DB7A58E20E2D}"/>
                  </a:ext>
                </a:extLst>
              </p:cNvPr>
              <p:cNvSpPr>
                <a:spLocks/>
              </p:cNvSpPr>
              <p:nvPr/>
            </p:nvSpPr>
            <p:spPr bwMode="auto">
              <a:xfrm>
                <a:off x="3638" y="2128"/>
                <a:ext cx="65" cy="5"/>
              </a:xfrm>
              <a:custGeom>
                <a:avLst/>
                <a:gdLst>
                  <a:gd name="T0" fmla="*/ 0 w 65"/>
                  <a:gd name="T1" fmla="*/ 5 h 5"/>
                  <a:gd name="T2" fmla="*/ 45 w 65"/>
                  <a:gd name="T3" fmla="*/ 0 h 5"/>
                  <a:gd name="T4" fmla="*/ 65 w 65"/>
                  <a:gd name="T5" fmla="*/ 0 h 5"/>
                  <a:gd name="T6" fmla="*/ 0 60000 65536"/>
                  <a:gd name="T7" fmla="*/ 0 60000 65536"/>
                  <a:gd name="T8" fmla="*/ 0 60000 65536"/>
                </a:gdLst>
                <a:ahLst/>
                <a:cxnLst>
                  <a:cxn ang="T6">
                    <a:pos x="T0" y="T1"/>
                  </a:cxn>
                  <a:cxn ang="T7">
                    <a:pos x="T2" y="T3"/>
                  </a:cxn>
                  <a:cxn ang="T8">
                    <a:pos x="T4" y="T5"/>
                  </a:cxn>
                </a:cxnLst>
                <a:rect l="0" t="0" r="r" b="b"/>
                <a:pathLst>
                  <a:path w="65" h="5">
                    <a:moveTo>
                      <a:pt x="0" y="5"/>
                    </a:moveTo>
                    <a:lnTo>
                      <a:pt x="45" y="0"/>
                    </a:lnTo>
                    <a:lnTo>
                      <a:pt x="65"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5" name="Freeform 93">
                <a:extLst>
                  <a:ext uri="{FF2B5EF4-FFF2-40B4-BE49-F238E27FC236}">
                    <a16:creationId xmlns:a16="http://schemas.microsoft.com/office/drawing/2014/main" id="{89112978-135B-502E-37D6-02B3329DC381}"/>
                  </a:ext>
                </a:extLst>
              </p:cNvPr>
              <p:cNvSpPr>
                <a:spLocks/>
              </p:cNvSpPr>
              <p:nvPr/>
            </p:nvSpPr>
            <p:spPr bwMode="auto">
              <a:xfrm>
                <a:off x="3751" y="2114"/>
                <a:ext cx="64" cy="8"/>
              </a:xfrm>
              <a:custGeom>
                <a:avLst/>
                <a:gdLst>
                  <a:gd name="T0" fmla="*/ 0 w 64"/>
                  <a:gd name="T1" fmla="*/ 8 h 8"/>
                  <a:gd name="T2" fmla="*/ 8 w 64"/>
                  <a:gd name="T3" fmla="*/ 5 h 8"/>
                  <a:gd name="T4" fmla="*/ 64 w 64"/>
                  <a:gd name="T5" fmla="*/ 0 h 8"/>
                  <a:gd name="T6" fmla="*/ 0 60000 65536"/>
                  <a:gd name="T7" fmla="*/ 0 60000 65536"/>
                  <a:gd name="T8" fmla="*/ 0 60000 65536"/>
                </a:gdLst>
                <a:ahLst/>
                <a:cxnLst>
                  <a:cxn ang="T6">
                    <a:pos x="T0" y="T1"/>
                  </a:cxn>
                  <a:cxn ang="T7">
                    <a:pos x="T2" y="T3"/>
                  </a:cxn>
                  <a:cxn ang="T8">
                    <a:pos x="T4" y="T5"/>
                  </a:cxn>
                </a:cxnLst>
                <a:rect l="0" t="0" r="r" b="b"/>
                <a:pathLst>
                  <a:path w="64" h="8">
                    <a:moveTo>
                      <a:pt x="0" y="8"/>
                    </a:moveTo>
                    <a:lnTo>
                      <a:pt x="8" y="5"/>
                    </a:lnTo>
                    <a:lnTo>
                      <a:pt x="6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6" name="Freeform 94">
                <a:extLst>
                  <a:ext uri="{FF2B5EF4-FFF2-40B4-BE49-F238E27FC236}">
                    <a16:creationId xmlns:a16="http://schemas.microsoft.com/office/drawing/2014/main" id="{1EF0C7F5-F8A4-BD19-736F-8C3BB6ED0C70}"/>
                  </a:ext>
                </a:extLst>
              </p:cNvPr>
              <p:cNvSpPr>
                <a:spLocks/>
              </p:cNvSpPr>
              <p:nvPr/>
            </p:nvSpPr>
            <p:spPr bwMode="auto">
              <a:xfrm>
                <a:off x="3863" y="2094"/>
                <a:ext cx="60" cy="11"/>
              </a:xfrm>
              <a:custGeom>
                <a:avLst/>
                <a:gdLst>
                  <a:gd name="T0" fmla="*/ 0 w 60"/>
                  <a:gd name="T1" fmla="*/ 11 h 11"/>
                  <a:gd name="T2" fmla="*/ 36 w 60"/>
                  <a:gd name="T3" fmla="*/ 5 h 11"/>
                  <a:gd name="T4" fmla="*/ 60 w 60"/>
                  <a:gd name="T5" fmla="*/ 0 h 11"/>
                  <a:gd name="T6" fmla="*/ 0 60000 65536"/>
                  <a:gd name="T7" fmla="*/ 0 60000 65536"/>
                  <a:gd name="T8" fmla="*/ 0 60000 65536"/>
                </a:gdLst>
                <a:ahLst/>
                <a:cxnLst>
                  <a:cxn ang="T6">
                    <a:pos x="T0" y="T1"/>
                  </a:cxn>
                  <a:cxn ang="T7">
                    <a:pos x="T2" y="T3"/>
                  </a:cxn>
                  <a:cxn ang="T8">
                    <a:pos x="T4" y="T5"/>
                  </a:cxn>
                </a:cxnLst>
                <a:rect l="0" t="0" r="r" b="b"/>
                <a:pathLst>
                  <a:path w="60" h="11">
                    <a:moveTo>
                      <a:pt x="0" y="11"/>
                    </a:moveTo>
                    <a:lnTo>
                      <a:pt x="36" y="5"/>
                    </a:lnTo>
                    <a:lnTo>
                      <a:pt x="60"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7" name="Freeform 95">
                <a:extLst>
                  <a:ext uri="{FF2B5EF4-FFF2-40B4-BE49-F238E27FC236}">
                    <a16:creationId xmlns:a16="http://schemas.microsoft.com/office/drawing/2014/main" id="{F5195C91-45AB-176B-B4F5-CB12EE81AD6E}"/>
                  </a:ext>
                </a:extLst>
              </p:cNvPr>
              <p:cNvSpPr>
                <a:spLocks/>
              </p:cNvSpPr>
              <p:nvPr/>
            </p:nvSpPr>
            <p:spPr bwMode="auto">
              <a:xfrm>
                <a:off x="3971" y="2071"/>
                <a:ext cx="60" cy="14"/>
              </a:xfrm>
              <a:custGeom>
                <a:avLst/>
                <a:gdLst>
                  <a:gd name="T0" fmla="*/ 0 w 60"/>
                  <a:gd name="T1" fmla="*/ 14 h 14"/>
                  <a:gd name="T2" fmla="*/ 60 w 60"/>
                  <a:gd name="T3" fmla="*/ 0 h 14"/>
                  <a:gd name="T4" fmla="*/ 60 w 60"/>
                  <a:gd name="T5" fmla="*/ 0 h 14"/>
                  <a:gd name="T6" fmla="*/ 0 60000 65536"/>
                  <a:gd name="T7" fmla="*/ 0 60000 65536"/>
                  <a:gd name="T8" fmla="*/ 0 60000 65536"/>
                </a:gdLst>
                <a:ahLst/>
                <a:cxnLst>
                  <a:cxn ang="T6">
                    <a:pos x="T0" y="T1"/>
                  </a:cxn>
                  <a:cxn ang="T7">
                    <a:pos x="T2" y="T3"/>
                  </a:cxn>
                  <a:cxn ang="T8">
                    <a:pos x="T4" y="T5"/>
                  </a:cxn>
                </a:cxnLst>
                <a:rect l="0" t="0" r="r" b="b"/>
                <a:pathLst>
                  <a:path w="60" h="14">
                    <a:moveTo>
                      <a:pt x="0" y="14"/>
                    </a:moveTo>
                    <a:lnTo>
                      <a:pt x="60"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8" name="Freeform 96">
                <a:extLst>
                  <a:ext uri="{FF2B5EF4-FFF2-40B4-BE49-F238E27FC236}">
                    <a16:creationId xmlns:a16="http://schemas.microsoft.com/office/drawing/2014/main" id="{2653065D-2DCB-1247-41A4-0DA7A4870421}"/>
                  </a:ext>
                </a:extLst>
              </p:cNvPr>
              <p:cNvSpPr>
                <a:spLocks/>
              </p:cNvSpPr>
              <p:nvPr/>
            </p:nvSpPr>
            <p:spPr bwMode="auto">
              <a:xfrm>
                <a:off x="4075" y="2043"/>
                <a:ext cx="60" cy="17"/>
              </a:xfrm>
              <a:custGeom>
                <a:avLst/>
                <a:gdLst>
                  <a:gd name="T0" fmla="*/ 0 w 60"/>
                  <a:gd name="T1" fmla="*/ 17 h 17"/>
                  <a:gd name="T2" fmla="*/ 20 w 60"/>
                  <a:gd name="T3" fmla="*/ 14 h 17"/>
                  <a:gd name="T4" fmla="*/ 60 w 60"/>
                  <a:gd name="T5" fmla="*/ 0 h 17"/>
                  <a:gd name="T6" fmla="*/ 0 60000 65536"/>
                  <a:gd name="T7" fmla="*/ 0 60000 65536"/>
                  <a:gd name="T8" fmla="*/ 0 60000 65536"/>
                </a:gdLst>
                <a:ahLst/>
                <a:cxnLst>
                  <a:cxn ang="T6">
                    <a:pos x="T0" y="T1"/>
                  </a:cxn>
                  <a:cxn ang="T7">
                    <a:pos x="T2" y="T3"/>
                  </a:cxn>
                  <a:cxn ang="T8">
                    <a:pos x="T4" y="T5"/>
                  </a:cxn>
                </a:cxnLst>
                <a:rect l="0" t="0" r="r" b="b"/>
                <a:pathLst>
                  <a:path w="60" h="17">
                    <a:moveTo>
                      <a:pt x="0" y="17"/>
                    </a:moveTo>
                    <a:lnTo>
                      <a:pt x="20" y="14"/>
                    </a:lnTo>
                    <a:lnTo>
                      <a:pt x="60"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9" name="Freeform 97">
                <a:extLst>
                  <a:ext uri="{FF2B5EF4-FFF2-40B4-BE49-F238E27FC236}">
                    <a16:creationId xmlns:a16="http://schemas.microsoft.com/office/drawing/2014/main" id="{63D690AB-B45B-DDBF-10B2-E2F020A5B51C}"/>
                  </a:ext>
                </a:extLst>
              </p:cNvPr>
              <p:cNvSpPr>
                <a:spLocks/>
              </p:cNvSpPr>
              <p:nvPr/>
            </p:nvSpPr>
            <p:spPr bwMode="auto">
              <a:xfrm>
                <a:off x="4179" y="2012"/>
                <a:ext cx="60" cy="19"/>
              </a:xfrm>
              <a:custGeom>
                <a:avLst/>
                <a:gdLst>
                  <a:gd name="T0" fmla="*/ 0 w 60"/>
                  <a:gd name="T1" fmla="*/ 19 h 19"/>
                  <a:gd name="T2" fmla="*/ 36 w 60"/>
                  <a:gd name="T3" fmla="*/ 8 h 19"/>
                  <a:gd name="T4" fmla="*/ 60 w 60"/>
                  <a:gd name="T5" fmla="*/ 0 h 19"/>
                  <a:gd name="T6" fmla="*/ 0 60000 65536"/>
                  <a:gd name="T7" fmla="*/ 0 60000 65536"/>
                  <a:gd name="T8" fmla="*/ 0 60000 65536"/>
                </a:gdLst>
                <a:ahLst/>
                <a:cxnLst>
                  <a:cxn ang="T6">
                    <a:pos x="T0" y="T1"/>
                  </a:cxn>
                  <a:cxn ang="T7">
                    <a:pos x="T2" y="T3"/>
                  </a:cxn>
                  <a:cxn ang="T8">
                    <a:pos x="T4" y="T5"/>
                  </a:cxn>
                </a:cxnLst>
                <a:rect l="0" t="0" r="r" b="b"/>
                <a:pathLst>
                  <a:path w="60" h="19">
                    <a:moveTo>
                      <a:pt x="0" y="19"/>
                    </a:moveTo>
                    <a:lnTo>
                      <a:pt x="36" y="8"/>
                    </a:lnTo>
                    <a:lnTo>
                      <a:pt x="60"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grpSp>
          <p:nvGrpSpPr>
            <p:cNvPr id="71762" name="Group 98">
              <a:extLst>
                <a:ext uri="{FF2B5EF4-FFF2-40B4-BE49-F238E27FC236}">
                  <a16:creationId xmlns:a16="http://schemas.microsoft.com/office/drawing/2014/main" id="{1D61487C-6D41-5FA9-050B-77328AB4B81A}"/>
                </a:ext>
              </a:extLst>
            </p:cNvPr>
            <p:cNvGrpSpPr>
              <a:grpSpLocks/>
            </p:cNvGrpSpPr>
            <p:nvPr/>
          </p:nvGrpSpPr>
          <p:grpSpPr bwMode="auto">
            <a:xfrm>
              <a:off x="4284" y="1539"/>
              <a:ext cx="585" cy="458"/>
              <a:chOff x="4284" y="1539"/>
              <a:chExt cx="585" cy="458"/>
            </a:xfrm>
          </p:grpSpPr>
          <p:sp>
            <p:nvSpPr>
              <p:cNvPr id="71763" name="Line 99">
                <a:extLst>
                  <a:ext uri="{FF2B5EF4-FFF2-40B4-BE49-F238E27FC236}">
                    <a16:creationId xmlns:a16="http://schemas.microsoft.com/office/drawing/2014/main" id="{65F7CC49-2D25-0E48-79FC-1787514FE367}"/>
                  </a:ext>
                </a:extLst>
              </p:cNvPr>
              <p:cNvSpPr>
                <a:spLocks noChangeShapeType="1"/>
              </p:cNvSpPr>
              <p:nvPr/>
            </p:nvSpPr>
            <p:spPr bwMode="auto">
              <a:xfrm>
                <a:off x="4868" y="1539"/>
                <a:ext cx="1" cy="34"/>
              </a:xfrm>
              <a:prstGeom prst="line">
                <a:avLst/>
              </a:prstGeom>
              <a:noFill/>
              <a:ln w="57150">
                <a:solidFill>
                  <a:srgbClr val="00808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64" name="Freeform 100">
                <a:extLst>
                  <a:ext uri="{FF2B5EF4-FFF2-40B4-BE49-F238E27FC236}">
                    <a16:creationId xmlns:a16="http://schemas.microsoft.com/office/drawing/2014/main" id="{98154C7F-777C-E8A3-BE9D-36DB8FD24ED9}"/>
                  </a:ext>
                </a:extLst>
              </p:cNvPr>
              <p:cNvSpPr>
                <a:spLocks/>
              </p:cNvSpPr>
              <p:nvPr/>
            </p:nvSpPr>
            <p:spPr bwMode="auto">
              <a:xfrm>
                <a:off x="4284" y="1975"/>
                <a:ext cx="56" cy="22"/>
              </a:xfrm>
              <a:custGeom>
                <a:avLst/>
                <a:gdLst>
                  <a:gd name="T0" fmla="*/ 0 w 56"/>
                  <a:gd name="T1" fmla="*/ 22 h 22"/>
                  <a:gd name="T2" fmla="*/ 44 w 56"/>
                  <a:gd name="T3" fmla="*/ 3 h 22"/>
                  <a:gd name="T4" fmla="*/ 56 w 56"/>
                  <a:gd name="T5" fmla="*/ 0 h 22"/>
                  <a:gd name="T6" fmla="*/ 0 60000 65536"/>
                  <a:gd name="T7" fmla="*/ 0 60000 65536"/>
                  <a:gd name="T8" fmla="*/ 0 60000 65536"/>
                </a:gdLst>
                <a:ahLst/>
                <a:cxnLst>
                  <a:cxn ang="T6">
                    <a:pos x="T0" y="T1"/>
                  </a:cxn>
                  <a:cxn ang="T7">
                    <a:pos x="T2" y="T3"/>
                  </a:cxn>
                  <a:cxn ang="T8">
                    <a:pos x="T4" y="T5"/>
                  </a:cxn>
                </a:cxnLst>
                <a:rect l="0" t="0" r="r" b="b"/>
                <a:pathLst>
                  <a:path w="56" h="22">
                    <a:moveTo>
                      <a:pt x="0" y="22"/>
                    </a:moveTo>
                    <a:lnTo>
                      <a:pt x="44" y="3"/>
                    </a:lnTo>
                    <a:lnTo>
                      <a:pt x="56"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65" name="Freeform 101">
                <a:extLst>
                  <a:ext uri="{FF2B5EF4-FFF2-40B4-BE49-F238E27FC236}">
                    <a16:creationId xmlns:a16="http://schemas.microsoft.com/office/drawing/2014/main" id="{3CAACC91-FCD4-6102-66C6-A6FF7DF72E8F}"/>
                  </a:ext>
                </a:extLst>
              </p:cNvPr>
              <p:cNvSpPr>
                <a:spLocks/>
              </p:cNvSpPr>
              <p:nvPr/>
            </p:nvSpPr>
            <p:spPr bwMode="auto">
              <a:xfrm>
                <a:off x="4380" y="1932"/>
                <a:ext cx="52" cy="26"/>
              </a:xfrm>
              <a:custGeom>
                <a:avLst/>
                <a:gdLst>
                  <a:gd name="T0" fmla="*/ 0 w 52"/>
                  <a:gd name="T1" fmla="*/ 26 h 26"/>
                  <a:gd name="T2" fmla="*/ 4 w 52"/>
                  <a:gd name="T3" fmla="*/ 23 h 26"/>
                  <a:gd name="T4" fmla="*/ 52 w 52"/>
                  <a:gd name="T5" fmla="*/ 0 h 26"/>
                  <a:gd name="T6" fmla="*/ 52 w 52"/>
                  <a:gd name="T7" fmla="*/ 0 h 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6">
                    <a:moveTo>
                      <a:pt x="0" y="26"/>
                    </a:moveTo>
                    <a:lnTo>
                      <a:pt x="4" y="23"/>
                    </a:lnTo>
                    <a:lnTo>
                      <a:pt x="52"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66" name="Freeform 102">
                <a:extLst>
                  <a:ext uri="{FF2B5EF4-FFF2-40B4-BE49-F238E27FC236}">
                    <a16:creationId xmlns:a16="http://schemas.microsoft.com/office/drawing/2014/main" id="{83D09428-AFD1-C674-E52D-6C92B728888F}"/>
                  </a:ext>
                </a:extLst>
              </p:cNvPr>
              <p:cNvSpPr>
                <a:spLocks/>
              </p:cNvSpPr>
              <p:nvPr/>
            </p:nvSpPr>
            <p:spPr bwMode="auto">
              <a:xfrm>
                <a:off x="4472" y="1884"/>
                <a:ext cx="52" cy="28"/>
              </a:xfrm>
              <a:custGeom>
                <a:avLst/>
                <a:gdLst>
                  <a:gd name="T0" fmla="*/ 0 w 52"/>
                  <a:gd name="T1" fmla="*/ 28 h 28"/>
                  <a:gd name="T2" fmla="*/ 8 w 52"/>
                  <a:gd name="T3" fmla="*/ 26 h 28"/>
                  <a:gd name="T4" fmla="*/ 52 w 52"/>
                  <a:gd name="T5" fmla="*/ 0 h 28"/>
                  <a:gd name="T6" fmla="*/ 0 60000 65536"/>
                  <a:gd name="T7" fmla="*/ 0 60000 65536"/>
                  <a:gd name="T8" fmla="*/ 0 60000 65536"/>
                </a:gdLst>
                <a:ahLst/>
                <a:cxnLst>
                  <a:cxn ang="T6">
                    <a:pos x="T0" y="T1"/>
                  </a:cxn>
                  <a:cxn ang="T7">
                    <a:pos x="T2" y="T3"/>
                  </a:cxn>
                  <a:cxn ang="T8">
                    <a:pos x="T4" y="T5"/>
                  </a:cxn>
                </a:cxnLst>
                <a:rect l="0" t="0" r="r" b="b"/>
                <a:pathLst>
                  <a:path w="52" h="28">
                    <a:moveTo>
                      <a:pt x="0" y="28"/>
                    </a:moveTo>
                    <a:lnTo>
                      <a:pt x="8" y="26"/>
                    </a:lnTo>
                    <a:lnTo>
                      <a:pt x="52"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67" name="Freeform 103">
                <a:extLst>
                  <a:ext uri="{FF2B5EF4-FFF2-40B4-BE49-F238E27FC236}">
                    <a16:creationId xmlns:a16="http://schemas.microsoft.com/office/drawing/2014/main" id="{475025B8-50B3-66F6-6FCF-44976B8C0037}"/>
                  </a:ext>
                </a:extLst>
              </p:cNvPr>
              <p:cNvSpPr>
                <a:spLocks/>
              </p:cNvSpPr>
              <p:nvPr/>
            </p:nvSpPr>
            <p:spPr bwMode="auto">
              <a:xfrm>
                <a:off x="4560" y="1833"/>
                <a:ext cx="48" cy="31"/>
              </a:xfrm>
              <a:custGeom>
                <a:avLst/>
                <a:gdLst>
                  <a:gd name="T0" fmla="*/ 0 w 48"/>
                  <a:gd name="T1" fmla="*/ 31 h 31"/>
                  <a:gd name="T2" fmla="*/ 12 w 48"/>
                  <a:gd name="T3" fmla="*/ 23 h 31"/>
                  <a:gd name="T4" fmla="*/ 48 w 48"/>
                  <a:gd name="T5" fmla="*/ 0 h 31"/>
                  <a:gd name="T6" fmla="*/ 0 60000 65536"/>
                  <a:gd name="T7" fmla="*/ 0 60000 65536"/>
                  <a:gd name="T8" fmla="*/ 0 60000 65536"/>
                </a:gdLst>
                <a:ahLst/>
                <a:cxnLst>
                  <a:cxn ang="T6">
                    <a:pos x="T0" y="T1"/>
                  </a:cxn>
                  <a:cxn ang="T7">
                    <a:pos x="T2" y="T3"/>
                  </a:cxn>
                  <a:cxn ang="T8">
                    <a:pos x="T4" y="T5"/>
                  </a:cxn>
                </a:cxnLst>
                <a:rect l="0" t="0" r="r" b="b"/>
                <a:pathLst>
                  <a:path w="48" h="31">
                    <a:moveTo>
                      <a:pt x="0" y="31"/>
                    </a:moveTo>
                    <a:lnTo>
                      <a:pt x="12" y="23"/>
                    </a:lnTo>
                    <a:lnTo>
                      <a:pt x="48"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68" name="Freeform 104">
                <a:extLst>
                  <a:ext uri="{FF2B5EF4-FFF2-40B4-BE49-F238E27FC236}">
                    <a16:creationId xmlns:a16="http://schemas.microsoft.com/office/drawing/2014/main" id="{ACE2BD78-23E4-A7EA-392B-17194578BDB4}"/>
                  </a:ext>
                </a:extLst>
              </p:cNvPr>
              <p:cNvSpPr>
                <a:spLocks/>
              </p:cNvSpPr>
              <p:nvPr/>
            </p:nvSpPr>
            <p:spPr bwMode="auto">
              <a:xfrm>
                <a:off x="4640" y="1777"/>
                <a:ext cx="44" cy="34"/>
              </a:xfrm>
              <a:custGeom>
                <a:avLst/>
                <a:gdLst>
                  <a:gd name="T0" fmla="*/ 0 w 44"/>
                  <a:gd name="T1" fmla="*/ 34 h 34"/>
                  <a:gd name="T2" fmla="*/ 16 w 44"/>
                  <a:gd name="T3" fmla="*/ 22 h 34"/>
                  <a:gd name="T4" fmla="*/ 44 w 44"/>
                  <a:gd name="T5" fmla="*/ 0 h 34"/>
                  <a:gd name="T6" fmla="*/ 0 60000 65536"/>
                  <a:gd name="T7" fmla="*/ 0 60000 65536"/>
                  <a:gd name="T8" fmla="*/ 0 60000 65536"/>
                </a:gdLst>
                <a:ahLst/>
                <a:cxnLst>
                  <a:cxn ang="T6">
                    <a:pos x="T0" y="T1"/>
                  </a:cxn>
                  <a:cxn ang="T7">
                    <a:pos x="T2" y="T3"/>
                  </a:cxn>
                  <a:cxn ang="T8">
                    <a:pos x="T4" y="T5"/>
                  </a:cxn>
                </a:cxnLst>
                <a:rect l="0" t="0" r="r" b="b"/>
                <a:pathLst>
                  <a:path w="44" h="34">
                    <a:moveTo>
                      <a:pt x="0" y="34"/>
                    </a:moveTo>
                    <a:lnTo>
                      <a:pt x="16" y="22"/>
                    </a:lnTo>
                    <a:lnTo>
                      <a:pt x="44"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69" name="Freeform 105">
                <a:extLst>
                  <a:ext uri="{FF2B5EF4-FFF2-40B4-BE49-F238E27FC236}">
                    <a16:creationId xmlns:a16="http://schemas.microsoft.com/office/drawing/2014/main" id="{49C1FF2B-F78C-18A1-55C1-D879CDC8B61E}"/>
                  </a:ext>
                </a:extLst>
              </p:cNvPr>
              <p:cNvSpPr>
                <a:spLocks/>
              </p:cNvSpPr>
              <p:nvPr/>
            </p:nvSpPr>
            <p:spPr bwMode="auto">
              <a:xfrm>
                <a:off x="4716" y="1714"/>
                <a:ext cx="40" cy="37"/>
              </a:xfrm>
              <a:custGeom>
                <a:avLst/>
                <a:gdLst>
                  <a:gd name="T0" fmla="*/ 0 w 40"/>
                  <a:gd name="T1" fmla="*/ 37 h 37"/>
                  <a:gd name="T2" fmla="*/ 12 w 40"/>
                  <a:gd name="T3" fmla="*/ 26 h 37"/>
                  <a:gd name="T4" fmla="*/ 40 w 40"/>
                  <a:gd name="T5" fmla="*/ 0 h 37"/>
                  <a:gd name="T6" fmla="*/ 0 60000 65536"/>
                  <a:gd name="T7" fmla="*/ 0 60000 65536"/>
                  <a:gd name="T8" fmla="*/ 0 60000 65536"/>
                </a:gdLst>
                <a:ahLst/>
                <a:cxnLst>
                  <a:cxn ang="T6">
                    <a:pos x="T0" y="T1"/>
                  </a:cxn>
                  <a:cxn ang="T7">
                    <a:pos x="T2" y="T3"/>
                  </a:cxn>
                  <a:cxn ang="T8">
                    <a:pos x="T4" y="T5"/>
                  </a:cxn>
                </a:cxnLst>
                <a:rect l="0" t="0" r="r" b="b"/>
                <a:pathLst>
                  <a:path w="40" h="37">
                    <a:moveTo>
                      <a:pt x="0" y="37"/>
                    </a:moveTo>
                    <a:lnTo>
                      <a:pt x="12" y="26"/>
                    </a:lnTo>
                    <a:lnTo>
                      <a:pt x="40"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0" name="Freeform 106">
                <a:extLst>
                  <a:ext uri="{FF2B5EF4-FFF2-40B4-BE49-F238E27FC236}">
                    <a16:creationId xmlns:a16="http://schemas.microsoft.com/office/drawing/2014/main" id="{15CAE6FA-F8BD-4C7F-04A6-FAC47FB5B050}"/>
                  </a:ext>
                </a:extLst>
              </p:cNvPr>
              <p:cNvSpPr>
                <a:spLocks/>
              </p:cNvSpPr>
              <p:nvPr/>
            </p:nvSpPr>
            <p:spPr bwMode="auto">
              <a:xfrm>
                <a:off x="4780" y="1649"/>
                <a:ext cx="36" cy="37"/>
              </a:xfrm>
              <a:custGeom>
                <a:avLst/>
                <a:gdLst>
                  <a:gd name="T0" fmla="*/ 0 w 36"/>
                  <a:gd name="T1" fmla="*/ 37 h 37"/>
                  <a:gd name="T2" fmla="*/ 8 w 36"/>
                  <a:gd name="T3" fmla="*/ 31 h 37"/>
                  <a:gd name="T4" fmla="*/ 36 w 36"/>
                  <a:gd name="T5" fmla="*/ 0 h 37"/>
                  <a:gd name="T6" fmla="*/ 0 60000 65536"/>
                  <a:gd name="T7" fmla="*/ 0 60000 65536"/>
                  <a:gd name="T8" fmla="*/ 0 60000 65536"/>
                </a:gdLst>
                <a:ahLst/>
                <a:cxnLst>
                  <a:cxn ang="T6">
                    <a:pos x="T0" y="T1"/>
                  </a:cxn>
                  <a:cxn ang="T7">
                    <a:pos x="T2" y="T3"/>
                  </a:cxn>
                  <a:cxn ang="T8">
                    <a:pos x="T4" y="T5"/>
                  </a:cxn>
                </a:cxnLst>
                <a:rect l="0" t="0" r="r" b="b"/>
                <a:pathLst>
                  <a:path w="36" h="37">
                    <a:moveTo>
                      <a:pt x="0" y="37"/>
                    </a:moveTo>
                    <a:lnTo>
                      <a:pt x="8" y="31"/>
                    </a:lnTo>
                    <a:lnTo>
                      <a:pt x="36"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1771" name="Freeform 107">
                <a:extLst>
                  <a:ext uri="{FF2B5EF4-FFF2-40B4-BE49-F238E27FC236}">
                    <a16:creationId xmlns:a16="http://schemas.microsoft.com/office/drawing/2014/main" id="{19296111-539A-CB31-A56F-A14BAC1A3648}"/>
                  </a:ext>
                </a:extLst>
              </p:cNvPr>
              <p:cNvSpPr>
                <a:spLocks/>
              </p:cNvSpPr>
              <p:nvPr/>
            </p:nvSpPr>
            <p:spPr bwMode="auto">
              <a:xfrm>
                <a:off x="4840" y="1578"/>
                <a:ext cx="28" cy="40"/>
              </a:xfrm>
              <a:custGeom>
                <a:avLst/>
                <a:gdLst>
                  <a:gd name="T0" fmla="*/ 0 w 28"/>
                  <a:gd name="T1" fmla="*/ 40 h 40"/>
                  <a:gd name="T2" fmla="*/ 0 w 28"/>
                  <a:gd name="T3" fmla="*/ 37 h 40"/>
                  <a:gd name="T4" fmla="*/ 24 w 28"/>
                  <a:gd name="T5" fmla="*/ 3 h 40"/>
                  <a:gd name="T6" fmla="*/ 28 w 28"/>
                  <a:gd name="T7" fmla="*/ 0 h 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0">
                    <a:moveTo>
                      <a:pt x="0" y="40"/>
                    </a:moveTo>
                    <a:lnTo>
                      <a:pt x="0" y="37"/>
                    </a:lnTo>
                    <a:lnTo>
                      <a:pt x="24" y="3"/>
                    </a:lnTo>
                    <a:lnTo>
                      <a:pt x="28" y="0"/>
                    </a:lnTo>
                  </a:path>
                </a:pathLst>
              </a:custGeom>
              <a:noFill/>
              <a:ln w="57150" cmpd="sng">
                <a:solidFill>
                  <a:srgbClr val="008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grpSp>
      <p:sp>
        <p:nvSpPr>
          <p:cNvPr id="102508" name="Line 108">
            <a:extLst>
              <a:ext uri="{FF2B5EF4-FFF2-40B4-BE49-F238E27FC236}">
                <a16:creationId xmlns:a16="http://schemas.microsoft.com/office/drawing/2014/main" id="{586E93A2-8BC7-FD11-8DBC-C96DF6CA3AAF}"/>
              </a:ext>
            </a:extLst>
          </p:cNvPr>
          <p:cNvSpPr>
            <a:spLocks noChangeShapeType="1"/>
          </p:cNvSpPr>
          <p:nvPr/>
        </p:nvSpPr>
        <p:spPr bwMode="auto">
          <a:xfrm>
            <a:off x="6726238" y="4354513"/>
            <a:ext cx="1587" cy="3190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102509" name="Rectangle 109">
            <a:extLst>
              <a:ext uri="{FF2B5EF4-FFF2-40B4-BE49-F238E27FC236}">
                <a16:creationId xmlns:a16="http://schemas.microsoft.com/office/drawing/2014/main" id="{7684C0F6-AF20-EE5F-6128-AF90606B1863}"/>
              </a:ext>
            </a:extLst>
          </p:cNvPr>
          <p:cNvSpPr>
            <a:spLocks noChangeArrowheads="1"/>
          </p:cNvSpPr>
          <p:nvPr/>
        </p:nvSpPr>
        <p:spPr bwMode="auto">
          <a:xfrm>
            <a:off x="6535738" y="4673600"/>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175</a:t>
            </a:r>
            <a:endParaRPr lang="en-US" altLang="en-US" sz="1800">
              <a:latin typeface="Arial" panose="020B0604020202020204" pitchFamily="34" charset="0"/>
            </a:endParaRPr>
          </a:p>
        </p:txBody>
      </p:sp>
      <p:grpSp>
        <p:nvGrpSpPr>
          <p:cNvPr id="102510" name="Group 110">
            <a:extLst>
              <a:ext uri="{FF2B5EF4-FFF2-40B4-BE49-F238E27FC236}">
                <a16:creationId xmlns:a16="http://schemas.microsoft.com/office/drawing/2014/main" id="{6F6A3739-3108-27E3-0BC5-40995A955EE7}"/>
              </a:ext>
            </a:extLst>
          </p:cNvPr>
          <p:cNvGrpSpPr>
            <a:grpSpLocks/>
          </p:cNvGrpSpPr>
          <p:nvPr/>
        </p:nvGrpSpPr>
        <p:grpSpPr bwMode="auto">
          <a:xfrm>
            <a:off x="2359025" y="1676400"/>
            <a:ext cx="7216775" cy="4495800"/>
            <a:chOff x="499" y="1104"/>
            <a:chExt cx="4546" cy="2832"/>
          </a:xfrm>
        </p:grpSpPr>
        <p:sp>
          <p:nvSpPr>
            <p:cNvPr id="71727" name="Line 111">
              <a:extLst>
                <a:ext uri="{FF2B5EF4-FFF2-40B4-BE49-F238E27FC236}">
                  <a16:creationId xmlns:a16="http://schemas.microsoft.com/office/drawing/2014/main" id="{06EBA2B7-6998-8138-CF67-61F1A1DFB17E}"/>
                </a:ext>
              </a:extLst>
            </p:cNvPr>
            <p:cNvSpPr>
              <a:spLocks noChangeShapeType="1"/>
            </p:cNvSpPr>
            <p:nvPr/>
          </p:nvSpPr>
          <p:spPr bwMode="auto">
            <a:xfrm>
              <a:off x="3522" y="2791"/>
              <a:ext cx="1"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28" name="Rectangle 112">
              <a:extLst>
                <a:ext uri="{FF2B5EF4-FFF2-40B4-BE49-F238E27FC236}">
                  <a16:creationId xmlns:a16="http://schemas.microsoft.com/office/drawing/2014/main" id="{775299A7-0BA6-CD1B-5181-E5EEBBBD9EBE}"/>
                </a:ext>
              </a:extLst>
            </p:cNvPr>
            <p:cNvSpPr>
              <a:spLocks noChangeArrowheads="1"/>
            </p:cNvSpPr>
            <p:nvPr/>
          </p:nvSpPr>
          <p:spPr bwMode="auto">
            <a:xfrm>
              <a:off x="3394" y="2992"/>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196</a:t>
              </a:r>
              <a:endParaRPr lang="en-US" altLang="en-US" sz="1800">
                <a:latin typeface="Arial" panose="020B0604020202020204" pitchFamily="34" charset="0"/>
              </a:endParaRPr>
            </a:p>
          </p:txBody>
        </p:sp>
        <p:grpSp>
          <p:nvGrpSpPr>
            <p:cNvPr id="71729" name="Group 113">
              <a:extLst>
                <a:ext uri="{FF2B5EF4-FFF2-40B4-BE49-F238E27FC236}">
                  <a16:creationId xmlns:a16="http://schemas.microsoft.com/office/drawing/2014/main" id="{34F672D2-9720-7095-1C86-B6C0332B5240}"/>
                </a:ext>
              </a:extLst>
            </p:cNvPr>
            <p:cNvGrpSpPr>
              <a:grpSpLocks/>
            </p:cNvGrpSpPr>
            <p:nvPr/>
          </p:nvGrpSpPr>
          <p:grpSpPr bwMode="auto">
            <a:xfrm>
              <a:off x="499" y="1104"/>
              <a:ext cx="4546" cy="2832"/>
              <a:chOff x="499" y="1104"/>
              <a:chExt cx="4546" cy="2832"/>
            </a:xfrm>
          </p:grpSpPr>
          <p:sp>
            <p:nvSpPr>
              <p:cNvPr id="71730" name="Freeform 114">
                <a:extLst>
                  <a:ext uri="{FF2B5EF4-FFF2-40B4-BE49-F238E27FC236}">
                    <a16:creationId xmlns:a16="http://schemas.microsoft.com/office/drawing/2014/main" id="{87C29620-DA83-539D-A7E8-CFAAF2145AB3}"/>
                  </a:ext>
                </a:extLst>
              </p:cNvPr>
              <p:cNvSpPr>
                <a:spLocks/>
              </p:cNvSpPr>
              <p:nvPr/>
            </p:nvSpPr>
            <p:spPr bwMode="auto">
              <a:xfrm>
                <a:off x="970" y="1104"/>
                <a:ext cx="4075" cy="1684"/>
              </a:xfrm>
              <a:custGeom>
                <a:avLst/>
                <a:gdLst>
                  <a:gd name="T0" fmla="*/ 0 w 4075"/>
                  <a:gd name="T1" fmla="*/ 0 h 1519"/>
                  <a:gd name="T2" fmla="*/ 0 w 4075"/>
                  <a:gd name="T3" fmla="*/ 7133 h 1519"/>
                  <a:gd name="T4" fmla="*/ 4075 w 4075"/>
                  <a:gd name="T5" fmla="*/ 7133 h 1519"/>
                  <a:gd name="T6" fmla="*/ 0 60000 65536"/>
                  <a:gd name="T7" fmla="*/ 0 60000 65536"/>
                  <a:gd name="T8" fmla="*/ 0 60000 65536"/>
                </a:gdLst>
                <a:ahLst/>
                <a:cxnLst>
                  <a:cxn ang="T6">
                    <a:pos x="T0" y="T1"/>
                  </a:cxn>
                  <a:cxn ang="T7">
                    <a:pos x="T2" y="T3"/>
                  </a:cxn>
                  <a:cxn ang="T8">
                    <a:pos x="T4" y="T5"/>
                  </a:cxn>
                </a:cxnLst>
                <a:rect l="0" t="0" r="r" b="b"/>
                <a:pathLst>
                  <a:path w="4075" h="1519">
                    <a:moveTo>
                      <a:pt x="0" y="0"/>
                    </a:moveTo>
                    <a:lnTo>
                      <a:pt x="0" y="1519"/>
                    </a:lnTo>
                    <a:lnTo>
                      <a:pt x="4075" y="1519"/>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grpSp>
            <p:nvGrpSpPr>
              <p:cNvPr id="71731" name="Group 115">
                <a:extLst>
                  <a:ext uri="{FF2B5EF4-FFF2-40B4-BE49-F238E27FC236}">
                    <a16:creationId xmlns:a16="http://schemas.microsoft.com/office/drawing/2014/main" id="{8AE44427-B490-C8CD-2A3A-18D3921C627F}"/>
                  </a:ext>
                </a:extLst>
              </p:cNvPr>
              <p:cNvGrpSpPr>
                <a:grpSpLocks/>
              </p:cNvGrpSpPr>
              <p:nvPr/>
            </p:nvGrpSpPr>
            <p:grpSpPr bwMode="auto">
              <a:xfrm>
                <a:off x="499" y="1122"/>
                <a:ext cx="4481" cy="2814"/>
                <a:chOff x="499" y="1122"/>
                <a:chExt cx="4481" cy="2814"/>
              </a:xfrm>
            </p:grpSpPr>
            <p:sp>
              <p:nvSpPr>
                <p:cNvPr id="71732" name="Rectangle 116">
                  <a:extLst>
                    <a:ext uri="{FF2B5EF4-FFF2-40B4-BE49-F238E27FC236}">
                      <a16:creationId xmlns:a16="http://schemas.microsoft.com/office/drawing/2014/main" id="{A3ABC9B5-BBB3-B2C0-04D4-E96FCDCB2E3A}"/>
                    </a:ext>
                  </a:extLst>
                </p:cNvPr>
                <p:cNvSpPr>
                  <a:spLocks noChangeArrowheads="1"/>
                </p:cNvSpPr>
                <p:nvPr/>
              </p:nvSpPr>
              <p:spPr bwMode="auto">
                <a:xfrm>
                  <a:off x="3242" y="28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184</a:t>
                  </a:r>
                  <a:endParaRPr lang="en-US" altLang="en-US" sz="1800">
                    <a:latin typeface="Arial" panose="020B0604020202020204" pitchFamily="34" charset="0"/>
                  </a:endParaRPr>
                </a:p>
              </p:txBody>
            </p:sp>
            <p:sp>
              <p:nvSpPr>
                <p:cNvPr id="71733" name="Line 117">
                  <a:extLst>
                    <a:ext uri="{FF2B5EF4-FFF2-40B4-BE49-F238E27FC236}">
                      <a16:creationId xmlns:a16="http://schemas.microsoft.com/office/drawing/2014/main" id="{EA797216-D132-3416-EEDC-F09430EF7042}"/>
                    </a:ext>
                  </a:extLst>
                </p:cNvPr>
                <p:cNvSpPr>
                  <a:spLocks noChangeShapeType="1"/>
                </p:cNvSpPr>
                <p:nvPr/>
              </p:nvSpPr>
              <p:spPr bwMode="auto">
                <a:xfrm>
                  <a:off x="2148" y="2861"/>
                  <a:ext cx="1" cy="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34" name="Line 118">
                  <a:extLst>
                    <a:ext uri="{FF2B5EF4-FFF2-40B4-BE49-F238E27FC236}">
                      <a16:creationId xmlns:a16="http://schemas.microsoft.com/office/drawing/2014/main" id="{62E9BB2F-8982-648E-E37B-43479B7B3E49}"/>
                    </a:ext>
                  </a:extLst>
                </p:cNvPr>
                <p:cNvSpPr>
                  <a:spLocks noChangeShapeType="1"/>
                </p:cNvSpPr>
                <p:nvPr/>
              </p:nvSpPr>
              <p:spPr bwMode="auto">
                <a:xfrm>
                  <a:off x="4868" y="2830"/>
                  <a:ext cx="1" cy="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35" name="Line 119">
                  <a:extLst>
                    <a:ext uri="{FF2B5EF4-FFF2-40B4-BE49-F238E27FC236}">
                      <a16:creationId xmlns:a16="http://schemas.microsoft.com/office/drawing/2014/main" id="{C88BFB79-1FC6-87D5-C9E6-3A48E8035EC6}"/>
                    </a:ext>
                  </a:extLst>
                </p:cNvPr>
                <p:cNvSpPr>
                  <a:spLocks noChangeShapeType="1"/>
                </p:cNvSpPr>
                <p:nvPr/>
              </p:nvSpPr>
              <p:spPr bwMode="auto">
                <a:xfrm>
                  <a:off x="882" y="2445"/>
                  <a:ext cx="8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36" name="Line 120">
                  <a:extLst>
                    <a:ext uri="{FF2B5EF4-FFF2-40B4-BE49-F238E27FC236}">
                      <a16:creationId xmlns:a16="http://schemas.microsoft.com/office/drawing/2014/main" id="{D3FE57F1-DE9A-BA1C-3088-75B281147341}"/>
                    </a:ext>
                  </a:extLst>
                </p:cNvPr>
                <p:cNvSpPr>
                  <a:spLocks noChangeShapeType="1"/>
                </p:cNvSpPr>
                <p:nvPr/>
              </p:nvSpPr>
              <p:spPr bwMode="auto">
                <a:xfrm>
                  <a:off x="882" y="2102"/>
                  <a:ext cx="8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37" name="Line 121">
                  <a:extLst>
                    <a:ext uri="{FF2B5EF4-FFF2-40B4-BE49-F238E27FC236}">
                      <a16:creationId xmlns:a16="http://schemas.microsoft.com/office/drawing/2014/main" id="{8CA690A0-FB4C-70E1-1561-F312D4CB596B}"/>
                    </a:ext>
                  </a:extLst>
                </p:cNvPr>
                <p:cNvSpPr>
                  <a:spLocks noChangeShapeType="1"/>
                </p:cNvSpPr>
                <p:nvPr/>
              </p:nvSpPr>
              <p:spPr bwMode="auto">
                <a:xfrm>
                  <a:off x="882" y="1771"/>
                  <a:ext cx="8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38" name="Rectangle 122">
                  <a:extLst>
                    <a:ext uri="{FF2B5EF4-FFF2-40B4-BE49-F238E27FC236}">
                      <a16:creationId xmlns:a16="http://schemas.microsoft.com/office/drawing/2014/main" id="{F8D6B676-0ABD-0279-F296-1B9715FD043F}"/>
                    </a:ext>
                  </a:extLst>
                </p:cNvPr>
                <p:cNvSpPr>
                  <a:spLocks noChangeArrowheads="1"/>
                </p:cNvSpPr>
                <p:nvPr/>
              </p:nvSpPr>
              <p:spPr bwMode="auto">
                <a:xfrm>
                  <a:off x="595" y="1122"/>
                  <a:ext cx="18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Rs</a:t>
                  </a:r>
                  <a:endParaRPr lang="en-US" altLang="en-US" sz="1800">
                    <a:latin typeface="Arial" panose="020B0604020202020204" pitchFamily="34" charset="0"/>
                  </a:endParaRPr>
                </a:p>
              </p:txBody>
            </p:sp>
            <p:sp>
              <p:nvSpPr>
                <p:cNvPr id="71739" name="Rectangle 123">
                  <a:extLst>
                    <a:ext uri="{FF2B5EF4-FFF2-40B4-BE49-F238E27FC236}">
                      <a16:creationId xmlns:a16="http://schemas.microsoft.com/office/drawing/2014/main" id="{79267F0D-7FDC-7210-0621-7ECD37022500}"/>
                    </a:ext>
                  </a:extLst>
                </p:cNvPr>
                <p:cNvSpPr>
                  <a:spLocks noChangeArrowheads="1"/>
                </p:cNvSpPr>
                <p:nvPr/>
              </p:nvSpPr>
              <p:spPr bwMode="auto">
                <a:xfrm>
                  <a:off x="567" y="2355"/>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1.00</a:t>
                  </a:r>
                  <a:endParaRPr lang="en-US" altLang="en-US" sz="1800">
                    <a:latin typeface="Arial" panose="020B0604020202020204" pitchFamily="34" charset="0"/>
                  </a:endParaRPr>
                </a:p>
              </p:txBody>
            </p:sp>
            <p:sp>
              <p:nvSpPr>
                <p:cNvPr id="71740" name="Rectangle 124">
                  <a:extLst>
                    <a:ext uri="{FF2B5EF4-FFF2-40B4-BE49-F238E27FC236}">
                      <a16:creationId xmlns:a16="http://schemas.microsoft.com/office/drawing/2014/main" id="{7FAA0C9A-5D5F-4852-EAAE-1C63441773E1}"/>
                    </a:ext>
                  </a:extLst>
                </p:cNvPr>
                <p:cNvSpPr>
                  <a:spLocks noChangeArrowheads="1"/>
                </p:cNvSpPr>
                <p:nvPr/>
              </p:nvSpPr>
              <p:spPr bwMode="auto">
                <a:xfrm>
                  <a:off x="567" y="2012"/>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2.00</a:t>
                  </a:r>
                  <a:endParaRPr lang="en-US" altLang="en-US" sz="1800">
                    <a:latin typeface="Arial" panose="020B0604020202020204" pitchFamily="34" charset="0"/>
                  </a:endParaRPr>
                </a:p>
              </p:txBody>
            </p:sp>
            <p:sp>
              <p:nvSpPr>
                <p:cNvPr id="71741" name="Rectangle 125">
                  <a:extLst>
                    <a:ext uri="{FF2B5EF4-FFF2-40B4-BE49-F238E27FC236}">
                      <a16:creationId xmlns:a16="http://schemas.microsoft.com/office/drawing/2014/main" id="{5290C0E3-B328-7379-B1FF-9CA14CAB564A}"/>
                    </a:ext>
                  </a:extLst>
                </p:cNvPr>
                <p:cNvSpPr>
                  <a:spLocks noChangeArrowheads="1"/>
                </p:cNvSpPr>
                <p:nvPr/>
              </p:nvSpPr>
              <p:spPr bwMode="auto">
                <a:xfrm>
                  <a:off x="567" y="168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3.00</a:t>
                  </a:r>
                  <a:endParaRPr lang="en-US" altLang="en-US" sz="1800">
                    <a:latin typeface="Arial" panose="020B0604020202020204" pitchFamily="34" charset="0"/>
                  </a:endParaRPr>
                </a:p>
              </p:txBody>
            </p:sp>
            <p:sp>
              <p:nvSpPr>
                <p:cNvPr id="71742" name="Line 126">
                  <a:extLst>
                    <a:ext uri="{FF2B5EF4-FFF2-40B4-BE49-F238E27FC236}">
                      <a16:creationId xmlns:a16="http://schemas.microsoft.com/office/drawing/2014/main" id="{481CDE23-87C1-D0B4-26F0-180C2F02C452}"/>
                    </a:ext>
                  </a:extLst>
                </p:cNvPr>
                <p:cNvSpPr>
                  <a:spLocks noChangeShapeType="1"/>
                </p:cNvSpPr>
                <p:nvPr/>
              </p:nvSpPr>
              <p:spPr bwMode="auto">
                <a:xfrm>
                  <a:off x="882" y="1431"/>
                  <a:ext cx="86"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43" name="Rectangle 127">
                  <a:extLst>
                    <a:ext uri="{FF2B5EF4-FFF2-40B4-BE49-F238E27FC236}">
                      <a16:creationId xmlns:a16="http://schemas.microsoft.com/office/drawing/2014/main" id="{E882B3BF-9C62-1CE1-8E81-A049854FDFEE}"/>
                    </a:ext>
                  </a:extLst>
                </p:cNvPr>
                <p:cNvSpPr>
                  <a:spLocks noChangeArrowheads="1"/>
                </p:cNvSpPr>
                <p:nvPr/>
              </p:nvSpPr>
              <p:spPr bwMode="auto">
                <a:xfrm>
                  <a:off x="499" y="1347"/>
                  <a:ext cx="2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4.00</a:t>
                  </a:r>
                  <a:endParaRPr lang="en-US" altLang="en-US" sz="1800">
                    <a:latin typeface="Arial" panose="020B0604020202020204" pitchFamily="34" charset="0"/>
                  </a:endParaRPr>
                </a:p>
              </p:txBody>
            </p:sp>
            <p:sp>
              <p:nvSpPr>
                <p:cNvPr id="71744" name="Rectangle 128">
                  <a:extLst>
                    <a:ext uri="{FF2B5EF4-FFF2-40B4-BE49-F238E27FC236}">
                      <a16:creationId xmlns:a16="http://schemas.microsoft.com/office/drawing/2014/main" id="{F67D8989-23FF-2CEA-6EA0-3403E2BFF938}"/>
                    </a:ext>
                  </a:extLst>
                </p:cNvPr>
                <p:cNvSpPr>
                  <a:spLocks noChangeArrowheads="1"/>
                </p:cNvSpPr>
                <p:nvPr/>
              </p:nvSpPr>
              <p:spPr bwMode="auto">
                <a:xfrm>
                  <a:off x="3840" y="3763"/>
                  <a:ext cx="10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en-US" sz="1800" b="1">
                      <a:solidFill>
                        <a:srgbClr val="000000"/>
                      </a:solidFill>
                      <a:latin typeface="Arial" panose="020B0604020202020204" pitchFamily="34" charset="0"/>
                    </a:rPr>
                    <a:t>Units of Output</a:t>
                  </a:r>
                  <a:endParaRPr lang="en-US" altLang="en-US" sz="1800">
                    <a:latin typeface="Arial" panose="020B0604020202020204" pitchFamily="34" charset="0"/>
                  </a:endParaRPr>
                </a:p>
              </p:txBody>
            </p:sp>
            <p:sp>
              <p:nvSpPr>
                <p:cNvPr id="71745" name="Line 129">
                  <a:extLst>
                    <a:ext uri="{FF2B5EF4-FFF2-40B4-BE49-F238E27FC236}">
                      <a16:creationId xmlns:a16="http://schemas.microsoft.com/office/drawing/2014/main" id="{ADC4CEA4-CEAF-838B-6261-453AA5E7E22E}"/>
                    </a:ext>
                  </a:extLst>
                </p:cNvPr>
                <p:cNvSpPr>
                  <a:spLocks noChangeShapeType="1"/>
                </p:cNvSpPr>
                <p:nvPr/>
              </p:nvSpPr>
              <p:spPr bwMode="auto">
                <a:xfrm>
                  <a:off x="2148"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46" name="Line 130">
                  <a:extLst>
                    <a:ext uri="{FF2B5EF4-FFF2-40B4-BE49-F238E27FC236}">
                      <a16:creationId xmlns:a16="http://schemas.microsoft.com/office/drawing/2014/main" id="{20F3C858-4619-064B-DE8B-070AB2FDEC57}"/>
                    </a:ext>
                  </a:extLst>
                </p:cNvPr>
                <p:cNvSpPr>
                  <a:spLocks noChangeShapeType="1"/>
                </p:cNvSpPr>
                <p:nvPr/>
              </p:nvSpPr>
              <p:spPr bwMode="auto">
                <a:xfrm>
                  <a:off x="1363"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47" name="Line 131">
                  <a:extLst>
                    <a:ext uri="{FF2B5EF4-FFF2-40B4-BE49-F238E27FC236}">
                      <a16:creationId xmlns:a16="http://schemas.microsoft.com/office/drawing/2014/main" id="{D8BAE94B-7181-240D-2E6A-74B36CB1276F}"/>
                    </a:ext>
                  </a:extLst>
                </p:cNvPr>
                <p:cNvSpPr>
                  <a:spLocks noChangeShapeType="1"/>
                </p:cNvSpPr>
                <p:nvPr/>
              </p:nvSpPr>
              <p:spPr bwMode="auto">
                <a:xfrm>
                  <a:off x="2665"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48" name="Line 132">
                  <a:extLst>
                    <a:ext uri="{FF2B5EF4-FFF2-40B4-BE49-F238E27FC236}">
                      <a16:creationId xmlns:a16="http://schemas.microsoft.com/office/drawing/2014/main" id="{9BF6879B-A568-01EC-BF2F-3F5CF7397275}"/>
                    </a:ext>
                  </a:extLst>
                </p:cNvPr>
                <p:cNvSpPr>
                  <a:spLocks noChangeShapeType="1"/>
                </p:cNvSpPr>
                <p:nvPr/>
              </p:nvSpPr>
              <p:spPr bwMode="auto">
                <a:xfrm>
                  <a:off x="3078"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49" name="Rectangle 133">
                  <a:extLst>
                    <a:ext uri="{FF2B5EF4-FFF2-40B4-BE49-F238E27FC236}">
                      <a16:creationId xmlns:a16="http://schemas.microsoft.com/office/drawing/2014/main" id="{C71DF868-C6F0-4115-5E12-C1F4D9EF6E80}"/>
                    </a:ext>
                  </a:extLst>
                </p:cNvPr>
                <p:cNvSpPr>
                  <a:spLocks noChangeArrowheads="1"/>
                </p:cNvSpPr>
                <p:nvPr/>
              </p:nvSpPr>
              <p:spPr bwMode="auto">
                <a:xfrm>
                  <a:off x="1279" y="2868"/>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a:t>
                  </a:r>
                  <a:endParaRPr lang="en-US" altLang="en-US" sz="1800">
                    <a:latin typeface="Arial" panose="020B0604020202020204" pitchFamily="34" charset="0"/>
                  </a:endParaRPr>
                </a:p>
              </p:txBody>
            </p:sp>
            <p:sp>
              <p:nvSpPr>
                <p:cNvPr id="71750" name="Rectangle 134">
                  <a:extLst>
                    <a:ext uri="{FF2B5EF4-FFF2-40B4-BE49-F238E27FC236}">
                      <a16:creationId xmlns:a16="http://schemas.microsoft.com/office/drawing/2014/main" id="{FFF62E6F-EB4B-F1B6-079B-8C9E4E4827C3}"/>
                    </a:ext>
                  </a:extLst>
                </p:cNvPr>
                <p:cNvSpPr>
                  <a:spLocks noChangeArrowheads="1"/>
                </p:cNvSpPr>
                <p:nvPr/>
              </p:nvSpPr>
              <p:spPr bwMode="auto">
                <a:xfrm>
                  <a:off x="2064" y="2868"/>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90</a:t>
                  </a:r>
                  <a:endParaRPr lang="en-US" altLang="en-US" sz="1800">
                    <a:latin typeface="Arial" panose="020B0604020202020204" pitchFamily="34" charset="0"/>
                  </a:endParaRPr>
                </a:p>
              </p:txBody>
            </p:sp>
            <p:sp>
              <p:nvSpPr>
                <p:cNvPr id="71751" name="Rectangle 135">
                  <a:extLst>
                    <a:ext uri="{FF2B5EF4-FFF2-40B4-BE49-F238E27FC236}">
                      <a16:creationId xmlns:a16="http://schemas.microsoft.com/office/drawing/2014/main" id="{4649CB06-2BC6-B07E-0A94-B4F3D063A29A}"/>
                    </a:ext>
                  </a:extLst>
                </p:cNvPr>
                <p:cNvSpPr>
                  <a:spLocks noChangeArrowheads="1"/>
                </p:cNvSpPr>
                <p:nvPr/>
              </p:nvSpPr>
              <p:spPr bwMode="auto">
                <a:xfrm>
                  <a:off x="2537" y="28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130</a:t>
                  </a:r>
                  <a:endParaRPr lang="en-US" altLang="en-US" sz="1800">
                    <a:latin typeface="Arial" panose="020B0604020202020204" pitchFamily="34" charset="0"/>
                  </a:endParaRPr>
                </a:p>
              </p:txBody>
            </p:sp>
            <p:sp>
              <p:nvSpPr>
                <p:cNvPr id="71752" name="Rectangle 136">
                  <a:extLst>
                    <a:ext uri="{FF2B5EF4-FFF2-40B4-BE49-F238E27FC236}">
                      <a16:creationId xmlns:a16="http://schemas.microsoft.com/office/drawing/2014/main" id="{8C36E213-ABF9-8B9B-12B8-C664F97ABAFD}"/>
                    </a:ext>
                  </a:extLst>
                </p:cNvPr>
                <p:cNvSpPr>
                  <a:spLocks noChangeArrowheads="1"/>
                </p:cNvSpPr>
                <p:nvPr/>
              </p:nvSpPr>
              <p:spPr bwMode="auto">
                <a:xfrm>
                  <a:off x="2949" y="28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161</a:t>
                  </a:r>
                  <a:endParaRPr lang="en-US" altLang="en-US" sz="1800">
                    <a:latin typeface="Arial" panose="020B0604020202020204" pitchFamily="34" charset="0"/>
                  </a:endParaRPr>
                </a:p>
              </p:txBody>
            </p:sp>
            <p:sp>
              <p:nvSpPr>
                <p:cNvPr id="71753" name="Line 137">
                  <a:extLst>
                    <a:ext uri="{FF2B5EF4-FFF2-40B4-BE49-F238E27FC236}">
                      <a16:creationId xmlns:a16="http://schemas.microsoft.com/office/drawing/2014/main" id="{DB2B0EDC-F176-80F7-9107-6670EF5451B9}"/>
                    </a:ext>
                  </a:extLst>
                </p:cNvPr>
                <p:cNvSpPr>
                  <a:spLocks noChangeShapeType="1"/>
                </p:cNvSpPr>
                <p:nvPr/>
              </p:nvSpPr>
              <p:spPr bwMode="auto">
                <a:xfrm>
                  <a:off x="3366"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54" name="Line 138">
                  <a:extLst>
                    <a:ext uri="{FF2B5EF4-FFF2-40B4-BE49-F238E27FC236}">
                      <a16:creationId xmlns:a16="http://schemas.microsoft.com/office/drawing/2014/main" id="{0B533357-A5C0-494F-6387-92D3F739F56F}"/>
                    </a:ext>
                  </a:extLst>
                </p:cNvPr>
                <p:cNvSpPr>
                  <a:spLocks noChangeShapeType="1"/>
                </p:cNvSpPr>
                <p:nvPr/>
              </p:nvSpPr>
              <p:spPr bwMode="auto">
                <a:xfrm>
                  <a:off x="4235"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55" name="Rectangle 139">
                  <a:extLst>
                    <a:ext uri="{FF2B5EF4-FFF2-40B4-BE49-F238E27FC236}">
                      <a16:creationId xmlns:a16="http://schemas.microsoft.com/office/drawing/2014/main" id="{F65C4299-595D-5724-0430-E94E2846D688}"/>
                    </a:ext>
                  </a:extLst>
                </p:cNvPr>
                <p:cNvSpPr>
                  <a:spLocks noChangeArrowheads="1"/>
                </p:cNvSpPr>
                <p:nvPr/>
              </p:nvSpPr>
              <p:spPr bwMode="auto">
                <a:xfrm>
                  <a:off x="4103" y="28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250</a:t>
                  </a:r>
                  <a:endParaRPr lang="en-US" altLang="en-US" sz="1800">
                    <a:latin typeface="Arial" panose="020B0604020202020204" pitchFamily="34" charset="0"/>
                  </a:endParaRPr>
                </a:p>
              </p:txBody>
            </p:sp>
            <p:sp>
              <p:nvSpPr>
                <p:cNvPr id="71756" name="Line 140">
                  <a:extLst>
                    <a:ext uri="{FF2B5EF4-FFF2-40B4-BE49-F238E27FC236}">
                      <a16:creationId xmlns:a16="http://schemas.microsoft.com/office/drawing/2014/main" id="{D1BCAA86-7D9B-9AEB-858B-570029DF1BC1}"/>
                    </a:ext>
                  </a:extLst>
                </p:cNvPr>
                <p:cNvSpPr>
                  <a:spLocks noChangeShapeType="1"/>
                </p:cNvSpPr>
                <p:nvPr/>
              </p:nvSpPr>
              <p:spPr bwMode="auto">
                <a:xfrm>
                  <a:off x="4868" y="2791"/>
                  <a:ext cx="1" cy="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1757" name="Rectangle 141">
                  <a:extLst>
                    <a:ext uri="{FF2B5EF4-FFF2-40B4-BE49-F238E27FC236}">
                      <a16:creationId xmlns:a16="http://schemas.microsoft.com/office/drawing/2014/main" id="{97288449-23F8-8D24-400B-9998967F5C82}"/>
                    </a:ext>
                  </a:extLst>
                </p:cNvPr>
                <p:cNvSpPr>
                  <a:spLocks noChangeArrowheads="1"/>
                </p:cNvSpPr>
                <p:nvPr/>
              </p:nvSpPr>
              <p:spPr bwMode="auto">
                <a:xfrm>
                  <a:off x="4740" y="2868"/>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300</a:t>
                  </a:r>
                  <a:endParaRPr lang="en-US" altLang="en-US" sz="1800">
                    <a:latin typeface="Arial" panose="020B0604020202020204" pitchFamily="34" charset="0"/>
                  </a:endParaRPr>
                </a:p>
              </p:txBody>
            </p:sp>
            <p:sp>
              <p:nvSpPr>
                <p:cNvPr id="71758" name="Rectangle 142">
                  <a:extLst>
                    <a:ext uri="{FF2B5EF4-FFF2-40B4-BE49-F238E27FC236}">
                      <a16:creationId xmlns:a16="http://schemas.microsoft.com/office/drawing/2014/main" id="{AE3208DB-C3ED-4D57-BE49-97C6615DBA5E}"/>
                    </a:ext>
                  </a:extLst>
                </p:cNvPr>
                <p:cNvSpPr>
                  <a:spLocks noChangeArrowheads="1"/>
                </p:cNvSpPr>
                <p:nvPr/>
              </p:nvSpPr>
              <p:spPr bwMode="auto">
                <a:xfrm>
                  <a:off x="862" y="287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0</a:t>
                  </a:r>
                  <a:endParaRPr lang="en-US" altLang="en-US" sz="1800">
                    <a:latin typeface="Arial" panose="020B0604020202020204" pitchFamily="34" charset="0"/>
                  </a:endParaRPr>
                </a:p>
              </p:txBody>
            </p:sp>
          </p:grpSp>
        </p:grpSp>
      </p:grpSp>
      <p:sp>
        <p:nvSpPr>
          <p:cNvPr id="102543" name="Freeform 143">
            <a:extLst>
              <a:ext uri="{FF2B5EF4-FFF2-40B4-BE49-F238E27FC236}">
                <a16:creationId xmlns:a16="http://schemas.microsoft.com/office/drawing/2014/main" id="{73F5D748-A3F4-6B18-B14C-1E027E29EB67}"/>
              </a:ext>
            </a:extLst>
          </p:cNvPr>
          <p:cNvSpPr>
            <a:spLocks/>
          </p:cNvSpPr>
          <p:nvPr/>
        </p:nvSpPr>
        <p:spPr bwMode="auto">
          <a:xfrm>
            <a:off x="5740400" y="3021013"/>
            <a:ext cx="127000" cy="128587"/>
          </a:xfrm>
          <a:custGeom>
            <a:avLst/>
            <a:gdLst>
              <a:gd name="T0" fmla="*/ 2147483646 w 80"/>
              <a:gd name="T1" fmla="*/ 2147483646 h 57"/>
              <a:gd name="T2" fmla="*/ 2147483646 w 80"/>
              <a:gd name="T3" fmla="*/ 2147483646 h 57"/>
              <a:gd name="T4" fmla="*/ 2147483646 w 80"/>
              <a:gd name="T5" fmla="*/ 2147483646 h 57"/>
              <a:gd name="T6" fmla="*/ 2147483646 w 80"/>
              <a:gd name="T7" fmla="*/ 2147483646 h 57"/>
              <a:gd name="T8" fmla="*/ 2147483646 w 80"/>
              <a:gd name="T9" fmla="*/ 2147483646 h 57"/>
              <a:gd name="T10" fmla="*/ 2147483646 w 80"/>
              <a:gd name="T11" fmla="*/ 2147483646 h 57"/>
              <a:gd name="T12" fmla="*/ 2147483646 w 80"/>
              <a:gd name="T13" fmla="*/ 2147483646 h 57"/>
              <a:gd name="T14" fmla="*/ 2147483646 w 80"/>
              <a:gd name="T15" fmla="*/ 2147483646 h 57"/>
              <a:gd name="T16" fmla="*/ 2147483646 w 80"/>
              <a:gd name="T17" fmla="*/ 2147483646 h 57"/>
              <a:gd name="T18" fmla="*/ 2147483646 w 80"/>
              <a:gd name="T19" fmla="*/ 2147483646 h 57"/>
              <a:gd name="T20" fmla="*/ 2147483646 w 80"/>
              <a:gd name="T21" fmla="*/ 0 h 57"/>
              <a:gd name="T22" fmla="*/ 2147483646 w 80"/>
              <a:gd name="T23" fmla="*/ 0 h 57"/>
              <a:gd name="T24" fmla="*/ 2147483646 w 80"/>
              <a:gd name="T25" fmla="*/ 2147483646 h 57"/>
              <a:gd name="T26" fmla="*/ 2147483646 w 80"/>
              <a:gd name="T27" fmla="*/ 2147483646 h 57"/>
              <a:gd name="T28" fmla="*/ 2147483646 w 80"/>
              <a:gd name="T29" fmla="*/ 2147483646 h 57"/>
              <a:gd name="T30" fmla="*/ 0 w 80"/>
              <a:gd name="T31" fmla="*/ 2147483646 h 57"/>
              <a:gd name="T32" fmla="*/ 0 w 80"/>
              <a:gd name="T33" fmla="*/ 2147483646 h 57"/>
              <a:gd name="T34" fmla="*/ 2147483646 w 80"/>
              <a:gd name="T35" fmla="*/ 2147483646 h 57"/>
              <a:gd name="T36" fmla="*/ 2147483646 w 80"/>
              <a:gd name="T37" fmla="*/ 2147483646 h 57"/>
              <a:gd name="T38" fmla="*/ 2147483646 w 80"/>
              <a:gd name="T39" fmla="*/ 2147483646 h 57"/>
              <a:gd name="T40" fmla="*/ 2147483646 w 80"/>
              <a:gd name="T41" fmla="*/ 2147483646 h 57"/>
              <a:gd name="T42" fmla="*/ 2147483646 w 80"/>
              <a:gd name="T43" fmla="*/ 2147483646 h 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0" h="57">
                <a:moveTo>
                  <a:pt x="40" y="57"/>
                </a:moveTo>
                <a:lnTo>
                  <a:pt x="40" y="57"/>
                </a:lnTo>
                <a:lnTo>
                  <a:pt x="56" y="54"/>
                </a:lnTo>
                <a:lnTo>
                  <a:pt x="68" y="48"/>
                </a:lnTo>
                <a:lnTo>
                  <a:pt x="76" y="40"/>
                </a:lnTo>
                <a:lnTo>
                  <a:pt x="80" y="29"/>
                </a:lnTo>
                <a:lnTo>
                  <a:pt x="76" y="17"/>
                </a:lnTo>
                <a:lnTo>
                  <a:pt x="68" y="9"/>
                </a:lnTo>
                <a:lnTo>
                  <a:pt x="56" y="3"/>
                </a:lnTo>
                <a:lnTo>
                  <a:pt x="40" y="0"/>
                </a:lnTo>
                <a:lnTo>
                  <a:pt x="24" y="3"/>
                </a:lnTo>
                <a:lnTo>
                  <a:pt x="12" y="9"/>
                </a:lnTo>
                <a:lnTo>
                  <a:pt x="4" y="17"/>
                </a:lnTo>
                <a:lnTo>
                  <a:pt x="0" y="29"/>
                </a:lnTo>
                <a:lnTo>
                  <a:pt x="4" y="40"/>
                </a:lnTo>
                <a:lnTo>
                  <a:pt x="12" y="48"/>
                </a:lnTo>
                <a:lnTo>
                  <a:pt x="24" y="54"/>
                </a:lnTo>
                <a:lnTo>
                  <a:pt x="4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2544" name="Freeform 144">
            <a:extLst>
              <a:ext uri="{FF2B5EF4-FFF2-40B4-BE49-F238E27FC236}">
                <a16:creationId xmlns:a16="http://schemas.microsoft.com/office/drawing/2014/main" id="{DE9E72FF-680F-2A1E-B632-57D4005EF5B7}"/>
              </a:ext>
            </a:extLst>
          </p:cNvPr>
          <p:cNvSpPr>
            <a:spLocks/>
          </p:cNvSpPr>
          <p:nvPr/>
        </p:nvSpPr>
        <p:spPr bwMode="auto">
          <a:xfrm>
            <a:off x="6853238" y="3071813"/>
            <a:ext cx="127000" cy="128587"/>
          </a:xfrm>
          <a:custGeom>
            <a:avLst/>
            <a:gdLst>
              <a:gd name="T0" fmla="*/ 2147483646 w 80"/>
              <a:gd name="T1" fmla="*/ 2147483646 h 57"/>
              <a:gd name="T2" fmla="*/ 2147483646 w 80"/>
              <a:gd name="T3" fmla="*/ 2147483646 h 57"/>
              <a:gd name="T4" fmla="*/ 2147483646 w 80"/>
              <a:gd name="T5" fmla="*/ 2147483646 h 57"/>
              <a:gd name="T6" fmla="*/ 2147483646 w 80"/>
              <a:gd name="T7" fmla="*/ 2147483646 h 57"/>
              <a:gd name="T8" fmla="*/ 2147483646 w 80"/>
              <a:gd name="T9" fmla="*/ 2147483646 h 57"/>
              <a:gd name="T10" fmla="*/ 2147483646 w 80"/>
              <a:gd name="T11" fmla="*/ 2147483646 h 57"/>
              <a:gd name="T12" fmla="*/ 2147483646 w 80"/>
              <a:gd name="T13" fmla="*/ 2147483646 h 57"/>
              <a:gd name="T14" fmla="*/ 2147483646 w 80"/>
              <a:gd name="T15" fmla="*/ 2147483646 h 57"/>
              <a:gd name="T16" fmla="*/ 2147483646 w 80"/>
              <a:gd name="T17" fmla="*/ 2147483646 h 57"/>
              <a:gd name="T18" fmla="*/ 2147483646 w 80"/>
              <a:gd name="T19" fmla="*/ 2147483646 h 57"/>
              <a:gd name="T20" fmla="*/ 2147483646 w 80"/>
              <a:gd name="T21" fmla="*/ 0 h 57"/>
              <a:gd name="T22" fmla="*/ 2147483646 w 80"/>
              <a:gd name="T23" fmla="*/ 0 h 57"/>
              <a:gd name="T24" fmla="*/ 2147483646 w 80"/>
              <a:gd name="T25" fmla="*/ 2147483646 h 57"/>
              <a:gd name="T26" fmla="*/ 2147483646 w 80"/>
              <a:gd name="T27" fmla="*/ 2147483646 h 57"/>
              <a:gd name="T28" fmla="*/ 2147483646 w 80"/>
              <a:gd name="T29" fmla="*/ 2147483646 h 57"/>
              <a:gd name="T30" fmla="*/ 0 w 80"/>
              <a:gd name="T31" fmla="*/ 2147483646 h 57"/>
              <a:gd name="T32" fmla="*/ 0 w 80"/>
              <a:gd name="T33" fmla="*/ 2147483646 h 57"/>
              <a:gd name="T34" fmla="*/ 2147483646 w 80"/>
              <a:gd name="T35" fmla="*/ 2147483646 h 57"/>
              <a:gd name="T36" fmla="*/ 2147483646 w 80"/>
              <a:gd name="T37" fmla="*/ 2147483646 h 57"/>
              <a:gd name="T38" fmla="*/ 2147483646 w 80"/>
              <a:gd name="T39" fmla="*/ 2147483646 h 57"/>
              <a:gd name="T40" fmla="*/ 2147483646 w 80"/>
              <a:gd name="T41" fmla="*/ 2147483646 h 57"/>
              <a:gd name="T42" fmla="*/ 2147483646 w 80"/>
              <a:gd name="T43" fmla="*/ 2147483646 h 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0" h="57">
                <a:moveTo>
                  <a:pt x="40" y="57"/>
                </a:moveTo>
                <a:lnTo>
                  <a:pt x="40" y="57"/>
                </a:lnTo>
                <a:lnTo>
                  <a:pt x="56" y="57"/>
                </a:lnTo>
                <a:lnTo>
                  <a:pt x="68" y="51"/>
                </a:lnTo>
                <a:lnTo>
                  <a:pt x="80" y="40"/>
                </a:lnTo>
                <a:lnTo>
                  <a:pt x="80" y="29"/>
                </a:lnTo>
                <a:lnTo>
                  <a:pt x="80" y="20"/>
                </a:lnTo>
                <a:lnTo>
                  <a:pt x="68" y="9"/>
                </a:lnTo>
                <a:lnTo>
                  <a:pt x="56" y="3"/>
                </a:lnTo>
                <a:lnTo>
                  <a:pt x="40" y="0"/>
                </a:lnTo>
                <a:lnTo>
                  <a:pt x="24" y="3"/>
                </a:lnTo>
                <a:lnTo>
                  <a:pt x="12" y="9"/>
                </a:lnTo>
                <a:lnTo>
                  <a:pt x="4" y="20"/>
                </a:lnTo>
                <a:lnTo>
                  <a:pt x="0" y="29"/>
                </a:lnTo>
                <a:lnTo>
                  <a:pt x="4" y="40"/>
                </a:lnTo>
                <a:lnTo>
                  <a:pt x="12" y="51"/>
                </a:lnTo>
                <a:lnTo>
                  <a:pt x="24" y="57"/>
                </a:lnTo>
                <a:lnTo>
                  <a:pt x="4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2545" name="Freeform 145">
            <a:extLst>
              <a:ext uri="{FF2B5EF4-FFF2-40B4-BE49-F238E27FC236}">
                <a16:creationId xmlns:a16="http://schemas.microsoft.com/office/drawing/2014/main" id="{20E585E9-F95F-0C4C-3737-0390103BE1B7}"/>
              </a:ext>
            </a:extLst>
          </p:cNvPr>
          <p:cNvSpPr>
            <a:spLocks/>
          </p:cNvSpPr>
          <p:nvPr/>
        </p:nvSpPr>
        <p:spPr bwMode="auto">
          <a:xfrm>
            <a:off x="5734050" y="3248025"/>
            <a:ext cx="127000" cy="128588"/>
          </a:xfrm>
          <a:custGeom>
            <a:avLst/>
            <a:gdLst>
              <a:gd name="T0" fmla="*/ 2147483646 w 80"/>
              <a:gd name="T1" fmla="*/ 2147483646 h 56"/>
              <a:gd name="T2" fmla="*/ 2147483646 w 80"/>
              <a:gd name="T3" fmla="*/ 2147483646 h 56"/>
              <a:gd name="T4" fmla="*/ 2147483646 w 80"/>
              <a:gd name="T5" fmla="*/ 2147483646 h 56"/>
              <a:gd name="T6" fmla="*/ 2147483646 w 80"/>
              <a:gd name="T7" fmla="*/ 2147483646 h 56"/>
              <a:gd name="T8" fmla="*/ 2147483646 w 80"/>
              <a:gd name="T9" fmla="*/ 2147483646 h 56"/>
              <a:gd name="T10" fmla="*/ 2147483646 w 80"/>
              <a:gd name="T11" fmla="*/ 2147483646 h 56"/>
              <a:gd name="T12" fmla="*/ 2147483646 w 80"/>
              <a:gd name="T13" fmla="*/ 2147483646 h 56"/>
              <a:gd name="T14" fmla="*/ 2147483646 w 80"/>
              <a:gd name="T15" fmla="*/ 2147483646 h 56"/>
              <a:gd name="T16" fmla="*/ 2147483646 w 80"/>
              <a:gd name="T17" fmla="*/ 2147483646 h 56"/>
              <a:gd name="T18" fmla="*/ 2147483646 w 80"/>
              <a:gd name="T19" fmla="*/ 2147483646 h 56"/>
              <a:gd name="T20" fmla="*/ 2147483646 w 80"/>
              <a:gd name="T21" fmla="*/ 0 h 56"/>
              <a:gd name="T22" fmla="*/ 2147483646 w 80"/>
              <a:gd name="T23" fmla="*/ 0 h 56"/>
              <a:gd name="T24" fmla="*/ 2147483646 w 80"/>
              <a:gd name="T25" fmla="*/ 2147483646 h 56"/>
              <a:gd name="T26" fmla="*/ 2147483646 w 80"/>
              <a:gd name="T27" fmla="*/ 2147483646 h 56"/>
              <a:gd name="T28" fmla="*/ 2147483646 w 80"/>
              <a:gd name="T29" fmla="*/ 2147483646 h 56"/>
              <a:gd name="T30" fmla="*/ 0 w 80"/>
              <a:gd name="T31" fmla="*/ 2147483646 h 56"/>
              <a:gd name="T32" fmla="*/ 0 w 80"/>
              <a:gd name="T33" fmla="*/ 2147483646 h 56"/>
              <a:gd name="T34" fmla="*/ 2147483646 w 80"/>
              <a:gd name="T35" fmla="*/ 2147483646 h 56"/>
              <a:gd name="T36" fmla="*/ 2147483646 w 80"/>
              <a:gd name="T37" fmla="*/ 2147483646 h 56"/>
              <a:gd name="T38" fmla="*/ 2147483646 w 80"/>
              <a:gd name="T39" fmla="*/ 2147483646 h 56"/>
              <a:gd name="T40" fmla="*/ 2147483646 w 80"/>
              <a:gd name="T41" fmla="*/ 2147483646 h 56"/>
              <a:gd name="T42" fmla="*/ 2147483646 w 80"/>
              <a:gd name="T43" fmla="*/ 2147483646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0" h="56">
                <a:moveTo>
                  <a:pt x="40" y="56"/>
                </a:moveTo>
                <a:lnTo>
                  <a:pt x="40" y="56"/>
                </a:lnTo>
                <a:lnTo>
                  <a:pt x="56" y="54"/>
                </a:lnTo>
                <a:lnTo>
                  <a:pt x="68" y="48"/>
                </a:lnTo>
                <a:lnTo>
                  <a:pt x="76" y="39"/>
                </a:lnTo>
                <a:lnTo>
                  <a:pt x="80" y="28"/>
                </a:lnTo>
                <a:lnTo>
                  <a:pt x="76" y="17"/>
                </a:lnTo>
                <a:lnTo>
                  <a:pt x="68" y="8"/>
                </a:lnTo>
                <a:lnTo>
                  <a:pt x="56" y="3"/>
                </a:lnTo>
                <a:lnTo>
                  <a:pt x="40" y="0"/>
                </a:lnTo>
                <a:lnTo>
                  <a:pt x="24" y="3"/>
                </a:lnTo>
                <a:lnTo>
                  <a:pt x="12" y="8"/>
                </a:lnTo>
                <a:lnTo>
                  <a:pt x="4" y="17"/>
                </a:lnTo>
                <a:lnTo>
                  <a:pt x="0" y="28"/>
                </a:lnTo>
                <a:lnTo>
                  <a:pt x="4" y="39"/>
                </a:lnTo>
                <a:lnTo>
                  <a:pt x="12" y="48"/>
                </a:lnTo>
                <a:lnTo>
                  <a:pt x="24" y="54"/>
                </a:lnTo>
                <a:lnTo>
                  <a:pt x="40"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2546" name="Freeform 146">
            <a:extLst>
              <a:ext uri="{FF2B5EF4-FFF2-40B4-BE49-F238E27FC236}">
                <a16:creationId xmlns:a16="http://schemas.microsoft.com/office/drawing/2014/main" id="{03AB3107-31A7-2EF7-B057-51721E5088FC}"/>
              </a:ext>
            </a:extLst>
          </p:cNvPr>
          <p:cNvSpPr>
            <a:spLocks/>
          </p:cNvSpPr>
          <p:nvPr/>
        </p:nvSpPr>
        <p:spPr bwMode="auto">
          <a:xfrm>
            <a:off x="6853238" y="3197225"/>
            <a:ext cx="127000" cy="128588"/>
          </a:xfrm>
          <a:custGeom>
            <a:avLst/>
            <a:gdLst>
              <a:gd name="T0" fmla="*/ 2147483646 w 80"/>
              <a:gd name="T1" fmla="*/ 2147483646 h 56"/>
              <a:gd name="T2" fmla="*/ 2147483646 w 80"/>
              <a:gd name="T3" fmla="*/ 2147483646 h 56"/>
              <a:gd name="T4" fmla="*/ 2147483646 w 80"/>
              <a:gd name="T5" fmla="*/ 2147483646 h 56"/>
              <a:gd name="T6" fmla="*/ 2147483646 w 80"/>
              <a:gd name="T7" fmla="*/ 2147483646 h 56"/>
              <a:gd name="T8" fmla="*/ 2147483646 w 80"/>
              <a:gd name="T9" fmla="*/ 2147483646 h 56"/>
              <a:gd name="T10" fmla="*/ 2147483646 w 80"/>
              <a:gd name="T11" fmla="*/ 2147483646 h 56"/>
              <a:gd name="T12" fmla="*/ 2147483646 w 80"/>
              <a:gd name="T13" fmla="*/ 2147483646 h 56"/>
              <a:gd name="T14" fmla="*/ 2147483646 w 80"/>
              <a:gd name="T15" fmla="*/ 2147483646 h 56"/>
              <a:gd name="T16" fmla="*/ 2147483646 w 80"/>
              <a:gd name="T17" fmla="*/ 2147483646 h 56"/>
              <a:gd name="T18" fmla="*/ 2147483646 w 80"/>
              <a:gd name="T19" fmla="*/ 2147483646 h 56"/>
              <a:gd name="T20" fmla="*/ 2147483646 w 80"/>
              <a:gd name="T21" fmla="*/ 0 h 56"/>
              <a:gd name="T22" fmla="*/ 2147483646 w 80"/>
              <a:gd name="T23" fmla="*/ 0 h 56"/>
              <a:gd name="T24" fmla="*/ 2147483646 w 80"/>
              <a:gd name="T25" fmla="*/ 2147483646 h 56"/>
              <a:gd name="T26" fmla="*/ 2147483646 w 80"/>
              <a:gd name="T27" fmla="*/ 2147483646 h 56"/>
              <a:gd name="T28" fmla="*/ 0 w 80"/>
              <a:gd name="T29" fmla="*/ 2147483646 h 56"/>
              <a:gd name="T30" fmla="*/ 0 w 80"/>
              <a:gd name="T31" fmla="*/ 2147483646 h 56"/>
              <a:gd name="T32" fmla="*/ 0 w 80"/>
              <a:gd name="T33" fmla="*/ 2147483646 h 56"/>
              <a:gd name="T34" fmla="*/ 0 w 80"/>
              <a:gd name="T35" fmla="*/ 2147483646 h 56"/>
              <a:gd name="T36" fmla="*/ 2147483646 w 80"/>
              <a:gd name="T37" fmla="*/ 2147483646 h 56"/>
              <a:gd name="T38" fmla="*/ 2147483646 w 80"/>
              <a:gd name="T39" fmla="*/ 2147483646 h 56"/>
              <a:gd name="T40" fmla="*/ 2147483646 w 80"/>
              <a:gd name="T41" fmla="*/ 2147483646 h 56"/>
              <a:gd name="T42" fmla="*/ 2147483646 w 80"/>
              <a:gd name="T43" fmla="*/ 2147483646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0" h="56">
                <a:moveTo>
                  <a:pt x="40" y="56"/>
                </a:moveTo>
                <a:lnTo>
                  <a:pt x="40" y="56"/>
                </a:lnTo>
                <a:lnTo>
                  <a:pt x="56" y="56"/>
                </a:lnTo>
                <a:lnTo>
                  <a:pt x="68" y="48"/>
                </a:lnTo>
                <a:lnTo>
                  <a:pt x="76" y="39"/>
                </a:lnTo>
                <a:lnTo>
                  <a:pt x="80" y="28"/>
                </a:lnTo>
                <a:lnTo>
                  <a:pt x="76" y="17"/>
                </a:lnTo>
                <a:lnTo>
                  <a:pt x="68" y="8"/>
                </a:lnTo>
                <a:lnTo>
                  <a:pt x="56" y="3"/>
                </a:lnTo>
                <a:lnTo>
                  <a:pt x="40" y="0"/>
                </a:lnTo>
                <a:lnTo>
                  <a:pt x="24" y="3"/>
                </a:lnTo>
                <a:lnTo>
                  <a:pt x="12" y="8"/>
                </a:lnTo>
                <a:lnTo>
                  <a:pt x="0" y="17"/>
                </a:lnTo>
                <a:lnTo>
                  <a:pt x="0" y="28"/>
                </a:lnTo>
                <a:lnTo>
                  <a:pt x="0" y="39"/>
                </a:lnTo>
                <a:lnTo>
                  <a:pt x="12" y="48"/>
                </a:lnTo>
                <a:lnTo>
                  <a:pt x="24" y="56"/>
                </a:lnTo>
                <a:lnTo>
                  <a:pt x="40"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2547" name="Rectangle 147">
            <a:extLst>
              <a:ext uri="{FF2B5EF4-FFF2-40B4-BE49-F238E27FC236}">
                <a16:creationId xmlns:a16="http://schemas.microsoft.com/office/drawing/2014/main" id="{8389E751-788D-708F-7B07-6D472C274AE8}"/>
              </a:ext>
            </a:extLst>
          </p:cNvPr>
          <p:cNvSpPr>
            <a:spLocks noChangeArrowheads="1"/>
          </p:cNvSpPr>
          <p:nvPr/>
        </p:nvSpPr>
        <p:spPr bwMode="auto">
          <a:xfrm>
            <a:off x="5224463" y="5143500"/>
            <a:ext cx="12192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0"/>
              </a:spcBef>
              <a:buFontTx/>
              <a:buNone/>
            </a:pPr>
            <a:r>
              <a:rPr lang="en-US" altLang="en-US" sz="1800">
                <a:solidFill>
                  <a:srgbClr val="000000"/>
                </a:solidFill>
                <a:latin typeface="Arial" panose="020B0604020202020204" pitchFamily="34" charset="0"/>
              </a:rPr>
              <a:t>Use 1 automated lines</a:t>
            </a:r>
          </a:p>
        </p:txBody>
      </p:sp>
      <p:sp>
        <p:nvSpPr>
          <p:cNvPr id="102548" name="Rectangle 148">
            <a:extLst>
              <a:ext uri="{FF2B5EF4-FFF2-40B4-BE49-F238E27FC236}">
                <a16:creationId xmlns:a16="http://schemas.microsoft.com/office/drawing/2014/main" id="{AE6DF8D0-4400-DB86-850D-A8A788566424}"/>
              </a:ext>
            </a:extLst>
          </p:cNvPr>
          <p:cNvSpPr>
            <a:spLocks noChangeArrowheads="1"/>
          </p:cNvSpPr>
          <p:nvPr/>
        </p:nvSpPr>
        <p:spPr bwMode="auto">
          <a:xfrm>
            <a:off x="6900863" y="5143500"/>
            <a:ext cx="12192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0"/>
              </a:spcBef>
              <a:buFontTx/>
              <a:buNone/>
            </a:pPr>
            <a:r>
              <a:rPr lang="en-US" altLang="en-US" sz="1800">
                <a:solidFill>
                  <a:srgbClr val="000000"/>
                </a:solidFill>
                <a:latin typeface="Arial" panose="020B0604020202020204" pitchFamily="34" charset="0"/>
              </a:rPr>
              <a:t>Use 2 automated lines</a:t>
            </a:r>
          </a:p>
        </p:txBody>
      </p:sp>
      <p:sp>
        <p:nvSpPr>
          <p:cNvPr id="102549" name="Rectangle 149">
            <a:extLst>
              <a:ext uri="{FF2B5EF4-FFF2-40B4-BE49-F238E27FC236}">
                <a16:creationId xmlns:a16="http://schemas.microsoft.com/office/drawing/2014/main" id="{FDD84B09-153C-DC56-C6FF-2B1979C9A31C}"/>
              </a:ext>
            </a:extLst>
          </p:cNvPr>
          <p:cNvSpPr>
            <a:spLocks noChangeArrowheads="1"/>
          </p:cNvSpPr>
          <p:nvPr/>
        </p:nvSpPr>
        <p:spPr bwMode="auto">
          <a:xfrm>
            <a:off x="8221663" y="5143500"/>
            <a:ext cx="12192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0"/>
              </a:spcBef>
              <a:buFontTx/>
              <a:buNone/>
            </a:pPr>
            <a:r>
              <a:rPr lang="en-US" altLang="en-US" sz="1800">
                <a:solidFill>
                  <a:srgbClr val="000000"/>
                </a:solidFill>
                <a:latin typeface="Arial" panose="020B0604020202020204" pitchFamily="34" charset="0"/>
              </a:rPr>
              <a:t>Use 3 automated lines</a:t>
            </a:r>
          </a:p>
        </p:txBody>
      </p:sp>
      <p:sp>
        <p:nvSpPr>
          <p:cNvPr id="102550" name="Line 150">
            <a:extLst>
              <a:ext uri="{FF2B5EF4-FFF2-40B4-BE49-F238E27FC236}">
                <a16:creationId xmlns:a16="http://schemas.microsoft.com/office/drawing/2014/main" id="{009B592E-513C-EEDC-E186-67B888259424}"/>
              </a:ext>
            </a:extLst>
          </p:cNvPr>
          <p:cNvSpPr>
            <a:spLocks noChangeShapeType="1"/>
          </p:cNvSpPr>
          <p:nvPr/>
        </p:nvSpPr>
        <p:spPr bwMode="auto">
          <a:xfrm flipV="1">
            <a:off x="3729038" y="2676525"/>
            <a:ext cx="0" cy="1676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1" name="Line 151">
            <a:extLst>
              <a:ext uri="{FF2B5EF4-FFF2-40B4-BE49-F238E27FC236}">
                <a16:creationId xmlns:a16="http://schemas.microsoft.com/office/drawing/2014/main" id="{85E89F5B-8007-5539-6857-31F71E57CA63}"/>
              </a:ext>
            </a:extLst>
          </p:cNvPr>
          <p:cNvSpPr>
            <a:spLocks noChangeShapeType="1"/>
          </p:cNvSpPr>
          <p:nvPr/>
        </p:nvSpPr>
        <p:spPr bwMode="auto">
          <a:xfrm flipV="1">
            <a:off x="4976813" y="3200400"/>
            <a:ext cx="0" cy="11430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2" name="Line 152">
            <a:extLst>
              <a:ext uri="{FF2B5EF4-FFF2-40B4-BE49-F238E27FC236}">
                <a16:creationId xmlns:a16="http://schemas.microsoft.com/office/drawing/2014/main" id="{14F7ED16-037B-E1F9-53B8-7E4B291C1B1F}"/>
              </a:ext>
            </a:extLst>
          </p:cNvPr>
          <p:cNvSpPr>
            <a:spLocks noChangeShapeType="1"/>
          </p:cNvSpPr>
          <p:nvPr/>
        </p:nvSpPr>
        <p:spPr bwMode="auto">
          <a:xfrm flipV="1">
            <a:off x="5795963" y="3352800"/>
            <a:ext cx="0" cy="9906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3" name="Line 153">
            <a:extLst>
              <a:ext uri="{FF2B5EF4-FFF2-40B4-BE49-F238E27FC236}">
                <a16:creationId xmlns:a16="http://schemas.microsoft.com/office/drawing/2014/main" id="{3D4758B1-B060-4F1E-2A70-D755AA6FEA5E}"/>
              </a:ext>
            </a:extLst>
          </p:cNvPr>
          <p:cNvSpPr>
            <a:spLocks noChangeShapeType="1"/>
          </p:cNvSpPr>
          <p:nvPr/>
        </p:nvSpPr>
        <p:spPr bwMode="auto">
          <a:xfrm flipV="1">
            <a:off x="6719888" y="3209925"/>
            <a:ext cx="0" cy="11430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4" name="Line 154">
            <a:extLst>
              <a:ext uri="{FF2B5EF4-FFF2-40B4-BE49-F238E27FC236}">
                <a16:creationId xmlns:a16="http://schemas.microsoft.com/office/drawing/2014/main" id="{1C6E2389-79A0-FD6D-1D56-D60FDBB7F5B8}"/>
              </a:ext>
            </a:extLst>
          </p:cNvPr>
          <p:cNvSpPr>
            <a:spLocks noChangeShapeType="1"/>
          </p:cNvSpPr>
          <p:nvPr/>
        </p:nvSpPr>
        <p:spPr bwMode="auto">
          <a:xfrm flipV="1">
            <a:off x="6910388" y="3276600"/>
            <a:ext cx="0" cy="1066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5" name="Line 155">
            <a:extLst>
              <a:ext uri="{FF2B5EF4-FFF2-40B4-BE49-F238E27FC236}">
                <a16:creationId xmlns:a16="http://schemas.microsoft.com/office/drawing/2014/main" id="{40F564AC-FED3-0205-4A08-CED44605E095}"/>
              </a:ext>
            </a:extLst>
          </p:cNvPr>
          <p:cNvSpPr>
            <a:spLocks noChangeShapeType="1"/>
          </p:cNvSpPr>
          <p:nvPr/>
        </p:nvSpPr>
        <p:spPr bwMode="auto">
          <a:xfrm flipV="1">
            <a:off x="5795963" y="2886075"/>
            <a:ext cx="0" cy="4572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6" name="Line 156">
            <a:extLst>
              <a:ext uri="{FF2B5EF4-FFF2-40B4-BE49-F238E27FC236}">
                <a16:creationId xmlns:a16="http://schemas.microsoft.com/office/drawing/2014/main" id="{BF66AC72-5B20-A674-AD31-260EAB5922FF}"/>
              </a:ext>
            </a:extLst>
          </p:cNvPr>
          <p:cNvSpPr>
            <a:spLocks noChangeShapeType="1"/>
          </p:cNvSpPr>
          <p:nvPr/>
        </p:nvSpPr>
        <p:spPr bwMode="auto">
          <a:xfrm flipV="1">
            <a:off x="8291513" y="2971800"/>
            <a:ext cx="0" cy="13716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2557" name="Line 157">
            <a:extLst>
              <a:ext uri="{FF2B5EF4-FFF2-40B4-BE49-F238E27FC236}">
                <a16:creationId xmlns:a16="http://schemas.microsoft.com/office/drawing/2014/main" id="{BB31AE04-251B-A9E7-F536-7244F9F1C717}"/>
              </a:ext>
            </a:extLst>
          </p:cNvPr>
          <p:cNvSpPr>
            <a:spLocks noChangeShapeType="1"/>
          </p:cNvSpPr>
          <p:nvPr/>
        </p:nvSpPr>
        <p:spPr bwMode="auto">
          <a:xfrm flipV="1">
            <a:off x="9291638" y="2438400"/>
            <a:ext cx="0" cy="19050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510"/>
                                        </p:tgtEl>
                                        <p:attrNameLst>
                                          <p:attrName>style.visibility</p:attrName>
                                        </p:attrNameLst>
                                      </p:cBhvr>
                                      <p:to>
                                        <p:strVal val="visible"/>
                                      </p:to>
                                    </p:set>
                                    <p:animEffect transition="in" filter="wipe(left)">
                                      <p:cBhvr>
                                        <p:cTn id="7" dur="500"/>
                                        <p:tgtEl>
                                          <p:spTgt spid="1025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02442"/>
                                        </p:tgtEl>
                                        <p:attrNameLst>
                                          <p:attrName>style.visibility</p:attrName>
                                        </p:attrNameLst>
                                      </p:cBhvr>
                                      <p:to>
                                        <p:strVal val="visible"/>
                                      </p:to>
                                    </p:set>
                                  </p:childTnLst>
                                </p:cTn>
                              </p:par>
                            </p:childTnLst>
                          </p:cTn>
                        </p:par>
                        <p:par>
                          <p:cTn id="12" fill="hold" nodeType="afterGroup">
                            <p:stCondLst>
                              <p:cond delay="0"/>
                            </p:stCondLst>
                            <p:childTnLst>
                              <p:par>
                                <p:cTn id="13" presetID="22" presetClass="entr" presetSubtype="8" fill="hold" nodeType="afterEffect">
                                  <p:stCondLst>
                                    <p:cond delay="0"/>
                                  </p:stCondLst>
                                  <p:childTnLst>
                                    <p:set>
                                      <p:cBhvr>
                                        <p:cTn id="14" dur="1" fill="hold">
                                          <p:stCondLst>
                                            <p:cond delay="0"/>
                                          </p:stCondLst>
                                        </p:cTn>
                                        <p:tgtEl>
                                          <p:spTgt spid="102441"/>
                                        </p:tgtEl>
                                        <p:attrNameLst>
                                          <p:attrName>style.visibility</p:attrName>
                                        </p:attrNameLst>
                                      </p:cBhvr>
                                      <p:to>
                                        <p:strVal val="visible"/>
                                      </p:to>
                                    </p:set>
                                    <p:animEffect transition="in" filter="wipe(left)">
                                      <p:cBhvr>
                                        <p:cTn id="15" dur="500"/>
                                        <p:tgtEl>
                                          <p:spTgt spid="102441"/>
                                        </p:tgtEl>
                                      </p:cBhvr>
                                    </p:animEffect>
                                  </p:childTnLst>
                                </p:cTn>
                              </p:par>
                            </p:childTnLst>
                          </p:cTn>
                        </p:par>
                        <p:par>
                          <p:cTn id="16" fill="hold" nodeType="afterGroup">
                            <p:stCondLst>
                              <p:cond delay="500"/>
                            </p:stCondLst>
                            <p:childTnLst>
                              <p:par>
                                <p:cTn id="17" presetID="22" presetClass="entr" presetSubtype="1" fill="hold" nodeType="afterEffect">
                                  <p:stCondLst>
                                    <p:cond delay="0"/>
                                  </p:stCondLst>
                                  <p:childTnLst>
                                    <p:set>
                                      <p:cBhvr>
                                        <p:cTn id="18" dur="1" fill="hold">
                                          <p:stCondLst>
                                            <p:cond delay="0"/>
                                          </p:stCondLst>
                                        </p:cTn>
                                        <p:tgtEl>
                                          <p:spTgt spid="102550"/>
                                        </p:tgtEl>
                                        <p:attrNameLst>
                                          <p:attrName>style.visibility</p:attrName>
                                        </p:attrNameLst>
                                      </p:cBhvr>
                                      <p:to>
                                        <p:strVal val="visible"/>
                                      </p:to>
                                    </p:set>
                                    <p:animEffect transition="in" filter="wipe(up)">
                                      <p:cBhvr>
                                        <p:cTn id="19" dur="500"/>
                                        <p:tgtEl>
                                          <p:spTgt spid="102550"/>
                                        </p:tgtEl>
                                      </p:cBhvr>
                                    </p:animEffect>
                                  </p:childTnLst>
                                </p:cTn>
                              </p:par>
                            </p:childTnLst>
                          </p:cTn>
                        </p:par>
                        <p:par>
                          <p:cTn id="20" fill="hold" nodeType="afterGroup">
                            <p:stCondLst>
                              <p:cond delay="1000"/>
                            </p:stCondLst>
                            <p:childTnLst>
                              <p:par>
                                <p:cTn id="21" presetID="22" presetClass="entr" presetSubtype="1" fill="hold" nodeType="afterEffect">
                                  <p:stCondLst>
                                    <p:cond delay="0"/>
                                  </p:stCondLst>
                                  <p:childTnLst>
                                    <p:set>
                                      <p:cBhvr>
                                        <p:cTn id="22" dur="1" fill="hold">
                                          <p:stCondLst>
                                            <p:cond delay="0"/>
                                          </p:stCondLst>
                                        </p:cTn>
                                        <p:tgtEl>
                                          <p:spTgt spid="102551"/>
                                        </p:tgtEl>
                                        <p:attrNameLst>
                                          <p:attrName>style.visibility</p:attrName>
                                        </p:attrNameLst>
                                      </p:cBhvr>
                                      <p:to>
                                        <p:strVal val="visible"/>
                                      </p:to>
                                    </p:set>
                                    <p:animEffect transition="in" filter="wipe(up)">
                                      <p:cBhvr>
                                        <p:cTn id="23" dur="500"/>
                                        <p:tgtEl>
                                          <p:spTgt spid="102551"/>
                                        </p:tgtEl>
                                      </p:cBhvr>
                                    </p:animEffect>
                                  </p:childTnLst>
                                </p:cTn>
                              </p:par>
                            </p:childTnLst>
                          </p:cTn>
                        </p:par>
                        <p:par>
                          <p:cTn id="24" fill="hold" nodeType="afterGroup">
                            <p:stCondLst>
                              <p:cond delay="1500"/>
                            </p:stCondLst>
                            <p:childTnLst>
                              <p:par>
                                <p:cTn id="25" presetID="22" presetClass="entr" presetSubtype="1" fill="hold" nodeType="afterEffect">
                                  <p:stCondLst>
                                    <p:cond delay="0"/>
                                  </p:stCondLst>
                                  <p:childTnLst>
                                    <p:set>
                                      <p:cBhvr>
                                        <p:cTn id="26" dur="1" fill="hold">
                                          <p:stCondLst>
                                            <p:cond delay="0"/>
                                          </p:stCondLst>
                                        </p:cTn>
                                        <p:tgtEl>
                                          <p:spTgt spid="102455"/>
                                        </p:tgtEl>
                                        <p:attrNameLst>
                                          <p:attrName>style.visibility</p:attrName>
                                        </p:attrNameLst>
                                      </p:cBhvr>
                                      <p:to>
                                        <p:strVal val="visible"/>
                                      </p:to>
                                    </p:set>
                                    <p:animEffect transition="in" filter="wipe(up)">
                                      <p:cBhvr>
                                        <p:cTn id="27" dur="500"/>
                                        <p:tgtEl>
                                          <p:spTgt spid="102455"/>
                                        </p:tgtEl>
                                      </p:cBhvr>
                                    </p:animEffect>
                                  </p:childTnLst>
                                </p:cTn>
                              </p:par>
                              <p:par>
                                <p:cTn id="28" presetID="22" presetClass="entr" presetSubtype="1" fill="hold" nodeType="withEffect">
                                  <p:stCondLst>
                                    <p:cond delay="0"/>
                                  </p:stCondLst>
                                  <p:childTnLst>
                                    <p:set>
                                      <p:cBhvr>
                                        <p:cTn id="29" dur="1" fill="hold">
                                          <p:stCondLst>
                                            <p:cond delay="0"/>
                                          </p:stCondLst>
                                        </p:cTn>
                                        <p:tgtEl>
                                          <p:spTgt spid="102410"/>
                                        </p:tgtEl>
                                        <p:attrNameLst>
                                          <p:attrName>style.visibility</p:attrName>
                                        </p:attrNameLst>
                                      </p:cBhvr>
                                      <p:to>
                                        <p:strVal val="visible"/>
                                      </p:to>
                                    </p:set>
                                    <p:animEffect transition="in" filter="wipe(up)">
                                      <p:cBhvr>
                                        <p:cTn id="30" dur="500"/>
                                        <p:tgtEl>
                                          <p:spTgt spid="102410"/>
                                        </p:tgtEl>
                                      </p:cBhvr>
                                    </p:animEffect>
                                  </p:childTnLst>
                                </p:cTn>
                              </p:par>
                            </p:childTnLst>
                          </p:cTn>
                        </p:par>
                        <p:par>
                          <p:cTn id="31" fill="hold" nodeType="afterGroup">
                            <p:stCondLst>
                              <p:cond delay="2000"/>
                            </p:stCondLst>
                            <p:childTnLst>
                              <p:par>
                                <p:cTn id="32" presetID="16" presetClass="entr" presetSubtype="37" fill="hold" nodeType="afterEffect">
                                  <p:stCondLst>
                                    <p:cond delay="0"/>
                                  </p:stCondLst>
                                  <p:childTnLst>
                                    <p:set>
                                      <p:cBhvr>
                                        <p:cTn id="33" dur="1" fill="hold">
                                          <p:stCondLst>
                                            <p:cond delay="0"/>
                                          </p:stCondLst>
                                        </p:cTn>
                                        <p:tgtEl>
                                          <p:spTgt spid="102435"/>
                                        </p:tgtEl>
                                        <p:attrNameLst>
                                          <p:attrName>style.visibility</p:attrName>
                                        </p:attrNameLst>
                                      </p:cBhvr>
                                      <p:to>
                                        <p:strVal val="visible"/>
                                      </p:to>
                                    </p:set>
                                    <p:animEffect transition="in" filter="barn(outVertical)">
                                      <p:cBhvr>
                                        <p:cTn id="34" dur="500"/>
                                        <p:tgtEl>
                                          <p:spTgt spid="102435"/>
                                        </p:tgtEl>
                                      </p:cBhvr>
                                    </p:animEffect>
                                  </p:childTnLst>
                                </p:cTn>
                              </p:par>
                              <p:par>
                                <p:cTn id="35" presetID="16" presetClass="entr" presetSubtype="37" fill="hold" nodeType="withEffect">
                                  <p:stCondLst>
                                    <p:cond delay="0"/>
                                  </p:stCondLst>
                                  <p:childTnLst>
                                    <p:set>
                                      <p:cBhvr>
                                        <p:cTn id="36" dur="1" fill="hold">
                                          <p:stCondLst>
                                            <p:cond delay="0"/>
                                          </p:stCondLst>
                                        </p:cTn>
                                        <p:tgtEl>
                                          <p:spTgt spid="102436"/>
                                        </p:tgtEl>
                                        <p:attrNameLst>
                                          <p:attrName>style.visibility</p:attrName>
                                        </p:attrNameLst>
                                      </p:cBhvr>
                                      <p:to>
                                        <p:strVal val="visible"/>
                                      </p:to>
                                    </p:set>
                                    <p:animEffect transition="in" filter="barn(outVertical)">
                                      <p:cBhvr>
                                        <p:cTn id="37" dur="500"/>
                                        <p:tgtEl>
                                          <p:spTgt spid="1024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102433"/>
                                        </p:tgtEl>
                                        <p:attrNameLst>
                                          <p:attrName>style.visibility</p:attrName>
                                        </p:attrNameLst>
                                      </p:cBhvr>
                                      <p:to>
                                        <p:strVal val="visible"/>
                                      </p:to>
                                    </p:set>
                                  </p:childTnLst>
                                </p:cTn>
                              </p:par>
                            </p:childTnLst>
                          </p:cTn>
                        </p:par>
                        <p:par>
                          <p:cTn id="42" fill="hold" nodeType="afterGroup">
                            <p:stCondLst>
                              <p:cond delay="0"/>
                            </p:stCondLst>
                            <p:childTnLst>
                              <p:par>
                                <p:cTn id="43" presetID="22" presetClass="entr" presetSubtype="8" fill="hold" nodeType="afterEffect">
                                  <p:stCondLst>
                                    <p:cond delay="0"/>
                                  </p:stCondLst>
                                  <p:childTnLst>
                                    <p:set>
                                      <p:cBhvr>
                                        <p:cTn id="44" dur="1" fill="hold">
                                          <p:stCondLst>
                                            <p:cond delay="0"/>
                                          </p:stCondLst>
                                        </p:cTn>
                                        <p:tgtEl>
                                          <p:spTgt spid="102449"/>
                                        </p:tgtEl>
                                        <p:attrNameLst>
                                          <p:attrName>style.visibility</p:attrName>
                                        </p:attrNameLst>
                                      </p:cBhvr>
                                      <p:to>
                                        <p:strVal val="visible"/>
                                      </p:to>
                                    </p:set>
                                    <p:animEffect transition="in" filter="wipe(left)">
                                      <p:cBhvr>
                                        <p:cTn id="45" dur="500"/>
                                        <p:tgtEl>
                                          <p:spTgt spid="102449"/>
                                        </p:tgtEl>
                                      </p:cBhvr>
                                    </p:animEffect>
                                  </p:childTnLst>
                                </p:cTn>
                              </p:par>
                            </p:childTnLst>
                          </p:cTn>
                        </p:par>
                        <p:par>
                          <p:cTn id="46" fill="hold" nodeType="afterGroup">
                            <p:stCondLst>
                              <p:cond delay="500"/>
                            </p:stCondLst>
                            <p:childTnLst>
                              <p:par>
                                <p:cTn id="47" presetID="22" presetClass="entr" presetSubtype="1" fill="hold" nodeType="afterEffect">
                                  <p:stCondLst>
                                    <p:cond delay="0"/>
                                  </p:stCondLst>
                                  <p:childTnLst>
                                    <p:set>
                                      <p:cBhvr>
                                        <p:cTn id="48" dur="1" fill="hold">
                                          <p:stCondLst>
                                            <p:cond delay="0"/>
                                          </p:stCondLst>
                                        </p:cTn>
                                        <p:tgtEl>
                                          <p:spTgt spid="102552"/>
                                        </p:tgtEl>
                                        <p:attrNameLst>
                                          <p:attrName>style.visibility</p:attrName>
                                        </p:attrNameLst>
                                      </p:cBhvr>
                                      <p:to>
                                        <p:strVal val="visible"/>
                                      </p:to>
                                    </p:set>
                                    <p:animEffect transition="in" filter="wipe(up)">
                                      <p:cBhvr>
                                        <p:cTn id="49" dur="500"/>
                                        <p:tgtEl>
                                          <p:spTgt spid="102552"/>
                                        </p:tgtEl>
                                      </p:cBhvr>
                                    </p:animEffect>
                                  </p:childTnLst>
                                </p:cTn>
                              </p:par>
                            </p:childTnLst>
                          </p:cTn>
                        </p:par>
                        <p:par>
                          <p:cTn id="50" fill="hold" nodeType="afterGroup">
                            <p:stCondLst>
                              <p:cond delay="1000"/>
                            </p:stCondLst>
                            <p:childTnLst>
                              <p:par>
                                <p:cTn id="51" presetID="22" presetClass="entr" presetSubtype="1" fill="hold" nodeType="afterEffect">
                                  <p:stCondLst>
                                    <p:cond delay="0"/>
                                  </p:stCondLst>
                                  <p:childTnLst>
                                    <p:set>
                                      <p:cBhvr>
                                        <p:cTn id="52" dur="1" fill="hold">
                                          <p:stCondLst>
                                            <p:cond delay="0"/>
                                          </p:stCondLst>
                                        </p:cTn>
                                        <p:tgtEl>
                                          <p:spTgt spid="102553"/>
                                        </p:tgtEl>
                                        <p:attrNameLst>
                                          <p:attrName>style.visibility</p:attrName>
                                        </p:attrNameLst>
                                      </p:cBhvr>
                                      <p:to>
                                        <p:strVal val="visible"/>
                                      </p:to>
                                    </p:set>
                                    <p:animEffect transition="in" filter="wipe(up)">
                                      <p:cBhvr>
                                        <p:cTn id="53" dur="500"/>
                                        <p:tgtEl>
                                          <p:spTgt spid="102553"/>
                                        </p:tgtEl>
                                      </p:cBhvr>
                                    </p:animEffect>
                                  </p:childTnLst>
                                </p:cTn>
                              </p:par>
                            </p:childTnLst>
                          </p:cTn>
                        </p:par>
                        <p:par>
                          <p:cTn id="54" fill="hold" nodeType="afterGroup">
                            <p:stCondLst>
                              <p:cond delay="1500"/>
                            </p:stCondLst>
                            <p:childTnLst>
                              <p:par>
                                <p:cTn id="55" presetID="22" presetClass="entr" presetSubtype="1" fill="hold" nodeType="afterEffect">
                                  <p:stCondLst>
                                    <p:cond delay="0"/>
                                  </p:stCondLst>
                                  <p:childTnLst>
                                    <p:set>
                                      <p:cBhvr>
                                        <p:cTn id="56" dur="1" fill="hold">
                                          <p:stCondLst>
                                            <p:cond delay="0"/>
                                          </p:stCondLst>
                                        </p:cTn>
                                        <p:tgtEl>
                                          <p:spTgt spid="102508"/>
                                        </p:tgtEl>
                                        <p:attrNameLst>
                                          <p:attrName>style.visibility</p:attrName>
                                        </p:attrNameLst>
                                      </p:cBhvr>
                                      <p:to>
                                        <p:strVal val="visible"/>
                                      </p:to>
                                    </p:set>
                                    <p:animEffect transition="in" filter="wipe(up)">
                                      <p:cBhvr>
                                        <p:cTn id="57" dur="500"/>
                                        <p:tgtEl>
                                          <p:spTgt spid="102508"/>
                                        </p:tgtEl>
                                      </p:cBhvr>
                                    </p:animEffect>
                                  </p:childTnLst>
                                </p:cTn>
                              </p:par>
                            </p:childTnLst>
                          </p:cTn>
                        </p:par>
                        <p:par>
                          <p:cTn id="58" fill="hold" nodeType="afterGroup">
                            <p:stCondLst>
                              <p:cond delay="2000"/>
                            </p:stCondLst>
                            <p:childTnLst>
                              <p:par>
                                <p:cTn id="59" presetID="1" presetClass="entr" presetSubtype="0" fill="hold" nodeType="afterEffect">
                                  <p:stCondLst>
                                    <p:cond delay="0"/>
                                  </p:stCondLst>
                                  <p:childTnLst>
                                    <p:set>
                                      <p:cBhvr>
                                        <p:cTn id="60" dur="1" fill="hold">
                                          <p:stCondLst>
                                            <p:cond delay="0"/>
                                          </p:stCondLst>
                                        </p:cTn>
                                        <p:tgtEl>
                                          <p:spTgt spid="102509"/>
                                        </p:tgtEl>
                                        <p:attrNameLst>
                                          <p:attrName>style.visibility</p:attrName>
                                        </p:attrNameLst>
                                      </p:cBhvr>
                                      <p:to>
                                        <p:strVal val="visible"/>
                                      </p:to>
                                    </p:set>
                                  </p:childTnLst>
                                </p:cTn>
                              </p:par>
                            </p:childTnLst>
                          </p:cTn>
                        </p:par>
                        <p:par>
                          <p:cTn id="61" fill="hold" nodeType="afterGroup">
                            <p:stCondLst>
                              <p:cond delay="2000"/>
                            </p:stCondLst>
                            <p:childTnLst>
                              <p:par>
                                <p:cTn id="62" presetID="22" presetClass="entr" presetSubtype="1" fill="hold" nodeType="afterEffect">
                                  <p:stCondLst>
                                    <p:cond delay="0"/>
                                  </p:stCondLst>
                                  <p:childTnLst>
                                    <p:set>
                                      <p:cBhvr>
                                        <p:cTn id="63" dur="1" fill="hold">
                                          <p:stCondLst>
                                            <p:cond delay="0"/>
                                          </p:stCondLst>
                                        </p:cTn>
                                        <p:tgtEl>
                                          <p:spTgt spid="102403"/>
                                        </p:tgtEl>
                                        <p:attrNameLst>
                                          <p:attrName>style.visibility</p:attrName>
                                        </p:attrNameLst>
                                      </p:cBhvr>
                                      <p:to>
                                        <p:strVal val="visible"/>
                                      </p:to>
                                    </p:set>
                                    <p:animEffect transition="in" filter="wipe(up)">
                                      <p:cBhvr>
                                        <p:cTn id="64" dur="500"/>
                                        <p:tgtEl>
                                          <p:spTgt spid="102403"/>
                                        </p:tgtEl>
                                      </p:cBhvr>
                                    </p:animEffect>
                                  </p:childTnLst>
                                </p:cTn>
                              </p:par>
                            </p:childTnLst>
                          </p:cTn>
                        </p:par>
                        <p:par>
                          <p:cTn id="65" fill="hold" nodeType="afterGroup">
                            <p:stCondLst>
                              <p:cond delay="2500"/>
                            </p:stCondLst>
                            <p:childTnLst>
                              <p:par>
                                <p:cTn id="66" presetID="16" presetClass="entr" presetSubtype="37" fill="hold" nodeType="afterEffect">
                                  <p:stCondLst>
                                    <p:cond delay="0"/>
                                  </p:stCondLst>
                                  <p:childTnLst>
                                    <p:set>
                                      <p:cBhvr>
                                        <p:cTn id="67" dur="1" fill="hold">
                                          <p:stCondLst>
                                            <p:cond delay="0"/>
                                          </p:stCondLst>
                                        </p:cTn>
                                        <p:tgtEl>
                                          <p:spTgt spid="102547"/>
                                        </p:tgtEl>
                                        <p:attrNameLst>
                                          <p:attrName>style.visibility</p:attrName>
                                        </p:attrNameLst>
                                      </p:cBhvr>
                                      <p:to>
                                        <p:strVal val="visible"/>
                                      </p:to>
                                    </p:set>
                                    <p:animEffect transition="in" filter="barn(outVertical)">
                                      <p:cBhvr>
                                        <p:cTn id="68" dur="500"/>
                                        <p:tgtEl>
                                          <p:spTgt spid="102547"/>
                                        </p:tgtEl>
                                      </p:cBhvr>
                                    </p:animEffect>
                                  </p:childTnLst>
                                </p:cTn>
                              </p:par>
                              <p:par>
                                <p:cTn id="69" presetID="16" presetClass="entr" presetSubtype="37" fill="hold" nodeType="withEffect">
                                  <p:stCondLst>
                                    <p:cond delay="0"/>
                                  </p:stCondLst>
                                  <p:childTnLst>
                                    <p:set>
                                      <p:cBhvr>
                                        <p:cTn id="70" dur="1" fill="hold">
                                          <p:stCondLst>
                                            <p:cond delay="0"/>
                                          </p:stCondLst>
                                        </p:cTn>
                                        <p:tgtEl>
                                          <p:spTgt spid="102437"/>
                                        </p:tgtEl>
                                        <p:attrNameLst>
                                          <p:attrName>style.visibility</p:attrName>
                                        </p:attrNameLst>
                                      </p:cBhvr>
                                      <p:to>
                                        <p:strVal val="visible"/>
                                      </p:to>
                                    </p:set>
                                    <p:animEffect transition="in" filter="barn(outVertical)">
                                      <p:cBhvr>
                                        <p:cTn id="71" dur="500"/>
                                        <p:tgtEl>
                                          <p:spTgt spid="10243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02446">
                                            <p:txEl>
                                              <p:pRg st="0" end="0"/>
                                            </p:txEl>
                                          </p:spTgt>
                                        </p:tgtEl>
                                        <p:attrNameLst>
                                          <p:attrName>style.visibility</p:attrName>
                                        </p:attrNameLst>
                                      </p:cBhvr>
                                      <p:to>
                                        <p:strVal val="visible"/>
                                      </p:to>
                                    </p:set>
                                  </p:childTnLst>
                                </p:cTn>
                              </p:par>
                            </p:childTnLst>
                          </p:cTn>
                        </p:par>
                        <p:par>
                          <p:cTn id="76" fill="hold" nodeType="afterGroup">
                            <p:stCondLst>
                              <p:cond delay="0"/>
                            </p:stCondLst>
                            <p:childTnLst>
                              <p:par>
                                <p:cTn id="77" presetID="22" presetClass="entr" presetSubtype="8" fill="hold" nodeType="afterEffect">
                                  <p:stCondLst>
                                    <p:cond delay="0"/>
                                  </p:stCondLst>
                                  <p:childTnLst>
                                    <p:set>
                                      <p:cBhvr>
                                        <p:cTn id="78" dur="1" fill="hold">
                                          <p:stCondLst>
                                            <p:cond delay="0"/>
                                          </p:stCondLst>
                                        </p:cTn>
                                        <p:tgtEl>
                                          <p:spTgt spid="102409"/>
                                        </p:tgtEl>
                                        <p:attrNameLst>
                                          <p:attrName>style.visibility</p:attrName>
                                        </p:attrNameLst>
                                      </p:cBhvr>
                                      <p:to>
                                        <p:strVal val="visible"/>
                                      </p:to>
                                    </p:set>
                                    <p:animEffect transition="in" filter="wipe(left)">
                                      <p:cBhvr>
                                        <p:cTn id="79" dur="500"/>
                                        <p:tgtEl>
                                          <p:spTgt spid="102409"/>
                                        </p:tgtEl>
                                      </p:cBhvr>
                                    </p:animEffect>
                                  </p:childTnLst>
                                </p:cTn>
                              </p:par>
                            </p:childTnLst>
                          </p:cTn>
                        </p:par>
                        <p:par>
                          <p:cTn id="80" fill="hold" nodeType="afterGroup">
                            <p:stCondLst>
                              <p:cond delay="500"/>
                            </p:stCondLst>
                            <p:childTnLst>
                              <p:par>
                                <p:cTn id="81" presetID="22" presetClass="entr" presetSubtype="1" fill="hold" nodeType="afterEffect">
                                  <p:stCondLst>
                                    <p:cond delay="0"/>
                                  </p:stCondLst>
                                  <p:childTnLst>
                                    <p:set>
                                      <p:cBhvr>
                                        <p:cTn id="82" dur="1" fill="hold">
                                          <p:stCondLst>
                                            <p:cond delay="0"/>
                                          </p:stCondLst>
                                        </p:cTn>
                                        <p:tgtEl>
                                          <p:spTgt spid="102554"/>
                                        </p:tgtEl>
                                        <p:attrNameLst>
                                          <p:attrName>style.visibility</p:attrName>
                                        </p:attrNameLst>
                                      </p:cBhvr>
                                      <p:to>
                                        <p:strVal val="visible"/>
                                      </p:to>
                                    </p:set>
                                    <p:animEffect transition="in" filter="wipe(up)">
                                      <p:cBhvr>
                                        <p:cTn id="83" dur="500"/>
                                        <p:tgtEl>
                                          <p:spTgt spid="102554"/>
                                        </p:tgtEl>
                                      </p:cBhvr>
                                    </p:animEffect>
                                  </p:childTnLst>
                                </p:cTn>
                              </p:par>
                            </p:childTnLst>
                          </p:cTn>
                        </p:par>
                        <p:par>
                          <p:cTn id="84" fill="hold" nodeType="afterGroup">
                            <p:stCondLst>
                              <p:cond delay="1000"/>
                            </p:stCondLst>
                            <p:childTnLst>
                              <p:par>
                                <p:cTn id="85" presetID="22" presetClass="entr" presetSubtype="1" fill="hold" nodeType="afterEffect">
                                  <p:stCondLst>
                                    <p:cond delay="0"/>
                                  </p:stCondLst>
                                  <p:childTnLst>
                                    <p:set>
                                      <p:cBhvr>
                                        <p:cTn id="86" dur="1" fill="hold">
                                          <p:stCondLst>
                                            <p:cond delay="0"/>
                                          </p:stCondLst>
                                        </p:cTn>
                                        <p:tgtEl>
                                          <p:spTgt spid="102556"/>
                                        </p:tgtEl>
                                        <p:attrNameLst>
                                          <p:attrName>style.visibility</p:attrName>
                                        </p:attrNameLst>
                                      </p:cBhvr>
                                      <p:to>
                                        <p:strVal val="visible"/>
                                      </p:to>
                                    </p:set>
                                    <p:animEffect transition="in" filter="wipe(up)">
                                      <p:cBhvr>
                                        <p:cTn id="87" dur="500"/>
                                        <p:tgtEl>
                                          <p:spTgt spid="102556"/>
                                        </p:tgtEl>
                                      </p:cBhvr>
                                    </p:animEffect>
                                  </p:childTnLst>
                                </p:cTn>
                              </p:par>
                            </p:childTnLst>
                          </p:cTn>
                        </p:par>
                        <p:par>
                          <p:cTn id="88" fill="hold" nodeType="afterGroup">
                            <p:stCondLst>
                              <p:cond delay="1500"/>
                            </p:stCondLst>
                            <p:childTnLst>
                              <p:par>
                                <p:cTn id="89" presetID="22" presetClass="entr" presetSubtype="1" fill="hold" nodeType="afterEffect">
                                  <p:stCondLst>
                                    <p:cond delay="0"/>
                                  </p:stCondLst>
                                  <p:childTnLst>
                                    <p:set>
                                      <p:cBhvr>
                                        <p:cTn id="90" dur="1" fill="hold">
                                          <p:stCondLst>
                                            <p:cond delay="0"/>
                                          </p:stCondLst>
                                        </p:cTn>
                                        <p:tgtEl>
                                          <p:spTgt spid="102418"/>
                                        </p:tgtEl>
                                        <p:attrNameLst>
                                          <p:attrName>style.visibility</p:attrName>
                                        </p:attrNameLst>
                                      </p:cBhvr>
                                      <p:to>
                                        <p:strVal val="visible"/>
                                      </p:to>
                                    </p:set>
                                    <p:animEffect transition="in" filter="wipe(up)">
                                      <p:cBhvr>
                                        <p:cTn id="91" dur="500"/>
                                        <p:tgtEl>
                                          <p:spTgt spid="102418"/>
                                        </p:tgtEl>
                                      </p:cBhvr>
                                    </p:animEffect>
                                  </p:childTnLst>
                                </p:cTn>
                              </p:par>
                            </p:childTnLst>
                          </p:cTn>
                        </p:par>
                        <p:par>
                          <p:cTn id="92" fill="hold" nodeType="afterGroup">
                            <p:stCondLst>
                              <p:cond delay="2000"/>
                            </p:stCondLst>
                            <p:childTnLst>
                              <p:par>
                                <p:cTn id="93" presetID="16" presetClass="entr" presetSubtype="37" fill="hold" nodeType="afterEffect">
                                  <p:stCondLst>
                                    <p:cond delay="0"/>
                                  </p:stCondLst>
                                  <p:childTnLst>
                                    <p:set>
                                      <p:cBhvr>
                                        <p:cTn id="94" dur="1" fill="hold">
                                          <p:stCondLst>
                                            <p:cond delay="0"/>
                                          </p:stCondLst>
                                        </p:cTn>
                                        <p:tgtEl>
                                          <p:spTgt spid="102438"/>
                                        </p:tgtEl>
                                        <p:attrNameLst>
                                          <p:attrName>style.visibility</p:attrName>
                                        </p:attrNameLst>
                                      </p:cBhvr>
                                      <p:to>
                                        <p:strVal val="visible"/>
                                      </p:to>
                                    </p:set>
                                    <p:animEffect transition="in" filter="barn(outVertical)">
                                      <p:cBhvr>
                                        <p:cTn id="95" dur="500"/>
                                        <p:tgtEl>
                                          <p:spTgt spid="102438"/>
                                        </p:tgtEl>
                                      </p:cBhvr>
                                    </p:animEffect>
                                  </p:childTnLst>
                                </p:cTn>
                              </p:par>
                              <p:par>
                                <p:cTn id="96" presetID="16" presetClass="entr" presetSubtype="37" fill="hold" nodeType="withEffect">
                                  <p:stCondLst>
                                    <p:cond delay="0"/>
                                  </p:stCondLst>
                                  <p:childTnLst>
                                    <p:set>
                                      <p:cBhvr>
                                        <p:cTn id="97" dur="1" fill="hold">
                                          <p:stCondLst>
                                            <p:cond delay="0"/>
                                          </p:stCondLst>
                                        </p:cTn>
                                        <p:tgtEl>
                                          <p:spTgt spid="102548"/>
                                        </p:tgtEl>
                                        <p:attrNameLst>
                                          <p:attrName>style.visibility</p:attrName>
                                        </p:attrNameLst>
                                      </p:cBhvr>
                                      <p:to>
                                        <p:strVal val="visible"/>
                                      </p:to>
                                    </p:set>
                                    <p:animEffect transition="in" filter="barn(outVertical)">
                                      <p:cBhvr>
                                        <p:cTn id="98" dur="500"/>
                                        <p:tgtEl>
                                          <p:spTgt spid="10254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102440"/>
                                        </p:tgtEl>
                                        <p:attrNameLst>
                                          <p:attrName>style.visibility</p:attrName>
                                        </p:attrNameLst>
                                      </p:cBhvr>
                                      <p:to>
                                        <p:strVal val="visible"/>
                                      </p:to>
                                    </p:set>
                                  </p:childTnLst>
                                </p:cTn>
                              </p:par>
                            </p:childTnLst>
                          </p:cTn>
                        </p:par>
                        <p:par>
                          <p:cTn id="103" fill="hold" nodeType="afterGroup">
                            <p:stCondLst>
                              <p:cond delay="0"/>
                            </p:stCondLst>
                            <p:childTnLst>
                              <p:par>
                                <p:cTn id="104" presetID="22" presetClass="entr" presetSubtype="8" fill="hold" nodeType="afterEffect">
                                  <p:stCondLst>
                                    <p:cond delay="0"/>
                                  </p:stCondLst>
                                  <p:childTnLst>
                                    <p:set>
                                      <p:cBhvr>
                                        <p:cTn id="105" dur="1" fill="hold">
                                          <p:stCondLst>
                                            <p:cond delay="0"/>
                                          </p:stCondLst>
                                        </p:cTn>
                                        <p:tgtEl>
                                          <p:spTgt spid="102434"/>
                                        </p:tgtEl>
                                        <p:attrNameLst>
                                          <p:attrName>style.visibility</p:attrName>
                                        </p:attrNameLst>
                                      </p:cBhvr>
                                      <p:to>
                                        <p:strVal val="visible"/>
                                      </p:to>
                                    </p:set>
                                    <p:animEffect transition="in" filter="wipe(left)">
                                      <p:cBhvr>
                                        <p:cTn id="106" dur="500"/>
                                        <p:tgtEl>
                                          <p:spTgt spid="102434"/>
                                        </p:tgtEl>
                                      </p:cBhvr>
                                    </p:animEffect>
                                  </p:childTnLst>
                                </p:cTn>
                              </p:par>
                            </p:childTnLst>
                          </p:cTn>
                        </p:par>
                        <p:par>
                          <p:cTn id="107" fill="hold" nodeType="afterGroup">
                            <p:stCondLst>
                              <p:cond delay="500"/>
                            </p:stCondLst>
                            <p:childTnLst>
                              <p:par>
                                <p:cTn id="108" presetID="22" presetClass="entr" presetSubtype="1" fill="hold" nodeType="afterEffect">
                                  <p:stCondLst>
                                    <p:cond delay="0"/>
                                  </p:stCondLst>
                                  <p:childTnLst>
                                    <p:set>
                                      <p:cBhvr>
                                        <p:cTn id="109" dur="1" fill="hold">
                                          <p:stCondLst>
                                            <p:cond delay="0"/>
                                          </p:stCondLst>
                                        </p:cTn>
                                        <p:tgtEl>
                                          <p:spTgt spid="102557"/>
                                        </p:tgtEl>
                                        <p:attrNameLst>
                                          <p:attrName>style.visibility</p:attrName>
                                        </p:attrNameLst>
                                      </p:cBhvr>
                                      <p:to>
                                        <p:strVal val="visible"/>
                                      </p:to>
                                    </p:set>
                                    <p:animEffect transition="in" filter="wipe(up)">
                                      <p:cBhvr>
                                        <p:cTn id="110" dur="500"/>
                                        <p:tgtEl>
                                          <p:spTgt spid="102557"/>
                                        </p:tgtEl>
                                      </p:cBhvr>
                                    </p:animEffect>
                                  </p:childTnLst>
                                </p:cTn>
                              </p:par>
                            </p:childTnLst>
                          </p:cTn>
                        </p:par>
                        <p:par>
                          <p:cTn id="111" fill="hold" nodeType="afterGroup">
                            <p:stCondLst>
                              <p:cond delay="1000"/>
                            </p:stCondLst>
                            <p:childTnLst>
                              <p:par>
                                <p:cTn id="112" presetID="22" presetClass="entr" presetSubtype="1" fill="hold" nodeType="afterEffect">
                                  <p:stCondLst>
                                    <p:cond delay="0"/>
                                  </p:stCondLst>
                                  <p:childTnLst>
                                    <p:set>
                                      <p:cBhvr>
                                        <p:cTn id="113" dur="1" fill="hold">
                                          <p:stCondLst>
                                            <p:cond delay="0"/>
                                          </p:stCondLst>
                                        </p:cTn>
                                        <p:tgtEl>
                                          <p:spTgt spid="102425"/>
                                        </p:tgtEl>
                                        <p:attrNameLst>
                                          <p:attrName>style.visibility</p:attrName>
                                        </p:attrNameLst>
                                      </p:cBhvr>
                                      <p:to>
                                        <p:strVal val="visible"/>
                                      </p:to>
                                    </p:set>
                                    <p:animEffect transition="in" filter="wipe(up)">
                                      <p:cBhvr>
                                        <p:cTn id="114" dur="500"/>
                                        <p:tgtEl>
                                          <p:spTgt spid="102425"/>
                                        </p:tgtEl>
                                      </p:cBhvr>
                                    </p:animEffect>
                                  </p:childTnLst>
                                </p:cTn>
                              </p:par>
                            </p:childTnLst>
                          </p:cTn>
                        </p:par>
                        <p:par>
                          <p:cTn id="115" fill="hold" nodeType="afterGroup">
                            <p:stCondLst>
                              <p:cond delay="1500"/>
                            </p:stCondLst>
                            <p:childTnLst>
                              <p:par>
                                <p:cTn id="116" presetID="16" presetClass="entr" presetSubtype="37" fill="hold" nodeType="afterEffect">
                                  <p:stCondLst>
                                    <p:cond delay="0"/>
                                  </p:stCondLst>
                                  <p:childTnLst>
                                    <p:set>
                                      <p:cBhvr>
                                        <p:cTn id="117" dur="1" fill="hold">
                                          <p:stCondLst>
                                            <p:cond delay="0"/>
                                          </p:stCondLst>
                                        </p:cTn>
                                        <p:tgtEl>
                                          <p:spTgt spid="102439"/>
                                        </p:tgtEl>
                                        <p:attrNameLst>
                                          <p:attrName>style.visibility</p:attrName>
                                        </p:attrNameLst>
                                      </p:cBhvr>
                                      <p:to>
                                        <p:strVal val="visible"/>
                                      </p:to>
                                    </p:set>
                                    <p:animEffect transition="in" filter="barn(outVertical)">
                                      <p:cBhvr>
                                        <p:cTn id="118" dur="500"/>
                                        <p:tgtEl>
                                          <p:spTgt spid="102439"/>
                                        </p:tgtEl>
                                      </p:cBhvr>
                                    </p:animEffect>
                                  </p:childTnLst>
                                </p:cTn>
                              </p:par>
                              <p:par>
                                <p:cTn id="119" presetID="16" presetClass="entr" presetSubtype="37" fill="hold" nodeType="withEffect">
                                  <p:stCondLst>
                                    <p:cond delay="0"/>
                                  </p:stCondLst>
                                  <p:childTnLst>
                                    <p:set>
                                      <p:cBhvr>
                                        <p:cTn id="120" dur="1" fill="hold">
                                          <p:stCondLst>
                                            <p:cond delay="0"/>
                                          </p:stCondLst>
                                        </p:cTn>
                                        <p:tgtEl>
                                          <p:spTgt spid="102549"/>
                                        </p:tgtEl>
                                        <p:attrNameLst>
                                          <p:attrName>style.visibility</p:attrName>
                                        </p:attrNameLst>
                                      </p:cBhvr>
                                      <p:to>
                                        <p:strVal val="visible"/>
                                      </p:to>
                                    </p:set>
                                    <p:animEffect transition="in" filter="barn(outVertical)">
                                      <p:cBhvr>
                                        <p:cTn id="121" dur="500"/>
                                        <p:tgtEl>
                                          <p:spTgt spid="10254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4" fill="hold" nodeType="clickEffect">
                                  <p:stCondLst>
                                    <p:cond delay="0"/>
                                  </p:stCondLst>
                                  <p:childTnLst>
                                    <p:set>
                                      <p:cBhvr>
                                        <p:cTn id="125" dur="1" fill="hold">
                                          <p:stCondLst>
                                            <p:cond delay="0"/>
                                          </p:stCondLst>
                                        </p:cTn>
                                        <p:tgtEl>
                                          <p:spTgt spid="102555"/>
                                        </p:tgtEl>
                                        <p:attrNameLst>
                                          <p:attrName>style.visibility</p:attrName>
                                        </p:attrNameLst>
                                      </p:cBhvr>
                                      <p:to>
                                        <p:strVal val="visible"/>
                                      </p:to>
                                    </p:set>
                                    <p:animEffect transition="in" filter="wipe(down)">
                                      <p:cBhvr>
                                        <p:cTn id="126" dur="500"/>
                                        <p:tgtEl>
                                          <p:spTgt spid="102555"/>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102445"/>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02545"/>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10254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02444"/>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nodeType="clickEffect">
                                  <p:stCondLst>
                                    <p:cond delay="0"/>
                                  </p:stCondLst>
                                  <p:childTnLst>
                                    <p:set>
                                      <p:cBhvr>
                                        <p:cTn id="142" dur="1" fill="hold">
                                          <p:stCondLst>
                                            <p:cond delay="0"/>
                                          </p:stCondLst>
                                        </p:cTn>
                                        <p:tgtEl>
                                          <p:spTgt spid="10244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02432"/>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nodeType="clickEffect">
                                  <p:stCondLst>
                                    <p:cond delay="0"/>
                                  </p:stCondLst>
                                  <p:childTnLst>
                                    <p:set>
                                      <p:cBhvr>
                                        <p:cTn id="148" dur="1" fill="hold">
                                          <p:stCondLst>
                                            <p:cond delay="0"/>
                                          </p:stCondLst>
                                        </p:cTn>
                                        <p:tgtEl>
                                          <p:spTgt spid="10244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02544"/>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nodeType="clickEffect">
                                  <p:stCondLst>
                                    <p:cond delay="0"/>
                                  </p:stCondLst>
                                  <p:childTnLst>
                                    <p:set>
                                      <p:cBhvr>
                                        <p:cTn id="154" dur="1" fill="hold">
                                          <p:stCondLst>
                                            <p:cond delay="0"/>
                                          </p:stCondLst>
                                        </p:cTn>
                                        <p:tgtEl>
                                          <p:spTgt spid="102546"/>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02448"/>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nodeType="clickEffect">
                                  <p:stCondLst>
                                    <p:cond delay="0"/>
                                  </p:stCondLst>
                                  <p:childTnLst>
                                    <p:set>
                                      <p:cBhvr>
                                        <p:cTn id="160" dur="1" fill="hold">
                                          <p:stCondLst>
                                            <p:cond delay="0"/>
                                          </p:stCondLst>
                                        </p:cTn>
                                        <p:tgtEl>
                                          <p:spTgt spid="102450"/>
                                        </p:tgtEl>
                                        <p:attrNameLst>
                                          <p:attrName>style.visibility</p:attrName>
                                        </p:attrNameLst>
                                      </p:cBhvr>
                                      <p:to>
                                        <p:strVal val="visible"/>
                                      </p:to>
                                    </p:set>
                                    <p:animEffect transition="in" filter="wipe(left)">
                                      <p:cBhvr>
                                        <p:cTn id="161" dur="2000"/>
                                        <p:tgtEl>
                                          <p:spTgt spid="102450"/>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102465"/>
                                        </p:tgtEl>
                                        <p:attrNameLst>
                                          <p:attrName>style.visibility</p:attrName>
                                        </p:attrNameLst>
                                      </p:cBhvr>
                                      <p:to>
                                        <p:strVal val="visible"/>
                                      </p:to>
                                    </p:set>
                                    <p:animEffect transition="in" filter="wipe(left)">
                                      <p:cBhvr>
                                        <p:cTn id="166" dur="2000"/>
                                        <p:tgtEl>
                                          <p:spTgt spid="102465"/>
                                        </p:tgtEl>
                                      </p:cBhvr>
                                    </p:animEffect>
                                  </p:childTnLst>
                                </p:cTn>
                              </p:par>
                            </p:childTnLst>
                          </p:cTn>
                        </p:par>
                        <p:par>
                          <p:cTn id="167" fill="hold" nodeType="afterGroup">
                            <p:stCondLst>
                              <p:cond delay="2000"/>
                            </p:stCondLst>
                            <p:childTnLst>
                              <p:par>
                                <p:cTn id="168" presetID="1" presetClass="entr" presetSubtype="0" fill="hold" nodeType="afterEffect">
                                  <p:stCondLst>
                                    <p:cond delay="0"/>
                                  </p:stCondLst>
                                  <p:childTnLst>
                                    <p:set>
                                      <p:cBhvr>
                                        <p:cTn id="169" dur="1" fill="hold">
                                          <p:stCondLst>
                                            <p:cond delay="0"/>
                                          </p:stCondLst>
                                        </p:cTn>
                                        <p:tgtEl>
                                          <p:spTgt spid="1024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1" grpId="0"/>
      <p:bldP spid="102433" grpId="0"/>
      <p:bldP spid="102435" grpId="0"/>
      <p:bldP spid="102440" grpId="0"/>
      <p:bldP spid="102442" grpId="0"/>
      <p:bldP spid="102443" grpId="0"/>
      <p:bldP spid="102444" grpId="0"/>
      <p:bldP spid="102445" grpId="0"/>
      <p:bldP spid="102447" grpId="0"/>
      <p:bldP spid="102448" grpId="0"/>
      <p:bldP spid="102509" grpId="0"/>
      <p:bldP spid="102547" grpId="0"/>
      <p:bldP spid="102548" grpId="0"/>
      <p:bldP spid="102549"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192" name="Rectangle 9319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3194" name="Rectangle 9319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3196" name="Rectangle 9319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705" name="Rectangle 2">
            <a:extLst>
              <a:ext uri="{FF2B5EF4-FFF2-40B4-BE49-F238E27FC236}">
                <a16:creationId xmlns:a16="http://schemas.microsoft.com/office/drawing/2014/main" id="{F68CC566-1E75-4781-B5FD-935EC493C9AA}"/>
              </a:ext>
            </a:extLst>
          </p:cNvPr>
          <p:cNvSpPr>
            <a:spLocks noGrp="1" noChangeArrowheads="1"/>
          </p:cNvSpPr>
          <p:nvPr>
            <p:ph type="title"/>
          </p:nvPr>
        </p:nvSpPr>
        <p:spPr>
          <a:xfrm>
            <a:off x="839796" y="548640"/>
            <a:ext cx="10168128" cy="1179576"/>
          </a:xfrm>
        </p:spPr>
        <p:txBody>
          <a:bodyPr>
            <a:normAutofit/>
          </a:bodyPr>
          <a:lstStyle/>
          <a:p>
            <a:pPr eaLnBrk="1" hangingPunct="1"/>
            <a:r>
              <a:rPr lang="en-US" altLang="en-US" b="1" dirty="0">
                <a:latin typeface="Times New Roman" panose="02020603050405020304" pitchFamily="18" charset="0"/>
                <a:cs typeface="Times New Roman" panose="02020603050405020304" pitchFamily="18" charset="0"/>
              </a:rPr>
              <a:t>Economies of Scale</a:t>
            </a:r>
          </a:p>
        </p:txBody>
      </p:sp>
      <p:sp>
        <p:nvSpPr>
          <p:cNvPr id="93198" name="Rectangle 9319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3187" name="Rectangle 3">
            <a:extLst>
              <a:ext uri="{FF2B5EF4-FFF2-40B4-BE49-F238E27FC236}">
                <a16:creationId xmlns:a16="http://schemas.microsoft.com/office/drawing/2014/main" id="{2A1CD247-2A75-B98A-16E1-704539D36297}"/>
              </a:ext>
            </a:extLst>
          </p:cNvPr>
          <p:cNvSpPr>
            <a:spLocks noGrp="1" noChangeArrowheads="1"/>
          </p:cNvSpPr>
          <p:nvPr>
            <p:ph idx="1"/>
          </p:nvPr>
        </p:nvSpPr>
        <p:spPr>
          <a:xfrm>
            <a:off x="662644" y="2356682"/>
            <a:ext cx="11059964" cy="4376057"/>
          </a:xfrm>
        </p:spPr>
        <p:txBody>
          <a:bodyPr rtlCol="0">
            <a:normAutofit/>
          </a:bodyPr>
          <a:lstStyle/>
          <a:p>
            <a:pPr eaLnBrk="1" fontAlgn="auto" hangingPunct="1">
              <a:spcAft>
                <a:spcPts val="0"/>
              </a:spcAft>
              <a:defRPr/>
            </a:pPr>
            <a:r>
              <a:rPr lang="en-US" altLang="en-US" b="1" dirty="0">
                <a:latin typeface="Times New Roman" panose="02020603050405020304" pitchFamily="18" charset="0"/>
                <a:cs typeface="Times New Roman" panose="02020603050405020304" pitchFamily="18" charset="0"/>
              </a:rPr>
              <a:t>Economics of scale</a:t>
            </a:r>
          </a:p>
          <a:p>
            <a:pPr marL="1115568" lvl="2" indent="-457200" eaLnBrk="1" fontAlgn="auto" hangingPunct="1">
              <a:spcAft>
                <a:spcPts val="0"/>
              </a:spcAft>
              <a:buFont typeface="Wingdings" pitchFamily="2" charset="2"/>
              <a:buChar char="§"/>
              <a:defRPr/>
            </a:pPr>
            <a:r>
              <a:rPr lang="en-US" altLang="en-US" sz="2800" b="1" dirty="0">
                <a:latin typeface="Times New Roman" panose="02020603050405020304" pitchFamily="18" charset="0"/>
                <a:cs typeface="Times New Roman" panose="02020603050405020304" pitchFamily="18" charset="0"/>
              </a:rPr>
              <a:t>The long-run average total cost falls as output increases</a:t>
            </a:r>
          </a:p>
          <a:p>
            <a:pPr lvl="2" eaLnBrk="1" fontAlgn="auto" hangingPunct="1">
              <a:spcAft>
                <a:spcPts val="0"/>
              </a:spcAft>
              <a:buFont typeface="Wingdings" pitchFamily="2" charset="2"/>
              <a:buChar char="§"/>
              <a:defRPr/>
            </a:pPr>
            <a:r>
              <a:rPr lang="en-US" altLang="en-US" sz="2800" dirty="0">
                <a:latin typeface="Times New Roman" panose="02020603050405020304" pitchFamily="18" charset="0"/>
                <a:cs typeface="Times New Roman" panose="02020603050405020304" pitchFamily="18" charset="0"/>
              </a:rPr>
              <a:t>When an increase in output causes LRATC to fall, we say that the firm is enjoying increasing economies of scale</a:t>
            </a:r>
          </a:p>
          <a:p>
            <a:pPr lvl="2" eaLnBrk="1" fontAlgn="auto" hangingPunct="1">
              <a:spcAft>
                <a:spcPts val="0"/>
              </a:spcAft>
              <a:buFont typeface="Wingdings" pitchFamily="2" charset="2"/>
              <a:buChar char="§"/>
              <a:defRPr/>
            </a:pPr>
            <a:r>
              <a:rPr lang="en-US" altLang="en-US" sz="2800" dirty="0">
                <a:latin typeface="Times New Roman" panose="02020603050405020304" pitchFamily="18" charset="0"/>
                <a:cs typeface="Times New Roman" panose="02020603050405020304" pitchFamily="18" charset="0"/>
              </a:rPr>
              <a:t>When long-run total cost rises proportionately less than output, production is characterized by decreasing economies of scale</a:t>
            </a:r>
          </a:p>
          <a:p>
            <a:pPr marL="201168" lvl="1" indent="0" eaLnBrk="1" fontAlgn="auto" hangingPunct="1">
              <a:spcAft>
                <a:spcPts val="0"/>
              </a:spcAft>
              <a:buFont typeface="Arial" panose="020B0604020202020204" pitchFamily="34" charset="0"/>
              <a:buNone/>
              <a:defRPr/>
            </a:pPr>
            <a:endParaRPr lang="en-US" altLang="en-US" sz="2800" b="1" dirty="0">
              <a:latin typeface="Times New Roman" panose="02020603050405020304" pitchFamily="18" charset="0"/>
              <a:cs typeface="Times New Roman" panose="02020603050405020304" pitchFamily="18" charset="0"/>
            </a:endParaRPr>
          </a:p>
          <a:p>
            <a:pPr marL="658368" lvl="1" indent="-457200" eaLnBrk="1" fontAlgn="auto" hangingPunct="1">
              <a:spcAft>
                <a:spcPts val="0"/>
              </a:spcAft>
              <a:defRPr/>
            </a:pPr>
            <a:r>
              <a:rPr lang="en-US" altLang="en-US" sz="2800" b="1" dirty="0">
                <a:latin typeface="Times New Roman" panose="02020603050405020304" pitchFamily="18" charset="0"/>
                <a:cs typeface="Times New Roman" panose="02020603050405020304" pitchFamily="18" charset="0"/>
              </a:rPr>
              <a:t>LRATC curve slopes downward</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2ACCD6C2-BA55-F8EB-DC06-5D04CA908FC4}"/>
              </a:ext>
            </a:extLst>
          </p:cNvPr>
          <p:cNvSpPr>
            <a:spLocks noGrp="1" noChangeArrowheads="1"/>
          </p:cNvSpPr>
          <p:nvPr>
            <p:ph type="title"/>
          </p:nvPr>
        </p:nvSpPr>
        <p:spPr>
          <a:xfrm>
            <a:off x="762000" y="274638"/>
            <a:ext cx="8229600" cy="942975"/>
          </a:xfrm>
        </p:spPr>
        <p:txBody>
          <a:bodyPr/>
          <a:lstStyle/>
          <a:p>
            <a:pPr eaLnBrk="1" hangingPunct="1"/>
            <a:r>
              <a:rPr lang="en-US" altLang="en-US" sz="5400" b="1">
                <a:latin typeface="Times New Roman" panose="02020603050405020304" pitchFamily="18" charset="0"/>
                <a:cs typeface="Times New Roman" panose="02020603050405020304" pitchFamily="18" charset="0"/>
              </a:rPr>
              <a:t>The Shape of LRATC</a:t>
            </a:r>
          </a:p>
        </p:txBody>
      </p:sp>
      <p:sp>
        <p:nvSpPr>
          <p:cNvPr id="73730" name="Line 3">
            <a:extLst>
              <a:ext uri="{FF2B5EF4-FFF2-40B4-BE49-F238E27FC236}">
                <a16:creationId xmlns:a16="http://schemas.microsoft.com/office/drawing/2014/main" id="{E28BF7B2-4600-51B2-4317-2E25B4879902}"/>
              </a:ext>
            </a:extLst>
          </p:cNvPr>
          <p:cNvSpPr>
            <a:spLocks noChangeShapeType="1"/>
          </p:cNvSpPr>
          <p:nvPr/>
        </p:nvSpPr>
        <p:spPr bwMode="auto">
          <a:xfrm>
            <a:off x="2982913" y="3921125"/>
            <a:ext cx="160337"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104452" name="Freeform 4">
            <a:extLst>
              <a:ext uri="{FF2B5EF4-FFF2-40B4-BE49-F238E27FC236}">
                <a16:creationId xmlns:a16="http://schemas.microsoft.com/office/drawing/2014/main" id="{F973BA0B-2A1D-6262-592B-4DB4CC5B28B3}"/>
              </a:ext>
            </a:extLst>
          </p:cNvPr>
          <p:cNvSpPr>
            <a:spLocks/>
          </p:cNvSpPr>
          <p:nvPr/>
        </p:nvSpPr>
        <p:spPr bwMode="auto">
          <a:xfrm>
            <a:off x="3803650" y="2227263"/>
            <a:ext cx="5895975" cy="1154112"/>
          </a:xfrm>
          <a:custGeom>
            <a:avLst/>
            <a:gdLst>
              <a:gd name="T0" fmla="*/ 0 w 3714"/>
              <a:gd name="T1" fmla="*/ 2147483646 h 727"/>
              <a:gd name="T2" fmla="*/ 0 w 3714"/>
              <a:gd name="T3" fmla="*/ 2147483646 h 727"/>
              <a:gd name="T4" fmla="*/ 2147483646 w 3714"/>
              <a:gd name="T5" fmla="*/ 2147483646 h 727"/>
              <a:gd name="T6" fmla="*/ 2147483646 w 3714"/>
              <a:gd name="T7" fmla="*/ 2147483646 h 727"/>
              <a:gd name="T8" fmla="*/ 2147483646 w 3714"/>
              <a:gd name="T9" fmla="*/ 2147483646 h 727"/>
              <a:gd name="T10" fmla="*/ 2147483646 w 3714"/>
              <a:gd name="T11" fmla="*/ 2147483646 h 727"/>
              <a:gd name="T12" fmla="*/ 2147483646 w 3714"/>
              <a:gd name="T13" fmla="*/ 2147483646 h 727"/>
              <a:gd name="T14" fmla="*/ 2147483646 w 3714"/>
              <a:gd name="T15" fmla="*/ 2147483646 h 727"/>
              <a:gd name="T16" fmla="*/ 2147483646 w 3714"/>
              <a:gd name="T17" fmla="*/ 2147483646 h 727"/>
              <a:gd name="T18" fmla="*/ 2147483646 w 3714"/>
              <a:gd name="T19" fmla="*/ 2147483646 h 727"/>
              <a:gd name="T20" fmla="*/ 2147483646 w 3714"/>
              <a:gd name="T21" fmla="*/ 2147483646 h 727"/>
              <a:gd name="T22" fmla="*/ 2147483646 w 3714"/>
              <a:gd name="T23" fmla="*/ 2147483646 h 727"/>
              <a:gd name="T24" fmla="*/ 2147483646 w 3714"/>
              <a:gd name="T25" fmla="*/ 2147483646 h 727"/>
              <a:gd name="T26" fmla="*/ 2147483646 w 3714"/>
              <a:gd name="T27" fmla="*/ 2147483646 h 727"/>
              <a:gd name="T28" fmla="*/ 2147483646 w 3714"/>
              <a:gd name="T29" fmla="*/ 2147483646 h 727"/>
              <a:gd name="T30" fmla="*/ 2147483646 w 3714"/>
              <a:gd name="T31" fmla="*/ 2147483646 h 727"/>
              <a:gd name="T32" fmla="*/ 2147483646 w 3714"/>
              <a:gd name="T33" fmla="*/ 2147483646 h 727"/>
              <a:gd name="T34" fmla="*/ 2147483646 w 3714"/>
              <a:gd name="T35" fmla="*/ 2147483646 h 727"/>
              <a:gd name="T36" fmla="*/ 2147483646 w 3714"/>
              <a:gd name="T37" fmla="*/ 2147483646 h 727"/>
              <a:gd name="T38" fmla="*/ 2147483646 w 3714"/>
              <a:gd name="T39" fmla="*/ 2147483646 h 727"/>
              <a:gd name="T40" fmla="*/ 2147483646 w 3714"/>
              <a:gd name="T41" fmla="*/ 2147483646 h 727"/>
              <a:gd name="T42" fmla="*/ 2147483646 w 3714"/>
              <a:gd name="T43" fmla="*/ 2147483646 h 727"/>
              <a:gd name="T44" fmla="*/ 2147483646 w 3714"/>
              <a:gd name="T45" fmla="*/ 2147483646 h 727"/>
              <a:gd name="T46" fmla="*/ 2147483646 w 3714"/>
              <a:gd name="T47" fmla="*/ 2147483646 h 727"/>
              <a:gd name="T48" fmla="*/ 2147483646 w 3714"/>
              <a:gd name="T49" fmla="*/ 2147483646 h 727"/>
              <a:gd name="T50" fmla="*/ 2147483646 w 3714"/>
              <a:gd name="T51" fmla="*/ 2147483646 h 727"/>
              <a:gd name="T52" fmla="*/ 2147483646 w 3714"/>
              <a:gd name="T53" fmla="*/ 2147483646 h 727"/>
              <a:gd name="T54" fmla="*/ 2147483646 w 3714"/>
              <a:gd name="T55" fmla="*/ 2147483646 h 727"/>
              <a:gd name="T56" fmla="*/ 2147483646 w 3714"/>
              <a:gd name="T57" fmla="*/ 2147483646 h 727"/>
              <a:gd name="T58" fmla="*/ 2147483646 w 3714"/>
              <a:gd name="T59" fmla="*/ 2147483646 h 727"/>
              <a:gd name="T60" fmla="*/ 2147483646 w 3714"/>
              <a:gd name="T61" fmla="*/ 2147483646 h 727"/>
              <a:gd name="T62" fmla="*/ 2147483646 w 3714"/>
              <a:gd name="T63" fmla="*/ 2147483646 h 727"/>
              <a:gd name="T64" fmla="*/ 2147483646 w 3714"/>
              <a:gd name="T65" fmla="*/ 2147483646 h 727"/>
              <a:gd name="T66" fmla="*/ 2147483646 w 3714"/>
              <a:gd name="T67" fmla="*/ 2147483646 h 727"/>
              <a:gd name="T68" fmla="*/ 2147483646 w 3714"/>
              <a:gd name="T69" fmla="*/ 2147483646 h 727"/>
              <a:gd name="T70" fmla="*/ 2147483646 w 3714"/>
              <a:gd name="T71" fmla="*/ 2147483646 h 727"/>
              <a:gd name="T72" fmla="*/ 2147483646 w 3714"/>
              <a:gd name="T73" fmla="*/ 2147483646 h 727"/>
              <a:gd name="T74" fmla="*/ 2147483646 w 3714"/>
              <a:gd name="T75" fmla="*/ 2147483646 h 727"/>
              <a:gd name="T76" fmla="*/ 2147483646 w 3714"/>
              <a:gd name="T77" fmla="*/ 2147483646 h 727"/>
              <a:gd name="T78" fmla="*/ 2147483646 w 3714"/>
              <a:gd name="T79" fmla="*/ 2147483646 h 727"/>
              <a:gd name="T80" fmla="*/ 2147483646 w 3714"/>
              <a:gd name="T81" fmla="*/ 2147483646 h 727"/>
              <a:gd name="T82" fmla="*/ 2147483646 w 3714"/>
              <a:gd name="T83" fmla="*/ 2147483646 h 727"/>
              <a:gd name="T84" fmla="*/ 2147483646 w 3714"/>
              <a:gd name="T85" fmla="*/ 2147483646 h 727"/>
              <a:gd name="T86" fmla="*/ 2147483646 w 3714"/>
              <a:gd name="T87" fmla="*/ 2147483646 h 727"/>
              <a:gd name="T88" fmla="*/ 2147483646 w 3714"/>
              <a:gd name="T89" fmla="*/ 2147483646 h 727"/>
              <a:gd name="T90" fmla="*/ 2147483646 w 3714"/>
              <a:gd name="T91" fmla="*/ 2147483646 h 727"/>
              <a:gd name="T92" fmla="*/ 2147483646 w 3714"/>
              <a:gd name="T93" fmla="*/ 2147483646 h 727"/>
              <a:gd name="T94" fmla="*/ 2147483646 w 3714"/>
              <a:gd name="T95" fmla="*/ 0 h 7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714" h="727">
                <a:moveTo>
                  <a:pt x="0" y="256"/>
                </a:moveTo>
                <a:lnTo>
                  <a:pt x="0" y="256"/>
                </a:lnTo>
                <a:lnTo>
                  <a:pt x="33" y="298"/>
                </a:lnTo>
                <a:lnTo>
                  <a:pt x="67" y="334"/>
                </a:lnTo>
                <a:lnTo>
                  <a:pt x="101" y="369"/>
                </a:lnTo>
                <a:lnTo>
                  <a:pt x="135" y="402"/>
                </a:lnTo>
                <a:lnTo>
                  <a:pt x="177" y="432"/>
                </a:lnTo>
                <a:lnTo>
                  <a:pt x="216" y="462"/>
                </a:lnTo>
                <a:lnTo>
                  <a:pt x="258" y="489"/>
                </a:lnTo>
                <a:lnTo>
                  <a:pt x="300" y="512"/>
                </a:lnTo>
                <a:lnTo>
                  <a:pt x="343" y="536"/>
                </a:lnTo>
                <a:lnTo>
                  <a:pt x="389" y="557"/>
                </a:lnTo>
                <a:lnTo>
                  <a:pt x="478" y="596"/>
                </a:lnTo>
                <a:lnTo>
                  <a:pt x="576" y="629"/>
                </a:lnTo>
                <a:lnTo>
                  <a:pt x="673" y="655"/>
                </a:lnTo>
                <a:lnTo>
                  <a:pt x="770" y="676"/>
                </a:lnTo>
                <a:lnTo>
                  <a:pt x="864" y="691"/>
                </a:lnTo>
                <a:lnTo>
                  <a:pt x="961" y="703"/>
                </a:lnTo>
                <a:lnTo>
                  <a:pt x="1054" y="715"/>
                </a:lnTo>
                <a:lnTo>
                  <a:pt x="1143" y="721"/>
                </a:lnTo>
                <a:lnTo>
                  <a:pt x="1228" y="724"/>
                </a:lnTo>
                <a:lnTo>
                  <a:pt x="1380" y="727"/>
                </a:lnTo>
                <a:lnTo>
                  <a:pt x="2143" y="727"/>
                </a:lnTo>
                <a:lnTo>
                  <a:pt x="2227" y="724"/>
                </a:lnTo>
                <a:lnTo>
                  <a:pt x="2312" y="721"/>
                </a:lnTo>
                <a:lnTo>
                  <a:pt x="2397" y="715"/>
                </a:lnTo>
                <a:lnTo>
                  <a:pt x="2473" y="706"/>
                </a:lnTo>
                <a:lnTo>
                  <a:pt x="2549" y="697"/>
                </a:lnTo>
                <a:lnTo>
                  <a:pt x="2621" y="685"/>
                </a:lnTo>
                <a:lnTo>
                  <a:pt x="2693" y="670"/>
                </a:lnTo>
                <a:lnTo>
                  <a:pt x="2761" y="655"/>
                </a:lnTo>
                <a:lnTo>
                  <a:pt x="2829" y="638"/>
                </a:lnTo>
                <a:lnTo>
                  <a:pt x="2888" y="617"/>
                </a:lnTo>
                <a:lnTo>
                  <a:pt x="2952" y="596"/>
                </a:lnTo>
                <a:lnTo>
                  <a:pt x="3007" y="575"/>
                </a:lnTo>
                <a:lnTo>
                  <a:pt x="3062" y="551"/>
                </a:lnTo>
                <a:lnTo>
                  <a:pt x="3117" y="527"/>
                </a:lnTo>
                <a:lnTo>
                  <a:pt x="3214" y="474"/>
                </a:lnTo>
                <a:lnTo>
                  <a:pt x="3307" y="420"/>
                </a:lnTo>
                <a:lnTo>
                  <a:pt x="3388" y="360"/>
                </a:lnTo>
                <a:lnTo>
                  <a:pt x="3460" y="301"/>
                </a:lnTo>
                <a:lnTo>
                  <a:pt x="3528" y="238"/>
                </a:lnTo>
                <a:lnTo>
                  <a:pt x="3583" y="179"/>
                </a:lnTo>
                <a:lnTo>
                  <a:pt x="3633" y="116"/>
                </a:lnTo>
                <a:lnTo>
                  <a:pt x="3676" y="56"/>
                </a:lnTo>
                <a:lnTo>
                  <a:pt x="3714" y="0"/>
                </a:lnTo>
              </a:path>
            </a:pathLst>
          </a:custGeom>
          <a:noFill/>
          <a:ln w="57150" cmpd="sng">
            <a:solidFill>
              <a:srgbClr val="6D1845"/>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3732" name="Rectangle 5">
            <a:extLst>
              <a:ext uri="{FF2B5EF4-FFF2-40B4-BE49-F238E27FC236}">
                <a16:creationId xmlns:a16="http://schemas.microsoft.com/office/drawing/2014/main" id="{BBF548E9-8BC6-3CC2-0048-D7154A934A24}"/>
              </a:ext>
            </a:extLst>
          </p:cNvPr>
          <p:cNvSpPr>
            <a:spLocks noChangeArrowheads="1"/>
          </p:cNvSpPr>
          <p:nvPr/>
        </p:nvSpPr>
        <p:spPr bwMode="auto">
          <a:xfrm>
            <a:off x="8458200" y="5745163"/>
            <a:ext cx="1663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Units of Output</a:t>
            </a:r>
            <a:endParaRPr lang="en-US" altLang="en-US" sz="1800">
              <a:latin typeface="Arial" panose="020B0604020202020204" pitchFamily="34" charset="0"/>
            </a:endParaRPr>
          </a:p>
        </p:txBody>
      </p:sp>
      <p:sp>
        <p:nvSpPr>
          <p:cNvPr id="104454" name="Rectangle 6">
            <a:extLst>
              <a:ext uri="{FF2B5EF4-FFF2-40B4-BE49-F238E27FC236}">
                <a16:creationId xmlns:a16="http://schemas.microsoft.com/office/drawing/2014/main" id="{90EE4393-CF24-9470-DFD0-2F95D8499B84}"/>
              </a:ext>
            </a:extLst>
          </p:cNvPr>
          <p:cNvSpPr>
            <a:spLocks noChangeArrowheads="1"/>
          </p:cNvSpPr>
          <p:nvPr/>
        </p:nvSpPr>
        <p:spPr bwMode="auto">
          <a:xfrm>
            <a:off x="8966200" y="3022600"/>
            <a:ext cx="749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a:solidFill>
                  <a:srgbClr val="000000"/>
                </a:solidFill>
                <a:latin typeface="Arial" panose="020B0604020202020204" pitchFamily="34" charset="0"/>
              </a:rPr>
              <a:t>LRATC</a:t>
            </a:r>
            <a:endParaRPr lang="en-US" altLang="en-US" sz="1800">
              <a:latin typeface="Arial" panose="020B0604020202020204" pitchFamily="34" charset="0"/>
            </a:endParaRPr>
          </a:p>
        </p:txBody>
      </p:sp>
      <p:sp>
        <p:nvSpPr>
          <p:cNvPr id="104455" name="Rectangle 7">
            <a:extLst>
              <a:ext uri="{FF2B5EF4-FFF2-40B4-BE49-F238E27FC236}">
                <a16:creationId xmlns:a16="http://schemas.microsoft.com/office/drawing/2014/main" id="{AB6E8A97-9C9B-B913-5F46-F39E1E07B2F3}"/>
              </a:ext>
            </a:extLst>
          </p:cNvPr>
          <p:cNvSpPr>
            <a:spLocks noChangeArrowheads="1"/>
          </p:cNvSpPr>
          <p:nvPr/>
        </p:nvSpPr>
        <p:spPr bwMode="auto">
          <a:xfrm>
            <a:off x="3500438" y="5286375"/>
            <a:ext cx="2019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Economies of Scale</a:t>
            </a:r>
            <a:endParaRPr lang="en-US" altLang="en-US" sz="1800">
              <a:latin typeface="Arial" panose="020B0604020202020204" pitchFamily="34" charset="0"/>
            </a:endParaRPr>
          </a:p>
        </p:txBody>
      </p:sp>
      <p:sp>
        <p:nvSpPr>
          <p:cNvPr id="104456" name="Line 8">
            <a:extLst>
              <a:ext uri="{FF2B5EF4-FFF2-40B4-BE49-F238E27FC236}">
                <a16:creationId xmlns:a16="http://schemas.microsoft.com/office/drawing/2014/main" id="{7B37667B-8371-9C06-FBFA-F37A2EA300C9}"/>
              </a:ext>
            </a:extLst>
          </p:cNvPr>
          <p:cNvSpPr>
            <a:spLocks noChangeShapeType="1"/>
          </p:cNvSpPr>
          <p:nvPr/>
        </p:nvSpPr>
        <p:spPr bwMode="auto">
          <a:xfrm>
            <a:off x="3251200" y="5087938"/>
            <a:ext cx="2574925" cy="1587"/>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4457" name="Rectangle 9">
            <a:extLst>
              <a:ext uri="{FF2B5EF4-FFF2-40B4-BE49-F238E27FC236}">
                <a16:creationId xmlns:a16="http://schemas.microsoft.com/office/drawing/2014/main" id="{326EBC74-D661-2AF5-9D4B-4B2E1DDA0BBF}"/>
              </a:ext>
            </a:extLst>
          </p:cNvPr>
          <p:cNvSpPr>
            <a:spLocks noChangeArrowheads="1"/>
          </p:cNvSpPr>
          <p:nvPr/>
        </p:nvSpPr>
        <p:spPr bwMode="auto">
          <a:xfrm>
            <a:off x="5972175" y="5286375"/>
            <a:ext cx="127317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0"/>
              </a:spcBef>
              <a:buFontTx/>
              <a:buNone/>
            </a:pPr>
            <a:r>
              <a:rPr lang="en-US" altLang="en-US" sz="1800">
                <a:solidFill>
                  <a:srgbClr val="000000"/>
                </a:solidFill>
                <a:latin typeface="Arial" panose="020B0604020202020204" pitchFamily="34" charset="0"/>
              </a:rPr>
              <a:t>Constant Returns to Scale</a:t>
            </a:r>
            <a:endParaRPr lang="en-US" altLang="en-US" sz="1800">
              <a:latin typeface="Arial" panose="020B0604020202020204" pitchFamily="34" charset="0"/>
            </a:endParaRPr>
          </a:p>
        </p:txBody>
      </p:sp>
      <p:sp>
        <p:nvSpPr>
          <p:cNvPr id="104458" name="Line 10">
            <a:extLst>
              <a:ext uri="{FF2B5EF4-FFF2-40B4-BE49-F238E27FC236}">
                <a16:creationId xmlns:a16="http://schemas.microsoft.com/office/drawing/2014/main" id="{B99DF509-03C9-0D69-9098-C69E7C62993D}"/>
              </a:ext>
            </a:extLst>
          </p:cNvPr>
          <p:cNvSpPr>
            <a:spLocks noChangeShapeType="1"/>
          </p:cNvSpPr>
          <p:nvPr/>
        </p:nvSpPr>
        <p:spPr bwMode="auto">
          <a:xfrm>
            <a:off x="6138863" y="5087938"/>
            <a:ext cx="941387" cy="1587"/>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104459" name="Rectangle 11">
            <a:extLst>
              <a:ext uri="{FF2B5EF4-FFF2-40B4-BE49-F238E27FC236}">
                <a16:creationId xmlns:a16="http://schemas.microsoft.com/office/drawing/2014/main" id="{44CE2FB5-52B5-A23E-55FA-C95020D53618}"/>
              </a:ext>
            </a:extLst>
          </p:cNvPr>
          <p:cNvSpPr>
            <a:spLocks noChangeArrowheads="1"/>
          </p:cNvSpPr>
          <p:nvPr/>
        </p:nvSpPr>
        <p:spPr bwMode="auto">
          <a:xfrm>
            <a:off x="7543800" y="5286375"/>
            <a:ext cx="2324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Diseconomies of Scale</a:t>
            </a:r>
          </a:p>
        </p:txBody>
      </p:sp>
      <p:sp>
        <p:nvSpPr>
          <p:cNvPr id="104460" name="Line 12">
            <a:extLst>
              <a:ext uri="{FF2B5EF4-FFF2-40B4-BE49-F238E27FC236}">
                <a16:creationId xmlns:a16="http://schemas.microsoft.com/office/drawing/2014/main" id="{F84026C8-8813-5664-F7C2-9B5E3095B4F8}"/>
              </a:ext>
            </a:extLst>
          </p:cNvPr>
          <p:cNvSpPr>
            <a:spLocks noChangeShapeType="1"/>
          </p:cNvSpPr>
          <p:nvPr/>
        </p:nvSpPr>
        <p:spPr bwMode="auto">
          <a:xfrm>
            <a:off x="7332663" y="5087938"/>
            <a:ext cx="2725737" cy="1587"/>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73740" name="Line 13">
            <a:extLst>
              <a:ext uri="{FF2B5EF4-FFF2-40B4-BE49-F238E27FC236}">
                <a16:creationId xmlns:a16="http://schemas.microsoft.com/office/drawing/2014/main" id="{52A81539-070F-89FD-2483-231B878265C2}"/>
              </a:ext>
            </a:extLst>
          </p:cNvPr>
          <p:cNvSpPr>
            <a:spLocks noChangeShapeType="1"/>
          </p:cNvSpPr>
          <p:nvPr/>
        </p:nvSpPr>
        <p:spPr bwMode="auto">
          <a:xfrm>
            <a:off x="3143250" y="4449763"/>
            <a:ext cx="1588" cy="1190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grpSp>
        <p:nvGrpSpPr>
          <p:cNvPr id="104462" name="Group 14">
            <a:extLst>
              <a:ext uri="{FF2B5EF4-FFF2-40B4-BE49-F238E27FC236}">
                <a16:creationId xmlns:a16="http://schemas.microsoft.com/office/drawing/2014/main" id="{D70603F5-4055-303E-2573-F752070AFC90}"/>
              </a:ext>
            </a:extLst>
          </p:cNvPr>
          <p:cNvGrpSpPr>
            <a:grpSpLocks/>
          </p:cNvGrpSpPr>
          <p:nvPr/>
        </p:nvGrpSpPr>
        <p:grpSpPr bwMode="auto">
          <a:xfrm>
            <a:off x="2282825" y="1755775"/>
            <a:ext cx="7927975" cy="3116263"/>
            <a:chOff x="478" y="1106"/>
            <a:chExt cx="4994" cy="1963"/>
          </a:xfrm>
        </p:grpSpPr>
        <p:sp>
          <p:nvSpPr>
            <p:cNvPr id="73747" name="Line 15">
              <a:extLst>
                <a:ext uri="{FF2B5EF4-FFF2-40B4-BE49-F238E27FC236}">
                  <a16:creationId xmlns:a16="http://schemas.microsoft.com/office/drawing/2014/main" id="{8E9F5699-7628-6D10-0E73-85A88FE0A02F}"/>
                </a:ext>
              </a:extLst>
            </p:cNvPr>
            <p:cNvSpPr>
              <a:spLocks noChangeShapeType="1"/>
            </p:cNvSpPr>
            <p:nvPr/>
          </p:nvSpPr>
          <p:spPr bwMode="auto">
            <a:xfrm>
              <a:off x="919" y="2130"/>
              <a:ext cx="10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3748" name="Line 16">
              <a:extLst>
                <a:ext uri="{FF2B5EF4-FFF2-40B4-BE49-F238E27FC236}">
                  <a16:creationId xmlns:a16="http://schemas.microsoft.com/office/drawing/2014/main" id="{4E9AEFC7-CF8D-6A5A-6D3F-F559C37E5FBC}"/>
                </a:ext>
              </a:extLst>
            </p:cNvPr>
            <p:cNvSpPr>
              <a:spLocks noChangeShapeType="1"/>
            </p:cNvSpPr>
            <p:nvPr/>
          </p:nvSpPr>
          <p:spPr bwMode="auto">
            <a:xfrm>
              <a:off x="915" y="1760"/>
              <a:ext cx="10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3749" name="Freeform 17">
              <a:extLst>
                <a:ext uri="{FF2B5EF4-FFF2-40B4-BE49-F238E27FC236}">
                  <a16:creationId xmlns:a16="http://schemas.microsoft.com/office/drawing/2014/main" id="{70ECC08D-744F-8F13-63D8-C42BB33DE9FE}"/>
                </a:ext>
              </a:extLst>
            </p:cNvPr>
            <p:cNvSpPr>
              <a:spLocks/>
            </p:cNvSpPr>
            <p:nvPr/>
          </p:nvSpPr>
          <p:spPr bwMode="auto">
            <a:xfrm>
              <a:off x="1020" y="1152"/>
              <a:ext cx="4452" cy="1650"/>
            </a:xfrm>
            <a:custGeom>
              <a:avLst/>
              <a:gdLst>
                <a:gd name="T0" fmla="*/ 5 w 4312"/>
                <a:gd name="T1" fmla="*/ 0 h 1597"/>
                <a:gd name="T2" fmla="*/ 0 w 4312"/>
                <a:gd name="T3" fmla="*/ 2605 h 1597"/>
                <a:gd name="T4" fmla="*/ 6964 w 4312"/>
                <a:gd name="T5" fmla="*/ 2605 h 1597"/>
                <a:gd name="T6" fmla="*/ 0 60000 65536"/>
                <a:gd name="T7" fmla="*/ 0 60000 65536"/>
                <a:gd name="T8" fmla="*/ 0 60000 65536"/>
              </a:gdLst>
              <a:ahLst/>
              <a:cxnLst>
                <a:cxn ang="T6">
                  <a:pos x="T0" y="T1"/>
                </a:cxn>
                <a:cxn ang="T7">
                  <a:pos x="T2" y="T3"/>
                </a:cxn>
                <a:cxn ang="T8">
                  <a:pos x="T4" y="T5"/>
                </a:cxn>
              </a:cxnLst>
              <a:rect l="0" t="0" r="r" b="b"/>
              <a:pathLst>
                <a:path w="4312" h="1597">
                  <a:moveTo>
                    <a:pt x="5" y="0"/>
                  </a:moveTo>
                  <a:lnTo>
                    <a:pt x="0" y="1597"/>
                  </a:lnTo>
                  <a:lnTo>
                    <a:pt x="4312" y="1597"/>
                  </a:lnTo>
                </a:path>
              </a:pathLst>
            </a:custGeom>
            <a:noFill/>
            <a:ln w="381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LK"/>
            </a:p>
          </p:txBody>
        </p:sp>
        <p:sp>
          <p:nvSpPr>
            <p:cNvPr id="73750" name="Rectangle 18">
              <a:extLst>
                <a:ext uri="{FF2B5EF4-FFF2-40B4-BE49-F238E27FC236}">
                  <a16:creationId xmlns:a16="http://schemas.microsoft.com/office/drawing/2014/main" id="{ADCC9D2A-AAD4-0D4E-9FBD-94CF41114E89}"/>
                </a:ext>
              </a:extLst>
            </p:cNvPr>
            <p:cNvSpPr>
              <a:spLocks noChangeArrowheads="1"/>
            </p:cNvSpPr>
            <p:nvPr/>
          </p:nvSpPr>
          <p:spPr bwMode="auto">
            <a:xfrm>
              <a:off x="478" y="1106"/>
              <a:ext cx="18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solidFill>
                    <a:srgbClr val="000000"/>
                  </a:solidFill>
                  <a:latin typeface="Arial" panose="020B0604020202020204" pitchFamily="34" charset="0"/>
                </a:rPr>
                <a:t>Rs</a:t>
              </a:r>
              <a:endParaRPr lang="en-US" altLang="en-US" sz="1800">
                <a:latin typeface="Arial" panose="020B0604020202020204" pitchFamily="34" charset="0"/>
              </a:endParaRPr>
            </a:p>
          </p:txBody>
        </p:sp>
        <p:sp>
          <p:nvSpPr>
            <p:cNvPr id="73751" name="Rectangle 19">
              <a:extLst>
                <a:ext uri="{FF2B5EF4-FFF2-40B4-BE49-F238E27FC236}">
                  <a16:creationId xmlns:a16="http://schemas.microsoft.com/office/drawing/2014/main" id="{10B56C8C-0627-4BAB-4F08-FE4F9F46F9F9}"/>
                </a:ext>
              </a:extLst>
            </p:cNvPr>
            <p:cNvSpPr>
              <a:spLocks noChangeArrowheads="1"/>
            </p:cNvSpPr>
            <p:nvPr/>
          </p:nvSpPr>
          <p:spPr bwMode="auto">
            <a:xfrm>
              <a:off x="567" y="2413"/>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1.00</a:t>
              </a:r>
              <a:endParaRPr lang="en-US" altLang="en-US" sz="1800">
                <a:latin typeface="Arial" panose="020B0604020202020204" pitchFamily="34" charset="0"/>
              </a:endParaRPr>
            </a:p>
          </p:txBody>
        </p:sp>
        <p:sp>
          <p:nvSpPr>
            <p:cNvPr id="73752" name="Rectangle 20">
              <a:extLst>
                <a:ext uri="{FF2B5EF4-FFF2-40B4-BE49-F238E27FC236}">
                  <a16:creationId xmlns:a16="http://schemas.microsoft.com/office/drawing/2014/main" id="{3B7CB536-AEA3-1D8A-CC52-BF868937C9B0}"/>
                </a:ext>
              </a:extLst>
            </p:cNvPr>
            <p:cNvSpPr>
              <a:spLocks noChangeArrowheads="1"/>
            </p:cNvSpPr>
            <p:nvPr/>
          </p:nvSpPr>
          <p:spPr bwMode="auto">
            <a:xfrm>
              <a:off x="567" y="2059"/>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2.00</a:t>
              </a:r>
              <a:endParaRPr lang="en-US" altLang="en-US" sz="1800">
                <a:latin typeface="Arial" panose="020B0604020202020204" pitchFamily="34" charset="0"/>
              </a:endParaRPr>
            </a:p>
          </p:txBody>
        </p:sp>
        <p:sp>
          <p:nvSpPr>
            <p:cNvPr id="73753" name="Rectangle 21">
              <a:extLst>
                <a:ext uri="{FF2B5EF4-FFF2-40B4-BE49-F238E27FC236}">
                  <a16:creationId xmlns:a16="http://schemas.microsoft.com/office/drawing/2014/main" id="{3F856589-F75D-505F-F1B1-870FE0D7B5D1}"/>
                </a:ext>
              </a:extLst>
            </p:cNvPr>
            <p:cNvSpPr>
              <a:spLocks noChangeArrowheads="1"/>
            </p:cNvSpPr>
            <p:nvPr/>
          </p:nvSpPr>
          <p:spPr bwMode="auto">
            <a:xfrm>
              <a:off x="567" y="1701"/>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3.00</a:t>
              </a:r>
              <a:endParaRPr lang="en-US" altLang="en-US" sz="1800">
                <a:latin typeface="Arial" panose="020B0604020202020204" pitchFamily="34" charset="0"/>
              </a:endParaRPr>
            </a:p>
          </p:txBody>
        </p:sp>
        <p:sp>
          <p:nvSpPr>
            <p:cNvPr id="73754" name="Line 22">
              <a:extLst>
                <a:ext uri="{FF2B5EF4-FFF2-40B4-BE49-F238E27FC236}">
                  <a16:creationId xmlns:a16="http://schemas.microsoft.com/office/drawing/2014/main" id="{0F099FBE-A928-AB1E-BDC2-8BDA2ECB7BF5}"/>
                </a:ext>
              </a:extLst>
            </p:cNvPr>
            <p:cNvSpPr>
              <a:spLocks noChangeShapeType="1"/>
            </p:cNvSpPr>
            <p:nvPr/>
          </p:nvSpPr>
          <p:spPr bwMode="auto">
            <a:xfrm>
              <a:off x="915" y="1403"/>
              <a:ext cx="10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3755" name="Rectangle 23">
              <a:extLst>
                <a:ext uri="{FF2B5EF4-FFF2-40B4-BE49-F238E27FC236}">
                  <a16:creationId xmlns:a16="http://schemas.microsoft.com/office/drawing/2014/main" id="{F3C35584-EB11-2B65-C1A8-B64075FDBDC6}"/>
                </a:ext>
              </a:extLst>
            </p:cNvPr>
            <p:cNvSpPr>
              <a:spLocks noChangeArrowheads="1"/>
            </p:cNvSpPr>
            <p:nvPr/>
          </p:nvSpPr>
          <p:spPr bwMode="auto">
            <a:xfrm>
              <a:off x="495" y="1346"/>
              <a:ext cx="2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4.00</a:t>
              </a:r>
              <a:endParaRPr lang="en-US" altLang="en-US" sz="1800">
                <a:latin typeface="Arial" panose="020B0604020202020204" pitchFamily="34" charset="0"/>
              </a:endParaRPr>
            </a:p>
          </p:txBody>
        </p:sp>
        <p:sp>
          <p:nvSpPr>
            <p:cNvPr id="73756" name="Rectangle 24">
              <a:extLst>
                <a:ext uri="{FF2B5EF4-FFF2-40B4-BE49-F238E27FC236}">
                  <a16:creationId xmlns:a16="http://schemas.microsoft.com/office/drawing/2014/main" id="{43BA1336-C04F-CE44-D0D7-D489E686C40D}"/>
                </a:ext>
              </a:extLst>
            </p:cNvPr>
            <p:cNvSpPr>
              <a:spLocks noChangeArrowheads="1"/>
            </p:cNvSpPr>
            <p:nvPr/>
          </p:nvSpPr>
          <p:spPr bwMode="auto">
            <a:xfrm>
              <a:off x="2681" y="2896"/>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130</a:t>
              </a:r>
              <a:endParaRPr lang="en-US" altLang="en-US" sz="1800">
                <a:latin typeface="Arial" panose="020B0604020202020204" pitchFamily="34" charset="0"/>
              </a:endParaRPr>
            </a:p>
          </p:txBody>
        </p:sp>
        <p:sp>
          <p:nvSpPr>
            <p:cNvPr id="73757" name="Line 25">
              <a:extLst>
                <a:ext uri="{FF2B5EF4-FFF2-40B4-BE49-F238E27FC236}">
                  <a16:creationId xmlns:a16="http://schemas.microsoft.com/office/drawing/2014/main" id="{FD7B3CA8-EC23-2475-2CCD-A1DF2F86CBB6}"/>
                </a:ext>
              </a:extLst>
            </p:cNvPr>
            <p:cNvSpPr>
              <a:spLocks noChangeShapeType="1"/>
            </p:cNvSpPr>
            <p:nvPr/>
          </p:nvSpPr>
          <p:spPr bwMode="auto">
            <a:xfrm>
              <a:off x="3570" y="2803"/>
              <a:ext cx="1"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3758" name="Line 26">
              <a:extLst>
                <a:ext uri="{FF2B5EF4-FFF2-40B4-BE49-F238E27FC236}">
                  <a16:creationId xmlns:a16="http://schemas.microsoft.com/office/drawing/2014/main" id="{77F9D579-3309-7EFA-4AA5-BC68A0AF6EC6}"/>
                </a:ext>
              </a:extLst>
            </p:cNvPr>
            <p:cNvSpPr>
              <a:spLocks noChangeShapeType="1"/>
            </p:cNvSpPr>
            <p:nvPr/>
          </p:nvSpPr>
          <p:spPr bwMode="auto">
            <a:xfrm>
              <a:off x="2816" y="2803"/>
              <a:ext cx="1"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LK"/>
            </a:p>
          </p:txBody>
        </p:sp>
        <p:sp>
          <p:nvSpPr>
            <p:cNvPr id="73759" name="Rectangle 27">
              <a:extLst>
                <a:ext uri="{FF2B5EF4-FFF2-40B4-BE49-F238E27FC236}">
                  <a16:creationId xmlns:a16="http://schemas.microsoft.com/office/drawing/2014/main" id="{08B85066-8F17-4C65-6C3D-E1674C2AD7C2}"/>
                </a:ext>
              </a:extLst>
            </p:cNvPr>
            <p:cNvSpPr>
              <a:spLocks noChangeArrowheads="1"/>
            </p:cNvSpPr>
            <p:nvPr/>
          </p:nvSpPr>
          <p:spPr bwMode="auto">
            <a:xfrm>
              <a:off x="3443" y="2896"/>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184</a:t>
              </a:r>
              <a:endParaRPr lang="en-US" altLang="en-US" sz="1800">
                <a:latin typeface="Arial" panose="020B0604020202020204" pitchFamily="34" charset="0"/>
              </a:endParaRPr>
            </a:p>
          </p:txBody>
        </p:sp>
      </p:grpSp>
      <p:sp>
        <p:nvSpPr>
          <p:cNvPr id="73742" name="Rectangle 28">
            <a:extLst>
              <a:ext uri="{FF2B5EF4-FFF2-40B4-BE49-F238E27FC236}">
                <a16:creationId xmlns:a16="http://schemas.microsoft.com/office/drawing/2014/main" id="{42583F64-6C9D-E7E2-F336-3D3AEA5A17D6}"/>
              </a:ext>
            </a:extLst>
          </p:cNvPr>
          <p:cNvSpPr>
            <a:spLocks noChangeArrowheads="1"/>
          </p:cNvSpPr>
          <p:nvPr/>
        </p:nvSpPr>
        <p:spPr bwMode="auto">
          <a:xfrm>
            <a:off x="3070225" y="4602163"/>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a:solidFill>
                  <a:srgbClr val="000000"/>
                </a:solidFill>
                <a:latin typeface="Arial" panose="020B0604020202020204" pitchFamily="34" charset="0"/>
              </a:rPr>
              <a:t>0</a:t>
            </a:r>
            <a:endParaRPr lang="en-US" altLang="en-US" sz="1800">
              <a:latin typeface="Arial" panose="020B0604020202020204" pitchFamily="34" charset="0"/>
            </a:endParaRPr>
          </a:p>
        </p:txBody>
      </p:sp>
      <p:sp>
        <p:nvSpPr>
          <p:cNvPr id="104477" name="Freeform 29">
            <a:extLst>
              <a:ext uri="{FF2B5EF4-FFF2-40B4-BE49-F238E27FC236}">
                <a16:creationId xmlns:a16="http://schemas.microsoft.com/office/drawing/2014/main" id="{643E07E3-1054-5540-9B7C-003D0D7022A7}"/>
              </a:ext>
            </a:extLst>
          </p:cNvPr>
          <p:cNvSpPr>
            <a:spLocks/>
          </p:cNvSpPr>
          <p:nvPr/>
        </p:nvSpPr>
        <p:spPr bwMode="auto">
          <a:xfrm>
            <a:off x="5927725" y="3333750"/>
            <a:ext cx="134938" cy="136525"/>
          </a:xfrm>
          <a:custGeom>
            <a:avLst/>
            <a:gdLst>
              <a:gd name="T0" fmla="*/ 2147483646 w 85"/>
              <a:gd name="T1" fmla="*/ 2147483646 h 60"/>
              <a:gd name="T2" fmla="*/ 2147483646 w 85"/>
              <a:gd name="T3" fmla="*/ 2147483646 h 60"/>
              <a:gd name="T4" fmla="*/ 2147483646 w 85"/>
              <a:gd name="T5" fmla="*/ 2147483646 h 60"/>
              <a:gd name="T6" fmla="*/ 2147483646 w 85"/>
              <a:gd name="T7" fmla="*/ 2147483646 h 60"/>
              <a:gd name="T8" fmla="*/ 2147483646 w 85"/>
              <a:gd name="T9" fmla="*/ 2147483646 h 60"/>
              <a:gd name="T10" fmla="*/ 2147483646 w 85"/>
              <a:gd name="T11" fmla="*/ 2147483646 h 60"/>
              <a:gd name="T12" fmla="*/ 2147483646 w 85"/>
              <a:gd name="T13" fmla="*/ 2147483646 h 60"/>
              <a:gd name="T14" fmla="*/ 2147483646 w 85"/>
              <a:gd name="T15" fmla="*/ 2147483646 h 60"/>
              <a:gd name="T16" fmla="*/ 2147483646 w 85"/>
              <a:gd name="T17" fmla="*/ 2147483646 h 60"/>
              <a:gd name="T18" fmla="*/ 2147483646 w 85"/>
              <a:gd name="T19" fmla="*/ 2147483646 h 60"/>
              <a:gd name="T20" fmla="*/ 2147483646 w 85"/>
              <a:gd name="T21" fmla="*/ 0 h 60"/>
              <a:gd name="T22" fmla="*/ 2147483646 w 85"/>
              <a:gd name="T23" fmla="*/ 0 h 60"/>
              <a:gd name="T24" fmla="*/ 2147483646 w 85"/>
              <a:gd name="T25" fmla="*/ 2147483646 h 60"/>
              <a:gd name="T26" fmla="*/ 2147483646 w 85"/>
              <a:gd name="T27" fmla="*/ 2147483646 h 60"/>
              <a:gd name="T28" fmla="*/ 2147483646 w 85"/>
              <a:gd name="T29" fmla="*/ 2147483646 h 60"/>
              <a:gd name="T30" fmla="*/ 0 w 85"/>
              <a:gd name="T31" fmla="*/ 2147483646 h 60"/>
              <a:gd name="T32" fmla="*/ 0 w 85"/>
              <a:gd name="T33" fmla="*/ 2147483646 h 60"/>
              <a:gd name="T34" fmla="*/ 2147483646 w 85"/>
              <a:gd name="T35" fmla="*/ 2147483646 h 60"/>
              <a:gd name="T36" fmla="*/ 2147483646 w 85"/>
              <a:gd name="T37" fmla="*/ 2147483646 h 60"/>
              <a:gd name="T38" fmla="*/ 2147483646 w 85"/>
              <a:gd name="T39" fmla="*/ 2147483646 h 60"/>
              <a:gd name="T40" fmla="*/ 2147483646 w 85"/>
              <a:gd name="T41" fmla="*/ 2147483646 h 60"/>
              <a:gd name="T42" fmla="*/ 2147483646 w 85"/>
              <a:gd name="T43" fmla="*/ 2147483646 h 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5" h="60">
                <a:moveTo>
                  <a:pt x="42" y="60"/>
                </a:moveTo>
                <a:lnTo>
                  <a:pt x="42" y="60"/>
                </a:lnTo>
                <a:lnTo>
                  <a:pt x="59" y="60"/>
                </a:lnTo>
                <a:lnTo>
                  <a:pt x="72" y="51"/>
                </a:lnTo>
                <a:lnTo>
                  <a:pt x="80" y="42"/>
                </a:lnTo>
                <a:lnTo>
                  <a:pt x="85" y="30"/>
                </a:lnTo>
                <a:lnTo>
                  <a:pt x="80" y="18"/>
                </a:lnTo>
                <a:lnTo>
                  <a:pt x="72" y="9"/>
                </a:lnTo>
                <a:lnTo>
                  <a:pt x="59" y="3"/>
                </a:lnTo>
                <a:lnTo>
                  <a:pt x="42" y="0"/>
                </a:lnTo>
                <a:lnTo>
                  <a:pt x="25" y="3"/>
                </a:lnTo>
                <a:lnTo>
                  <a:pt x="13" y="9"/>
                </a:lnTo>
                <a:lnTo>
                  <a:pt x="4" y="18"/>
                </a:lnTo>
                <a:lnTo>
                  <a:pt x="0" y="30"/>
                </a:lnTo>
                <a:lnTo>
                  <a:pt x="4" y="42"/>
                </a:lnTo>
                <a:lnTo>
                  <a:pt x="13" y="51"/>
                </a:lnTo>
                <a:lnTo>
                  <a:pt x="25" y="60"/>
                </a:lnTo>
                <a:lnTo>
                  <a:pt x="42"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4478" name="Freeform 30">
            <a:extLst>
              <a:ext uri="{FF2B5EF4-FFF2-40B4-BE49-F238E27FC236}">
                <a16:creationId xmlns:a16="http://schemas.microsoft.com/office/drawing/2014/main" id="{80FE3D8C-8AD3-2DC5-AE1A-8BBA783A9538}"/>
              </a:ext>
            </a:extLst>
          </p:cNvPr>
          <p:cNvSpPr>
            <a:spLocks/>
          </p:cNvSpPr>
          <p:nvPr/>
        </p:nvSpPr>
        <p:spPr bwMode="auto">
          <a:xfrm>
            <a:off x="7131050" y="3333750"/>
            <a:ext cx="134938" cy="136525"/>
          </a:xfrm>
          <a:custGeom>
            <a:avLst/>
            <a:gdLst>
              <a:gd name="T0" fmla="*/ 2147483646 w 85"/>
              <a:gd name="T1" fmla="*/ 2147483646 h 60"/>
              <a:gd name="T2" fmla="*/ 2147483646 w 85"/>
              <a:gd name="T3" fmla="*/ 2147483646 h 60"/>
              <a:gd name="T4" fmla="*/ 2147483646 w 85"/>
              <a:gd name="T5" fmla="*/ 2147483646 h 60"/>
              <a:gd name="T6" fmla="*/ 2147483646 w 85"/>
              <a:gd name="T7" fmla="*/ 2147483646 h 60"/>
              <a:gd name="T8" fmla="*/ 2147483646 w 85"/>
              <a:gd name="T9" fmla="*/ 2147483646 h 60"/>
              <a:gd name="T10" fmla="*/ 2147483646 w 85"/>
              <a:gd name="T11" fmla="*/ 2147483646 h 60"/>
              <a:gd name="T12" fmla="*/ 2147483646 w 85"/>
              <a:gd name="T13" fmla="*/ 2147483646 h 60"/>
              <a:gd name="T14" fmla="*/ 2147483646 w 85"/>
              <a:gd name="T15" fmla="*/ 2147483646 h 60"/>
              <a:gd name="T16" fmla="*/ 2147483646 w 85"/>
              <a:gd name="T17" fmla="*/ 2147483646 h 60"/>
              <a:gd name="T18" fmla="*/ 2147483646 w 85"/>
              <a:gd name="T19" fmla="*/ 2147483646 h 60"/>
              <a:gd name="T20" fmla="*/ 2147483646 w 85"/>
              <a:gd name="T21" fmla="*/ 0 h 60"/>
              <a:gd name="T22" fmla="*/ 2147483646 w 85"/>
              <a:gd name="T23" fmla="*/ 0 h 60"/>
              <a:gd name="T24" fmla="*/ 2147483646 w 85"/>
              <a:gd name="T25" fmla="*/ 2147483646 h 60"/>
              <a:gd name="T26" fmla="*/ 2147483646 w 85"/>
              <a:gd name="T27" fmla="*/ 2147483646 h 60"/>
              <a:gd name="T28" fmla="*/ 2147483646 w 85"/>
              <a:gd name="T29" fmla="*/ 2147483646 h 60"/>
              <a:gd name="T30" fmla="*/ 0 w 85"/>
              <a:gd name="T31" fmla="*/ 2147483646 h 60"/>
              <a:gd name="T32" fmla="*/ 0 w 85"/>
              <a:gd name="T33" fmla="*/ 2147483646 h 60"/>
              <a:gd name="T34" fmla="*/ 2147483646 w 85"/>
              <a:gd name="T35" fmla="*/ 2147483646 h 60"/>
              <a:gd name="T36" fmla="*/ 2147483646 w 85"/>
              <a:gd name="T37" fmla="*/ 2147483646 h 60"/>
              <a:gd name="T38" fmla="*/ 2147483646 w 85"/>
              <a:gd name="T39" fmla="*/ 2147483646 h 60"/>
              <a:gd name="T40" fmla="*/ 2147483646 w 85"/>
              <a:gd name="T41" fmla="*/ 2147483646 h 60"/>
              <a:gd name="T42" fmla="*/ 2147483646 w 85"/>
              <a:gd name="T43" fmla="*/ 2147483646 h 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5" h="60">
                <a:moveTo>
                  <a:pt x="42" y="60"/>
                </a:moveTo>
                <a:lnTo>
                  <a:pt x="42" y="60"/>
                </a:lnTo>
                <a:lnTo>
                  <a:pt x="59" y="60"/>
                </a:lnTo>
                <a:lnTo>
                  <a:pt x="72" y="51"/>
                </a:lnTo>
                <a:lnTo>
                  <a:pt x="80" y="42"/>
                </a:lnTo>
                <a:lnTo>
                  <a:pt x="85" y="30"/>
                </a:lnTo>
                <a:lnTo>
                  <a:pt x="80" y="18"/>
                </a:lnTo>
                <a:lnTo>
                  <a:pt x="72" y="9"/>
                </a:lnTo>
                <a:lnTo>
                  <a:pt x="59" y="3"/>
                </a:lnTo>
                <a:lnTo>
                  <a:pt x="42" y="0"/>
                </a:lnTo>
                <a:lnTo>
                  <a:pt x="25" y="3"/>
                </a:lnTo>
                <a:lnTo>
                  <a:pt x="13" y="9"/>
                </a:lnTo>
                <a:lnTo>
                  <a:pt x="4" y="18"/>
                </a:lnTo>
                <a:lnTo>
                  <a:pt x="0" y="30"/>
                </a:lnTo>
                <a:lnTo>
                  <a:pt x="4" y="42"/>
                </a:lnTo>
                <a:lnTo>
                  <a:pt x="13" y="51"/>
                </a:lnTo>
                <a:lnTo>
                  <a:pt x="25" y="60"/>
                </a:lnTo>
                <a:lnTo>
                  <a:pt x="42"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LK"/>
          </a:p>
        </p:txBody>
      </p:sp>
      <p:sp>
        <p:nvSpPr>
          <p:cNvPr id="104479" name="Line 31">
            <a:extLst>
              <a:ext uri="{FF2B5EF4-FFF2-40B4-BE49-F238E27FC236}">
                <a16:creationId xmlns:a16="http://schemas.microsoft.com/office/drawing/2014/main" id="{3AD46D19-8447-2A04-D7F0-B477519F2749}"/>
              </a:ext>
            </a:extLst>
          </p:cNvPr>
          <p:cNvSpPr>
            <a:spLocks noChangeShapeType="1"/>
          </p:cNvSpPr>
          <p:nvPr/>
        </p:nvSpPr>
        <p:spPr bwMode="auto">
          <a:xfrm flipV="1">
            <a:off x="5991225" y="3395663"/>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
        <p:nvSpPr>
          <p:cNvPr id="104480" name="Line 32">
            <a:extLst>
              <a:ext uri="{FF2B5EF4-FFF2-40B4-BE49-F238E27FC236}">
                <a16:creationId xmlns:a16="http://schemas.microsoft.com/office/drawing/2014/main" id="{4E66773C-0390-DCAC-774D-C8CDC5CE4F0F}"/>
              </a:ext>
            </a:extLst>
          </p:cNvPr>
          <p:cNvSpPr>
            <a:spLocks noChangeShapeType="1"/>
          </p:cNvSpPr>
          <p:nvPr/>
        </p:nvSpPr>
        <p:spPr bwMode="auto">
          <a:xfrm flipV="1">
            <a:off x="7191375" y="3395663"/>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LK"/>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4462"/>
                                        </p:tgtEl>
                                        <p:attrNameLst>
                                          <p:attrName>style.visibility</p:attrName>
                                        </p:attrNameLst>
                                      </p:cBhvr>
                                      <p:to>
                                        <p:strVal val="visible"/>
                                      </p:to>
                                    </p:set>
                                    <p:animEffect transition="in" filter="wipe(left)">
                                      <p:cBhvr>
                                        <p:cTn id="7" dur="500"/>
                                        <p:tgtEl>
                                          <p:spTgt spid="10446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4452"/>
                                        </p:tgtEl>
                                        <p:attrNameLst>
                                          <p:attrName>style.visibility</p:attrName>
                                        </p:attrNameLst>
                                      </p:cBhvr>
                                      <p:to>
                                        <p:strVal val="visible"/>
                                      </p:to>
                                    </p:set>
                                    <p:animEffect transition="in" filter="wipe(left)">
                                      <p:cBhvr>
                                        <p:cTn id="11" dur="500"/>
                                        <p:tgtEl>
                                          <p:spTgt spid="104452"/>
                                        </p:tgtEl>
                                      </p:cBhvr>
                                    </p:animEffect>
                                  </p:childTnLst>
                                </p:cTn>
                              </p:par>
                            </p:childTnLst>
                          </p:cTn>
                        </p:par>
                        <p:par>
                          <p:cTn id="12" fill="hold" nodeType="afterGroup">
                            <p:stCondLst>
                              <p:cond delay="1000"/>
                            </p:stCondLst>
                            <p:childTnLst>
                              <p:par>
                                <p:cTn id="13" presetID="1" presetClass="entr" presetSubtype="0" fill="hold" nodeType="afterEffect">
                                  <p:stCondLst>
                                    <p:cond delay="0"/>
                                  </p:stCondLst>
                                  <p:childTnLst>
                                    <p:set>
                                      <p:cBhvr>
                                        <p:cTn id="14" dur="1" fill="hold">
                                          <p:stCondLst>
                                            <p:cond delay="0"/>
                                          </p:stCondLst>
                                        </p:cTn>
                                        <p:tgtEl>
                                          <p:spTgt spid="1044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4477"/>
                                        </p:tgtEl>
                                        <p:attrNameLst>
                                          <p:attrName>style.visibility</p:attrName>
                                        </p:attrNameLst>
                                      </p:cBhvr>
                                      <p:to>
                                        <p:strVal val="visible"/>
                                      </p:to>
                                    </p:set>
                                  </p:childTnLst>
                                </p:cTn>
                              </p:par>
                            </p:childTnLst>
                          </p:cTn>
                        </p:par>
                        <p:par>
                          <p:cTn id="19" fill="hold" nodeType="afterGroup">
                            <p:stCondLst>
                              <p:cond delay="0"/>
                            </p:stCondLst>
                            <p:childTnLst>
                              <p:par>
                                <p:cTn id="20" presetID="22" presetClass="entr" presetSubtype="1" fill="hold" nodeType="afterEffect">
                                  <p:stCondLst>
                                    <p:cond delay="0"/>
                                  </p:stCondLst>
                                  <p:childTnLst>
                                    <p:set>
                                      <p:cBhvr>
                                        <p:cTn id="21" dur="1" fill="hold">
                                          <p:stCondLst>
                                            <p:cond delay="0"/>
                                          </p:stCondLst>
                                        </p:cTn>
                                        <p:tgtEl>
                                          <p:spTgt spid="104479"/>
                                        </p:tgtEl>
                                        <p:attrNameLst>
                                          <p:attrName>style.visibility</p:attrName>
                                        </p:attrNameLst>
                                      </p:cBhvr>
                                      <p:to>
                                        <p:strVal val="visible"/>
                                      </p:to>
                                    </p:set>
                                    <p:animEffect transition="in" filter="wipe(up)">
                                      <p:cBhvr>
                                        <p:cTn id="22" dur="500"/>
                                        <p:tgtEl>
                                          <p:spTgt spid="1044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104456"/>
                                        </p:tgtEl>
                                        <p:attrNameLst>
                                          <p:attrName>style.visibility</p:attrName>
                                        </p:attrNameLst>
                                      </p:cBhvr>
                                      <p:to>
                                        <p:strVal val="visible"/>
                                      </p:to>
                                    </p:set>
                                    <p:animEffect transition="in" filter="barn(outVertical)">
                                      <p:cBhvr>
                                        <p:cTn id="27" dur="500"/>
                                        <p:tgtEl>
                                          <p:spTgt spid="104456"/>
                                        </p:tgtEl>
                                      </p:cBhvr>
                                    </p:animEffect>
                                  </p:childTnLst>
                                </p:cTn>
                              </p:par>
                              <p:par>
                                <p:cTn id="28" presetID="16" presetClass="entr" presetSubtype="37" fill="hold" nodeType="withEffect">
                                  <p:stCondLst>
                                    <p:cond delay="0"/>
                                  </p:stCondLst>
                                  <p:childTnLst>
                                    <p:set>
                                      <p:cBhvr>
                                        <p:cTn id="29" dur="1" fill="hold">
                                          <p:stCondLst>
                                            <p:cond delay="0"/>
                                          </p:stCondLst>
                                        </p:cTn>
                                        <p:tgtEl>
                                          <p:spTgt spid="104455"/>
                                        </p:tgtEl>
                                        <p:attrNameLst>
                                          <p:attrName>style.visibility</p:attrName>
                                        </p:attrNameLst>
                                      </p:cBhvr>
                                      <p:to>
                                        <p:strVal val="visible"/>
                                      </p:to>
                                    </p:set>
                                    <p:animEffect transition="in" filter="barn(outVertical)">
                                      <p:cBhvr>
                                        <p:cTn id="30" dur="500"/>
                                        <p:tgtEl>
                                          <p:spTgt spid="10445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4478"/>
                                        </p:tgtEl>
                                        <p:attrNameLst>
                                          <p:attrName>style.visibility</p:attrName>
                                        </p:attrNameLst>
                                      </p:cBhvr>
                                      <p:to>
                                        <p:strVal val="visible"/>
                                      </p:to>
                                    </p:set>
                                  </p:childTnLst>
                                </p:cTn>
                              </p:par>
                            </p:childTnLst>
                          </p:cTn>
                        </p:par>
                        <p:par>
                          <p:cTn id="35" fill="hold" nodeType="afterGroup">
                            <p:stCondLst>
                              <p:cond delay="0"/>
                            </p:stCondLst>
                            <p:childTnLst>
                              <p:par>
                                <p:cTn id="36" presetID="22" presetClass="entr" presetSubtype="1" fill="hold" nodeType="afterEffect">
                                  <p:stCondLst>
                                    <p:cond delay="0"/>
                                  </p:stCondLst>
                                  <p:childTnLst>
                                    <p:set>
                                      <p:cBhvr>
                                        <p:cTn id="37" dur="1" fill="hold">
                                          <p:stCondLst>
                                            <p:cond delay="0"/>
                                          </p:stCondLst>
                                        </p:cTn>
                                        <p:tgtEl>
                                          <p:spTgt spid="104480"/>
                                        </p:tgtEl>
                                        <p:attrNameLst>
                                          <p:attrName>style.visibility</p:attrName>
                                        </p:attrNameLst>
                                      </p:cBhvr>
                                      <p:to>
                                        <p:strVal val="visible"/>
                                      </p:to>
                                    </p:set>
                                    <p:animEffect transition="in" filter="wipe(up)">
                                      <p:cBhvr>
                                        <p:cTn id="38" dur="500"/>
                                        <p:tgtEl>
                                          <p:spTgt spid="104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37" fill="hold" nodeType="clickEffect">
                                  <p:stCondLst>
                                    <p:cond delay="0"/>
                                  </p:stCondLst>
                                  <p:childTnLst>
                                    <p:set>
                                      <p:cBhvr>
                                        <p:cTn id="42" dur="1" fill="hold">
                                          <p:stCondLst>
                                            <p:cond delay="0"/>
                                          </p:stCondLst>
                                        </p:cTn>
                                        <p:tgtEl>
                                          <p:spTgt spid="104458"/>
                                        </p:tgtEl>
                                        <p:attrNameLst>
                                          <p:attrName>style.visibility</p:attrName>
                                        </p:attrNameLst>
                                      </p:cBhvr>
                                      <p:to>
                                        <p:strVal val="visible"/>
                                      </p:to>
                                    </p:set>
                                    <p:animEffect transition="in" filter="barn(outVertical)">
                                      <p:cBhvr>
                                        <p:cTn id="43" dur="500"/>
                                        <p:tgtEl>
                                          <p:spTgt spid="104458"/>
                                        </p:tgtEl>
                                      </p:cBhvr>
                                    </p:animEffect>
                                  </p:childTnLst>
                                </p:cTn>
                              </p:par>
                              <p:par>
                                <p:cTn id="44" presetID="16" presetClass="entr" presetSubtype="37" fill="hold" nodeType="withEffect">
                                  <p:stCondLst>
                                    <p:cond delay="0"/>
                                  </p:stCondLst>
                                  <p:childTnLst>
                                    <p:set>
                                      <p:cBhvr>
                                        <p:cTn id="45" dur="1" fill="hold">
                                          <p:stCondLst>
                                            <p:cond delay="0"/>
                                          </p:stCondLst>
                                        </p:cTn>
                                        <p:tgtEl>
                                          <p:spTgt spid="104457"/>
                                        </p:tgtEl>
                                        <p:attrNameLst>
                                          <p:attrName>style.visibility</p:attrName>
                                        </p:attrNameLst>
                                      </p:cBhvr>
                                      <p:to>
                                        <p:strVal val="visible"/>
                                      </p:to>
                                    </p:set>
                                    <p:animEffect transition="in" filter="barn(outVertical)">
                                      <p:cBhvr>
                                        <p:cTn id="46" dur="500"/>
                                        <p:tgtEl>
                                          <p:spTgt spid="10445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37" fill="hold" nodeType="clickEffect">
                                  <p:stCondLst>
                                    <p:cond delay="0"/>
                                  </p:stCondLst>
                                  <p:childTnLst>
                                    <p:set>
                                      <p:cBhvr>
                                        <p:cTn id="50" dur="1" fill="hold">
                                          <p:stCondLst>
                                            <p:cond delay="0"/>
                                          </p:stCondLst>
                                        </p:cTn>
                                        <p:tgtEl>
                                          <p:spTgt spid="104460"/>
                                        </p:tgtEl>
                                        <p:attrNameLst>
                                          <p:attrName>style.visibility</p:attrName>
                                        </p:attrNameLst>
                                      </p:cBhvr>
                                      <p:to>
                                        <p:strVal val="visible"/>
                                      </p:to>
                                    </p:set>
                                    <p:animEffect transition="in" filter="barn(outVertical)">
                                      <p:cBhvr>
                                        <p:cTn id="51" dur="500"/>
                                        <p:tgtEl>
                                          <p:spTgt spid="104460"/>
                                        </p:tgtEl>
                                      </p:cBhvr>
                                    </p:animEffect>
                                  </p:childTnLst>
                                </p:cTn>
                              </p:par>
                              <p:par>
                                <p:cTn id="52" presetID="16" presetClass="entr" presetSubtype="37" fill="hold" nodeType="withEffect">
                                  <p:stCondLst>
                                    <p:cond delay="0"/>
                                  </p:stCondLst>
                                  <p:childTnLst>
                                    <p:set>
                                      <p:cBhvr>
                                        <p:cTn id="53" dur="1" fill="hold">
                                          <p:stCondLst>
                                            <p:cond delay="0"/>
                                          </p:stCondLst>
                                        </p:cTn>
                                        <p:tgtEl>
                                          <p:spTgt spid="104459"/>
                                        </p:tgtEl>
                                        <p:attrNameLst>
                                          <p:attrName>style.visibility</p:attrName>
                                        </p:attrNameLst>
                                      </p:cBhvr>
                                      <p:to>
                                        <p:strVal val="visible"/>
                                      </p:to>
                                    </p:set>
                                    <p:animEffect transition="in" filter="barn(outVertical)">
                                      <p:cBhvr>
                                        <p:cTn id="54" dur="500"/>
                                        <p:tgtEl>
                                          <p:spTgt spid="10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p:bldP spid="104455" grpId="0"/>
      <p:bldP spid="104457" grpId="0"/>
      <p:bldP spid="104459"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E77CEF2-FFCF-3AC1-71B1-4D717B8400B7}"/>
              </a:ext>
            </a:extLst>
          </p:cNvPr>
          <p:cNvSpPr>
            <a:spLocks noGrp="1"/>
          </p:cNvSpPr>
          <p:nvPr>
            <p:ph type="title"/>
          </p:nvPr>
        </p:nvSpPr>
        <p:spPr>
          <a:xfrm>
            <a:off x="838200" y="365125"/>
            <a:ext cx="10515600" cy="1325563"/>
          </a:xfrm>
        </p:spPr>
        <p:txBody>
          <a:bodyPr>
            <a:normAutofit/>
          </a:bodyPr>
          <a:lstStyle/>
          <a:p>
            <a:r>
              <a:rPr lang="en-US" sz="4200" b="1">
                <a:latin typeface="Times New Roman" panose="02020603050405020304" pitchFamily="18" charset="0"/>
                <a:cs typeface="Times New Roman" panose="02020603050405020304" pitchFamily="18" charset="0"/>
              </a:rPr>
              <a:t>Reasons that Affect the Emergence of Economics of Scale</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110B46C0-DA50-6684-A693-A9E01171E231}"/>
              </a:ext>
            </a:extLst>
          </p:cNvPr>
          <p:cNvSpPr>
            <a:spLocks noGrp="1"/>
          </p:cNvSpPr>
          <p:nvPr>
            <p:ph idx="1"/>
          </p:nvPr>
        </p:nvSpPr>
        <p:spPr>
          <a:xfrm>
            <a:off x="838200" y="1929384"/>
            <a:ext cx="10515600" cy="4251960"/>
          </a:xfrm>
        </p:spPr>
        <p:txBody>
          <a:bodyPr>
            <a:normAutofit/>
          </a:bodyPr>
          <a:lstStyle/>
          <a:p>
            <a:r>
              <a:rPr lang="en-US" sz="3200">
                <a:latin typeface="Times New Roman" panose="02020603050405020304" pitchFamily="18" charset="0"/>
                <a:cs typeface="Times New Roman" panose="02020603050405020304" pitchFamily="18" charset="0"/>
              </a:rPr>
              <a:t>Technical economies </a:t>
            </a:r>
          </a:p>
          <a:p>
            <a:r>
              <a:rPr lang="en-US" sz="3200">
                <a:latin typeface="Times New Roman" panose="02020603050405020304" pitchFamily="18" charset="0"/>
                <a:cs typeface="Times New Roman" panose="02020603050405020304" pitchFamily="18" charset="0"/>
              </a:rPr>
              <a:t>Managerial economies </a:t>
            </a:r>
          </a:p>
          <a:p>
            <a:r>
              <a:rPr lang="en-US" sz="3200">
                <a:latin typeface="Times New Roman" panose="02020603050405020304" pitchFamily="18" charset="0"/>
                <a:cs typeface="Times New Roman" panose="02020603050405020304" pitchFamily="18" charset="0"/>
              </a:rPr>
              <a:t>Risk- bearing economies</a:t>
            </a:r>
          </a:p>
          <a:p>
            <a:r>
              <a:rPr lang="en-US" sz="3200">
                <a:latin typeface="Times New Roman" panose="02020603050405020304" pitchFamily="18" charset="0"/>
                <a:cs typeface="Times New Roman" panose="02020603050405020304" pitchFamily="18" charset="0"/>
              </a:rPr>
              <a:t>Marketing economies</a:t>
            </a:r>
          </a:p>
          <a:p>
            <a:r>
              <a:rPr lang="en-US" sz="3200">
                <a:latin typeface="Times New Roman" panose="02020603050405020304" pitchFamily="18" charset="0"/>
                <a:cs typeface="Times New Roman" panose="02020603050405020304" pitchFamily="18" charset="0"/>
              </a:rPr>
              <a:t>Financial economies</a:t>
            </a:r>
          </a:p>
        </p:txBody>
      </p:sp>
    </p:spTree>
    <p:extLst>
      <p:ext uri="{BB962C8B-B14F-4D97-AF65-F5344CB8AC3E}">
        <p14:creationId xmlns:p14="http://schemas.microsoft.com/office/powerpoint/2010/main" val="1284508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B32688-9D5A-15CD-D75C-51B7E25A992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E8C59C1-7D9B-DC13-9365-4E2AC50E2347}"/>
              </a:ext>
            </a:extLst>
          </p:cNvPr>
          <p:cNvSpPr>
            <a:spLocks noGrp="1"/>
          </p:cNvSpPr>
          <p:nvPr>
            <p:ph type="title"/>
          </p:nvPr>
        </p:nvSpPr>
        <p:spPr>
          <a:xfrm>
            <a:off x="838200" y="365125"/>
            <a:ext cx="10515600" cy="1325563"/>
          </a:xfrm>
        </p:spPr>
        <p:txBody>
          <a:bodyPr>
            <a:normAutofit/>
          </a:bodyPr>
          <a:lstStyle/>
          <a:p>
            <a:r>
              <a:rPr lang="en-US" sz="4200" b="1">
                <a:latin typeface="Times New Roman" panose="02020603050405020304" pitchFamily="18" charset="0"/>
                <a:cs typeface="Times New Roman" panose="02020603050405020304" pitchFamily="18" charset="0"/>
              </a:rPr>
              <a:t>Reasons that Affect the Emergence of Dis-economics of Scale</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0F6E7F1C-13FE-061F-635A-4F884FCE0B2F}"/>
              </a:ext>
            </a:extLst>
          </p:cNvPr>
          <p:cNvSpPr>
            <a:spLocks noGrp="1"/>
          </p:cNvSpPr>
          <p:nvPr>
            <p:ph idx="1"/>
          </p:nvPr>
        </p:nvSpPr>
        <p:spPr>
          <a:xfrm>
            <a:off x="838200" y="1929384"/>
            <a:ext cx="10515600" cy="4251960"/>
          </a:xfrm>
        </p:spPr>
        <p:txBody>
          <a:bodyPr>
            <a:normAutofit/>
          </a:bodyPr>
          <a:lstStyle/>
          <a:p>
            <a:r>
              <a:rPr lang="en-US" sz="3200" dirty="0">
                <a:latin typeface="Times New Roman" panose="02020603050405020304" pitchFamily="18" charset="0"/>
                <a:cs typeface="Times New Roman" panose="02020603050405020304" pitchFamily="18" charset="0"/>
              </a:rPr>
              <a:t>Managerial diseconomies of scale</a:t>
            </a:r>
          </a:p>
          <a:p>
            <a:r>
              <a:rPr lang="en-US" sz="3200" dirty="0">
                <a:latin typeface="Times New Roman" panose="02020603050405020304" pitchFamily="18" charset="0"/>
                <a:cs typeface="Times New Roman" panose="02020603050405020304" pitchFamily="18" charset="0"/>
              </a:rPr>
              <a:t>Coordination and control problems</a:t>
            </a:r>
          </a:p>
          <a:p>
            <a:r>
              <a:rPr lang="en-US" sz="3200" dirty="0">
                <a:latin typeface="Times New Roman" panose="02020603050405020304" pitchFamily="18" charset="0"/>
                <a:cs typeface="Times New Roman" panose="02020603050405020304" pitchFamily="18" charset="0"/>
              </a:rPr>
              <a:t>Worker’s alienation</a:t>
            </a:r>
          </a:p>
          <a:p>
            <a:r>
              <a:rPr lang="en-US" sz="3200" dirty="0">
                <a:latin typeface="Times New Roman" panose="02020603050405020304" pitchFamily="18" charset="0"/>
                <a:cs typeface="Times New Roman" panose="02020603050405020304" pitchFamily="18" charset="0"/>
              </a:rPr>
              <a:t>Communication challenges</a:t>
            </a:r>
          </a:p>
        </p:txBody>
      </p:sp>
    </p:spTree>
    <p:extLst>
      <p:ext uri="{BB962C8B-B14F-4D97-AF65-F5344CB8AC3E}">
        <p14:creationId xmlns:p14="http://schemas.microsoft.com/office/powerpoint/2010/main" val="31314762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758" name="Rectangle 7475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53" name="Title 1">
            <a:extLst>
              <a:ext uri="{FF2B5EF4-FFF2-40B4-BE49-F238E27FC236}">
                <a16:creationId xmlns:a16="http://schemas.microsoft.com/office/drawing/2014/main" id="{C572E3A9-108F-CE21-FE4E-28D87627C1B9}"/>
              </a:ext>
            </a:extLst>
          </p:cNvPr>
          <p:cNvSpPr>
            <a:spLocks noGrp="1" noChangeArrowheads="1"/>
          </p:cNvSpPr>
          <p:nvPr>
            <p:ph type="title"/>
          </p:nvPr>
        </p:nvSpPr>
        <p:spPr>
          <a:xfrm>
            <a:off x="838200" y="451381"/>
            <a:ext cx="10512552" cy="4066540"/>
          </a:xfrm>
        </p:spPr>
        <p:txBody>
          <a:bodyPr vert="horz" lIns="91440" tIns="45720" rIns="91440" bIns="45720" rtlCol="0" anchor="b">
            <a:normAutofit/>
          </a:bodyPr>
          <a:lstStyle/>
          <a:p>
            <a:r>
              <a:rPr lang="en-US" altLang="en-LK" sz="6600" b="1" kern="1200" dirty="0">
                <a:solidFill>
                  <a:schemeClr val="tx1"/>
                </a:solidFill>
                <a:latin typeface="Times New Roman" panose="02020603050405020304" pitchFamily="18" charset="0"/>
                <a:cs typeface="Times New Roman" panose="02020603050405020304" pitchFamily="18" charset="0"/>
              </a:rPr>
              <a:t>Thank you</a:t>
            </a:r>
          </a:p>
        </p:txBody>
      </p:sp>
      <p:sp>
        <p:nvSpPr>
          <p:cNvPr id="7476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2870</Words>
  <Application>Microsoft Macintosh PowerPoint</Application>
  <PresentationFormat>Widescreen</PresentationFormat>
  <Paragraphs>762</Paragraphs>
  <Slides>67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67</vt:i4>
      </vt:variant>
    </vt:vector>
  </HeadingPairs>
  <TitlesOfParts>
    <vt:vector size="78" baseType="lpstr">
      <vt:lpstr>Aptos</vt:lpstr>
      <vt:lpstr>Aptos Display</vt:lpstr>
      <vt:lpstr>Arial</vt:lpstr>
      <vt:lpstr>Calibri</vt:lpstr>
      <vt:lpstr>Symbol</vt:lpstr>
      <vt:lpstr>Times New Roman</vt:lpstr>
      <vt:lpstr>Wingdings</vt:lpstr>
      <vt:lpstr>Office Theme</vt:lpstr>
      <vt:lpstr>Equation</vt:lpstr>
      <vt:lpstr>Chart</vt:lpstr>
      <vt:lpstr>Worksheet</vt:lpstr>
      <vt:lpstr>Theory of Production and Cost</vt:lpstr>
      <vt:lpstr>Theory of the Firm: Production &amp; Cost</vt:lpstr>
      <vt:lpstr>The Nature of the Firm</vt:lpstr>
      <vt:lpstr>The Firm and Its Environment</vt:lpstr>
      <vt:lpstr>Production</vt:lpstr>
      <vt:lpstr>Production </vt:lpstr>
      <vt:lpstr>Production Technology</vt:lpstr>
      <vt:lpstr>The Firm’s Production Function</vt:lpstr>
      <vt:lpstr>The Short Run and the Long Run</vt:lpstr>
      <vt:lpstr>Short Run Production </vt:lpstr>
      <vt:lpstr>Production in the Short Run</vt:lpstr>
      <vt:lpstr>Production in the Short Run</vt:lpstr>
      <vt:lpstr>Total Product and Marginal Product</vt:lpstr>
      <vt:lpstr>Marginal Returns To Labor</vt:lpstr>
      <vt:lpstr>Increasing Marginal Returns to Labor</vt:lpstr>
      <vt:lpstr>Diminishing Returns To Labor</vt:lpstr>
      <vt:lpstr>PowerPoint Presentation</vt:lpstr>
      <vt:lpstr>PowerPoint Presentation</vt:lpstr>
      <vt:lpstr>PowerPoint Presentation</vt:lpstr>
      <vt:lpstr>PowerPoint Presentation</vt:lpstr>
      <vt:lpstr>PowerPoint Presentation</vt:lpstr>
      <vt:lpstr>Exercise</vt:lpstr>
      <vt:lpstr>PowerPoint Presentation</vt:lpstr>
      <vt:lpstr>Long Run Production </vt:lpstr>
      <vt:lpstr>Costs</vt:lpstr>
      <vt:lpstr>The Irrelevance of Sunk Costs</vt:lpstr>
      <vt:lpstr>Explicit vs. Implicit Costs</vt:lpstr>
      <vt:lpstr>Economic vs. Accounting Costs </vt:lpstr>
      <vt:lpstr>Profit</vt:lpstr>
      <vt:lpstr>Economic versus Accounting Profit </vt:lpstr>
      <vt:lpstr>Economic vs. Accounting Profit</vt:lpstr>
      <vt:lpstr>Economic vs. Accounting profit</vt:lpstr>
      <vt:lpstr>Economic vs. Accounting profit</vt:lpstr>
      <vt:lpstr>Economic vs. Accounting profit</vt:lpstr>
      <vt:lpstr>Economic profit</vt:lpstr>
      <vt:lpstr>Costs in the Short Run</vt:lpstr>
      <vt:lpstr>Fixed Cost </vt:lpstr>
      <vt:lpstr>Variable Cost</vt:lpstr>
      <vt:lpstr>Measuring Short-Run Costs:  Total Costs</vt:lpstr>
      <vt:lpstr>The Firm’s Total Cost Curves</vt:lpstr>
      <vt:lpstr>Average Costs</vt:lpstr>
      <vt:lpstr>Marginal Cost</vt:lpstr>
      <vt:lpstr>Average And Marginal Costs</vt:lpstr>
      <vt:lpstr>Explaining the Shape of the Marginal Cost Curve</vt:lpstr>
      <vt:lpstr>PowerPoint Presentation</vt:lpstr>
      <vt:lpstr>Average And Marginal Costs</vt:lpstr>
      <vt:lpstr>Average and Marginal Costs</vt:lpstr>
      <vt:lpstr>Cost Formulas</vt:lpstr>
      <vt:lpstr>PowerPoint Presentation</vt:lpstr>
      <vt:lpstr>PowerPoint Presentation</vt:lpstr>
      <vt:lpstr>PowerPoint Presentation</vt:lpstr>
      <vt:lpstr>Short-Run Cost</vt:lpstr>
      <vt:lpstr>PowerPoint Presentation</vt:lpstr>
      <vt:lpstr>PowerPoint Presentation</vt:lpstr>
      <vt:lpstr>Question 01</vt:lpstr>
      <vt:lpstr>Question 02</vt:lpstr>
      <vt:lpstr>Production And Cost in the Long Run</vt:lpstr>
      <vt:lpstr>Production And Cost in the Long Run</vt:lpstr>
      <vt:lpstr>The Relationship Between Long-Run And Short-Run Costs</vt:lpstr>
      <vt:lpstr>Average Cost And Plant Size</vt:lpstr>
      <vt:lpstr>Graphing the LRATC Curve</vt:lpstr>
      <vt:lpstr>Long-Run Average Total Cost</vt:lpstr>
      <vt:lpstr>Economies of Scale</vt:lpstr>
      <vt:lpstr>The Shape of LRATC</vt:lpstr>
      <vt:lpstr>Reasons that Affect the Emergence of Economics of Scale</vt:lpstr>
      <vt:lpstr>Reasons that Affect the Emergence of Dis-economics of Scale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Chathuranga Adhikari</dc:creator>
  <cp:lastModifiedBy>Mr. Chathuranga Adhikari</cp:lastModifiedBy>
  <cp:revision>21</cp:revision>
  <dcterms:created xsi:type="dcterms:W3CDTF">2025-03-19T12:45:38Z</dcterms:created>
  <dcterms:modified xsi:type="dcterms:W3CDTF">2026-09-28T04:19:07Z</dcterms:modified>
</cp:coreProperties>
</file>