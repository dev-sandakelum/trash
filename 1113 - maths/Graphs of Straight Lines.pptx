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5161"/>
  </p:normalViewPr>
  <p:slideViewPr>
    <p:cSldViewPr snapToGrid="0">
      <p:cViewPr varScale="1">
        <p:scale>
          <a:sx n="95" d="100"/>
          <a:sy n="95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6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6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88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8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9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8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43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779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600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190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44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701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59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7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8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A906-04E5-49C4-7C26-3EBB9E8A1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 of Straight Lines and Quadratic Functions</a:t>
            </a: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074D7-4D7B-7CB1-F4FD-3372D011A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5155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LK" sz="1400" b="1" dirty="0"/>
              <a:t>Mrs. Parami Wattetenne</a:t>
            </a:r>
          </a:p>
          <a:p>
            <a:pPr algn="l"/>
            <a:r>
              <a:rPr lang="en-LK" sz="1400" b="1" dirty="0"/>
              <a:t>Lecturer (Probationary)</a:t>
            </a:r>
          </a:p>
          <a:p>
            <a:pPr algn="l"/>
            <a:r>
              <a:rPr lang="en-LK" sz="1400" b="1" dirty="0"/>
              <a:t>Department of Multidisciplinary Studies</a:t>
            </a:r>
          </a:p>
          <a:p>
            <a:pPr algn="l"/>
            <a:r>
              <a:rPr lang="en-LK" sz="1400" b="1" dirty="0"/>
              <a:t>Faculty of Technology </a:t>
            </a:r>
          </a:p>
          <a:p>
            <a:pPr algn="l"/>
            <a:r>
              <a:rPr lang="en-LK" sz="1400" b="1" dirty="0"/>
              <a:t>University of Ruhuna</a:t>
            </a:r>
          </a:p>
        </p:txBody>
      </p:sp>
    </p:spTree>
    <p:extLst>
      <p:ext uri="{BB962C8B-B14F-4D97-AF65-F5344CB8AC3E}">
        <p14:creationId xmlns:p14="http://schemas.microsoft.com/office/powerpoint/2010/main" val="351041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A33D-DE4B-42D3-4F22-9D65F583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Topic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5A85-9EB7-A720-6168-E8227215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LK" dirty="0"/>
              <a:t>Cartesian X-Y plane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Straight Line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Straight Lines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Maximum and Minimum Values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System of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388894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5E1-1106-CCB9-F0A1-07AE01EC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dirty="0"/>
              <a:t>Cartesian X-Y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1110-8BA3-F0EF-85DC-0FABA496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LK" dirty="0"/>
              <a:t>The Cartesian coodinate system consist of:</a:t>
            </a:r>
          </a:p>
          <a:p>
            <a:r>
              <a:rPr lang="en-LK" dirty="0"/>
              <a:t>X axis – horizontal axis</a:t>
            </a:r>
          </a:p>
          <a:p>
            <a:r>
              <a:rPr lang="en-LK" dirty="0"/>
              <a:t>Y axis – vertical axis</a:t>
            </a:r>
          </a:p>
          <a:p>
            <a:pPr marL="0" indent="0">
              <a:buNone/>
            </a:pPr>
            <a:r>
              <a:rPr lang="en-LK" dirty="0"/>
              <a:t>Origin - (0,0)</a:t>
            </a:r>
          </a:p>
          <a:p>
            <a:pPr marL="0" indent="0">
              <a:buNone/>
            </a:pPr>
            <a:r>
              <a:rPr lang="en-LK" dirty="0"/>
              <a:t>A point is represented by (x,y)</a:t>
            </a:r>
          </a:p>
        </p:txBody>
      </p:sp>
    </p:spTree>
    <p:extLst>
      <p:ext uri="{BB962C8B-B14F-4D97-AF65-F5344CB8AC3E}">
        <p14:creationId xmlns:p14="http://schemas.microsoft.com/office/powerpoint/2010/main" val="147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EDEB-8FBD-13A4-5EE6-142F9099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Cartesian X-Y plane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CB2526-49BF-41AA-320A-E22E16613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457" y="2878420"/>
            <a:ext cx="4209143" cy="284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968FF3-C0C5-296F-F176-966AB8FA5550}"/>
              </a:ext>
            </a:extLst>
          </p:cNvPr>
          <p:cNvSpPr txBox="1"/>
          <p:nvPr/>
        </p:nvSpPr>
        <p:spPr>
          <a:xfrm>
            <a:off x="4339771" y="358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34A0A-A8D1-EEC8-45D9-01394C13C6CC}"/>
              </a:ext>
            </a:extLst>
          </p:cNvPr>
          <p:cNvSpPr txBox="1"/>
          <p:nvPr/>
        </p:nvSpPr>
        <p:spPr>
          <a:xfrm>
            <a:off x="1436915" y="2693753"/>
            <a:ext cx="157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Four Qudrants: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68196B-5668-18C0-8A59-DC7922F3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26883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7B43-0739-DD35-FF3C-5E556D70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What is a Staright Line?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BEE96-972D-5FEC-AFD9-44565D798E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LK" dirty="0"/>
                  <a:t>A straight line is a collection of points that follows a constant rate of cange.</a:t>
                </a:r>
              </a:p>
              <a:p>
                <a:r>
                  <a:rPr lang="en-LK" dirty="0"/>
                  <a:t>The general equation is: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LK" dirty="0"/>
              </a:p>
              <a:p>
                <a:r>
                  <a:rPr lang="en-GB" dirty="0"/>
                  <a:t>W</a:t>
                </a:r>
                <a:r>
                  <a:rPr lang="en-LK" dirty="0"/>
                  <a:t>here: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𝑖𝑛𝑡𝑒𝑟𝑐𝑒𝑝𝑡</m:t>
                    </m:r>
                  </m:oMath>
                </a14:m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BEE96-972D-5FEC-AFD9-44565D798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78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43AC-2990-F3F3-CE85-855FC358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Slope of a Straight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46CE-AA00-8859-3C51-77CFF473A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LK" dirty="0"/>
                  <a:t>The slope measures the steepness and direction of a line.</a:t>
                </a:r>
              </a:p>
              <a:p>
                <a:r>
                  <a:rPr lang="en-LK" dirty="0"/>
                  <a:t>Four two points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LK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LK" dirty="0"/>
              </a:p>
              <a:p>
                <a:r>
                  <a:rPr lang="en-GB" dirty="0"/>
                  <a:t>T</a:t>
                </a:r>
                <a:r>
                  <a:rPr lang="en-LK" dirty="0"/>
                  <a:t>he </a:t>
                </a:r>
                <a:r>
                  <a:rPr lang="en-LK" b="1" dirty="0"/>
                  <a:t>slope</a:t>
                </a:r>
                <a:r>
                  <a:rPr lang="en-LK" dirty="0"/>
                  <a:t> is :</a:t>
                </a:r>
              </a:p>
              <a:p>
                <a:pPr marL="2686050" lvl="6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LK" sz="32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46CE-AA00-8859-3C51-77CFF473A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5" t="-265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31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4A6F-A520-6F97-64C3-E50A3198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Slope of a Straight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E2B18A-9292-EAD1-3E87-0C5C0204F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LK" dirty="0"/>
                  <a:t>Interpretation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𝑖𝑛𝑐𝑟𝑒𝑎𝑠𝑒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𝑑𝑒𝑐𝑟𝑒𝑎𝑠𝑒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h𝑜𝑟𝑖𝑧𝑜𝑛𝑡𝑎𝑙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𝑙𝑖𝑛𝑒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𝑈𝑛𝑑𝑒𝑓𝑖𝑛𝑒𝑑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𝑠𝑙𝑜𝑝𝑒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𝑣𝑒𝑟𝑡𝑖𝑐𝑎𝑙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𝑙𝑖𝑛𝑒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E2B18A-9292-EAD1-3E87-0C5C0204F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1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21B4-D744-F4F5-5C4F-394BDC53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Equation of a Straight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6CEB6-B21C-E6DE-162D-11BD0FE88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LK" dirty="0"/>
              </a:p>
              <a:p>
                <a:r>
                  <a:rPr lang="en-LK" dirty="0"/>
                  <a:t>Examples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b="0" dirty="0"/>
              </a:p>
              <a:p>
                <a:r>
                  <a:rPr lang="en-LK" dirty="0"/>
                  <a:t>Therefore, slope =</a:t>
                </a:r>
                <a14:m>
                  <m:oMath xmlns:m="http://schemas.openxmlformats.org/officeDocument/2006/math">
                    <m:r>
                      <a:rPr lang="en-LK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LK" dirty="0"/>
                  <a:t> and y intercept=</a:t>
                </a:r>
                <a14:m>
                  <m:oMath xmlns:m="http://schemas.openxmlformats.org/officeDocument/2006/math">
                    <m:r>
                      <a:rPr lang="en-LK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LK" dirty="0"/>
              </a:p>
              <a:p>
                <a:r>
                  <a:rPr lang="en-LK" dirty="0"/>
                  <a:t>The line cross the Y-axis at </a:t>
                </a:r>
                <a14:m>
                  <m:oMath xmlns:m="http://schemas.openxmlformats.org/officeDocument/2006/math">
                    <m:r>
                      <a:rPr lang="en-LK" i="1" dirty="0" smtClean="0">
                        <a:latin typeface="Cambria Math" panose="02040503050406030204" pitchFamily="18" charset="0"/>
                      </a:rPr>
                      <m:t>(0,3)</m:t>
                    </m:r>
                  </m:oMath>
                </a14:m>
                <a:endParaRPr lang="en-LK" dirty="0"/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6CEB6-B21C-E6DE-162D-11BD0FE88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B368468-8B31-C21B-D713-A511121BA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57" y="2942645"/>
            <a:ext cx="4272643" cy="27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9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A4F0-FEBB-796D-2074-7450E98B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Drawig a Straight Line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E37CE-FE5E-399A-01A2-D174C45EC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9601196" cy="355358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r>
                  <a:rPr lang="en-LK" dirty="0"/>
                  <a:t>Create a table:</a:t>
                </a:r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E37CE-FE5E-399A-01A2-D174C45EC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9601196" cy="3553582"/>
              </a:xfrm>
              <a:blipFill>
                <a:blip r:embed="rId2"/>
                <a:stretch>
                  <a:fillRect l="-1190" t="-2857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3B5BE7D-882B-E1DD-BAD3-B0F4EA815D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0616280"/>
                  </p:ext>
                </p:extLst>
              </p:nvPr>
            </p:nvGraphicFramePr>
            <p:xfrm>
              <a:off x="1524000" y="3622524"/>
              <a:ext cx="37301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1371">
                      <a:extLst>
                        <a:ext uri="{9D8B030D-6E8A-4147-A177-3AD203B41FA5}">
                          <a16:colId xmlns:a16="http://schemas.microsoft.com/office/drawing/2014/main" val="118625818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1641350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336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2418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94147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2797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9952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269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3B5BE7D-882B-E1DD-BAD3-B0F4EA815D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0616280"/>
                  </p:ext>
                </p:extLst>
              </p:nvPr>
            </p:nvGraphicFramePr>
            <p:xfrm>
              <a:off x="1524000" y="3622524"/>
              <a:ext cx="373017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1371">
                      <a:extLst>
                        <a:ext uri="{9D8B030D-6E8A-4147-A177-3AD203B41FA5}">
                          <a16:colId xmlns:a16="http://schemas.microsoft.com/office/drawing/2014/main" val="118625818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1641350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3448" r="-98000" b="-5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3448" r="-2083" b="-5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336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100000" r="-98000" b="-3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100000" r="-2083" b="-3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2418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206897" r="-98000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206897" r="-2083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94147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306897" r="-98000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306897" r="-2083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2797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393333" r="-98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393333" r="-208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52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667" t="-510345" r="-98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3"/>
                          <a:stretch>
                            <a:fillRect l="-104861" t="-510345" r="-2083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82698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200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259C-A47E-826A-8C95-C37D1D4B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Drawig a Straight Line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3F2E-D973-C566-1546-358B67B7A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LK" dirty="0"/>
                  <a:t>Plot the points: </a:t>
                </a:r>
                <a14:m>
                  <m:oMath xmlns:m="http://schemas.openxmlformats.org/officeDocument/2006/math">
                    <m:r>
                      <a:rPr lang="en-LK" i="1" dirty="0" smtClean="0">
                        <a:latin typeface="Cambria Math" panose="02040503050406030204" pitchFamily="18" charset="0"/>
                      </a:rPr>
                      <m:t>(−2,−3),(−1,−1),(0,1),(1,3),(2,5)</m:t>
                    </m:r>
                  </m:oMath>
                </a14:m>
                <a:endParaRPr lang="en-LK" dirty="0"/>
              </a:p>
              <a:p>
                <a:r>
                  <a:rPr lang="en-LK" dirty="0"/>
                  <a:t>Then join the points with a straight line.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3F2E-D973-C566-1546-358B67B7A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BF49A8F-6FDA-2509-AF26-9A63362F3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101" y="3062514"/>
            <a:ext cx="4685496" cy="30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5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B62F-F2C5-8FD1-998D-C480A8BA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Special Straight 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F60A345-CF94-C107-5520-06E65564300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25661734"/>
                  </p:ext>
                </p:extLst>
              </p:nvPr>
            </p:nvGraphicFramePr>
            <p:xfrm>
              <a:off x="1295398" y="2717120"/>
              <a:ext cx="9601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0600">
                      <a:extLst>
                        <a:ext uri="{9D8B030D-6E8A-4147-A177-3AD203B41FA5}">
                          <a16:colId xmlns:a16="http://schemas.microsoft.com/office/drawing/2014/main" val="1902767539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3233533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LK" dirty="0"/>
                            <a:t>Horizontal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x</a:t>
                          </a:r>
                          <a:r>
                            <a:rPr lang="en-LK" dirty="0"/>
                            <a:t> - intercept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8799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LK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0205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LK" dirty="0"/>
                            <a:t>Example: </a:t>
                          </a:r>
                          <a14:m>
                            <m:oMath xmlns:m="http://schemas.openxmlformats.org/officeDocument/2006/math">
                              <m:r>
                                <a:rPr lang="en-LK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LK" i="1" dirty="0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LK" dirty="0"/>
                            <a:t> and slope is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Example: x=2 its slope is undefined. </a:t>
                          </a:r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992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F60A345-CF94-C107-5520-06E65564300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25661734"/>
                  </p:ext>
                </p:extLst>
              </p:nvPr>
            </p:nvGraphicFramePr>
            <p:xfrm>
              <a:off x="1295398" y="2717120"/>
              <a:ext cx="9601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0600">
                      <a:extLst>
                        <a:ext uri="{9D8B030D-6E8A-4147-A177-3AD203B41FA5}">
                          <a16:colId xmlns:a16="http://schemas.microsoft.com/office/drawing/2014/main" val="1902767539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3233533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LK" dirty="0"/>
                            <a:t>Horizontal 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x</a:t>
                          </a:r>
                          <a:r>
                            <a:rPr lang="en-LK" dirty="0"/>
                            <a:t> - intercept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8799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2"/>
                          <a:stretch>
                            <a:fillRect t="-110345" r="-100528" b="-1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2"/>
                          <a:stretch>
                            <a:fillRect l="-100265" t="-110345" r="-794" b="-1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0205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LK"/>
                        </a:p>
                      </a:txBody>
                      <a:tcPr>
                        <a:blipFill>
                          <a:blip r:embed="rId2"/>
                          <a:stretch>
                            <a:fillRect t="-203333" r="-10052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Example: x=2 its slope is undefined. </a:t>
                          </a:r>
                          <a:endParaRPr lang="en-L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29921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846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A730-8E4C-A231-2509-5E38659E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Parallel 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D7DEA-79B0-085F-A0F2-4E332B2DD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LK" dirty="0"/>
                  <a:t>Two straight lines are parallel if they have same slope.</a:t>
                </a:r>
              </a:p>
              <a:p>
                <a:r>
                  <a:rPr lang="en-LK" dirty="0"/>
                  <a:t>For example: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Both have,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Therefore they are parallel.</a:t>
                </a:r>
              </a:p>
              <a:p>
                <a:endParaRPr lang="en-US" b="0" dirty="0"/>
              </a:p>
              <a:p>
                <a:endParaRPr lang="en-LK" dirty="0"/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D7DEA-79B0-085F-A0F2-4E332B2DD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71A4E09-57AC-D10E-DFB0-C76CDD80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416" y="3083697"/>
            <a:ext cx="4694108" cy="30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8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4D46-AB3A-3083-C939-86AE7DDF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Perpendicular 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02550-2A61-DF16-C15D-84A2BCFBB6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LK" dirty="0"/>
                  <a:t>Two non-vertical lines are perpendicular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L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=−1.</m:t>
                    </m:r>
                  </m:oMath>
                </a14:m>
                <a:endParaRPr lang="en-US" b="0" dirty="0"/>
              </a:p>
              <a:p>
                <a:r>
                  <a:rPr lang="en-LK" dirty="0"/>
                  <a:t>Therefore,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L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L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LK" dirty="0"/>
              </a:p>
              <a:p>
                <a:r>
                  <a:rPr lang="en-LK" dirty="0"/>
                  <a:t>Example: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LK" dirty="0"/>
                  <a:t>=2 then the perpendicular slope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L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02550-2A61-DF16-C15D-84A2BCFBB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EC9B47E-E5F5-AD7C-8BB5-425B986D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057" y="4310743"/>
            <a:ext cx="2398503" cy="15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63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6E4E-B4F1-A2A1-1230-B9EB5BD2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LK" sz="1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0606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{C031A6FF-F86B-254B-B381-C76EA6CC28AB}TFaded88da-90db-4543-ab7c-879d099b76defcad6244-6dfd168f82a5</Template>
  <TotalTime>63</TotalTime>
  <Words>428</Words>
  <Application>Microsoft Macintosh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Garamond</vt:lpstr>
      <vt:lpstr>Organic</vt:lpstr>
      <vt:lpstr>Graph of Straight Lines and Quadratic Functions</vt:lpstr>
      <vt:lpstr>Topic Covered</vt:lpstr>
      <vt:lpstr>Cartesian X-Y plane</vt:lpstr>
      <vt:lpstr>Cartesian X-Y plane</vt:lpstr>
      <vt:lpstr>What is a Staright Line?</vt:lpstr>
      <vt:lpstr>Slope of a Straight Line</vt:lpstr>
      <vt:lpstr>Slope of a Straight Line</vt:lpstr>
      <vt:lpstr>Equation of a Straight Line</vt:lpstr>
      <vt:lpstr>Drawig a Straight Line Graph</vt:lpstr>
      <vt:lpstr>Drawig a Straight Line Graph</vt:lpstr>
      <vt:lpstr>Special Straight Lines</vt:lpstr>
      <vt:lpstr>Parallel Lines</vt:lpstr>
      <vt:lpstr>Perpendicular Lines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https://www.examples.com/maths/functions.html</dc:title>
  <dc:creator>My Mac</dc:creator>
  <cp:lastModifiedBy>My Mac</cp:lastModifiedBy>
  <cp:revision>5</cp:revision>
  <dcterms:created xsi:type="dcterms:W3CDTF">2026-09-16T17:22:36Z</dcterms:created>
  <dcterms:modified xsi:type="dcterms:W3CDTF">2026-09-30T22:46:35Z</dcterms:modified>
</cp:coreProperties>
</file>