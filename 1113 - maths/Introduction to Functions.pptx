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4"/>
    <p:restoredTop sz="95161"/>
  </p:normalViewPr>
  <p:slideViewPr>
    <p:cSldViewPr snapToGrid="0">
      <p:cViewPr varScale="1">
        <p:scale>
          <a:sx n="91" d="100"/>
          <a:sy n="91" d="100"/>
        </p:scale>
        <p:origin x="2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22E1-03FC-34FD-ADD5-B309844CF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LK" cap="none" dirty="0"/>
              <a:t>Introduction to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87D89-4733-2F72-3C5F-DAFA95F7F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318267"/>
          </a:xfrm>
        </p:spPr>
        <p:txBody>
          <a:bodyPr>
            <a:normAutofit/>
          </a:bodyPr>
          <a:lstStyle/>
          <a:p>
            <a:r>
              <a:rPr lang="en-LK" cap="none" dirty="0"/>
              <a:t>Mrs. Parami Wattetenne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LK" cap="none" dirty="0"/>
              <a:t>Lecturer (Probationary)</a:t>
            </a:r>
            <a:br>
              <a:rPr lang="en-LK" cap="none" dirty="0"/>
            </a:br>
            <a:r>
              <a:rPr lang="en-LK" cap="none" dirty="0"/>
              <a:t>Department Of Multidisciplinary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LK" cap="none" dirty="0"/>
              <a:t>Faculty Of Technology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LK" cap="none" dirty="0"/>
              <a:t>University Of Ruhuna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600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89BB-D480-E096-0366-5C14AD71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>
                <a:effectLst/>
                <a:latin typeface="CMBX12"/>
              </a:rPr>
              <a:t>What is a function? </a:t>
            </a:r>
            <a:br>
              <a:rPr lang="en-GB" sz="4000" dirty="0"/>
            </a:br>
            <a:endParaRPr lang="en-L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4B7E-4F61-71C7-4508-42C7B817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chemeClr val="accent2">
                    <a:lumMod val="75000"/>
                  </a:schemeClr>
                </a:solidFill>
                <a:effectLst/>
                <a:latin typeface="CMBX12"/>
              </a:rPr>
              <a:t>Definition of a Function:</a:t>
            </a:r>
          </a:p>
          <a:p>
            <a:pPr algn="just"/>
            <a:r>
              <a:rPr lang="en-GB" sz="2600" dirty="0">
                <a:effectLst/>
                <a:latin typeface="CMR12"/>
              </a:rPr>
              <a:t>A </a:t>
            </a:r>
            <a:r>
              <a:rPr lang="en-GB" sz="2600" b="1" dirty="0">
                <a:effectLst/>
                <a:latin typeface="CMR12"/>
              </a:rPr>
              <a:t>Function</a:t>
            </a:r>
            <a:r>
              <a:rPr lang="en-GB" sz="2600" dirty="0">
                <a:effectLst/>
                <a:latin typeface="CMR12"/>
              </a:rPr>
              <a:t> </a:t>
            </a:r>
            <a:r>
              <a:rPr lang="en-GB" sz="2600" dirty="0">
                <a:effectLst/>
                <a:latin typeface="CMMI12"/>
              </a:rPr>
              <a:t>f </a:t>
            </a:r>
            <a:r>
              <a:rPr lang="en-GB" sz="2600" dirty="0">
                <a:effectLst/>
                <a:latin typeface="CMR12"/>
              </a:rPr>
              <a:t>from a set of elements </a:t>
            </a:r>
            <a:r>
              <a:rPr lang="en-GB" sz="2600" dirty="0">
                <a:effectLst/>
                <a:latin typeface="CMMI12"/>
              </a:rPr>
              <a:t>X </a:t>
            </a:r>
            <a:r>
              <a:rPr lang="en-GB" sz="2600" dirty="0">
                <a:effectLst/>
                <a:latin typeface="CMR12"/>
              </a:rPr>
              <a:t>to a set of elements </a:t>
            </a:r>
            <a:r>
              <a:rPr lang="en-GB" sz="2600" dirty="0">
                <a:effectLst/>
                <a:latin typeface="CMMI12"/>
              </a:rPr>
              <a:t>Y </a:t>
            </a:r>
            <a:r>
              <a:rPr lang="en-GB" sz="2600" dirty="0">
                <a:effectLst/>
                <a:latin typeface="CMR12"/>
              </a:rPr>
              <a:t>is a rule that assigns to each element </a:t>
            </a:r>
            <a:r>
              <a:rPr lang="en-GB" sz="2600" dirty="0">
                <a:effectLst/>
                <a:latin typeface="CMMI12"/>
              </a:rPr>
              <a:t>x </a:t>
            </a:r>
            <a:r>
              <a:rPr lang="en-GB" sz="2600" dirty="0">
                <a:effectLst/>
                <a:latin typeface="CMR12"/>
              </a:rPr>
              <a:t>in </a:t>
            </a:r>
            <a:r>
              <a:rPr lang="en-GB" sz="2600" dirty="0">
                <a:effectLst/>
                <a:latin typeface="CMMI12"/>
              </a:rPr>
              <a:t>X </a:t>
            </a:r>
            <a:r>
              <a:rPr lang="en-GB" sz="2600" dirty="0">
                <a:effectLst/>
                <a:latin typeface="CMR12"/>
              </a:rPr>
              <a:t>exactly one element </a:t>
            </a:r>
            <a:r>
              <a:rPr lang="en-GB" sz="2600" dirty="0">
                <a:effectLst/>
                <a:latin typeface="CMMI12"/>
              </a:rPr>
              <a:t>y </a:t>
            </a:r>
            <a:r>
              <a:rPr lang="en-GB" sz="2600" dirty="0">
                <a:effectLst/>
                <a:latin typeface="CMR12"/>
              </a:rPr>
              <a:t>in </a:t>
            </a:r>
            <a:r>
              <a:rPr lang="en-GB" sz="2600" dirty="0">
                <a:effectLst/>
                <a:latin typeface="CMMI12"/>
              </a:rPr>
              <a:t>Y </a:t>
            </a:r>
            <a:r>
              <a:rPr lang="en-GB" sz="2600" dirty="0">
                <a:effectLst/>
                <a:latin typeface="CMR12"/>
              </a:rPr>
              <a:t>. </a:t>
            </a:r>
            <a:endParaRPr lang="en-GB" sz="2600" dirty="0"/>
          </a:p>
          <a:p>
            <a:pPr algn="just"/>
            <a:r>
              <a:rPr lang="en-GB" sz="2600" dirty="0">
                <a:effectLst/>
                <a:latin typeface="CMR12"/>
              </a:rPr>
              <a:t>One way to demonstrate the meaning of this definition is by using arrow diagrams. </a:t>
            </a:r>
            <a:endParaRPr lang="en-GB" sz="2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3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967898-652D-8B3B-FD4E-163882C3B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882" y="430306"/>
            <a:ext cx="11429999" cy="5056094"/>
          </a:xfrm>
        </p:spPr>
      </p:pic>
    </p:spTree>
    <p:extLst>
      <p:ext uri="{BB962C8B-B14F-4D97-AF65-F5344CB8AC3E}">
        <p14:creationId xmlns:p14="http://schemas.microsoft.com/office/powerpoint/2010/main" val="55670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0DFE-E3AD-E81B-DAA8-A2BB0B77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400" dirty="0">
                <a:effectLst/>
                <a:latin typeface="CMR12"/>
              </a:rPr>
              <a:t>A function can also be described as a set of ordered pairs (</a:t>
            </a:r>
            <a:r>
              <a:rPr lang="en-GB" sz="2400" dirty="0">
                <a:effectLst/>
                <a:latin typeface="CMMI12"/>
              </a:rPr>
              <a:t>x, y</a:t>
            </a:r>
            <a:r>
              <a:rPr lang="en-GB" sz="2400" dirty="0">
                <a:effectLst/>
                <a:latin typeface="CMR12"/>
              </a:rPr>
              <a:t>) such that for any </a:t>
            </a:r>
            <a:r>
              <a:rPr lang="en-GB" sz="2400" dirty="0">
                <a:effectLst/>
                <a:latin typeface="CMMI12"/>
              </a:rPr>
              <a:t>x</a:t>
            </a:r>
            <a:r>
              <a:rPr lang="en-GB" sz="2400" dirty="0">
                <a:effectLst/>
                <a:latin typeface="CMR12"/>
              </a:rPr>
              <a:t>-value in the set, there is only one </a:t>
            </a:r>
            <a:r>
              <a:rPr lang="en-GB" sz="2400" dirty="0">
                <a:effectLst/>
                <a:latin typeface="CMMI12"/>
              </a:rPr>
              <a:t>y</a:t>
            </a:r>
            <a:r>
              <a:rPr lang="en-GB" sz="2400" dirty="0">
                <a:effectLst/>
                <a:latin typeface="CMR12"/>
              </a:rPr>
              <a:t>-value. This means that there cannot be any repeated </a:t>
            </a:r>
            <a:r>
              <a:rPr lang="en-GB" sz="2400" dirty="0">
                <a:effectLst/>
                <a:latin typeface="CMMI12"/>
              </a:rPr>
              <a:t>x</a:t>
            </a:r>
            <a:r>
              <a:rPr lang="en-GB" sz="2400" dirty="0">
                <a:effectLst/>
                <a:latin typeface="CMR12"/>
              </a:rPr>
              <a:t>-values with different </a:t>
            </a:r>
            <a:r>
              <a:rPr lang="en-GB" sz="2400" dirty="0">
                <a:effectLst/>
                <a:latin typeface="CMMI12"/>
              </a:rPr>
              <a:t>y</a:t>
            </a:r>
            <a:r>
              <a:rPr lang="en-GB" sz="2400" dirty="0">
                <a:effectLst/>
                <a:latin typeface="CMR12"/>
              </a:rPr>
              <a:t>-values. </a:t>
            </a:r>
            <a:endParaRPr lang="en-GB" sz="2400" dirty="0"/>
          </a:p>
          <a:p>
            <a:pPr algn="just"/>
            <a:r>
              <a:rPr lang="en-GB" sz="2400" dirty="0">
                <a:effectLst/>
                <a:latin typeface="CMR12"/>
              </a:rPr>
              <a:t>The examples above can be described by the following sets of ordered pairs. </a:t>
            </a:r>
            <a:endParaRPr lang="en-GB" sz="2400" dirty="0"/>
          </a:p>
          <a:p>
            <a:endParaRPr lang="en-LK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88D7E6-82BE-99E4-A48D-400EDF2D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Autofit/>
          </a:bodyPr>
          <a:lstStyle/>
          <a:p>
            <a:r>
              <a:rPr lang="en-GB" sz="4000" dirty="0">
                <a:effectLst/>
                <a:latin typeface="CMBX12"/>
              </a:rPr>
              <a:t>What is a function? </a:t>
            </a:r>
            <a:br>
              <a:rPr lang="en-GB" sz="4000" dirty="0"/>
            </a:br>
            <a:endParaRPr lang="en-LK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A37A2-C381-E0B0-7B91-6E9C8EDE2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8" y="4507753"/>
            <a:ext cx="7772400" cy="81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1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48260-3CE7-3871-63C3-D13C9CAF7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400" dirty="0">
                    <a:effectLst/>
                    <a:latin typeface="CMR12"/>
                  </a:rPr>
                  <a:t>In this setting, we often describe a function using the rule,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and create a graph of that function by plotting the ordered pairs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2400" dirty="0"/>
                  <a:t> on the Cartesian Plane. </a:t>
                </a:r>
              </a:p>
              <a:p>
                <a:r>
                  <a:rPr lang="en-GB" sz="2400" dirty="0"/>
                  <a:t>This graphical representation allows us to use a test to decide whether or not we have the graph of a function: The Vertical Line Test. 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48260-3CE7-3871-63C3-D13C9CAF7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t="-366" r="-1321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A34D37-534E-B7B9-3967-D293D54C4D4A}"/>
              </a:ext>
            </a:extLst>
          </p:cNvPr>
          <p:cNvSpPr txBox="1"/>
          <p:nvPr/>
        </p:nvSpPr>
        <p:spPr>
          <a:xfrm>
            <a:off x="8189259" y="22322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K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49E3F3-337C-1005-BA56-604D32E58E4E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What is a function? </a:t>
            </a:r>
            <a:br>
              <a:rPr lang="en-GB" sz="4000" dirty="0"/>
            </a:br>
            <a:endParaRPr lang="en-LK" sz="4000" dirty="0"/>
          </a:p>
        </p:txBody>
      </p:sp>
    </p:spTree>
    <p:extLst>
      <p:ext uri="{BB962C8B-B14F-4D97-AF65-F5344CB8AC3E}">
        <p14:creationId xmlns:p14="http://schemas.microsoft.com/office/powerpoint/2010/main" val="249896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86FD-1530-ABB0-07E5-F9CCDF908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effectLst/>
                <a:latin typeface="CMR12"/>
              </a:rPr>
              <a:t>The Vertical Line Test states that if it is </a:t>
            </a:r>
            <a:r>
              <a:rPr lang="en-GB" sz="2400" dirty="0">
                <a:effectLst/>
                <a:latin typeface="CMTI12"/>
              </a:rPr>
              <a:t>not possible </a:t>
            </a:r>
            <a:r>
              <a:rPr lang="en-GB" sz="2400" dirty="0">
                <a:effectLst/>
                <a:latin typeface="CMR12"/>
              </a:rPr>
              <a:t>to draw a vertical line through a graph so that it cuts the graph in </a:t>
            </a:r>
            <a:r>
              <a:rPr lang="en-GB" sz="2400" b="1" dirty="0">
                <a:effectLst/>
                <a:latin typeface="CMR12"/>
              </a:rPr>
              <a:t>more than one point</a:t>
            </a:r>
            <a:r>
              <a:rPr lang="en-GB" sz="2400" dirty="0">
                <a:effectLst/>
                <a:latin typeface="CMR12"/>
              </a:rPr>
              <a:t>, then the graph </a:t>
            </a:r>
            <a:r>
              <a:rPr lang="en-GB" sz="2400" dirty="0">
                <a:effectLst/>
                <a:latin typeface="CMTI12"/>
              </a:rPr>
              <a:t>is </a:t>
            </a:r>
            <a:r>
              <a:rPr lang="en-GB" sz="2400" dirty="0">
                <a:effectLst/>
                <a:latin typeface="CMR12"/>
              </a:rPr>
              <a:t>a function. </a:t>
            </a:r>
            <a:endParaRPr lang="en-GB" sz="2400" dirty="0"/>
          </a:p>
          <a:p>
            <a:pPr marL="0" indent="0">
              <a:buNone/>
            </a:pPr>
            <a:endParaRPr lang="en-LK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7056E8-9E1A-6CAC-E524-2B00A76B8E5E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Vertical line test</a:t>
            </a:r>
            <a:endParaRPr lang="en-LK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C011B5-745F-C67D-750B-6A92EB447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021" y="3429000"/>
            <a:ext cx="7772400" cy="325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6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E58EF-E801-7318-7BCA-0593F17BEF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9603275" cy="4465750"/>
              </a:xfrm>
            </p:spPr>
            <p:txBody>
              <a:bodyPr>
                <a:normAutofit fontScale="40000" lnSpcReduction="20000"/>
              </a:bodyPr>
              <a:lstStyle/>
              <a:p>
                <a:pPr algn="just"/>
                <a:r>
                  <a:rPr lang="en-GB" sz="6000" dirty="0">
                    <a:effectLst/>
                    <a:latin typeface="CMR12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6000" dirty="0">
                    <a:effectLst/>
                    <a:latin typeface="CMR12"/>
                  </a:rPr>
                  <a:t> </a:t>
                </a:r>
                <a:r>
                  <a:rPr lang="en-GB" sz="6000" dirty="0"/>
                  <a:t>the domain of </a:t>
                </a:r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6000" dirty="0"/>
                  <a:t> is the set </a:t>
                </a:r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6000" dirty="0"/>
                  <a:t>.</a:t>
                </a:r>
              </a:p>
              <a:p>
                <a:pPr algn="just"/>
                <a:r>
                  <a:rPr lang="en-GB" sz="6000" dirty="0"/>
                  <a:t>This also corresponds to the set of </a:t>
                </a:r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6000" dirty="0"/>
                  <a:t>-values when we describe a function as a set of ordered pairs </a:t>
                </a:r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6000" dirty="0"/>
                  <a:t>. </a:t>
                </a:r>
              </a:p>
              <a:p>
                <a:pPr algn="just"/>
                <a:r>
                  <a:rPr lang="en-GB" sz="6000" dirty="0">
                    <a:effectLst/>
                    <a:latin typeface="CMR12"/>
                  </a:rPr>
                  <a:t>If only the rule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6000" dirty="0"/>
                  <a:t> is given, then the domain is taken to be the set of all real </a:t>
                </a:r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6000" dirty="0"/>
                  <a:t> for which the function is defined. For example,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sz="6000" dirty="0"/>
                  <a:t> has domain; all real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6000" dirty="0"/>
                  <a:t>. This is sometimes referred to as the natural domain of the function. 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800" dirty="0"/>
              </a:p>
              <a:p>
                <a:br>
                  <a:rPr lang="en-GB" sz="1800" dirty="0">
                    <a:effectLst/>
                    <a:latin typeface="CMR12"/>
                  </a:rPr>
                </a:br>
                <a:endParaRPr lang="en-GB" dirty="0"/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E58EF-E801-7318-7BCA-0593F17BE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9603275" cy="4465750"/>
              </a:xfrm>
              <a:blipFill>
                <a:blip r:embed="rId2"/>
                <a:stretch>
                  <a:fillRect l="-925" t="-850" r="-925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6A550FD-A930-0744-41C7-7B85859335C6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Domain of a function</a:t>
            </a:r>
            <a:endParaRPr lang="en-LK" sz="4000" dirty="0"/>
          </a:p>
        </p:txBody>
      </p:sp>
    </p:spTree>
    <p:extLst>
      <p:ext uri="{BB962C8B-B14F-4D97-AF65-F5344CB8AC3E}">
        <p14:creationId xmlns:p14="http://schemas.microsoft.com/office/powerpoint/2010/main" val="364542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677D9-ACCC-075E-3FA0-3ECEDEA48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1800" dirty="0">
                    <a:effectLst/>
                    <a:latin typeface="CMR12"/>
                  </a:rPr>
                  <a:t>For a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000" dirty="0">
                    <a:effectLst/>
                    <a:latin typeface="CMR12"/>
                  </a:rPr>
                  <a:t> </a:t>
                </a:r>
                <a:r>
                  <a:rPr lang="en-GB" dirty="0"/>
                  <a:t>the range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the set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-values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some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sz="1800" dirty="0">
                    <a:effectLst/>
                    <a:latin typeface="CMR12"/>
                  </a:rPr>
                  <a:t>This corresponds to the set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800" dirty="0">
                    <a:effectLst/>
                    <a:latin typeface="CMR12"/>
                  </a:rPr>
                  <a:t>-values when we describe a function as a set of ordered pairs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i="1" dirty="0" smtClean="0">
                        <a:effectLst/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 has range; all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677D9-ACCC-075E-3FA0-3ECEDEA48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A331ABA1-C76A-CD28-A289-76FF85F80640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Range of a function</a:t>
            </a:r>
            <a:endParaRPr lang="en-LK" sz="4000" dirty="0"/>
          </a:p>
        </p:txBody>
      </p:sp>
    </p:spTree>
    <p:extLst>
      <p:ext uri="{BB962C8B-B14F-4D97-AF65-F5344CB8AC3E}">
        <p14:creationId xmlns:p14="http://schemas.microsoft.com/office/powerpoint/2010/main" val="333385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CF8D17-C123-4334-2C3F-0B202A07F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0293" y="1933465"/>
            <a:ext cx="6205985" cy="132871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C969AC-C10E-4999-7262-653C4B7B32E6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Examples</a:t>
            </a:r>
            <a:endParaRPr lang="en-LK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A4D69D-5131-18DD-F154-67F5CB012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124" y="3429000"/>
            <a:ext cx="6630707" cy="331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47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5539B6-FE20-8D83-A70A-7FD11764E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524" y="2006154"/>
            <a:ext cx="7770082" cy="41096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D574F4-20EA-B524-1467-F14C431FE475}"/>
              </a:ext>
            </a:extLst>
          </p:cNvPr>
          <p:cNvSpPr txBox="1">
            <a:spLocks/>
          </p:cNvSpPr>
          <p:nvPr/>
        </p:nvSpPr>
        <p:spPr>
          <a:xfrm>
            <a:off x="1603979" y="9569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latin typeface="CMBX12"/>
              </a:rPr>
              <a:t>Examples</a:t>
            </a:r>
            <a:endParaRPr lang="en-LK" sz="4000" dirty="0"/>
          </a:p>
        </p:txBody>
      </p:sp>
    </p:spTree>
    <p:extLst>
      <p:ext uri="{BB962C8B-B14F-4D97-AF65-F5344CB8AC3E}">
        <p14:creationId xmlns:p14="http://schemas.microsoft.com/office/powerpoint/2010/main" val="16200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7B69D-BA52-69B5-FD13-5BAC1256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828" y="2001664"/>
            <a:ext cx="9603275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LK" sz="115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33309700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</TotalTime>
  <Words>453</Words>
  <Application>Microsoft Macintosh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Cambria Math</vt:lpstr>
      <vt:lpstr>CMBX12</vt:lpstr>
      <vt:lpstr>CMMI12</vt:lpstr>
      <vt:lpstr>CMR12</vt:lpstr>
      <vt:lpstr>CMTI12</vt:lpstr>
      <vt:lpstr>Gill Sans MT</vt:lpstr>
      <vt:lpstr>Gallery</vt:lpstr>
      <vt:lpstr>Introduction to Functions</vt:lpstr>
      <vt:lpstr>What is a function?  </vt:lpstr>
      <vt:lpstr>PowerPoint Presentation</vt:lpstr>
      <vt:lpstr>What is a function?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Functions</dc:title>
  <dc:creator>My Mac</dc:creator>
  <cp:lastModifiedBy>My Mac</cp:lastModifiedBy>
  <cp:revision>3</cp:revision>
  <dcterms:created xsi:type="dcterms:W3CDTF">2026-09-14T22:38:42Z</dcterms:created>
  <dcterms:modified xsi:type="dcterms:W3CDTF">2026-09-15T18:25:42Z</dcterms:modified>
</cp:coreProperties>
</file>