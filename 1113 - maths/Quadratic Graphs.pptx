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81" r:id="rId8"/>
    <p:sldId id="273" r:id="rId9"/>
    <p:sldId id="275" r:id="rId10"/>
    <p:sldId id="276" r:id="rId11"/>
    <p:sldId id="277" r:id="rId12"/>
    <p:sldId id="278" r:id="rId13"/>
    <p:sldId id="279" r:id="rId14"/>
    <p:sldId id="280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69"/>
    <p:restoredTop sz="95161"/>
  </p:normalViewPr>
  <p:slideViewPr>
    <p:cSldViewPr snapToGrid="0">
      <p:cViewPr varScale="1">
        <p:scale>
          <a:sx n="88" d="100"/>
          <a:sy n="88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76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46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88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583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79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85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8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43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3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779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600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190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444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701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59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67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78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A906-04E5-49C4-7C26-3EBB9E8A1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Graph of Straight Lines and Quadratic Functions</a:t>
            </a:r>
            <a:endParaRPr lang="en-L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074D7-4D7B-7CB1-F4FD-3372D011A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815669" cy="151553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LK" sz="1400" b="1" dirty="0"/>
              <a:t>Mrs. Parami Wattetenne</a:t>
            </a:r>
          </a:p>
          <a:p>
            <a:pPr algn="l"/>
            <a:r>
              <a:rPr lang="en-LK" sz="1400" b="1" dirty="0"/>
              <a:t>Lecturer (Probationary)</a:t>
            </a:r>
          </a:p>
          <a:p>
            <a:pPr algn="l"/>
            <a:r>
              <a:rPr lang="en-LK" sz="1400" b="1" dirty="0"/>
              <a:t>Department of Multidisciplinary Studies</a:t>
            </a:r>
          </a:p>
          <a:p>
            <a:pPr algn="l"/>
            <a:r>
              <a:rPr lang="en-LK" sz="1400" b="1" dirty="0"/>
              <a:t>Faculty of Technology </a:t>
            </a:r>
          </a:p>
          <a:p>
            <a:pPr algn="l"/>
            <a:r>
              <a:rPr lang="en-LK" sz="1400" b="1" dirty="0"/>
              <a:t>University of Ruhuna</a:t>
            </a:r>
          </a:p>
        </p:txBody>
      </p:sp>
    </p:spTree>
    <p:extLst>
      <p:ext uri="{BB962C8B-B14F-4D97-AF65-F5344CB8AC3E}">
        <p14:creationId xmlns:p14="http://schemas.microsoft.com/office/powerpoint/2010/main" val="351041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A33D-DE4B-42D3-4F22-9D65F583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Topic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5A85-9EB7-A720-6168-E82272153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LK" dirty="0"/>
              <a:t>Cartesian X-Y plane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Straight Line Equations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Graph of Straight Lines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Qudratic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Graph of Qudratic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Maximum and Minimum Values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System of Linear Equations</a:t>
            </a:r>
          </a:p>
        </p:txBody>
      </p:sp>
    </p:spTree>
    <p:extLst>
      <p:ext uri="{BB962C8B-B14F-4D97-AF65-F5344CB8AC3E}">
        <p14:creationId xmlns:p14="http://schemas.microsoft.com/office/powerpoint/2010/main" val="388894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55E1-1106-CCB9-F0A1-07AE01EC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LK" dirty="0"/>
              <a:t>Qudratic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F71110-8BA3-F0EF-85DC-0FABA496EE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b="1" i="0" u="none" strike="noStrike" dirty="0">
                    <a:solidFill>
                      <a:srgbClr val="212529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Quadratic graphs</a:t>
                </a:r>
                <a:r>
                  <a:rPr lang="en-GB" b="0" i="0" u="none" strike="noStrike" dirty="0">
                    <a:solidFill>
                      <a:srgbClr val="212529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are graphs of quadratic functions  that is, any function which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L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as its highest power.</a:t>
                </a:r>
                <a:b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plot the graph of a quadratic function by drawing a table of values for the x and y coordinates, and then plotting these on a set of axes.</a:t>
                </a:r>
                <a:endParaRPr lang="en-L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F71110-8BA3-F0EF-85DC-0FABA496E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2672" r="-661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900C-7396-54D9-E86C-AF2E067EE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Graph of Qudratic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ED521-4447-35D5-FAA6-B21B253AE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10300854" cy="3318936"/>
          </a:xfrm>
        </p:spPr>
        <p:txBody>
          <a:bodyPr>
            <a:normAutofit/>
          </a:bodyPr>
          <a:lstStyle/>
          <a:p>
            <a:pPr algn="just" fontAlgn="base"/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we have drawn the graph of the quadratic function, we can use the graph to find key points.</a:t>
            </a:r>
          </a:p>
          <a:p>
            <a:pPr algn="just" fontAlgn="base"/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 quadratic, these are:</a:t>
            </a:r>
          </a:p>
          <a:p>
            <a:pPr lvl="1" algn="just" fontAlgn="base">
              <a:buFont typeface="Wingdings" pitchFamily="2" charset="2"/>
              <a:buChar char="ü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roots (where the function crosses the 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-axis, and called the 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-intercepts)</a:t>
            </a:r>
          </a:p>
          <a:p>
            <a:pPr lvl="1" algn="just" fontAlgn="base">
              <a:buFont typeface="Wingdings" pitchFamily="2" charset="2"/>
              <a:buChar char="ü"/>
            </a:pPr>
            <a:r>
              <a:rPr 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-intercept</a:t>
            </a:r>
          </a:p>
          <a:p>
            <a:pPr lvl="1" algn="just" fontAlgn="base">
              <a:buFont typeface="Wingdings" pitchFamily="2" charset="2"/>
              <a:buChar char="ü"/>
            </a:pPr>
            <a:r>
              <a:rPr 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vertex (sometimes called the turning point)</a:t>
            </a:r>
            <a:endParaRPr lang="en-GB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570791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2A6EC-37B0-6262-F8E5-1FE471774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Graph of Qudratic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2590F7-326C-7DBD-1F18-CC091CEDA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4205" y="2561168"/>
            <a:ext cx="3340100" cy="33147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C3184-4053-8F1B-05CB-8F95ED95CEBD}"/>
              </a:ext>
            </a:extLst>
          </p:cNvPr>
          <p:cNvSpPr txBox="1"/>
          <p:nvPr/>
        </p:nvSpPr>
        <p:spPr>
          <a:xfrm>
            <a:off x="6456218" y="34359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88C2A1-D37B-0B14-6720-5F291E77FE53}"/>
                  </a:ext>
                </a:extLst>
              </p:cNvPr>
              <p:cNvSpPr txBox="1"/>
              <p:nvPr/>
            </p:nvSpPr>
            <p:spPr>
              <a:xfrm>
                <a:off x="4884305" y="2734717"/>
                <a:ext cx="5832763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fontAlgn="base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quadratic graph is always either </a:t>
                </a:r>
                <a:r>
                  <a:rPr lang="en-GB" sz="2400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shaped (positive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coefficients )</a:t>
                </a: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GB" sz="240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 </a:t>
                </a:r>
                <a:r>
                  <a:rPr lang="en-GB" sz="24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n-shaped </a:t>
                </a:r>
                <a:r>
                  <a:rPr lang="en-GB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(negative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solidFill>
                              <a:srgbClr val="2125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212529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solidFill>
                              <a:srgbClr val="21252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coefficients</a:t>
                </a:r>
                <a:r>
                  <a:rPr lang="en-GB" sz="24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 algn="just" fontAlgn="base">
                  <a:buFont typeface="Arial" panose="020B0604020202020204" pitchFamily="34" charset="0"/>
                  <a:buChar char="•"/>
                </a:pPr>
                <a:endParaRPr 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 fontAlgn="base">
                  <a:buFont typeface="Arial" panose="020B0604020202020204" pitchFamily="34" charset="0"/>
                  <a:buChar char="•"/>
                </a:pPr>
                <a:r>
                  <a:rPr lang="en-GB" sz="2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shape made by the graph of a quadratic function is called a </a:t>
                </a:r>
                <a:r>
                  <a:rPr lang="en-GB" sz="24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parabola</a:t>
                </a:r>
                <a:r>
                  <a:rPr lang="en-GB" sz="2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342900" indent="-342900" algn="just" fontAlgn="base">
                  <a:buFont typeface="Arial" panose="020B0604020202020204" pitchFamily="34" charset="0"/>
                  <a:buChar char="•"/>
                </a:pPr>
                <a:endParaRPr lang="en-GB" sz="2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 fontAlgn="base">
                  <a:buFont typeface="Arial" panose="020B0604020202020204" pitchFamily="34" charset="0"/>
                  <a:buChar char="•"/>
                </a:pPr>
                <a:r>
                  <a:rPr lang="en-GB" sz="2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symmetrical, with the line, or axis, of symmetry running through the vertex.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88C2A1-D37B-0B14-6720-5F291E77F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305" y="2734717"/>
                <a:ext cx="5832763" cy="3416320"/>
              </a:xfrm>
              <a:prstGeom prst="rect">
                <a:avLst/>
              </a:prstGeom>
              <a:blipFill>
                <a:blip r:embed="rId3"/>
                <a:stretch>
                  <a:fillRect l="-1304" t="-1481" r="-1739" b="-333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453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D7EA3-0A5C-6B7D-B044-A55AF756C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Maximum and Minimum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8AB5D-8E7E-4A05-08BE-9B7F3B05DB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l" fontAlgn="base"/>
                <a:r>
                  <a:rPr lang="en-GB" b="1" i="0" u="none" strike="noStrike" dirty="0">
                    <a:solidFill>
                      <a:srgbClr val="212529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Turning point of a graph</a:t>
                </a:r>
              </a:p>
              <a:p>
                <a:pPr lvl="1"/>
                <a:r>
                  <a:rPr lang="en-GB" sz="2400" b="0" i="0" u="none" strike="noStrike" dirty="0">
                    <a:solidFill>
                      <a:srgbClr val="212529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turning point of a quadratic graph is </a:t>
                </a:r>
                <a:r>
                  <a:rPr lang="en-GB" sz="2400" dirty="0">
                    <a:solidFill>
                      <a:srgbClr val="2125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its</a:t>
                </a:r>
                <a:r>
                  <a:rPr lang="en-GB" sz="2400" b="1" dirty="0">
                    <a:solidFill>
                      <a:srgbClr val="2125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400" b="1" i="0" u="none" strike="noStrike" dirty="0">
                    <a:solidFill>
                      <a:srgbClr val="212529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minimum </a:t>
                </a:r>
                <a:r>
                  <a:rPr lang="en-GB" sz="2400" b="0" i="0" u="none" strike="noStrike" dirty="0">
                    <a:solidFill>
                      <a:srgbClr val="212529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 or its </a:t>
                </a:r>
                <a:r>
                  <a:rPr lang="en-GB" sz="2400" b="1" i="0" u="none" strike="noStrike" dirty="0">
                    <a:solidFill>
                      <a:srgbClr val="212529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</a:t>
                </a:r>
                <a:r>
                  <a:rPr lang="en-GB" sz="2400" b="0" i="0" u="none" strike="noStrike" dirty="0">
                    <a:solidFill>
                      <a:srgbClr val="212529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point. </a:t>
                </a:r>
              </a:p>
              <a:p>
                <a:pPr marL="457200" lvl="1" indent="0">
                  <a:buNone/>
                </a:pPr>
                <a:endParaRPr lang="en-GB" sz="2400" b="0" i="0" u="none" strike="noStrike" dirty="0">
                  <a:solidFill>
                    <a:srgbClr val="212529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r>
                  <a:rPr lang="en-GB" sz="2400" b="0" i="0" u="none" strike="noStrike" dirty="0">
                    <a:solidFill>
                      <a:srgbClr val="212529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For example, the graph below shows the quadratic </a:t>
                </a:r>
                <a14:m>
                  <m:oMath xmlns:m="http://schemas.openxmlformats.org/officeDocument/2006/math">
                    <m:r>
                      <a:rPr lang="en-US" sz="2400" b="0" i="1" u="none" strike="noStrike" smtClean="0">
                        <a:solidFill>
                          <a:srgbClr val="212529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u="none" strike="noStrike" smtClean="0">
                        <a:solidFill>
                          <a:srgbClr val="212529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u="none" strike="noStrike" smtClean="0">
                        <a:solidFill>
                          <a:srgbClr val="212529"/>
                        </a:solidFill>
                        <a:effectLst/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sz="2400" b="0" i="1" u="none" strike="noStrike" smtClean="0">
                        <a:solidFill>
                          <a:srgbClr val="212529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smtClean="0">
                        <a:solidFill>
                          <a:srgbClr val="212529"/>
                        </a:solidFill>
                        <a:effectLst/>
                        <a:latin typeface="Cambria Math" panose="02040503050406030204" pitchFamily="18" charset="0"/>
                      </a:rPr>
                      <m:t>+5.</m:t>
                    </m:r>
                  </m:oMath>
                </a14:m>
                <a:endParaRPr lang="en-US" sz="2400" b="0" i="1" u="none" strike="noStrike" dirty="0">
                  <a:solidFill>
                    <a:srgbClr val="212529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r>
                  <a:rPr lang="en-GB" sz="2400" dirty="0"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Its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minimum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point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(3,−4).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It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turning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point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graph</m:t>
                    </m:r>
                    <m:r>
                      <m:rPr>
                        <m:nor/>
                      </m:rPr>
                      <a: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br>
                  <a:rPr lang="en-GB" sz="2400" dirty="0"/>
                </a:br>
                <a:br>
                  <a:rPr lang="en-GB" dirty="0"/>
                </a:br>
                <a:endParaRPr lang="en-LK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8AB5D-8E7E-4A05-08BE-9B7F3B05D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435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699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6886-8F80-DF25-05C8-6DA3E123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Maximum and Minimum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C5E5F-211D-C931-599C-A420C44E6E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LK" b="1" dirty="0"/>
                  <a:t>How to find vertex of a qudratic graph?</a:t>
                </a:r>
              </a:p>
              <a:p>
                <a:r>
                  <a:rPr lang="en-LK" dirty="0"/>
                  <a:t>Find the x coordinate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LK" dirty="0"/>
                  <a:t>.</a:t>
                </a:r>
              </a:p>
              <a:p>
                <a:r>
                  <a:rPr lang="en-LK" dirty="0"/>
                  <a:t>Find the y coordinate : Substitute x coordinate into the original equation.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LK" dirty="0"/>
                  <a:t> </a:t>
                </a:r>
              </a:p>
              <a:p>
                <a:r>
                  <a:rPr lang="en-LK" dirty="0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LK" dirty="0"/>
                  <a:t>.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(−4)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LK" dirty="0"/>
              </a:p>
              <a:p>
                <a:pPr marL="0" indent="0">
                  <a:buNone/>
                </a:pPr>
                <a:r>
                  <a:rPr lang="en-LK" dirty="0"/>
                  <a:t>       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×2+3=−1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LK" dirty="0"/>
                  <a:t>Therefore the vertex is </a:t>
                </a:r>
                <a14:m>
                  <m:oMath xmlns:m="http://schemas.openxmlformats.org/officeDocument/2006/math">
                    <m:r>
                      <a:rPr lang="en-LK" i="1" dirty="0" smtClean="0">
                        <a:latin typeface="Cambria Math" panose="02040503050406030204" pitchFamily="18" charset="0"/>
                      </a:rPr>
                      <m:t>(2,−1)</m:t>
                    </m:r>
                  </m:oMath>
                </a14:m>
                <a:br>
                  <a:rPr lang="en-LK" dirty="0"/>
                </a:br>
                <a:endParaRPr lang="en-LK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C5E5F-211D-C931-599C-A420C44E6E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4" t="-3817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90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473A-816A-4784-0F3C-2C92DD899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Maximum and Minimum Values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B9A556-47A5-4917-7AA1-523A1BE7C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57993"/>
            <a:ext cx="3412671" cy="3317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0C1D11-B6F3-185D-F6D1-DE7E3CF692D4}"/>
              </a:ext>
            </a:extLst>
          </p:cNvPr>
          <p:cNvSpPr txBox="1"/>
          <p:nvPr/>
        </p:nvSpPr>
        <p:spPr>
          <a:xfrm>
            <a:off x="5611091" y="2840182"/>
            <a:ext cx="528550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Moving from left to right you can see that the curve is falling, then turns at the </a:t>
            </a:r>
            <a:r>
              <a:rPr lang="en-GB" sz="2400" b="1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point </a:t>
            </a:r>
            <a:r>
              <a:rPr lang="en-GB" sz="24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begins to rise. The gradient is changing from negative to zero to positive.</a:t>
            </a:r>
          </a:p>
          <a:p>
            <a:br>
              <a:rPr lang="en-GB" dirty="0"/>
            </a:b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604440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0D9E-F062-9DC1-B04A-E3D9EA8D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Maximum and Minimum Values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1A0766-C5A4-518F-59A7-E2930F9EE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557993"/>
            <a:ext cx="3902756" cy="3317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4F003E-3101-3736-EF59-6BBC4DF91B60}"/>
              </a:ext>
            </a:extLst>
          </p:cNvPr>
          <p:cNvSpPr txBox="1"/>
          <p:nvPr/>
        </p:nvSpPr>
        <p:spPr>
          <a:xfrm>
            <a:off x="5070764" y="2919711"/>
            <a:ext cx="5943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Moving from left to right you can see that the curve is rising, then turns at the </a:t>
            </a:r>
            <a:r>
              <a:rPr lang="en-GB" sz="2400" b="1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maximum point</a:t>
            </a:r>
            <a:r>
              <a:rPr lang="en-GB" sz="24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begins to fall. The gradient is changing from positive to zero to negative</a:t>
            </a:r>
            <a:endParaRPr lang="en-L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106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3D39-91A2-1101-F64F-BDF20FDD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i="0" u="none" strike="noStrike" dirty="0">
                <a:solidFill>
                  <a:srgbClr val="212529"/>
                </a:solidFill>
                <a:effectLst/>
              </a:rPr>
              <a:t>How to use quadratic graphs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3566-12B1-4096-2986-AAA3B78C2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fontAlgn="base"/>
            <a:r>
              <a:rPr lang="en-GB" sz="2600" b="0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a variety of ways we can use quadratic graphs:</a:t>
            </a:r>
          </a:p>
          <a:p>
            <a:pPr marL="0" indent="0" algn="l" fontAlgn="base">
              <a:buNone/>
            </a:pPr>
            <a:endParaRPr lang="en-GB" sz="2600" b="0" i="0" u="none" strike="noStrike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GB" sz="2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1.  </a:t>
            </a:r>
            <a:r>
              <a:rPr lang="en-GB" sz="2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Plotting quadratic graphs</a:t>
            </a:r>
            <a:endParaRPr lang="en-GB" sz="2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GB" sz="2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can plot quadratic graphs using a table of values and substituting values of </a:t>
            </a:r>
            <a:r>
              <a:rPr lang="en-GB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into a quadratic function to give the corresponding y values.</a:t>
            </a:r>
          </a:p>
          <a:p>
            <a:pPr fontAlgn="base"/>
            <a:r>
              <a:rPr lang="en-GB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we have a series of corresponding x and y values we can plot the points on a graph and join them to make a smooth curved u-shaped or n-shaped graph.</a:t>
            </a:r>
          </a:p>
          <a:p>
            <a:pPr marL="0" indent="0">
              <a:buNone/>
            </a:pPr>
            <a:br>
              <a:rPr lang="en-GB" dirty="0"/>
            </a:b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967287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7EEB-C3F6-430F-A441-72DD3331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0" u="none" strike="noStrike" dirty="0">
                <a:solidFill>
                  <a:srgbClr val="212529"/>
                </a:solidFill>
                <a:effectLst/>
              </a:rPr>
              <a:t>How to use quadratic graphs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2D16-1D7C-73E8-8C0C-D901FCDE8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GB" b="1" dirty="0">
                <a:effectLst/>
                <a:latin typeface="Nunito Sans" pitchFamily="2" charset="77"/>
              </a:rPr>
              <a:t>2. </a:t>
            </a:r>
            <a:r>
              <a:rPr lang="en-GB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Solving quadratic equations graphically</a:t>
            </a:r>
            <a:endParaRPr lang="en-GB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can use quadratic graphs to work out estimated solutions or roots for quadratic equations or functions.</a:t>
            </a:r>
          </a:p>
          <a:p>
            <a:pPr fontAlgn="base"/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can calculate the </a:t>
            </a:r>
            <a:r>
              <a:rPr lang="en-GB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roots </a:t>
            </a: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a quadratic equation when it equals </a:t>
            </a:r>
            <a:r>
              <a:rPr lang="en-GB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 by noting where the quadratic graph crosses the x axis.</a:t>
            </a:r>
          </a:p>
          <a:p>
            <a:pPr fontAlgn="base"/>
            <a:r>
              <a:rPr lang="en-GB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can calculate the </a:t>
            </a:r>
            <a:r>
              <a:rPr lang="en-GB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 </a:t>
            </a:r>
            <a:r>
              <a:rPr lang="en-GB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a quadratic equation by plotting the graphs of the functions on both sides of the equals sign and noting where the graphs intersect.</a:t>
            </a:r>
          </a:p>
          <a:p>
            <a:pPr marL="0" indent="0" fontAlgn="base">
              <a:buNone/>
            </a:pPr>
            <a:br>
              <a:rPr lang="en-GB" b="0" i="0" dirty="0">
                <a:effectLst/>
                <a:latin typeface="MathJax_Math"/>
              </a:rPr>
            </a:br>
            <a:endParaRPr lang="en-GB" b="0" dirty="0">
              <a:effectLst/>
              <a:latin typeface="Nunito Sans" pitchFamily="2" charset="77"/>
            </a:endParaRPr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229377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E687-FA6D-66AC-A22D-D0FCFB9B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0" u="none" strike="noStrike" dirty="0">
                <a:solidFill>
                  <a:srgbClr val="212529"/>
                </a:solidFill>
                <a:effectLst/>
              </a:rPr>
              <a:t>How to use quadratic graphs</a:t>
            </a:r>
            <a:endParaRPr lang="en-L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E1B60B-B6DF-1C13-EDBD-B18E2306E4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fontAlgn="base">
                  <a:buNone/>
                </a:pPr>
                <a:r>
                  <a:rPr lang="en-GB" b="1" dirty="0">
                    <a:effectLst/>
                    <a:latin typeface="Nunito Sans" pitchFamily="2" charset="77"/>
                  </a:rPr>
                  <a:t>3. </a:t>
                </a:r>
                <a:r>
                  <a:rPr lang="en-GB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Sketching quadratic graphs</a:t>
                </a:r>
                <a:endParaRPr lang="en-GB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en-GB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sketch a quadratic graph by working out the </a:t>
                </a:r>
                <a:r>
                  <a:rPr lang="en-GB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y-intercept, the roots and the turning points of the quadratic function and plotting these points on a graph. </a:t>
                </a:r>
              </a:p>
              <a:p>
                <a:pPr fontAlgn="base"/>
                <a:r>
                  <a:rPr lang="en-GB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need to note whether graph is u-shaped or n-shaped by looking at the coefficient of the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term, before joining  up all of the plotted points to form the sketch of the quadratic graph.</a:t>
                </a:r>
                <a:br>
                  <a:rPr lang="en-GB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GB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L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E1B60B-B6DF-1C13-EDBD-B18E2306E4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854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28F8C-32DF-2240-C750-0172C947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i="0" u="none" strike="noStrike" dirty="0">
                <a:solidFill>
                  <a:srgbClr val="212529"/>
                </a:solidFill>
                <a:effectLst/>
              </a:rPr>
              <a:t>Plotting quadratic graphs</a:t>
            </a:r>
            <a:endParaRPr lang="en-L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2418E0-D8F0-BA62-888F-C571E4177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8073" y="2515899"/>
            <a:ext cx="4095854" cy="3872907"/>
          </a:xfrm>
        </p:spPr>
      </p:pic>
    </p:spTree>
    <p:extLst>
      <p:ext uri="{BB962C8B-B14F-4D97-AF65-F5344CB8AC3E}">
        <p14:creationId xmlns:p14="http://schemas.microsoft.com/office/powerpoint/2010/main" val="2897448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D565-4BF3-560F-A966-EF2FD8DC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0" u="none" strike="noStrike" dirty="0">
                <a:solidFill>
                  <a:srgbClr val="212529"/>
                </a:solidFill>
                <a:effectLst/>
              </a:rPr>
              <a:t>Plotting quadratic graphs</a:t>
            </a:r>
            <a:endParaRPr lang="en-L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BBA3EA-828E-740D-8B90-0BA9680C1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1" y="2536681"/>
            <a:ext cx="3781105" cy="414121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DE18DA-BEAD-D46B-8BA6-0623EA2BF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75" y="2536681"/>
            <a:ext cx="3571793" cy="414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72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6863-519F-71F7-8393-DDADAC52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900" i="0" u="none" strike="noStrike" dirty="0">
                <a:solidFill>
                  <a:srgbClr val="212529"/>
                </a:solidFill>
                <a:effectLst/>
                <a:latin typeface="+mn-lt"/>
              </a:rPr>
              <a:t>Solving quadratic equations graphically</a:t>
            </a:r>
            <a:br>
              <a:rPr lang="en-GB" b="1" i="0" u="none" strike="noStrike" dirty="0">
                <a:solidFill>
                  <a:srgbClr val="212529"/>
                </a:solidFill>
                <a:effectLst/>
                <a:latin typeface="Nunito Sans" pitchFamily="2" charset="77"/>
              </a:rPr>
            </a:br>
            <a:endParaRPr lang="en-L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88D777-D54D-73F7-0A24-FB2C314D78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Here is the graph of the function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+3.</m:t>
                    </m:r>
                  </m:oMath>
                </a14:m>
                <a:endParaRPr lang="en-US" b="0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Use this graph to find the solutions of the equation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4=8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endParaRPr lang="en-LK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88D777-D54D-73F7-0A24-FB2C314D78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3C3B0BE-9231-A86B-414D-4AAAC8A30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566" y="1756337"/>
            <a:ext cx="3103770" cy="334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99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5B9D-9834-8001-16B1-8C496EFB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i="0" u="none" strike="noStrike" dirty="0">
                <a:solidFill>
                  <a:srgbClr val="212529"/>
                </a:solidFill>
                <a:effectLst/>
                <a:latin typeface="+mn-lt"/>
              </a:rPr>
              <a:t>Solving quadratic equations graphically</a:t>
            </a:r>
            <a:endParaRPr lang="en-L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3F9F00-EC1A-2F50-81CE-F7F6307E8D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equation is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/>
                        </m:ctrlPr>
                      </m:sSupPr>
                      <m:e>
                        <m:r>
                          <a:rPr lang="en-US" b="0" i="1" smtClean="0"/>
                          <m:t>𝑥</m:t>
                        </m:r>
                      </m:e>
                      <m:sup>
                        <m:r>
                          <a:rPr lang="en-US" b="0" i="1" smtClean="0"/>
                          <m:t>2</m:t>
                        </m:r>
                      </m:sup>
                    </m:sSup>
                    <m:r>
                      <a:rPr lang="en-US" b="0" i="1" smtClean="0"/>
                      <m:t>+4=8</m:t>
                    </m:r>
                    <m:r>
                      <a:rPr lang="en-US" b="0" i="1" smtClean="0"/>
                      <m:t> </m:t>
                    </m:r>
                  </m:oMath>
                </a14:m>
                <a:r>
                  <a:rPr lang="en-GB" i="0" dirty="0">
                    <a:effectLst/>
                  </a:rPr>
                  <a:t> and the graph we’re given is of the function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𝑦</m:t>
                    </m:r>
                    <m:r>
                      <a:rPr lang="en-US" i="1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𝑥</m:t>
                        </m:r>
                      </m:e>
                      <m:sup>
                        <m:r>
                          <a:rPr lang="en-US" i="1"/>
                          <m:t>2</m:t>
                        </m:r>
                      </m:sup>
                    </m:sSup>
                    <m:r>
                      <a:rPr lang="en-US" i="1"/>
                      <m:t>+3</m:t>
                    </m:r>
                  </m:oMath>
                </a14:m>
                <a:r>
                  <a:rPr lang="en-GB" i="0" dirty="0">
                    <a:effectLst/>
                  </a:rPr>
                  <a:t>. </a:t>
                </a:r>
              </a:p>
              <a:p>
                <a:r>
                  <a:rPr lang="en-GB" i="0" dirty="0">
                    <a:effectLst/>
                  </a:rPr>
                  <a:t>We need to subtract 1 from the constant term, so the LHS of the equation matches the RHS of the function.</a:t>
                </a:r>
                <a:endParaRPr lang="en-LK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3F9F00-EC1A-2F50-81CE-F7F6307E8D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2672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3CB26F8-C955-ED0F-4779-3829FA724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830" y="3808533"/>
            <a:ext cx="2243282" cy="301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61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D217-A28D-DF9F-E26E-7FF60A16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i="0" u="none" strike="noStrike" dirty="0">
                <a:solidFill>
                  <a:srgbClr val="212529"/>
                </a:solidFill>
                <a:effectLst/>
                <a:latin typeface="+mn-lt"/>
              </a:rPr>
              <a:t>Solving quadratic equations graphically</a:t>
            </a:r>
            <a:endParaRPr lang="en-L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8CEE0C-58B2-EA28-FA01-90D84604A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6296" y="2622190"/>
            <a:ext cx="4228728" cy="341940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22D999-7BD2-0157-D3BC-4DCBFE17F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44" y="2506676"/>
            <a:ext cx="4393128" cy="365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4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245C-CC01-97A7-B09A-A0F2F9403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i="0" u="none" strike="noStrike" dirty="0">
                <a:solidFill>
                  <a:srgbClr val="212529"/>
                </a:solidFill>
                <a:effectLst/>
                <a:latin typeface="+mn-lt"/>
              </a:rPr>
              <a:t>Sketching quadratic graphs</a:t>
            </a:r>
            <a:endParaRPr lang="en-LK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B56F77-BB38-DD9E-5EEB-51706E8A5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4389" y="2615520"/>
            <a:ext cx="4943221" cy="4133623"/>
          </a:xfrm>
        </p:spPr>
      </p:pic>
    </p:spTree>
    <p:extLst>
      <p:ext uri="{BB962C8B-B14F-4D97-AF65-F5344CB8AC3E}">
        <p14:creationId xmlns:p14="http://schemas.microsoft.com/office/powerpoint/2010/main" val="2933413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7320-485C-BE8A-F64D-3500ACE1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0" u="none" strike="noStrike" dirty="0">
                <a:solidFill>
                  <a:srgbClr val="212529"/>
                </a:solidFill>
                <a:effectLst/>
                <a:latin typeface="+mn-lt"/>
              </a:rPr>
              <a:t>Sketching quadratic graphs</a:t>
            </a:r>
            <a:endParaRPr lang="en-L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0E8BE4-8EBF-9156-6309-1F8344882D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fontAlgn="base"/>
                <a:r>
                  <a:rPr lang="en-GB" dirty="0"/>
                  <a:t>This quadratic function has two (real) roots, and crosses the </a:t>
                </a:r>
                <a:r>
                  <a:rPr lang="en-GB" b="0" i="0" dirty="0">
                    <a:effectLst/>
                  </a:rPr>
                  <a:t>x</a:t>
                </a:r>
                <a:r>
                  <a:rPr lang="en-GB" i="0" dirty="0">
                    <a:effectLst/>
                  </a:rPr>
                  <a:t> axis at </a:t>
                </a:r>
                <a:br>
                  <a:rPr lang="en-GB" i="0" dirty="0">
                    <a:effectLst/>
                  </a:rPr>
                </a:br>
                <a14:m>
                  <m:oMath xmlns:m="http://schemas.openxmlformats.org/officeDocument/2006/math">
                    <m:r>
                      <a:rPr lang="en-GB" b="0" i="1" dirty="0" smtClean="0">
                        <a:effectLst/>
                      </a:rPr>
                      <m:t>𝑥</m:t>
                    </m:r>
                    <m:r>
                      <a:rPr lang="en-GB" b="0" i="1" dirty="0" smtClean="0">
                        <a:effectLst/>
                      </a:rPr>
                      <m:t>=4,</m:t>
                    </m:r>
                    <m:r>
                      <a:rPr lang="en-GB" b="0" i="1" dirty="0" smtClean="0">
                        <a:effectLst/>
                      </a:rPr>
                      <m:t>𝑥</m:t>
                    </m:r>
                    <m:r>
                      <a:rPr lang="en-GB" b="0" i="1" dirty="0" smtClean="0">
                        <a:effectLst/>
                      </a:rPr>
                      <m:t>=−2</m:t>
                    </m:r>
                  </m:oMath>
                </a14:m>
                <a:r>
                  <a:rPr lang="en-GB" b="0" i="0" dirty="0">
                    <a:effectLst/>
                  </a:rPr>
                  <a:t>.</a:t>
                </a:r>
              </a:p>
              <a:p>
                <a:pPr fontAlgn="base"/>
                <a:r>
                  <a:rPr lang="en-GB" b="0" i="0" dirty="0">
                    <a:effectLst/>
                  </a:rPr>
                  <a:t>From this, the coordinates of the vertex are 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effectLst/>
                      </a:rPr>
                      <m:t>(1,−9)</m:t>
                    </m:r>
                  </m:oMath>
                </a14:m>
                <a:r>
                  <a:rPr lang="en-GB" b="0" i="0" dirty="0">
                    <a:effectLst/>
                  </a:rPr>
                  <a:t>. This vertex is a minimum, because we’re dealing with a u shaped graph.</a:t>
                </a:r>
              </a:p>
              <a:p>
                <a:endParaRPr lang="en-LK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0E8BE4-8EBF-9156-6309-1F8344882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329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C0C8-8887-1710-56A8-B28828D6B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0" u="none" strike="noStrike" dirty="0">
                <a:solidFill>
                  <a:srgbClr val="212529"/>
                </a:solidFill>
                <a:effectLst/>
                <a:latin typeface="+mn-lt"/>
              </a:rPr>
              <a:t>Sketching quadratic graphs</a:t>
            </a:r>
            <a:endParaRPr lang="en-L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B8ABCC-C34F-05E2-7DD1-CDEE1DAF3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9724" y="2588648"/>
            <a:ext cx="5317362" cy="4269352"/>
          </a:xfrm>
        </p:spPr>
      </p:pic>
    </p:spTree>
    <p:extLst>
      <p:ext uri="{BB962C8B-B14F-4D97-AF65-F5344CB8AC3E}">
        <p14:creationId xmlns:p14="http://schemas.microsoft.com/office/powerpoint/2010/main" val="3142489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4B58-A6AF-9545-2C8A-A43843FC4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Practice 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950DD6-3CE6-F437-6B5A-1542530201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6714" y="2556932"/>
                <a:ext cx="10649857" cy="430106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GB" dirty="0"/>
                  <a:t> Draw the graph of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dirty="0"/>
                  <a:t>Draw the graph of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5−2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dirty="0">
                    <a:solidFill>
                      <a:srgbClr val="212529"/>
                    </a:solidFill>
                    <a:latin typeface="Nunito Sans" pitchFamily="2" charset="77"/>
                  </a:rPr>
                  <a:t>a) </a:t>
                </a:r>
                <a:r>
                  <a:rPr lang="en-GB" b="0" i="0" u="none" strike="noStrike" dirty="0">
                    <a:solidFill>
                      <a:srgbClr val="212529"/>
                    </a:solidFill>
                    <a:effectLst/>
                    <a:latin typeface="Nunito Sans" pitchFamily="2" charset="77"/>
                  </a:rPr>
                  <a:t>Complete the table of values </a:t>
                </a:r>
                <a:r>
                  <a:rPr lang="en-GB" b="0" i="0" u="none" strike="noStrike" dirty="0" err="1">
                    <a:solidFill>
                      <a:srgbClr val="212529"/>
                    </a:solidFill>
                    <a:effectLst/>
                    <a:latin typeface="Nunito Sans" pitchFamily="2" charset="77"/>
                  </a:rPr>
                  <a:t>fo</a:t>
                </a:r>
                <a:r>
                  <a:rPr lang="en-US" i="0" u="none" strike="noStrike" dirty="0">
                    <a:solidFill>
                      <a:srgbClr val="212529"/>
                    </a:solidFill>
                    <a:effectLst/>
                    <a:latin typeface="Nunito Sans" pitchFamily="2" charset="77"/>
                  </a:rPr>
                  <a:t>r </a:t>
                </a:r>
                <a14:m>
                  <m:oMath xmlns:m="http://schemas.openxmlformats.org/officeDocument/2006/math">
                    <m:r>
                      <a:rPr lang="en-US" b="0" i="1" u="none" strike="noStrike" smtClean="0">
                        <a:solidFill>
                          <a:srgbClr val="212529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u="none" strike="noStrike" smtClean="0">
                        <a:solidFill>
                          <a:srgbClr val="212529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u="none" strike="noStrike" smtClean="0">
                            <a:solidFill>
                              <a:srgbClr val="2125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u="none" strike="noStrike" smtClean="0">
                        <a:solidFill>
                          <a:srgbClr val="212529"/>
                        </a:solidFill>
                        <a:effectLst/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u="none" strike="noStrike" smtClean="0">
                        <a:solidFill>
                          <a:srgbClr val="212529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u="none" strike="noStrike" smtClean="0">
                        <a:solidFill>
                          <a:srgbClr val="212529"/>
                        </a:solidFill>
                        <a:effectLst/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b="0" dirty="0"/>
              </a:p>
              <a:p>
                <a:endParaRPr lang="en-LK" dirty="0"/>
              </a:p>
              <a:p>
                <a:pPr marL="0" indent="0">
                  <a:buNone/>
                </a:pPr>
                <a:r>
                  <a:rPr lang="en-GB" dirty="0"/>
                  <a:t>     b) Draw the graph</a:t>
                </a:r>
              </a:p>
              <a:p>
                <a:pPr marL="0" indent="0">
                  <a:buNone/>
                </a:pPr>
                <a:r>
                  <a:rPr lang="en-GB" dirty="0"/>
                  <a:t>     c) Use the graph to find estimates of the solutions to the equation 4=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LK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950DD6-3CE6-F437-6B5A-1542530201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6714" y="2556932"/>
                <a:ext cx="10649857" cy="4301068"/>
              </a:xfrm>
              <a:blipFill>
                <a:blip r:embed="rId2"/>
                <a:stretch>
                  <a:fillRect l="-1549" t="-2065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93C52C3-91BA-6134-DE41-6B2DE04EB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622" y="4013200"/>
            <a:ext cx="50419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16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6E4E-B4F1-A2A1-1230-B9EB5BD27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LK" sz="1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0606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{C031A6FF-F86B-254B-B381-C76EA6CC28AB}TFaded88da-90db-4543-ab7c-879d099b76defcad6244-6dfd168f82a5</Template>
  <TotalTime>135</TotalTime>
  <Words>912</Words>
  <Application>Microsoft Macintosh PowerPoint</Application>
  <PresentationFormat>Widescreen</PresentationFormat>
  <Paragraphs>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Cambria Math</vt:lpstr>
      <vt:lpstr>Garamond</vt:lpstr>
      <vt:lpstr>MathJax_Math</vt:lpstr>
      <vt:lpstr>Nunito Sans</vt:lpstr>
      <vt:lpstr>Times New Roman</vt:lpstr>
      <vt:lpstr>Wingdings</vt:lpstr>
      <vt:lpstr>Organic</vt:lpstr>
      <vt:lpstr>Graph of Straight Lines and Quadratic Functions</vt:lpstr>
      <vt:lpstr>Topic Covered</vt:lpstr>
      <vt:lpstr>Qudratic Functions</vt:lpstr>
      <vt:lpstr>Graph of Qudratic Functions</vt:lpstr>
      <vt:lpstr>Graph of Qudratic Functions</vt:lpstr>
      <vt:lpstr>Maximum and Minimum Values</vt:lpstr>
      <vt:lpstr>Maximum and Minimum Values</vt:lpstr>
      <vt:lpstr>Maximum and Minimum Values</vt:lpstr>
      <vt:lpstr>Maximum and Minimum Values</vt:lpstr>
      <vt:lpstr>How to use quadratic graphs</vt:lpstr>
      <vt:lpstr>How to use quadratic graphs</vt:lpstr>
      <vt:lpstr>How to use quadratic graphs</vt:lpstr>
      <vt:lpstr>Plotting quadratic graphs</vt:lpstr>
      <vt:lpstr>Plotting quadratic graphs</vt:lpstr>
      <vt:lpstr>Solving quadratic equations graphically </vt:lpstr>
      <vt:lpstr>Solving quadratic equations graphically</vt:lpstr>
      <vt:lpstr>Solving quadratic equations graphically</vt:lpstr>
      <vt:lpstr>Sketching quadratic graphs</vt:lpstr>
      <vt:lpstr>Sketching quadratic graphs</vt:lpstr>
      <vt:lpstr>Sketching quadratic graphs</vt:lpstr>
      <vt:lpstr>Practice 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https://www.examples.com/maths/functions.html</dc:title>
  <dc:creator>My Mac</dc:creator>
  <cp:lastModifiedBy>My Mac</cp:lastModifiedBy>
  <cp:revision>10</cp:revision>
  <dcterms:created xsi:type="dcterms:W3CDTF">2026-09-16T17:22:36Z</dcterms:created>
  <dcterms:modified xsi:type="dcterms:W3CDTF">2026-10-04T22:34:45Z</dcterms:modified>
</cp:coreProperties>
</file>