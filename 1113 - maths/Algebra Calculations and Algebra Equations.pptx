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406" r:id="rId3"/>
    <p:sldId id="456" r:id="rId4"/>
    <p:sldId id="504" r:id="rId5"/>
    <p:sldId id="503" r:id="rId6"/>
    <p:sldId id="505" r:id="rId7"/>
    <p:sldId id="474" r:id="rId8"/>
    <p:sldId id="506" r:id="rId9"/>
    <p:sldId id="475" r:id="rId10"/>
    <p:sldId id="476" r:id="rId11"/>
    <p:sldId id="508" r:id="rId12"/>
    <p:sldId id="511" r:id="rId13"/>
    <p:sldId id="509" r:id="rId14"/>
    <p:sldId id="510" r:id="rId15"/>
    <p:sldId id="507" r:id="rId16"/>
    <p:sldId id="477" r:id="rId17"/>
    <p:sldId id="478" r:id="rId18"/>
    <p:sldId id="489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6" r:id="rId27"/>
    <p:sldId id="487" r:id="rId28"/>
    <p:sldId id="488" r:id="rId29"/>
    <p:sldId id="490" r:id="rId30"/>
    <p:sldId id="491" r:id="rId31"/>
    <p:sldId id="492" r:id="rId32"/>
    <p:sldId id="493" r:id="rId33"/>
    <p:sldId id="494" r:id="rId34"/>
    <p:sldId id="502" r:id="rId35"/>
    <p:sldId id="495" r:id="rId36"/>
    <p:sldId id="501" r:id="rId37"/>
    <p:sldId id="496" r:id="rId38"/>
    <p:sldId id="500" r:id="rId39"/>
    <p:sldId id="498" r:id="rId40"/>
    <p:sldId id="499" r:id="rId41"/>
    <p:sldId id="497" r:id="rId42"/>
    <p:sldId id="473" r:id="rId43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85484" autoAdjust="0"/>
  </p:normalViewPr>
  <p:slideViewPr>
    <p:cSldViewPr snapToGrid="0">
      <p:cViewPr varScale="1">
        <p:scale>
          <a:sx n="80" d="100"/>
          <a:sy n="80" d="100"/>
        </p:scale>
        <p:origin x="1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04947C-1426-40DC-85C4-1BEF96C55AD9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936B10-D388-43F5-8BBE-9E22B39BC8E2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pPr rtl="0"/>
          <a:r>
            <a:rPr lang="en-US" dirty="0"/>
            <a:t>Practice the algebra calculations</a:t>
          </a:r>
        </a:p>
      </dgm:t>
    </dgm:pt>
    <dgm:pt modelId="{46F006DA-4616-4074-9352-C5D700851E37}" type="parTrans" cxnId="{EF68AB12-C728-4DC0-8E9A-04E36DCAD74C}">
      <dgm:prSet/>
      <dgm:spPr/>
      <dgm:t>
        <a:bodyPr/>
        <a:lstStyle/>
        <a:p>
          <a:endParaRPr lang="en-US"/>
        </a:p>
      </dgm:t>
    </dgm:pt>
    <dgm:pt modelId="{6F8B8C85-A554-475C-8CDD-32C40A14FB86}" type="sibTrans" cxnId="{EF68AB12-C728-4DC0-8E9A-04E36DCAD74C}">
      <dgm:prSet/>
      <dgm:spPr/>
      <dgm:t>
        <a:bodyPr/>
        <a:lstStyle/>
        <a:p>
          <a:endParaRPr lang="en-US"/>
        </a:p>
      </dgm:t>
    </dgm:pt>
    <dgm:pt modelId="{18C51A7B-5D60-4395-B656-E970754B23C4}">
      <dgm:prSet/>
      <dgm:spPr>
        <a:solidFill>
          <a:srgbClr val="C00000"/>
        </a:solidFill>
      </dgm:spPr>
      <dgm:t>
        <a:bodyPr/>
        <a:lstStyle/>
        <a:p>
          <a:pPr rtl="0"/>
          <a:r>
            <a:rPr lang="en-US" dirty="0"/>
            <a:t>Solving </a:t>
          </a:r>
          <a:r>
            <a:rPr lang="en-US" b="0" dirty="0"/>
            <a:t>Algebraic </a:t>
          </a:r>
          <a:r>
            <a:rPr lang="en-US" b="0" dirty="0">
              <a:latin typeface="+mj-lt"/>
            </a:rPr>
            <a:t>equations</a:t>
          </a:r>
          <a:endParaRPr lang="en-US" b="0" dirty="0"/>
        </a:p>
      </dgm:t>
    </dgm:pt>
    <dgm:pt modelId="{CE91A34E-4605-4416-B548-4B256ADDF096}" type="parTrans" cxnId="{DD2758D2-9CA1-4734-AC17-8238B7974BE7}">
      <dgm:prSet/>
      <dgm:spPr/>
      <dgm:t>
        <a:bodyPr/>
        <a:lstStyle/>
        <a:p>
          <a:endParaRPr lang="en-US"/>
        </a:p>
      </dgm:t>
    </dgm:pt>
    <dgm:pt modelId="{114F8E7F-162B-4238-877F-328AC882EB29}" type="sibTrans" cxnId="{DD2758D2-9CA1-4734-AC17-8238B7974BE7}">
      <dgm:prSet/>
      <dgm:spPr/>
      <dgm:t>
        <a:bodyPr/>
        <a:lstStyle/>
        <a:p>
          <a:endParaRPr lang="en-US"/>
        </a:p>
      </dgm:t>
    </dgm:pt>
    <dgm:pt modelId="{2CFEC80B-9B0B-4CB8-A744-70C8E647A17A}">
      <dgm:prSet/>
      <dgm:spPr>
        <a:solidFill>
          <a:srgbClr val="FF9900"/>
        </a:solidFill>
      </dgm:spPr>
      <dgm:t>
        <a:bodyPr/>
        <a:lstStyle/>
        <a:p>
          <a:pPr rtl="0"/>
          <a:r>
            <a:rPr lang="en-US" b="1" dirty="0"/>
            <a:t>Cross-multiplication</a:t>
          </a:r>
          <a:endParaRPr lang="en-US" dirty="0"/>
        </a:p>
      </dgm:t>
    </dgm:pt>
    <dgm:pt modelId="{6CE67508-6B5F-493C-84FE-5A4215685330}" type="parTrans" cxnId="{79D4A63B-D23C-4675-AE30-C0C73583B5E8}">
      <dgm:prSet/>
      <dgm:spPr/>
      <dgm:t>
        <a:bodyPr/>
        <a:lstStyle/>
        <a:p>
          <a:endParaRPr lang="en-US"/>
        </a:p>
      </dgm:t>
    </dgm:pt>
    <dgm:pt modelId="{3461A2E1-EFE9-44B1-93A5-04502116BCFF}" type="sibTrans" cxnId="{79D4A63B-D23C-4675-AE30-C0C73583B5E8}">
      <dgm:prSet/>
      <dgm:spPr/>
      <dgm:t>
        <a:bodyPr/>
        <a:lstStyle/>
        <a:p>
          <a:endParaRPr lang="en-US"/>
        </a:p>
      </dgm:t>
    </dgm:pt>
    <dgm:pt modelId="{12AAE9E8-241A-44B5-8803-2D989612CD21}" type="pres">
      <dgm:prSet presAssocID="{9404947C-1426-40DC-85C4-1BEF96C55AD9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BD3A5A41-C62F-4E2F-AA73-1B19FFD85394}" type="pres">
      <dgm:prSet presAssocID="{9404947C-1426-40DC-85C4-1BEF96C55AD9}" presName="cycle" presStyleCnt="0"/>
      <dgm:spPr/>
    </dgm:pt>
    <dgm:pt modelId="{F941AF52-023E-4DB5-8076-51729534DC1B}" type="pres">
      <dgm:prSet presAssocID="{9404947C-1426-40DC-85C4-1BEF96C55AD9}" presName="centerShape" presStyleCnt="0"/>
      <dgm:spPr/>
    </dgm:pt>
    <dgm:pt modelId="{6917E7E3-031A-4C30-9874-149DDF20B381}" type="pres">
      <dgm:prSet presAssocID="{9404947C-1426-40DC-85C4-1BEF96C55AD9}" presName="connSite" presStyleLbl="node1" presStyleIdx="0" presStyleCnt="4"/>
      <dgm:spPr/>
    </dgm:pt>
    <dgm:pt modelId="{6B10B399-E9F4-40C7-ABE0-BB206C1E59E4}" type="pres">
      <dgm:prSet presAssocID="{9404947C-1426-40DC-85C4-1BEF96C55AD9}" presName="visible" presStyleLbl="node1" presStyleIdx="0" presStyleCnt="4" custLinFactNeighborX="13522"/>
      <dgm:spPr>
        <a:solidFill>
          <a:schemeClr val="accent5">
            <a:lumMod val="50000"/>
          </a:schemeClr>
        </a:solidFill>
      </dgm:spPr>
    </dgm:pt>
    <dgm:pt modelId="{71F4D244-2BA8-46B7-B0CB-60111473DF59}" type="pres">
      <dgm:prSet presAssocID="{46F006DA-4616-4074-9352-C5D700851E37}" presName="Name25" presStyleLbl="parChTrans1D1" presStyleIdx="0" presStyleCnt="3"/>
      <dgm:spPr/>
    </dgm:pt>
    <dgm:pt modelId="{5A6A624C-247F-45E1-A217-177C8E4922BA}" type="pres">
      <dgm:prSet presAssocID="{A9936B10-D388-43F5-8BBE-9E22B39BC8E2}" presName="node" presStyleCnt="0"/>
      <dgm:spPr/>
    </dgm:pt>
    <dgm:pt modelId="{4AD43684-D771-42A3-9ED6-B37BF0FA0409}" type="pres">
      <dgm:prSet presAssocID="{A9936B10-D388-43F5-8BBE-9E22B39BC8E2}" presName="parentNode" presStyleLbl="node1" presStyleIdx="1" presStyleCnt="4" custScaleX="205863" custLinFactNeighborX="70743">
        <dgm:presLayoutVars>
          <dgm:chMax val="1"/>
          <dgm:bulletEnabled val="1"/>
        </dgm:presLayoutVars>
      </dgm:prSet>
      <dgm:spPr/>
    </dgm:pt>
    <dgm:pt modelId="{5C3FCE03-EA2B-4EB3-B83B-CEB9F2AF147E}" type="pres">
      <dgm:prSet presAssocID="{A9936B10-D388-43F5-8BBE-9E22B39BC8E2}" presName="childNode" presStyleLbl="revTx" presStyleIdx="0" presStyleCnt="0">
        <dgm:presLayoutVars>
          <dgm:bulletEnabled val="1"/>
        </dgm:presLayoutVars>
      </dgm:prSet>
      <dgm:spPr/>
    </dgm:pt>
    <dgm:pt modelId="{192A5203-209C-4E97-9A83-697AE77FA2EB}" type="pres">
      <dgm:prSet presAssocID="{CE91A34E-4605-4416-B548-4B256ADDF096}" presName="Name25" presStyleLbl="parChTrans1D1" presStyleIdx="1" presStyleCnt="3"/>
      <dgm:spPr/>
    </dgm:pt>
    <dgm:pt modelId="{4D374DF0-6DD3-4C09-B584-7C4ADCAB007B}" type="pres">
      <dgm:prSet presAssocID="{18C51A7B-5D60-4395-B656-E970754B23C4}" presName="node" presStyleCnt="0"/>
      <dgm:spPr/>
    </dgm:pt>
    <dgm:pt modelId="{62EA5F79-4182-42F9-81AB-B82D5FB8A729}" type="pres">
      <dgm:prSet presAssocID="{18C51A7B-5D60-4395-B656-E970754B23C4}" presName="parentNode" presStyleLbl="node1" presStyleIdx="2" presStyleCnt="4" custScaleX="175633" custLinFactX="5241" custLinFactNeighborX="100000" custLinFactNeighborY="-3824">
        <dgm:presLayoutVars>
          <dgm:chMax val="1"/>
          <dgm:bulletEnabled val="1"/>
        </dgm:presLayoutVars>
      </dgm:prSet>
      <dgm:spPr/>
    </dgm:pt>
    <dgm:pt modelId="{E7274FC1-097B-403D-9055-C11FDE0F4FA3}" type="pres">
      <dgm:prSet presAssocID="{18C51A7B-5D60-4395-B656-E970754B23C4}" presName="childNode" presStyleLbl="revTx" presStyleIdx="0" presStyleCnt="0">
        <dgm:presLayoutVars>
          <dgm:bulletEnabled val="1"/>
        </dgm:presLayoutVars>
      </dgm:prSet>
      <dgm:spPr/>
    </dgm:pt>
    <dgm:pt modelId="{985B6F5E-BCBE-44A7-9797-F98ECBBF34ED}" type="pres">
      <dgm:prSet presAssocID="{6CE67508-6B5F-493C-84FE-5A4215685330}" presName="Name25" presStyleLbl="parChTrans1D1" presStyleIdx="2" presStyleCnt="3"/>
      <dgm:spPr/>
    </dgm:pt>
    <dgm:pt modelId="{5442B69A-C3D8-445A-B544-CA61EBFDBE83}" type="pres">
      <dgm:prSet presAssocID="{2CFEC80B-9B0B-4CB8-A744-70C8E647A17A}" presName="node" presStyleCnt="0"/>
      <dgm:spPr/>
    </dgm:pt>
    <dgm:pt modelId="{3031B7AE-B12B-4B0B-9852-1EBD6D825E40}" type="pres">
      <dgm:prSet presAssocID="{2CFEC80B-9B0B-4CB8-A744-70C8E647A17A}" presName="parentNode" presStyleLbl="node1" presStyleIdx="3" presStyleCnt="4" custScaleX="166996" custLinFactNeighborX="29289" custLinFactNeighborY="10182">
        <dgm:presLayoutVars>
          <dgm:chMax val="1"/>
          <dgm:bulletEnabled val="1"/>
        </dgm:presLayoutVars>
      </dgm:prSet>
      <dgm:spPr/>
    </dgm:pt>
    <dgm:pt modelId="{F94CC0F2-F8ED-4733-BFFD-AC7674A6FD77}" type="pres">
      <dgm:prSet presAssocID="{2CFEC80B-9B0B-4CB8-A744-70C8E647A17A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EF68AB12-C728-4DC0-8E9A-04E36DCAD74C}" srcId="{9404947C-1426-40DC-85C4-1BEF96C55AD9}" destId="{A9936B10-D388-43F5-8BBE-9E22B39BC8E2}" srcOrd="0" destOrd="0" parTransId="{46F006DA-4616-4074-9352-C5D700851E37}" sibTransId="{6F8B8C85-A554-475C-8CDD-32C40A14FB86}"/>
    <dgm:cxn modelId="{79D4A63B-D23C-4675-AE30-C0C73583B5E8}" srcId="{9404947C-1426-40DC-85C4-1BEF96C55AD9}" destId="{2CFEC80B-9B0B-4CB8-A744-70C8E647A17A}" srcOrd="2" destOrd="0" parTransId="{6CE67508-6B5F-493C-84FE-5A4215685330}" sibTransId="{3461A2E1-EFE9-44B1-93A5-04502116BCFF}"/>
    <dgm:cxn modelId="{CA20C356-A8D6-4A1B-8EAB-9797F1473099}" type="presOf" srcId="{6CE67508-6B5F-493C-84FE-5A4215685330}" destId="{985B6F5E-BCBE-44A7-9797-F98ECBBF34ED}" srcOrd="0" destOrd="0" presId="urn:microsoft.com/office/officeart/2005/8/layout/radial2"/>
    <dgm:cxn modelId="{F92EA185-F998-40F7-A4AC-73A80FB900E2}" type="presOf" srcId="{A9936B10-D388-43F5-8BBE-9E22B39BC8E2}" destId="{4AD43684-D771-42A3-9ED6-B37BF0FA0409}" srcOrd="0" destOrd="0" presId="urn:microsoft.com/office/officeart/2005/8/layout/radial2"/>
    <dgm:cxn modelId="{7560469A-E3FB-4B68-94FF-E7B7C4FBEEE9}" type="presOf" srcId="{46F006DA-4616-4074-9352-C5D700851E37}" destId="{71F4D244-2BA8-46B7-B0CB-60111473DF59}" srcOrd="0" destOrd="0" presId="urn:microsoft.com/office/officeart/2005/8/layout/radial2"/>
    <dgm:cxn modelId="{CD87B7BE-8154-451B-A93D-FF4BEFC3A8B4}" type="presOf" srcId="{2CFEC80B-9B0B-4CB8-A744-70C8E647A17A}" destId="{3031B7AE-B12B-4B0B-9852-1EBD6D825E40}" srcOrd="0" destOrd="0" presId="urn:microsoft.com/office/officeart/2005/8/layout/radial2"/>
    <dgm:cxn modelId="{DD2758D2-9CA1-4734-AC17-8238B7974BE7}" srcId="{9404947C-1426-40DC-85C4-1BEF96C55AD9}" destId="{18C51A7B-5D60-4395-B656-E970754B23C4}" srcOrd="1" destOrd="0" parTransId="{CE91A34E-4605-4416-B548-4B256ADDF096}" sibTransId="{114F8E7F-162B-4238-877F-328AC882EB29}"/>
    <dgm:cxn modelId="{5905C5E7-05A2-467C-96AD-9EA203923B68}" type="presOf" srcId="{CE91A34E-4605-4416-B548-4B256ADDF096}" destId="{192A5203-209C-4E97-9A83-697AE77FA2EB}" srcOrd="0" destOrd="0" presId="urn:microsoft.com/office/officeart/2005/8/layout/radial2"/>
    <dgm:cxn modelId="{BDB39DEC-3778-4628-8B3C-13723B5EB015}" type="presOf" srcId="{9404947C-1426-40DC-85C4-1BEF96C55AD9}" destId="{12AAE9E8-241A-44B5-8803-2D989612CD21}" srcOrd="0" destOrd="0" presId="urn:microsoft.com/office/officeart/2005/8/layout/radial2"/>
    <dgm:cxn modelId="{3FE233F7-BFFF-4EF3-B960-0B7E536597EB}" type="presOf" srcId="{18C51A7B-5D60-4395-B656-E970754B23C4}" destId="{62EA5F79-4182-42F9-81AB-B82D5FB8A729}" srcOrd="0" destOrd="0" presId="urn:microsoft.com/office/officeart/2005/8/layout/radial2"/>
    <dgm:cxn modelId="{BA14AC77-8C56-4B13-BF1D-07B79E5245B4}" type="presParOf" srcId="{12AAE9E8-241A-44B5-8803-2D989612CD21}" destId="{BD3A5A41-C62F-4E2F-AA73-1B19FFD85394}" srcOrd="0" destOrd="0" presId="urn:microsoft.com/office/officeart/2005/8/layout/radial2"/>
    <dgm:cxn modelId="{25B42B24-1796-481F-A1D4-3E12B867FECF}" type="presParOf" srcId="{BD3A5A41-C62F-4E2F-AA73-1B19FFD85394}" destId="{F941AF52-023E-4DB5-8076-51729534DC1B}" srcOrd="0" destOrd="0" presId="urn:microsoft.com/office/officeart/2005/8/layout/radial2"/>
    <dgm:cxn modelId="{DF34B6F0-764E-4366-9DAE-5EA0E7FD5CA6}" type="presParOf" srcId="{F941AF52-023E-4DB5-8076-51729534DC1B}" destId="{6917E7E3-031A-4C30-9874-149DDF20B381}" srcOrd="0" destOrd="0" presId="urn:microsoft.com/office/officeart/2005/8/layout/radial2"/>
    <dgm:cxn modelId="{65AA7611-65A7-4226-B63D-6962BA51A3BB}" type="presParOf" srcId="{F941AF52-023E-4DB5-8076-51729534DC1B}" destId="{6B10B399-E9F4-40C7-ABE0-BB206C1E59E4}" srcOrd="1" destOrd="0" presId="urn:microsoft.com/office/officeart/2005/8/layout/radial2"/>
    <dgm:cxn modelId="{8A012B74-242B-45C7-AC99-20B2418BA1CA}" type="presParOf" srcId="{BD3A5A41-C62F-4E2F-AA73-1B19FFD85394}" destId="{71F4D244-2BA8-46B7-B0CB-60111473DF59}" srcOrd="1" destOrd="0" presId="urn:microsoft.com/office/officeart/2005/8/layout/radial2"/>
    <dgm:cxn modelId="{96384770-E29E-4066-B37A-418708972AE6}" type="presParOf" srcId="{BD3A5A41-C62F-4E2F-AA73-1B19FFD85394}" destId="{5A6A624C-247F-45E1-A217-177C8E4922BA}" srcOrd="2" destOrd="0" presId="urn:microsoft.com/office/officeart/2005/8/layout/radial2"/>
    <dgm:cxn modelId="{9560165E-3FBE-4170-A87B-B81978C61D9F}" type="presParOf" srcId="{5A6A624C-247F-45E1-A217-177C8E4922BA}" destId="{4AD43684-D771-42A3-9ED6-B37BF0FA0409}" srcOrd="0" destOrd="0" presId="urn:microsoft.com/office/officeart/2005/8/layout/radial2"/>
    <dgm:cxn modelId="{6363D857-0048-46D9-9D1E-3A52B41DA741}" type="presParOf" srcId="{5A6A624C-247F-45E1-A217-177C8E4922BA}" destId="{5C3FCE03-EA2B-4EB3-B83B-CEB9F2AF147E}" srcOrd="1" destOrd="0" presId="urn:microsoft.com/office/officeart/2005/8/layout/radial2"/>
    <dgm:cxn modelId="{407B4F5E-5166-46D4-9C18-F2978420AE56}" type="presParOf" srcId="{BD3A5A41-C62F-4E2F-AA73-1B19FFD85394}" destId="{192A5203-209C-4E97-9A83-697AE77FA2EB}" srcOrd="3" destOrd="0" presId="urn:microsoft.com/office/officeart/2005/8/layout/radial2"/>
    <dgm:cxn modelId="{13C3ED27-ACA1-4184-99C5-6C0827690CCE}" type="presParOf" srcId="{BD3A5A41-C62F-4E2F-AA73-1B19FFD85394}" destId="{4D374DF0-6DD3-4C09-B584-7C4ADCAB007B}" srcOrd="4" destOrd="0" presId="urn:microsoft.com/office/officeart/2005/8/layout/radial2"/>
    <dgm:cxn modelId="{3C79481F-4DE3-4F29-9153-9583A019F72C}" type="presParOf" srcId="{4D374DF0-6DD3-4C09-B584-7C4ADCAB007B}" destId="{62EA5F79-4182-42F9-81AB-B82D5FB8A729}" srcOrd="0" destOrd="0" presId="urn:microsoft.com/office/officeart/2005/8/layout/radial2"/>
    <dgm:cxn modelId="{D5DD660E-17AF-4BAA-9185-079253A2BFA1}" type="presParOf" srcId="{4D374DF0-6DD3-4C09-B584-7C4ADCAB007B}" destId="{E7274FC1-097B-403D-9055-C11FDE0F4FA3}" srcOrd="1" destOrd="0" presId="urn:microsoft.com/office/officeart/2005/8/layout/radial2"/>
    <dgm:cxn modelId="{FB501E65-A873-4E67-AFA1-1CD28BCD1B9E}" type="presParOf" srcId="{BD3A5A41-C62F-4E2F-AA73-1B19FFD85394}" destId="{985B6F5E-BCBE-44A7-9797-F98ECBBF34ED}" srcOrd="5" destOrd="0" presId="urn:microsoft.com/office/officeart/2005/8/layout/radial2"/>
    <dgm:cxn modelId="{2A98DAE1-76A8-4434-86B3-B7D54415779A}" type="presParOf" srcId="{BD3A5A41-C62F-4E2F-AA73-1B19FFD85394}" destId="{5442B69A-C3D8-445A-B544-CA61EBFDBE83}" srcOrd="6" destOrd="0" presId="urn:microsoft.com/office/officeart/2005/8/layout/radial2"/>
    <dgm:cxn modelId="{8066FBCD-1A2D-46ED-9834-36E46DEA9A95}" type="presParOf" srcId="{5442B69A-C3D8-445A-B544-CA61EBFDBE83}" destId="{3031B7AE-B12B-4B0B-9852-1EBD6D825E40}" srcOrd="0" destOrd="0" presId="urn:microsoft.com/office/officeart/2005/8/layout/radial2"/>
    <dgm:cxn modelId="{F3929E2F-264D-4A72-A4F6-AEE6ADEEEA46}" type="presParOf" srcId="{5442B69A-C3D8-445A-B544-CA61EBFDBE83}" destId="{F94CC0F2-F8ED-4733-BFFD-AC7674A6FD77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B6F5E-BCBE-44A7-9797-F98ECBBF34ED}">
      <dsp:nvSpPr>
        <dsp:cNvPr id="0" name=""/>
        <dsp:cNvSpPr/>
      </dsp:nvSpPr>
      <dsp:spPr>
        <a:xfrm rot="2408569">
          <a:off x="1941942" y="4140351"/>
          <a:ext cx="1049578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1049578" y="3396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A5203-209C-4E97-9A83-697AE77FA2EB}">
      <dsp:nvSpPr>
        <dsp:cNvPr id="0" name=""/>
        <dsp:cNvSpPr/>
      </dsp:nvSpPr>
      <dsp:spPr>
        <a:xfrm rot="21551236">
          <a:off x="2065464" y="2925171"/>
          <a:ext cx="1920302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1920302" y="3396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4D244-2BA8-46B7-B0CB-60111473DF59}">
      <dsp:nvSpPr>
        <dsp:cNvPr id="0" name=""/>
        <dsp:cNvSpPr/>
      </dsp:nvSpPr>
      <dsp:spPr>
        <a:xfrm rot="19635139">
          <a:off x="1954911" y="1929045"/>
          <a:ext cx="1392359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1392359" y="33969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10B399-E9F4-40C7-ABE0-BB206C1E59E4}">
      <dsp:nvSpPr>
        <dsp:cNvPr id="0" name=""/>
        <dsp:cNvSpPr/>
      </dsp:nvSpPr>
      <dsp:spPr>
        <a:xfrm>
          <a:off x="9780" y="1548988"/>
          <a:ext cx="2876103" cy="2876103"/>
        </a:xfrm>
        <a:prstGeom prst="ellipse">
          <a:avLst/>
        </a:prstGeom>
        <a:solidFill>
          <a:schemeClr val="accent5">
            <a:lumMod val="5000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43684-D771-42A3-9ED6-B37BF0FA0409}">
      <dsp:nvSpPr>
        <dsp:cNvPr id="0" name=""/>
        <dsp:cNvSpPr/>
      </dsp:nvSpPr>
      <dsp:spPr>
        <a:xfrm>
          <a:off x="2578165" y="138992"/>
          <a:ext cx="3314527" cy="1610064"/>
        </a:xfrm>
        <a:prstGeom prst="ellipse">
          <a:avLst/>
        </a:prstGeom>
        <a:solidFill>
          <a:schemeClr val="accent2">
            <a:lumMod val="5000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Practice the algebra calculations</a:t>
          </a:r>
        </a:p>
      </dsp:txBody>
      <dsp:txXfrm>
        <a:off x="3063566" y="374780"/>
        <a:ext cx="2343725" cy="1138488"/>
      </dsp:txXfrm>
    </dsp:sp>
    <dsp:sp modelId="{62EA5F79-4182-42F9-81AB-B82D5FB8A729}">
      <dsp:nvSpPr>
        <dsp:cNvPr id="0" name=""/>
        <dsp:cNvSpPr/>
      </dsp:nvSpPr>
      <dsp:spPr>
        <a:xfrm>
          <a:off x="3985231" y="2120438"/>
          <a:ext cx="2827804" cy="1610064"/>
        </a:xfrm>
        <a:prstGeom prst="ellipse">
          <a:avLst/>
        </a:prstGeom>
        <a:solidFill>
          <a:srgbClr val="C00000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Solving </a:t>
          </a:r>
          <a:r>
            <a:rPr lang="en-US" sz="2200" b="0" kern="1200" dirty="0"/>
            <a:t>Algebraic </a:t>
          </a:r>
          <a:r>
            <a:rPr lang="en-US" sz="2200" b="0" kern="1200" dirty="0">
              <a:latin typeface="+mj-lt"/>
            </a:rPr>
            <a:t>equations</a:t>
          </a:r>
          <a:endParaRPr lang="en-US" sz="2200" b="0" kern="1200" dirty="0"/>
        </a:p>
      </dsp:txBody>
      <dsp:txXfrm>
        <a:off x="4399353" y="2356226"/>
        <a:ext cx="1999560" cy="1138488"/>
      </dsp:txXfrm>
    </dsp:sp>
    <dsp:sp modelId="{3031B7AE-B12B-4B0B-9852-1EBD6D825E40}">
      <dsp:nvSpPr>
        <dsp:cNvPr id="0" name=""/>
        <dsp:cNvSpPr/>
      </dsp:nvSpPr>
      <dsp:spPr>
        <a:xfrm>
          <a:off x="2301844" y="4364015"/>
          <a:ext cx="2688743" cy="1610064"/>
        </a:xfrm>
        <a:prstGeom prst="ellipse">
          <a:avLst/>
        </a:prstGeom>
        <a:solidFill>
          <a:srgbClr val="FF9900"/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Cross-multiplication</a:t>
          </a:r>
          <a:endParaRPr lang="en-US" sz="2100" kern="1200" dirty="0"/>
        </a:p>
      </dsp:txBody>
      <dsp:txXfrm>
        <a:off x="2695601" y="4599803"/>
        <a:ext cx="1901229" cy="1138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160520" cy="367031"/>
          </a:xfrm>
          <a:prstGeom prst="rect">
            <a:avLst/>
          </a:prstGeom>
        </p:spPr>
        <p:txBody>
          <a:bodyPr vert="horz" lIns="96664" tIns="48332" rIns="96664" bIns="4833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60" y="0"/>
            <a:ext cx="4160520" cy="367031"/>
          </a:xfrm>
          <a:prstGeom prst="rect">
            <a:avLst/>
          </a:prstGeom>
        </p:spPr>
        <p:txBody>
          <a:bodyPr vert="horz" lIns="96664" tIns="48332" rIns="96664" bIns="48332" rtlCol="0"/>
          <a:lstStyle>
            <a:lvl1pPr algn="r">
              <a:defRPr sz="1300"/>
            </a:lvl1pPr>
          </a:lstStyle>
          <a:p>
            <a:fld id="{EEC224A0-7DFB-4F17-A325-2B68F2844D7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948172"/>
            <a:ext cx="4160520" cy="367030"/>
          </a:xfrm>
          <a:prstGeom prst="rect">
            <a:avLst/>
          </a:prstGeom>
        </p:spPr>
        <p:txBody>
          <a:bodyPr vert="horz" lIns="96664" tIns="48332" rIns="96664" bIns="4833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60" y="6948172"/>
            <a:ext cx="4160520" cy="367030"/>
          </a:xfrm>
          <a:prstGeom prst="rect">
            <a:avLst/>
          </a:prstGeom>
        </p:spPr>
        <p:txBody>
          <a:bodyPr vert="horz" lIns="96664" tIns="48332" rIns="96664" bIns="48332" rtlCol="0" anchor="b"/>
          <a:lstStyle>
            <a:lvl1pPr algn="r">
              <a:defRPr sz="1300"/>
            </a:lvl1pPr>
          </a:lstStyle>
          <a:p>
            <a:fld id="{DA802AA0-F4AB-4B36-8279-8A3E20545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94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160520" cy="367031"/>
          </a:xfrm>
          <a:prstGeom prst="rect">
            <a:avLst/>
          </a:prstGeom>
        </p:spPr>
        <p:txBody>
          <a:bodyPr vert="horz" lIns="96664" tIns="48332" rIns="96664" bIns="4833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60" y="0"/>
            <a:ext cx="4160520" cy="367031"/>
          </a:xfrm>
          <a:prstGeom prst="rect">
            <a:avLst/>
          </a:prstGeom>
        </p:spPr>
        <p:txBody>
          <a:bodyPr vert="horz" lIns="96664" tIns="48332" rIns="96664" bIns="48332" rtlCol="0"/>
          <a:lstStyle>
            <a:lvl1pPr algn="r">
              <a:defRPr sz="1300"/>
            </a:lvl1pPr>
          </a:lstStyle>
          <a:p>
            <a:fld id="{B58309B3-05AD-4B91-876D-E6ADE9CFE5DA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4" tIns="48332" rIns="96664" bIns="4833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1"/>
            <a:ext cx="7680960" cy="2880360"/>
          </a:xfrm>
          <a:prstGeom prst="rect">
            <a:avLst/>
          </a:prstGeom>
        </p:spPr>
        <p:txBody>
          <a:bodyPr vert="horz" lIns="96664" tIns="48332" rIns="96664" bIns="4833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948172"/>
            <a:ext cx="4160520" cy="367030"/>
          </a:xfrm>
          <a:prstGeom prst="rect">
            <a:avLst/>
          </a:prstGeom>
        </p:spPr>
        <p:txBody>
          <a:bodyPr vert="horz" lIns="96664" tIns="48332" rIns="96664" bIns="4833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60" y="6948172"/>
            <a:ext cx="4160520" cy="367030"/>
          </a:xfrm>
          <a:prstGeom prst="rect">
            <a:avLst/>
          </a:prstGeom>
        </p:spPr>
        <p:txBody>
          <a:bodyPr vert="horz" lIns="96664" tIns="48332" rIns="96664" bIns="48332" rtlCol="0" anchor="b"/>
          <a:lstStyle>
            <a:lvl1pPr algn="r">
              <a:defRPr sz="1300"/>
            </a:lvl1pPr>
          </a:lstStyle>
          <a:p>
            <a:fld id="{4B8397E6-E028-4FC8-B8CA-941339347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8397E6-E028-4FC8-B8CA-941339347C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3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8397E6-E028-4FC8-B8CA-941339347C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03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397E6-E028-4FC8-B8CA-941339347C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2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5AE58E4-CDE0-4FF6-B13D-6A02E88063A3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5734-214C-4885-8D73-12429A96C170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D6CCD0-A5DF-46F3-96C2-EBC631642B8B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83EE-A768-430E-AA3E-377F2F83834B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96F64-F34C-43D3-A15B-1C1881DCDA5E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FE1E-6340-42A4-B129-095DA5430609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B7C0-3C1F-48B0-AC3C-DBFF3B021266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3B4065-E855-4BF6-9765-6EBDB6881DC0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CEBAC8-B0F0-46F4-A4F4-3E12EBFEF125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9E86-6404-4AE9-94A1-EB9F8A0ECFE3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F363F-B585-4E04-8A5F-C1AF559A005D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A812B5FF-B306-403B-B895-78C42776A689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630680" y="632143"/>
            <a:ext cx="9784080" cy="11814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FOUNDATION OF METHEMATICS</a:t>
            </a:r>
            <a:br>
              <a:rPr lang="en-US" sz="4000" b="1" dirty="0"/>
            </a:br>
            <a:r>
              <a:rPr lang="en-US" sz="4000" b="1" dirty="0"/>
              <a:t>TMS 1113 </a:t>
            </a:r>
            <a:br>
              <a:rPr lang="en-US" sz="4000" b="1" dirty="0"/>
            </a:br>
            <a:endParaRPr lang="en-US" sz="40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90650" y="2517091"/>
            <a:ext cx="9784080" cy="11814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4000" b="1" dirty="0">
                <a:solidFill>
                  <a:srgbClr val="C0000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ALGEBRA CALCULATIONS &amp; ALGEBRA EQUATION</a:t>
            </a:r>
          </a:p>
        </p:txBody>
      </p:sp>
    </p:spTree>
    <p:extLst>
      <p:ext uri="{BB962C8B-B14F-4D97-AF65-F5344CB8AC3E}">
        <p14:creationId xmlns:p14="http://schemas.microsoft.com/office/powerpoint/2010/main" val="375735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379" y="80963"/>
            <a:ext cx="3491021" cy="62242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Objectives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9" name="Content Placeholder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698687"/>
              </p:ext>
            </p:extLst>
          </p:nvPr>
        </p:nvGraphicFramePr>
        <p:xfrm>
          <a:off x="2286000" y="137160"/>
          <a:ext cx="7620000" cy="5974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5"/>
          <p:cNvSpPr txBox="1">
            <a:spLocks noChangeArrowheads="1"/>
          </p:cNvSpPr>
          <p:nvPr/>
        </p:nvSpPr>
        <p:spPr bwMode="auto">
          <a:xfrm>
            <a:off x="2667000" y="2651760"/>
            <a:ext cx="2057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94793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5129" y="-44025"/>
            <a:ext cx="58449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j-lt"/>
              </a:rPr>
              <a:t>More exercises with Brackets</a:t>
            </a:r>
          </a:p>
          <a:p>
            <a:r>
              <a:rPr lang="en-US" sz="3600" b="1" dirty="0">
                <a:latin typeface="+mj-lt"/>
              </a:rPr>
              <a:t>Evaluate followings : </a:t>
            </a:r>
            <a:endParaRPr lang="en-US" sz="36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9" y="1203959"/>
            <a:ext cx="4276305" cy="7909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571" y="2501039"/>
            <a:ext cx="6024729" cy="311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0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5129" y="-44025"/>
            <a:ext cx="58449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j-lt"/>
              </a:rPr>
              <a:t>More exercises with Brackets</a:t>
            </a:r>
          </a:p>
          <a:p>
            <a:r>
              <a:rPr lang="en-US" sz="3600" b="1" dirty="0">
                <a:latin typeface="+mj-lt"/>
              </a:rPr>
              <a:t>Evaluate followings : </a:t>
            </a:r>
            <a:endParaRPr lang="en-US" sz="3600" dirty="0"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8" y="1692054"/>
            <a:ext cx="2490679" cy="6772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03" y="2497681"/>
            <a:ext cx="5600849" cy="3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6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5129" y="-44025"/>
            <a:ext cx="58449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j-lt"/>
              </a:rPr>
              <a:t>More exercises with Brackets</a:t>
            </a:r>
          </a:p>
          <a:p>
            <a:r>
              <a:rPr lang="en-US" sz="3600" b="1" dirty="0">
                <a:latin typeface="+mj-lt"/>
              </a:rPr>
              <a:t>Evaluate followings : </a:t>
            </a:r>
            <a:endParaRPr lang="en-US" sz="3600" dirty="0"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16" y="1366975"/>
            <a:ext cx="6015045" cy="6222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271" y="2457185"/>
            <a:ext cx="7706306" cy="189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7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5129" y="-44025"/>
            <a:ext cx="58449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j-lt"/>
              </a:rPr>
              <a:t>More exercises with Brackets</a:t>
            </a:r>
          </a:p>
          <a:p>
            <a:r>
              <a:rPr lang="en-US" sz="3600" b="1" dirty="0">
                <a:latin typeface="+mj-lt"/>
              </a:rPr>
              <a:t>Evaluate followings : </a:t>
            </a:r>
            <a:endParaRPr lang="en-US" sz="3600" dirty="0">
              <a:latin typeface="+mj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81" y="2918170"/>
            <a:ext cx="8743255" cy="353192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29" y="1347316"/>
            <a:ext cx="9254142" cy="137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7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84" y="0"/>
            <a:ext cx="8099326" cy="64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2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53417"/>
          <a:stretch/>
        </p:blipFill>
        <p:spPr>
          <a:xfrm>
            <a:off x="671687" y="584775"/>
            <a:ext cx="6675278" cy="33660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1231" y="0"/>
            <a:ext cx="67935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Now try the following Practice Exercise</a:t>
            </a:r>
            <a:endParaRPr lang="en-US" sz="3200" dirty="0">
              <a:latin typeface="+mj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47690"/>
          <a:stretch/>
        </p:blipFill>
        <p:spPr>
          <a:xfrm>
            <a:off x="6185553" y="3288630"/>
            <a:ext cx="5977682" cy="338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83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15129" y="-44025"/>
            <a:ext cx="663463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j-lt"/>
              </a:rPr>
              <a:t>More exercises with Factorization</a:t>
            </a:r>
          </a:p>
          <a:p>
            <a:r>
              <a:rPr lang="en-US" sz="3600" b="1" dirty="0">
                <a:latin typeface="+mj-lt"/>
              </a:rPr>
              <a:t>Evaluate followings : </a:t>
            </a:r>
            <a:endParaRPr lang="en-US" sz="3600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9" y="1390257"/>
            <a:ext cx="5645063" cy="48291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212" y="2345614"/>
            <a:ext cx="5410949" cy="3201745"/>
          </a:xfrm>
          <a:prstGeom prst="rect">
            <a:avLst/>
          </a:prstGeom>
        </p:spPr>
      </p:pic>
      <p:sp>
        <p:nvSpPr>
          <p:cNvPr id="8" name="Multiply 7"/>
          <p:cNvSpPr/>
          <p:nvPr/>
        </p:nvSpPr>
        <p:spPr>
          <a:xfrm>
            <a:off x="10299032" y="898358"/>
            <a:ext cx="769996" cy="70585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53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1" y="679813"/>
            <a:ext cx="5432108" cy="56785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1231" y="0"/>
            <a:ext cx="67935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Now try the following Practice Exercise</a:t>
            </a:r>
            <a:endParaRPr lang="en-US" sz="32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491" y="2550794"/>
            <a:ext cx="5522866" cy="299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5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8187" y="1812758"/>
            <a:ext cx="9601200" cy="449178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factors of 8 are 1, 2, 4 and 8 because 8 divides by 1, 2, 4 and 8.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factors of 24are 1,2,3,4,6, 8,12 and 24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common factors of8and24are 1,2,4 and 8 since 1, 2, 4 and 8 are factors of both 8 and 24.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highest common factor (HCF) is the largest number that divides into two or more terms. Hence, the HCF of 8 and 24 is 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4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Factorization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593" y="1428750"/>
            <a:ext cx="4993607" cy="10528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90650" y="2967335"/>
            <a:ext cx="77533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is common to both terms </a:t>
            </a: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ab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−5ac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is therefore taken outside of the bracket.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What goes inside the  bracket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727436"/>
            <a:ext cx="5522037" cy="93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2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685800"/>
            <a:ext cx="5893406" cy="10142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29530"/>
            <a:ext cx="10020300" cy="442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294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Technology , University of 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74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9368"/>
          <a:stretch/>
        </p:blipFill>
        <p:spPr>
          <a:xfrm>
            <a:off x="601870" y="563735"/>
            <a:ext cx="6450477" cy="40884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1231" y="0"/>
            <a:ext cx="67935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Now try the following Practice Exercise</a:t>
            </a:r>
            <a:endParaRPr lang="en-US" sz="3200" dirty="0"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60915"/>
          <a:stretch/>
        </p:blipFill>
        <p:spPr>
          <a:xfrm>
            <a:off x="5946891" y="4018266"/>
            <a:ext cx="6455006" cy="26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58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15129" y="-120225"/>
            <a:ext cx="1015861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+mj-lt"/>
              </a:rPr>
              <a:t>More exercises with </a:t>
            </a:r>
            <a:r>
              <a:rPr lang="en-US" sz="3600" b="1" dirty="0"/>
              <a:t>Laws of precedence (BODMAS)</a:t>
            </a:r>
          </a:p>
          <a:p>
            <a:r>
              <a:rPr lang="en-US" sz="3600" b="1" dirty="0">
                <a:latin typeface="+mj-lt"/>
              </a:rPr>
              <a:t>Evaluate followings : </a:t>
            </a:r>
            <a:endParaRPr lang="en-US" sz="3600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08" y="1044109"/>
            <a:ext cx="5260012" cy="54774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281" y="1937945"/>
            <a:ext cx="4848225" cy="3657600"/>
          </a:xfrm>
          <a:prstGeom prst="rect">
            <a:avLst/>
          </a:prstGeom>
        </p:spPr>
      </p:pic>
      <p:sp>
        <p:nvSpPr>
          <p:cNvPr id="8" name="Multiply 7"/>
          <p:cNvSpPr/>
          <p:nvPr/>
        </p:nvSpPr>
        <p:spPr>
          <a:xfrm>
            <a:off x="11069028" y="834189"/>
            <a:ext cx="401077" cy="62564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90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1231" y="0"/>
            <a:ext cx="67935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Now try the following Practice Exercise</a:t>
            </a:r>
            <a:endParaRPr lang="en-US" sz="3200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11" y="792481"/>
            <a:ext cx="5666608" cy="52723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717" y="2264092"/>
            <a:ext cx="5634234" cy="1926908"/>
          </a:xfrm>
          <a:prstGeom prst="rect">
            <a:avLst/>
          </a:prstGeom>
        </p:spPr>
      </p:pic>
      <p:sp>
        <p:nvSpPr>
          <p:cNvPr id="8" name="Multiply 7"/>
          <p:cNvSpPr/>
          <p:nvPr/>
        </p:nvSpPr>
        <p:spPr>
          <a:xfrm>
            <a:off x="9304421" y="792481"/>
            <a:ext cx="577516" cy="73151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9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929640" y="929640"/>
            <a:ext cx="11125200" cy="219456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An </a:t>
            </a:r>
            <a:r>
              <a:rPr lang="en-US" altLang="en-US" sz="2800" b="1" i="1" u="sng" dirty="0"/>
              <a:t>equation</a:t>
            </a:r>
            <a:r>
              <a:rPr lang="en-US" altLang="en-US" sz="2800" dirty="0"/>
              <a:t> is a statement that 2 expressions are equal. The symbol “=“ is read “is equal to” and divides the equation into 2 parts, the left member and the right member. In the equation </a:t>
            </a:r>
            <a:br>
              <a:rPr lang="en-US" altLang="en-US" sz="2800" dirty="0"/>
            </a:br>
            <a:r>
              <a:rPr lang="en-US" altLang="en-US" sz="2800" dirty="0"/>
              <a:t>2x + 3 = 13, </a:t>
            </a:r>
            <a:br>
              <a:rPr lang="en-US" altLang="en-US" sz="2800" dirty="0"/>
            </a:br>
            <a:r>
              <a:rPr lang="en-US" altLang="en-US" sz="2800" dirty="0"/>
              <a:t>2x + 3 is the left member and 13 is the right member.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28536" y="-42109"/>
            <a:ext cx="5727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Algebraic </a:t>
            </a:r>
            <a:r>
              <a:rPr lang="en-US" sz="4400" b="1" dirty="0">
                <a:latin typeface="+mj-lt"/>
              </a:rPr>
              <a:t>Equations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929640" y="3284398"/>
            <a:ext cx="11018520" cy="1621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The </a:t>
            </a:r>
            <a:r>
              <a:rPr lang="en-US" altLang="en-US" sz="2800" b="1" i="1" u="sng" dirty="0"/>
              <a:t>solution</a:t>
            </a:r>
            <a:r>
              <a:rPr lang="en-US" altLang="en-US" sz="2800" dirty="0"/>
              <a:t> to an equation in one variable is the number that can be substituted in place of the variable and makes the equation true.</a:t>
            </a:r>
            <a:br>
              <a:rPr lang="en-US" altLang="en-US" sz="2800" dirty="0"/>
            </a:br>
            <a:r>
              <a:rPr lang="en-US" altLang="en-US" sz="2800" dirty="0"/>
              <a:t> For example 5 is a solution to the equation 2x + 3 = 13 because 2(5) + 3 = 13 is true.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929640" y="5310386"/>
            <a:ext cx="1101852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200" dirty="0"/>
              <a:t>To </a:t>
            </a:r>
            <a:r>
              <a:rPr lang="en-US" altLang="en-US" sz="3200" b="1" i="1" u="sng" dirty="0"/>
              <a:t>solve</a:t>
            </a:r>
            <a:r>
              <a:rPr lang="en-US" altLang="en-US" sz="3200" dirty="0"/>
              <a:t> an equation means to find all solutions or roots for the equation. </a:t>
            </a:r>
          </a:p>
        </p:txBody>
      </p:sp>
    </p:spTree>
    <p:extLst>
      <p:ext uri="{BB962C8B-B14F-4D97-AF65-F5344CB8AC3E}">
        <p14:creationId xmlns:p14="http://schemas.microsoft.com/office/powerpoint/2010/main" val="4240104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732" y="1278254"/>
            <a:ext cx="7872150" cy="44215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1231" y="0"/>
            <a:ext cx="18514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+mj-lt"/>
              </a:rPr>
              <a:t>Examples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8922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96885" y="0"/>
            <a:ext cx="40172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+mj-lt"/>
              </a:rPr>
              <a:t>Solving equations</a:t>
            </a:r>
            <a:endParaRPr lang="en-US" sz="4000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6884" y="707886"/>
            <a:ext cx="112207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‘</a:t>
            </a:r>
            <a:r>
              <a:rPr lang="en-US" sz="2800" b="1" dirty="0"/>
              <a:t>solve an equation</a:t>
            </a:r>
            <a:r>
              <a:rPr lang="en-US" sz="2800" dirty="0"/>
              <a:t>’ means ‘</a:t>
            </a:r>
            <a:r>
              <a:rPr lang="en-US" sz="2800" b="1" dirty="0"/>
              <a:t>to find the value of the unknown</a:t>
            </a:r>
            <a:r>
              <a:rPr lang="en-US" sz="2800" dirty="0"/>
              <a:t>’.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705512" y="1358741"/>
            <a:ext cx="6871501" cy="4967010"/>
            <a:chOff x="2805003" y="1357590"/>
            <a:chExt cx="6871501" cy="496701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5004" y="1357590"/>
              <a:ext cx="6851230" cy="301008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5003" y="4429363"/>
              <a:ext cx="6871501" cy="18952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8098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21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31520" y="118795"/>
            <a:ext cx="11231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term of an equation can be moved from one side to the other </a:t>
            </a:r>
            <a:r>
              <a:rPr lang="en-US" sz="2800" b="1" dirty="0"/>
              <a:t>as long as a change in sign is made.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94" y="1072902"/>
            <a:ext cx="6400800" cy="561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263" y="1634877"/>
            <a:ext cx="65627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44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" y="216217"/>
            <a:ext cx="6343650" cy="847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22" y="1063941"/>
            <a:ext cx="6347823" cy="31424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459" y="3938786"/>
            <a:ext cx="61531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66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17301"/>
          <a:stretch/>
        </p:blipFill>
        <p:spPr>
          <a:xfrm>
            <a:off x="721042" y="173354"/>
            <a:ext cx="5594381" cy="59066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6918"/>
          <a:stretch/>
        </p:blipFill>
        <p:spPr>
          <a:xfrm>
            <a:off x="6315423" y="173353"/>
            <a:ext cx="5769954" cy="590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5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51749" y="0"/>
            <a:ext cx="498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How to do cross-multiplication ?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651748" y="576718"/>
            <a:ext cx="113421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When there is just one fraction on each side of the equation as in the following example, there is a quick way to arrive at equation, by dong cross multiplication.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" y="1961713"/>
            <a:ext cx="6615803" cy="888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869" y="2857480"/>
            <a:ext cx="6714547" cy="23698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940" y="5293914"/>
            <a:ext cx="6116476" cy="54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27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25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669" y="167639"/>
            <a:ext cx="6303731" cy="553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9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26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05553"/>
            <a:ext cx="5665340" cy="12756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698307"/>
            <a:ext cx="5665340" cy="39100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562" y="3481405"/>
            <a:ext cx="5609614" cy="297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47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564" y="214312"/>
            <a:ext cx="6830323" cy="51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07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564" y="450731"/>
            <a:ext cx="7372350" cy="496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63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617" y="200977"/>
            <a:ext cx="5675119" cy="603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12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" y="228600"/>
            <a:ext cx="5465975" cy="58369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842" y="228600"/>
            <a:ext cx="3016038" cy="58094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322" y="228600"/>
            <a:ext cx="2595495" cy="580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73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31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03056" y="0"/>
            <a:ext cx="104659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</a:rPr>
              <a:t>Practical problems involving simple equations</a:t>
            </a:r>
            <a:endParaRPr lang="en-US" sz="3600" dirty="0">
              <a:latin typeface="+mj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730" y="841057"/>
            <a:ext cx="6534150" cy="5114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64" y="2053590"/>
            <a:ext cx="4511842" cy="2381250"/>
          </a:xfrm>
          <a:prstGeom prst="rect">
            <a:avLst/>
          </a:prstGeom>
        </p:spPr>
      </p:pic>
      <p:sp>
        <p:nvSpPr>
          <p:cNvPr id="3" name="Multiply 2"/>
          <p:cNvSpPr/>
          <p:nvPr/>
        </p:nvSpPr>
        <p:spPr>
          <a:xfrm>
            <a:off x="10074442" y="224589"/>
            <a:ext cx="1347537" cy="117107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3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398" y="462914"/>
            <a:ext cx="7650727" cy="18665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222" y="2476500"/>
            <a:ext cx="7742903" cy="2857500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10780295" y="1251284"/>
            <a:ext cx="1042737" cy="122521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2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1" y="110489"/>
            <a:ext cx="11266975" cy="29054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019" y="5273880"/>
            <a:ext cx="6962516" cy="9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3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" y="110489"/>
            <a:ext cx="6971348" cy="17977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019" y="2042470"/>
            <a:ext cx="6549923" cy="3197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019" y="5273880"/>
            <a:ext cx="6962516" cy="9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7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5734-214C-4885-8D73-12429A96C170}" type="datetime1">
              <a:rPr lang="en-US" smtClean="0"/>
              <a:t>8/12/26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35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19" y="84572"/>
            <a:ext cx="10382408" cy="258785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961624" y="2808094"/>
            <a:ext cx="6429375" cy="3895725"/>
            <a:chOff x="1113472" y="2277050"/>
            <a:chExt cx="6429375" cy="38957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3472" y="2277050"/>
              <a:ext cx="6429375" cy="389572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1529" y="5870168"/>
              <a:ext cx="1285875" cy="295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064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36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164782"/>
            <a:ext cx="7348568" cy="183165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17245" y="2277050"/>
            <a:ext cx="6429375" cy="3895725"/>
            <a:chOff x="1113472" y="2277050"/>
            <a:chExt cx="6429375" cy="38957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3472" y="2277050"/>
              <a:ext cx="6429375" cy="389572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1529" y="5870168"/>
              <a:ext cx="1285875" cy="295275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20" y="2827308"/>
            <a:ext cx="45520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2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" y="109035"/>
            <a:ext cx="11228759" cy="46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48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" y="109036"/>
            <a:ext cx="5926995" cy="24488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994" y="2749657"/>
            <a:ext cx="5775033" cy="35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0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" y="148590"/>
            <a:ext cx="11241892" cy="355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55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" y="148590"/>
            <a:ext cx="6381750" cy="2019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279" y="2167890"/>
            <a:ext cx="5861976" cy="448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" y="145732"/>
            <a:ext cx="6263240" cy="21250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380" y="1187237"/>
            <a:ext cx="5005845" cy="526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0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Faculty of Technology , University of </a:t>
            </a:r>
            <a:r>
              <a:rPr lang="en-US" dirty="0" err="1"/>
              <a:t>Ruhuna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42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83920" y="160383"/>
            <a:ext cx="9601200" cy="685800"/>
          </a:xfrm>
        </p:spPr>
        <p:txBody>
          <a:bodyPr>
            <a:noAutofit/>
          </a:bodyPr>
          <a:lstStyle/>
          <a:p>
            <a:r>
              <a:rPr lang="en-US" sz="3600" b="1" dirty="0"/>
              <a:t>Homework </a:t>
            </a:r>
          </a:p>
        </p:txBody>
      </p:sp>
      <p:sp>
        <p:nvSpPr>
          <p:cNvPr id="8" name="Rectangle 7"/>
          <p:cNvSpPr/>
          <p:nvPr/>
        </p:nvSpPr>
        <p:spPr>
          <a:xfrm>
            <a:off x="944879" y="846183"/>
            <a:ext cx="109713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Practice Exercise 44 Practical problems involving simple equations (answers on page 344)</a:t>
            </a:r>
          </a:p>
          <a:p>
            <a:endParaRPr lang="en-US" sz="2800" b="1" dirty="0"/>
          </a:p>
          <a:p>
            <a:r>
              <a:rPr lang="en-US" sz="2800" b="1" dirty="0"/>
              <a:t>Practice Exercise 45 Practical problems involving simple equations (answers on page 344)</a:t>
            </a:r>
          </a:p>
          <a:p>
            <a:endParaRPr lang="en-US" sz="2800" b="1" dirty="0"/>
          </a:p>
        </p:txBody>
      </p:sp>
      <p:sp>
        <p:nvSpPr>
          <p:cNvPr id="9" name="WordArt 7"/>
          <p:cNvSpPr>
            <a:spLocks noChangeArrowheads="1" noChangeShapeType="1" noTextEdit="1"/>
          </p:cNvSpPr>
          <p:nvPr/>
        </p:nvSpPr>
        <p:spPr bwMode="auto">
          <a:xfrm>
            <a:off x="4043363" y="4241800"/>
            <a:ext cx="5557837" cy="15036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b="1" i="1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1">
                    <a:alpha val="72156"/>
                  </a:schemeClr>
                </a:solidFill>
                <a:effectLst>
                  <a:outerShdw dist="107763" dir="8100000" algn="ctr" rotWithShape="0">
                    <a:srgbClr val="808080">
                      <a:alpha val="50000"/>
                    </a:srgbClr>
                  </a:outerShdw>
                </a:effectLst>
                <a:latin typeface="Arial Black" panose="020B0A04020102020204" pitchFamily="34" charset="0"/>
              </a:rPr>
              <a:t>End  of  Lesson</a:t>
            </a:r>
          </a:p>
        </p:txBody>
      </p:sp>
    </p:spTree>
    <p:extLst>
      <p:ext uri="{BB962C8B-B14F-4D97-AF65-F5344CB8AC3E}">
        <p14:creationId xmlns:p14="http://schemas.microsoft.com/office/powerpoint/2010/main" val="414905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7405</TotalTime>
  <Words>795</Words>
  <Application>Microsoft Macintosh PowerPoint</Application>
  <PresentationFormat>Widescreen</PresentationFormat>
  <Paragraphs>136</Paragraphs>
  <Slides>42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Black</vt:lpstr>
      <vt:lpstr>Calibri</vt:lpstr>
      <vt:lpstr>Comic Sans MS</vt:lpstr>
      <vt:lpstr>Franklin Gothic Book</vt:lpstr>
      <vt:lpstr>Crop</vt:lpstr>
      <vt:lpstr>FOUNDATION OF METHEMATICS TMS 1113  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Factorization</vt:lpstr>
      <vt:lpstr>Factorization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equation is a statement that 2 expressions are equal. The symbol “=“ is read “is equal to” and divides the equation into 2 parts, the left member and the right member. In the equation  2x + 3 = 13,  2x + 3 is the left member and 13 is the right member.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Mathematics Lecture 1: Introduction</dc:title>
  <dc:creator>Dell</dc:creator>
  <cp:lastModifiedBy>My Mac</cp:lastModifiedBy>
  <cp:revision>291</cp:revision>
  <cp:lastPrinted>2017-02-26T17:26:28Z</cp:lastPrinted>
  <dcterms:created xsi:type="dcterms:W3CDTF">2016-12-16T10:04:16Z</dcterms:created>
  <dcterms:modified xsi:type="dcterms:W3CDTF">2026-08-12T23:40:02Z</dcterms:modified>
</cp:coreProperties>
</file>