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6" r:id="rId2"/>
    <p:sldId id="256" r:id="rId3"/>
    <p:sldId id="257" r:id="rId4"/>
    <p:sldId id="258" r:id="rId5"/>
    <p:sldId id="282" r:id="rId6"/>
    <p:sldId id="281" r:id="rId7"/>
    <p:sldId id="259" r:id="rId8"/>
    <p:sldId id="260" r:id="rId9"/>
    <p:sldId id="280" r:id="rId10"/>
    <p:sldId id="268" r:id="rId11"/>
    <p:sldId id="261" r:id="rId12"/>
    <p:sldId id="267" r:id="rId13"/>
    <p:sldId id="262" r:id="rId14"/>
    <p:sldId id="278" r:id="rId15"/>
    <p:sldId id="277" r:id="rId16"/>
    <p:sldId id="283" r:id="rId17"/>
    <p:sldId id="263" r:id="rId18"/>
    <p:sldId id="270" r:id="rId19"/>
    <p:sldId id="271" r:id="rId20"/>
    <p:sldId id="264" r:id="rId21"/>
    <p:sldId id="272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24"/>
  </p:normalViewPr>
  <p:slideViewPr>
    <p:cSldViewPr snapToGrid="0" snapToObjects="1">
      <p:cViewPr varScale="1">
        <p:scale>
          <a:sx n="90" d="100"/>
          <a:sy n="90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7D2F5-612D-47D9-96F4-64D5F8802D5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7D172-709C-4B25-8DBB-CF282EB0D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9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7D172-709C-4B25-8DBB-CF282EB0DF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7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C816-58DE-4990-A885-0EA6478942CF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F0B0B-F392-408C-A863-7655ED2C9A6D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45F7-2AA1-47E7-8C4F-EE5096269614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3085-1A95-45C0-8534-7A493A36E3BB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87FA2-225A-4BF0-BD6C-28F6440C7AD4}" type="datetime1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3C7EF-9582-460F-9C9C-5907779EE192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50B4-C584-4281-801C-4EC9CF3AEDA2}" type="datetime1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BDFB0-0D67-4A09-B32F-A853CED352EE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3E71-346A-478E-A58B-48F9591E2C42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B44A-E158-418D-A119-897557BEB64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3122-8E3B-4B78-BC97-7C65E2C8480E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545A1-0DC8-4168-ADD7-07EFF762C928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TMS1173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5300" dirty="0">
                <a:solidFill>
                  <a:schemeClr val="accent6">
                    <a:lumMod val="50000"/>
                  </a:schemeClr>
                </a:solidFill>
              </a:rPr>
              <a:t>Numbers</a:t>
            </a:r>
            <a:br>
              <a:rPr lang="en-US" dirty="0"/>
            </a:br>
            <a:r>
              <a:rPr lang="en-US" sz="3600" dirty="0"/>
              <a:t>TMS1113 :Foundation of Mathematics</a:t>
            </a:r>
          </a:p>
        </p:txBody>
      </p:sp>
    </p:spTree>
    <p:extLst>
      <p:ext uri="{BB962C8B-B14F-4D97-AF65-F5344CB8AC3E}">
        <p14:creationId xmlns:p14="http://schemas.microsoft.com/office/powerpoint/2010/main" val="161241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661987"/>
            <a:ext cx="7772400" cy="1470025"/>
          </a:xfrm>
        </p:spPr>
        <p:txBody>
          <a:bodyPr/>
          <a:lstStyle/>
          <a:p>
            <a:r>
              <a:rPr dirty="0"/>
              <a:t>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46275"/>
            <a:ext cx="8343900" cy="682626"/>
          </a:xfrm>
        </p:spPr>
        <p:txBody>
          <a:bodyPr/>
          <a:lstStyle/>
          <a:p>
            <a:r>
              <a:rPr dirty="0"/>
              <a:t>Understanding Different Types of Numbers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238" y="2613318"/>
            <a:ext cx="6643724" cy="3743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Numbers?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Numbers are mathematical objects used for counting, measuring, and labeling.</a:t>
            </a:r>
          </a:p>
          <a:p>
            <a:r>
              <a:rPr dirty="0"/>
              <a:t>Broadly categorized into </a:t>
            </a:r>
            <a:endParaRPr lang="en-US" dirty="0"/>
          </a:p>
          <a:p>
            <a:pPr lvl="1"/>
            <a:r>
              <a:rPr dirty="0"/>
              <a:t>natural numbers, </a:t>
            </a:r>
            <a:endParaRPr lang="en-US" dirty="0"/>
          </a:p>
          <a:p>
            <a:pPr lvl="1"/>
            <a:r>
              <a:rPr dirty="0"/>
              <a:t>integers, </a:t>
            </a:r>
            <a:endParaRPr lang="en-US" dirty="0"/>
          </a:p>
          <a:p>
            <a:pPr lvl="1"/>
            <a:r>
              <a:rPr dirty="0"/>
              <a:t>rational numbers, </a:t>
            </a:r>
            <a:endParaRPr lang="en-US" dirty="0"/>
          </a:p>
          <a:p>
            <a:pPr lvl="1"/>
            <a:r>
              <a:rPr dirty="0"/>
              <a:t>irrational numbers, and </a:t>
            </a:r>
            <a:endParaRPr lang="en-US" dirty="0"/>
          </a:p>
          <a:p>
            <a:pPr lvl="1"/>
            <a:r>
              <a:rPr dirty="0"/>
              <a:t>prime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Definition: Natural numbers (ℕ) are the counting numbers starting from 1: 1, 2, 3, 4, ...</a:t>
            </a:r>
          </a:p>
          <a:p>
            <a:r>
              <a:rPr dirty="0"/>
              <a:t>Examples: 1, 5, 10</a:t>
            </a:r>
            <a:r>
              <a:rPr lang="en-US" dirty="0"/>
              <a:t>8</a:t>
            </a:r>
            <a:r>
              <a:rPr dirty="0"/>
              <a:t>, 1000</a:t>
            </a:r>
          </a:p>
          <a:p>
            <a:r>
              <a:rPr dirty="0"/>
              <a:t>Properties: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- No fractions or decimals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No negative numbers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Do not include 0</a:t>
            </a:r>
          </a:p>
          <a:p>
            <a:pPr marL="0" indent="0">
              <a:buNone/>
            </a:pPr>
            <a:r>
              <a:rPr lang="pt-BR" dirty="0"/>
              <a:t>Set notation: N = {1, 2, 3, 4, 5, ...}</a:t>
            </a:r>
            <a:endParaRPr dirty="0"/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Exercise: Identify whether the following are natural numbers: -3, 0, 7, 21, 3.5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</a:t>
            </a:r>
            <a:r>
              <a:rPr dirty="0"/>
              <a:t>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Whole numbers are natural numbers plus zero.</a:t>
            </a:r>
          </a:p>
          <a:p>
            <a:r>
              <a:rPr dirty="0"/>
              <a:t>Examples: </a:t>
            </a:r>
            <a:r>
              <a:rPr lang="en-US" dirty="0"/>
              <a:t>0, 1, 2, 3, 4, 5, ...</a:t>
            </a:r>
          </a:p>
          <a:p>
            <a:r>
              <a:rPr dirty="0"/>
              <a:t>Properties: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- </a:t>
            </a:r>
            <a:r>
              <a:rPr lang="en-US" dirty="0"/>
              <a:t>Start from 0</a:t>
            </a:r>
          </a:p>
          <a:p>
            <a:pPr marL="0" indent="0">
              <a:buNone/>
            </a:pPr>
            <a:r>
              <a:rPr lang="en-US" dirty="0"/>
              <a:t>	- Includes all natural numbers</a:t>
            </a:r>
          </a:p>
          <a:p>
            <a:pPr marL="0" indent="0">
              <a:buNone/>
            </a:pPr>
            <a:r>
              <a:rPr lang="en-US" dirty="0"/>
              <a:t>	- No negative numbers, fractions, or decimals</a:t>
            </a:r>
          </a:p>
          <a:p>
            <a:pPr marL="0" indent="0">
              <a:buNone/>
            </a:pPr>
            <a:r>
              <a:rPr lang="pt-BR" dirty="0"/>
              <a:t>Set notation: </a:t>
            </a:r>
            <a:r>
              <a:rPr lang="pl-PL" dirty="0"/>
              <a:t>W = {0, 1, 2, 3, 4, ...}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Every natural number is a whole number,</a:t>
            </a:r>
            <a:br>
              <a:rPr lang="en-US" dirty="0"/>
            </a:br>
            <a:r>
              <a:rPr lang="en-US" dirty="0"/>
              <a:t>but not every whole number is a natural number (because 0 is not natural).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575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661987"/>
            <a:ext cx="7772400" cy="1470025"/>
          </a:xfrm>
        </p:spPr>
        <p:txBody>
          <a:bodyPr/>
          <a:lstStyle/>
          <a:p>
            <a:r>
              <a:rPr dirty="0"/>
              <a:t>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46275"/>
            <a:ext cx="8343900" cy="682626"/>
          </a:xfrm>
        </p:spPr>
        <p:txBody>
          <a:bodyPr/>
          <a:lstStyle/>
          <a:p>
            <a:r>
              <a:rPr dirty="0"/>
              <a:t>Understanding Different Types of Numbers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2613318"/>
            <a:ext cx="6019800" cy="339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50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1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Definition: Integers (ℤ) include all whole numbers, both positive and negative, and zero.</a:t>
            </a:r>
          </a:p>
          <a:p>
            <a:r>
              <a:rPr dirty="0"/>
              <a:t>Examples: ..., -3, -2, -1, 0, 1, 2, 3, ...</a:t>
            </a:r>
            <a:endParaRPr lang="en-US" dirty="0"/>
          </a:p>
          <a:p>
            <a:r>
              <a:rPr lang="pl-PL" dirty="0"/>
              <a:t>Z = {..., -3, -2, -1, 0, 1, 2, 3, ...}</a:t>
            </a:r>
            <a:endParaRPr dirty="0"/>
          </a:p>
          <a:p>
            <a:r>
              <a:rPr dirty="0"/>
              <a:t>Properties:</a:t>
            </a:r>
          </a:p>
          <a:p>
            <a:r>
              <a:rPr dirty="0"/>
              <a:t>  - Closed under addition, subtraction, and multiplication</a:t>
            </a:r>
            <a:r>
              <a:rPr lang="en-US" dirty="0"/>
              <a:t> [</a:t>
            </a:r>
            <a:r>
              <a:rPr lang="en-US" dirty="0" err="1"/>
              <a:t>eg</a:t>
            </a:r>
            <a:r>
              <a:rPr lang="en-US" dirty="0"/>
              <a:t>: 5 + (-3) = 2, -4 × 3 = -12]</a:t>
            </a:r>
            <a:endParaRPr dirty="0"/>
          </a:p>
          <a:p>
            <a:r>
              <a:rPr dirty="0"/>
              <a:t>  - Not closed under division</a:t>
            </a:r>
            <a:r>
              <a:rPr lang="en-US" dirty="0"/>
              <a:t> [</a:t>
            </a:r>
            <a:r>
              <a:rPr lang="en-US" dirty="0" err="1"/>
              <a:t>eg</a:t>
            </a:r>
            <a:r>
              <a:rPr lang="en-US" dirty="0"/>
              <a:t>: 5 ÷ 2 = 2.5 → not an integer]</a:t>
            </a:r>
            <a:endParaRPr dirty="0"/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Exercise: Determine which of these are integers: 7, -9, 0.5, -11, 4.3,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Definition: Rational numbers (ℚ) are numbers that can be expressed as a fraction p/q, where p and q are integers and q ≠ 0.</a:t>
            </a:r>
          </a:p>
          <a:p>
            <a:r>
              <a:rPr dirty="0"/>
              <a:t>Examples: 3/4, -2, 0.25, 0.333...</a:t>
            </a:r>
          </a:p>
          <a:p>
            <a:r>
              <a:rPr dirty="0"/>
              <a:t>Key Points:</a:t>
            </a:r>
          </a:p>
          <a:p>
            <a:r>
              <a:rPr dirty="0"/>
              <a:t>  - Every integer is a rational number (e.g., 5 = 5/1)</a:t>
            </a:r>
          </a:p>
          <a:p>
            <a:r>
              <a:rPr dirty="0"/>
              <a:t>  - Terminating and repeating decimals are rational numbers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Exercise: Write the following decimals as fractions: 0.5, -0.75, 1.2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C7EA-5E22-8674-3392-6C0F50C8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E498-09BC-FB4D-F84C-4670F61A2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Numerator and Denominator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18436-2E93-E7B5-FEEF-47027AA14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71"/>
          <a:stretch/>
        </p:blipFill>
        <p:spPr>
          <a:xfrm>
            <a:off x="1651469" y="2789695"/>
            <a:ext cx="5841062" cy="296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3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Write the following decimals as fractions: 0.5, -0.75, 1.2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0.5</a:t>
            </a:r>
          </a:p>
          <a:p>
            <a:pPr marL="0" indent="0">
              <a:buNone/>
            </a:pPr>
            <a:r>
              <a:rPr lang="en-US" dirty="0"/>
              <a:t>0.5 = 5/10 = 1/2</a:t>
            </a:r>
          </a:p>
          <a:p>
            <a:r>
              <a:rPr lang="en-US" dirty="0"/>
              <a:t>-0.75</a:t>
            </a:r>
          </a:p>
          <a:p>
            <a:pPr marL="0" indent="0">
              <a:buNone/>
            </a:pPr>
            <a:r>
              <a:rPr lang="en-US" dirty="0"/>
              <a:t>−0.75 = −75/100 = −3/4</a:t>
            </a:r>
          </a:p>
          <a:p>
            <a:r>
              <a:rPr lang="en-US" dirty="0"/>
              <a:t>1.2</a:t>
            </a:r>
          </a:p>
          <a:p>
            <a:pPr marL="0" indent="0">
              <a:buNone/>
            </a:pPr>
            <a:r>
              <a:rPr lang="en-US" dirty="0"/>
              <a:t>1.2 = 12/10 = 6/5​</a:t>
            </a:r>
          </a:p>
        </p:txBody>
      </p:sp>
    </p:spTree>
    <p:extLst>
      <p:ext uri="{BB962C8B-B14F-4D97-AF65-F5344CB8AC3E}">
        <p14:creationId xmlns:p14="http://schemas.microsoft.com/office/powerpoint/2010/main" val="79127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Irrational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Definition: Numbers that cannot be expressed as a fraction p/q.</a:t>
            </a:r>
          </a:p>
          <a:p>
            <a:r>
              <a:rPr dirty="0"/>
              <a:t>Examples: π, √2</a:t>
            </a:r>
          </a:p>
          <a:p>
            <a:r>
              <a:rPr dirty="0"/>
              <a:t>Key Points: Their decimal representation is non-terminating and non-repeating.</a:t>
            </a:r>
          </a:p>
          <a:p>
            <a:r>
              <a:rPr dirty="0">
                <a:solidFill>
                  <a:schemeClr val="accent6">
                    <a:lumMod val="50000"/>
                  </a:schemeClr>
                </a:solidFill>
              </a:rPr>
              <a:t>Exercise: Identify irrational numbers from the following: √4, π, √3, 0.333...,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Identify irrational numbers from the following: √4, π, √3, 0.333...,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√4 = 2 (a rational number because it can be written as 2/1)</a:t>
            </a:r>
          </a:p>
          <a:p>
            <a:r>
              <a:rPr lang="en-US" dirty="0"/>
              <a:t>π ≈ 3.141592653... (irrational because it never terminates or repeats) ✅</a:t>
            </a:r>
          </a:p>
          <a:p>
            <a:r>
              <a:rPr lang="en-US" dirty="0"/>
              <a:t>√3 ≈ 1.732... (irrational because it never terminates or repeats) ✅</a:t>
            </a:r>
          </a:p>
          <a:p>
            <a:r>
              <a:rPr lang="en-US" dirty="0"/>
              <a:t>0.333... = 1/3 (a rational number because it is a repeating decimal)</a:t>
            </a:r>
          </a:p>
          <a:p>
            <a:r>
              <a:rPr lang="en-US" dirty="0"/>
              <a:t>2 (a rational number because it can be written as 2/1)</a:t>
            </a:r>
          </a:p>
        </p:txBody>
      </p:sp>
    </p:spTree>
    <p:extLst>
      <p:ext uri="{BB962C8B-B14F-4D97-AF65-F5344CB8AC3E}">
        <p14:creationId xmlns:p14="http://schemas.microsoft.com/office/powerpoint/2010/main" val="286971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Prime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Definition: A prime number is a natural number greater than 1 that has no divisors other than 1 and itself.</a:t>
            </a:r>
          </a:p>
          <a:p>
            <a:r>
              <a:rPr dirty="0"/>
              <a:t>Examples: 2, 3, 5, 7, 11, 13</a:t>
            </a:r>
          </a:p>
          <a:p>
            <a:r>
              <a:rPr dirty="0"/>
              <a:t>Properties:</a:t>
            </a:r>
          </a:p>
          <a:p>
            <a:r>
              <a:rPr dirty="0"/>
              <a:t>  - 2 is the only even prime number</a:t>
            </a:r>
          </a:p>
          <a:p>
            <a:r>
              <a:rPr dirty="0"/>
              <a:t>  - All other prime numbers are odd</a:t>
            </a:r>
          </a:p>
          <a:p>
            <a:pPr marL="0" indent="0">
              <a:buNone/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Exercise:</a:t>
            </a:r>
          </a:p>
          <a:p>
            <a:pPr marL="0" indent="0">
              <a:buNone/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- Identify the prime numbers from: 12, 17, 23, 25, 31, 36</a:t>
            </a:r>
          </a:p>
          <a:p>
            <a:pPr marL="0" indent="0">
              <a:buNone/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- Find all prime numbers between 1 and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1CE1-E42E-4B52-A861-1B6DF005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Numbers</a:t>
            </a:r>
            <a:r>
              <a:rPr lang="en-US" sz="4400" b="1" dirty="0"/>
              <a:t> </a:t>
            </a:r>
            <a:r>
              <a:rPr lang="en-GB" sz="4400" dirty="0"/>
              <a:t>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D56AA-C268-7224-393F-9EC5A431A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45837" cy="4983162"/>
          </a:xfrm>
        </p:spPr>
        <p:txBody>
          <a:bodyPr>
            <a:normAutofit/>
          </a:bodyPr>
          <a:lstStyle/>
          <a:p>
            <a:r>
              <a:rPr lang="en-US" dirty="0"/>
              <a:t>Real numbers are all the numbers that can be represented on the number line</a:t>
            </a:r>
          </a:p>
          <a:p>
            <a:r>
              <a:rPr lang="en-US" dirty="0"/>
              <a:t>They include both rational and irrational numbers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:</a:t>
            </a:r>
          </a:p>
          <a:p>
            <a:r>
              <a:rPr lang="en-US" dirty="0"/>
              <a:t>Positive numbers, Negative numbers, Zero Fractions,</a:t>
            </a:r>
          </a:p>
          <a:p>
            <a:r>
              <a:rPr lang="en-US" dirty="0"/>
              <a:t>Decimals (both repeating and non-repeating), integers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326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AAC69-E116-2A8E-409F-B4C6625484CC}"/>
              </a:ext>
            </a:extLst>
          </p:cNvPr>
          <p:cNvSpPr txBox="1"/>
          <p:nvPr/>
        </p:nvSpPr>
        <p:spPr>
          <a:xfrm>
            <a:off x="3124200" y="478618"/>
            <a:ext cx="282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 Numbers </a:t>
            </a:r>
            <a:r>
              <a:rPr lang="en-GB" sz="2400" dirty="0"/>
              <a:t>ℝ</a:t>
            </a:r>
            <a:endParaRPr lang="en-GB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4F934-F990-2A55-26B6-38C7399E732D}"/>
              </a:ext>
            </a:extLst>
          </p:cNvPr>
          <p:cNvSpPr txBox="1"/>
          <p:nvPr/>
        </p:nvSpPr>
        <p:spPr>
          <a:xfrm>
            <a:off x="1587285" y="1552758"/>
            <a:ext cx="282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Rational Numbers </a:t>
            </a:r>
            <a:r>
              <a:rPr lang="en-GB" sz="2400" dirty="0"/>
              <a:t>ℚ</a:t>
            </a:r>
          </a:p>
          <a:p>
            <a:pPr algn="ctr"/>
            <a:r>
              <a:rPr lang="en-GB" sz="2400" b="1" dirty="0"/>
              <a:t>(p/q, q </a:t>
            </a:r>
            <a:r>
              <a:rPr lang="en-GB" sz="2400" b="1" dirty="0">
                <a:sym typeface="Symbol" panose="05050102010706020507" pitchFamily="18" charset="2"/>
              </a:rPr>
              <a:t> </a:t>
            </a:r>
            <a:r>
              <a:rPr lang="en-GB" sz="2400" b="1" dirty="0"/>
              <a:t>0)</a:t>
            </a:r>
            <a:r>
              <a:rPr lang="en-US" sz="2400" b="1" dirty="0"/>
              <a:t> 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E1AD1-7BB9-67BF-06DE-5C9622D6518A}"/>
              </a:ext>
            </a:extLst>
          </p:cNvPr>
          <p:cNvSpPr txBox="1"/>
          <p:nvPr/>
        </p:nvSpPr>
        <p:spPr>
          <a:xfrm>
            <a:off x="1916624" y="4469360"/>
            <a:ext cx="282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Finite Decimal</a:t>
            </a:r>
          </a:p>
          <a:p>
            <a:pPr algn="ctr"/>
            <a:r>
              <a:rPr lang="en-US" sz="2400" b="1" dirty="0"/>
              <a:t>3/4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91F57-7C82-96CC-134E-47EAE4549EEB}"/>
              </a:ext>
            </a:extLst>
          </p:cNvPr>
          <p:cNvSpPr txBox="1"/>
          <p:nvPr/>
        </p:nvSpPr>
        <p:spPr>
          <a:xfrm>
            <a:off x="3124200" y="3252191"/>
            <a:ext cx="282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Fractions</a:t>
            </a:r>
            <a:endParaRPr lang="en-GB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4A953-6E2E-728C-8013-7BDEC2DB9417}"/>
              </a:ext>
            </a:extLst>
          </p:cNvPr>
          <p:cNvSpPr txBox="1"/>
          <p:nvPr/>
        </p:nvSpPr>
        <p:spPr>
          <a:xfrm>
            <a:off x="176939" y="3156559"/>
            <a:ext cx="2820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Integers  </a:t>
            </a:r>
            <a:r>
              <a:rPr lang="en-GB" sz="2400" dirty="0"/>
              <a:t>ℤ</a:t>
            </a:r>
          </a:p>
          <a:p>
            <a:pPr algn="ctr"/>
            <a:r>
              <a:rPr lang="en-GB" sz="2400" b="1" dirty="0"/>
              <a:t>-1, 0, 1, 2,….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1E4E3C-7238-A877-D66B-FF0216DA1A4A}"/>
              </a:ext>
            </a:extLst>
          </p:cNvPr>
          <p:cNvSpPr txBox="1"/>
          <p:nvPr/>
        </p:nvSpPr>
        <p:spPr>
          <a:xfrm>
            <a:off x="4869699" y="1581343"/>
            <a:ext cx="282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Irrational Numbers</a:t>
            </a:r>
          </a:p>
          <a:p>
            <a:pPr algn="ctr"/>
            <a:r>
              <a:rPr lang="en-US" sz="2400" b="1" dirty="0"/>
              <a:t>(infinite decimal)</a:t>
            </a:r>
          </a:p>
          <a:p>
            <a:pPr algn="ctr"/>
            <a:r>
              <a:rPr lang="en-US" sz="2400" b="1" dirty="0"/>
              <a:t>√2 = 1.41421</a:t>
            </a:r>
          </a:p>
          <a:p>
            <a:pPr algn="ctr"/>
            <a:r>
              <a:rPr lang="en-US" sz="2400" b="1" dirty="0">
                <a:sym typeface="Symbol" panose="05050102010706020507" pitchFamily="18" charset="2"/>
              </a:rPr>
              <a:t>= 22/7 = 3.14159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B061B9-E3B0-13E9-67A1-6E0C81908D94}"/>
                  </a:ext>
                </a:extLst>
              </p:cNvPr>
              <p:cNvSpPr txBox="1"/>
              <p:nvPr/>
            </p:nvSpPr>
            <p:spPr>
              <a:xfrm>
                <a:off x="4795434" y="4469360"/>
                <a:ext cx="3277003" cy="1602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Recurring Decimal</a:t>
                </a:r>
              </a:p>
              <a:p>
                <a:pPr algn="ctr"/>
                <a:r>
                  <a:rPr lang="en-US" sz="2400" b="1" dirty="0"/>
                  <a:t>5/9=0.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acc>
                  </m:oMath>
                </a14:m>
                <a:endParaRPr lang="en-US" sz="2400" b="1" dirty="0"/>
              </a:p>
              <a:p>
                <a:pPr algn="ctr"/>
                <a:r>
                  <a:rPr lang="en-US" sz="2400" b="1" dirty="0"/>
                  <a:t>1/7= 0.142857142857...</a:t>
                </a:r>
              </a:p>
              <a:p>
                <a:pPr algn="ctr"/>
                <a:r>
                  <a:rPr lang="en-US" sz="2400" b="1" dirty="0"/>
                  <a:t>1/3=0.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B061B9-E3B0-13E9-67A1-6E0C81908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434" y="4469360"/>
                <a:ext cx="3277003" cy="1602298"/>
              </a:xfrm>
              <a:prstGeom prst="rect">
                <a:avLst/>
              </a:prstGeom>
              <a:blipFill>
                <a:blip r:embed="rId2"/>
                <a:stretch>
                  <a:fillRect l="-1158" t="-2344" r="-1158" b="-6250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C4703A-0DA1-C09C-F4CF-8D3575F550DE}"/>
              </a:ext>
            </a:extLst>
          </p:cNvPr>
          <p:cNvCxnSpPr/>
          <p:nvPr/>
        </p:nvCxnSpPr>
        <p:spPr>
          <a:xfrm flipH="1">
            <a:off x="3161654" y="878728"/>
            <a:ext cx="1246323" cy="6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944363-C749-8DD2-9189-FBC826C3C07C}"/>
              </a:ext>
            </a:extLst>
          </p:cNvPr>
          <p:cNvCxnSpPr>
            <a:cxnSpLocks/>
          </p:cNvCxnSpPr>
          <p:nvPr/>
        </p:nvCxnSpPr>
        <p:spPr>
          <a:xfrm>
            <a:off x="4534546" y="878728"/>
            <a:ext cx="1175289" cy="6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7C273E-3200-D13C-68ED-E5FEC613B0BE}"/>
              </a:ext>
            </a:extLst>
          </p:cNvPr>
          <p:cNvCxnSpPr/>
          <p:nvPr/>
        </p:nvCxnSpPr>
        <p:spPr>
          <a:xfrm flipH="1">
            <a:off x="1617634" y="2311247"/>
            <a:ext cx="1246323" cy="6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6DF2BF-9F5B-E468-D0F1-3ECACA58ADAB}"/>
              </a:ext>
            </a:extLst>
          </p:cNvPr>
          <p:cNvCxnSpPr>
            <a:cxnSpLocks/>
          </p:cNvCxnSpPr>
          <p:nvPr/>
        </p:nvCxnSpPr>
        <p:spPr>
          <a:xfrm>
            <a:off x="2990526" y="2311247"/>
            <a:ext cx="1060343" cy="752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83A36D-063C-6F67-4526-99AE19191838}"/>
              </a:ext>
            </a:extLst>
          </p:cNvPr>
          <p:cNvCxnSpPr/>
          <p:nvPr/>
        </p:nvCxnSpPr>
        <p:spPr>
          <a:xfrm flipH="1">
            <a:off x="3427708" y="3702904"/>
            <a:ext cx="1246323" cy="6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850EAA-BFDE-7AAA-BA52-EEADEA747D14}"/>
              </a:ext>
            </a:extLst>
          </p:cNvPr>
          <p:cNvCxnSpPr>
            <a:cxnSpLocks/>
          </p:cNvCxnSpPr>
          <p:nvPr/>
        </p:nvCxnSpPr>
        <p:spPr>
          <a:xfrm>
            <a:off x="4800600" y="3702904"/>
            <a:ext cx="1144292" cy="67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442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Value of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2308"/>
          <a:stretch/>
        </p:blipFill>
        <p:spPr>
          <a:xfrm>
            <a:off x="1371599" y="1757363"/>
            <a:ext cx="6291512" cy="35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5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Classify the following as natural, integer, rational, or irrational: -7, 0, 3.14, √5, 8</a:t>
            </a:r>
          </a:p>
          <a:p>
            <a:pPr marL="0" indent="0">
              <a:buNone/>
            </a:pPr>
            <a:r>
              <a:rPr dirty="0"/>
              <a:t>2. Write 0.333... as a fraction.</a:t>
            </a:r>
          </a:p>
          <a:p>
            <a:pPr marL="0" indent="0">
              <a:buNone/>
            </a:pPr>
            <a:r>
              <a:rPr dirty="0"/>
              <a:t>3. Find the next five prime numbers after 50.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39441"/>
            <a:ext cx="8613897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-7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(since it's a whole number, but negative)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(can be written as -7/1)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(whole number)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(can be written as 0/1)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3.14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(since it's a terminating decimal, it can be written as a fraction)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√5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Irrational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(since the square root of a non-perfect square is a non-repeating,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non-terminating decimal)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8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Natural 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(positive counting number)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(whole number)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(can be written as 8/1)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953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15448"/>
            <a:ext cx="8292160" cy="54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40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Natural Numbers: Counting numbers starting from 1</a:t>
            </a:r>
          </a:p>
          <a:p>
            <a:r>
              <a:rPr dirty="0"/>
              <a:t>Integers: Whole numbers including negatives</a:t>
            </a:r>
          </a:p>
          <a:p>
            <a:r>
              <a:rPr dirty="0"/>
              <a:t>Rational Numbers: Numbers expressed as p/q</a:t>
            </a:r>
          </a:p>
          <a:p>
            <a:r>
              <a:rPr dirty="0"/>
              <a:t>Irrational Numbers: Non-terminating, non-repeating decimals</a:t>
            </a:r>
          </a:p>
          <a:p>
            <a:r>
              <a:rPr dirty="0"/>
              <a:t>Prime Numbers: Natural numbers divisible by only 1 and itself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D169-FBB7-B822-AB3B-98ECC7BC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C343-933C-5633-AE17-9E5756CA1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(-8) + 5 = ? →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(-4) × 6 = ? →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(-3) × (-7) + 2 = ?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Arrange in ascending order: -2, 3, -8, 0, -5 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9757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011-678C-3E2B-D17C-87ADDCEB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88AA-0619-BA28-50D6-B675B06F7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 0.75 into a fraction.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Is 1.5 a rational number?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Express -5/8 as a decimal.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Simplify: 2/3 + 3/4 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79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5226</TotalTime>
  <Words>1101</Words>
  <Application>Microsoft Macintosh PowerPoint</Application>
  <PresentationFormat>On-screen Show (4:3)</PresentationFormat>
  <Paragraphs>141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 Math</vt:lpstr>
      <vt:lpstr>Office Theme</vt:lpstr>
      <vt:lpstr>Numbers TMS1113 :Foundation of Mathematics</vt:lpstr>
      <vt:lpstr>Numbers</vt:lpstr>
      <vt:lpstr>What Are Numbers?</vt:lpstr>
      <vt:lpstr>Natural Numbers</vt:lpstr>
      <vt:lpstr>Whole Numbers</vt:lpstr>
      <vt:lpstr>Numbers</vt:lpstr>
      <vt:lpstr>Integers</vt:lpstr>
      <vt:lpstr>Rational Numbers</vt:lpstr>
      <vt:lpstr>Fractions</vt:lpstr>
      <vt:lpstr>Write the following decimals as fractions: 0.5, -0.75, 1.2</vt:lpstr>
      <vt:lpstr>Irrational Numbers</vt:lpstr>
      <vt:lpstr>Identify irrational numbers from the following: √4, π, √3, 0.333..., 2</vt:lpstr>
      <vt:lpstr>Prime Numbers</vt:lpstr>
      <vt:lpstr>Real Numbers ℝ</vt:lpstr>
      <vt:lpstr>PowerPoint Presentation</vt:lpstr>
      <vt:lpstr>Place Value of Numbers</vt:lpstr>
      <vt:lpstr>Mixed Exercises</vt:lpstr>
      <vt:lpstr>PowerPoint Presentation</vt:lpstr>
      <vt:lpstr>PowerPoint Presentation</vt:lpstr>
      <vt:lpstr>Summary</vt:lpstr>
      <vt:lpstr>1. Integers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A Foundation of Mathematics</dc:title>
  <dc:subject/>
  <dc:creator>User</dc:creator>
  <cp:keywords/>
  <dc:description>generated using python-pptx</dc:description>
  <cp:lastModifiedBy>My Mac</cp:lastModifiedBy>
  <cp:revision>65</cp:revision>
  <dcterms:created xsi:type="dcterms:W3CDTF">2013-01-27T09:14:16Z</dcterms:created>
  <dcterms:modified xsi:type="dcterms:W3CDTF">2026-08-10T20:56:20Z</dcterms:modified>
  <cp:category/>
</cp:coreProperties>
</file>