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086"/>
  </p:normalViewPr>
  <p:slideViewPr>
    <p:cSldViewPr snapToGrid="0">
      <p:cViewPr varScale="1">
        <p:scale>
          <a:sx n="89" d="100"/>
          <a:sy n="89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0220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8802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7882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147055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27122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7589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4649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134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L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3387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1024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7173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2BB87E2-CC0C-D744-8A6E-E3059FF19A44}" type="datetimeFigureOut">
              <a:rPr lang="en-LK" smtClean="0"/>
              <a:t>2026-10-11</a:t>
            </a:fld>
            <a:endParaRPr lang="en-L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59819435-D485-CE4D-8295-31EE2916B626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75709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7124-0596-0197-DE25-B3932BC93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084" y="0"/>
            <a:ext cx="7315200" cy="3255264"/>
          </a:xfrm>
        </p:spPr>
        <p:txBody>
          <a:bodyPr>
            <a:noAutofit/>
          </a:bodyPr>
          <a:lstStyle/>
          <a:p>
            <a:r>
              <a:rPr lang="en-GB" sz="9600" dirty="0">
                <a:effectLst/>
                <a:latin typeface="TimesNewRomanPSMT"/>
              </a:rPr>
              <a:t>Trigonometry </a:t>
            </a:r>
            <a:endParaRPr lang="en-LK" sz="53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956FE-574F-9223-7220-60AAAD2C0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084" y="3602737"/>
            <a:ext cx="7315200" cy="914400"/>
          </a:xfrm>
        </p:spPr>
        <p:txBody>
          <a:bodyPr>
            <a:noAutofit/>
          </a:bodyPr>
          <a:lstStyle/>
          <a:p>
            <a:pPr algn="l"/>
            <a:r>
              <a:rPr lang="en-L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Parami Wattetenne</a:t>
            </a:r>
          </a:p>
          <a:p>
            <a:pPr algn="l"/>
            <a:r>
              <a:rPr lang="en-L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 (Probationary)</a:t>
            </a:r>
          </a:p>
          <a:p>
            <a:pPr algn="l"/>
            <a:r>
              <a:rPr lang="en-L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Multidisciplinary Studies</a:t>
            </a:r>
          </a:p>
          <a:p>
            <a:pPr algn="l"/>
            <a:r>
              <a:rPr lang="en-L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 </a:t>
            </a:r>
          </a:p>
          <a:p>
            <a:pPr algn="l"/>
            <a:r>
              <a:rPr lang="en-L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Ruhuna</a:t>
            </a:r>
            <a:endParaRPr lang="en-LK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CAE28-D8C2-9CD3-62FE-E9ED24C31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713" y="0"/>
            <a:ext cx="4358287" cy="325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7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132F-DD8F-0100-290B-CC38F196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</a:t>
            </a:r>
            <a:r>
              <a:rPr lang="en-GB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Trigonometry?</a:t>
            </a:r>
            <a:endParaRPr lang="en-L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8B2C-0029-152A-1A5F-3D35A4CFE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3600" b="1" dirty="0">
                <a:effectLst/>
                <a:latin typeface="Times" pitchFamily="2" charset="0"/>
              </a:rPr>
              <a:t>Trigonometry </a:t>
            </a:r>
            <a:r>
              <a:rPr lang="en-GB" sz="3600" dirty="0">
                <a:effectLst/>
                <a:latin typeface="Times" pitchFamily="2" charset="0"/>
              </a:rPr>
              <a:t>is the branch of mathematics that deals with the measurement of sides and angles of </a:t>
            </a:r>
            <a:r>
              <a:rPr lang="en-GB" sz="3600" dirty="0" err="1">
                <a:effectLst/>
                <a:latin typeface="Times" pitchFamily="2" charset="0"/>
              </a:rPr>
              <a:t>trian</a:t>
            </a:r>
            <a:r>
              <a:rPr lang="en-GB" sz="3600" dirty="0">
                <a:effectLst/>
                <a:latin typeface="Times" pitchFamily="2" charset="0"/>
              </a:rPr>
              <a:t>- </a:t>
            </a:r>
            <a:r>
              <a:rPr lang="en-GB" sz="3600" dirty="0" err="1">
                <a:effectLst/>
                <a:latin typeface="Times" pitchFamily="2" charset="0"/>
              </a:rPr>
              <a:t>gles</a:t>
            </a:r>
            <a:r>
              <a:rPr lang="en-GB" sz="3600" dirty="0">
                <a:effectLst/>
                <a:latin typeface="Times" pitchFamily="2" charset="0"/>
              </a:rPr>
              <a:t>, and their relationship with each other. There are many applications in engineering where knowledge of trigonometry is needed. </a:t>
            </a:r>
            <a:endParaRPr lang="en-GB" sz="3600" dirty="0"/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277775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CDA3-949A-DC82-CD83-EEE3DE47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theorem of Pythagoras </a:t>
            </a:r>
            <a:br>
              <a:rPr lang="en-GB" sz="3200" dirty="0"/>
            </a:br>
            <a:endParaRPr lang="en-LK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D28A-D8E6-3C56-C8F2-896D9EA78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sz="3600" dirty="0">
                    <a:solidFill>
                      <a:schemeClr val="tx1"/>
                    </a:solidFill>
                    <a:effectLst/>
                    <a:latin typeface="Times" pitchFamily="2" charset="0"/>
                  </a:rPr>
                  <a:t>The </a:t>
                </a:r>
                <a:r>
                  <a:rPr lang="en-GB" sz="3600" b="1" dirty="0">
                    <a:solidFill>
                      <a:schemeClr val="tx1"/>
                    </a:solidFill>
                    <a:effectLst/>
                    <a:latin typeface="Times" pitchFamily="2" charset="0"/>
                  </a:rPr>
                  <a:t>theorem of Pythagoras </a:t>
                </a:r>
                <a:r>
                  <a:rPr lang="en-GB" sz="3600" dirty="0">
                    <a:solidFill>
                      <a:schemeClr val="tx1"/>
                    </a:solidFill>
                    <a:effectLst/>
                    <a:latin typeface="Times" pitchFamily="2" charset="0"/>
                  </a:rPr>
                  <a:t>states: </a:t>
                </a:r>
                <a:endParaRPr lang="en-GB" sz="4000" dirty="0">
                  <a:solidFill>
                    <a:schemeClr val="tx1"/>
                  </a:solidFill>
                </a:endParaRPr>
              </a:p>
              <a:p>
                <a:r>
                  <a:rPr lang="en-GB" sz="3600" dirty="0">
                    <a:solidFill>
                      <a:schemeClr val="tx1"/>
                    </a:solidFill>
                    <a:effectLst/>
                    <a:latin typeface="Times" pitchFamily="2" charset="0"/>
                  </a:rPr>
                  <a:t>In any right-angle triangle, the square on the hypotenuse is equal to the sum of the squares on the other two sides.</a:t>
                </a:r>
              </a:p>
              <a:p>
                <a:pPr marL="0" indent="0">
                  <a:buNone/>
                </a:pPr>
                <a:r>
                  <a:rPr lang="en-GB" sz="3600" dirty="0">
                    <a:solidFill>
                      <a:schemeClr val="tx1"/>
                    </a:solidFill>
                    <a:effectLst/>
                    <a:latin typeface="Times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LK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LK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D28A-D8E6-3C56-C8F2-896D9EA78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00" r="-3293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F4813E1-71F3-7137-C7BE-723A5297F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004" y="4180419"/>
            <a:ext cx="3981446" cy="267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6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C6884-77C1-22A0-B61B-7D750C27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68CED-8621-FA72-2DED-472CDB475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4816" y="740476"/>
            <a:ext cx="5358664" cy="19370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ABDD2-B2C8-F4DF-A27A-074D91557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579" y="2917356"/>
            <a:ext cx="5896069" cy="25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9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1292-212D-2B41-5177-45E9F23F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ratios of acute angles </a:t>
            </a:r>
            <a:b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L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CC983C-7ED5-60F5-9036-A7446AAD5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0488" y="2693987"/>
            <a:ext cx="2171700" cy="14605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00FA1F-9F42-797B-82B8-CF4C09E1A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2" y="0"/>
            <a:ext cx="4572000" cy="657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CDF44C-589F-53B4-C744-DC1C8052E2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892"/>
          <a:stretch/>
        </p:blipFill>
        <p:spPr>
          <a:xfrm>
            <a:off x="7824281" y="0"/>
            <a:ext cx="4114800" cy="1289154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70C9157-9C23-9697-CD2D-F02EF0C8C4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724" b="-104"/>
          <a:stretch/>
        </p:blipFill>
        <p:spPr>
          <a:xfrm>
            <a:off x="0" y="4625324"/>
            <a:ext cx="4114800" cy="148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5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B07B-7A85-F577-378A-E7A8AAC7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ratios of acute angles</a:t>
            </a: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7DBB7E-AC34-471E-8416-6171E33C0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4724" b="-104"/>
          <a:stretch/>
        </p:blipFill>
        <p:spPr>
          <a:xfrm>
            <a:off x="3550197" y="381824"/>
            <a:ext cx="4114800" cy="14840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3C0E51-C744-59D2-56AE-1C941DDBA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1" y="719328"/>
            <a:ext cx="40767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9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15A3-BB98-5651-6C1E-63C92DBB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E8E0D-4604-529F-8A64-21A08F8EF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3950" y="119921"/>
            <a:ext cx="4490699" cy="35526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6338F-A590-0878-4CED-5303AB17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781" y="2524620"/>
            <a:ext cx="51943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F261-96D9-4B3E-EFC3-7172F737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Angles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AA1094-289A-20BF-E981-DB9377674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3649" y="0"/>
            <a:ext cx="6264613" cy="23195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EF6015-3014-4F23-2B81-8440F9F1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649" y="2195695"/>
            <a:ext cx="6264613" cy="2342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C9F9F-C546-57A3-803C-9BBCA1E2A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649" y="4414527"/>
            <a:ext cx="6264613" cy="225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0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1B36C-33BD-7B22-A95E-DD5AD563F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Exercise</a:t>
            </a:r>
            <a:br>
              <a:rPr lang="en-LK" dirty="0"/>
            </a:b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070716-B095-65F4-C390-F064DC890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1638" y="84502"/>
            <a:ext cx="4288364" cy="51212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515E02-A7E7-FFA2-66FB-2F8CE2FE9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37" y="3269316"/>
            <a:ext cx="4288364" cy="358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7AC3-B441-E7B8-29BA-9317A02F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 of any magnitude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B2EF-B7A8-9D14-FB73-0FEDCE7B6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533" y="734518"/>
            <a:ext cx="4180451" cy="3346479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The following figure shows rectangular axes </a:t>
            </a:r>
            <a:r>
              <a:rPr lang="en-GB" i="1" dirty="0">
                <a:solidFill>
                  <a:schemeClr val="tx1"/>
                </a:solidFill>
                <a:effectLst/>
                <a:latin typeface="Times" pitchFamily="2" charset="0"/>
              </a:rPr>
              <a:t>XX </a:t>
            </a:r>
            <a:r>
              <a:rPr lang="en-GB" dirty="0">
                <a:solidFill>
                  <a:schemeClr val="tx1"/>
                </a:solidFill>
                <a:effectLst/>
                <a:latin typeface="MTSYN"/>
              </a:rPr>
              <a:t>′ 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and </a:t>
            </a:r>
            <a:r>
              <a:rPr lang="en-GB" i="1" dirty="0">
                <a:solidFill>
                  <a:schemeClr val="tx1"/>
                </a:solidFill>
                <a:effectLst/>
                <a:latin typeface="Times" pitchFamily="2" charset="0"/>
              </a:rPr>
              <a:t>YY </a:t>
            </a:r>
            <a:r>
              <a:rPr lang="en-GB" dirty="0">
                <a:solidFill>
                  <a:schemeClr val="tx1"/>
                </a:solidFill>
                <a:effectLst/>
                <a:latin typeface="MTSYN"/>
              </a:rPr>
              <a:t>′ 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inter- </a:t>
            </a:r>
            <a:r>
              <a:rPr lang="en-GB" dirty="0" err="1">
                <a:solidFill>
                  <a:schemeClr val="tx1"/>
                </a:solidFill>
                <a:effectLst/>
                <a:latin typeface="Times" pitchFamily="2" charset="0"/>
              </a:rPr>
              <a:t>secting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 at origin 0. As with graphical work, measure- </a:t>
            </a:r>
            <a:r>
              <a:rPr lang="en-GB" dirty="0" err="1">
                <a:solidFill>
                  <a:schemeClr val="tx1"/>
                </a:solidFill>
                <a:effectLst/>
                <a:latin typeface="Times" pitchFamily="2" charset="0"/>
              </a:rPr>
              <a:t>ments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 made to the right and above 0 are positive, while those to the left and downwards are negative. Let 0</a:t>
            </a:r>
            <a:r>
              <a:rPr lang="en-GB" i="1" dirty="0">
                <a:solidFill>
                  <a:schemeClr val="tx1"/>
                </a:solidFill>
                <a:effectLst/>
                <a:latin typeface="Times" pitchFamily="2" charset="0"/>
              </a:rPr>
              <a:t>A 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be free to rotate about 0. By convention, when 0</a:t>
            </a:r>
            <a:r>
              <a:rPr lang="en-GB" i="1" dirty="0">
                <a:solidFill>
                  <a:schemeClr val="tx1"/>
                </a:solidFill>
                <a:effectLst/>
                <a:latin typeface="Times" pitchFamily="2" charset="0"/>
              </a:rPr>
              <a:t>A 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moves anticlockwise angular measurement is considered </a:t>
            </a:r>
            <a:r>
              <a:rPr lang="en-GB" dirty="0" err="1">
                <a:solidFill>
                  <a:schemeClr val="tx1"/>
                </a:solidFill>
                <a:effectLst/>
                <a:latin typeface="Times" pitchFamily="2" charset="0"/>
              </a:rPr>
              <a:t>pos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- </a:t>
            </a:r>
            <a:r>
              <a:rPr lang="en-GB" dirty="0" err="1">
                <a:solidFill>
                  <a:schemeClr val="tx1"/>
                </a:solidFill>
                <a:effectLst/>
                <a:latin typeface="Times" pitchFamily="2" charset="0"/>
              </a:rPr>
              <a:t>itive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, and vice versa. Let 0</a:t>
            </a:r>
            <a:r>
              <a:rPr lang="en-GB" i="1" dirty="0">
                <a:solidFill>
                  <a:schemeClr val="tx1"/>
                </a:solidFill>
                <a:effectLst/>
                <a:latin typeface="Times" pitchFamily="2" charset="0"/>
              </a:rPr>
              <a:t>A </a:t>
            </a:r>
            <a:r>
              <a:rPr lang="en-GB" dirty="0">
                <a:solidFill>
                  <a:schemeClr val="tx1"/>
                </a:solidFill>
                <a:effectLst/>
                <a:latin typeface="Times" pitchFamily="2" charset="0"/>
              </a:rPr>
              <a:t>be rotated anticlockwise </a:t>
            </a:r>
            <a:endParaRPr lang="en-GB" sz="2400" dirty="0">
              <a:solidFill>
                <a:schemeClr val="tx1"/>
              </a:solidFill>
            </a:endParaRPr>
          </a:p>
          <a:p>
            <a:endParaRPr lang="en-L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B29BF-6323-EBCE-7A0B-6A990D741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116" y="734518"/>
            <a:ext cx="3700738" cy="57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5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AAA5-5A5C-82C5-3F3C-765B4F151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 of any magnitude</a:t>
            </a:r>
            <a:endParaRPr lang="en-L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A6ECC-20A8-EEC7-0DC9-3F6723193C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l-GR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any angle in the first quadrant and left per- </a:t>
                </a:r>
                <a:r>
                  <a:rPr lang="en-GB" sz="240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pendicular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 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constructed to form the right-angled triangle 0</a:t>
                </a:r>
                <a:r>
                  <a:rPr lang="en-GB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 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Fig. 23.3. Since all three sides of the tri- angle are positive, the trigonometric ratios sine, cosine and tangent will all be positive in the first quadrant. (Note: 0</a:t>
                </a:r>
                <a:r>
                  <a:rPr lang="en-GB" sz="2400" i="1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GB" sz="24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always positive since it is the radius of a circle.) </a:t>
                </a:r>
                <a:endParaRPr lang="en-GB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LK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2A6ECC-20A8-EEC7-0DC9-3F6723193C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0C3A746-BC25-1199-7936-00E89CF2C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367" y="4669569"/>
            <a:ext cx="3975100" cy="116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4B9F2-7D8B-FDEF-94C2-F5A90F92A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918" y="4587256"/>
            <a:ext cx="38481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2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21E4-5426-A758-45F4-CAC460D6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Angles of any magnitude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4F940-3122-32A3-237D-4F27EFCA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436" y="0"/>
            <a:ext cx="7315200" cy="3736649"/>
          </a:xfrm>
        </p:spPr>
        <p:txBody>
          <a:bodyPr/>
          <a:lstStyle/>
          <a:p>
            <a:r>
              <a:rPr lang="en-GB" sz="2400" dirty="0">
                <a:solidFill>
                  <a:schemeClr val="tx1"/>
                </a:solidFill>
                <a:effectLst/>
                <a:latin typeface="Times" pitchFamily="2" charset="0"/>
              </a:rPr>
              <a:t>The above results are summarized in the following figure. </a:t>
            </a:r>
            <a:endParaRPr lang="en-GB" sz="2400" dirty="0">
              <a:solidFill>
                <a:schemeClr val="tx1"/>
              </a:solidFill>
            </a:endParaRPr>
          </a:p>
          <a:p>
            <a:r>
              <a:rPr lang="en-GB" sz="2400" dirty="0">
                <a:solidFill>
                  <a:schemeClr val="tx1"/>
                </a:solidFill>
                <a:effectLst/>
                <a:latin typeface="Times" pitchFamily="2" charset="0"/>
              </a:rPr>
              <a:t>The letters underlined spell the word </a:t>
            </a:r>
            <a:r>
              <a:rPr lang="en-GB" sz="2400" b="1" dirty="0">
                <a:solidFill>
                  <a:schemeClr val="tx1"/>
                </a:solidFill>
                <a:effectLst/>
                <a:latin typeface="Times" pitchFamily="2" charset="0"/>
              </a:rPr>
              <a:t>CAST</a:t>
            </a:r>
            <a:r>
              <a:rPr lang="en-GB" sz="2400" dirty="0">
                <a:solidFill>
                  <a:schemeClr val="tx1"/>
                </a:solidFill>
                <a:effectLst/>
                <a:latin typeface="Times" pitchFamily="2" charset="0"/>
              </a:rPr>
              <a:t> when starting in the fourth quadrant and moving in an anticlockwise direction. </a:t>
            </a:r>
            <a:endParaRPr lang="en-GB" sz="2400" dirty="0">
              <a:solidFill>
                <a:schemeClr val="tx1"/>
              </a:solidFill>
            </a:endParaRPr>
          </a:p>
          <a:p>
            <a:endParaRPr lang="en-L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8780A-563F-1149-3E5D-4E4C3771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236" y="2834703"/>
            <a:ext cx="4673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70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FF670-AE51-C8DE-DF7B-9FACD83C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Special Formulas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FCFED9-EEF1-946B-2AC8-1C95EA3F87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5848" y="1123837"/>
            <a:ext cx="6633834" cy="4601183"/>
          </a:xfrm>
        </p:spPr>
      </p:pic>
    </p:spTree>
    <p:extLst>
      <p:ext uri="{BB962C8B-B14F-4D97-AF65-F5344CB8AC3E}">
        <p14:creationId xmlns:p14="http://schemas.microsoft.com/office/powerpoint/2010/main" val="255101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C00B-1B38-CCCB-5E86-7C7FB440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effectLst/>
                <a:latin typeface="TimesNewRomanPSMT"/>
              </a:rPr>
              <a:t>Addition and </a:t>
            </a:r>
            <a:br>
              <a:rPr lang="en-GB" sz="3200" dirty="0">
                <a:effectLst/>
                <a:latin typeface="TimesNewRomanPSMT"/>
              </a:rPr>
            </a:br>
            <a:r>
              <a:rPr lang="en-GB" sz="3200" dirty="0">
                <a:effectLst/>
                <a:latin typeface="TimesNewRomanPSMT"/>
              </a:rPr>
              <a:t>subtraction formulas for Trigonometric functions</a:t>
            </a:r>
            <a:br>
              <a:rPr lang="en-GB" sz="1800" dirty="0">
                <a:effectLst/>
                <a:latin typeface="TimesNewRomanPSMT"/>
              </a:rPr>
            </a:br>
            <a:endParaRPr lang="en-L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643A3-4F0B-BD2E-4F4B-3646068F4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3619" y="1996005"/>
            <a:ext cx="7053454" cy="2856846"/>
          </a:xfrm>
        </p:spPr>
      </p:pic>
    </p:spTree>
    <p:extLst>
      <p:ext uri="{BB962C8B-B14F-4D97-AF65-F5344CB8AC3E}">
        <p14:creationId xmlns:p14="http://schemas.microsoft.com/office/powerpoint/2010/main" val="1028187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C5245C-958E-ECB1-B6C0-45E14D0520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sz="3200" dirty="0">
                    <a:effectLst/>
                    <a:latin typeface="TimesNewRomanPSMT"/>
                  </a:rPr>
                  <a:t>Trigonometric ratios of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GB" sz="32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3200" dirty="0">
                    <a:effectLst/>
                    <a:latin typeface="TimesNewRomanPSMT"/>
                  </a:rPr>
                  <a:t> </a:t>
                </a:r>
                <a:r>
                  <a:rPr lang="en-GB" sz="3200" dirty="0">
                    <a:effectLst/>
                    <a:latin typeface="TimesNewRomanPSMT"/>
                  </a:rPr>
                  <a:t>those of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3200" dirty="0">
                    <a:latin typeface="TimesNewRomanPSMT"/>
                  </a:rPr>
                  <a:t> </a:t>
                </a:r>
                <a:r>
                  <a:rPr lang="el-GR" sz="3200" dirty="0">
                    <a:effectLst/>
                    <a:latin typeface="TimesNewRomanPSMT"/>
                  </a:rPr>
                  <a:t>, </a:t>
                </a:r>
                <a:br>
                  <a:rPr lang="el-GR" dirty="0">
                    <a:effectLst/>
                  </a:rPr>
                </a:br>
                <a:endParaRPr lang="en-LK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C5245C-958E-ECB1-B6C0-45E14D052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128" r="-6838"/>
                </a:stretch>
              </a:blipFill>
            </p:spPr>
            <p:txBody>
              <a:bodyPr/>
              <a:lstStyle/>
              <a:p>
                <a:r>
                  <a:rPr lang="en-L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0FBA8D-18ED-DFCE-D858-491919537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3365" y="1123837"/>
            <a:ext cx="4458541" cy="3943411"/>
          </a:xfrm>
        </p:spPr>
      </p:pic>
    </p:spTree>
    <p:extLst>
      <p:ext uri="{BB962C8B-B14F-4D97-AF65-F5344CB8AC3E}">
        <p14:creationId xmlns:p14="http://schemas.microsoft.com/office/powerpoint/2010/main" val="409632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5B01-74CC-B1AF-2F49-82AC7896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effectLst/>
                <a:latin typeface="TimesNewRomanPSMT"/>
              </a:rPr>
              <a:t>Transformations of sums into products and products into sums.</a:t>
            </a:r>
            <a:br>
              <a:rPr lang="en-GB" sz="3200" dirty="0">
                <a:effectLst/>
              </a:rPr>
            </a:br>
            <a:endParaRPr lang="en-LK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BEC42-5DC9-E63D-B320-4F2F0B74C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0636" y="612396"/>
            <a:ext cx="5518244" cy="5633207"/>
          </a:xfrm>
        </p:spPr>
      </p:pic>
    </p:spTree>
    <p:extLst>
      <p:ext uri="{BB962C8B-B14F-4D97-AF65-F5344CB8AC3E}">
        <p14:creationId xmlns:p14="http://schemas.microsoft.com/office/powerpoint/2010/main" val="212683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44FE-A56C-6A1C-5ECF-E7DBCBC5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E10374-816A-5BDB-D099-2A471C1C6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5393" y="0"/>
            <a:ext cx="4266622" cy="337640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6EF62-6992-3757-81C3-9AF4D7922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34" y="2362179"/>
            <a:ext cx="4789066" cy="436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8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3DCB-42F2-C183-67CC-5E58FD42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0A6D15-356E-3A0A-83CB-06BDE05FA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3662" y="863600"/>
            <a:ext cx="6485352" cy="5121275"/>
          </a:xfrm>
        </p:spPr>
      </p:pic>
    </p:spTree>
    <p:extLst>
      <p:ext uri="{BB962C8B-B14F-4D97-AF65-F5344CB8AC3E}">
        <p14:creationId xmlns:p14="http://schemas.microsoft.com/office/powerpoint/2010/main" val="3401885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A579-ABEE-61BA-F5C8-FB4C924A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Questions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47F0C5-3B22-7A6C-362B-864092B4B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6188" y="490552"/>
            <a:ext cx="6573947" cy="5494324"/>
          </a:xfrm>
        </p:spPr>
      </p:pic>
    </p:spTree>
    <p:extLst>
      <p:ext uri="{BB962C8B-B14F-4D97-AF65-F5344CB8AC3E}">
        <p14:creationId xmlns:p14="http://schemas.microsoft.com/office/powerpoint/2010/main" val="361536775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{31EC48D9-A8BA-1E43-A621-67A09165F3C8}TF33bf62a3-bad2-4976-a928-3a391bc9172e862c2159-8631fac53b7e</Template>
  <TotalTime>1478</TotalTime>
  <Words>345</Words>
  <Application>Microsoft Macintosh PowerPoint</Application>
  <PresentationFormat>Widescreen</PresentationFormat>
  <Paragraphs>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Cambria Math</vt:lpstr>
      <vt:lpstr>Corbel</vt:lpstr>
      <vt:lpstr>MTSYN</vt:lpstr>
      <vt:lpstr>Times</vt:lpstr>
      <vt:lpstr>Times New Roman</vt:lpstr>
      <vt:lpstr>TimesNewRomanPSMT</vt:lpstr>
      <vt:lpstr>Wingdings 2</vt:lpstr>
      <vt:lpstr>Frame</vt:lpstr>
      <vt:lpstr>Trigonometry </vt:lpstr>
      <vt:lpstr>What is Trigonometry?</vt:lpstr>
      <vt:lpstr>The theorem of Pythagoras  </vt:lpstr>
      <vt:lpstr>Exercise</vt:lpstr>
      <vt:lpstr>Trigonometric ratios of acute angles  </vt:lpstr>
      <vt:lpstr>Trigonometric ratios of acute angles</vt:lpstr>
      <vt:lpstr>Exercise</vt:lpstr>
      <vt:lpstr>Special Angles</vt:lpstr>
      <vt:lpstr>Exercise </vt:lpstr>
      <vt:lpstr>Angles of any magnitude</vt:lpstr>
      <vt:lpstr>Angles of any magnitude</vt:lpstr>
      <vt:lpstr>Angles of any magnitude</vt:lpstr>
      <vt:lpstr>Special Formulas</vt:lpstr>
      <vt:lpstr>Addition and  subtraction formulas for Trigonometric functions </vt:lpstr>
      <vt:lpstr>Trigonometric ratios of 2θ those of θ ,  </vt:lpstr>
      <vt:lpstr>Transformations of sums into products and products into sums. </vt:lpstr>
      <vt:lpstr>Questions</vt:lpstr>
      <vt:lpstr>Questions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</dc:title>
  <dc:creator>My Mac</dc:creator>
  <cp:lastModifiedBy>My Mac</cp:lastModifiedBy>
  <cp:revision>8</cp:revision>
  <dcterms:created xsi:type="dcterms:W3CDTF">2026-10-09T22:16:56Z</dcterms:created>
  <dcterms:modified xsi:type="dcterms:W3CDTF">2026-10-11T22:01:44Z</dcterms:modified>
</cp:coreProperties>
</file>