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97" r:id="rId4"/>
    <p:sldId id="296" r:id="rId5"/>
    <p:sldId id="298" r:id="rId6"/>
    <p:sldId id="299" r:id="rId7"/>
    <p:sldId id="300" r:id="rId8"/>
    <p:sldId id="304" r:id="rId9"/>
    <p:sldId id="301" r:id="rId10"/>
    <p:sldId id="302" r:id="rId11"/>
    <p:sldId id="303" r:id="rId12"/>
    <p:sldId id="305" r:id="rId13"/>
    <p:sldId id="310" r:id="rId14"/>
    <p:sldId id="311" r:id="rId15"/>
    <p:sldId id="306" r:id="rId16"/>
    <p:sldId id="307" r:id="rId17"/>
    <p:sldId id="309" r:id="rId18"/>
    <p:sldId id="308" r:id="rId19"/>
    <p:sldId id="313" r:id="rId20"/>
    <p:sldId id="314" r:id="rId21"/>
    <p:sldId id="31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94624"/>
  </p:normalViewPr>
  <p:slideViewPr>
    <p:cSldViewPr snapToGrid="0">
      <p:cViewPr varScale="1">
        <p:scale>
          <a:sx n="90" d="100"/>
          <a:sy n="90" d="100"/>
        </p:scale>
        <p:origin x="9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8A7C5-A17B-44A9-9EAE-2B263C8FC13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3320C-C5D6-4CF7-A65A-78211D95B0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877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AE03F364-89B5-6419-47A3-A11303922E4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fld id="{B34F29E8-7698-48AE-9B97-1BC787627959}" type="slidenum">
              <a:rPr lang="en-US" altLang="en-US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099" name="Rectangle 1">
            <a:extLst>
              <a:ext uri="{FF2B5EF4-FFF2-40B4-BE49-F238E27FC236}">
                <a16:creationId xmlns:a16="http://schemas.microsoft.com/office/drawing/2014/main" id="{A22786F3-3E81-C5B0-1AC2-A006A6BF656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06675" y="914400"/>
            <a:ext cx="4387850" cy="24685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0159E1AB-C6F7-FBC8-4601-CD388E18068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60438" y="3521075"/>
            <a:ext cx="7680325" cy="287972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01" name="Text Box 3">
            <a:extLst>
              <a:ext uri="{FF2B5EF4-FFF2-40B4-BE49-F238E27FC236}">
                <a16:creationId xmlns:a16="http://schemas.microsoft.com/office/drawing/2014/main" id="{E146E9E4-0827-65B7-E1A5-1CB6F9FF1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6840" tIns="48240" rIns="96840" bIns="4824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D3E1D0E9-2E17-461F-9DA4-803F94392FDA}" type="slidenum">
              <a:rPr lang="en-US" altLang="en-US" sz="130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1</a:t>
            </a:fld>
            <a:endParaRPr lang="en-US" altLang="en-US" sz="13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692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AA888C1-0BF5-9F38-18C2-0E9A44F2028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fld id="{3125336D-77B9-4CD7-84ED-AC8320D4B855}" type="slidenum">
              <a:rPr lang="en-US" altLang="en-US">
                <a:solidFill>
                  <a:srgbClr val="000000"/>
                </a:solidFill>
              </a:rPr>
              <a:pPr>
                <a:buClrTx/>
                <a:buFontTx/>
                <a:buNone/>
              </a:pPr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147" name="Rectangle 1">
            <a:extLst>
              <a:ext uri="{FF2B5EF4-FFF2-40B4-BE49-F238E27FC236}">
                <a16:creationId xmlns:a16="http://schemas.microsoft.com/office/drawing/2014/main" id="{82098163-24C2-6F9D-1AED-9EC14ABE0DD2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06675" y="914400"/>
            <a:ext cx="4387850" cy="24685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021A46A9-EDDA-EE87-ED78-D3D42EF5FDF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60438" y="3521075"/>
            <a:ext cx="7680325" cy="2879725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149" name="Text Box 3">
            <a:extLst>
              <a:ext uri="{FF2B5EF4-FFF2-40B4-BE49-F238E27FC236}">
                <a16:creationId xmlns:a16="http://schemas.microsoft.com/office/drawing/2014/main" id="{40347952-0E07-100B-3727-FE4C1E00C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6840" tIns="48240" rIns="96840" bIns="4824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buClrTx/>
              <a:buFontTx/>
              <a:buNone/>
            </a:pPr>
            <a:fld id="{19583605-A6BE-4C06-B48B-8590C8BA4DB5}" type="slidenum">
              <a:rPr lang="en-US" altLang="en-US" sz="1300">
                <a:solidFill>
                  <a:srgbClr val="000000"/>
                </a:solidFill>
              </a:rPr>
              <a:pPr algn="r">
                <a:buClrTx/>
                <a:buFontTx/>
                <a:buNone/>
              </a:pPr>
              <a:t>2</a:t>
            </a:fld>
            <a:endParaRPr lang="en-US" altLang="en-US" sz="13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860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0AE8-A17E-472D-FEE6-2C9B649D1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49007-1337-44C5-981A-F2CBD7765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F1B1D-D9B6-39EA-3962-4D69DC561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45408-47C7-758D-CB90-A0EF4313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4F3D8-ECD3-E0F5-C5D7-40EE8603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804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BBB78-3A0B-1BB7-533D-E4DFF8F8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C1E8C-78B0-A69B-3B6B-15B1846F9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583FC-FCB7-A49D-E670-F7958D4D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E20C3-2826-AB0C-912D-520197D1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7E05E-CD9A-1F44-872B-E4B50F42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21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941C-8DCD-C145-D0A4-7E0AFC64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F09AE-246A-51EC-AC82-5ACAD60A1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7ECDE-985B-549A-4025-89AAC4221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B9C79-088E-AD78-EC96-DA9A058F2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61DFA-B885-1332-5528-5F8D2EBA4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635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DB2AC-5AF3-4DFA-BD4A-C7B5D779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00344-F34A-24A7-D3E0-7444D155F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C0525-87E4-B5C6-ACA2-F979D6C55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53BBA-AF79-75EB-B98C-C56889B8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CBF46-2742-1361-B914-F50939E4C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E98BF-C6BA-9E22-0095-1265B5AE4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3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6C04-7D74-3E70-BE67-23ED6B78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D3623-8D6C-9B22-4E88-CEB92911D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A8933-B254-6861-0024-CA6809B9F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FB6CE-9324-EE19-EBBB-6217FFC5F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CA483-7DFE-6DAD-6D28-291C24874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15699-4774-028D-6E77-1FC783B6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173CA-1CEE-30C2-C042-276A4C9E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61A02B-4779-94EC-D4D6-84CD059C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284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7110-F30E-9F6A-D709-04E0FD267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6A52C-A6D8-085A-659A-8BCCD8D4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52D11-5431-044C-CE41-69D11F68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0149F-97E3-A2ED-4E8B-9DDDA35C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426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25B1B-7E23-17DD-CF73-D71B0BE0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880C2-6EA0-9F11-22D7-7993BEFF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7003D-77C1-D77A-2375-736BC138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6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E713D-53D7-0ACB-3202-F295B0A1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FECAF-4309-D12E-A548-5CAACF8AE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F1657-52C9-A546-2F2E-DA94444B4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7D11C-6C05-0C58-43C5-F50474733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0FEDF-E3C2-2E62-84E7-299526F8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24D34-4D4E-A4E9-7995-BB02D47E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831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A6E5-2F57-C42D-6EDB-DDECFE990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FF87B6-2C14-5137-212E-B5164EC4D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EDDAB-6354-C76B-AAFB-9AC8F5C6C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41D7C-1451-9059-F146-E45BDAD5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BD54E-F1E2-AE09-D4FD-63869E7C0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23F93-BE56-55B8-96B8-9A25532C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99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BFFB7-3466-5F14-6043-FAD1E2E7D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81749-5D14-11A1-DC62-C58F75819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2A4B-16D0-A0A5-3C11-21005ED8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1A641-A01E-22A3-8516-C976BDC75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4625F-B61A-750D-4C84-CE32BA182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92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FEC49F-92F3-47DD-D990-1F2E0A3888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DDD0D-0383-ECFE-177D-369118194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2116C-C351-78EA-FD8E-F460A79B2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78660-038E-E82B-E163-72C729B5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2CFBA-C05D-420B-04C2-9C9989F69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201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0684" cy="11414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83C9CDD-4BFB-42C8-3866-DE3ED189647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05/18/22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FF97D7-5222-08AB-7ACD-1936DC38960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Faculty of Technology , University of Ruhuna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03F4C8-EA4D-2C7B-A310-2C1B65440AA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96E740-BEDC-4F7F-9197-EB9FCAE003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556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6C99F-6278-3F35-14E0-B6261340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11A90-BC93-7980-38B9-8C44DC629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EAAC2-0BBC-B0A3-5C1C-1FC661B15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0229B-824E-475F-BA85-205CE05A0741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0D7A7-4F28-891C-DBD1-C886F3B0D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E2962-8DED-5097-259D-50A2D83B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F2F00-D180-4187-8D0C-B47872F9B7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72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5">
            <a:extLst>
              <a:ext uri="{FF2B5EF4-FFF2-40B4-BE49-F238E27FC236}">
                <a16:creationId xmlns:a16="http://schemas.microsoft.com/office/drawing/2014/main" id="{5A3F04D6-7EEB-63BF-6A70-379B3F06A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1383" y="1387475"/>
            <a:ext cx="8839200" cy="1955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900" b="1" dirty="0">
                <a:solidFill>
                  <a:srgbClr val="000000"/>
                </a:solidFill>
              </a:rPr>
              <a:t>QUADRATIC EQUATIONS</a:t>
            </a:r>
          </a:p>
          <a:p>
            <a:pPr algn="ctr">
              <a:buClrTx/>
              <a:buFontTx/>
              <a:buNone/>
            </a:pPr>
            <a:endParaRPr lang="en-US" altLang="en-US" sz="2900" b="1" dirty="0">
              <a:solidFill>
                <a:srgbClr val="000000"/>
              </a:solidFill>
            </a:endParaRPr>
          </a:p>
          <a:p>
            <a:pPr algn="ctr"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TMS 1113 </a:t>
            </a:r>
            <a:r>
              <a:rPr lang="en-US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Foundation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Mathematics</a:t>
            </a:r>
          </a:p>
        </p:txBody>
      </p:sp>
      <p:sp>
        <p:nvSpPr>
          <p:cNvPr id="3079" name="Text Box 9">
            <a:extLst>
              <a:ext uri="{FF2B5EF4-FFF2-40B4-BE49-F238E27FC236}">
                <a16:creationId xmlns:a16="http://schemas.microsoft.com/office/drawing/2014/main" id="{C171C3D8-042F-04F4-7DFC-F6D4320D0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5DC3955-5607-4EEB-867D-56D4AA376C43}" type="slidenum">
              <a:rPr lang="en-US" altLang="en-US" sz="14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109EA-B248-8CF8-D357-ECFA19071D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Faculty of Technology , University of Ruhuna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76340AA5-9718-E289-A669-7425E08F4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135" y="1113538"/>
            <a:ext cx="3490912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lnSpc>
                <a:spcPct val="80000"/>
              </a:lnSpc>
              <a:buClrTx/>
              <a:buFontTx/>
              <a:buNone/>
            </a:pPr>
            <a:r>
              <a:rPr lang="en-US" alt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5124" name="Picture 6">
            <a:extLst>
              <a:ext uri="{FF2B5EF4-FFF2-40B4-BE49-F238E27FC236}">
                <a16:creationId xmlns:a16="http://schemas.microsoft.com/office/drawing/2014/main" id="{1BAB4391-6E26-8920-914D-52A8E6AE3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315" y="742089"/>
            <a:ext cx="7620000" cy="598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5" name="Text Box 7">
            <a:extLst>
              <a:ext uri="{FF2B5EF4-FFF2-40B4-BE49-F238E27FC236}">
                <a16:creationId xmlns:a16="http://schemas.microsoft.com/office/drawing/2014/main" id="{76FD697D-324F-FF4E-D844-378C5DD09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474970"/>
            <a:ext cx="20574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FFFFFF"/>
                </a:solidFill>
                <a:latin typeface="Comic Sans MS" panose="030F0702030302020204" pitchFamily="66" charset="0"/>
              </a:rPr>
              <a:t>Objectives</a:t>
            </a:r>
          </a:p>
        </p:txBody>
      </p:sp>
      <p:sp>
        <p:nvSpPr>
          <p:cNvPr id="5132" name="Rectangle 10">
            <a:extLst>
              <a:ext uri="{FF2B5EF4-FFF2-40B4-BE49-F238E27FC236}">
                <a16:creationId xmlns:a16="http://schemas.microsoft.com/office/drawing/2014/main" id="{6A3FD201-FCDA-4D88-8895-A084DB94C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7688" y="4840289"/>
            <a:ext cx="1909763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800" tIns="10800" rIns="10800" bIns="10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600">
                <a:solidFill>
                  <a:srgbClr val="FFFFFF"/>
                </a:solidFill>
              </a:rPr>
              <a:t>Solving by the Quadratic Formula</a:t>
            </a:r>
          </a:p>
        </p:txBody>
      </p:sp>
      <p:sp>
        <p:nvSpPr>
          <p:cNvPr id="5130" name="Text Box 14">
            <a:extLst>
              <a:ext uri="{FF2B5EF4-FFF2-40B4-BE49-F238E27FC236}">
                <a16:creationId xmlns:a16="http://schemas.microsoft.com/office/drawing/2014/main" id="{1BE13B9D-3D11-5B33-3456-43178AB39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C0F9FD2-4127-497B-87BC-69B5A7D18D7C}" type="slidenum">
              <a:rPr lang="en-US" altLang="en-US" sz="14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</a:t>
            </a:fld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E7FA64-FB6A-CEE5-5E8A-64685FEB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Faculty of Technology , University of Ruhuna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EFD6-C7A9-BC47-9F65-54787AB6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Algebraic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0909D-E482-EABF-D545-3D80F1047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2xy </a:t>
            </a:r>
            <a:r>
              <a:rPr lang="en-US" dirty="0"/>
              <a:t>is formed by the product of 2, x and y. Therefore, 2, x and y are all factors of 2xy</a:t>
            </a:r>
          </a:p>
          <a:p>
            <a:r>
              <a:rPr lang="en-US" dirty="0"/>
              <a:t>2x + 2y is a binomial expression (two terms separated by a + or - sign)</a:t>
            </a:r>
          </a:p>
          <a:p>
            <a:r>
              <a:rPr lang="en-US" dirty="0"/>
              <a:t>It is the sum of two algebraic terms. </a:t>
            </a:r>
          </a:p>
          <a:p>
            <a:r>
              <a:rPr lang="en-US" dirty="0"/>
              <a:t>2 and x are factors of 2x</a:t>
            </a:r>
          </a:p>
          <a:p>
            <a:r>
              <a:rPr lang="en-US" dirty="0"/>
              <a:t>2 and y are factors of 2y. Accordingly, 2 is a factor of both the terms 2x and 2y</a:t>
            </a:r>
          </a:p>
          <a:p>
            <a:r>
              <a:rPr lang="en-US" dirty="0"/>
              <a:t>2x + 2y can be written as 2 (x + y) by factoring out the common factor 2</a:t>
            </a:r>
          </a:p>
          <a:p>
            <a:r>
              <a:rPr lang="es-ES" dirty="0"/>
              <a:t>2x + 2y = 2 (x + y)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351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8292D-EB7D-6815-C480-A1CE90FD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2x + 2y = 2(</a:t>
            </a:r>
            <a:r>
              <a:rPr lang="en-GB" dirty="0" err="1"/>
              <a:t>x+y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1445-A66A-4CF8-702B-4AF52E66C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and x + y are factors of 2x + 2y</a:t>
            </a:r>
          </a:p>
          <a:p>
            <a:endParaRPr lang="en-US" dirty="0"/>
          </a:p>
          <a:p>
            <a:r>
              <a:rPr lang="en-GB" dirty="0"/>
              <a:t>Factors of : </a:t>
            </a:r>
            <a:r>
              <a:rPr lang="en-GB" dirty="0" err="1"/>
              <a:t>xy</a:t>
            </a:r>
            <a:r>
              <a:rPr lang="en-GB" dirty="0"/>
              <a:t> + 5xz</a:t>
            </a:r>
          </a:p>
          <a:p>
            <a:r>
              <a:rPr lang="en-GB" dirty="0" err="1"/>
              <a:t>xy</a:t>
            </a:r>
            <a:r>
              <a:rPr lang="en-GB" dirty="0"/>
              <a:t> + 5xz </a:t>
            </a:r>
            <a:r>
              <a:rPr lang="en-US" dirty="0"/>
              <a:t>= x(y + 5z), x and y + 5z are factors of it</a:t>
            </a:r>
          </a:p>
          <a:p>
            <a:pPr marL="0" indent="0">
              <a:buNone/>
            </a:pPr>
            <a:r>
              <a:rPr lang="en-US" dirty="0"/>
              <a:t>Ex: 	1.  </a:t>
            </a:r>
            <a:r>
              <a:rPr lang="es-ES" dirty="0"/>
              <a:t>3x + 12  </a:t>
            </a:r>
          </a:p>
          <a:p>
            <a:pPr marL="0" indent="0">
              <a:buNone/>
            </a:pPr>
            <a:r>
              <a:rPr lang="es-ES" dirty="0"/>
              <a:t>	2. 6a + 12b –18 </a:t>
            </a:r>
          </a:p>
          <a:p>
            <a:pPr marL="0" indent="0">
              <a:buNone/>
            </a:pPr>
            <a:r>
              <a:rPr lang="es-ES" dirty="0"/>
              <a:t>	3. – 2x – 6y </a:t>
            </a:r>
          </a:p>
          <a:p>
            <a:pPr marL="0" indent="0">
              <a:buNone/>
            </a:pPr>
            <a:r>
              <a:rPr lang="es-ES" dirty="0"/>
              <a:t>	4. 3x – 6xy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7596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E9D1C-280E-61F6-D59A-522967D2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9375-4551-605C-018C-62E1B6EC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2x + 2y = 2(</a:t>
            </a:r>
            <a:r>
              <a:rPr lang="en-GB" dirty="0" err="1"/>
              <a:t>x+y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E516-1DE6-4DC9-E664-5E085B81F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and x + y are factors of 2x + 2y</a:t>
            </a:r>
          </a:p>
          <a:p>
            <a:endParaRPr lang="en-US" dirty="0"/>
          </a:p>
          <a:p>
            <a:r>
              <a:rPr lang="en-GB" dirty="0"/>
              <a:t>Factors of : </a:t>
            </a:r>
            <a:r>
              <a:rPr lang="en-GB" dirty="0" err="1"/>
              <a:t>xy</a:t>
            </a:r>
            <a:r>
              <a:rPr lang="en-GB" dirty="0"/>
              <a:t> + 5xz</a:t>
            </a:r>
          </a:p>
          <a:p>
            <a:r>
              <a:rPr lang="en-GB" dirty="0" err="1"/>
              <a:t>xy</a:t>
            </a:r>
            <a:r>
              <a:rPr lang="en-GB" dirty="0"/>
              <a:t> + 5xz </a:t>
            </a:r>
            <a:r>
              <a:rPr lang="en-US" dirty="0"/>
              <a:t>= x(y + 5z), x and y + 5z are factors of it</a:t>
            </a:r>
          </a:p>
          <a:p>
            <a:r>
              <a:rPr lang="en-US" dirty="0"/>
              <a:t>Ex: 	1.  </a:t>
            </a:r>
            <a:r>
              <a:rPr lang="es-ES" dirty="0"/>
              <a:t>3x + 12 = 3 (x + 4) </a:t>
            </a:r>
          </a:p>
          <a:p>
            <a:pPr marL="0" indent="0">
              <a:buNone/>
            </a:pPr>
            <a:r>
              <a:rPr lang="es-ES" dirty="0"/>
              <a:t>	2. 6a + 12b –18 = 6 (a + 2b – 3) </a:t>
            </a:r>
          </a:p>
          <a:p>
            <a:pPr marL="0" indent="0">
              <a:buNone/>
            </a:pPr>
            <a:r>
              <a:rPr lang="es-ES" dirty="0"/>
              <a:t>	3. – 2x – 6y = –2 (x + 3y) </a:t>
            </a:r>
          </a:p>
          <a:p>
            <a:pPr marL="0" indent="0">
              <a:buNone/>
            </a:pPr>
            <a:r>
              <a:rPr lang="es-ES" dirty="0"/>
              <a:t>	4. 3x – 6xy = 3x (1 – 2y)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1958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1349-69F7-8E9C-2167-AD065CF7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DE5C2-01ED-E799-DC98-E85C3AFAB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8C98A-2580-13E0-A7A8-1FC02F084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516" y="1825625"/>
            <a:ext cx="4933284" cy="17234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3E4D9E-A339-7C3A-62FF-41E66D0FF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538" y="4303242"/>
            <a:ext cx="4757622" cy="18737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234143-A4B6-2DE4-9721-C1F01F7B9F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381"/>
          <a:stretch/>
        </p:blipFill>
        <p:spPr>
          <a:xfrm>
            <a:off x="838200" y="1816288"/>
            <a:ext cx="4933284" cy="941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B87D54-AE9D-5438-3ACA-297F2722ED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760"/>
          <a:stretch/>
        </p:blipFill>
        <p:spPr>
          <a:xfrm>
            <a:off x="838200" y="4312580"/>
            <a:ext cx="4757622" cy="94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5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18FDD2-9ECE-BFDE-05D2-5923EE80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Factorize each of the following algebraic expressions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6079E3-D09C-4856-ECA1-228D02FC8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 err="1">
                <a:latin typeface="Comic Sans MS" panose="030F0702030302020204" pitchFamily="66" charset="0"/>
              </a:rPr>
              <a:t>ax</a:t>
            </a:r>
            <a:r>
              <a:rPr lang="en-GB" dirty="0">
                <a:latin typeface="Comic Sans MS" panose="030F0702030302020204" pitchFamily="66" charset="0"/>
              </a:rPr>
              <a:t> + ay + 3x + 3y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omic Sans MS" panose="030F0702030302020204" pitchFamily="66" charset="0"/>
              </a:rPr>
              <a:t>2a – 8a + 2a – 16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Comic Sans MS" panose="030F0702030302020204" pitchFamily="66" charset="0"/>
              </a:rPr>
              <a:t>2y – 7y – 2y + 14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>
                <a:latin typeface="Comic Sans MS" panose="030F0702030302020204" pitchFamily="66" charset="0"/>
              </a:rPr>
              <a:t>ax</a:t>
            </a:r>
            <a:r>
              <a:rPr lang="en-GB" dirty="0">
                <a:latin typeface="Comic Sans MS" panose="030F0702030302020204" pitchFamily="66" charset="0"/>
              </a:rPr>
              <a:t> – a – x + 1 </a:t>
            </a:r>
          </a:p>
        </p:txBody>
      </p:sp>
    </p:spTree>
    <p:extLst>
      <p:ext uri="{BB962C8B-B14F-4D97-AF65-F5344CB8AC3E}">
        <p14:creationId xmlns:p14="http://schemas.microsoft.com/office/powerpoint/2010/main" val="1984924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C657-8B18-467E-5AA8-18D409320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Quadratic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CE9D5-0118-738D-1F16-65CECA598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Equation: 𝑎𝑥</a:t>
            </a:r>
            <a:r>
              <a:rPr lang="en-GB" baseline="30000" dirty="0"/>
              <a:t>2</a:t>
            </a:r>
            <a:r>
              <a:rPr lang="en-GB" dirty="0"/>
              <a:t>+𝑏𝑥+𝑐=0 </a:t>
            </a:r>
            <a:r>
              <a:rPr lang="en-US" dirty="0"/>
              <a:t>where a ≠ 0.</a:t>
            </a:r>
            <a:endParaRPr lang="en-GB" dirty="0"/>
          </a:p>
          <a:p>
            <a:r>
              <a:rPr lang="en-GB" dirty="0"/>
              <a:t>Key components:</a:t>
            </a:r>
          </a:p>
          <a:p>
            <a:pPr marL="457200" lvl="1" indent="0">
              <a:buNone/>
            </a:pPr>
            <a:r>
              <a:rPr lang="en-GB" sz="2800" dirty="0"/>
              <a:t>𝑎 → Quadratic coefficient </a:t>
            </a:r>
          </a:p>
          <a:p>
            <a:pPr marL="457200" lvl="1" indent="0">
              <a:buNone/>
            </a:pPr>
            <a:r>
              <a:rPr lang="en-GB" sz="2800" dirty="0"/>
              <a:t>𝑏 → Linear coefficient</a:t>
            </a:r>
          </a:p>
          <a:p>
            <a:pPr marL="457200" lvl="1" indent="0">
              <a:buNone/>
            </a:pPr>
            <a:r>
              <a:rPr lang="en-GB" sz="2800" dirty="0"/>
              <a:t>𝑐 → Constant term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2E747-78C5-916A-FC9D-1F39F0BF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965" y="0"/>
            <a:ext cx="4760858" cy="1624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CB6616-A072-505B-B998-535EA6FB0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965" y="1223839"/>
            <a:ext cx="5404375" cy="1843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DCE600-BB61-80D7-27B1-74A17B28B43C}"/>
              </a:ext>
            </a:extLst>
          </p:cNvPr>
          <p:cNvSpPr txBox="1"/>
          <p:nvPr/>
        </p:nvSpPr>
        <p:spPr>
          <a:xfrm>
            <a:off x="972518" y="4297337"/>
            <a:ext cx="43898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x² + 5x + 63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5x² - 7x + 2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x² - 4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5DEFF8-8702-8C17-ACE0-460189101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986" y="2904439"/>
            <a:ext cx="4424383" cy="12725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40EEAB-F515-6347-AF06-19FFC4420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3823" y="4428853"/>
            <a:ext cx="3372481" cy="190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83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C202-2C7A-5EEE-A087-A35AF961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Quadratic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CF9B3-FF16-7AA2-2773-3A309879A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Product of the two algebraic expressions (x + 3) and (x + 4)</a:t>
            </a:r>
          </a:p>
          <a:p>
            <a:pPr marL="0" indent="0">
              <a:buNone/>
            </a:pPr>
            <a:r>
              <a:rPr lang="en-GB" dirty="0"/>
              <a:t>(x + 3) (x + 4) = x (x + 4) + 3 (x + 4)</a:t>
            </a:r>
          </a:p>
          <a:p>
            <a:pPr marL="0" indent="0">
              <a:buNone/>
            </a:pPr>
            <a:r>
              <a:rPr lang="en-GB" dirty="0"/>
              <a:t> = x</a:t>
            </a:r>
            <a:r>
              <a:rPr lang="en-GB" baseline="30000" dirty="0"/>
              <a:t>2</a:t>
            </a:r>
            <a:r>
              <a:rPr lang="en-GB" dirty="0"/>
              <a:t> + 4x + 3x + 12</a:t>
            </a:r>
          </a:p>
          <a:p>
            <a:pPr marL="0" indent="0">
              <a:buNone/>
            </a:pPr>
            <a:r>
              <a:rPr lang="en-GB" dirty="0"/>
              <a:t> = x</a:t>
            </a:r>
            <a:r>
              <a:rPr lang="en-GB" baseline="30000" dirty="0"/>
              <a:t>2</a:t>
            </a:r>
            <a:r>
              <a:rPr lang="en-GB" dirty="0"/>
              <a:t> + 7x + 12</a:t>
            </a:r>
          </a:p>
          <a:p>
            <a:pPr marL="0" indent="0">
              <a:buNone/>
            </a:pPr>
            <a:r>
              <a:rPr lang="en-GB" dirty="0"/>
              <a:t>Therefore, </a:t>
            </a:r>
          </a:p>
          <a:p>
            <a:pPr marL="0" indent="0">
              <a:buNone/>
            </a:pPr>
            <a:r>
              <a:rPr lang="en-US" dirty="0"/>
              <a:t>(x + 3) and (x + 4) are factors of x</a:t>
            </a:r>
            <a:r>
              <a:rPr lang="en-US" baseline="30000" dirty="0"/>
              <a:t>2</a:t>
            </a:r>
            <a:r>
              <a:rPr lang="en-US" dirty="0"/>
              <a:t> + 7x + 12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292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81B1-D5DA-302D-4B63-2EDD13CF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Solving Quadratic Equations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8D5FA-1C86-8F67-5EE5-F93B0AE84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Factoring</a:t>
            </a:r>
          </a:p>
          <a:p>
            <a:r>
              <a:rPr lang="en-US" dirty="0"/>
              <a:t>Completing the square</a:t>
            </a:r>
          </a:p>
          <a:p>
            <a:r>
              <a:rPr lang="en-US" dirty="0"/>
              <a:t>Quadratic formula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2933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9C55-89EC-2970-A994-B238A9D9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– Factoring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1C195-95B5-A48F-15A3-3CDBBCBEF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𝑥</a:t>
            </a:r>
            <a:r>
              <a:rPr lang="en-US" baseline="30000" dirty="0"/>
              <a:t>2</a:t>
            </a:r>
            <a:r>
              <a:rPr lang="en-US" dirty="0"/>
              <a:t>−5𝑥+6=0</a:t>
            </a:r>
          </a:p>
          <a:p>
            <a:r>
              <a:rPr lang="en-US" dirty="0"/>
              <a:t>Find two numbers that multiply to 6 and add to -5 → ( -2, -3 ).</a:t>
            </a:r>
          </a:p>
          <a:p>
            <a:r>
              <a:rPr lang="en-US" dirty="0"/>
              <a:t>Factorize: (𝑥−2)(𝑥−3)=0</a:t>
            </a:r>
          </a:p>
          <a:p>
            <a:r>
              <a:rPr lang="en-US" dirty="0"/>
              <a:t>𝑥=2, 𝑥=3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613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4B59-90FF-BFF0-8D08-F113FE35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-7x+10=0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58CA9F-406D-BA0D-6F54-1A6B68B1F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954" y="2092271"/>
            <a:ext cx="11781046" cy="222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65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6210B-BF40-1D14-5604-396DFF40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D40D-1CBA-82DE-E267-F0575FA15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2x</a:t>
            </a:r>
            <a:r>
              <a:rPr lang="en-GB" baseline="30000" dirty="0"/>
              <a:t>2</a:t>
            </a:r>
            <a:r>
              <a:rPr lang="en-GB" dirty="0"/>
              <a:t>−7x−4=0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3x</a:t>
            </a:r>
            <a:r>
              <a:rPr lang="en-GB" baseline="30000" dirty="0"/>
              <a:t>2</a:t>
            </a:r>
            <a:r>
              <a:rPr lang="en-GB" dirty="0"/>
              <a:t>+18x+15=0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2x</a:t>
            </a:r>
            <a:r>
              <a:rPr lang="en-GB" baseline="30000" dirty="0"/>
              <a:t>2</a:t>
            </a:r>
            <a:r>
              <a:rPr lang="en-GB" dirty="0"/>
              <a:t>−5x+1=0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5x</a:t>
            </a:r>
            <a:r>
              <a:rPr lang="en-GB" baseline="30000" dirty="0"/>
              <a:t>2</a:t>
            </a:r>
            <a:r>
              <a:rPr lang="en-GB" dirty="0"/>
              <a:t>−x−2=0</a:t>
            </a:r>
          </a:p>
        </p:txBody>
      </p:sp>
    </p:spTree>
    <p:extLst>
      <p:ext uri="{BB962C8B-B14F-4D97-AF65-F5344CB8AC3E}">
        <p14:creationId xmlns:p14="http://schemas.microsoft.com/office/powerpoint/2010/main" val="645277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13C8F-4E04-B36E-9669-03E781DAB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08B5-6CBF-F744-9196-39025103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597B3-8B11-8E7B-CBCE-518F25091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123" name="Picture 3" descr="Quadratic equations and inequalities - Exercise 1">
            <a:extLst>
              <a:ext uri="{FF2B5EF4-FFF2-40B4-BE49-F238E27FC236}">
                <a16:creationId xmlns:a16="http://schemas.microsoft.com/office/drawing/2014/main" id="{F3A6B4B2-4BB6-D853-27B5-5874CCDD8D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594" b="60619"/>
          <a:stretch/>
        </p:blipFill>
        <p:spPr bwMode="auto">
          <a:xfrm>
            <a:off x="838200" y="527148"/>
            <a:ext cx="4790438" cy="415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Quadratic equations and inequalities - Exercise 1">
            <a:extLst>
              <a:ext uri="{FF2B5EF4-FFF2-40B4-BE49-F238E27FC236}">
                <a16:creationId xmlns:a16="http://schemas.microsoft.com/office/drawing/2014/main" id="{DC800A3E-1542-CA7B-27F5-141AB3334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44" r="62594" b="24735"/>
          <a:stretch/>
        </p:blipFill>
        <p:spPr bwMode="auto">
          <a:xfrm>
            <a:off x="6915312" y="414351"/>
            <a:ext cx="4790438" cy="399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448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94D9D-294B-EE61-2EB0-3571E135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2 – Completing the Square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C91B9-6E46-87C3-5763-B55B6390F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Solve 𝑥</a:t>
            </a:r>
            <a:r>
              <a:rPr lang="en-GB" baseline="30000" dirty="0"/>
              <a:t>2</a:t>
            </a:r>
            <a:r>
              <a:rPr lang="en-GB" dirty="0"/>
              <a:t>+6𝑥+5=0</a:t>
            </a:r>
          </a:p>
          <a:p>
            <a:r>
              <a:rPr lang="en-GB" dirty="0"/>
              <a:t>Rewrite: 𝑥</a:t>
            </a:r>
            <a:r>
              <a:rPr lang="en-GB" baseline="30000" dirty="0"/>
              <a:t>2</a:t>
            </a:r>
            <a:r>
              <a:rPr lang="en-GB" dirty="0"/>
              <a:t>+6𝑥=−5</a:t>
            </a:r>
          </a:p>
          <a:p>
            <a:r>
              <a:rPr lang="en-GB" dirty="0"/>
              <a:t>Add (6/2)</a:t>
            </a:r>
            <a:r>
              <a:rPr lang="en-GB" baseline="30000" dirty="0"/>
              <a:t>2</a:t>
            </a:r>
            <a:r>
              <a:rPr lang="en-GB" dirty="0"/>
              <a:t>=9 to both sides:(𝑥+3)</a:t>
            </a:r>
            <a:r>
              <a:rPr lang="en-GB" baseline="30000" dirty="0"/>
              <a:t>2</a:t>
            </a:r>
            <a:r>
              <a:rPr lang="en-GB" dirty="0"/>
              <a:t>=4</a:t>
            </a:r>
          </a:p>
          <a:p>
            <a:r>
              <a:rPr lang="en-GB" dirty="0"/>
              <a:t>𝑥+3=±2, so 𝑥=−1,−5</a:t>
            </a:r>
          </a:p>
        </p:txBody>
      </p:sp>
    </p:spTree>
    <p:extLst>
      <p:ext uri="{BB962C8B-B14F-4D97-AF65-F5344CB8AC3E}">
        <p14:creationId xmlns:p14="http://schemas.microsoft.com/office/powerpoint/2010/main" val="2606605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D7BB-A9D4-BCCA-6C93-042F4712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Solve x</a:t>
            </a:r>
            <a:r>
              <a:rPr lang="en-GB" baseline="30000" dirty="0"/>
              <a:t>2</a:t>
            </a:r>
            <a:r>
              <a:rPr lang="en-GB" dirty="0"/>
              <a:t>+6x+5=0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0A797-F623-7A55-D6DD-CE0DBFBFB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GB" dirty="0"/>
              <a:t>x2+6x=−5</a:t>
            </a:r>
          </a:p>
          <a:p>
            <a:r>
              <a:rPr lang="en-US" dirty="0"/>
              <a:t>Take </a:t>
            </a:r>
            <a:r>
              <a:rPr lang="en-US" b="1" dirty="0"/>
              <a:t>half of the coefficient of x </a:t>
            </a:r>
            <a:r>
              <a:rPr lang="en-US" dirty="0"/>
              <a:t>and square it:</a:t>
            </a:r>
          </a:p>
          <a:p>
            <a:r>
              <a:rPr lang="en-US" dirty="0"/>
              <a:t>Add </a:t>
            </a:r>
            <a:r>
              <a:rPr lang="en-US" b="1" dirty="0"/>
              <a:t>9</a:t>
            </a:r>
            <a:r>
              <a:rPr lang="en-US" dirty="0"/>
              <a:t> to both sides</a:t>
            </a:r>
          </a:p>
          <a:p>
            <a:pPr marL="0" indent="0">
              <a:buNone/>
            </a:pPr>
            <a:r>
              <a:rPr lang="en-GB" dirty="0"/>
              <a:t>	x</a:t>
            </a:r>
            <a:r>
              <a:rPr lang="en-GB" baseline="30000" dirty="0"/>
              <a:t>2</a:t>
            </a:r>
            <a:r>
              <a:rPr lang="en-GB" dirty="0"/>
              <a:t>+6x+9=−5+9</a:t>
            </a:r>
          </a:p>
          <a:p>
            <a:r>
              <a:rPr lang="en-GB" dirty="0"/>
              <a:t>Write as a square	 (x+3)</a:t>
            </a:r>
            <a:r>
              <a:rPr lang="en-GB" baseline="30000" dirty="0"/>
              <a:t>2</a:t>
            </a:r>
            <a:r>
              <a:rPr lang="en-GB" dirty="0"/>
              <a:t>=4</a:t>
            </a:r>
            <a:endParaRPr lang="en-US" dirty="0"/>
          </a:p>
          <a:p>
            <a:r>
              <a:rPr lang="en-US" dirty="0"/>
              <a:t>Take the square root on both sides </a:t>
            </a:r>
            <a:r>
              <a:rPr lang="en-GB" dirty="0"/>
              <a:t>	 x+3=±2</a:t>
            </a:r>
          </a:p>
          <a:p>
            <a:pPr marL="0" indent="0">
              <a:buNone/>
            </a:pPr>
            <a:r>
              <a:rPr lang="en-GB" dirty="0"/>
              <a:t>	x=−3+2=−1  x=−3−2=−5</a:t>
            </a:r>
          </a:p>
          <a:p>
            <a:pPr marL="0" indent="0">
              <a:buNone/>
            </a:pPr>
            <a:r>
              <a:rPr lang="en-GB" dirty="0"/>
              <a:t>	 x=−1, x=−5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8CA3F-69A4-17DF-5E54-5F538D9B4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150" y="1945198"/>
            <a:ext cx="2508145" cy="116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46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72E4-AA7C-D52B-701D-A7926B11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Solve using the completing the square method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978A3-6282-A0EC-81F1-BAE59B968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LcPeriod"/>
            </a:pPr>
            <a:r>
              <a:rPr lang="en-GB" dirty="0"/>
              <a:t>x</a:t>
            </a:r>
            <a:r>
              <a:rPr lang="en-GB" baseline="30000" dirty="0"/>
              <a:t>2</a:t>
            </a:r>
            <a:r>
              <a:rPr lang="en-GB" dirty="0"/>
              <a:t>−4x−5=0</a:t>
            </a:r>
          </a:p>
          <a:p>
            <a:pPr marL="571500" indent="-571500">
              <a:buFont typeface="+mj-lt"/>
              <a:buAutoNum type="romanLcPeriod"/>
            </a:pPr>
            <a:r>
              <a:rPr lang="en-GB" dirty="0"/>
              <a:t>2x</a:t>
            </a:r>
            <a:r>
              <a:rPr lang="en-GB" baseline="30000" dirty="0"/>
              <a:t>2</a:t>
            </a:r>
            <a:r>
              <a:rPr lang="en-GB" dirty="0"/>
              <a:t>+8x+3=0 (</a:t>
            </a:r>
            <a:r>
              <a:rPr lang="en-US" dirty="0"/>
              <a:t>Divide by the coefficient of x</a:t>
            </a:r>
            <a:r>
              <a:rPr lang="en-US" baseline="30000" dirty="0"/>
              <a:t>2</a:t>
            </a:r>
            <a:r>
              <a:rPr lang="en-GB" dirty="0"/>
              <a:t>)</a:t>
            </a:r>
          </a:p>
          <a:p>
            <a:pPr marL="571500" indent="-571500">
              <a:buFont typeface="+mj-lt"/>
              <a:buAutoNum type="romanLcPeriod"/>
            </a:pPr>
            <a:r>
              <a:rPr lang="en-GB" dirty="0"/>
              <a:t>x </a:t>
            </a:r>
            <a:r>
              <a:rPr lang="en-GB" baseline="30000" dirty="0"/>
              <a:t>2</a:t>
            </a:r>
            <a:r>
              <a:rPr lang="en-GB" dirty="0"/>
              <a:t> +7x−4=0</a:t>
            </a:r>
          </a:p>
          <a:p>
            <a:pPr marL="571500" indent="-571500">
              <a:buFont typeface="+mj-lt"/>
              <a:buAutoNum type="romanLcPeriod"/>
            </a:pPr>
            <a:r>
              <a:rPr lang="en-GB" dirty="0"/>
              <a:t>4𝑥</a:t>
            </a:r>
            <a:r>
              <a:rPr lang="en-GB" baseline="30000" dirty="0"/>
              <a:t>2</a:t>
            </a:r>
            <a:r>
              <a:rPr lang="en-GB" dirty="0"/>
              <a:t>−12𝑥+5=0</a:t>
            </a:r>
          </a:p>
          <a:p>
            <a:pPr marL="571500" indent="-571500">
              <a:buFont typeface="+mj-lt"/>
              <a:buAutoNum type="romanLcPeriod"/>
            </a:pPr>
            <a:r>
              <a:rPr lang="en-GB" dirty="0"/>
              <a:t>𝑥</a:t>
            </a:r>
            <a:r>
              <a:rPr lang="en-GB" baseline="30000" dirty="0"/>
              <a:t>2</a:t>
            </a:r>
            <a:r>
              <a:rPr lang="en-GB" dirty="0"/>
              <a:t>−6𝑥+2=0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0D362-4719-F1DC-FF68-CD53ADEF1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922" y="1919045"/>
            <a:ext cx="3997271" cy="33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919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7A787-2869-5524-3011-90F04FAE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– Quadratic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26DE8-3A39-59AC-FFA6-28DAAFC5A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2x</a:t>
            </a:r>
            <a:r>
              <a:rPr lang="en-GB" baseline="30000" dirty="0"/>
              <a:t>2</a:t>
            </a:r>
            <a:r>
              <a:rPr lang="en-GB" dirty="0"/>
              <a:t>−3x−2=0.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89388-0C12-493B-C30C-6F8F69E9E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576" y="1825624"/>
            <a:ext cx="4613690" cy="142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584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EED2B-3FF1-DAD0-5701-8A3D9106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1E73C-3DEE-AF56-DA9E-5A0222829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3303A-CF29-54A7-1EAB-B2EE92131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62" y="1980608"/>
            <a:ext cx="5868589" cy="3273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863A10-8A82-38B7-6CB9-9CDE6AAA3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62661"/>
            <a:ext cx="6096000" cy="2313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3F3C1D-BAD9-C0A4-13D3-F9299A73F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72252"/>
            <a:ext cx="4761586" cy="79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23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5A498-346E-8EA4-32F4-696F053D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B7089-D72F-1C28-076B-C9DEB3DFA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4B3D7-ABE3-035A-C76E-8B17382C8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099" b="74220"/>
          <a:stretch/>
        </p:blipFill>
        <p:spPr>
          <a:xfrm>
            <a:off x="299151" y="652146"/>
            <a:ext cx="2132304" cy="751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107FF6-3251-92BE-13D7-09BBEB18C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25903"/>
            <a:ext cx="4534546" cy="20645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F33852-A77F-4321-5A82-55BD59F9D4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18" t="13453"/>
          <a:stretch/>
        </p:blipFill>
        <p:spPr>
          <a:xfrm>
            <a:off x="299151" y="1274029"/>
            <a:ext cx="4534546" cy="3193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1AEF0C-3288-0A97-CEAC-B9CB36129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5303" y="4751745"/>
            <a:ext cx="3503834" cy="81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28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0C8F-AEFC-E2AD-276F-D1B46DA8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 using </a:t>
            </a:r>
            <a:r>
              <a:rPr lang="en-GB" dirty="0"/>
              <a:t>Quadratic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9B606-8E8D-5B6B-16C3-B910D5D46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D1FD8-1195-F9BB-8F30-3D72EBB97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22" y="1894943"/>
            <a:ext cx="3316511" cy="4212701"/>
          </a:xfrm>
          <a:prstGeom prst="rect">
            <a:avLst/>
          </a:prstGeom>
        </p:spPr>
      </p:pic>
      <p:sp>
        <p:nvSpPr>
          <p:cNvPr id="5" name="32-Point Star 4"/>
          <p:cNvSpPr/>
          <p:nvPr/>
        </p:nvSpPr>
        <p:spPr>
          <a:xfrm>
            <a:off x="10858500" y="5529263"/>
            <a:ext cx="1057275" cy="1057275"/>
          </a:xfrm>
          <a:prstGeom prst="star3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88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760</Words>
  <Application>Microsoft Macintosh PowerPoint</Application>
  <PresentationFormat>Widescreen</PresentationFormat>
  <Paragraphs>104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Comic Sans MS</vt:lpstr>
      <vt:lpstr>Times New Roman</vt:lpstr>
      <vt:lpstr>Office Theme</vt:lpstr>
      <vt:lpstr>PowerPoint Presentation</vt:lpstr>
      <vt:lpstr>PowerPoint Presentation</vt:lpstr>
      <vt:lpstr>Algebraic Expressions</vt:lpstr>
      <vt:lpstr>2x + 2y = 2(x+y)</vt:lpstr>
      <vt:lpstr>2x + 2y = 2(x+y)</vt:lpstr>
      <vt:lpstr>Factorize</vt:lpstr>
      <vt:lpstr>Factorize each of the following algebraic expressions</vt:lpstr>
      <vt:lpstr>Quadratic Expressions</vt:lpstr>
      <vt:lpstr>Quadratic Expressions</vt:lpstr>
      <vt:lpstr>Methods for Solving Quadratic Equations</vt:lpstr>
      <vt:lpstr>Method 1 – Factoring</vt:lpstr>
      <vt:lpstr>X2-7x+10=0</vt:lpstr>
      <vt:lpstr>PowerPoint Presentation</vt:lpstr>
      <vt:lpstr>PowerPoint Presentation</vt:lpstr>
      <vt:lpstr>Method 2 – Completing the Square</vt:lpstr>
      <vt:lpstr>Solve x2+6x+5=0</vt:lpstr>
      <vt:lpstr>Solve using the completing the square method</vt:lpstr>
      <vt:lpstr>Method 3 – Quadratic Formula</vt:lpstr>
      <vt:lpstr>PowerPoint Presentation</vt:lpstr>
      <vt:lpstr>PowerPoint Presentation</vt:lpstr>
      <vt:lpstr>Solve using Quadratic Formula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 Chandana Puspakumara</dc:creator>
  <cp:lastModifiedBy>My Mac</cp:lastModifiedBy>
  <cp:revision>49</cp:revision>
  <dcterms:created xsi:type="dcterms:W3CDTF">2025-03-13T16:36:24Z</dcterms:created>
  <dcterms:modified xsi:type="dcterms:W3CDTF">2026-08-28T16:15:00Z</dcterms:modified>
</cp:coreProperties>
</file>