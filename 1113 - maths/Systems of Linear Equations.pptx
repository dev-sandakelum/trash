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75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12"/>
    <p:restoredTop sz="95161"/>
  </p:normalViewPr>
  <p:slideViewPr>
    <p:cSldViewPr snapToGrid="0">
      <p:cViewPr varScale="1">
        <p:scale>
          <a:sx n="88" d="100"/>
          <a:sy n="8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76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46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88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583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79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85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8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43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3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779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600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190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444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701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59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67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78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A906-04E5-49C4-7C26-3EBB9E8A1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Graph of Straight Lines and Quadratic Functions</a:t>
            </a: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074D7-4D7B-7CB1-F4FD-3372D011A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815669" cy="151553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LK" sz="1400" b="1" dirty="0"/>
              <a:t>Mrs. Parami Wattetenne</a:t>
            </a:r>
          </a:p>
          <a:p>
            <a:pPr algn="l"/>
            <a:r>
              <a:rPr lang="en-LK" sz="1400" b="1" dirty="0"/>
              <a:t>Lecturer (Probationary)</a:t>
            </a:r>
          </a:p>
          <a:p>
            <a:pPr algn="l"/>
            <a:r>
              <a:rPr lang="en-LK" sz="1400" b="1" dirty="0"/>
              <a:t>Department of Multidisciplinary Studies</a:t>
            </a:r>
          </a:p>
          <a:p>
            <a:pPr algn="l"/>
            <a:r>
              <a:rPr lang="en-LK" sz="1400" b="1" dirty="0"/>
              <a:t>Faculty of Technology </a:t>
            </a:r>
          </a:p>
          <a:p>
            <a:pPr algn="l"/>
            <a:r>
              <a:rPr lang="en-LK" sz="1400" b="1" dirty="0"/>
              <a:t>University of Ruhuna</a:t>
            </a:r>
          </a:p>
        </p:txBody>
      </p:sp>
    </p:spTree>
    <p:extLst>
      <p:ext uri="{BB962C8B-B14F-4D97-AF65-F5344CB8AC3E}">
        <p14:creationId xmlns:p14="http://schemas.microsoft.com/office/powerpoint/2010/main" val="351041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A33D-DE4B-42D3-4F22-9D65F583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Topic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5A85-9EB7-A720-6168-E82272153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LK" dirty="0"/>
              <a:t>Cartesian X-Y plane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Straight Line Equations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Graph of Straight Lines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Qudratic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Graph of Qudratic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Maximum and Minimum Values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System of Linear Equations</a:t>
            </a:r>
          </a:p>
        </p:txBody>
      </p:sp>
    </p:spTree>
    <p:extLst>
      <p:ext uri="{BB962C8B-B14F-4D97-AF65-F5344CB8AC3E}">
        <p14:creationId xmlns:p14="http://schemas.microsoft.com/office/powerpoint/2010/main" val="388894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55E1-1106-CCB9-F0A1-07AE01EC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LK" dirty="0"/>
              <a:t>Systems of linear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1110-8BA3-F0EF-85DC-0FABA496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Linear simultaneous equations </a:t>
            </a:r>
            <a:r>
              <a:rPr lang="en-GB" dirty="0"/>
              <a:t>in two unknowns may be solved graphically by: </a:t>
            </a:r>
          </a:p>
          <a:p>
            <a:pPr marL="457200" lvl="1" indent="0">
              <a:buNone/>
            </a:pPr>
            <a:r>
              <a:rPr lang="en-GB" sz="2400" dirty="0"/>
              <a:t>(</a:t>
            </a:r>
            <a:r>
              <a:rPr lang="en-GB" sz="2400" dirty="0" err="1"/>
              <a:t>i</a:t>
            </a:r>
            <a:r>
              <a:rPr lang="en-GB" sz="2400" dirty="0"/>
              <a:t>)  plotting the two straight lines on the same axes, and </a:t>
            </a:r>
          </a:p>
          <a:p>
            <a:pPr marL="457200" lvl="1" indent="0">
              <a:buNone/>
            </a:pPr>
            <a:r>
              <a:rPr lang="en-GB" sz="2400" dirty="0"/>
              <a:t>(ii)  noting their point of intersection. </a:t>
            </a:r>
          </a:p>
          <a:p>
            <a:r>
              <a:rPr lang="en-GB" dirty="0"/>
              <a:t>The co-ordinates of the point of intersection give the required solution. </a:t>
            </a:r>
          </a:p>
        </p:txBody>
      </p:sp>
    </p:spTree>
    <p:extLst>
      <p:ext uri="{BB962C8B-B14F-4D97-AF65-F5344CB8AC3E}">
        <p14:creationId xmlns:p14="http://schemas.microsoft.com/office/powerpoint/2010/main" val="1471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D5BB-0A21-464D-0E87-3F2991BC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Systems of linear equations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300400-8E93-14A9-EAEB-3205B7F72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02717"/>
            <a:ext cx="3441138" cy="419918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0FA7CA-DBEB-0C9F-9F98-652CF0310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23812"/>
            <a:ext cx="3860800" cy="420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5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A903-325D-197A-EB6C-E1270F2A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Systems of linear equations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4CFD85-2F26-2827-1543-33F852191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743200"/>
            <a:ext cx="4931641" cy="259805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CC28DC-4294-0CC3-E212-0EB9C3B1B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1" y="2743200"/>
            <a:ext cx="4524827" cy="323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3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BF14-1B14-E667-F17A-C1A32318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LK" dirty="0"/>
              <a:t>Graphical solutions of linear and quadratic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D7C3D-2660-9276-AF27-21808742B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Times" pitchFamily="2" charset="0"/>
              </a:rPr>
              <a:t>The solution of </a:t>
            </a:r>
            <a:r>
              <a:rPr lang="en-GB" b="1" dirty="0">
                <a:effectLst/>
                <a:latin typeface="Times" pitchFamily="2" charset="0"/>
              </a:rPr>
              <a:t>linear and quadratic equations simul- </a:t>
            </a:r>
            <a:r>
              <a:rPr lang="en-GB" b="1" dirty="0" err="1">
                <a:effectLst/>
                <a:latin typeface="Times" pitchFamily="2" charset="0"/>
              </a:rPr>
              <a:t>taneously</a:t>
            </a:r>
            <a:r>
              <a:rPr lang="en-GB" b="1" dirty="0">
                <a:effectLst/>
                <a:latin typeface="Times" pitchFamily="2" charset="0"/>
              </a:rPr>
              <a:t> </a:t>
            </a:r>
            <a:r>
              <a:rPr lang="en-GB" dirty="0">
                <a:effectLst/>
                <a:latin typeface="Times" pitchFamily="2" charset="0"/>
              </a:rPr>
              <a:t>may be achieved graphically by: </a:t>
            </a:r>
          </a:p>
          <a:p>
            <a:pPr marL="457200" lvl="1" indent="0">
              <a:buNone/>
            </a:pPr>
            <a:r>
              <a:rPr lang="en-GB" sz="2400" dirty="0">
                <a:effectLst/>
                <a:latin typeface="Times" pitchFamily="2" charset="0"/>
              </a:rPr>
              <a:t>(</a:t>
            </a:r>
            <a:r>
              <a:rPr lang="en-GB" sz="2400" dirty="0" err="1">
                <a:effectLst/>
                <a:latin typeface="Times" pitchFamily="2" charset="0"/>
              </a:rPr>
              <a:t>i</a:t>
            </a:r>
            <a:r>
              <a:rPr lang="en-GB" sz="2400" dirty="0">
                <a:effectLst/>
                <a:latin typeface="Times" pitchFamily="2" charset="0"/>
              </a:rPr>
              <a:t>) plotting the straight line and parabola on the same axes</a:t>
            </a:r>
          </a:p>
          <a:p>
            <a:pPr marL="457200" lvl="1" indent="0">
              <a:buNone/>
            </a:pPr>
            <a:r>
              <a:rPr lang="en-GB" sz="2400" dirty="0">
                <a:effectLst/>
                <a:latin typeface="Times" pitchFamily="2" charset="0"/>
              </a:rPr>
              <a:t>(ii) noting the points of intersection. </a:t>
            </a:r>
          </a:p>
          <a:p>
            <a:r>
              <a:rPr lang="en-GB" dirty="0">
                <a:effectLst/>
                <a:latin typeface="Times" pitchFamily="2" charset="0"/>
              </a:rPr>
              <a:t>The co-ordinates of the points of intersection give the required solutions. </a:t>
            </a:r>
            <a:endParaRPr lang="en-GB" dirty="0"/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40792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86B9-3121-8B6A-93F6-D237F6D54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LK" dirty="0"/>
              <a:t>Graphical solutions of linear and quadratic equations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2B10750-F826-6F3E-C7A8-15ACF6908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235" y="2514600"/>
            <a:ext cx="4051300" cy="9144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FE9B4E-B383-512C-6449-FF56B5590612}"/>
                  </a:ext>
                </a:extLst>
              </p:cNvPr>
              <p:cNvSpPr txBox="1"/>
              <p:nvPr/>
            </p:nvSpPr>
            <p:spPr>
              <a:xfrm>
                <a:off x="1428116" y="3683001"/>
                <a:ext cx="2585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latin typeface="+mj-lt"/>
                  </a:rPr>
                  <a:t>Draw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LK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FE9B4E-B383-512C-6449-FF56B5590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116" y="3683001"/>
                <a:ext cx="2585323" cy="276999"/>
              </a:xfrm>
              <a:prstGeom prst="rect">
                <a:avLst/>
              </a:prstGeom>
              <a:blipFill>
                <a:blip r:embed="rId3"/>
                <a:stretch>
                  <a:fillRect l="-4902" t="-21739" r="-2451" b="-52174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D8082C24-DEC1-60DF-67AC-325AE5B20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851" y="4214001"/>
            <a:ext cx="4051300" cy="1498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6AEB1B-321A-B695-0076-F869C3ECEBDA}"/>
                  </a:ext>
                </a:extLst>
              </p:cNvPr>
              <p:cNvSpPr txBox="1"/>
              <p:nvPr/>
            </p:nvSpPr>
            <p:spPr>
              <a:xfrm>
                <a:off x="7576457" y="2519011"/>
                <a:ext cx="13401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=2−4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LK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6AEB1B-321A-B695-0076-F869C3ECE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457" y="2519011"/>
                <a:ext cx="1340175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45D1C7B8-2BCE-D1CF-DDB9-167D51D1ED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6456" y="2975428"/>
            <a:ext cx="1669143" cy="7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61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6FED-6B7C-B5D9-8327-2115CB6C3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LK" dirty="0"/>
              <a:t>Graphical solutions of linear and quadratic equations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23BEF8-60DC-8991-771A-8A4143B8D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8913" y="2557993"/>
            <a:ext cx="3481487" cy="4284908"/>
          </a:xfrm>
        </p:spPr>
      </p:pic>
    </p:spTree>
    <p:extLst>
      <p:ext uri="{BB962C8B-B14F-4D97-AF65-F5344CB8AC3E}">
        <p14:creationId xmlns:p14="http://schemas.microsoft.com/office/powerpoint/2010/main" val="74837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81D7-D35F-EBD4-F13E-463FFF27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LK" dirty="0"/>
              <a:t>Graphical solutions of linear and quadratic equations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E981E3-2F2C-35A6-A957-3772BA385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1917" y="2584981"/>
            <a:ext cx="4103912" cy="3974042"/>
          </a:xfrm>
        </p:spPr>
      </p:pic>
    </p:spTree>
    <p:extLst>
      <p:ext uri="{BB962C8B-B14F-4D97-AF65-F5344CB8AC3E}">
        <p14:creationId xmlns:p14="http://schemas.microsoft.com/office/powerpoint/2010/main" val="544685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6E4E-B4F1-A2A1-1230-B9EB5BD27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LK" sz="1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0606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{C031A6FF-F86B-254B-B381-C76EA6CC28AB}TFaded88da-90db-4543-ab7c-879d099b76defcad6244-6dfd168f82a5</Template>
  <TotalTime>164</TotalTime>
  <Words>204</Words>
  <Application>Microsoft Macintosh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Garamond</vt:lpstr>
      <vt:lpstr>Times</vt:lpstr>
      <vt:lpstr>Organic</vt:lpstr>
      <vt:lpstr>Graph of Straight Lines and Quadratic Functions</vt:lpstr>
      <vt:lpstr>Topic Covered</vt:lpstr>
      <vt:lpstr>Systems of linear equations</vt:lpstr>
      <vt:lpstr>Systems of linear equations</vt:lpstr>
      <vt:lpstr>Systems of linear equations</vt:lpstr>
      <vt:lpstr>Graphical solutions of linear and quadratic equations</vt:lpstr>
      <vt:lpstr>Graphical solutions of linear and quadratic equations</vt:lpstr>
      <vt:lpstr>Graphical solutions of linear and quadratic equations</vt:lpstr>
      <vt:lpstr>Graphical solutions of linear and quadratic equations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https://www.examples.com/maths/functions.html</dc:title>
  <dc:creator>My Mac</dc:creator>
  <cp:lastModifiedBy>My Mac</cp:lastModifiedBy>
  <cp:revision>16</cp:revision>
  <dcterms:created xsi:type="dcterms:W3CDTF">2026-09-16T17:22:36Z</dcterms:created>
  <dcterms:modified xsi:type="dcterms:W3CDTF">2026-10-04T23:03:50Z</dcterms:modified>
</cp:coreProperties>
</file>