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87"/>
  </p:normalViewPr>
  <p:slideViewPr>
    <p:cSldViewPr snapToGrid="0">
      <p:cViewPr varScale="1">
        <p:scale>
          <a:sx n="85" d="100"/>
          <a:sy n="85" d="100"/>
        </p:scale>
        <p:origin x="105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769843C-EF58-CF4F-8938-F738A0D48AC4}" type="datetimeFigureOut">
              <a:rPr lang="en-LK" smtClean="0"/>
              <a:t>2026-10-18</a:t>
            </a:fld>
            <a:endParaRPr lang="en-LK"/>
          </a:p>
        </p:txBody>
      </p:sp>
      <p:sp>
        <p:nvSpPr>
          <p:cNvPr id="5" name="Footer Placeholder 4"/>
          <p:cNvSpPr>
            <a:spLocks noGrp="1"/>
          </p:cNvSpPr>
          <p:nvPr>
            <p:ph type="ftr" sz="quarter" idx="11"/>
          </p:nvPr>
        </p:nvSpPr>
        <p:spPr/>
        <p:txBody>
          <a:bodyPr/>
          <a:lstStyle/>
          <a:p>
            <a:endParaRPr lang="en-LK"/>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2498988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769843C-EF58-CF4F-8938-F738A0D48AC4}" type="datetimeFigureOut">
              <a:rPr lang="en-LK" smtClean="0"/>
              <a:t>2026-10-18</a:t>
            </a:fld>
            <a:endParaRPr lang="en-LK"/>
          </a:p>
        </p:txBody>
      </p:sp>
      <p:sp>
        <p:nvSpPr>
          <p:cNvPr id="5" name="Footer Placeholder 4"/>
          <p:cNvSpPr>
            <a:spLocks noGrp="1"/>
          </p:cNvSpPr>
          <p:nvPr>
            <p:ph type="ftr" sz="quarter" idx="11"/>
          </p:nvPr>
        </p:nvSpPr>
        <p:spPr/>
        <p:txBody>
          <a:bodyPr/>
          <a:lstStyle/>
          <a:p>
            <a:endParaRPr lang="en-L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2480866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769843C-EF58-CF4F-8938-F738A0D48AC4}" type="datetimeFigureOut">
              <a:rPr lang="en-LK" smtClean="0"/>
              <a:t>2026-10-18</a:t>
            </a:fld>
            <a:endParaRPr lang="en-LK"/>
          </a:p>
        </p:txBody>
      </p:sp>
      <p:sp>
        <p:nvSpPr>
          <p:cNvPr id="5" name="Footer Placeholder 4"/>
          <p:cNvSpPr>
            <a:spLocks noGrp="1"/>
          </p:cNvSpPr>
          <p:nvPr>
            <p:ph type="ftr" sz="quarter" idx="11"/>
          </p:nvPr>
        </p:nvSpPr>
        <p:spPr/>
        <p:txBody>
          <a:bodyPr/>
          <a:lstStyle/>
          <a:p>
            <a:endParaRPr lang="en-L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43625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769843C-EF58-CF4F-8938-F738A0D48AC4}" type="datetimeFigureOut">
              <a:rPr lang="en-LK" smtClean="0"/>
              <a:t>2026-10-18</a:t>
            </a:fld>
            <a:endParaRPr lang="en-LK"/>
          </a:p>
        </p:txBody>
      </p:sp>
      <p:sp>
        <p:nvSpPr>
          <p:cNvPr id="6" name="Footer Placeholder 5"/>
          <p:cNvSpPr>
            <a:spLocks noGrp="1"/>
          </p:cNvSpPr>
          <p:nvPr>
            <p:ph type="ftr" sz="quarter" idx="11"/>
          </p:nvPr>
        </p:nvSpPr>
        <p:spPr/>
        <p:txBody>
          <a:bodyPr/>
          <a:lstStyle/>
          <a:p>
            <a:endParaRPr lang="en-LK"/>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1481692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769843C-EF58-CF4F-8938-F738A0D48AC4}" type="datetimeFigureOut">
              <a:rPr lang="en-LK" smtClean="0"/>
              <a:t>2026-10-18</a:t>
            </a:fld>
            <a:endParaRPr lang="en-LK"/>
          </a:p>
        </p:txBody>
      </p:sp>
      <p:sp>
        <p:nvSpPr>
          <p:cNvPr id="8" name="Footer Placeholder 7"/>
          <p:cNvSpPr>
            <a:spLocks noGrp="1"/>
          </p:cNvSpPr>
          <p:nvPr>
            <p:ph type="ftr" sz="quarter" idx="11"/>
          </p:nvPr>
        </p:nvSpPr>
        <p:spPr/>
        <p:txBody>
          <a:bodyPr/>
          <a:lstStyle/>
          <a:p>
            <a:endParaRPr lang="en-L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2239794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769843C-EF58-CF4F-8938-F738A0D48AC4}" type="datetimeFigureOut">
              <a:rPr lang="en-LK" smtClean="0"/>
              <a:t>2026-10-18</a:t>
            </a:fld>
            <a:endParaRPr lang="en-LK"/>
          </a:p>
        </p:txBody>
      </p:sp>
      <p:sp>
        <p:nvSpPr>
          <p:cNvPr id="4" name="Footer Placeholder 3"/>
          <p:cNvSpPr>
            <a:spLocks noGrp="1"/>
          </p:cNvSpPr>
          <p:nvPr>
            <p:ph type="ftr" sz="quarter" idx="11"/>
          </p:nvPr>
        </p:nvSpPr>
        <p:spPr/>
        <p:txBody>
          <a:bodyPr/>
          <a:lstStyle/>
          <a:p>
            <a:endParaRPr lang="en-LK"/>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2186317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9843C-EF58-CF4F-8938-F738A0D48AC4}" type="datetimeFigureOut">
              <a:rPr lang="en-LK" smtClean="0"/>
              <a:t>2026-10-18</a:t>
            </a:fld>
            <a:endParaRPr lang="en-LK"/>
          </a:p>
        </p:txBody>
      </p:sp>
      <p:sp>
        <p:nvSpPr>
          <p:cNvPr id="3" name="Footer Placeholder 2"/>
          <p:cNvSpPr>
            <a:spLocks noGrp="1"/>
          </p:cNvSpPr>
          <p:nvPr>
            <p:ph type="ftr" sz="quarter" idx="11"/>
          </p:nvPr>
        </p:nvSpPr>
        <p:spPr/>
        <p:txBody>
          <a:bodyPr/>
          <a:lstStyle/>
          <a:p>
            <a:endParaRPr lang="en-LK"/>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203372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769843C-EF58-CF4F-8938-F738A0D48AC4}" type="datetimeFigureOut">
              <a:rPr lang="en-LK" smtClean="0"/>
              <a:t>2026-10-18</a:t>
            </a:fld>
            <a:endParaRPr lang="en-LK"/>
          </a:p>
        </p:txBody>
      </p:sp>
      <p:sp>
        <p:nvSpPr>
          <p:cNvPr id="6" name="Footer Placeholder 5"/>
          <p:cNvSpPr>
            <a:spLocks noGrp="1"/>
          </p:cNvSpPr>
          <p:nvPr>
            <p:ph type="ftr" sz="quarter" idx="11"/>
          </p:nvPr>
        </p:nvSpPr>
        <p:spPr/>
        <p:txBody>
          <a:bodyPr/>
          <a:lstStyle/>
          <a:p>
            <a:endParaRPr lang="en-LK"/>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253023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769843C-EF58-CF4F-8938-F738A0D48AC4}" type="datetimeFigureOut">
              <a:rPr lang="en-LK" smtClean="0"/>
              <a:t>2026-10-18</a:t>
            </a:fld>
            <a:endParaRPr lang="en-LK"/>
          </a:p>
        </p:txBody>
      </p:sp>
      <p:sp>
        <p:nvSpPr>
          <p:cNvPr id="6" name="Footer Placeholder 5"/>
          <p:cNvSpPr>
            <a:spLocks noGrp="1"/>
          </p:cNvSpPr>
          <p:nvPr>
            <p:ph type="ftr" sz="quarter" idx="11"/>
          </p:nvPr>
        </p:nvSpPr>
        <p:spPr/>
        <p:txBody>
          <a:bodyPr/>
          <a:lstStyle/>
          <a:p>
            <a:endParaRPr lang="en-L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3666631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769843C-EF58-CF4F-8938-F738A0D48AC4}" type="datetimeFigureOut">
              <a:rPr lang="en-LK" smtClean="0"/>
              <a:t>2026-10-18</a:t>
            </a:fld>
            <a:endParaRPr lang="en-LK"/>
          </a:p>
        </p:txBody>
      </p:sp>
      <p:sp>
        <p:nvSpPr>
          <p:cNvPr id="5" name="Footer Placeholder 4"/>
          <p:cNvSpPr>
            <a:spLocks noGrp="1"/>
          </p:cNvSpPr>
          <p:nvPr>
            <p:ph type="ftr" sz="quarter" idx="11"/>
          </p:nvPr>
        </p:nvSpPr>
        <p:spPr/>
        <p:txBody>
          <a:bodyPr/>
          <a:lstStyle/>
          <a:p>
            <a:endParaRPr lang="en-L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1213825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769843C-EF58-CF4F-8938-F738A0D48AC4}" type="datetimeFigureOut">
              <a:rPr lang="en-LK" smtClean="0"/>
              <a:t>2026-10-18</a:t>
            </a:fld>
            <a:endParaRPr lang="en-LK"/>
          </a:p>
        </p:txBody>
      </p:sp>
      <p:sp>
        <p:nvSpPr>
          <p:cNvPr id="5" name="Footer Placeholder 4"/>
          <p:cNvSpPr>
            <a:spLocks noGrp="1"/>
          </p:cNvSpPr>
          <p:nvPr>
            <p:ph type="ftr" sz="quarter" idx="11"/>
          </p:nvPr>
        </p:nvSpPr>
        <p:spPr/>
        <p:txBody>
          <a:bodyPr/>
          <a:lstStyle/>
          <a:p>
            <a:endParaRPr lang="en-LK"/>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DAD9226-6E93-9F41-9D4F-D0FADEB29FB3}" type="slidenum">
              <a:rPr lang="en-LK" smtClean="0"/>
              <a:t>‹#›</a:t>
            </a:fld>
            <a:endParaRPr lang="en-LK"/>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27675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5769843C-EF58-CF4F-8938-F738A0D48AC4}" type="datetimeFigureOut">
              <a:rPr lang="en-LK" smtClean="0"/>
              <a:t>2026-10-18</a:t>
            </a:fld>
            <a:endParaRPr lang="en-LK"/>
          </a:p>
        </p:txBody>
      </p:sp>
      <p:sp>
        <p:nvSpPr>
          <p:cNvPr id="6" name="Footer Placeholder 5"/>
          <p:cNvSpPr>
            <a:spLocks noGrp="1"/>
          </p:cNvSpPr>
          <p:nvPr>
            <p:ph type="ftr" sz="quarter" idx="11"/>
          </p:nvPr>
        </p:nvSpPr>
        <p:spPr/>
        <p:txBody>
          <a:bodyPr/>
          <a:lstStyle/>
          <a:p>
            <a:endParaRPr lang="en-L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3241056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5769843C-EF58-CF4F-8938-F738A0D48AC4}" type="datetimeFigureOut">
              <a:rPr lang="en-LK" smtClean="0"/>
              <a:t>2026-10-18</a:t>
            </a:fld>
            <a:endParaRPr lang="en-LK"/>
          </a:p>
        </p:txBody>
      </p:sp>
      <p:sp>
        <p:nvSpPr>
          <p:cNvPr id="6" name="Footer Placeholder 5"/>
          <p:cNvSpPr>
            <a:spLocks noGrp="1"/>
          </p:cNvSpPr>
          <p:nvPr>
            <p:ph type="ftr" sz="quarter" idx="11"/>
          </p:nvPr>
        </p:nvSpPr>
        <p:spPr/>
        <p:txBody>
          <a:bodyPr/>
          <a:lstStyle/>
          <a:p>
            <a:endParaRPr lang="en-LK"/>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DAD9226-6E93-9F41-9D4F-D0FADEB29FB3}" type="slidenum">
              <a:rPr lang="en-LK" smtClean="0"/>
              <a:t>‹#›</a:t>
            </a:fld>
            <a:endParaRPr lang="en-LK"/>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413729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5769843C-EF58-CF4F-8938-F738A0D48AC4}" type="datetimeFigureOut">
              <a:rPr lang="en-LK" smtClean="0"/>
              <a:t>2026-10-18</a:t>
            </a:fld>
            <a:endParaRPr lang="en-LK"/>
          </a:p>
        </p:txBody>
      </p:sp>
      <p:sp>
        <p:nvSpPr>
          <p:cNvPr id="6" name="Footer Placeholder 5"/>
          <p:cNvSpPr>
            <a:spLocks noGrp="1"/>
          </p:cNvSpPr>
          <p:nvPr>
            <p:ph type="ftr" sz="quarter" idx="11"/>
          </p:nvPr>
        </p:nvSpPr>
        <p:spPr/>
        <p:txBody>
          <a:bodyPr/>
          <a:lstStyle/>
          <a:p>
            <a:endParaRPr lang="en-L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13729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769843C-EF58-CF4F-8938-F738A0D48AC4}" type="datetimeFigureOut">
              <a:rPr lang="en-LK" smtClean="0"/>
              <a:t>2026-10-18</a:t>
            </a:fld>
            <a:endParaRPr lang="en-LK"/>
          </a:p>
        </p:txBody>
      </p:sp>
      <p:sp>
        <p:nvSpPr>
          <p:cNvPr id="5" name="Footer Placeholder 4"/>
          <p:cNvSpPr>
            <a:spLocks noGrp="1"/>
          </p:cNvSpPr>
          <p:nvPr>
            <p:ph type="ftr" sz="quarter" idx="11"/>
          </p:nvPr>
        </p:nvSpPr>
        <p:spPr/>
        <p:txBody>
          <a:bodyPr/>
          <a:lstStyle/>
          <a:p>
            <a:endParaRPr lang="en-L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1764767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769843C-EF58-CF4F-8938-F738A0D48AC4}" type="datetimeFigureOut">
              <a:rPr lang="en-LK" smtClean="0"/>
              <a:t>2026-10-18</a:t>
            </a:fld>
            <a:endParaRPr lang="en-LK"/>
          </a:p>
        </p:txBody>
      </p:sp>
      <p:sp>
        <p:nvSpPr>
          <p:cNvPr id="5" name="Footer Placeholder 4"/>
          <p:cNvSpPr>
            <a:spLocks noGrp="1"/>
          </p:cNvSpPr>
          <p:nvPr>
            <p:ph type="ftr" sz="quarter" idx="11"/>
          </p:nvPr>
        </p:nvSpPr>
        <p:spPr/>
        <p:txBody>
          <a:bodyPr/>
          <a:lstStyle/>
          <a:p>
            <a:endParaRPr lang="en-L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DAD9226-6E93-9F41-9D4F-D0FADEB29FB3}" type="slidenum">
              <a:rPr lang="en-LK" smtClean="0"/>
              <a:t>‹#›</a:t>
            </a:fld>
            <a:endParaRPr lang="en-LK"/>
          </a:p>
        </p:txBody>
      </p:sp>
    </p:spTree>
    <p:extLst>
      <p:ext uri="{BB962C8B-B14F-4D97-AF65-F5344CB8AC3E}">
        <p14:creationId xmlns:p14="http://schemas.microsoft.com/office/powerpoint/2010/main" val="575535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769843C-EF58-CF4F-8938-F738A0D48AC4}" type="datetimeFigureOut">
              <a:rPr lang="en-LK" smtClean="0"/>
              <a:t>2026-10-18</a:t>
            </a:fld>
            <a:endParaRPr lang="en-LK"/>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LK"/>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DAD9226-6E93-9F41-9D4F-D0FADEB29FB3}" type="slidenum">
              <a:rPr lang="en-LK" smtClean="0"/>
              <a:t>‹#›</a:t>
            </a:fld>
            <a:endParaRPr lang="en-LK"/>
          </a:p>
        </p:txBody>
      </p:sp>
    </p:spTree>
    <p:extLst>
      <p:ext uri="{BB962C8B-B14F-4D97-AF65-F5344CB8AC3E}">
        <p14:creationId xmlns:p14="http://schemas.microsoft.com/office/powerpoint/2010/main" val="13828499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athinsight.org/definition/magnitude_vecto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mathinsight.org/definition/scala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77243-F197-BF21-F474-FB5ABE322C52}"/>
              </a:ext>
            </a:extLst>
          </p:cNvPr>
          <p:cNvSpPr>
            <a:spLocks noGrp="1"/>
          </p:cNvSpPr>
          <p:nvPr>
            <p:ph type="ctrTitle"/>
          </p:nvPr>
        </p:nvSpPr>
        <p:spPr>
          <a:xfrm>
            <a:off x="6021960" y="-937619"/>
            <a:ext cx="8915399" cy="2262781"/>
          </a:xfrm>
        </p:spPr>
        <p:txBody>
          <a:bodyPr/>
          <a:lstStyle/>
          <a:p>
            <a:r>
              <a:rPr lang="en-LK" dirty="0"/>
              <a:t>Vectors</a:t>
            </a:r>
          </a:p>
        </p:txBody>
      </p:sp>
      <p:sp>
        <p:nvSpPr>
          <p:cNvPr id="3" name="Subtitle 2">
            <a:extLst>
              <a:ext uri="{FF2B5EF4-FFF2-40B4-BE49-F238E27FC236}">
                <a16:creationId xmlns:a16="http://schemas.microsoft.com/office/drawing/2014/main" id="{F7FEBE7B-0EB4-350D-95A7-1F116F7FD392}"/>
              </a:ext>
            </a:extLst>
          </p:cNvPr>
          <p:cNvSpPr>
            <a:spLocks noGrp="1"/>
          </p:cNvSpPr>
          <p:nvPr>
            <p:ph type="subTitle" idx="1"/>
          </p:nvPr>
        </p:nvSpPr>
        <p:spPr>
          <a:xfrm>
            <a:off x="2484282" y="4237733"/>
            <a:ext cx="8915399" cy="2073126"/>
          </a:xfrm>
        </p:spPr>
        <p:txBody>
          <a:bodyPr>
            <a:normAutofit fontScale="70000" lnSpcReduction="20000"/>
          </a:bodyPr>
          <a:lstStyle/>
          <a:p>
            <a:pPr algn="l"/>
            <a:r>
              <a:rPr lang="en-LK" sz="3200" b="1" dirty="0">
                <a:latin typeface="Times New Roman" panose="02020603050405020304" pitchFamily="18" charset="0"/>
                <a:cs typeface="Times New Roman" panose="02020603050405020304" pitchFamily="18" charset="0"/>
              </a:rPr>
              <a:t>Mrs. Parami Wattetenne</a:t>
            </a:r>
          </a:p>
          <a:p>
            <a:pPr algn="l"/>
            <a:r>
              <a:rPr lang="en-LK" sz="3200" b="1" dirty="0">
                <a:latin typeface="Times New Roman" panose="02020603050405020304" pitchFamily="18" charset="0"/>
                <a:cs typeface="Times New Roman" panose="02020603050405020304" pitchFamily="18" charset="0"/>
              </a:rPr>
              <a:t>Lecturer (Probationary)</a:t>
            </a:r>
          </a:p>
          <a:p>
            <a:pPr algn="l"/>
            <a:r>
              <a:rPr lang="en-LK" sz="3200" b="1" dirty="0">
                <a:latin typeface="Times New Roman" panose="02020603050405020304" pitchFamily="18" charset="0"/>
                <a:cs typeface="Times New Roman" panose="02020603050405020304" pitchFamily="18" charset="0"/>
              </a:rPr>
              <a:t>Department of Multidisciplinary Studies</a:t>
            </a:r>
          </a:p>
          <a:p>
            <a:pPr algn="l"/>
            <a:r>
              <a:rPr lang="en-LK" sz="3200" b="1" dirty="0">
                <a:latin typeface="Times New Roman" panose="02020603050405020304" pitchFamily="18" charset="0"/>
                <a:cs typeface="Times New Roman" panose="02020603050405020304" pitchFamily="18" charset="0"/>
              </a:rPr>
              <a:t>Faculty of Technology </a:t>
            </a:r>
          </a:p>
          <a:p>
            <a:pPr algn="l"/>
            <a:r>
              <a:rPr lang="en-LK" sz="3200" b="1" dirty="0">
                <a:latin typeface="Times New Roman" panose="02020603050405020304" pitchFamily="18" charset="0"/>
                <a:cs typeface="Times New Roman" panose="02020603050405020304" pitchFamily="18" charset="0"/>
              </a:rPr>
              <a:t>University of Ruhuna</a:t>
            </a:r>
          </a:p>
          <a:p>
            <a:endParaRPr lang="en-LK" dirty="0">
              <a:latin typeface="Times New Roman" panose="02020603050405020304" pitchFamily="18" charset="0"/>
              <a:cs typeface="Times New Roman" panose="02020603050405020304" pitchFamily="18" charset="0"/>
            </a:endParaRPr>
          </a:p>
        </p:txBody>
      </p:sp>
      <p:pic>
        <p:nvPicPr>
          <p:cNvPr id="1026" name="Picture 2" descr="A vector">
            <a:extLst>
              <a:ext uri="{FF2B5EF4-FFF2-40B4-BE49-F238E27FC236}">
                <a16:creationId xmlns:a16="http://schemas.microsoft.com/office/drawing/2014/main" id="{A60B0B4B-1B80-B6FF-1D0B-ECCDAF293E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7725" y="1572517"/>
            <a:ext cx="42672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475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1614-439D-EFE2-CC74-9E27BC50E327}"/>
              </a:ext>
            </a:extLst>
          </p:cNvPr>
          <p:cNvSpPr>
            <a:spLocks noGrp="1"/>
          </p:cNvSpPr>
          <p:nvPr>
            <p:ph type="title"/>
          </p:nvPr>
        </p:nvSpPr>
        <p:spPr/>
        <p:txBody>
          <a:bodyPr/>
          <a:lstStyle/>
          <a:p>
            <a:r>
              <a:rPr lang="en-LK" dirty="0"/>
              <a:t>What is Vectors</a:t>
            </a:r>
          </a:p>
        </p:txBody>
      </p:sp>
      <p:sp>
        <p:nvSpPr>
          <p:cNvPr id="3" name="Content Placeholder 2">
            <a:extLst>
              <a:ext uri="{FF2B5EF4-FFF2-40B4-BE49-F238E27FC236}">
                <a16:creationId xmlns:a16="http://schemas.microsoft.com/office/drawing/2014/main" id="{49F3C5F1-0259-DF58-333F-1569083F1A77}"/>
              </a:ext>
            </a:extLst>
          </p:cNvPr>
          <p:cNvSpPr>
            <a:spLocks noGrp="1"/>
          </p:cNvSpPr>
          <p:nvPr>
            <p:ph idx="1"/>
          </p:nvPr>
        </p:nvSpPr>
        <p:spPr/>
        <p:txBody>
          <a:bodyPr>
            <a:normAutofit/>
          </a:bodyPr>
          <a:lstStyle/>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A vector is an object that has both a </a:t>
            </a:r>
            <a:r>
              <a:rPr lang="en-GB" sz="2000" b="0" i="0" u="none" strike="noStrike" dirty="0">
                <a:solidFill>
                  <a:srgbClr val="000070"/>
                </a:solidFill>
                <a:effectLst/>
                <a:latin typeface="Times New Roman" panose="02020603050405020304" pitchFamily="18" charset="0"/>
                <a:cs typeface="Times New Roman" panose="02020603050405020304" pitchFamily="18" charset="0"/>
                <a:hlinkClick r:id="rId2" tooltip="Magnitude of a vector definition: The magnitude of a vector is the length of the vector."/>
              </a:rPr>
              <a:t>magnitude</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and a direction. Geometrically, we can picture a vector as a directed line segment, whose length is the magnitude of the vector and with an arrow indicating the direction. The direction of the vector is from its tail to its head.</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Two vectors are the same if they have the same magnitude and direction. </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Two examples - force and velocity. Both force and velocity are in a particular direction. The magnitude of the vector would indicate the strength of the force or the speed associated with the velocity.</a:t>
            </a:r>
          </a:p>
          <a:p>
            <a:pPr marL="0" indent="0">
              <a:buNone/>
            </a:pPr>
            <a:endParaRPr lang="en-LK" dirty="0"/>
          </a:p>
        </p:txBody>
      </p:sp>
    </p:spTree>
    <p:extLst>
      <p:ext uri="{BB962C8B-B14F-4D97-AF65-F5344CB8AC3E}">
        <p14:creationId xmlns:p14="http://schemas.microsoft.com/office/powerpoint/2010/main" val="1526279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6E255-7696-14F5-66FC-A1D206E7BD6A}"/>
              </a:ext>
            </a:extLst>
          </p:cNvPr>
          <p:cNvSpPr>
            <a:spLocks noGrp="1"/>
          </p:cNvSpPr>
          <p:nvPr>
            <p:ph type="title"/>
          </p:nvPr>
        </p:nvSpPr>
        <p:spPr/>
        <p:txBody>
          <a:bodyPr/>
          <a:lstStyle/>
          <a:p>
            <a:r>
              <a:rPr lang="en-LK" dirty="0"/>
              <a:t>How to denote vectors?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4480B5-5A68-C11D-7980-8CA78072EC9A}"/>
                  </a:ext>
                </a:extLst>
              </p:cNvPr>
              <p:cNvSpPr>
                <a:spLocks noGrp="1"/>
              </p:cNvSpPr>
              <p:nvPr>
                <p:ph idx="1"/>
              </p:nvPr>
            </p:nvSpPr>
            <p:spPr/>
            <p:txBody>
              <a:bodyPr>
                <a:normAutofit/>
              </a:bodyPr>
              <a:lstStyle/>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We denote vectors using boldface as in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or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Especially when writing by hand where one cannot easily write in boldface, people will sometimes denote vectors using arrows as in</a:t>
                </a:r>
                <a:r>
                  <a:rPr lang="en-LK" sz="2000" b="0" i="0" u="none" strike="noStrike" dirty="0">
                    <a:solidFill>
                      <a:srgbClr val="222222"/>
                    </a:solidFill>
                    <a:effectLst/>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LK" sz="2000" b="0" i="1" u="none" strike="noStrike" smtClean="0">
                            <a:solidFill>
                              <a:srgbClr val="222222"/>
                            </a:solidFill>
                            <a:effectLst/>
                            <a:latin typeface="Cambria Math" panose="02040503050406030204" pitchFamily="18" charset="0"/>
                          </a:rPr>
                        </m:ctrlPr>
                      </m:accPr>
                      <m:e>
                        <m:r>
                          <a:rPr lang="en-US" sz="2000" b="0" i="1" u="none" strike="noStrike" smtClean="0">
                            <a:solidFill>
                              <a:srgbClr val="222222"/>
                            </a:solidFill>
                            <a:effectLst/>
                            <a:latin typeface="Cambria Math" panose="02040503050406030204" pitchFamily="18" charset="0"/>
                          </a:rPr>
                          <m:t>𝑎</m:t>
                        </m:r>
                      </m:e>
                    </m:acc>
                  </m:oMath>
                </a14:m>
                <a:r>
                  <a:rPr lang="en-GB" sz="2000" b="0" i="0" u="none" strike="noStrike" dirty="0">
                    <a:solidFill>
                      <a:srgbClr val="222222"/>
                    </a:solidFill>
                    <a:effectLst/>
                    <a:latin typeface="Times New Roman" panose="02020603050405020304" pitchFamily="18" charset="0"/>
                    <a:cs typeface="Times New Roman" panose="02020603050405020304" pitchFamily="18" charset="0"/>
                  </a:rPr>
                  <a:t> or </a:t>
                </a:r>
                <a14:m>
                  <m:oMath xmlns:m="http://schemas.openxmlformats.org/officeDocument/2006/math">
                    <m:acc>
                      <m:accPr>
                        <m:chr m:val="⃗"/>
                        <m:ctrlPr>
                          <a:rPr lang="en-LK" sz="2000" i="1">
                            <a:solidFill>
                              <a:srgbClr val="222222"/>
                            </a:solidFill>
                            <a:latin typeface="Cambria Math" panose="02040503050406030204" pitchFamily="18" charset="0"/>
                          </a:rPr>
                        </m:ctrlPr>
                      </m:accPr>
                      <m:e>
                        <m:r>
                          <a:rPr lang="en-US" sz="2000" b="0" i="1" smtClean="0">
                            <a:solidFill>
                              <a:srgbClr val="222222"/>
                            </a:solidFill>
                            <a:latin typeface="Cambria Math" panose="02040503050406030204" pitchFamily="18" charset="0"/>
                          </a:rPr>
                          <m:t>𝑏</m:t>
                        </m:r>
                      </m:e>
                    </m:acc>
                    <m:r>
                      <a:rPr lang="en-US" sz="2000" b="0" i="1" smtClean="0">
                        <a:solidFill>
                          <a:srgbClr val="222222"/>
                        </a:solidFill>
                        <a:latin typeface="Cambria Math" panose="02040503050406030204" pitchFamily="18" charset="0"/>
                      </a:rPr>
                      <m:t> </m:t>
                    </m:r>
                  </m:oMath>
                </a14:m>
                <a:r>
                  <a:rPr lang="en-GB" sz="2000" dirty="0">
                    <a:latin typeface="Times New Roman" panose="02020603050405020304" pitchFamily="18" charset="0"/>
                    <a:cs typeface="Times New Roman" panose="02020603050405020304" pitchFamily="18" charset="0"/>
                  </a:rPr>
                  <a:t>they use other markings.</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We won't need to use arrows here. We denote the magnitude of the vector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by </a:t>
                </a:r>
                <a14:m>
                  <m:oMath xmlns:m="http://schemas.openxmlformats.org/officeDocument/2006/math">
                    <m:d>
                      <m:dPr>
                        <m:begChr m:val="‖"/>
                        <m:endChr m:val="‖"/>
                        <m:ctrlPr>
                          <a:rPr lang="en-GB" sz="2000" b="0" i="1" u="none" strike="noStrike" smtClean="0">
                            <a:solidFill>
                              <a:srgbClr val="222222"/>
                            </a:solidFill>
                            <a:effectLst/>
                            <a:latin typeface="Cambria Math" panose="02040503050406030204" pitchFamily="18" charset="0"/>
                          </a:rPr>
                        </m:ctrlPr>
                      </m:dPr>
                      <m:e>
                        <m:r>
                          <a:rPr lang="en-US" sz="2000" b="0" i="1" u="none" strike="noStrike" smtClean="0">
                            <a:solidFill>
                              <a:srgbClr val="222222"/>
                            </a:solidFill>
                            <a:effectLst/>
                            <a:latin typeface="Cambria Math" panose="02040503050406030204" pitchFamily="18" charset="0"/>
                          </a:rPr>
                          <m:t>𝑎</m:t>
                        </m:r>
                      </m:e>
                    </m:d>
                  </m:oMath>
                </a14:m>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 When we want to refer to a number and stress that it is not a vector, we can call the number a </a:t>
                </a:r>
                <a:r>
                  <a:rPr lang="en-GB" sz="2000" b="1" i="0" u="none" strike="noStrike" dirty="0">
                    <a:solidFill>
                      <a:schemeClr val="tx1"/>
                    </a:solidFill>
                    <a:effectLst/>
                    <a:latin typeface="Times New Roman" panose="02020603050405020304" pitchFamily="18" charset="0"/>
                    <a:cs typeface="Times New Roman" panose="02020603050405020304" pitchFamily="18" charset="0"/>
                  </a:rPr>
                  <a:t>scalar</a:t>
                </a:r>
                <a:r>
                  <a:rPr lang="en-GB" sz="2000" b="0" i="0" u="none" strike="noStrike" dirty="0">
                    <a:solidFill>
                      <a:schemeClr val="tx1"/>
                    </a:solidFill>
                    <a:effectLst/>
                    <a:latin typeface="Times New Roman" panose="02020603050405020304" pitchFamily="18" charset="0"/>
                    <a:cs typeface="Times New Roman" panose="02020603050405020304" pitchFamily="18" charset="0"/>
                  </a:rPr>
                  <a:t>.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We will denote scalars with italics, as in </a:t>
                </a:r>
                <a:r>
                  <a:rPr lang="en-GB" sz="2000" b="0" i="1"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or </a:t>
                </a:r>
                <a:r>
                  <a:rPr lang="en-GB" sz="2000" b="0" i="1" u="none" strike="noStrike" dirty="0">
                    <a:solidFill>
                      <a:srgbClr val="222222"/>
                    </a:solidFill>
                    <a:effectLst/>
                    <a:latin typeface="Times New Roman" panose="02020603050405020304" pitchFamily="18" charset="0"/>
                    <a:cs typeface="Times New Roman" panose="02020603050405020304" pitchFamily="18" charset="0"/>
                  </a:rPr>
                  <a:t>b</a:t>
                </a:r>
              </a:p>
            </p:txBody>
          </p:sp>
        </mc:Choice>
        <mc:Fallback>
          <p:sp>
            <p:nvSpPr>
              <p:cNvPr id="3" name="Content Placeholder 2">
                <a:extLst>
                  <a:ext uri="{FF2B5EF4-FFF2-40B4-BE49-F238E27FC236}">
                    <a16:creationId xmlns:a16="http://schemas.microsoft.com/office/drawing/2014/main" id="{5D4480B5-5A68-C11D-7980-8CA78072EC9A}"/>
                  </a:ext>
                </a:extLst>
              </p:cNvPr>
              <p:cNvSpPr>
                <a:spLocks noGrp="1" noRot="1" noChangeAspect="1" noMove="1" noResize="1" noEditPoints="1" noAdjustHandles="1" noChangeArrowheads="1" noChangeShapeType="1" noTextEdit="1"/>
              </p:cNvSpPr>
              <p:nvPr>
                <p:ph idx="1"/>
              </p:nvPr>
            </p:nvSpPr>
            <p:spPr>
              <a:blipFill>
                <a:blip r:embed="rId2"/>
                <a:stretch>
                  <a:fillRect l="-712" t="-1007" r="-855"/>
                </a:stretch>
              </a:blipFill>
            </p:spPr>
            <p:txBody>
              <a:bodyPr/>
              <a:lstStyle/>
              <a:p>
                <a:r>
                  <a:rPr lang="en-LK">
                    <a:noFill/>
                  </a:rPr>
                  <a:t> </a:t>
                </a:r>
              </a:p>
            </p:txBody>
          </p:sp>
        </mc:Fallback>
      </mc:AlternateContent>
    </p:spTree>
    <p:extLst>
      <p:ext uri="{BB962C8B-B14F-4D97-AF65-F5344CB8AC3E}">
        <p14:creationId xmlns:p14="http://schemas.microsoft.com/office/powerpoint/2010/main" val="2954665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3FCB-C90D-EF40-D4A2-03AB42D8CAC7}"/>
              </a:ext>
            </a:extLst>
          </p:cNvPr>
          <p:cNvSpPr>
            <a:spLocks noGrp="1"/>
          </p:cNvSpPr>
          <p:nvPr>
            <p:ph type="title"/>
          </p:nvPr>
        </p:nvSpPr>
        <p:spPr/>
        <p:txBody>
          <a:bodyPr/>
          <a:lstStyle/>
          <a:p>
            <a:r>
              <a:rPr lang="en-LK" dirty="0"/>
              <a:t>How to denote vectors?</a:t>
            </a:r>
          </a:p>
        </p:txBody>
      </p:sp>
      <p:sp>
        <p:nvSpPr>
          <p:cNvPr id="3" name="Content Placeholder 2">
            <a:extLst>
              <a:ext uri="{FF2B5EF4-FFF2-40B4-BE49-F238E27FC236}">
                <a16:creationId xmlns:a16="http://schemas.microsoft.com/office/drawing/2014/main" id="{280F746E-E90E-3D40-8BD2-9028FD66289C}"/>
              </a:ext>
            </a:extLst>
          </p:cNvPr>
          <p:cNvSpPr>
            <a:spLocks noGrp="1"/>
          </p:cNvSpPr>
          <p:nvPr>
            <p:ph idx="1"/>
          </p:nvPr>
        </p:nvSpPr>
        <p:spPr>
          <a:xfrm>
            <a:off x="2589212" y="1713875"/>
            <a:ext cx="8915400" cy="3777622"/>
          </a:xfrm>
        </p:spPr>
        <p:txBody>
          <a:bodyPr>
            <a:normAutofit/>
          </a:bodyPr>
          <a:lstStyle/>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You can explore the concept of the magnitude and direction of a vector using the below applet. </a:t>
            </a:r>
          </a:p>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Note that moving the vector around doesn't change the vector, as the position of the vector doesn't affect the magnitude or the direction. </a:t>
            </a:r>
          </a:p>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But if you stretch or turn the vector by moving just its head or its tail, the magnitude or direction will change. </a:t>
            </a:r>
            <a:endParaRPr lang="en-LK"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9CA7EA2-3F65-3FF9-9349-AD75B8A7A35C}"/>
              </a:ext>
            </a:extLst>
          </p:cNvPr>
          <p:cNvPicPr>
            <a:picLocks noChangeAspect="1"/>
          </p:cNvPicPr>
          <p:nvPr/>
        </p:nvPicPr>
        <p:blipFill>
          <a:blip r:embed="rId2"/>
          <a:stretch>
            <a:fillRect/>
          </a:stretch>
        </p:blipFill>
        <p:spPr>
          <a:xfrm>
            <a:off x="7390151" y="3861391"/>
            <a:ext cx="4114461" cy="2833424"/>
          </a:xfrm>
          <a:prstGeom prst="rect">
            <a:avLst/>
          </a:prstGeom>
        </p:spPr>
      </p:pic>
    </p:spTree>
    <p:extLst>
      <p:ext uri="{BB962C8B-B14F-4D97-AF65-F5344CB8AC3E}">
        <p14:creationId xmlns:p14="http://schemas.microsoft.com/office/powerpoint/2010/main" val="804183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860AD-53CE-2842-8C3D-F73B605E060E}"/>
              </a:ext>
            </a:extLst>
          </p:cNvPr>
          <p:cNvSpPr>
            <a:spLocks noGrp="1"/>
          </p:cNvSpPr>
          <p:nvPr>
            <p:ph type="title"/>
          </p:nvPr>
        </p:nvSpPr>
        <p:spPr/>
        <p:txBody>
          <a:bodyPr/>
          <a:lstStyle/>
          <a:p>
            <a:r>
              <a:rPr lang="en-LK" dirty="0"/>
              <a:t>Operations on Vectors</a:t>
            </a:r>
          </a:p>
        </p:txBody>
      </p:sp>
      <p:sp>
        <p:nvSpPr>
          <p:cNvPr id="3" name="Content Placeholder 2">
            <a:extLst>
              <a:ext uri="{FF2B5EF4-FFF2-40B4-BE49-F238E27FC236}">
                <a16:creationId xmlns:a16="http://schemas.microsoft.com/office/drawing/2014/main" id="{C64D08BF-D601-3597-1E95-068317BFEEDC}"/>
              </a:ext>
            </a:extLst>
          </p:cNvPr>
          <p:cNvSpPr>
            <a:spLocks noGrp="1"/>
          </p:cNvSpPr>
          <p:nvPr>
            <p:ph idx="1"/>
          </p:nvPr>
        </p:nvSpPr>
        <p:spPr/>
        <p:txBody>
          <a:bodyPr>
            <a:normAutofit/>
          </a:bodyPr>
          <a:lstStyle/>
          <a:p>
            <a:pPr>
              <a:buFont typeface="+mj-lt"/>
              <a:buAutoNum type="arabicPeriod"/>
            </a:pPr>
            <a:r>
              <a:rPr lang="en-LK" sz="2000" dirty="0">
                <a:latin typeface="Times New Roman" panose="02020603050405020304" pitchFamily="18" charset="0"/>
                <a:cs typeface="Times New Roman" panose="02020603050405020304" pitchFamily="18" charset="0"/>
              </a:rPr>
              <a:t>Addition</a:t>
            </a:r>
          </a:p>
          <a:p>
            <a:pPr>
              <a:buFont typeface="+mj-lt"/>
              <a:buAutoNum type="arabicPeriod"/>
            </a:pPr>
            <a:r>
              <a:rPr lang="en-LK" sz="2000" dirty="0">
                <a:latin typeface="Times New Roman" panose="02020603050405020304" pitchFamily="18" charset="0"/>
                <a:cs typeface="Times New Roman" panose="02020603050405020304" pitchFamily="18" charset="0"/>
              </a:rPr>
              <a:t>Substraction</a:t>
            </a:r>
          </a:p>
          <a:p>
            <a:pPr>
              <a:buFont typeface="+mj-lt"/>
              <a:buAutoNum type="arabicPeriod"/>
            </a:pPr>
            <a:r>
              <a:rPr lang="en-LK" sz="2000" dirty="0">
                <a:latin typeface="Times New Roman" panose="02020603050405020304" pitchFamily="18" charset="0"/>
                <a:cs typeface="Times New Roman" panose="02020603050405020304" pitchFamily="18" charset="0"/>
              </a:rPr>
              <a:t>Multiplication by a scalar</a:t>
            </a:r>
          </a:p>
        </p:txBody>
      </p:sp>
    </p:spTree>
    <p:extLst>
      <p:ext uri="{BB962C8B-B14F-4D97-AF65-F5344CB8AC3E}">
        <p14:creationId xmlns:p14="http://schemas.microsoft.com/office/powerpoint/2010/main" val="2172634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1013B-9138-D49C-94CE-9C1EA0AB5B57}"/>
              </a:ext>
            </a:extLst>
          </p:cNvPr>
          <p:cNvSpPr>
            <a:spLocks noGrp="1"/>
          </p:cNvSpPr>
          <p:nvPr>
            <p:ph type="title"/>
          </p:nvPr>
        </p:nvSpPr>
        <p:spPr/>
        <p:txBody>
          <a:bodyPr/>
          <a:lstStyle/>
          <a:p>
            <a:r>
              <a:rPr lang="en-LK" dirty="0"/>
              <a:t>1.Addition of Vectors</a:t>
            </a:r>
          </a:p>
        </p:txBody>
      </p:sp>
      <p:sp>
        <p:nvSpPr>
          <p:cNvPr id="3" name="Content Placeholder 2">
            <a:extLst>
              <a:ext uri="{FF2B5EF4-FFF2-40B4-BE49-F238E27FC236}">
                <a16:creationId xmlns:a16="http://schemas.microsoft.com/office/drawing/2014/main" id="{5DB61AF8-88CE-FCAC-CC3A-EA6D40838F81}"/>
              </a:ext>
            </a:extLst>
          </p:cNvPr>
          <p:cNvSpPr>
            <a:spLocks noGrp="1"/>
          </p:cNvSpPr>
          <p:nvPr>
            <p:ph idx="1"/>
          </p:nvPr>
        </p:nvSpPr>
        <p:spPr/>
        <p:txBody>
          <a:bodyPr>
            <a:normAutofit/>
          </a:bodyPr>
          <a:lstStyle/>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Given two vectors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and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the sum </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err="1">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as follows. </a:t>
            </a:r>
          </a:p>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We translate the vector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until its tail coincides with the head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t>
            </a:r>
          </a:p>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Then, the directed line segment from the tail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 to the head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is the vector </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err="1">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endParaRPr lang="en-LK"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51E8AD-88F9-2347-A3AB-C52606DE38A9}"/>
              </a:ext>
            </a:extLst>
          </p:cNvPr>
          <p:cNvPicPr>
            <a:picLocks noChangeAspect="1"/>
          </p:cNvPicPr>
          <p:nvPr/>
        </p:nvPicPr>
        <p:blipFill>
          <a:blip r:embed="rId2"/>
          <a:stretch>
            <a:fillRect/>
          </a:stretch>
        </p:blipFill>
        <p:spPr>
          <a:xfrm>
            <a:off x="3713917" y="3846955"/>
            <a:ext cx="6083300" cy="1892300"/>
          </a:xfrm>
          <a:prstGeom prst="rect">
            <a:avLst/>
          </a:prstGeom>
        </p:spPr>
      </p:pic>
    </p:spTree>
    <p:extLst>
      <p:ext uri="{BB962C8B-B14F-4D97-AF65-F5344CB8AC3E}">
        <p14:creationId xmlns:p14="http://schemas.microsoft.com/office/powerpoint/2010/main" val="1542504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7AF46-5F71-4F9F-04BA-0D6D804BB134}"/>
              </a:ext>
            </a:extLst>
          </p:cNvPr>
          <p:cNvSpPr>
            <a:spLocks noGrp="1"/>
          </p:cNvSpPr>
          <p:nvPr>
            <p:ph type="title"/>
          </p:nvPr>
        </p:nvSpPr>
        <p:spPr/>
        <p:txBody>
          <a:bodyPr/>
          <a:lstStyle/>
          <a:p>
            <a:r>
              <a:rPr lang="en-LK" dirty="0"/>
              <a:t>1. Addition of Vectors -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5635085-5FD7-2672-126A-0B5EF1515CBD}"/>
                  </a:ext>
                </a:extLst>
              </p:cNvPr>
              <p:cNvSpPr>
                <a:spLocks noGrp="1"/>
              </p:cNvSpPr>
              <p:nvPr>
                <p:ph idx="1"/>
              </p:nvPr>
            </p:nvSpPr>
            <p:spPr/>
            <p:txBody>
              <a:bodyPr>
                <a:normAutofit/>
              </a:bodyPr>
              <a:lstStyle/>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Ia car is travelling due north at 20 miles per hour and a child in the back seat behind the driver throws an object at 20 miles per hour toward his sibling who is sitting due east of him, then the velocity of the object will be in a north-easterly direction. The velocity vectors form a right triangle, where the total velocity is the hypotenuse. Therefore, the total speed of the object (i.e., the magnitude of the velocity vector) is </a:t>
                </a:r>
                <a14:m>
                  <m:oMath xmlns:m="http://schemas.openxmlformats.org/officeDocument/2006/math">
                    <m:rad>
                      <m:radPr>
                        <m:degHide m:val="on"/>
                        <m:ctrlPr>
                          <a:rPr lang="en-GB" sz="2000" b="0" i="1" u="none" strike="noStrike" smtClean="0">
                            <a:solidFill>
                              <a:srgbClr val="222222"/>
                            </a:solidFill>
                            <a:effectLst/>
                            <a:latin typeface="Cambria Math" panose="02040503050406030204" pitchFamily="18" charset="0"/>
                          </a:rPr>
                        </m:ctrlPr>
                      </m:radPr>
                      <m:deg/>
                      <m:e>
                        <m:sSup>
                          <m:sSupPr>
                            <m:ctrlPr>
                              <a:rPr lang="en-GB" sz="2000" b="0" i="1" u="none" strike="noStrike" smtClean="0">
                                <a:solidFill>
                                  <a:srgbClr val="222222"/>
                                </a:solidFill>
                                <a:effectLst/>
                                <a:latin typeface="Cambria Math" panose="02040503050406030204" pitchFamily="18" charset="0"/>
                              </a:rPr>
                            </m:ctrlPr>
                          </m:sSupPr>
                          <m:e>
                            <m:r>
                              <a:rPr lang="en-US" sz="2000" b="0" i="1" u="none" strike="noStrike" smtClean="0">
                                <a:solidFill>
                                  <a:srgbClr val="222222"/>
                                </a:solidFill>
                                <a:effectLst/>
                                <a:latin typeface="Cambria Math" panose="02040503050406030204" pitchFamily="18" charset="0"/>
                              </a:rPr>
                              <m:t>20</m:t>
                            </m:r>
                          </m:e>
                          <m:sup>
                            <m:r>
                              <a:rPr lang="en-US" sz="2000" b="0" i="1" u="none" strike="noStrike" smtClean="0">
                                <a:solidFill>
                                  <a:srgbClr val="222222"/>
                                </a:solidFill>
                                <a:effectLst/>
                                <a:latin typeface="Cambria Math" panose="02040503050406030204" pitchFamily="18" charset="0"/>
                              </a:rPr>
                              <m:t>2</m:t>
                            </m:r>
                          </m:sup>
                        </m:sSup>
                        <m:r>
                          <a:rPr lang="en-US" sz="2000" b="0" i="1" u="none" strike="noStrike" smtClean="0">
                            <a:solidFill>
                              <a:srgbClr val="222222"/>
                            </a:solidFill>
                            <a:effectLst/>
                            <a:latin typeface="Cambria Math" panose="02040503050406030204" pitchFamily="18" charset="0"/>
                          </a:rPr>
                          <m:t>+</m:t>
                        </m:r>
                        <m:sSup>
                          <m:sSupPr>
                            <m:ctrlPr>
                              <a:rPr lang="en-US" sz="2000" b="0" i="1" u="none" strike="noStrike" smtClean="0">
                                <a:solidFill>
                                  <a:srgbClr val="222222"/>
                                </a:solidFill>
                                <a:effectLst/>
                                <a:latin typeface="Cambria Math" panose="02040503050406030204" pitchFamily="18" charset="0"/>
                              </a:rPr>
                            </m:ctrlPr>
                          </m:sSupPr>
                          <m:e>
                            <m:r>
                              <a:rPr lang="en-US" sz="2000" b="0" i="1" u="none" strike="noStrike" smtClean="0">
                                <a:solidFill>
                                  <a:srgbClr val="222222"/>
                                </a:solidFill>
                                <a:effectLst/>
                                <a:latin typeface="Cambria Math" panose="02040503050406030204" pitchFamily="18" charset="0"/>
                              </a:rPr>
                              <m:t>20</m:t>
                            </m:r>
                          </m:e>
                          <m:sup>
                            <m:r>
                              <a:rPr lang="en-US" sz="2000" b="0" i="1" u="none" strike="noStrike" smtClean="0">
                                <a:solidFill>
                                  <a:srgbClr val="222222"/>
                                </a:solidFill>
                                <a:effectLst/>
                                <a:latin typeface="Cambria Math" panose="02040503050406030204" pitchFamily="18" charset="0"/>
                              </a:rPr>
                              <m:t>2</m:t>
                            </m:r>
                          </m:sup>
                        </m:sSup>
                      </m:e>
                    </m:rad>
                    <m:r>
                      <a:rPr lang="en-US" sz="2000" b="0" i="1" u="none" strike="noStrike" smtClean="0">
                        <a:solidFill>
                          <a:srgbClr val="222222"/>
                        </a:solidFill>
                        <a:effectLst/>
                        <a:latin typeface="Cambria Math" panose="02040503050406030204" pitchFamily="18" charset="0"/>
                      </a:rPr>
                      <m:t>=20</m:t>
                    </m:r>
                    <m:rad>
                      <m:radPr>
                        <m:degHide m:val="on"/>
                        <m:ctrlPr>
                          <a:rPr lang="en-US" sz="2000" b="0" i="1" u="none" strike="noStrike" smtClean="0">
                            <a:solidFill>
                              <a:srgbClr val="222222"/>
                            </a:solidFill>
                            <a:effectLst/>
                            <a:latin typeface="Cambria Math" panose="02040503050406030204" pitchFamily="18" charset="0"/>
                          </a:rPr>
                        </m:ctrlPr>
                      </m:radPr>
                      <m:deg/>
                      <m:e>
                        <m:r>
                          <a:rPr lang="en-US" sz="2000" b="0" i="1" u="none" strike="noStrike" smtClean="0">
                            <a:solidFill>
                              <a:srgbClr val="222222"/>
                            </a:solidFill>
                            <a:effectLst/>
                            <a:latin typeface="Cambria Math" panose="02040503050406030204" pitchFamily="18" charset="0"/>
                          </a:rPr>
                          <m:t>2</m:t>
                        </m:r>
                      </m:e>
                    </m:rad>
                  </m:oMath>
                </a14:m>
                <a:r>
                  <a:rPr lang="en-LK" sz="2000" dirty="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miles per hour relative to the ground.</a:t>
                </a:r>
                <a:endParaRPr lang="en-LK" sz="20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05635085-5FD7-2672-126A-0B5EF1515CBD}"/>
                  </a:ext>
                </a:extLst>
              </p:cNvPr>
              <p:cNvSpPr>
                <a:spLocks noGrp="1" noRot="1" noChangeAspect="1" noMove="1" noResize="1" noEditPoints="1" noAdjustHandles="1" noChangeArrowheads="1" noChangeShapeType="1" noTextEdit="1"/>
              </p:cNvSpPr>
              <p:nvPr>
                <p:ph idx="1"/>
              </p:nvPr>
            </p:nvSpPr>
            <p:spPr>
              <a:blipFill>
                <a:blip r:embed="rId2"/>
                <a:stretch>
                  <a:fillRect l="-712" t="-1007" r="-855"/>
                </a:stretch>
              </a:blipFill>
            </p:spPr>
            <p:txBody>
              <a:bodyPr/>
              <a:lstStyle/>
              <a:p>
                <a:r>
                  <a:rPr lang="en-LK">
                    <a:noFill/>
                  </a:rPr>
                  <a:t> </a:t>
                </a:r>
              </a:p>
            </p:txBody>
          </p:sp>
        </mc:Fallback>
      </mc:AlternateContent>
    </p:spTree>
    <p:extLst>
      <p:ext uri="{BB962C8B-B14F-4D97-AF65-F5344CB8AC3E}">
        <p14:creationId xmlns:p14="http://schemas.microsoft.com/office/powerpoint/2010/main" val="2548146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D2B6-7702-5F57-ED87-D2928F181F16}"/>
              </a:ext>
            </a:extLst>
          </p:cNvPr>
          <p:cNvSpPr>
            <a:spLocks noGrp="1"/>
          </p:cNvSpPr>
          <p:nvPr>
            <p:ph type="title"/>
          </p:nvPr>
        </p:nvSpPr>
        <p:spPr/>
        <p:txBody>
          <a:bodyPr/>
          <a:lstStyle/>
          <a:p>
            <a:r>
              <a:rPr lang="en-LK" dirty="0"/>
              <a:t>1. Addition of Vectors</a:t>
            </a:r>
          </a:p>
        </p:txBody>
      </p:sp>
      <p:sp>
        <p:nvSpPr>
          <p:cNvPr id="3" name="Content Placeholder 2">
            <a:extLst>
              <a:ext uri="{FF2B5EF4-FFF2-40B4-BE49-F238E27FC236}">
                <a16:creationId xmlns:a16="http://schemas.microsoft.com/office/drawing/2014/main" id="{5F8A8A7F-F16C-5C80-89AC-53AB8C64CEC1}"/>
              </a:ext>
            </a:extLst>
          </p:cNvPr>
          <p:cNvSpPr>
            <a:spLocks noGrp="1"/>
          </p:cNvSpPr>
          <p:nvPr>
            <p:ph idx="1"/>
          </p:nvPr>
        </p:nvSpPr>
        <p:spPr/>
        <p:txBody>
          <a:bodyPr/>
          <a:lstStyle/>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Addition of vectors satisfies two important properties.</a:t>
            </a:r>
          </a:p>
          <a:p>
            <a:pPr algn="ctr"/>
            <a:r>
              <a:rPr lang="en-GB" sz="2000" b="0" i="0" u="none" strike="noStrike" dirty="0">
                <a:solidFill>
                  <a:srgbClr val="222222"/>
                </a:solidFill>
                <a:effectLst/>
                <a:latin typeface="Times New Roman" panose="02020603050405020304" pitchFamily="18" charset="0"/>
                <a:cs typeface="Times New Roman" panose="02020603050405020304" pitchFamily="18" charset="0"/>
              </a:rPr>
              <a:t>The commutative law, </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err="1">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err="1">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p>
          <a:p>
            <a:pPr algn="ctr"/>
            <a:r>
              <a:rPr lang="en-GB" sz="2000" b="0" i="0" u="none" strike="noStrike" dirty="0">
                <a:solidFill>
                  <a:srgbClr val="222222"/>
                </a:solidFill>
                <a:effectLst/>
                <a:latin typeface="Times New Roman" panose="02020603050405020304" pitchFamily="18" charset="0"/>
                <a:cs typeface="Times New Roman" panose="02020603050405020304" pitchFamily="18" charset="0"/>
              </a:rPr>
              <a:t>The associative</a:t>
            </a:r>
            <a:r>
              <a:rPr lang="en-GB" sz="2000" dirty="0">
                <a:solidFill>
                  <a:srgbClr val="222222"/>
                </a:solidFill>
                <a:latin typeface="Times New Roman" panose="02020603050405020304" pitchFamily="18" charset="0"/>
                <a:cs typeface="Times New Roman" panose="02020603050405020304" pitchFamily="18" charset="0"/>
              </a:rPr>
              <a:t>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err="1">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c</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err="1">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err="1">
                <a:solidFill>
                  <a:srgbClr val="222222"/>
                </a:solidFill>
                <a:effectLst/>
                <a:latin typeface="Times New Roman" panose="02020603050405020304" pitchFamily="18" charset="0"/>
                <a:cs typeface="Times New Roman" panose="02020603050405020304" pitchFamily="18" charset="0"/>
              </a:rPr>
              <a:t>c</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p>
          <a:p>
            <a:pPr marL="0" indent="0">
              <a:buNone/>
            </a:pPr>
            <a:br>
              <a:rPr lang="en-GB" dirty="0"/>
            </a:br>
            <a:br>
              <a:rPr lang="en-GB" dirty="0"/>
            </a:br>
            <a:endParaRPr lang="en-LK" dirty="0"/>
          </a:p>
        </p:txBody>
      </p:sp>
    </p:spTree>
    <p:extLst>
      <p:ext uri="{BB962C8B-B14F-4D97-AF65-F5344CB8AC3E}">
        <p14:creationId xmlns:p14="http://schemas.microsoft.com/office/powerpoint/2010/main" val="3963163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14967-D5F8-FAB9-317A-97A246D7E5DB}"/>
              </a:ext>
            </a:extLst>
          </p:cNvPr>
          <p:cNvSpPr>
            <a:spLocks noGrp="1"/>
          </p:cNvSpPr>
          <p:nvPr>
            <p:ph type="title"/>
          </p:nvPr>
        </p:nvSpPr>
        <p:spPr/>
        <p:txBody>
          <a:bodyPr/>
          <a:lstStyle/>
          <a:p>
            <a:r>
              <a:rPr lang="en-LK" dirty="0"/>
              <a:t>2. Vector Substraction</a:t>
            </a:r>
          </a:p>
        </p:txBody>
      </p:sp>
      <p:sp>
        <p:nvSpPr>
          <p:cNvPr id="3" name="Content Placeholder 2">
            <a:extLst>
              <a:ext uri="{FF2B5EF4-FFF2-40B4-BE49-F238E27FC236}">
                <a16:creationId xmlns:a16="http://schemas.microsoft.com/office/drawing/2014/main" id="{7E7F5EC8-D795-9513-6BD5-7F6A9B143233}"/>
              </a:ext>
            </a:extLst>
          </p:cNvPr>
          <p:cNvSpPr>
            <a:spLocks noGrp="1"/>
          </p:cNvSpPr>
          <p:nvPr>
            <p:ph idx="1"/>
          </p:nvPr>
        </p:nvSpPr>
        <p:spPr/>
        <p:txBody>
          <a:bodyPr/>
          <a:lstStyle/>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We define subtraction as addition with the opposite of a vector: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p>
          <a:p>
            <a:br>
              <a:rPr lang="en-GB" dirty="0"/>
            </a:br>
            <a:endParaRPr lang="en-LK" dirty="0"/>
          </a:p>
        </p:txBody>
      </p:sp>
      <p:pic>
        <p:nvPicPr>
          <p:cNvPr id="5" name="Picture 4">
            <a:extLst>
              <a:ext uri="{FF2B5EF4-FFF2-40B4-BE49-F238E27FC236}">
                <a16:creationId xmlns:a16="http://schemas.microsoft.com/office/drawing/2014/main" id="{451D1638-8D60-FE8D-F300-D743CCC7319C}"/>
              </a:ext>
            </a:extLst>
          </p:cNvPr>
          <p:cNvPicPr>
            <a:picLocks noChangeAspect="1"/>
          </p:cNvPicPr>
          <p:nvPr/>
        </p:nvPicPr>
        <p:blipFill>
          <a:blip r:embed="rId2"/>
          <a:stretch>
            <a:fillRect/>
          </a:stretch>
        </p:blipFill>
        <p:spPr>
          <a:xfrm>
            <a:off x="2874364" y="3228661"/>
            <a:ext cx="7162800" cy="1587500"/>
          </a:xfrm>
          <a:prstGeom prst="rect">
            <a:avLst/>
          </a:prstGeom>
        </p:spPr>
      </p:pic>
    </p:spTree>
    <p:extLst>
      <p:ext uri="{BB962C8B-B14F-4D97-AF65-F5344CB8AC3E}">
        <p14:creationId xmlns:p14="http://schemas.microsoft.com/office/powerpoint/2010/main" val="4062045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DF763-2DAB-23B5-17D2-A8892C184CB8}"/>
              </a:ext>
            </a:extLst>
          </p:cNvPr>
          <p:cNvSpPr>
            <a:spLocks noGrp="1"/>
          </p:cNvSpPr>
          <p:nvPr>
            <p:ph type="title"/>
          </p:nvPr>
        </p:nvSpPr>
        <p:spPr/>
        <p:txBody>
          <a:bodyPr/>
          <a:lstStyle/>
          <a:p>
            <a:r>
              <a:rPr lang="en-LK" dirty="0"/>
              <a:t>3. Scalar Multiplication</a:t>
            </a:r>
          </a:p>
        </p:txBody>
      </p:sp>
      <p:sp>
        <p:nvSpPr>
          <p:cNvPr id="3" name="Content Placeholder 2">
            <a:extLst>
              <a:ext uri="{FF2B5EF4-FFF2-40B4-BE49-F238E27FC236}">
                <a16:creationId xmlns:a16="http://schemas.microsoft.com/office/drawing/2014/main" id="{7E08E758-3728-251C-1EB7-B1F2C19E8E07}"/>
              </a:ext>
            </a:extLst>
          </p:cNvPr>
          <p:cNvSpPr>
            <a:spLocks noGrp="1"/>
          </p:cNvSpPr>
          <p:nvPr>
            <p:ph idx="1"/>
          </p:nvPr>
        </p:nvSpPr>
        <p:spPr>
          <a:xfrm>
            <a:off x="2589212" y="2133600"/>
            <a:ext cx="8915400" cy="4100290"/>
          </a:xfrm>
        </p:spPr>
        <p:txBody>
          <a:bodyPr>
            <a:normAutofit lnSpcReduction="10000"/>
          </a:bodyPr>
          <a:lstStyle/>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Given a vector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dirty="0">
                <a:solidFill>
                  <a:srgbClr val="222222"/>
                </a:solidFill>
                <a:latin typeface="Times New Roman" panose="02020603050405020304" pitchFamily="18" charset="0"/>
                <a:cs typeface="Times New Roman" panose="02020603050405020304" pitchFamily="18" charset="0"/>
              </a:rPr>
              <a:t>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and a real number </a:t>
            </a:r>
            <a:r>
              <a:rPr lang="en-GB" sz="2000" b="0" i="0" u="none" strike="noStrike" dirty="0">
                <a:solidFill>
                  <a:schemeClr val="tx1"/>
                </a:solidFill>
                <a:effectLst/>
                <a:latin typeface="Times New Roman" panose="02020603050405020304" pitchFamily="18" charset="0"/>
                <a:cs typeface="Times New Roman" panose="02020603050405020304" pitchFamily="18" charset="0"/>
              </a:rPr>
              <a:t>(</a:t>
            </a:r>
            <a:r>
              <a:rPr lang="en-GB" sz="2000" b="0" i="0" u="none" strike="noStrike" dirty="0">
                <a:solidFill>
                  <a:schemeClr val="tx1"/>
                </a:solidFill>
                <a:effectLst/>
                <a:latin typeface="Times New Roman" panose="02020603050405020304" pitchFamily="18" charset="0"/>
                <a:cs typeface="Times New Roman" panose="02020603050405020304" pitchFamily="18" charset="0"/>
                <a:hlinkClick r:id="rId2" tooltip="Scalar definition: A scalar is a real number.">
                  <a:extLst>
                    <a:ext uri="{A12FA001-AC4F-418D-AE19-62706E023703}">
                      <ahyp:hlinkClr xmlns:ahyp="http://schemas.microsoft.com/office/drawing/2018/hyperlinkcolor" val="tx"/>
                    </a:ext>
                  </a:extLst>
                </a:hlinkClick>
              </a:rPr>
              <a:t>scalar</a:t>
            </a:r>
            <a:r>
              <a:rPr lang="en-GB" sz="2000" b="0" i="0" u="none" strike="noStrike" dirty="0">
                <a:solidFill>
                  <a:schemeClr val="tx1"/>
                </a:solidFill>
                <a:effectLst/>
                <a:latin typeface="Times New Roman" panose="02020603050405020304" pitchFamily="18" charset="0"/>
                <a:cs typeface="Times New Roman" panose="02020603050405020304" pitchFamily="18" charset="0"/>
              </a:rPr>
              <a:t>)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we can form the vector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 as follows.</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 If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is positive, then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 is the vector whose direction is the same as the direction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and whose length is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times the length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 In this case, multiplication by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simply stretches (if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λ&gt;1)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or compresses (if 0&lt;</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λ&lt;1)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the vector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If, on the other hand,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is negative, then we have to take the opposite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before stretching or compressing it. </a:t>
            </a:r>
          </a:p>
          <a:p>
            <a:pPr algn="just"/>
            <a:r>
              <a:rPr lang="en-GB" sz="2000" b="0" i="0" u="none" strike="noStrike" dirty="0">
                <a:solidFill>
                  <a:srgbClr val="222222"/>
                </a:solidFill>
                <a:effectLst/>
                <a:latin typeface="Times New Roman" panose="02020603050405020304" pitchFamily="18" charset="0"/>
                <a:cs typeface="Times New Roman" panose="02020603050405020304" pitchFamily="18" charset="0"/>
              </a:rPr>
              <a:t>In other words, the vector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1" dirty="0">
                <a:solidFill>
                  <a:srgbClr val="222222"/>
                </a:solidFill>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points in the opposite direction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and the length of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is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times the length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No matter the sign of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we observe that the magnitude of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is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times the magnitude of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dirty="0">
                <a:solidFill>
                  <a:srgbClr val="222222"/>
                </a:solidFill>
                <a:latin typeface="Times New Roman" panose="02020603050405020304" pitchFamily="18" charset="0"/>
                <a:cs typeface="Times New Roman" panose="02020603050405020304" pitchFamily="18" charset="0"/>
              </a:rPr>
              <a:t>||.</a:t>
            </a:r>
            <a:br>
              <a:rPr lang="en-GB" dirty="0"/>
            </a:br>
            <a:endParaRPr lang="en-LK" dirty="0"/>
          </a:p>
        </p:txBody>
      </p:sp>
    </p:spTree>
    <p:extLst>
      <p:ext uri="{BB962C8B-B14F-4D97-AF65-F5344CB8AC3E}">
        <p14:creationId xmlns:p14="http://schemas.microsoft.com/office/powerpoint/2010/main" val="3449930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43A50-BF44-64C1-BAC5-F7C72AB68549}"/>
              </a:ext>
            </a:extLst>
          </p:cNvPr>
          <p:cNvSpPr>
            <a:spLocks noGrp="1"/>
          </p:cNvSpPr>
          <p:nvPr>
            <p:ph type="title"/>
          </p:nvPr>
        </p:nvSpPr>
        <p:spPr/>
        <p:txBody>
          <a:bodyPr/>
          <a:lstStyle/>
          <a:p>
            <a:r>
              <a:rPr lang="en-LK" dirty="0"/>
              <a:t>3. Scalar Multiplication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1860369-0867-88C0-01B6-62C196B5F1F0}"/>
                  </a:ext>
                </a:extLst>
              </p:cNvPr>
              <p:cNvSpPr>
                <a:spLocks noGrp="1"/>
              </p:cNvSpPr>
              <p:nvPr>
                <p:ph idx="1"/>
              </p:nvPr>
            </p:nvSpPr>
            <p:spPr/>
            <p:txBody>
              <a:bodyPr>
                <a:normAutofit fontScale="92500" lnSpcReduction="10000"/>
              </a:bodyPr>
              <a:lstStyle/>
              <a:p>
                <a:r>
                  <a:rPr lang="en-GB" sz="2000" dirty="0">
                    <a:effectLst/>
                    <a:latin typeface="Times New Roman" panose="02020603050405020304" pitchFamily="18" charset="0"/>
                    <a:cs typeface="Times New Roman" panose="02020603050405020304" pitchFamily="18" charset="0"/>
                  </a:rPr>
                  <a:t>Scalar multiplications satisfies many of the same properties as the usual multiplication.</a:t>
                </a:r>
              </a:p>
              <a:p>
                <a:pPr lvl="1">
                  <a:buFont typeface="+mj-lt"/>
                  <a:buAutoNum type="arabicPeriod"/>
                </a:pPr>
                <a14:m>
                  <m:oMath xmlns:m="http://schemas.openxmlformats.org/officeDocument/2006/math">
                    <m:r>
                      <a:rPr lang="en-GB" sz="2200" b="0" i="1" u="none" strike="noStrike" dirty="0" smtClean="0">
                        <a:effectLst/>
                        <a:latin typeface="Cambria Math" panose="02040503050406030204" pitchFamily="18" charset="0"/>
                        <a:cs typeface="Times New Roman" panose="02020603050405020304" pitchFamily="18" charset="0"/>
                      </a:rPr>
                      <m:t>𝑠</m:t>
                    </m:r>
                    <m:r>
                      <a:rPr lang="en-GB" sz="2200" b="0" i="1" u="none" strike="noStrike" dirty="0" smtClean="0">
                        <a:effectLst/>
                        <a:latin typeface="Cambria Math" panose="02040503050406030204" pitchFamily="18" charset="0"/>
                        <a:cs typeface="Times New Roman" panose="02020603050405020304" pitchFamily="18" charset="0"/>
                      </a:rPr>
                      <m:t>(</m:t>
                    </m:r>
                    <m:r>
                      <a:rPr lang="en-GB" sz="2200" b="1" i="1" u="none" strike="noStrike" dirty="0" err="1" smtClean="0">
                        <a:effectLst/>
                        <a:latin typeface="Cambria Math" panose="02040503050406030204" pitchFamily="18" charset="0"/>
                        <a:cs typeface="Times New Roman" panose="02020603050405020304" pitchFamily="18" charset="0"/>
                      </a:rPr>
                      <m:t>𝒂</m:t>
                    </m:r>
                    <m:r>
                      <a:rPr lang="en-GB" sz="2200" b="0" i="1" u="none" strike="noStrike" dirty="0" err="1" smtClean="0">
                        <a:effectLst/>
                        <a:latin typeface="Cambria Math" panose="02040503050406030204" pitchFamily="18" charset="0"/>
                        <a:cs typeface="Times New Roman" panose="02020603050405020304" pitchFamily="18" charset="0"/>
                      </a:rPr>
                      <m:t>+</m:t>
                    </m:r>
                    <m:r>
                      <a:rPr lang="en-GB" sz="2200" b="1" i="1" u="none" strike="noStrike" dirty="0" err="1" smtClean="0">
                        <a:effectLst/>
                        <a:latin typeface="Cambria Math" panose="02040503050406030204" pitchFamily="18" charset="0"/>
                        <a:cs typeface="Times New Roman" panose="02020603050405020304" pitchFamily="18" charset="0"/>
                      </a:rPr>
                      <m:t>𝒃</m:t>
                    </m:r>
                    <m:r>
                      <a:rPr lang="en-GB" sz="2200" b="0" i="1" u="none" strike="noStrike" dirty="0" smtClean="0">
                        <a:effectLst/>
                        <a:latin typeface="Cambria Math" panose="02040503050406030204" pitchFamily="18" charset="0"/>
                        <a:cs typeface="Times New Roman" panose="02020603050405020304" pitchFamily="18" charset="0"/>
                      </a:rPr>
                      <m:t>)=</m:t>
                    </m:r>
                    <m:r>
                      <a:rPr lang="en-GB" sz="2200" b="0" i="1" u="none" strike="noStrike" dirty="0" err="1" smtClean="0">
                        <a:effectLst/>
                        <a:latin typeface="Cambria Math" panose="02040503050406030204" pitchFamily="18" charset="0"/>
                        <a:cs typeface="Times New Roman" panose="02020603050405020304" pitchFamily="18" charset="0"/>
                      </a:rPr>
                      <m:t>𝑠</m:t>
                    </m:r>
                    <m:r>
                      <a:rPr lang="en-GB" sz="2200" b="1" i="1" u="none" strike="noStrike" dirty="0" err="1" smtClean="0">
                        <a:effectLst/>
                        <a:latin typeface="Cambria Math" panose="02040503050406030204" pitchFamily="18" charset="0"/>
                        <a:cs typeface="Times New Roman" panose="02020603050405020304" pitchFamily="18" charset="0"/>
                      </a:rPr>
                      <m:t>𝒂</m:t>
                    </m:r>
                    <m:r>
                      <a:rPr lang="en-GB" sz="2200" b="0" i="1" u="none" strike="noStrike" dirty="0" err="1" smtClean="0">
                        <a:effectLst/>
                        <a:latin typeface="Cambria Math" panose="02040503050406030204" pitchFamily="18" charset="0"/>
                        <a:cs typeface="Times New Roman" panose="02020603050405020304" pitchFamily="18" charset="0"/>
                      </a:rPr>
                      <m:t>+</m:t>
                    </m:r>
                    <m:r>
                      <a:rPr lang="en-GB" sz="2200" b="0" i="1" u="none" strike="noStrike" dirty="0" err="1" smtClean="0">
                        <a:effectLst/>
                        <a:latin typeface="Cambria Math" panose="02040503050406030204" pitchFamily="18" charset="0"/>
                        <a:cs typeface="Times New Roman" panose="02020603050405020304" pitchFamily="18" charset="0"/>
                      </a:rPr>
                      <m:t>𝑠</m:t>
                    </m:r>
                    <m:r>
                      <a:rPr lang="en-GB" sz="2200" b="1" i="1" u="none" strike="noStrike" dirty="0" err="1" smtClean="0">
                        <a:effectLst/>
                        <a:latin typeface="Cambria Math" panose="02040503050406030204" pitchFamily="18" charset="0"/>
                        <a:cs typeface="Times New Roman" panose="02020603050405020304" pitchFamily="18" charset="0"/>
                      </a:rPr>
                      <m:t>𝒃</m:t>
                    </m:r>
                    <m:r>
                      <a:rPr lang="en-GB" sz="2200" i="1" dirty="0" smtClean="0">
                        <a:effectLst/>
                        <a:latin typeface="Cambria Math" panose="02040503050406030204" pitchFamily="18" charset="0"/>
                        <a:cs typeface="Times New Roman" panose="02020603050405020304" pitchFamily="18" charset="0"/>
                      </a:rPr>
                      <m:t> </m:t>
                    </m:r>
                  </m:oMath>
                </a14:m>
                <a:r>
                  <a:rPr lang="en-GB" sz="2200" dirty="0">
                    <a:effectLst/>
                    <a:latin typeface="Times New Roman" panose="02020603050405020304" pitchFamily="18" charset="0"/>
                    <a:cs typeface="Times New Roman" panose="02020603050405020304" pitchFamily="18" charset="0"/>
                  </a:rPr>
                  <a:t>(distributive law, form 1)</a:t>
                </a:r>
              </a:p>
              <a:p>
                <a:pPr lvl="1">
                  <a:buFont typeface="+mj-lt"/>
                  <a:buAutoNum type="arabicPeriod"/>
                </a:pPr>
                <a14:m>
                  <m:oMath xmlns:m="http://schemas.openxmlformats.org/officeDocument/2006/math">
                    <m:r>
                      <a:rPr lang="en-GB" sz="2200" b="0" i="1" u="none" strike="noStrike" dirty="0" smtClean="0">
                        <a:effectLst/>
                        <a:latin typeface="Cambria Math" panose="02040503050406030204" pitchFamily="18" charset="0"/>
                        <a:cs typeface="Times New Roman" panose="02020603050405020304" pitchFamily="18" charset="0"/>
                      </a:rPr>
                      <m:t>(</m:t>
                    </m:r>
                    <m:r>
                      <a:rPr lang="en-GB" sz="2200" b="0" i="1" u="none" strike="noStrike" dirty="0" err="1" smtClean="0">
                        <a:effectLst/>
                        <a:latin typeface="Cambria Math" panose="02040503050406030204" pitchFamily="18" charset="0"/>
                        <a:cs typeface="Times New Roman" panose="02020603050405020304" pitchFamily="18" charset="0"/>
                      </a:rPr>
                      <m:t>𝑠</m:t>
                    </m:r>
                    <m:r>
                      <a:rPr lang="en-GB" sz="2200" b="0" i="1" u="none" strike="noStrike" dirty="0" err="1" smtClean="0">
                        <a:effectLst/>
                        <a:latin typeface="Cambria Math" panose="02040503050406030204" pitchFamily="18" charset="0"/>
                        <a:cs typeface="Times New Roman" panose="02020603050405020304" pitchFamily="18" charset="0"/>
                      </a:rPr>
                      <m:t>+</m:t>
                    </m:r>
                    <m:r>
                      <a:rPr lang="en-GB" sz="2200" b="0" i="1" u="none" strike="noStrike" dirty="0" err="1" smtClean="0">
                        <a:effectLst/>
                        <a:latin typeface="Cambria Math" panose="02040503050406030204" pitchFamily="18" charset="0"/>
                        <a:cs typeface="Times New Roman" panose="02020603050405020304" pitchFamily="18" charset="0"/>
                      </a:rPr>
                      <m:t>𝑡</m:t>
                    </m:r>
                    <m:r>
                      <a:rPr lang="en-GB" sz="2200" b="0" i="1" u="none" strike="noStrike" dirty="0" smtClean="0">
                        <a:effectLst/>
                        <a:latin typeface="Cambria Math" panose="02040503050406030204" pitchFamily="18" charset="0"/>
                        <a:cs typeface="Times New Roman" panose="02020603050405020304" pitchFamily="18" charset="0"/>
                      </a:rPr>
                      <m:t>)</m:t>
                    </m:r>
                    <m:r>
                      <a:rPr lang="en-GB" sz="2200" b="1" i="1" u="none" strike="noStrike" dirty="0" smtClean="0">
                        <a:effectLst/>
                        <a:latin typeface="Cambria Math" panose="02040503050406030204" pitchFamily="18" charset="0"/>
                        <a:cs typeface="Times New Roman" panose="02020603050405020304" pitchFamily="18" charset="0"/>
                      </a:rPr>
                      <m:t>𝒂</m:t>
                    </m:r>
                    <m:r>
                      <a:rPr lang="en-GB" sz="2200" b="0" i="1" u="none" strike="noStrike" dirty="0" smtClean="0">
                        <a:effectLst/>
                        <a:latin typeface="Cambria Math" panose="02040503050406030204" pitchFamily="18" charset="0"/>
                        <a:cs typeface="Times New Roman" panose="02020603050405020304" pitchFamily="18" charset="0"/>
                      </a:rPr>
                      <m:t>=</m:t>
                    </m:r>
                    <m:r>
                      <a:rPr lang="en-GB" sz="2200" b="0" i="1" u="none" strike="noStrike" dirty="0" err="1" smtClean="0">
                        <a:effectLst/>
                        <a:latin typeface="Cambria Math" panose="02040503050406030204" pitchFamily="18" charset="0"/>
                        <a:cs typeface="Times New Roman" panose="02020603050405020304" pitchFamily="18" charset="0"/>
                      </a:rPr>
                      <m:t>𝑠</m:t>
                    </m:r>
                    <m:r>
                      <a:rPr lang="en-GB" sz="2200" b="1" i="1" u="none" strike="noStrike" dirty="0" err="1" smtClean="0">
                        <a:effectLst/>
                        <a:latin typeface="Cambria Math" panose="02040503050406030204" pitchFamily="18" charset="0"/>
                        <a:cs typeface="Times New Roman" panose="02020603050405020304" pitchFamily="18" charset="0"/>
                      </a:rPr>
                      <m:t>𝒂</m:t>
                    </m:r>
                    <m:r>
                      <a:rPr lang="en-GB" sz="2200" b="0" i="1" u="none" strike="noStrike" dirty="0" err="1" smtClean="0">
                        <a:effectLst/>
                        <a:latin typeface="Cambria Math" panose="02040503050406030204" pitchFamily="18" charset="0"/>
                        <a:cs typeface="Times New Roman" panose="02020603050405020304" pitchFamily="18" charset="0"/>
                      </a:rPr>
                      <m:t>+</m:t>
                    </m:r>
                    <m:r>
                      <a:rPr lang="en-GB" sz="2200" b="0" i="1" u="none" strike="noStrike" dirty="0" err="1" smtClean="0">
                        <a:effectLst/>
                        <a:latin typeface="Cambria Math" panose="02040503050406030204" pitchFamily="18" charset="0"/>
                        <a:cs typeface="Times New Roman" panose="02020603050405020304" pitchFamily="18" charset="0"/>
                      </a:rPr>
                      <m:t>𝑡</m:t>
                    </m:r>
                    <m:r>
                      <a:rPr lang="en-GB" sz="2200" b="1" i="1" u="none" strike="noStrike" dirty="0" err="1" smtClean="0">
                        <a:effectLst/>
                        <a:latin typeface="Cambria Math" panose="02040503050406030204" pitchFamily="18" charset="0"/>
                        <a:cs typeface="Times New Roman" panose="02020603050405020304" pitchFamily="18" charset="0"/>
                      </a:rPr>
                      <m:t>𝒂</m:t>
                    </m:r>
                  </m:oMath>
                </a14:m>
                <a:r>
                  <a:rPr lang="en-GB" sz="2200" dirty="0">
                    <a:effectLst/>
                    <a:latin typeface="Times New Roman" panose="02020603050405020304" pitchFamily="18" charset="0"/>
                    <a:cs typeface="Times New Roman" panose="02020603050405020304" pitchFamily="18" charset="0"/>
                  </a:rPr>
                  <a:t>(distributive law, form 2)</a:t>
                </a:r>
              </a:p>
              <a:p>
                <a:pPr lvl="1">
                  <a:buFont typeface="+mj-lt"/>
                  <a:buAutoNum type="arabicPeriod"/>
                </a:pPr>
                <a14:m>
                  <m:oMath xmlns:m="http://schemas.openxmlformats.org/officeDocument/2006/math">
                    <m:r>
                      <a:rPr lang="en-GB" sz="2200" b="0" i="1" u="none" strike="noStrike" dirty="0" smtClean="0">
                        <a:effectLst/>
                        <a:latin typeface="Cambria Math" panose="02040503050406030204" pitchFamily="18" charset="0"/>
                        <a:cs typeface="Times New Roman" panose="02020603050405020304" pitchFamily="18" charset="0"/>
                      </a:rPr>
                      <m:t>1</m:t>
                    </m:r>
                    <m:r>
                      <a:rPr lang="en-GB" sz="2200" b="1" i="1" u="none" strike="noStrike" dirty="0" smtClean="0">
                        <a:effectLst/>
                        <a:latin typeface="Cambria Math" panose="02040503050406030204" pitchFamily="18" charset="0"/>
                        <a:cs typeface="Times New Roman" panose="02020603050405020304" pitchFamily="18" charset="0"/>
                      </a:rPr>
                      <m:t>𝒂</m:t>
                    </m:r>
                    <m:r>
                      <a:rPr lang="en-GB" sz="2200" b="0" i="1" u="none" strike="noStrike" dirty="0" smtClean="0">
                        <a:effectLst/>
                        <a:latin typeface="Cambria Math" panose="02040503050406030204" pitchFamily="18" charset="0"/>
                        <a:cs typeface="Times New Roman" panose="02020603050405020304" pitchFamily="18" charset="0"/>
                      </a:rPr>
                      <m:t>=</m:t>
                    </m:r>
                    <m:r>
                      <a:rPr lang="en-GB" sz="2200" b="1" i="1" u="none" strike="noStrike" dirty="0" smtClean="0">
                        <a:effectLst/>
                        <a:latin typeface="Cambria Math" panose="02040503050406030204" pitchFamily="18" charset="0"/>
                        <a:cs typeface="Times New Roman" panose="02020603050405020304" pitchFamily="18" charset="0"/>
                      </a:rPr>
                      <m:t>𝒂</m:t>
                    </m:r>
                  </m:oMath>
                </a14:m>
                <a:endParaRPr lang="en-GB" sz="2200" dirty="0">
                  <a:effectLst/>
                  <a:latin typeface="Times New Roman" panose="02020603050405020304" pitchFamily="18" charset="0"/>
                  <a:cs typeface="Times New Roman" panose="02020603050405020304" pitchFamily="18" charset="0"/>
                </a:endParaRPr>
              </a:p>
              <a:p>
                <a:pPr lvl="1">
                  <a:buFont typeface="+mj-lt"/>
                  <a:buAutoNum type="arabicPeriod"/>
                </a:pPr>
                <a14:m>
                  <m:oMath xmlns:m="http://schemas.openxmlformats.org/officeDocument/2006/math">
                    <m:r>
                      <a:rPr lang="en-GB" sz="2200" b="0" i="1" u="none" strike="noStrike" dirty="0" smtClean="0">
                        <a:effectLst/>
                        <a:latin typeface="Cambria Math" panose="02040503050406030204" pitchFamily="18" charset="0"/>
                        <a:cs typeface="Times New Roman" panose="02020603050405020304" pitchFamily="18" charset="0"/>
                      </a:rPr>
                      <m:t>(−1)</m:t>
                    </m:r>
                    <m:r>
                      <a:rPr lang="en-GB" sz="2200" b="1" i="1" u="none" strike="noStrike" dirty="0" smtClean="0">
                        <a:effectLst/>
                        <a:latin typeface="Cambria Math" panose="02040503050406030204" pitchFamily="18" charset="0"/>
                        <a:cs typeface="Times New Roman" panose="02020603050405020304" pitchFamily="18" charset="0"/>
                      </a:rPr>
                      <m:t>𝒂</m:t>
                    </m:r>
                    <m:r>
                      <a:rPr lang="en-GB" sz="2200" b="0" i="1" u="none" strike="noStrike" dirty="0" smtClean="0">
                        <a:effectLst/>
                        <a:latin typeface="Cambria Math" panose="02040503050406030204" pitchFamily="18" charset="0"/>
                        <a:cs typeface="Times New Roman" panose="02020603050405020304" pitchFamily="18" charset="0"/>
                      </a:rPr>
                      <m:t>=−</m:t>
                    </m:r>
                    <m:r>
                      <a:rPr lang="en-GB" sz="2200" b="1" i="1" u="none" strike="noStrike" dirty="0" smtClean="0">
                        <a:effectLst/>
                        <a:latin typeface="Cambria Math" panose="02040503050406030204" pitchFamily="18" charset="0"/>
                        <a:cs typeface="Times New Roman" panose="02020603050405020304" pitchFamily="18" charset="0"/>
                      </a:rPr>
                      <m:t>𝒂</m:t>
                    </m:r>
                  </m:oMath>
                </a14:m>
                <a:endParaRPr lang="en-GB" sz="2200" dirty="0">
                  <a:effectLst/>
                  <a:latin typeface="Times New Roman" panose="02020603050405020304" pitchFamily="18" charset="0"/>
                  <a:cs typeface="Times New Roman" panose="02020603050405020304" pitchFamily="18" charset="0"/>
                </a:endParaRPr>
              </a:p>
              <a:p>
                <a:pPr lvl="1">
                  <a:buFont typeface="+mj-lt"/>
                  <a:buAutoNum type="arabicPeriod"/>
                </a:pPr>
                <a14:m>
                  <m:oMath xmlns:m="http://schemas.openxmlformats.org/officeDocument/2006/math">
                    <m:r>
                      <a:rPr lang="en-GB" sz="2200" b="0" i="1" u="none" strike="noStrike" dirty="0" smtClean="0">
                        <a:effectLst/>
                        <a:latin typeface="Cambria Math" panose="02040503050406030204" pitchFamily="18" charset="0"/>
                        <a:cs typeface="Times New Roman" panose="02020603050405020304" pitchFamily="18" charset="0"/>
                      </a:rPr>
                      <m:t>0</m:t>
                    </m:r>
                    <m:r>
                      <a:rPr lang="en-GB" sz="2200" b="1" i="1" u="none" strike="noStrike" dirty="0" smtClean="0">
                        <a:effectLst/>
                        <a:latin typeface="Cambria Math" panose="02040503050406030204" pitchFamily="18" charset="0"/>
                        <a:cs typeface="Times New Roman" panose="02020603050405020304" pitchFamily="18" charset="0"/>
                      </a:rPr>
                      <m:t>𝒂</m:t>
                    </m:r>
                    <m:r>
                      <a:rPr lang="en-GB" sz="2200" b="0" i="1" u="none" strike="noStrike" dirty="0" smtClean="0">
                        <a:effectLst/>
                        <a:latin typeface="Cambria Math" panose="02040503050406030204" pitchFamily="18" charset="0"/>
                        <a:cs typeface="Times New Roman" panose="02020603050405020304" pitchFamily="18" charset="0"/>
                      </a:rPr>
                      <m:t>=</m:t>
                    </m:r>
                    <m:r>
                      <a:rPr lang="en-GB" sz="2200" b="1" i="1" u="none" strike="noStrike" dirty="0" smtClean="0">
                        <a:effectLst/>
                        <a:latin typeface="Cambria Math" panose="02040503050406030204" pitchFamily="18" charset="0"/>
                        <a:cs typeface="Times New Roman" panose="02020603050405020304" pitchFamily="18" charset="0"/>
                      </a:rPr>
                      <m:t>𝟎</m:t>
                    </m:r>
                  </m:oMath>
                </a14:m>
                <a:endParaRPr lang="en-GB" sz="2200" b="1" i="0" u="none" strike="noStrike" dirty="0">
                  <a:effectLst/>
                  <a:latin typeface="Times New Roman" panose="02020603050405020304" pitchFamily="18" charset="0"/>
                  <a:cs typeface="Times New Roman" panose="02020603050405020304" pitchFamily="18" charset="0"/>
                </a:endParaRPr>
              </a:p>
              <a:p>
                <a:pPr marL="0" indent="0">
                  <a:buNone/>
                </a:pPr>
                <a:endParaRPr lang="en-GB" sz="2000" b="1" i="0" u="none" strike="noStrike" dirty="0">
                  <a:effectLst/>
                  <a:latin typeface="Times New Roman" panose="02020603050405020304" pitchFamily="18" charset="0"/>
                  <a:cs typeface="Times New Roman" panose="02020603050405020304" pitchFamily="18" charset="0"/>
                </a:endParaRPr>
              </a:p>
              <a:p>
                <a:r>
                  <a:rPr lang="en-GB" sz="2000" b="0" i="0" u="none" strike="noStrike" dirty="0">
                    <a:solidFill>
                      <a:srgbClr val="222222"/>
                    </a:solidFill>
                    <a:effectLst/>
                    <a:latin typeface="Times New Roman" panose="02020603050405020304" pitchFamily="18" charset="0"/>
                    <a:cs typeface="Times New Roman" panose="02020603050405020304" pitchFamily="18" charset="0"/>
                  </a:rPr>
                  <a:t>If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for some scalar </a:t>
                </a:r>
                <a:r>
                  <a:rPr lang="el-GR" sz="2000" b="0" i="0" u="none" strike="noStrike" dirty="0">
                    <a:solidFill>
                      <a:srgbClr val="222222"/>
                    </a:solidFill>
                    <a:effectLst/>
                    <a:latin typeface="Times New Roman" panose="02020603050405020304" pitchFamily="18" charset="0"/>
                    <a:cs typeface="Times New Roman" panose="02020603050405020304" pitchFamily="18" charset="0"/>
                  </a:rPr>
                  <a:t>λ, </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then we say that the vectors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a</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and </a:t>
                </a:r>
                <a:r>
                  <a:rPr lang="en-GB" sz="2000" b="1" i="0" u="none" strike="noStrike" dirty="0">
                    <a:solidFill>
                      <a:srgbClr val="222222"/>
                    </a:solidFill>
                    <a:effectLst/>
                    <a:latin typeface="Times New Roman" panose="02020603050405020304" pitchFamily="18" charset="0"/>
                    <a:cs typeface="Times New Roman" panose="02020603050405020304" pitchFamily="18" charset="0"/>
                  </a:rPr>
                  <a:t>b</a:t>
                </a:r>
                <a:r>
                  <a:rPr lang="en-GB" sz="2000" b="0" i="0" u="none" strike="noStrike" dirty="0">
                    <a:solidFill>
                      <a:srgbClr val="222222"/>
                    </a:solidFill>
                    <a:effectLst/>
                    <a:latin typeface="Times New Roman" panose="02020603050405020304" pitchFamily="18" charset="0"/>
                    <a:cs typeface="Times New Roman" panose="02020603050405020304" pitchFamily="18" charset="0"/>
                  </a:rPr>
                  <a:t> are parallel.</a:t>
                </a:r>
                <a:endParaRPr lang="en-GB" sz="2000" dirty="0">
                  <a:effectLst/>
                  <a:latin typeface="Times New Roman" panose="02020603050405020304" pitchFamily="18" charset="0"/>
                  <a:cs typeface="Times New Roman" panose="02020603050405020304" pitchFamily="18" charset="0"/>
                </a:endParaRPr>
              </a:p>
              <a:p>
                <a:pPr marL="0" indent="0">
                  <a:buNone/>
                </a:pPr>
                <a:br>
                  <a:rPr lang="en-GB" dirty="0"/>
                </a:br>
                <a:endParaRPr lang="en-LK" dirty="0"/>
              </a:p>
            </p:txBody>
          </p:sp>
        </mc:Choice>
        <mc:Fallback>
          <p:sp>
            <p:nvSpPr>
              <p:cNvPr id="3" name="Content Placeholder 2">
                <a:extLst>
                  <a:ext uri="{FF2B5EF4-FFF2-40B4-BE49-F238E27FC236}">
                    <a16:creationId xmlns:a16="http://schemas.microsoft.com/office/drawing/2014/main" id="{C1860369-0867-88C0-01B6-62C196B5F1F0}"/>
                  </a:ext>
                </a:extLst>
              </p:cNvPr>
              <p:cNvSpPr>
                <a:spLocks noGrp="1" noRot="1" noChangeAspect="1" noMove="1" noResize="1" noEditPoints="1" noAdjustHandles="1" noChangeArrowheads="1" noChangeShapeType="1" noTextEdit="1"/>
              </p:cNvSpPr>
              <p:nvPr>
                <p:ph idx="1"/>
              </p:nvPr>
            </p:nvSpPr>
            <p:spPr>
              <a:blipFill>
                <a:blip r:embed="rId2"/>
                <a:stretch>
                  <a:fillRect l="-712" t="-1678" r="-570"/>
                </a:stretch>
              </a:blipFill>
            </p:spPr>
            <p:txBody>
              <a:bodyPr/>
              <a:lstStyle/>
              <a:p>
                <a:r>
                  <a:rPr lang="en-LK">
                    <a:noFill/>
                  </a:rPr>
                  <a:t> </a:t>
                </a:r>
              </a:p>
            </p:txBody>
          </p:sp>
        </mc:Fallback>
      </mc:AlternateContent>
    </p:spTree>
    <p:extLst>
      <p:ext uri="{BB962C8B-B14F-4D97-AF65-F5344CB8AC3E}">
        <p14:creationId xmlns:p14="http://schemas.microsoft.com/office/powerpoint/2010/main" val="1749195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24FC1-1D86-B181-F4DF-B33B74775747}"/>
              </a:ext>
            </a:extLst>
          </p:cNvPr>
          <p:cNvSpPr>
            <a:spLocks noGrp="1"/>
          </p:cNvSpPr>
          <p:nvPr>
            <p:ph type="title"/>
          </p:nvPr>
        </p:nvSpPr>
        <p:spPr/>
        <p:txBody>
          <a:bodyPr/>
          <a:lstStyle/>
          <a:p>
            <a:r>
              <a:rPr lang="en-LK" dirty="0"/>
              <a:t>Examples</a:t>
            </a:r>
          </a:p>
        </p:txBody>
      </p:sp>
      <p:pic>
        <p:nvPicPr>
          <p:cNvPr id="5" name="Content Placeholder 4">
            <a:extLst>
              <a:ext uri="{FF2B5EF4-FFF2-40B4-BE49-F238E27FC236}">
                <a16:creationId xmlns:a16="http://schemas.microsoft.com/office/drawing/2014/main" id="{4C6DB01C-DCE0-5B03-B7C2-BC9705559256}"/>
              </a:ext>
            </a:extLst>
          </p:cNvPr>
          <p:cNvPicPr>
            <a:picLocks noGrp="1" noChangeAspect="1"/>
          </p:cNvPicPr>
          <p:nvPr>
            <p:ph idx="1"/>
          </p:nvPr>
        </p:nvPicPr>
        <p:blipFill>
          <a:blip r:embed="rId2"/>
          <a:stretch>
            <a:fillRect/>
          </a:stretch>
        </p:blipFill>
        <p:spPr>
          <a:xfrm>
            <a:off x="2592924" y="1264554"/>
            <a:ext cx="7120701" cy="5229265"/>
          </a:xfrm>
        </p:spPr>
      </p:pic>
    </p:spTree>
    <p:extLst>
      <p:ext uri="{BB962C8B-B14F-4D97-AF65-F5344CB8AC3E}">
        <p14:creationId xmlns:p14="http://schemas.microsoft.com/office/powerpoint/2010/main" val="2910732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9F5A4-7415-BC07-408F-10217E9AA3B0}"/>
              </a:ext>
            </a:extLst>
          </p:cNvPr>
          <p:cNvSpPr>
            <a:spLocks noGrp="1"/>
          </p:cNvSpPr>
          <p:nvPr>
            <p:ph type="title"/>
          </p:nvPr>
        </p:nvSpPr>
        <p:spPr/>
        <p:txBody>
          <a:bodyPr/>
          <a:lstStyle/>
          <a:p>
            <a:r>
              <a:rPr lang="en-LK" dirty="0"/>
              <a:t>Examples</a:t>
            </a:r>
          </a:p>
        </p:txBody>
      </p:sp>
      <p:pic>
        <p:nvPicPr>
          <p:cNvPr id="5" name="Content Placeholder 4">
            <a:extLst>
              <a:ext uri="{FF2B5EF4-FFF2-40B4-BE49-F238E27FC236}">
                <a16:creationId xmlns:a16="http://schemas.microsoft.com/office/drawing/2014/main" id="{A5586FF0-CACC-3DAD-A82A-283A962D00C2}"/>
              </a:ext>
            </a:extLst>
          </p:cNvPr>
          <p:cNvPicPr>
            <a:picLocks noGrp="1" noChangeAspect="1"/>
          </p:cNvPicPr>
          <p:nvPr>
            <p:ph idx="1"/>
          </p:nvPr>
        </p:nvPicPr>
        <p:blipFill>
          <a:blip r:embed="rId2"/>
          <a:stretch>
            <a:fillRect/>
          </a:stretch>
        </p:blipFill>
        <p:spPr>
          <a:xfrm>
            <a:off x="2727584" y="1399980"/>
            <a:ext cx="7146450" cy="4833909"/>
          </a:xfrm>
        </p:spPr>
      </p:pic>
    </p:spTree>
    <p:extLst>
      <p:ext uri="{BB962C8B-B14F-4D97-AF65-F5344CB8AC3E}">
        <p14:creationId xmlns:p14="http://schemas.microsoft.com/office/powerpoint/2010/main" val="3947575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EA35C4-49EC-12AB-3512-8D1E7F4ECCEE}"/>
              </a:ext>
            </a:extLst>
          </p:cNvPr>
          <p:cNvSpPr>
            <a:spLocks noGrp="1"/>
          </p:cNvSpPr>
          <p:nvPr>
            <p:ph idx="1"/>
          </p:nvPr>
        </p:nvSpPr>
        <p:spPr/>
        <p:txBody>
          <a:bodyPr>
            <a:normAutofit/>
          </a:bodyPr>
          <a:lstStyle/>
          <a:p>
            <a:pPr marL="0" indent="0">
              <a:buNone/>
            </a:pPr>
            <a:r>
              <a:rPr lang="en-LK" sz="11500" dirty="0"/>
              <a:t>Thank You</a:t>
            </a:r>
          </a:p>
        </p:txBody>
      </p:sp>
    </p:spTree>
    <p:extLst>
      <p:ext uri="{BB962C8B-B14F-4D97-AF65-F5344CB8AC3E}">
        <p14:creationId xmlns:p14="http://schemas.microsoft.com/office/powerpoint/2010/main" val="411630165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{7B6F3F96-E1AD-B748-B266-6769FB0214A2}TF12fd5ede-5fdd-4875-8d33-9de004e95de8355555d8-ed0a2ad3cb91</Template>
  <TotalTime>58</TotalTime>
  <Words>826</Words>
  <Application>Microsoft Macintosh PowerPoint</Application>
  <PresentationFormat>Widescreen</PresentationFormat>
  <Paragraphs>55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Cambria Math</vt:lpstr>
      <vt:lpstr>Century Gothic</vt:lpstr>
      <vt:lpstr>Times New Roman</vt:lpstr>
      <vt:lpstr>Wingdings 3</vt:lpstr>
      <vt:lpstr>Wisp</vt:lpstr>
      <vt:lpstr>Vectors</vt:lpstr>
      <vt:lpstr>What is Vectors</vt:lpstr>
      <vt:lpstr>How to denote vectors?</vt:lpstr>
      <vt:lpstr>How to denote vectors?</vt:lpstr>
      <vt:lpstr>Operations on Vectors</vt:lpstr>
      <vt:lpstr>1.Addition of Vectors</vt:lpstr>
      <vt:lpstr>1. Addition of Vectors - Example</vt:lpstr>
      <vt:lpstr>1. Addition of Vectors</vt:lpstr>
      <vt:lpstr>2. Vector Substraction</vt:lpstr>
      <vt:lpstr>3. Scalar Multiplication</vt:lpstr>
      <vt:lpstr>3. Scalar Multiplication</vt:lpstr>
      <vt:lpstr>Examples</vt:lpstr>
      <vt:lpstr>Examples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Vectors</dc:title>
  <dc:creator>My Mac</dc:creator>
  <cp:lastModifiedBy>My Mac</cp:lastModifiedBy>
  <cp:revision>4</cp:revision>
  <dcterms:created xsi:type="dcterms:W3CDTF">2026-10-18T12:40:07Z</dcterms:created>
  <dcterms:modified xsi:type="dcterms:W3CDTF">2026-10-18T13:38:48Z</dcterms:modified>
</cp:coreProperties>
</file>