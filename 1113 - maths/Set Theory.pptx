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66" r:id="rId2"/>
    <p:sldId id="257" r:id="rId3"/>
    <p:sldId id="258" r:id="rId4"/>
    <p:sldId id="342" r:id="rId5"/>
    <p:sldId id="343" r:id="rId6"/>
    <p:sldId id="341" r:id="rId7"/>
    <p:sldId id="368" r:id="rId8"/>
    <p:sldId id="369" r:id="rId9"/>
    <p:sldId id="259" r:id="rId10"/>
    <p:sldId id="267" r:id="rId11"/>
    <p:sldId id="333" r:id="rId12"/>
    <p:sldId id="370" r:id="rId13"/>
    <p:sldId id="334" r:id="rId14"/>
    <p:sldId id="337" r:id="rId15"/>
    <p:sldId id="338" r:id="rId16"/>
    <p:sldId id="339" r:id="rId17"/>
    <p:sldId id="350" r:id="rId18"/>
    <p:sldId id="344" r:id="rId19"/>
    <p:sldId id="358" r:id="rId20"/>
    <p:sldId id="261" r:id="rId21"/>
    <p:sldId id="263" r:id="rId22"/>
    <p:sldId id="371" r:id="rId23"/>
    <p:sldId id="359" r:id="rId24"/>
    <p:sldId id="345" r:id="rId25"/>
    <p:sldId id="365" r:id="rId26"/>
    <p:sldId id="363" r:id="rId27"/>
    <p:sldId id="367" r:id="rId28"/>
    <p:sldId id="366" r:id="rId29"/>
    <p:sldId id="364" r:id="rId30"/>
    <p:sldId id="264" r:id="rId31"/>
    <p:sldId id="346" r:id="rId32"/>
    <p:sldId id="352" r:id="rId33"/>
    <p:sldId id="347" r:id="rId34"/>
    <p:sldId id="353" r:id="rId35"/>
    <p:sldId id="348" r:id="rId36"/>
    <p:sldId id="354" r:id="rId37"/>
    <p:sldId id="351" r:id="rId38"/>
    <p:sldId id="356" r:id="rId39"/>
    <p:sldId id="355" r:id="rId40"/>
    <p:sldId id="357" r:id="rId41"/>
    <p:sldId id="330" r:id="rId42"/>
    <p:sldId id="349" r:id="rId43"/>
    <p:sldId id="332" r:id="rId44"/>
    <p:sldId id="360" r:id="rId45"/>
    <p:sldId id="361" r:id="rId46"/>
    <p:sldId id="362" r:id="rId47"/>
    <p:sldId id="374" r:id="rId48"/>
    <p:sldId id="270" r:id="rId49"/>
    <p:sldId id="375" r:id="rId50"/>
    <p:sldId id="376" r:id="rId51"/>
    <p:sldId id="37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55" autoAdjust="0"/>
    <p:restoredTop sz="94624"/>
  </p:normalViewPr>
  <p:slideViewPr>
    <p:cSldViewPr snapToGrid="0">
      <p:cViewPr varScale="1">
        <p:scale>
          <a:sx n="79" d="100"/>
          <a:sy n="79" d="100"/>
        </p:scale>
        <p:origin x="114" y="4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44E085-F142-40D9-A14A-E9AEA676D079}" type="datetimeFigureOut">
              <a:rPr lang="en-GB" smtClean="0"/>
              <a:t>10/08/2026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DEE5CD-C5AA-4556-BD52-A62DB129D4B9}" type="slidenum">
              <a:rPr lang="en-GB" smtClean="0"/>
              <a:t>‹#›</a:t>
            </a:fld>
            <a:endParaRPr lang="en-GB"/>
          </a:p>
        </p:txBody>
      </p:sp>
    </p:spTree>
    <p:extLst>
      <p:ext uri="{BB962C8B-B14F-4D97-AF65-F5344CB8AC3E}">
        <p14:creationId xmlns:p14="http://schemas.microsoft.com/office/powerpoint/2010/main" val="1860525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47D172-709C-4B25-8DBB-CF282EB0DF59}" type="slidenum">
              <a:rPr lang="en-US" smtClean="0"/>
              <a:t>1</a:t>
            </a:fld>
            <a:endParaRPr lang="en-US"/>
          </a:p>
        </p:txBody>
      </p:sp>
    </p:spTree>
    <p:extLst>
      <p:ext uri="{BB962C8B-B14F-4D97-AF65-F5344CB8AC3E}">
        <p14:creationId xmlns:p14="http://schemas.microsoft.com/office/powerpoint/2010/main" val="2401897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ECA2A5D7-CE10-E5B9-9F11-0CF0CF400474}"/>
              </a:ext>
            </a:extLst>
          </p:cNvPr>
          <p:cNvSpPr>
            <a:spLocks noGrp="1" noChangeArrowheads="1"/>
          </p:cNvSpPr>
          <p:nvPr>
            <p:ph type="sldNum" sz="quarter" idx="5"/>
          </p:nvPr>
        </p:nvSpPr>
        <p:spPr>
          <a:ln/>
        </p:spPr>
        <p:txBody>
          <a:bodyPr/>
          <a:lstStyle/>
          <a:p>
            <a:fld id="{1E15200B-05F4-4ADB-A4C9-4BB460728E64}" type="slidenum">
              <a:rPr lang="en-GB" altLang="en-US"/>
              <a:pPr/>
              <a:t>3</a:t>
            </a:fld>
            <a:endParaRPr lang="en-GB" altLang="en-US"/>
          </a:p>
        </p:txBody>
      </p:sp>
      <p:sp>
        <p:nvSpPr>
          <p:cNvPr id="4" name="Rectangle 9">
            <a:extLst>
              <a:ext uri="{FF2B5EF4-FFF2-40B4-BE49-F238E27FC236}">
                <a16:creationId xmlns:a16="http://schemas.microsoft.com/office/drawing/2014/main" id="{8EB29044-BCF3-28FE-D9F1-EA003A80A952}"/>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78418825-2D07-15E5-5948-C3D83D4EF1E7}"/>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8194" name="Rectangle 7">
            <a:extLst>
              <a:ext uri="{FF2B5EF4-FFF2-40B4-BE49-F238E27FC236}">
                <a16:creationId xmlns:a16="http://schemas.microsoft.com/office/drawing/2014/main" id="{A2615D11-F22C-1C38-0451-E3D3A1DE892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9B746636-FF9D-443F-A765-53B4D77BFE67}" type="slidenum">
              <a:rPr lang="en-GB" altLang="en-US" sz="1200"/>
              <a:pPr algn="r"/>
              <a:t>3</a:t>
            </a:fld>
            <a:endParaRPr lang="en-GB" altLang="en-US" sz="1200"/>
          </a:p>
        </p:txBody>
      </p:sp>
      <p:sp>
        <p:nvSpPr>
          <p:cNvPr id="8195" name="Rectangle 2">
            <a:extLst>
              <a:ext uri="{FF2B5EF4-FFF2-40B4-BE49-F238E27FC236}">
                <a16:creationId xmlns:a16="http://schemas.microsoft.com/office/drawing/2014/main" id="{54B1C2F1-D3A5-6E93-66C0-E42AAEE9171C}"/>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6ABC29C1-6E70-D7B3-74C0-CB93F9B1EF49}"/>
              </a:ext>
            </a:extLst>
          </p:cNvPr>
          <p:cNvSpPr>
            <a:spLocks noGrp="1" noChangeArrowheads="1"/>
          </p:cNvSpPr>
          <p:nvPr>
            <p:ph type="body" idx="1"/>
          </p:nvPr>
        </p:nvSpPr>
        <p:spPr>
          <a:xfrm>
            <a:off x="914400" y="4343400"/>
            <a:ext cx="5029200" cy="4114800"/>
          </a:xfrm>
          <a:noFill/>
        </p:spPr>
        <p:txBody>
          <a:bodyPr/>
          <a:lstStyle/>
          <a:p>
            <a:r>
              <a:rPr lang="en-GB" altLang="en-US" b="1"/>
              <a:t>Teacher notes</a:t>
            </a:r>
          </a:p>
          <a:p>
            <a:r>
              <a:rPr lang="en-GB" altLang="en-US"/>
              <a:t>Remind students that in set </a:t>
            </a:r>
            <a:r>
              <a:rPr lang="en-GB" altLang="en-US" i="1">
                <a:latin typeface="Times New Roman" panose="02020603050405020304" pitchFamily="18" charset="0"/>
              </a:rPr>
              <a:t>C</a:t>
            </a:r>
            <a:r>
              <a:rPr lang="en-GB" altLang="en-US"/>
              <a:t>, the horizontal bar can be read as “such that”. Ask students to think of other possible sets. </a:t>
            </a:r>
          </a:p>
          <a:p>
            <a:r>
              <a:rPr lang="en-GB" altLang="en-US"/>
              <a:t>As a challenge, consider asking students to list other sets that contain the sets they have given, for example if someone has said “dogs”, “mammals” or “animals” are examples of sets that contain this. These are called supersets. </a:t>
            </a:r>
          </a:p>
        </p:txBody>
      </p:sp>
    </p:spTree>
    <p:extLst>
      <p:ext uri="{BB962C8B-B14F-4D97-AF65-F5344CB8AC3E}">
        <p14:creationId xmlns:p14="http://schemas.microsoft.com/office/powerpoint/2010/main" val="2221051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E7447A05-EB15-50C5-52FB-C5D271475B6A}"/>
              </a:ext>
            </a:extLst>
          </p:cNvPr>
          <p:cNvSpPr>
            <a:spLocks noGrp="1" noChangeArrowheads="1"/>
          </p:cNvSpPr>
          <p:nvPr>
            <p:ph type="sldNum" sz="quarter" idx="5"/>
          </p:nvPr>
        </p:nvSpPr>
        <p:spPr>
          <a:ln/>
        </p:spPr>
        <p:txBody>
          <a:bodyPr/>
          <a:lstStyle/>
          <a:p>
            <a:fld id="{B590E4B0-37AD-442C-AA07-A89D470244DE}" type="slidenum">
              <a:rPr lang="en-GB" altLang="en-US"/>
              <a:pPr/>
              <a:t>11</a:t>
            </a:fld>
            <a:endParaRPr lang="en-GB" altLang="en-US"/>
          </a:p>
        </p:txBody>
      </p:sp>
      <p:sp>
        <p:nvSpPr>
          <p:cNvPr id="4" name="Rectangle 9">
            <a:extLst>
              <a:ext uri="{FF2B5EF4-FFF2-40B4-BE49-F238E27FC236}">
                <a16:creationId xmlns:a16="http://schemas.microsoft.com/office/drawing/2014/main" id="{633C6617-86BD-EC98-C032-02FDEAAC2015}"/>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C97BB4B5-17CE-9DB5-8DE9-4AE983E5868C}"/>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210946" name="Rectangle 7">
            <a:extLst>
              <a:ext uri="{FF2B5EF4-FFF2-40B4-BE49-F238E27FC236}">
                <a16:creationId xmlns:a16="http://schemas.microsoft.com/office/drawing/2014/main" id="{F935F848-C792-9673-AAA8-8BD20E9BCA9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B74AA1AE-6B09-4397-BFA3-18FEBD79EF41}" type="slidenum">
              <a:rPr lang="en-GB" altLang="en-US" sz="1200"/>
              <a:pPr algn="r"/>
              <a:t>11</a:t>
            </a:fld>
            <a:endParaRPr lang="en-GB" altLang="en-US" sz="1200"/>
          </a:p>
        </p:txBody>
      </p:sp>
      <p:sp>
        <p:nvSpPr>
          <p:cNvPr id="210947" name="Rectangle 2">
            <a:extLst>
              <a:ext uri="{FF2B5EF4-FFF2-40B4-BE49-F238E27FC236}">
                <a16:creationId xmlns:a16="http://schemas.microsoft.com/office/drawing/2014/main" id="{9497F3C2-BE48-E87A-9EE7-D4454CE75F67}"/>
              </a:ext>
            </a:extLst>
          </p:cNvPr>
          <p:cNvSpPr>
            <a:spLocks noGrp="1" noRot="1" noChangeAspect="1" noChangeArrowheads="1" noTextEdit="1"/>
          </p:cNvSpPr>
          <p:nvPr>
            <p:ph type="sldImg"/>
          </p:nvPr>
        </p:nvSpPr>
        <p:spPr>
          <a:ln/>
        </p:spPr>
      </p:sp>
      <p:sp>
        <p:nvSpPr>
          <p:cNvPr id="210948" name="Rectangle 3">
            <a:extLst>
              <a:ext uri="{FF2B5EF4-FFF2-40B4-BE49-F238E27FC236}">
                <a16:creationId xmlns:a16="http://schemas.microsoft.com/office/drawing/2014/main" id="{1D950970-735F-F8F8-0C57-E7436E27166C}"/>
              </a:ext>
            </a:extLst>
          </p:cNvPr>
          <p:cNvSpPr>
            <a:spLocks noGrp="1" noChangeArrowheads="1"/>
          </p:cNvSpPr>
          <p:nvPr>
            <p:ph type="body" idx="1"/>
          </p:nvPr>
        </p:nvSpPr>
        <p:spPr>
          <a:xfrm>
            <a:off x="914400" y="4343400"/>
            <a:ext cx="5029200" cy="4114800"/>
          </a:xfrm>
          <a:noFill/>
        </p:spPr>
        <p:txBody>
          <a:bodyPr/>
          <a:lstStyle/>
          <a:p>
            <a:r>
              <a:rPr lang="en-GB" altLang="en-US" b="1"/>
              <a:t>Teacher notes</a:t>
            </a:r>
          </a:p>
          <a:p>
            <a:r>
              <a:rPr lang="en-GB" altLang="en-US"/>
              <a:t>Ask students to list other subsets of the universal set</a:t>
            </a:r>
            <a:r>
              <a:rPr lang="en-GB" altLang="en-US" i="1">
                <a:latin typeface="Times New Roman" panose="02020603050405020304" pitchFamily="18" charset="0"/>
              </a:rPr>
              <a:t> A</a:t>
            </a:r>
            <a:r>
              <a:rPr lang="en-GB" altLang="en-US"/>
              <a:t> using the subset notation. Ask them to give examples of other universal sets and their possible subsets. </a:t>
            </a:r>
          </a:p>
          <a:p>
            <a:endParaRPr lang="en-GB" altLang="en-US" b="1"/>
          </a:p>
          <a:p>
            <a:r>
              <a:rPr lang="en-GB" altLang="en-US" b="1"/>
              <a:t>Photo credit:</a:t>
            </a:r>
            <a:r>
              <a:rPr lang="en-GB" altLang="en-US"/>
              <a:t> </a:t>
            </a:r>
            <a:r>
              <a:rPr lang="en-GB" altLang="en-US">
                <a:cs typeface="Arial" panose="020B0604020202020204" pitchFamily="34" charset="0"/>
              </a:rPr>
              <a:t>© </a:t>
            </a:r>
            <a:r>
              <a:rPr lang="en-GB" altLang="en-US"/>
              <a:t>vesna cvorovic 2012, Shutterstock.com</a:t>
            </a:r>
          </a:p>
          <a:p>
            <a:endParaRPr lang="en-GB" altLang="en-US" b="1"/>
          </a:p>
        </p:txBody>
      </p:sp>
    </p:spTree>
    <p:extLst>
      <p:ext uri="{BB962C8B-B14F-4D97-AF65-F5344CB8AC3E}">
        <p14:creationId xmlns:p14="http://schemas.microsoft.com/office/powerpoint/2010/main" val="3918756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203CEE09-A9FB-27D1-8EAF-BE10669BD412}"/>
              </a:ext>
            </a:extLst>
          </p:cNvPr>
          <p:cNvSpPr>
            <a:spLocks noGrp="1" noChangeArrowheads="1"/>
          </p:cNvSpPr>
          <p:nvPr>
            <p:ph type="sldNum" sz="quarter" idx="5"/>
          </p:nvPr>
        </p:nvSpPr>
        <p:spPr>
          <a:ln/>
        </p:spPr>
        <p:txBody>
          <a:bodyPr/>
          <a:lstStyle/>
          <a:p>
            <a:fld id="{71BCED0D-1826-4E43-9952-017526696ACE}" type="slidenum">
              <a:rPr lang="en-GB" altLang="en-US"/>
              <a:pPr/>
              <a:t>13</a:t>
            </a:fld>
            <a:endParaRPr lang="en-GB" altLang="en-US"/>
          </a:p>
        </p:txBody>
      </p:sp>
      <p:sp>
        <p:nvSpPr>
          <p:cNvPr id="4" name="Rectangle 9">
            <a:extLst>
              <a:ext uri="{FF2B5EF4-FFF2-40B4-BE49-F238E27FC236}">
                <a16:creationId xmlns:a16="http://schemas.microsoft.com/office/drawing/2014/main" id="{BC26EA12-4217-49D7-EB55-58595671A442}"/>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6C0B54A1-A92D-A60A-D195-9831E36935EF}"/>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212994" name="Rectangle 7">
            <a:extLst>
              <a:ext uri="{FF2B5EF4-FFF2-40B4-BE49-F238E27FC236}">
                <a16:creationId xmlns:a16="http://schemas.microsoft.com/office/drawing/2014/main" id="{7B0608ED-87E3-7EF8-90AE-248C9FB741D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C558C519-1375-40D3-8D84-9ACE3F1FB2F6}" type="slidenum">
              <a:rPr lang="en-GB" altLang="en-US" sz="1200"/>
              <a:pPr algn="r"/>
              <a:t>13</a:t>
            </a:fld>
            <a:endParaRPr lang="en-GB" altLang="en-US" sz="1200"/>
          </a:p>
        </p:txBody>
      </p:sp>
      <p:sp>
        <p:nvSpPr>
          <p:cNvPr id="212995" name="Rectangle 2">
            <a:extLst>
              <a:ext uri="{FF2B5EF4-FFF2-40B4-BE49-F238E27FC236}">
                <a16:creationId xmlns:a16="http://schemas.microsoft.com/office/drawing/2014/main" id="{10CFA6E1-A3D8-E31F-73BD-E4E98CC5D011}"/>
              </a:ext>
            </a:extLst>
          </p:cNvPr>
          <p:cNvSpPr>
            <a:spLocks noGrp="1" noRot="1" noChangeAspect="1" noChangeArrowheads="1" noTextEdit="1"/>
          </p:cNvSpPr>
          <p:nvPr>
            <p:ph type="sldImg"/>
          </p:nvPr>
        </p:nvSpPr>
        <p:spPr>
          <a:ln/>
        </p:spPr>
      </p:sp>
      <p:sp>
        <p:nvSpPr>
          <p:cNvPr id="212996" name="Rectangle 3">
            <a:extLst>
              <a:ext uri="{FF2B5EF4-FFF2-40B4-BE49-F238E27FC236}">
                <a16:creationId xmlns:a16="http://schemas.microsoft.com/office/drawing/2014/main" id="{6B784DB3-25A4-CF52-E648-DD46E92C1A28}"/>
              </a:ext>
            </a:extLst>
          </p:cNvPr>
          <p:cNvSpPr>
            <a:spLocks noGrp="1" noChangeArrowheads="1"/>
          </p:cNvSpPr>
          <p:nvPr>
            <p:ph type="body" idx="1"/>
          </p:nvPr>
        </p:nvSpPr>
        <p:spPr>
          <a:xfrm>
            <a:off x="914400" y="4343400"/>
            <a:ext cx="5029200" cy="4114800"/>
          </a:xfrm>
          <a:noFill/>
        </p:spPr>
        <p:txBody>
          <a:bodyPr/>
          <a:lstStyle/>
          <a:p>
            <a:r>
              <a:rPr lang="en-GB" altLang="en-US" b="1"/>
              <a:t>Mathematical practices</a:t>
            </a:r>
          </a:p>
          <a:p>
            <a:r>
              <a:rPr lang="en-GB" altLang="en-US"/>
              <a:t>7) Look for and make use of structure.</a:t>
            </a:r>
          </a:p>
          <a:p>
            <a:r>
              <a:rPr lang="en-GB" altLang="en-US"/>
              <a:t>They should be able to identify the opposite outcomes from the set of interest within the universal set. </a:t>
            </a:r>
          </a:p>
          <a:p>
            <a:endParaRPr lang="en-GB" altLang="en-US" b="1"/>
          </a:p>
          <a:p>
            <a:r>
              <a:rPr lang="en-GB" altLang="en-US" b="1"/>
              <a:t>Photo credit:</a:t>
            </a:r>
            <a:r>
              <a:rPr lang="en-GB" altLang="en-US"/>
              <a:t> </a:t>
            </a:r>
            <a:r>
              <a:rPr lang="en-GB" altLang="en-US">
                <a:cs typeface="Arial" panose="020B0604020202020204" pitchFamily="34" charset="0"/>
              </a:rPr>
              <a:t>© </a:t>
            </a:r>
            <a:r>
              <a:rPr lang="en-GB" altLang="en-US"/>
              <a:t>vesna cvorovic 2012, Shutterstock.com</a:t>
            </a:r>
          </a:p>
        </p:txBody>
      </p:sp>
    </p:spTree>
    <p:extLst>
      <p:ext uri="{BB962C8B-B14F-4D97-AF65-F5344CB8AC3E}">
        <p14:creationId xmlns:p14="http://schemas.microsoft.com/office/powerpoint/2010/main" val="1334552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E454FAB6-D0F3-79F2-128C-2A25EF432DF8}"/>
              </a:ext>
            </a:extLst>
          </p:cNvPr>
          <p:cNvSpPr>
            <a:spLocks noGrp="1" noChangeArrowheads="1"/>
          </p:cNvSpPr>
          <p:nvPr>
            <p:ph type="sldNum" sz="quarter" idx="5"/>
          </p:nvPr>
        </p:nvSpPr>
        <p:spPr>
          <a:ln/>
        </p:spPr>
        <p:txBody>
          <a:bodyPr/>
          <a:lstStyle/>
          <a:p>
            <a:fld id="{C5F9B025-FEFD-4B10-8654-04499AECEE28}" type="slidenum">
              <a:rPr lang="en-GB" altLang="en-US"/>
              <a:pPr/>
              <a:t>14</a:t>
            </a:fld>
            <a:endParaRPr lang="en-GB" altLang="en-US"/>
          </a:p>
        </p:txBody>
      </p:sp>
      <p:sp>
        <p:nvSpPr>
          <p:cNvPr id="4" name="Rectangle 9">
            <a:extLst>
              <a:ext uri="{FF2B5EF4-FFF2-40B4-BE49-F238E27FC236}">
                <a16:creationId xmlns:a16="http://schemas.microsoft.com/office/drawing/2014/main" id="{335446D0-6FEF-30FF-A7D3-77CC3D900F62}"/>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B63B570B-00CC-1661-0F71-BF23341347E6}"/>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224258" name="Rectangle 7">
            <a:extLst>
              <a:ext uri="{FF2B5EF4-FFF2-40B4-BE49-F238E27FC236}">
                <a16:creationId xmlns:a16="http://schemas.microsoft.com/office/drawing/2014/main" id="{4E58AB41-6236-D90D-82BB-7CBE0445980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DB41EC5A-5D47-4EE9-8C57-75A9020C32BD}" type="slidenum">
              <a:rPr lang="en-GB" altLang="en-US" sz="1200"/>
              <a:pPr algn="r"/>
              <a:t>14</a:t>
            </a:fld>
            <a:endParaRPr lang="en-GB" altLang="en-US" sz="1200"/>
          </a:p>
        </p:txBody>
      </p:sp>
      <p:sp>
        <p:nvSpPr>
          <p:cNvPr id="224259" name="Rectangle 2">
            <a:extLst>
              <a:ext uri="{FF2B5EF4-FFF2-40B4-BE49-F238E27FC236}">
                <a16:creationId xmlns:a16="http://schemas.microsoft.com/office/drawing/2014/main" id="{877410A1-B242-4415-07EA-3E189FCAC056}"/>
              </a:ext>
            </a:extLst>
          </p:cNvPr>
          <p:cNvSpPr>
            <a:spLocks noGrp="1" noRot="1" noChangeAspect="1" noChangeArrowheads="1" noTextEdit="1"/>
          </p:cNvSpPr>
          <p:nvPr>
            <p:ph type="sldImg"/>
          </p:nvPr>
        </p:nvSpPr>
        <p:spPr>
          <a:ln/>
        </p:spPr>
      </p:sp>
      <p:sp>
        <p:nvSpPr>
          <p:cNvPr id="224260" name="Rectangle 3">
            <a:extLst>
              <a:ext uri="{FF2B5EF4-FFF2-40B4-BE49-F238E27FC236}">
                <a16:creationId xmlns:a16="http://schemas.microsoft.com/office/drawing/2014/main" id="{886C734D-383E-2EF0-5520-CA7E3A49EE1D}"/>
              </a:ext>
            </a:extLst>
          </p:cNvPr>
          <p:cNvSpPr>
            <a:spLocks noGrp="1" noChangeArrowheads="1"/>
          </p:cNvSpPr>
          <p:nvPr>
            <p:ph type="body" idx="1"/>
          </p:nvPr>
        </p:nvSpPr>
        <p:spPr>
          <a:xfrm>
            <a:off x="914400" y="4343400"/>
            <a:ext cx="5029200" cy="4114800"/>
          </a:xfrm>
          <a:noFill/>
        </p:spPr>
        <p:txBody>
          <a:bodyPr/>
          <a:lstStyle/>
          <a:p>
            <a:r>
              <a:rPr lang="en-GB" altLang="en-US" b="1"/>
              <a:t>Teacher notes</a:t>
            </a:r>
          </a:p>
          <a:p>
            <a:r>
              <a:rPr lang="en-GB" altLang="en-US"/>
              <a:t>Ask students to list subsets of the union of </a:t>
            </a:r>
            <a:r>
              <a:rPr lang="en-GB" altLang="en-US" i="1">
                <a:latin typeface="Times New Roman" panose="02020603050405020304" pitchFamily="18" charset="0"/>
              </a:rPr>
              <a:t>A</a:t>
            </a:r>
            <a:r>
              <a:rPr lang="en-GB" altLang="en-US"/>
              <a:t> and </a:t>
            </a:r>
            <a:r>
              <a:rPr lang="en-GB" altLang="en-US" i="1">
                <a:latin typeface="Times New Roman" panose="02020603050405020304" pitchFamily="18" charset="0"/>
              </a:rPr>
              <a:t>B</a:t>
            </a:r>
            <a:r>
              <a:rPr lang="en-GB" altLang="en-US"/>
              <a:t>. They may list even or odd numbers or any other range of numbers between 1 and 11. Ask them to also give the complements to the subsets they come up with. </a:t>
            </a:r>
          </a:p>
          <a:p>
            <a:endParaRPr lang="en-GB" altLang="en-US"/>
          </a:p>
          <a:p>
            <a:r>
              <a:rPr lang="en-GB" altLang="en-US" b="1"/>
              <a:t>Mathematical practices</a:t>
            </a:r>
          </a:p>
          <a:p>
            <a:r>
              <a:rPr lang="en-GB" altLang="en-US"/>
              <a:t>6) Attend to precision.</a:t>
            </a:r>
          </a:p>
          <a:p>
            <a:r>
              <a:rPr lang="en-GB" altLang="en-US"/>
              <a:t>Students should compare </a:t>
            </a:r>
            <a:r>
              <a:rPr lang="en-GB" altLang="en-US">
                <a:solidFill>
                  <a:schemeClr val="tx2"/>
                </a:solidFill>
              </a:rPr>
              <a:t>two sets of numbers and identify all elements which are the same. They should make sure not to neglect any elements when describing </a:t>
            </a:r>
            <a:r>
              <a:rPr lang="en-GB" altLang="en-US" i="1">
                <a:solidFill>
                  <a:schemeClr val="tx2"/>
                </a:solidFill>
                <a:latin typeface="Times New Roman" panose="02020603050405020304" pitchFamily="18" charset="0"/>
              </a:rPr>
              <a:t>A</a:t>
            </a:r>
            <a:r>
              <a:rPr lang="en-GB" altLang="en-US" i="1">
                <a:solidFill>
                  <a:schemeClr val="tx2"/>
                </a:solidFill>
              </a:rPr>
              <a:t> </a:t>
            </a:r>
            <a:r>
              <a:rPr lang="en-GB" altLang="en-US">
                <a:solidFill>
                  <a:schemeClr val="tx2"/>
                </a:solidFill>
                <a:latin typeface="Lucida Sans Unicode" panose="020B0602030504020204" pitchFamily="34" charset="0"/>
              </a:rPr>
              <a:t>∪</a:t>
            </a:r>
            <a:r>
              <a:rPr lang="en-GB" altLang="en-US">
                <a:solidFill>
                  <a:schemeClr val="tx2"/>
                </a:solidFill>
              </a:rPr>
              <a:t> </a:t>
            </a:r>
            <a:r>
              <a:rPr lang="en-GB" altLang="en-US" i="1">
                <a:solidFill>
                  <a:schemeClr val="tx2"/>
                </a:solidFill>
                <a:latin typeface="Times New Roman" panose="02020603050405020304" pitchFamily="18" charset="0"/>
              </a:rPr>
              <a:t>B.</a:t>
            </a:r>
            <a:r>
              <a:rPr lang="en-GB" altLang="en-US">
                <a:solidFill>
                  <a:schemeClr val="tx2"/>
                </a:solidFill>
              </a:rPr>
              <a:t> </a:t>
            </a:r>
          </a:p>
          <a:p>
            <a:endParaRPr lang="en-GB" altLang="en-US" b="1"/>
          </a:p>
          <a:p>
            <a:r>
              <a:rPr lang="en-GB" altLang="en-US" b="1"/>
              <a:t>Photo credit:</a:t>
            </a:r>
            <a:r>
              <a:rPr lang="en-GB" altLang="en-US"/>
              <a:t> </a:t>
            </a:r>
            <a:r>
              <a:rPr lang="en-GB" altLang="en-US">
                <a:cs typeface="Arial" panose="020B0604020202020204" pitchFamily="34" charset="0"/>
              </a:rPr>
              <a:t>© </a:t>
            </a:r>
            <a:r>
              <a:rPr lang="en-GB" altLang="en-US"/>
              <a:t>vesna cvorovic 2012, Shutterstock.com</a:t>
            </a:r>
            <a:endParaRPr lang="en-GB" altLang="en-US" b="1"/>
          </a:p>
        </p:txBody>
      </p:sp>
    </p:spTree>
    <p:extLst>
      <p:ext uri="{BB962C8B-B14F-4D97-AF65-F5344CB8AC3E}">
        <p14:creationId xmlns:p14="http://schemas.microsoft.com/office/powerpoint/2010/main" val="3845442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16967421-D0DE-6136-E993-AD3DBF10EBF2}"/>
              </a:ext>
            </a:extLst>
          </p:cNvPr>
          <p:cNvSpPr>
            <a:spLocks noGrp="1" noChangeArrowheads="1"/>
          </p:cNvSpPr>
          <p:nvPr>
            <p:ph type="sldNum" sz="quarter" idx="5"/>
          </p:nvPr>
        </p:nvSpPr>
        <p:spPr>
          <a:ln/>
        </p:spPr>
        <p:txBody>
          <a:bodyPr/>
          <a:lstStyle/>
          <a:p>
            <a:fld id="{4296C46C-4748-4034-BD97-DFCBE9A3B72B}" type="slidenum">
              <a:rPr lang="en-GB" altLang="en-US"/>
              <a:pPr/>
              <a:t>15</a:t>
            </a:fld>
            <a:endParaRPr lang="en-GB" altLang="en-US"/>
          </a:p>
        </p:txBody>
      </p:sp>
      <p:sp>
        <p:nvSpPr>
          <p:cNvPr id="4" name="Rectangle 9">
            <a:extLst>
              <a:ext uri="{FF2B5EF4-FFF2-40B4-BE49-F238E27FC236}">
                <a16:creationId xmlns:a16="http://schemas.microsoft.com/office/drawing/2014/main" id="{F08D00F3-D023-423D-370B-FC9FB197DF82}"/>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5D1021EA-E9B0-DEC1-1894-9838ECCB5A1E}"/>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228354" name="Rectangle 7">
            <a:extLst>
              <a:ext uri="{FF2B5EF4-FFF2-40B4-BE49-F238E27FC236}">
                <a16:creationId xmlns:a16="http://schemas.microsoft.com/office/drawing/2014/main" id="{E02E523B-8641-D3D9-B6F4-CDFC92982CE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8EB218CF-63D5-4743-9CF5-DF7BA3A0AE75}" type="slidenum">
              <a:rPr lang="en-GB" altLang="en-US" sz="1200"/>
              <a:pPr algn="r"/>
              <a:t>15</a:t>
            </a:fld>
            <a:endParaRPr lang="en-GB" altLang="en-US" sz="1200"/>
          </a:p>
        </p:txBody>
      </p:sp>
      <p:sp>
        <p:nvSpPr>
          <p:cNvPr id="228355" name="Rectangle 2">
            <a:extLst>
              <a:ext uri="{FF2B5EF4-FFF2-40B4-BE49-F238E27FC236}">
                <a16:creationId xmlns:a16="http://schemas.microsoft.com/office/drawing/2014/main" id="{0F4AA234-27E0-1497-BAA5-27FB84701094}"/>
              </a:ext>
            </a:extLst>
          </p:cNvPr>
          <p:cNvSpPr>
            <a:spLocks noGrp="1" noRot="1" noChangeAspect="1" noChangeArrowheads="1" noTextEdit="1"/>
          </p:cNvSpPr>
          <p:nvPr>
            <p:ph type="sldImg"/>
          </p:nvPr>
        </p:nvSpPr>
        <p:spPr>
          <a:ln/>
        </p:spPr>
      </p:sp>
      <p:sp>
        <p:nvSpPr>
          <p:cNvPr id="228356" name="Rectangle 3">
            <a:extLst>
              <a:ext uri="{FF2B5EF4-FFF2-40B4-BE49-F238E27FC236}">
                <a16:creationId xmlns:a16="http://schemas.microsoft.com/office/drawing/2014/main" id="{1D3DD19F-A0D4-0300-DB5D-26DED959C919}"/>
              </a:ext>
            </a:extLst>
          </p:cNvPr>
          <p:cNvSpPr>
            <a:spLocks noGrp="1" noChangeArrowheads="1"/>
          </p:cNvSpPr>
          <p:nvPr>
            <p:ph type="body" idx="1"/>
          </p:nvPr>
        </p:nvSpPr>
        <p:spPr>
          <a:xfrm>
            <a:off x="914400" y="4343400"/>
            <a:ext cx="5029200" cy="4114800"/>
          </a:xfrm>
          <a:noFill/>
        </p:spPr>
        <p:txBody>
          <a:bodyPr/>
          <a:lstStyle/>
          <a:p>
            <a:r>
              <a:rPr lang="en-GB" altLang="en-US" b="1">
                <a:solidFill>
                  <a:schemeClr val="tx2"/>
                </a:solidFill>
              </a:rPr>
              <a:t>Teacher notes</a:t>
            </a:r>
          </a:p>
          <a:p>
            <a:r>
              <a:rPr lang="en-GB" altLang="en-US">
                <a:solidFill>
                  <a:schemeClr val="tx2"/>
                </a:solidFill>
              </a:rPr>
              <a:t>Ask students to consider what the notation would be for the complement of </a:t>
            </a:r>
            <a:r>
              <a:rPr lang="en-GB" altLang="en-US" i="1">
                <a:solidFill>
                  <a:schemeClr val="tx2"/>
                </a:solidFill>
                <a:latin typeface="Times New Roman" panose="02020603050405020304" pitchFamily="18" charset="0"/>
              </a:rPr>
              <a:t>A</a:t>
            </a:r>
            <a:r>
              <a:rPr lang="en-GB" altLang="en-US" i="1">
                <a:solidFill>
                  <a:schemeClr val="tx2"/>
                </a:solidFill>
              </a:rPr>
              <a:t> </a:t>
            </a:r>
            <a:r>
              <a:rPr lang="en-GB" altLang="en-US">
                <a:solidFill>
                  <a:schemeClr val="tx2"/>
                </a:solidFill>
                <a:latin typeface="Lucida Sans Unicode" panose="020B0602030504020204" pitchFamily="34" charset="0"/>
              </a:rPr>
              <a:t>∩</a:t>
            </a:r>
            <a:r>
              <a:rPr lang="en-GB" altLang="en-US">
                <a:solidFill>
                  <a:schemeClr val="tx2"/>
                </a:solidFill>
              </a:rPr>
              <a:t> </a:t>
            </a:r>
            <a:r>
              <a:rPr lang="en-GB" altLang="en-US" i="1">
                <a:solidFill>
                  <a:schemeClr val="tx2"/>
                </a:solidFill>
                <a:latin typeface="Times New Roman" panose="02020603050405020304" pitchFamily="18" charset="0"/>
              </a:rPr>
              <a:t>B</a:t>
            </a:r>
            <a:r>
              <a:rPr lang="en-GB" altLang="en-US">
                <a:solidFill>
                  <a:schemeClr val="tx2"/>
                </a:solidFill>
              </a:rPr>
              <a:t>. </a:t>
            </a:r>
          </a:p>
          <a:p>
            <a:endParaRPr lang="en-GB" altLang="en-US">
              <a:solidFill>
                <a:schemeClr val="tx2"/>
              </a:solidFill>
            </a:endParaRPr>
          </a:p>
          <a:p>
            <a:r>
              <a:rPr lang="en-GB" altLang="en-US" b="1">
                <a:solidFill>
                  <a:schemeClr val="tx2"/>
                </a:solidFill>
              </a:rPr>
              <a:t>Mathematical practices</a:t>
            </a:r>
          </a:p>
          <a:p>
            <a:r>
              <a:rPr lang="en-GB" altLang="en-US">
                <a:solidFill>
                  <a:schemeClr val="tx2"/>
                </a:solidFill>
              </a:rPr>
              <a:t>6) Attend to precision.</a:t>
            </a:r>
          </a:p>
          <a:p>
            <a:r>
              <a:rPr lang="en-GB" altLang="en-US">
                <a:solidFill>
                  <a:schemeClr val="tx2"/>
                </a:solidFill>
              </a:rPr>
              <a:t>Students should compare </a:t>
            </a:r>
            <a:r>
              <a:rPr lang="en-GB" altLang="en-US"/>
              <a:t>two sets of numbers and identify all elements which are the same. They should be careful in using the correct notation to describe the intersection.</a:t>
            </a:r>
          </a:p>
        </p:txBody>
      </p:sp>
    </p:spTree>
    <p:extLst>
      <p:ext uri="{BB962C8B-B14F-4D97-AF65-F5344CB8AC3E}">
        <p14:creationId xmlns:p14="http://schemas.microsoft.com/office/powerpoint/2010/main" val="415235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B38C8ACC-5E50-F586-1F1C-2B177D425663}"/>
              </a:ext>
            </a:extLst>
          </p:cNvPr>
          <p:cNvSpPr>
            <a:spLocks noGrp="1" noChangeArrowheads="1"/>
          </p:cNvSpPr>
          <p:nvPr>
            <p:ph type="sldNum" sz="quarter" idx="5"/>
          </p:nvPr>
        </p:nvSpPr>
        <p:spPr>
          <a:ln/>
        </p:spPr>
        <p:txBody>
          <a:bodyPr/>
          <a:lstStyle/>
          <a:p>
            <a:fld id="{4F497A7E-E581-4FB9-9CC4-C387FA0C1088}" type="slidenum">
              <a:rPr lang="en-GB" altLang="en-US"/>
              <a:pPr/>
              <a:t>16</a:t>
            </a:fld>
            <a:endParaRPr lang="en-GB" altLang="en-US"/>
          </a:p>
        </p:txBody>
      </p:sp>
      <p:sp>
        <p:nvSpPr>
          <p:cNvPr id="4" name="Rectangle 9">
            <a:extLst>
              <a:ext uri="{FF2B5EF4-FFF2-40B4-BE49-F238E27FC236}">
                <a16:creationId xmlns:a16="http://schemas.microsoft.com/office/drawing/2014/main" id="{80516E88-2616-9799-7165-67FD15F3E253}"/>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EAD70043-D2C3-9DAA-8E92-7D5B2FA654A6}"/>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232450" name="Rectangle 2">
            <a:extLst>
              <a:ext uri="{FF2B5EF4-FFF2-40B4-BE49-F238E27FC236}">
                <a16:creationId xmlns:a16="http://schemas.microsoft.com/office/drawing/2014/main" id="{2B76473B-5E52-B5D1-A40E-4D4C8C304C41}"/>
              </a:ext>
            </a:extLst>
          </p:cNvPr>
          <p:cNvSpPr>
            <a:spLocks noGrp="1" noRot="1" noChangeAspect="1" noChangeArrowheads="1" noTextEdit="1"/>
          </p:cNvSpPr>
          <p:nvPr>
            <p:ph type="sldImg"/>
          </p:nvPr>
        </p:nvSpPr>
        <p:spPr>
          <a:ln/>
        </p:spPr>
      </p:sp>
      <p:sp>
        <p:nvSpPr>
          <p:cNvPr id="232451" name="Rectangle 3">
            <a:extLst>
              <a:ext uri="{FF2B5EF4-FFF2-40B4-BE49-F238E27FC236}">
                <a16:creationId xmlns:a16="http://schemas.microsoft.com/office/drawing/2014/main" id="{C5DA69D5-3A88-53ED-C9D5-63714143DC60}"/>
              </a:ext>
            </a:extLst>
          </p:cNvPr>
          <p:cNvSpPr>
            <a:spLocks noGrp="1" noChangeArrowheads="1"/>
          </p:cNvSpPr>
          <p:nvPr>
            <p:ph type="body" idx="1"/>
          </p:nvPr>
        </p:nvSpPr>
        <p:spPr>
          <a:xfrm>
            <a:off x="917575" y="4343400"/>
            <a:ext cx="5027613" cy="4114800"/>
          </a:xfrm>
          <a:noFill/>
        </p:spPr>
        <p:txBody>
          <a:bodyPr/>
          <a:lstStyle/>
          <a:p>
            <a:r>
              <a:rPr lang="en-GB" altLang="en-US" b="1"/>
              <a:t>Teacher notes</a:t>
            </a:r>
          </a:p>
          <a:p>
            <a:r>
              <a:rPr lang="en-GB" altLang="en-US">
                <a:solidFill>
                  <a:schemeClr val="tx2"/>
                </a:solidFill>
              </a:rPr>
              <a:t>Students can use what they have learned about 3D shapes to realize that the intersection of </a:t>
            </a:r>
            <a:r>
              <a:rPr lang="en-GB" altLang="en-US" i="1">
                <a:solidFill>
                  <a:schemeClr val="tx2"/>
                </a:solidFill>
                <a:latin typeface="Times New Roman" panose="02020603050405020304" pitchFamily="18" charset="0"/>
              </a:rPr>
              <a:t>A</a:t>
            </a:r>
            <a:r>
              <a:rPr lang="en-GB" altLang="en-US">
                <a:solidFill>
                  <a:schemeClr val="tx2"/>
                </a:solidFill>
              </a:rPr>
              <a:t> and </a:t>
            </a:r>
            <a:r>
              <a:rPr lang="en-GB" altLang="en-US" i="1">
                <a:solidFill>
                  <a:schemeClr val="tx2"/>
                </a:solidFill>
                <a:latin typeface="Times New Roman" panose="02020603050405020304" pitchFamily="18" charset="0"/>
              </a:rPr>
              <a:t>B</a:t>
            </a:r>
            <a:r>
              <a:rPr lang="en-GB" altLang="en-US">
                <a:solidFill>
                  <a:schemeClr val="tx2"/>
                </a:solidFill>
              </a:rPr>
              <a:t> is empty. </a:t>
            </a:r>
          </a:p>
          <a:p>
            <a:endParaRPr lang="en-GB" altLang="en-US">
              <a:solidFill>
                <a:schemeClr val="tx2"/>
              </a:solidFill>
            </a:endParaRPr>
          </a:p>
          <a:p>
            <a:r>
              <a:rPr lang="en-GB" altLang="en-US" b="1">
                <a:solidFill>
                  <a:schemeClr val="tx2"/>
                </a:solidFill>
              </a:rPr>
              <a:t>Mathematical practices</a:t>
            </a:r>
          </a:p>
          <a:p>
            <a:r>
              <a:rPr lang="en-GB" altLang="en-US">
                <a:solidFill>
                  <a:schemeClr val="tx2"/>
                </a:solidFill>
              </a:rPr>
              <a:t>1) Reason abstractly and quantitatively. </a:t>
            </a:r>
          </a:p>
          <a:p>
            <a:r>
              <a:rPr lang="en-GB" altLang="en-US"/>
              <a:t>There are no elements that belong to both sets, so the intersection does not contain any elements. Students should realise that it is therefore the empty set.</a:t>
            </a:r>
          </a:p>
          <a:p>
            <a:endParaRPr lang="en-GB" altLang="en-US">
              <a:solidFill>
                <a:schemeClr val="tx2"/>
              </a:solidFill>
            </a:endParaRPr>
          </a:p>
          <a:p>
            <a:r>
              <a:rPr lang="en-GB" altLang="en-US">
                <a:solidFill>
                  <a:schemeClr val="tx2"/>
                </a:solidFill>
              </a:rPr>
              <a:t>7) Look for and make use of structure.</a:t>
            </a:r>
          </a:p>
          <a:p>
            <a:r>
              <a:rPr lang="en-GB" altLang="en-US">
                <a:solidFill>
                  <a:schemeClr val="tx2"/>
                </a:solidFill>
              </a:rPr>
              <a:t>Students should use what they know about the structure of 3D shapes and the characteristics of polyhedrons in order to </a:t>
            </a:r>
            <a:r>
              <a:rPr lang="en-GB" altLang="en-US"/>
              <a:t>recognise that the intersection is empty.</a:t>
            </a:r>
          </a:p>
        </p:txBody>
      </p:sp>
    </p:spTree>
    <p:extLst>
      <p:ext uri="{BB962C8B-B14F-4D97-AF65-F5344CB8AC3E}">
        <p14:creationId xmlns:p14="http://schemas.microsoft.com/office/powerpoint/2010/main" val="407995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01C52D8F-CE55-4BAC-BE6C-D5BBB3081407}"/>
              </a:ext>
            </a:extLst>
          </p:cNvPr>
          <p:cNvSpPr>
            <a:spLocks noGrp="1" noChangeArrowheads="1"/>
          </p:cNvSpPr>
          <p:nvPr>
            <p:ph type="sldNum" sz="quarter" idx="5"/>
          </p:nvPr>
        </p:nvSpPr>
        <p:spPr>
          <a:ln/>
        </p:spPr>
        <p:txBody>
          <a:bodyPr/>
          <a:lstStyle/>
          <a:p>
            <a:fld id="{EFA2C159-522A-4A90-9F20-48D699403565}" type="slidenum">
              <a:rPr lang="en-GB" altLang="en-US"/>
              <a:pPr/>
              <a:t>41</a:t>
            </a:fld>
            <a:endParaRPr lang="en-GB" altLang="en-US"/>
          </a:p>
        </p:txBody>
      </p:sp>
      <p:sp>
        <p:nvSpPr>
          <p:cNvPr id="4" name="Rectangle 9">
            <a:extLst>
              <a:ext uri="{FF2B5EF4-FFF2-40B4-BE49-F238E27FC236}">
                <a16:creationId xmlns:a16="http://schemas.microsoft.com/office/drawing/2014/main" id="{935E9A9B-88E8-1E93-EAFC-491BDECE3C00}"/>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EE12BECB-ECB6-DDA8-FE09-7457472BE5E3}"/>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204802" name="Rectangle 7">
            <a:extLst>
              <a:ext uri="{FF2B5EF4-FFF2-40B4-BE49-F238E27FC236}">
                <a16:creationId xmlns:a16="http://schemas.microsoft.com/office/drawing/2014/main" id="{9CEFF241-6A66-5AF6-C457-418698309F3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70DA71D4-3078-4F84-8629-DADEFCD91A36}" type="slidenum">
              <a:rPr lang="en-GB" altLang="en-US" sz="1200"/>
              <a:pPr algn="r"/>
              <a:t>41</a:t>
            </a:fld>
            <a:endParaRPr lang="en-GB" altLang="en-US" sz="1200"/>
          </a:p>
        </p:txBody>
      </p:sp>
      <p:sp>
        <p:nvSpPr>
          <p:cNvPr id="204803" name="Rectangle 2">
            <a:extLst>
              <a:ext uri="{FF2B5EF4-FFF2-40B4-BE49-F238E27FC236}">
                <a16:creationId xmlns:a16="http://schemas.microsoft.com/office/drawing/2014/main" id="{9B8A4DC6-338B-D8D8-9BD7-F791DCE111E9}"/>
              </a:ext>
            </a:extLst>
          </p:cNvPr>
          <p:cNvSpPr>
            <a:spLocks noGrp="1" noRot="1" noChangeAspect="1" noChangeArrowheads="1" noTextEdit="1"/>
          </p:cNvSpPr>
          <p:nvPr>
            <p:ph type="sldImg"/>
          </p:nvPr>
        </p:nvSpPr>
        <p:spPr>
          <a:ln/>
        </p:spPr>
      </p:sp>
      <p:sp>
        <p:nvSpPr>
          <p:cNvPr id="204804" name="Rectangle 3">
            <a:extLst>
              <a:ext uri="{FF2B5EF4-FFF2-40B4-BE49-F238E27FC236}">
                <a16:creationId xmlns:a16="http://schemas.microsoft.com/office/drawing/2014/main" id="{2235E829-0D76-C867-A1DA-55AEBADFBCDA}"/>
              </a:ext>
            </a:extLst>
          </p:cNvPr>
          <p:cNvSpPr>
            <a:spLocks noGrp="1" noChangeArrowheads="1"/>
          </p:cNvSpPr>
          <p:nvPr>
            <p:ph type="body" idx="1"/>
          </p:nvPr>
        </p:nvSpPr>
        <p:spPr>
          <a:xfrm>
            <a:off x="914400" y="4343400"/>
            <a:ext cx="5029200" cy="4114800"/>
          </a:xfrm>
          <a:noFill/>
        </p:spPr>
        <p:txBody>
          <a:bodyPr/>
          <a:lstStyle/>
          <a:p>
            <a:r>
              <a:rPr lang="en-GB" altLang="en-US" b="1"/>
              <a:t>Teacher notes</a:t>
            </a:r>
          </a:p>
          <a:p>
            <a:r>
              <a:rPr lang="en-GB" altLang="en-US"/>
              <a:t>Ask students make a Venn diagram to represent these sets. Ask them to write out the elements of set </a:t>
            </a:r>
            <a:r>
              <a:rPr lang="en-GB" altLang="en-US" i="1">
                <a:latin typeface="Times New Roman" panose="02020603050405020304" pitchFamily="18" charset="0"/>
              </a:rPr>
              <a:t>C</a:t>
            </a:r>
            <a:r>
              <a:rPr lang="en-GB" altLang="en-US"/>
              <a:t>. </a:t>
            </a:r>
          </a:p>
          <a:p>
            <a:r>
              <a:rPr lang="en-GB" altLang="en-US"/>
              <a:t>When considering </a:t>
            </a:r>
            <a:r>
              <a:rPr lang="en-GB" altLang="en-US" i="1">
                <a:solidFill>
                  <a:schemeClr val="tx2"/>
                </a:solidFill>
                <a:latin typeface="Times New Roman" panose="02020603050405020304" pitchFamily="18" charset="0"/>
              </a:rPr>
              <a:t>B</a:t>
            </a:r>
            <a:r>
              <a:rPr lang="en-GB" altLang="en-US"/>
              <a:t>’ students should do more than just say that it is all letters that are not vowels. They know that if a letter is not a vowel then it is a consonant. They should describe </a:t>
            </a:r>
            <a:r>
              <a:rPr lang="en-GB" altLang="en-US" i="1">
                <a:solidFill>
                  <a:schemeClr val="tx2"/>
                </a:solidFill>
                <a:latin typeface="Times New Roman" panose="02020603050405020304" pitchFamily="18" charset="0"/>
              </a:rPr>
              <a:t>B</a:t>
            </a:r>
            <a:r>
              <a:rPr lang="en-GB" altLang="en-US"/>
              <a:t>’ as the set of consonants. </a:t>
            </a:r>
          </a:p>
          <a:p>
            <a:r>
              <a:rPr lang="en-GB" altLang="en-US"/>
              <a:t>The final question will depend on the students name. Ask students to work in pairs to check each other’s answers to this question. </a:t>
            </a:r>
          </a:p>
        </p:txBody>
      </p:sp>
    </p:spTree>
    <p:extLst>
      <p:ext uri="{BB962C8B-B14F-4D97-AF65-F5344CB8AC3E}">
        <p14:creationId xmlns:p14="http://schemas.microsoft.com/office/powerpoint/2010/main" val="3861815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5351C-7BCF-ECF7-5FF3-C2D5AB2E9E9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362D7395-9047-FBEA-E4EC-21AE26FC6969}"/>
              </a:ext>
            </a:extLst>
          </p:cNvPr>
          <p:cNvSpPr>
            <a:spLocks noGrp="1" noChangeArrowheads="1"/>
          </p:cNvSpPr>
          <p:nvPr>
            <p:ph type="sldNum" sz="quarter" idx="5"/>
          </p:nvPr>
        </p:nvSpPr>
        <p:spPr>
          <a:ln/>
        </p:spPr>
        <p:txBody>
          <a:bodyPr/>
          <a:lstStyle/>
          <a:p>
            <a:fld id="{EFA2C159-522A-4A90-9F20-48D699403565}" type="slidenum">
              <a:rPr lang="en-GB" altLang="en-US"/>
              <a:pPr/>
              <a:t>42</a:t>
            </a:fld>
            <a:endParaRPr lang="en-GB" altLang="en-US"/>
          </a:p>
        </p:txBody>
      </p:sp>
      <p:sp>
        <p:nvSpPr>
          <p:cNvPr id="4" name="Rectangle 9">
            <a:extLst>
              <a:ext uri="{FF2B5EF4-FFF2-40B4-BE49-F238E27FC236}">
                <a16:creationId xmlns:a16="http://schemas.microsoft.com/office/drawing/2014/main" id="{810AA217-53FC-03CA-2759-EA2CABC355F9}"/>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A205CB4F-DB15-8D00-3EAC-D0BBBC6DA211}"/>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204802" name="Rectangle 7">
            <a:extLst>
              <a:ext uri="{FF2B5EF4-FFF2-40B4-BE49-F238E27FC236}">
                <a16:creationId xmlns:a16="http://schemas.microsoft.com/office/drawing/2014/main" id="{29747C1B-A926-F737-EF7D-75E7EF1A3B0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70DA71D4-3078-4F84-8629-DADEFCD91A36}" type="slidenum">
              <a:rPr lang="en-GB" altLang="en-US" sz="1200"/>
              <a:pPr algn="r"/>
              <a:t>42</a:t>
            </a:fld>
            <a:endParaRPr lang="en-GB" altLang="en-US" sz="1200"/>
          </a:p>
        </p:txBody>
      </p:sp>
      <p:sp>
        <p:nvSpPr>
          <p:cNvPr id="204803" name="Rectangle 2">
            <a:extLst>
              <a:ext uri="{FF2B5EF4-FFF2-40B4-BE49-F238E27FC236}">
                <a16:creationId xmlns:a16="http://schemas.microsoft.com/office/drawing/2014/main" id="{6B411D6B-655B-D57B-1783-79D1820EC2C6}"/>
              </a:ext>
            </a:extLst>
          </p:cNvPr>
          <p:cNvSpPr>
            <a:spLocks noGrp="1" noRot="1" noChangeAspect="1" noChangeArrowheads="1" noTextEdit="1"/>
          </p:cNvSpPr>
          <p:nvPr>
            <p:ph type="sldImg"/>
          </p:nvPr>
        </p:nvSpPr>
        <p:spPr>
          <a:ln/>
        </p:spPr>
      </p:sp>
      <p:sp>
        <p:nvSpPr>
          <p:cNvPr id="204804" name="Rectangle 3">
            <a:extLst>
              <a:ext uri="{FF2B5EF4-FFF2-40B4-BE49-F238E27FC236}">
                <a16:creationId xmlns:a16="http://schemas.microsoft.com/office/drawing/2014/main" id="{315C3212-947B-83D2-054C-3ECCF19E37C8}"/>
              </a:ext>
            </a:extLst>
          </p:cNvPr>
          <p:cNvSpPr>
            <a:spLocks noGrp="1" noChangeArrowheads="1"/>
          </p:cNvSpPr>
          <p:nvPr>
            <p:ph type="body" idx="1"/>
          </p:nvPr>
        </p:nvSpPr>
        <p:spPr>
          <a:xfrm>
            <a:off x="914400" y="4343400"/>
            <a:ext cx="5029200" cy="4114800"/>
          </a:xfrm>
          <a:noFill/>
        </p:spPr>
        <p:txBody>
          <a:bodyPr/>
          <a:lstStyle/>
          <a:p>
            <a:r>
              <a:rPr lang="en-GB" altLang="en-US" b="1"/>
              <a:t>Teacher notes</a:t>
            </a:r>
          </a:p>
          <a:p>
            <a:r>
              <a:rPr lang="en-GB" altLang="en-US"/>
              <a:t>Ask students make a Venn diagram to represent these sets. Ask them to write out the elements of set </a:t>
            </a:r>
            <a:r>
              <a:rPr lang="en-GB" altLang="en-US" i="1">
                <a:latin typeface="Times New Roman" panose="02020603050405020304" pitchFamily="18" charset="0"/>
              </a:rPr>
              <a:t>C</a:t>
            </a:r>
            <a:r>
              <a:rPr lang="en-GB" altLang="en-US"/>
              <a:t>. </a:t>
            </a:r>
          </a:p>
          <a:p>
            <a:r>
              <a:rPr lang="en-GB" altLang="en-US"/>
              <a:t>When considering </a:t>
            </a:r>
            <a:r>
              <a:rPr lang="en-GB" altLang="en-US" i="1">
                <a:solidFill>
                  <a:schemeClr val="tx2"/>
                </a:solidFill>
                <a:latin typeface="Times New Roman" panose="02020603050405020304" pitchFamily="18" charset="0"/>
              </a:rPr>
              <a:t>B</a:t>
            </a:r>
            <a:r>
              <a:rPr lang="en-GB" altLang="en-US"/>
              <a:t>’ students should do more than just say that it is all letters that are not vowels. They know that if a letter is not a vowel then it is a consonant. They should describe </a:t>
            </a:r>
            <a:r>
              <a:rPr lang="en-GB" altLang="en-US" i="1">
                <a:solidFill>
                  <a:schemeClr val="tx2"/>
                </a:solidFill>
                <a:latin typeface="Times New Roman" panose="02020603050405020304" pitchFamily="18" charset="0"/>
              </a:rPr>
              <a:t>B</a:t>
            </a:r>
            <a:r>
              <a:rPr lang="en-GB" altLang="en-US"/>
              <a:t>’ as the set of consonants. </a:t>
            </a:r>
          </a:p>
          <a:p>
            <a:r>
              <a:rPr lang="en-GB" altLang="en-US"/>
              <a:t>The final question will depend on the students name. Ask students to work in pairs to check each other’s answers to this question. </a:t>
            </a:r>
          </a:p>
        </p:txBody>
      </p:sp>
    </p:spTree>
    <p:extLst>
      <p:ext uri="{BB962C8B-B14F-4D97-AF65-F5344CB8AC3E}">
        <p14:creationId xmlns:p14="http://schemas.microsoft.com/office/powerpoint/2010/main" val="2237325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22689CAA-7481-4D2F-073D-9AD0BF9A8C51}"/>
              </a:ext>
            </a:extLst>
          </p:cNvPr>
          <p:cNvSpPr>
            <a:spLocks noGrp="1" noChangeArrowheads="1"/>
          </p:cNvSpPr>
          <p:nvPr>
            <p:ph type="sldNum" sz="quarter" idx="5"/>
          </p:nvPr>
        </p:nvSpPr>
        <p:spPr>
          <a:ln/>
        </p:spPr>
        <p:txBody>
          <a:bodyPr/>
          <a:lstStyle/>
          <a:p>
            <a:fld id="{E82B22BC-B8A8-4582-AF34-EA6C92E25226}" type="slidenum">
              <a:rPr lang="en-GB" altLang="en-US"/>
              <a:pPr/>
              <a:t>43</a:t>
            </a:fld>
            <a:endParaRPr lang="en-GB" altLang="en-US"/>
          </a:p>
        </p:txBody>
      </p:sp>
      <p:sp>
        <p:nvSpPr>
          <p:cNvPr id="4" name="Rectangle 9">
            <a:extLst>
              <a:ext uri="{FF2B5EF4-FFF2-40B4-BE49-F238E27FC236}">
                <a16:creationId xmlns:a16="http://schemas.microsoft.com/office/drawing/2014/main" id="{7BCBA4F5-B7A7-3A26-2B07-63E769068DDC}"/>
              </a:ext>
            </a:extLst>
          </p:cNvPr>
          <p:cNvSpPr>
            <a:spLocks noGrp="1" noChangeArrowheads="1"/>
          </p:cNvSpPr>
          <p:nvPr>
            <p:ph type="ftr" sz="quarter" idx="4"/>
          </p:nvPr>
        </p:nvSpPr>
        <p:spPr>
          <a:ln/>
        </p:spPr>
        <p:txBody>
          <a:bodyPr/>
          <a:lstStyle/>
          <a:p>
            <a:r>
              <a:rPr lang="en-GB" altLang="en-US"/>
              <a:t>© Boardworks 2012</a:t>
            </a:r>
          </a:p>
        </p:txBody>
      </p:sp>
      <p:sp>
        <p:nvSpPr>
          <p:cNvPr id="5" name="Rectangle 10">
            <a:extLst>
              <a:ext uri="{FF2B5EF4-FFF2-40B4-BE49-F238E27FC236}">
                <a16:creationId xmlns:a16="http://schemas.microsoft.com/office/drawing/2014/main" id="{043F259B-2089-D22B-8B83-E97BA8CF1AC5}"/>
              </a:ext>
            </a:extLst>
          </p:cNvPr>
          <p:cNvSpPr>
            <a:spLocks noGrp="1" noChangeArrowheads="1"/>
          </p:cNvSpPr>
          <p:nvPr>
            <p:ph type="hdr" sz="quarter"/>
          </p:nvPr>
        </p:nvSpPr>
        <p:spPr>
          <a:ln/>
        </p:spPr>
        <p:txBody>
          <a:bodyPr/>
          <a:lstStyle/>
          <a:p>
            <a:r>
              <a:rPr lang="en-GB" altLang="en-US"/>
              <a:t>Boardworks High School Geometry (Common Core)</a:t>
            </a:r>
          </a:p>
          <a:p>
            <a:r>
              <a:rPr lang="en-GB" altLang="en-US"/>
              <a:t>Set Theory</a:t>
            </a:r>
          </a:p>
        </p:txBody>
      </p:sp>
      <p:sp>
        <p:nvSpPr>
          <p:cNvPr id="208898" name="Rectangle 7">
            <a:extLst>
              <a:ext uri="{FF2B5EF4-FFF2-40B4-BE49-F238E27FC236}">
                <a16:creationId xmlns:a16="http://schemas.microsoft.com/office/drawing/2014/main" id="{E6504F1C-F82D-8742-A339-2B506F61FCF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96B8869A-F808-4508-BB0A-39A666D51F41}" type="slidenum">
              <a:rPr lang="en-GB" altLang="en-US" sz="1200"/>
              <a:pPr algn="r"/>
              <a:t>43</a:t>
            </a:fld>
            <a:endParaRPr lang="en-GB" altLang="en-US" sz="1200"/>
          </a:p>
        </p:txBody>
      </p:sp>
      <p:sp>
        <p:nvSpPr>
          <p:cNvPr id="208899" name="Rectangle 2">
            <a:extLst>
              <a:ext uri="{FF2B5EF4-FFF2-40B4-BE49-F238E27FC236}">
                <a16:creationId xmlns:a16="http://schemas.microsoft.com/office/drawing/2014/main" id="{45350217-C19F-962F-986A-D772763D8419}"/>
              </a:ext>
            </a:extLst>
          </p:cNvPr>
          <p:cNvSpPr>
            <a:spLocks noGrp="1" noRot="1" noChangeAspect="1" noChangeArrowheads="1" noTextEdit="1"/>
          </p:cNvSpPr>
          <p:nvPr>
            <p:ph type="sldImg"/>
          </p:nvPr>
        </p:nvSpPr>
        <p:spPr>
          <a:ln/>
        </p:spPr>
      </p:sp>
      <p:sp>
        <p:nvSpPr>
          <p:cNvPr id="208900" name="Rectangle 3">
            <a:extLst>
              <a:ext uri="{FF2B5EF4-FFF2-40B4-BE49-F238E27FC236}">
                <a16:creationId xmlns:a16="http://schemas.microsoft.com/office/drawing/2014/main" id="{93CFE68A-AC47-D2A0-37EA-9E781593989B}"/>
              </a:ext>
            </a:extLst>
          </p:cNvPr>
          <p:cNvSpPr>
            <a:spLocks noGrp="1" noChangeArrowheads="1"/>
          </p:cNvSpPr>
          <p:nvPr>
            <p:ph type="body" idx="1"/>
          </p:nvPr>
        </p:nvSpPr>
        <p:spPr>
          <a:xfrm>
            <a:off x="914400" y="4343400"/>
            <a:ext cx="5029200" cy="4114800"/>
          </a:xfrm>
        </p:spPr>
        <p:txBody>
          <a:bodyPr/>
          <a:lstStyle/>
          <a:p>
            <a:endParaRPr lang="en-US" altLang="en-US"/>
          </a:p>
        </p:txBody>
      </p:sp>
    </p:spTree>
    <p:extLst>
      <p:ext uri="{BB962C8B-B14F-4D97-AF65-F5344CB8AC3E}">
        <p14:creationId xmlns:p14="http://schemas.microsoft.com/office/powerpoint/2010/main" val="2725169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D8FD9-BA02-15CF-EF93-A50550FB305B}"/>
              </a:ext>
            </a:extLst>
          </p:cNvPr>
          <p:cNvSpPr>
            <a:spLocks noGrp="1"/>
          </p:cNvSpPr>
          <p:nvPr>
            <p:ph type="ctrTitle"/>
          </p:nvPr>
        </p:nvSpPr>
        <p:spPr>
          <a:xfrm>
            <a:off x="1524000" y="1122363"/>
            <a:ext cx="9144000" cy="2387600"/>
          </a:xfrm>
        </p:spPr>
        <p:txBody>
          <a:bodyPr anchor="b"/>
          <a:lstStyle>
            <a:lvl1pPr algn="ctr">
              <a:defRPr sz="6000">
                <a:latin typeface="Calibri" panose="020F0502020204030204" pitchFamily="34" charset="0"/>
                <a:cs typeface="Calibri" panose="020F0502020204030204" pitchFamily="34"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B9B8DA10-0E1F-54FE-3240-B12091A64133}"/>
              </a:ext>
            </a:extLst>
          </p:cNvPr>
          <p:cNvSpPr>
            <a:spLocks noGrp="1"/>
          </p:cNvSpPr>
          <p:nvPr>
            <p:ph type="subTitle" idx="1"/>
          </p:nvPr>
        </p:nvSpPr>
        <p:spPr>
          <a:xfrm>
            <a:off x="1524000" y="3602038"/>
            <a:ext cx="9144000" cy="1655762"/>
          </a:xfrm>
        </p:spPr>
        <p:txBody>
          <a:bodyPr/>
          <a:lstStyle>
            <a:lvl1pPr marL="0" indent="0" algn="ctr">
              <a:buNone/>
              <a:defRPr sz="2400">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31910896-92A7-FE06-5413-AB2B89D091A9}"/>
              </a:ext>
            </a:extLst>
          </p:cNvPr>
          <p:cNvSpPr>
            <a:spLocks noGrp="1"/>
          </p:cNvSpPr>
          <p:nvPr>
            <p:ph type="dt" sz="half" idx="10"/>
          </p:nvPr>
        </p:nvSpPr>
        <p:spPr/>
        <p:txBody>
          <a:bodyPr/>
          <a:lstStyle/>
          <a:p>
            <a:fld id="{9783E004-35BC-4387-9A1A-B80D7497383D}" type="datetime1">
              <a:rPr lang="en-GB" smtClean="0"/>
              <a:t>10/08/2026</a:t>
            </a:fld>
            <a:endParaRPr lang="en-GB"/>
          </a:p>
        </p:txBody>
      </p:sp>
      <p:sp>
        <p:nvSpPr>
          <p:cNvPr id="5" name="Footer Placeholder 4">
            <a:extLst>
              <a:ext uri="{FF2B5EF4-FFF2-40B4-BE49-F238E27FC236}">
                <a16:creationId xmlns:a16="http://schemas.microsoft.com/office/drawing/2014/main" id="{3192B749-B716-65A3-7CB9-453044D69693}"/>
              </a:ext>
            </a:extLst>
          </p:cNvPr>
          <p:cNvSpPr>
            <a:spLocks noGrp="1"/>
          </p:cNvSpPr>
          <p:nvPr>
            <p:ph type="ftr" sz="quarter" idx="11"/>
          </p:nvPr>
        </p:nvSpPr>
        <p:spPr/>
        <p:txBody>
          <a:bodyPr/>
          <a:lstStyle/>
          <a:p>
            <a:r>
              <a:rPr lang="en-GB"/>
              <a:t>TMS1173</a:t>
            </a:r>
          </a:p>
        </p:txBody>
      </p:sp>
      <p:sp>
        <p:nvSpPr>
          <p:cNvPr id="6" name="Slide Number Placeholder 5">
            <a:extLst>
              <a:ext uri="{FF2B5EF4-FFF2-40B4-BE49-F238E27FC236}">
                <a16:creationId xmlns:a16="http://schemas.microsoft.com/office/drawing/2014/main" id="{0F3772A7-E99D-2CF5-452F-717267C90377}"/>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485353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6A142-0E0F-AB61-3C4D-4C1B48F1B9D1}"/>
              </a:ext>
            </a:extLst>
          </p:cNvPr>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3455F75A-6E15-ED50-41FA-82C8B37E7687}"/>
              </a:ext>
            </a:extLst>
          </p:cNvPr>
          <p:cNvSpPr>
            <a:spLocks noGrp="1"/>
          </p:cNvSpPr>
          <p:nvPr>
            <p:ph idx="1"/>
          </p:nvPr>
        </p:nvSpPr>
        <p:spPr/>
        <p:txBody>
          <a:bodyPr/>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D48BC4D0-FF29-7909-5E43-45F9EC23A204}"/>
              </a:ext>
            </a:extLst>
          </p:cNvPr>
          <p:cNvSpPr>
            <a:spLocks noGrp="1"/>
          </p:cNvSpPr>
          <p:nvPr>
            <p:ph type="dt" sz="half" idx="10"/>
          </p:nvPr>
        </p:nvSpPr>
        <p:spPr/>
        <p:txBody>
          <a:bodyPr/>
          <a:lstStyle/>
          <a:p>
            <a:fld id="{BF25DB12-C3FA-4A8F-B8FA-2E7175AF873E}" type="datetime1">
              <a:rPr lang="en-GB" smtClean="0"/>
              <a:t>10/08/2026</a:t>
            </a:fld>
            <a:endParaRPr lang="en-GB"/>
          </a:p>
        </p:txBody>
      </p:sp>
      <p:sp>
        <p:nvSpPr>
          <p:cNvPr id="5" name="Footer Placeholder 4">
            <a:extLst>
              <a:ext uri="{FF2B5EF4-FFF2-40B4-BE49-F238E27FC236}">
                <a16:creationId xmlns:a16="http://schemas.microsoft.com/office/drawing/2014/main" id="{482FC910-DC8E-7502-8900-69CB1A069FBA}"/>
              </a:ext>
            </a:extLst>
          </p:cNvPr>
          <p:cNvSpPr>
            <a:spLocks noGrp="1"/>
          </p:cNvSpPr>
          <p:nvPr>
            <p:ph type="ftr" sz="quarter" idx="11"/>
          </p:nvPr>
        </p:nvSpPr>
        <p:spPr/>
        <p:txBody>
          <a:bodyPr/>
          <a:lstStyle/>
          <a:p>
            <a:r>
              <a:rPr lang="en-GB"/>
              <a:t>TMS1173</a:t>
            </a:r>
          </a:p>
        </p:txBody>
      </p:sp>
      <p:sp>
        <p:nvSpPr>
          <p:cNvPr id="6" name="Slide Number Placeholder 5">
            <a:extLst>
              <a:ext uri="{FF2B5EF4-FFF2-40B4-BE49-F238E27FC236}">
                <a16:creationId xmlns:a16="http://schemas.microsoft.com/office/drawing/2014/main" id="{B0BAD9B6-9DB5-A513-0AA7-0FB3A10E16D3}"/>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579749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C8684-7A4B-EDE6-98A8-D6B7E3E810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231079A-65B0-6F58-C99B-8229A2A582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9EE232-8853-9EC9-C7AF-0AD47C35847C}"/>
              </a:ext>
            </a:extLst>
          </p:cNvPr>
          <p:cNvSpPr>
            <a:spLocks noGrp="1"/>
          </p:cNvSpPr>
          <p:nvPr>
            <p:ph type="dt" sz="half" idx="10"/>
          </p:nvPr>
        </p:nvSpPr>
        <p:spPr/>
        <p:txBody>
          <a:bodyPr/>
          <a:lstStyle/>
          <a:p>
            <a:fld id="{5A2115E2-B1DA-4C30-812D-8DBEAB830750}" type="datetime1">
              <a:rPr lang="en-GB" smtClean="0"/>
              <a:t>10/08/2026</a:t>
            </a:fld>
            <a:endParaRPr lang="en-GB"/>
          </a:p>
        </p:txBody>
      </p:sp>
      <p:sp>
        <p:nvSpPr>
          <p:cNvPr id="5" name="Footer Placeholder 4">
            <a:extLst>
              <a:ext uri="{FF2B5EF4-FFF2-40B4-BE49-F238E27FC236}">
                <a16:creationId xmlns:a16="http://schemas.microsoft.com/office/drawing/2014/main" id="{6E8CEFDB-C7E7-B999-AC72-342FEB403DEB}"/>
              </a:ext>
            </a:extLst>
          </p:cNvPr>
          <p:cNvSpPr>
            <a:spLocks noGrp="1"/>
          </p:cNvSpPr>
          <p:nvPr>
            <p:ph type="ftr" sz="quarter" idx="11"/>
          </p:nvPr>
        </p:nvSpPr>
        <p:spPr/>
        <p:txBody>
          <a:bodyPr/>
          <a:lstStyle/>
          <a:p>
            <a:r>
              <a:rPr lang="en-GB"/>
              <a:t>TMS1173</a:t>
            </a:r>
          </a:p>
        </p:txBody>
      </p:sp>
      <p:sp>
        <p:nvSpPr>
          <p:cNvPr id="6" name="Slide Number Placeholder 5">
            <a:extLst>
              <a:ext uri="{FF2B5EF4-FFF2-40B4-BE49-F238E27FC236}">
                <a16:creationId xmlns:a16="http://schemas.microsoft.com/office/drawing/2014/main" id="{436AA422-0DCB-5352-0D3C-3726851827CD}"/>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810986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9C185-C863-E6E5-453B-2AD995EC42F9}"/>
              </a:ext>
            </a:extLst>
          </p:cNvPr>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F3330D5D-D398-66D0-3AE3-BA6BB0FF3B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39078F5-354B-B60E-FAAB-3DD73EB86F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2198F93-AA6D-D1E8-F42E-AE70B5C69507}"/>
              </a:ext>
            </a:extLst>
          </p:cNvPr>
          <p:cNvSpPr>
            <a:spLocks noGrp="1"/>
          </p:cNvSpPr>
          <p:nvPr>
            <p:ph type="dt" sz="half" idx="10"/>
          </p:nvPr>
        </p:nvSpPr>
        <p:spPr/>
        <p:txBody>
          <a:bodyPr/>
          <a:lstStyle/>
          <a:p>
            <a:fld id="{30C5CBFF-EC98-4322-B7E9-B25533672956}" type="datetime1">
              <a:rPr lang="en-GB" smtClean="0"/>
              <a:t>10/08/2026</a:t>
            </a:fld>
            <a:endParaRPr lang="en-GB"/>
          </a:p>
        </p:txBody>
      </p:sp>
      <p:sp>
        <p:nvSpPr>
          <p:cNvPr id="6" name="Footer Placeholder 5">
            <a:extLst>
              <a:ext uri="{FF2B5EF4-FFF2-40B4-BE49-F238E27FC236}">
                <a16:creationId xmlns:a16="http://schemas.microsoft.com/office/drawing/2014/main" id="{5953CA48-354B-54EF-56E9-1C68F84726E9}"/>
              </a:ext>
            </a:extLst>
          </p:cNvPr>
          <p:cNvSpPr>
            <a:spLocks noGrp="1"/>
          </p:cNvSpPr>
          <p:nvPr>
            <p:ph type="ftr" sz="quarter" idx="11"/>
          </p:nvPr>
        </p:nvSpPr>
        <p:spPr/>
        <p:txBody>
          <a:bodyPr/>
          <a:lstStyle/>
          <a:p>
            <a:r>
              <a:rPr lang="en-GB"/>
              <a:t>TMS1173</a:t>
            </a:r>
          </a:p>
        </p:txBody>
      </p:sp>
      <p:sp>
        <p:nvSpPr>
          <p:cNvPr id="7" name="Slide Number Placeholder 6">
            <a:extLst>
              <a:ext uri="{FF2B5EF4-FFF2-40B4-BE49-F238E27FC236}">
                <a16:creationId xmlns:a16="http://schemas.microsoft.com/office/drawing/2014/main" id="{93679A62-6009-0A3D-F347-856B70C0E13B}"/>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892695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0A580-160A-C766-6BEF-DBDA33FDE8B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B44F99B-20CA-0D32-141E-5253BF28FA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AB5E64-6CC0-9738-B5FF-F1127D98B5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58D0D0C-4A6B-C2F4-95C8-9E87E05D9E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D67483-9BA9-ECC7-3AA9-B4B0341776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1EA208F-6458-B48D-3B40-74A810DB2149}"/>
              </a:ext>
            </a:extLst>
          </p:cNvPr>
          <p:cNvSpPr>
            <a:spLocks noGrp="1"/>
          </p:cNvSpPr>
          <p:nvPr>
            <p:ph type="dt" sz="half" idx="10"/>
          </p:nvPr>
        </p:nvSpPr>
        <p:spPr/>
        <p:txBody>
          <a:bodyPr/>
          <a:lstStyle/>
          <a:p>
            <a:fld id="{F873BE39-52E0-4937-B0F7-983341CE65CA}" type="datetime1">
              <a:rPr lang="en-GB" smtClean="0"/>
              <a:t>10/08/2026</a:t>
            </a:fld>
            <a:endParaRPr lang="en-GB"/>
          </a:p>
        </p:txBody>
      </p:sp>
      <p:sp>
        <p:nvSpPr>
          <p:cNvPr id="8" name="Footer Placeholder 7">
            <a:extLst>
              <a:ext uri="{FF2B5EF4-FFF2-40B4-BE49-F238E27FC236}">
                <a16:creationId xmlns:a16="http://schemas.microsoft.com/office/drawing/2014/main" id="{EFA2CA69-7CDF-BAB2-9B34-EC3A95141533}"/>
              </a:ext>
            </a:extLst>
          </p:cNvPr>
          <p:cNvSpPr>
            <a:spLocks noGrp="1"/>
          </p:cNvSpPr>
          <p:nvPr>
            <p:ph type="ftr" sz="quarter" idx="11"/>
          </p:nvPr>
        </p:nvSpPr>
        <p:spPr/>
        <p:txBody>
          <a:bodyPr/>
          <a:lstStyle/>
          <a:p>
            <a:r>
              <a:rPr lang="en-GB"/>
              <a:t>TMS1173</a:t>
            </a:r>
          </a:p>
        </p:txBody>
      </p:sp>
      <p:sp>
        <p:nvSpPr>
          <p:cNvPr id="9" name="Slide Number Placeholder 8">
            <a:extLst>
              <a:ext uri="{FF2B5EF4-FFF2-40B4-BE49-F238E27FC236}">
                <a16:creationId xmlns:a16="http://schemas.microsoft.com/office/drawing/2014/main" id="{8F49934C-A2D8-7EC3-95E1-9C7334801C4F}"/>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2182290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33CC9-F2E3-1233-F616-8537F65DCBCA}"/>
              </a:ext>
            </a:extLst>
          </p:cNvPr>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F0FE4F98-C235-6613-55C7-896DF3E29021}"/>
              </a:ext>
            </a:extLst>
          </p:cNvPr>
          <p:cNvSpPr>
            <a:spLocks noGrp="1"/>
          </p:cNvSpPr>
          <p:nvPr>
            <p:ph type="dt" sz="half" idx="10"/>
          </p:nvPr>
        </p:nvSpPr>
        <p:spPr/>
        <p:txBody>
          <a:bodyPr/>
          <a:lstStyle/>
          <a:p>
            <a:fld id="{266C8B9E-B8B6-4A1D-803F-114D079B8D55}" type="datetime1">
              <a:rPr lang="en-GB" smtClean="0"/>
              <a:t>10/08/2026</a:t>
            </a:fld>
            <a:endParaRPr lang="en-GB"/>
          </a:p>
        </p:txBody>
      </p:sp>
      <p:sp>
        <p:nvSpPr>
          <p:cNvPr id="4" name="Footer Placeholder 3">
            <a:extLst>
              <a:ext uri="{FF2B5EF4-FFF2-40B4-BE49-F238E27FC236}">
                <a16:creationId xmlns:a16="http://schemas.microsoft.com/office/drawing/2014/main" id="{CF11AED4-65E1-03BD-B670-A80D4FF24D6D}"/>
              </a:ext>
            </a:extLst>
          </p:cNvPr>
          <p:cNvSpPr>
            <a:spLocks noGrp="1"/>
          </p:cNvSpPr>
          <p:nvPr>
            <p:ph type="ftr" sz="quarter" idx="11"/>
          </p:nvPr>
        </p:nvSpPr>
        <p:spPr/>
        <p:txBody>
          <a:bodyPr/>
          <a:lstStyle/>
          <a:p>
            <a:r>
              <a:rPr lang="en-GB"/>
              <a:t>TMS1173</a:t>
            </a:r>
          </a:p>
        </p:txBody>
      </p:sp>
      <p:sp>
        <p:nvSpPr>
          <p:cNvPr id="5" name="Slide Number Placeholder 4">
            <a:extLst>
              <a:ext uri="{FF2B5EF4-FFF2-40B4-BE49-F238E27FC236}">
                <a16:creationId xmlns:a16="http://schemas.microsoft.com/office/drawing/2014/main" id="{E8A35EFB-0EAE-503A-B5CB-14D00017F0B6}"/>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1629220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34AA4F-BE2D-A4A3-E75E-29C0FAF9647E}"/>
              </a:ext>
            </a:extLst>
          </p:cNvPr>
          <p:cNvSpPr>
            <a:spLocks noGrp="1"/>
          </p:cNvSpPr>
          <p:nvPr>
            <p:ph type="dt" sz="half" idx="10"/>
          </p:nvPr>
        </p:nvSpPr>
        <p:spPr/>
        <p:txBody>
          <a:bodyPr/>
          <a:lstStyle/>
          <a:p>
            <a:fld id="{497CBEF3-7B38-49CA-BE52-C2E0D7130214}" type="datetime1">
              <a:rPr lang="en-GB" smtClean="0"/>
              <a:t>10/08/2026</a:t>
            </a:fld>
            <a:endParaRPr lang="en-GB"/>
          </a:p>
        </p:txBody>
      </p:sp>
      <p:sp>
        <p:nvSpPr>
          <p:cNvPr id="3" name="Footer Placeholder 2">
            <a:extLst>
              <a:ext uri="{FF2B5EF4-FFF2-40B4-BE49-F238E27FC236}">
                <a16:creationId xmlns:a16="http://schemas.microsoft.com/office/drawing/2014/main" id="{0C3DFBC5-3D5A-8E97-5BDA-491B454AAA5D}"/>
              </a:ext>
            </a:extLst>
          </p:cNvPr>
          <p:cNvSpPr>
            <a:spLocks noGrp="1"/>
          </p:cNvSpPr>
          <p:nvPr>
            <p:ph type="ftr" sz="quarter" idx="11"/>
          </p:nvPr>
        </p:nvSpPr>
        <p:spPr/>
        <p:txBody>
          <a:bodyPr/>
          <a:lstStyle/>
          <a:p>
            <a:r>
              <a:rPr lang="en-GB"/>
              <a:t>TMS1173</a:t>
            </a:r>
          </a:p>
        </p:txBody>
      </p:sp>
      <p:sp>
        <p:nvSpPr>
          <p:cNvPr id="4" name="Slide Number Placeholder 3">
            <a:extLst>
              <a:ext uri="{FF2B5EF4-FFF2-40B4-BE49-F238E27FC236}">
                <a16:creationId xmlns:a16="http://schemas.microsoft.com/office/drawing/2014/main" id="{8B3C5D4A-65D3-6E90-7150-A622560D826D}"/>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622493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7461F-EDA9-E240-A345-C975972F21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7C39C2A-7132-34BD-E3E7-36A81F3A9B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013627C-C525-045D-83B5-4A0B5D844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3CBCAA-7064-F9EC-83CD-4A409DB0C641}"/>
              </a:ext>
            </a:extLst>
          </p:cNvPr>
          <p:cNvSpPr>
            <a:spLocks noGrp="1"/>
          </p:cNvSpPr>
          <p:nvPr>
            <p:ph type="dt" sz="half" idx="10"/>
          </p:nvPr>
        </p:nvSpPr>
        <p:spPr/>
        <p:txBody>
          <a:bodyPr/>
          <a:lstStyle/>
          <a:p>
            <a:fld id="{8C9A5316-AD4E-4724-BED4-A504DB5BCAF9}" type="datetime1">
              <a:rPr lang="en-GB" smtClean="0"/>
              <a:t>10/08/2026</a:t>
            </a:fld>
            <a:endParaRPr lang="en-GB"/>
          </a:p>
        </p:txBody>
      </p:sp>
      <p:sp>
        <p:nvSpPr>
          <p:cNvPr id="6" name="Footer Placeholder 5">
            <a:extLst>
              <a:ext uri="{FF2B5EF4-FFF2-40B4-BE49-F238E27FC236}">
                <a16:creationId xmlns:a16="http://schemas.microsoft.com/office/drawing/2014/main" id="{E7CA1E4F-4919-7192-D5C9-642ADA37DA9F}"/>
              </a:ext>
            </a:extLst>
          </p:cNvPr>
          <p:cNvSpPr>
            <a:spLocks noGrp="1"/>
          </p:cNvSpPr>
          <p:nvPr>
            <p:ph type="ftr" sz="quarter" idx="11"/>
          </p:nvPr>
        </p:nvSpPr>
        <p:spPr/>
        <p:txBody>
          <a:bodyPr/>
          <a:lstStyle/>
          <a:p>
            <a:r>
              <a:rPr lang="en-GB"/>
              <a:t>TMS1173</a:t>
            </a:r>
          </a:p>
        </p:txBody>
      </p:sp>
      <p:sp>
        <p:nvSpPr>
          <p:cNvPr id="7" name="Slide Number Placeholder 6">
            <a:extLst>
              <a:ext uri="{FF2B5EF4-FFF2-40B4-BE49-F238E27FC236}">
                <a16:creationId xmlns:a16="http://schemas.microsoft.com/office/drawing/2014/main" id="{0220FFA8-5A02-5446-84E9-21F537C72395}"/>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257057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BAD8C-FA2E-E082-A744-339595A3F4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3C1751A-75C5-8D13-FB0E-569EC02EBA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F8243A8-8142-E90D-1CBF-C52F8D1F5D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AA13E-7297-8E2A-FE61-A7639515502F}"/>
              </a:ext>
            </a:extLst>
          </p:cNvPr>
          <p:cNvSpPr>
            <a:spLocks noGrp="1"/>
          </p:cNvSpPr>
          <p:nvPr>
            <p:ph type="dt" sz="half" idx="10"/>
          </p:nvPr>
        </p:nvSpPr>
        <p:spPr/>
        <p:txBody>
          <a:bodyPr/>
          <a:lstStyle/>
          <a:p>
            <a:fld id="{21D0A382-7326-4394-8CA2-A948F7927F81}" type="datetime1">
              <a:rPr lang="en-GB" smtClean="0"/>
              <a:t>10/08/2026</a:t>
            </a:fld>
            <a:endParaRPr lang="en-GB"/>
          </a:p>
        </p:txBody>
      </p:sp>
      <p:sp>
        <p:nvSpPr>
          <p:cNvPr id="6" name="Footer Placeholder 5">
            <a:extLst>
              <a:ext uri="{FF2B5EF4-FFF2-40B4-BE49-F238E27FC236}">
                <a16:creationId xmlns:a16="http://schemas.microsoft.com/office/drawing/2014/main" id="{6C189A63-807C-AFED-1B61-154E94B038F0}"/>
              </a:ext>
            </a:extLst>
          </p:cNvPr>
          <p:cNvSpPr>
            <a:spLocks noGrp="1"/>
          </p:cNvSpPr>
          <p:nvPr>
            <p:ph type="ftr" sz="quarter" idx="11"/>
          </p:nvPr>
        </p:nvSpPr>
        <p:spPr/>
        <p:txBody>
          <a:bodyPr/>
          <a:lstStyle/>
          <a:p>
            <a:r>
              <a:rPr lang="en-GB"/>
              <a:t>TMS1173</a:t>
            </a:r>
          </a:p>
        </p:txBody>
      </p:sp>
      <p:sp>
        <p:nvSpPr>
          <p:cNvPr id="7" name="Slide Number Placeholder 6">
            <a:extLst>
              <a:ext uri="{FF2B5EF4-FFF2-40B4-BE49-F238E27FC236}">
                <a16:creationId xmlns:a16="http://schemas.microsoft.com/office/drawing/2014/main" id="{05954F31-B227-8AF3-7C2B-E5E919A39BB0}"/>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142430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BA4D8-6CE2-5DFB-B62A-A03726B8D2B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15AC63A-73D8-9384-3273-CCD2C141E5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D3F607-1F03-A345-7A0A-31EFBD938078}"/>
              </a:ext>
            </a:extLst>
          </p:cNvPr>
          <p:cNvSpPr>
            <a:spLocks noGrp="1"/>
          </p:cNvSpPr>
          <p:nvPr>
            <p:ph type="dt" sz="half" idx="10"/>
          </p:nvPr>
        </p:nvSpPr>
        <p:spPr/>
        <p:txBody>
          <a:bodyPr/>
          <a:lstStyle/>
          <a:p>
            <a:fld id="{16066C6C-C542-4E79-B577-BAB19D0D8B6C}" type="datetime1">
              <a:rPr lang="en-GB" smtClean="0"/>
              <a:t>10/08/2026</a:t>
            </a:fld>
            <a:endParaRPr lang="en-GB"/>
          </a:p>
        </p:txBody>
      </p:sp>
      <p:sp>
        <p:nvSpPr>
          <p:cNvPr id="5" name="Footer Placeholder 4">
            <a:extLst>
              <a:ext uri="{FF2B5EF4-FFF2-40B4-BE49-F238E27FC236}">
                <a16:creationId xmlns:a16="http://schemas.microsoft.com/office/drawing/2014/main" id="{19F58638-27DE-B50A-C941-469E0AD4AD62}"/>
              </a:ext>
            </a:extLst>
          </p:cNvPr>
          <p:cNvSpPr>
            <a:spLocks noGrp="1"/>
          </p:cNvSpPr>
          <p:nvPr>
            <p:ph type="ftr" sz="quarter" idx="11"/>
          </p:nvPr>
        </p:nvSpPr>
        <p:spPr/>
        <p:txBody>
          <a:bodyPr/>
          <a:lstStyle/>
          <a:p>
            <a:r>
              <a:rPr lang="en-GB"/>
              <a:t>TMS1173</a:t>
            </a:r>
          </a:p>
        </p:txBody>
      </p:sp>
      <p:sp>
        <p:nvSpPr>
          <p:cNvPr id="6" name="Slide Number Placeholder 5">
            <a:extLst>
              <a:ext uri="{FF2B5EF4-FFF2-40B4-BE49-F238E27FC236}">
                <a16:creationId xmlns:a16="http://schemas.microsoft.com/office/drawing/2014/main" id="{88C06F80-725D-062A-75EC-91B839D81433}"/>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2926129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E4DF96-2157-C8FE-2ECD-950CAB0429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7F26545-DE20-4F49-44DE-9BD3122F7D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DAB7C7-AD74-D32F-D8D3-5246A2BA3AAE}"/>
              </a:ext>
            </a:extLst>
          </p:cNvPr>
          <p:cNvSpPr>
            <a:spLocks noGrp="1"/>
          </p:cNvSpPr>
          <p:nvPr>
            <p:ph type="dt" sz="half" idx="10"/>
          </p:nvPr>
        </p:nvSpPr>
        <p:spPr/>
        <p:txBody>
          <a:bodyPr/>
          <a:lstStyle/>
          <a:p>
            <a:fld id="{A553D4A1-F320-47DE-B901-917205D664C7}" type="datetime1">
              <a:rPr lang="en-GB" smtClean="0"/>
              <a:t>10/08/2026</a:t>
            </a:fld>
            <a:endParaRPr lang="en-GB"/>
          </a:p>
        </p:txBody>
      </p:sp>
      <p:sp>
        <p:nvSpPr>
          <p:cNvPr id="5" name="Footer Placeholder 4">
            <a:extLst>
              <a:ext uri="{FF2B5EF4-FFF2-40B4-BE49-F238E27FC236}">
                <a16:creationId xmlns:a16="http://schemas.microsoft.com/office/drawing/2014/main" id="{056E77E3-264F-923D-7C89-E8C5CC0B8803}"/>
              </a:ext>
            </a:extLst>
          </p:cNvPr>
          <p:cNvSpPr>
            <a:spLocks noGrp="1"/>
          </p:cNvSpPr>
          <p:nvPr>
            <p:ph type="ftr" sz="quarter" idx="11"/>
          </p:nvPr>
        </p:nvSpPr>
        <p:spPr/>
        <p:txBody>
          <a:bodyPr/>
          <a:lstStyle/>
          <a:p>
            <a:r>
              <a:rPr lang="en-GB"/>
              <a:t>TMS1173</a:t>
            </a:r>
          </a:p>
        </p:txBody>
      </p:sp>
      <p:sp>
        <p:nvSpPr>
          <p:cNvPr id="6" name="Slide Number Placeholder 5">
            <a:extLst>
              <a:ext uri="{FF2B5EF4-FFF2-40B4-BE49-F238E27FC236}">
                <a16:creationId xmlns:a16="http://schemas.microsoft.com/office/drawing/2014/main" id="{2EB80895-9C77-37C2-AADB-606698B907C7}"/>
              </a:ext>
            </a:extLst>
          </p:cNvPr>
          <p:cNvSpPr>
            <a:spLocks noGrp="1"/>
          </p:cNvSpPr>
          <p:nvPr>
            <p:ph type="sldNum" sz="quarter" idx="12"/>
          </p:nvPr>
        </p:nvSpPr>
        <p:spPr/>
        <p:txBody>
          <a:bodyPr/>
          <a:lstStyle/>
          <a:p>
            <a:fld id="{8D75522D-3DA1-4E7C-B84B-2130C32BB93F}" type="slidenum">
              <a:rPr lang="en-GB" smtClean="0"/>
              <a:t>‹#›</a:t>
            </a:fld>
            <a:endParaRPr lang="en-GB"/>
          </a:p>
        </p:txBody>
      </p:sp>
    </p:spTree>
    <p:extLst>
      <p:ext uri="{BB962C8B-B14F-4D97-AF65-F5344CB8AC3E}">
        <p14:creationId xmlns:p14="http://schemas.microsoft.com/office/powerpoint/2010/main" val="3531987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F82275-60C3-5645-3241-1A6A54CB54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9001F50-F3F4-8024-5178-BA5EC83F24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313EAB-2474-4810-1893-FFFE3BDC95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5A9DF6-9D4C-400A-B76E-E9CBE5EE8B8F}" type="datetime1">
              <a:rPr lang="en-GB" smtClean="0"/>
              <a:t>10/08/2026</a:t>
            </a:fld>
            <a:endParaRPr lang="en-GB"/>
          </a:p>
        </p:txBody>
      </p:sp>
      <p:sp>
        <p:nvSpPr>
          <p:cNvPr id="5" name="Footer Placeholder 4">
            <a:extLst>
              <a:ext uri="{FF2B5EF4-FFF2-40B4-BE49-F238E27FC236}">
                <a16:creationId xmlns:a16="http://schemas.microsoft.com/office/drawing/2014/main" id="{3EB6829F-1519-6CB4-CB5E-6B483D21FD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TMS1173</a:t>
            </a:r>
          </a:p>
        </p:txBody>
      </p:sp>
      <p:sp>
        <p:nvSpPr>
          <p:cNvPr id="6" name="Slide Number Placeholder 5">
            <a:extLst>
              <a:ext uri="{FF2B5EF4-FFF2-40B4-BE49-F238E27FC236}">
                <a16:creationId xmlns:a16="http://schemas.microsoft.com/office/drawing/2014/main" id="{7D77CD42-68A3-DAE1-2FEF-3049C7EEBB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75522D-3DA1-4E7C-B84B-2130C32BB93F}" type="slidenum">
              <a:rPr lang="en-GB" smtClean="0"/>
              <a:t>‹#›</a:t>
            </a:fld>
            <a:endParaRPr lang="en-GB"/>
          </a:p>
        </p:txBody>
      </p:sp>
    </p:spTree>
    <p:extLst>
      <p:ext uri="{BB962C8B-B14F-4D97-AF65-F5344CB8AC3E}">
        <p14:creationId xmlns:p14="http://schemas.microsoft.com/office/powerpoint/2010/main" val="3546473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9530BBA-9C63-F3DC-AA86-86AB829BE47E}"/>
              </a:ext>
            </a:extLst>
          </p:cNvPr>
          <p:cNvPicPr>
            <a:picLocks noChangeAspect="1"/>
          </p:cNvPicPr>
          <p:nvPr/>
        </p:nvPicPr>
        <p:blipFill>
          <a:blip r:embed="rId3"/>
          <a:srcRect l="6391" t="9053" r="5498" b="11999"/>
          <a:stretch/>
        </p:blipFill>
        <p:spPr>
          <a:xfrm>
            <a:off x="9023684" y="3429000"/>
            <a:ext cx="2967790" cy="2374233"/>
          </a:xfrm>
          <a:prstGeom prst="rect">
            <a:avLst/>
          </a:prstGeom>
        </p:spPr>
      </p:pic>
      <p:sp>
        <p:nvSpPr>
          <p:cNvPr id="4" name="Title 3"/>
          <p:cNvSpPr>
            <a:spLocks noGrp="1"/>
          </p:cNvSpPr>
          <p:nvPr>
            <p:ph type="ctrTitle"/>
          </p:nvPr>
        </p:nvSpPr>
        <p:spPr/>
        <p:txBody>
          <a:bodyPr>
            <a:normAutofit/>
          </a:bodyPr>
          <a:lstStyle/>
          <a:p>
            <a:r>
              <a:rPr lang="en-US" dirty="0">
                <a:solidFill>
                  <a:srgbClr val="C00000"/>
                </a:solidFill>
                <a:latin typeface="Calibri" panose="020F0502020204030204" pitchFamily="34" charset="0"/>
                <a:cs typeface="Calibri" panose="020F0502020204030204" pitchFamily="34" charset="0"/>
              </a:rPr>
              <a:t>Sets</a:t>
            </a:r>
            <a:br>
              <a:rPr lang="en-US" dirty="0"/>
            </a:br>
            <a:br>
              <a:rPr lang="en-US" dirty="0"/>
            </a:br>
            <a:r>
              <a:rPr lang="en-US" sz="3600" dirty="0">
                <a:latin typeface="Calibri" panose="020F0502020204030204" pitchFamily="34" charset="0"/>
                <a:cs typeface="Calibri" panose="020F0502020204030204" pitchFamily="34" charset="0"/>
              </a:rPr>
              <a:t>TMS1113 : Foundation of Mathematics</a:t>
            </a:r>
          </a:p>
        </p:txBody>
      </p:sp>
      <p:pic>
        <p:nvPicPr>
          <p:cNvPr id="3" name="Picture 2">
            <a:extLst>
              <a:ext uri="{FF2B5EF4-FFF2-40B4-BE49-F238E27FC236}">
                <a16:creationId xmlns:a16="http://schemas.microsoft.com/office/drawing/2014/main" id="{833984D1-6E01-A938-E800-E714EE466697}"/>
              </a:ext>
            </a:extLst>
          </p:cNvPr>
          <p:cNvPicPr>
            <a:picLocks noChangeAspect="1"/>
          </p:cNvPicPr>
          <p:nvPr/>
        </p:nvPicPr>
        <p:blipFill>
          <a:blip r:embed="rId4"/>
          <a:srcRect l="10827" t="20622" r="10240" b="20636"/>
          <a:stretch/>
        </p:blipFill>
        <p:spPr>
          <a:xfrm>
            <a:off x="8197515" y="5282113"/>
            <a:ext cx="2020630" cy="1202991"/>
          </a:xfrm>
          <a:prstGeom prst="rect">
            <a:avLst/>
          </a:prstGeom>
        </p:spPr>
      </p:pic>
      <p:sp>
        <p:nvSpPr>
          <p:cNvPr id="2" name="Slide Number Placeholder 1"/>
          <p:cNvSpPr>
            <a:spLocks noGrp="1"/>
          </p:cNvSpPr>
          <p:nvPr>
            <p:ph type="sldNum" sz="quarter" idx="12"/>
          </p:nvPr>
        </p:nvSpPr>
        <p:spPr/>
        <p:txBody>
          <a:bodyPr/>
          <a:lstStyle/>
          <a:p>
            <a:fld id="{8D75522D-3DA1-4E7C-B84B-2130C32BB93F}" type="slidenum">
              <a:rPr lang="en-GB" smtClean="0"/>
              <a:t>1</a:t>
            </a:fld>
            <a:endParaRPr lang="en-GB"/>
          </a:p>
        </p:txBody>
      </p:sp>
    </p:spTree>
    <p:extLst>
      <p:ext uri="{BB962C8B-B14F-4D97-AF65-F5344CB8AC3E}">
        <p14:creationId xmlns:p14="http://schemas.microsoft.com/office/powerpoint/2010/main" val="366552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ighlight>
                  <a:srgbClr val="FFFF00"/>
                </a:highlight>
              </a:rPr>
              <a:t>What </a:t>
            </a:r>
            <a:r>
              <a:rPr lang="en-US" dirty="0">
                <a:highlight>
                  <a:srgbClr val="FFFF00"/>
                </a:highlight>
              </a:rPr>
              <a:t>a</a:t>
            </a:r>
            <a:r>
              <a:rPr dirty="0">
                <a:highlight>
                  <a:srgbClr val="FFFF00"/>
                </a:highlight>
              </a:rPr>
              <a:t>re Sets?</a:t>
            </a:r>
          </a:p>
        </p:txBody>
      </p:sp>
      <p:sp>
        <p:nvSpPr>
          <p:cNvPr id="3" name="Content Placeholder 2"/>
          <p:cNvSpPr>
            <a:spLocks noGrp="1"/>
          </p:cNvSpPr>
          <p:nvPr>
            <p:ph idx="1"/>
          </p:nvPr>
        </p:nvSpPr>
        <p:spPr/>
        <p:txBody>
          <a:bodyPr>
            <a:normAutofit/>
          </a:bodyPr>
          <a:lstStyle/>
          <a:p>
            <a:r>
              <a:rPr dirty="0"/>
              <a:t>A set is a collection of well-defined and distinct objects.</a:t>
            </a:r>
          </a:p>
          <a:p>
            <a:r>
              <a:rPr dirty="0"/>
              <a:t>Examples:</a:t>
            </a:r>
          </a:p>
          <a:p>
            <a:pPr marL="400050" lvl="1" indent="0">
              <a:buNone/>
            </a:pPr>
            <a:r>
              <a:rPr dirty="0"/>
              <a:t>- A = {1, 2, 3, 4} (a set of integers)</a:t>
            </a:r>
            <a:endParaRPr lang="en-US" dirty="0"/>
          </a:p>
          <a:p>
            <a:pPr marL="400050" lvl="1" indent="0">
              <a:buNone/>
            </a:pPr>
            <a:r>
              <a:rPr dirty="0"/>
              <a:t>- B = {apple, orange, banana} (a set of fruits)</a:t>
            </a:r>
          </a:p>
          <a:p>
            <a:r>
              <a:rPr dirty="0"/>
              <a:t>Representation: </a:t>
            </a:r>
            <a:endParaRPr lang="en-US" dirty="0"/>
          </a:p>
          <a:p>
            <a:pPr marL="0" indent="0">
              <a:buNone/>
            </a:pPr>
            <a:r>
              <a:rPr dirty="0"/>
              <a:t>- Roster form: Listing elements, e.g., A = {1, 2, 3}</a:t>
            </a:r>
          </a:p>
          <a:p>
            <a:pPr marL="0" indent="0">
              <a:buNone/>
            </a:pPr>
            <a:r>
              <a:rPr dirty="0"/>
              <a:t>- Set-builder form: Describing properties, e.g., A = {x | x &gt; 0, x ∈ ℤ}</a:t>
            </a:r>
          </a:p>
        </p:txBody>
      </p:sp>
      <p:sp>
        <p:nvSpPr>
          <p:cNvPr id="5" name="Slide Number Placeholder 4"/>
          <p:cNvSpPr>
            <a:spLocks noGrp="1"/>
          </p:cNvSpPr>
          <p:nvPr>
            <p:ph type="sldNum" sz="quarter" idx="12"/>
          </p:nvPr>
        </p:nvSpPr>
        <p:spPr/>
        <p:txBody>
          <a:bodyPr/>
          <a:lstStyle/>
          <a:p>
            <a:fld id="{8D75522D-3DA1-4E7C-B84B-2130C32BB93F}" type="slidenum">
              <a:rPr lang="en-GB" smtClean="0"/>
              <a:t>2</a:t>
            </a:fld>
            <a:endParaRPr lang="en-GB"/>
          </a:p>
        </p:txBody>
      </p:sp>
    </p:spTree>
    <p:extLst>
      <p:ext uri="{BB962C8B-B14F-4D97-AF65-F5344CB8AC3E}">
        <p14:creationId xmlns:p14="http://schemas.microsoft.com/office/powerpoint/2010/main" val="2078159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4">
            <a:extLst>
              <a:ext uri="{FF2B5EF4-FFF2-40B4-BE49-F238E27FC236}">
                <a16:creationId xmlns:a16="http://schemas.microsoft.com/office/drawing/2014/main" id="{EC21D5AC-2F4B-654C-2B0C-F5D8514D2703}"/>
              </a:ext>
            </a:extLst>
          </p:cNvPr>
          <p:cNvSpPr txBox="1">
            <a:spLocks noChangeArrowheads="1"/>
          </p:cNvSpPr>
          <p:nvPr/>
        </p:nvSpPr>
        <p:spPr bwMode="auto">
          <a:xfrm>
            <a:off x="471489" y="898526"/>
            <a:ext cx="1048581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A </a:t>
            </a:r>
            <a:r>
              <a:rPr lang="en-US" altLang="en-US" sz="2400" b="1" dirty="0">
                <a:solidFill>
                  <a:srgbClr val="FF6600"/>
                </a:solidFill>
              </a:rPr>
              <a:t>set</a:t>
            </a:r>
            <a:r>
              <a:rPr lang="en-US" altLang="en-US" sz="2400" dirty="0">
                <a:solidFill>
                  <a:srgbClr val="000066"/>
                </a:solidFill>
              </a:rPr>
              <a:t> consists of objects or elements. The elements can be numbers, letters, etc. Elements are listed inside curly brackets.</a:t>
            </a:r>
            <a:endParaRPr lang="en-GB" altLang="en-US" sz="2400" dirty="0">
              <a:solidFill>
                <a:srgbClr val="000066"/>
              </a:solidFill>
            </a:endParaRPr>
          </a:p>
        </p:txBody>
      </p:sp>
      <p:sp>
        <p:nvSpPr>
          <p:cNvPr id="7208" name="Rectangle 40">
            <a:extLst>
              <a:ext uri="{FF2B5EF4-FFF2-40B4-BE49-F238E27FC236}">
                <a16:creationId xmlns:a16="http://schemas.microsoft.com/office/drawing/2014/main" id="{17E3FF22-0EC6-4437-C362-F07DA492CA72}"/>
              </a:ext>
            </a:extLst>
          </p:cNvPr>
          <p:cNvSpPr>
            <a:spLocks noGrp="1" noChangeArrowheads="1"/>
          </p:cNvSpPr>
          <p:nvPr>
            <p:ph type="title" idx="4294967295"/>
          </p:nvPr>
        </p:nvSpPr>
        <p:spPr>
          <a:xfrm>
            <a:off x="614363" y="249938"/>
            <a:ext cx="8793108" cy="608013"/>
          </a:xfrm>
        </p:spPr>
        <p:txBody>
          <a:bodyPr>
            <a:normAutofit fontScale="90000"/>
          </a:bodyPr>
          <a:lstStyle/>
          <a:p>
            <a:r>
              <a:rPr lang="en-GB" altLang="en-US" dirty="0">
                <a:latin typeface="Calibri" panose="020F0502020204030204" pitchFamily="34" charset="0"/>
                <a:cs typeface="Calibri" panose="020F0502020204030204" pitchFamily="34" charset="0"/>
              </a:rPr>
              <a:t>Sets and elements</a:t>
            </a:r>
          </a:p>
        </p:txBody>
      </p:sp>
      <p:sp>
        <p:nvSpPr>
          <p:cNvPr id="7246" name="Text Box 78">
            <a:extLst>
              <a:ext uri="{FF2B5EF4-FFF2-40B4-BE49-F238E27FC236}">
                <a16:creationId xmlns:a16="http://schemas.microsoft.com/office/drawing/2014/main" id="{E644A78D-F825-3C64-C7F1-569A1D116FEE}"/>
              </a:ext>
            </a:extLst>
          </p:cNvPr>
          <p:cNvSpPr txBox="1">
            <a:spLocks noChangeArrowheads="1"/>
          </p:cNvSpPr>
          <p:nvPr/>
        </p:nvSpPr>
        <p:spPr bwMode="auto">
          <a:xfrm>
            <a:off x="471489" y="1890714"/>
            <a:ext cx="1101275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dirty="0">
                <a:latin typeface="Calibri" panose="020F0502020204030204" pitchFamily="34" charset="0"/>
                <a:cs typeface="Calibri" panose="020F0502020204030204" pitchFamily="34" charset="0"/>
              </a:rPr>
              <a:t>Sets can have a </a:t>
            </a:r>
            <a:r>
              <a:rPr lang="en-GB" altLang="en-US" sz="2400" b="1" dirty="0">
                <a:latin typeface="Calibri" panose="020F0502020204030204" pitchFamily="34" charset="0"/>
                <a:cs typeface="Calibri" panose="020F0502020204030204" pitchFamily="34" charset="0"/>
              </a:rPr>
              <a:t>finite or infinite number </a:t>
            </a:r>
            <a:r>
              <a:rPr lang="en-GB" altLang="en-US" sz="2400" dirty="0">
                <a:latin typeface="Calibri" panose="020F0502020204030204" pitchFamily="34" charset="0"/>
                <a:cs typeface="Calibri" panose="020F0502020204030204" pitchFamily="34" charset="0"/>
              </a:rPr>
              <a:t>of elements, or they can be empty. </a:t>
            </a:r>
            <a:r>
              <a:rPr lang="en-GB" altLang="en-US" sz="2400" b="1" dirty="0">
                <a:latin typeface="Calibri" panose="020F0502020204030204" pitchFamily="34" charset="0"/>
                <a:cs typeface="Calibri" panose="020F0502020204030204" pitchFamily="34" charset="0"/>
              </a:rPr>
              <a:t>Empty sets</a:t>
            </a:r>
            <a:r>
              <a:rPr lang="en-GB" altLang="en-US" sz="2400" dirty="0">
                <a:latin typeface="Calibri" panose="020F0502020204030204" pitchFamily="34" charset="0"/>
                <a:cs typeface="Calibri" panose="020F0502020204030204" pitchFamily="34" charset="0"/>
              </a:rPr>
              <a:t>, called the </a:t>
            </a:r>
            <a:r>
              <a:rPr lang="en-GB" altLang="en-US" sz="2400" b="1" dirty="0">
                <a:latin typeface="Calibri" panose="020F0502020204030204" pitchFamily="34" charset="0"/>
                <a:cs typeface="Calibri" panose="020F0502020204030204" pitchFamily="34" charset="0"/>
              </a:rPr>
              <a:t>null set</a:t>
            </a:r>
            <a:r>
              <a:rPr lang="en-GB" altLang="en-US" sz="2400" dirty="0">
                <a:latin typeface="Calibri" panose="020F0502020204030204" pitchFamily="34" charset="0"/>
                <a:cs typeface="Calibri" panose="020F0502020204030204" pitchFamily="34" charset="0"/>
              </a:rPr>
              <a:t>, have no elements and are denoted by the symbol </a:t>
            </a:r>
            <a:r>
              <a:rPr lang="en-US" altLang="en-US" sz="2400" dirty="0">
                <a:solidFill>
                  <a:srgbClr val="010066"/>
                </a:solidFill>
                <a:latin typeface="Calibri" panose="020F0502020204030204" pitchFamily="34" charset="0"/>
                <a:cs typeface="Calibri" panose="020F0502020204030204" pitchFamily="34" charset="0"/>
              </a:rPr>
              <a:t>∅.</a:t>
            </a:r>
            <a:endParaRPr lang="en-GB" altLang="en-US" sz="2400" dirty="0">
              <a:solidFill>
                <a:srgbClr val="010066"/>
              </a:solidFill>
              <a:latin typeface="Calibri" panose="020F0502020204030204" pitchFamily="34" charset="0"/>
              <a:cs typeface="Calibri" panose="020F0502020204030204" pitchFamily="34" charset="0"/>
            </a:endParaRPr>
          </a:p>
        </p:txBody>
      </p:sp>
      <p:sp>
        <p:nvSpPr>
          <p:cNvPr id="7250" name="Text Box 24">
            <a:extLst>
              <a:ext uri="{FF2B5EF4-FFF2-40B4-BE49-F238E27FC236}">
                <a16:creationId xmlns:a16="http://schemas.microsoft.com/office/drawing/2014/main" id="{9DC0EDFC-C909-9E36-12F2-B4AD0D2FF4B6}"/>
              </a:ext>
            </a:extLst>
          </p:cNvPr>
          <p:cNvSpPr txBox="1">
            <a:spLocks noChangeArrowheads="1"/>
          </p:cNvSpPr>
          <p:nvPr/>
        </p:nvSpPr>
        <p:spPr bwMode="auto">
          <a:xfrm>
            <a:off x="4648200" y="3373439"/>
            <a:ext cx="588168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3200" i="1" dirty="0">
                <a:solidFill>
                  <a:srgbClr val="010066"/>
                </a:solidFill>
                <a:latin typeface="Times New Roman" panose="02020603050405020304" pitchFamily="18" charset="0"/>
              </a:rPr>
              <a:t>A</a:t>
            </a:r>
            <a:r>
              <a:rPr lang="en-US" altLang="en-US" sz="2400" dirty="0">
                <a:solidFill>
                  <a:srgbClr val="000066"/>
                </a:solidFill>
              </a:rPr>
              <a:t> = {1, 2, 3, 4, 5, 6, 7, 8, 9} </a:t>
            </a:r>
            <a:br>
              <a:rPr lang="en-US" altLang="en-US" sz="2400" dirty="0">
                <a:solidFill>
                  <a:srgbClr val="000066"/>
                </a:solidFill>
              </a:rPr>
            </a:br>
            <a:r>
              <a:rPr lang="en-US" altLang="en-US" sz="2400" dirty="0">
                <a:solidFill>
                  <a:srgbClr val="000066"/>
                </a:solidFill>
              </a:rPr>
              <a:t>is a set of single digit positive numbers</a:t>
            </a:r>
            <a:r>
              <a:rPr lang="en-US" altLang="en-US" dirty="0">
                <a:solidFill>
                  <a:srgbClr val="000066"/>
                </a:solidFill>
              </a:rPr>
              <a:t>.</a:t>
            </a:r>
            <a:endParaRPr lang="en-GB" altLang="en-US" dirty="0">
              <a:solidFill>
                <a:srgbClr val="000066"/>
              </a:solidFill>
            </a:endParaRPr>
          </a:p>
        </p:txBody>
      </p:sp>
      <p:sp>
        <p:nvSpPr>
          <p:cNvPr id="7251" name="Text Box 24">
            <a:extLst>
              <a:ext uri="{FF2B5EF4-FFF2-40B4-BE49-F238E27FC236}">
                <a16:creationId xmlns:a16="http://schemas.microsoft.com/office/drawing/2014/main" id="{6B1E8555-29E8-BB0F-9802-D9698DCCB61C}"/>
              </a:ext>
            </a:extLst>
          </p:cNvPr>
          <p:cNvSpPr txBox="1">
            <a:spLocks noChangeArrowheads="1"/>
          </p:cNvSpPr>
          <p:nvPr/>
        </p:nvSpPr>
        <p:spPr bwMode="auto">
          <a:xfrm>
            <a:off x="4648200" y="4522789"/>
            <a:ext cx="490855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3200" i="1" dirty="0">
                <a:solidFill>
                  <a:srgbClr val="010066"/>
                </a:solidFill>
                <a:latin typeface="Times New Roman" panose="02020603050405020304" pitchFamily="18" charset="0"/>
              </a:rPr>
              <a:t>B</a:t>
            </a:r>
            <a:r>
              <a:rPr lang="en-US" altLang="en-US" sz="2400" dirty="0">
                <a:solidFill>
                  <a:srgbClr val="000066"/>
                </a:solidFill>
              </a:rPr>
              <a:t> = {red, yellow, blue} </a:t>
            </a:r>
            <a:br>
              <a:rPr lang="en-US" altLang="en-US" sz="2400" dirty="0">
                <a:solidFill>
                  <a:srgbClr val="000066"/>
                </a:solidFill>
              </a:rPr>
            </a:br>
            <a:r>
              <a:rPr lang="en-US" altLang="en-US" sz="2400" dirty="0">
                <a:solidFill>
                  <a:srgbClr val="000066"/>
                </a:solidFill>
              </a:rPr>
              <a:t>is the set of primary colors</a:t>
            </a:r>
            <a:endParaRPr lang="en-GB" altLang="en-US" sz="2400" dirty="0">
              <a:solidFill>
                <a:srgbClr val="000066"/>
              </a:solidFill>
            </a:endParaRPr>
          </a:p>
        </p:txBody>
      </p:sp>
      <p:sp>
        <p:nvSpPr>
          <p:cNvPr id="7252" name="Text Box 24">
            <a:extLst>
              <a:ext uri="{FF2B5EF4-FFF2-40B4-BE49-F238E27FC236}">
                <a16:creationId xmlns:a16="http://schemas.microsoft.com/office/drawing/2014/main" id="{2D6B2B5E-FF57-84CC-49CC-0B25FEDD26DF}"/>
              </a:ext>
            </a:extLst>
          </p:cNvPr>
          <p:cNvSpPr txBox="1">
            <a:spLocks noChangeArrowheads="1"/>
          </p:cNvSpPr>
          <p:nvPr/>
        </p:nvSpPr>
        <p:spPr bwMode="auto">
          <a:xfrm>
            <a:off x="4648200" y="5673726"/>
            <a:ext cx="600233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3200" i="1" dirty="0">
                <a:solidFill>
                  <a:srgbClr val="010066"/>
                </a:solidFill>
                <a:latin typeface="Times New Roman" panose="02020603050405020304" pitchFamily="18" charset="0"/>
              </a:rPr>
              <a:t>C</a:t>
            </a:r>
            <a:r>
              <a:rPr lang="en-US" altLang="en-US" sz="2400" dirty="0">
                <a:solidFill>
                  <a:srgbClr val="000066"/>
                </a:solidFill>
              </a:rPr>
              <a:t> = {</a:t>
            </a:r>
            <a:r>
              <a:rPr lang="en-US" altLang="en-US" sz="3200" i="1" dirty="0">
                <a:solidFill>
                  <a:srgbClr val="010066"/>
                </a:solidFill>
                <a:latin typeface="Times New Roman" panose="02020603050405020304" pitchFamily="18" charset="0"/>
              </a:rPr>
              <a:t>x</a:t>
            </a:r>
            <a:r>
              <a:rPr lang="en-US" altLang="en-US" sz="2400" dirty="0">
                <a:solidFill>
                  <a:srgbClr val="000066"/>
                </a:solidFill>
              </a:rPr>
              <a:t>|0 &lt; </a:t>
            </a:r>
            <a:r>
              <a:rPr lang="en-US" altLang="en-US" sz="3200" i="1" dirty="0">
                <a:solidFill>
                  <a:srgbClr val="010066"/>
                </a:solidFill>
                <a:latin typeface="Times New Roman" panose="02020603050405020304" pitchFamily="18" charset="0"/>
              </a:rPr>
              <a:t>x</a:t>
            </a:r>
            <a:r>
              <a:rPr lang="en-US" altLang="en-US" sz="2400" dirty="0">
                <a:solidFill>
                  <a:srgbClr val="000066"/>
                </a:solidFill>
              </a:rPr>
              <a:t> &lt; 5} </a:t>
            </a:r>
            <a:br>
              <a:rPr lang="en-US" altLang="en-US" sz="2400" dirty="0">
                <a:solidFill>
                  <a:srgbClr val="000066"/>
                </a:solidFill>
              </a:rPr>
            </a:br>
            <a:r>
              <a:rPr lang="en-US" altLang="en-US" sz="2400" dirty="0">
                <a:solidFill>
                  <a:srgbClr val="000066"/>
                </a:solidFill>
              </a:rPr>
              <a:t>is the set of numbers between 0 and 5</a:t>
            </a:r>
            <a:endParaRPr lang="en-GB" altLang="en-US" sz="2400" dirty="0">
              <a:solidFill>
                <a:srgbClr val="000066"/>
              </a:solidFill>
            </a:endParaRPr>
          </a:p>
        </p:txBody>
      </p:sp>
      <p:pic>
        <p:nvPicPr>
          <p:cNvPr id="7260" name="Picture 92">
            <a:extLst>
              <a:ext uri="{FF2B5EF4-FFF2-40B4-BE49-F238E27FC236}">
                <a16:creationId xmlns:a16="http://schemas.microsoft.com/office/drawing/2014/main" id="{C9849EFA-4658-5F98-080C-3ACC4C702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525" y="3230563"/>
            <a:ext cx="1212850" cy="1212850"/>
          </a:xfrm>
          <a:prstGeom prst="rect">
            <a:avLst/>
          </a:prstGeom>
          <a:noFill/>
          <a:extLst>
            <a:ext uri="{909E8E84-426E-40DD-AFC4-6F175D3DCCD1}">
              <a14:hiddenFill xmlns:a14="http://schemas.microsoft.com/office/drawing/2010/main">
                <a:solidFill>
                  <a:srgbClr val="FFFFFF"/>
                </a:solidFill>
              </a14:hiddenFill>
            </a:ext>
          </a:extLst>
        </p:spPr>
      </p:pic>
      <p:pic>
        <p:nvPicPr>
          <p:cNvPr id="7262" name="Picture 94">
            <a:extLst>
              <a:ext uri="{FF2B5EF4-FFF2-40B4-BE49-F238E27FC236}">
                <a16:creationId xmlns:a16="http://schemas.microsoft.com/office/drawing/2014/main" id="{714302EA-97A8-A919-3729-1CF15D04E9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4750" y="5822951"/>
            <a:ext cx="1670050" cy="842963"/>
          </a:xfrm>
          <a:prstGeom prst="rect">
            <a:avLst/>
          </a:prstGeom>
          <a:noFill/>
          <a:extLst>
            <a:ext uri="{909E8E84-426E-40DD-AFC4-6F175D3DCCD1}">
              <a14:hiddenFill xmlns:a14="http://schemas.microsoft.com/office/drawing/2010/main">
                <a:solidFill>
                  <a:srgbClr val="FFFFFF"/>
                </a:solidFill>
              </a14:hiddenFill>
            </a:ext>
          </a:extLst>
        </p:spPr>
      </p:pic>
      <p:pic>
        <p:nvPicPr>
          <p:cNvPr id="7264" name="Picture 96">
            <a:extLst>
              <a:ext uri="{FF2B5EF4-FFF2-40B4-BE49-F238E27FC236}">
                <a16:creationId xmlns:a16="http://schemas.microsoft.com/office/drawing/2014/main" id="{A3FBBD14-BC7E-8F44-03C9-1ADACA707B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5250" y="4560888"/>
            <a:ext cx="1042988" cy="1143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D75522D-3DA1-4E7C-B84B-2130C32BB93F}" type="slidenum">
              <a:rPr lang="en-GB" smtClean="0"/>
              <a:t>3</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26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25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26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2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6" grpId="0"/>
      <p:bldP spid="7250" grpId="0"/>
      <p:bldP spid="7251" grpId="0"/>
      <p:bldP spid="725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9A10-9D3A-5B9D-CFA5-A0461AAF5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2DE64-20CA-3452-E9F8-576201FBBA7B}"/>
              </a:ext>
            </a:extLst>
          </p:cNvPr>
          <p:cNvSpPr>
            <a:spLocks noGrp="1"/>
          </p:cNvSpPr>
          <p:nvPr>
            <p:ph type="title"/>
          </p:nvPr>
        </p:nvSpPr>
        <p:spPr/>
        <p:txBody>
          <a:bodyPr/>
          <a:lstStyle/>
          <a:p>
            <a:r>
              <a:rPr dirty="0"/>
              <a:t>Sets</a:t>
            </a:r>
            <a:r>
              <a:rPr lang="en-US" dirty="0"/>
              <a:t>:</a:t>
            </a:r>
            <a:r>
              <a:rPr lang="en-GB" dirty="0"/>
              <a:t>Representation</a:t>
            </a:r>
            <a:endParaRPr dirty="0"/>
          </a:p>
        </p:txBody>
      </p:sp>
      <p:sp>
        <p:nvSpPr>
          <p:cNvPr id="3" name="Content Placeholder 2">
            <a:extLst>
              <a:ext uri="{FF2B5EF4-FFF2-40B4-BE49-F238E27FC236}">
                <a16:creationId xmlns:a16="http://schemas.microsoft.com/office/drawing/2014/main" id="{F47D7810-4C21-F685-B56D-68D9D17D00FC}"/>
              </a:ext>
            </a:extLst>
          </p:cNvPr>
          <p:cNvSpPr>
            <a:spLocks noGrp="1"/>
          </p:cNvSpPr>
          <p:nvPr>
            <p:ph idx="1"/>
          </p:nvPr>
        </p:nvSpPr>
        <p:spPr/>
        <p:txBody>
          <a:bodyPr>
            <a:normAutofit/>
          </a:bodyPr>
          <a:lstStyle/>
          <a:p>
            <a:pPr marL="0" indent="0">
              <a:lnSpc>
                <a:spcPct val="150000"/>
              </a:lnSpc>
              <a:buNone/>
            </a:pPr>
            <a:r>
              <a:rPr dirty="0"/>
              <a:t>- Roster form: Listing elements, e.g., A = {1, 2, 3}</a:t>
            </a:r>
          </a:p>
          <a:p>
            <a:pPr marL="0" indent="0">
              <a:lnSpc>
                <a:spcPct val="150000"/>
              </a:lnSpc>
              <a:buNone/>
            </a:pPr>
            <a:r>
              <a:rPr dirty="0"/>
              <a:t>- Set-builder form: Describing properties, e.g., A = {x | x &gt; 0, x ∈ ℤ}</a:t>
            </a:r>
          </a:p>
        </p:txBody>
      </p:sp>
      <p:sp>
        <p:nvSpPr>
          <p:cNvPr id="5" name="Slide Number Placeholder 4"/>
          <p:cNvSpPr>
            <a:spLocks noGrp="1"/>
          </p:cNvSpPr>
          <p:nvPr>
            <p:ph type="sldNum" sz="quarter" idx="12"/>
          </p:nvPr>
        </p:nvSpPr>
        <p:spPr/>
        <p:txBody>
          <a:bodyPr/>
          <a:lstStyle/>
          <a:p>
            <a:fld id="{8D75522D-3DA1-4E7C-B84B-2130C32BB93F}" type="slidenum">
              <a:rPr lang="en-GB" smtClean="0"/>
              <a:t>4</a:t>
            </a:fld>
            <a:endParaRPr lang="en-GB"/>
          </a:p>
        </p:txBody>
      </p:sp>
    </p:spTree>
    <p:extLst>
      <p:ext uri="{BB962C8B-B14F-4D97-AF65-F5344CB8AC3E}">
        <p14:creationId xmlns:p14="http://schemas.microsoft.com/office/powerpoint/2010/main" val="4116821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D9117-EC21-64E9-114D-2D5506DA8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39E12-7017-1171-5F14-D54557C28E21}"/>
              </a:ext>
            </a:extLst>
          </p:cNvPr>
          <p:cNvSpPr>
            <a:spLocks noGrp="1"/>
          </p:cNvSpPr>
          <p:nvPr>
            <p:ph type="title"/>
          </p:nvPr>
        </p:nvSpPr>
        <p:spPr/>
        <p:txBody>
          <a:bodyPr/>
          <a:lstStyle/>
          <a:p>
            <a:r>
              <a:rPr dirty="0"/>
              <a:t>Sets</a:t>
            </a:r>
            <a:r>
              <a:rPr lang="en-US" dirty="0"/>
              <a:t>:</a:t>
            </a:r>
            <a:r>
              <a:rPr lang="en-GB" dirty="0"/>
              <a:t>Representation</a:t>
            </a:r>
            <a:endParaRPr dirty="0"/>
          </a:p>
        </p:txBody>
      </p:sp>
      <p:pic>
        <p:nvPicPr>
          <p:cNvPr id="4" name="Picture 3">
            <a:extLst>
              <a:ext uri="{FF2B5EF4-FFF2-40B4-BE49-F238E27FC236}">
                <a16:creationId xmlns:a16="http://schemas.microsoft.com/office/drawing/2014/main" id="{8290AEAA-2E99-B27F-5F3D-8F4998A10BEB}"/>
              </a:ext>
            </a:extLst>
          </p:cNvPr>
          <p:cNvPicPr>
            <a:picLocks noChangeAspect="1"/>
          </p:cNvPicPr>
          <p:nvPr/>
        </p:nvPicPr>
        <p:blipFill>
          <a:blip r:embed="rId2"/>
          <a:srcRect t="35030"/>
          <a:stretch/>
        </p:blipFill>
        <p:spPr>
          <a:xfrm>
            <a:off x="1634997" y="1343148"/>
            <a:ext cx="8922006" cy="5352120"/>
          </a:xfrm>
          <a:prstGeom prst="rect">
            <a:avLst/>
          </a:prstGeom>
        </p:spPr>
      </p:pic>
      <p:sp>
        <p:nvSpPr>
          <p:cNvPr id="5" name="Slide Number Placeholder 4"/>
          <p:cNvSpPr>
            <a:spLocks noGrp="1"/>
          </p:cNvSpPr>
          <p:nvPr>
            <p:ph type="sldNum" sz="quarter" idx="12"/>
          </p:nvPr>
        </p:nvSpPr>
        <p:spPr/>
        <p:txBody>
          <a:bodyPr/>
          <a:lstStyle/>
          <a:p>
            <a:fld id="{8D75522D-3DA1-4E7C-B84B-2130C32BB93F}" type="slidenum">
              <a:rPr lang="en-GB" smtClean="0"/>
              <a:t>5</a:t>
            </a:fld>
            <a:endParaRPr lang="en-GB"/>
          </a:p>
        </p:txBody>
      </p:sp>
    </p:spTree>
    <p:extLst>
      <p:ext uri="{BB962C8B-B14F-4D97-AF65-F5344CB8AC3E}">
        <p14:creationId xmlns:p14="http://schemas.microsoft.com/office/powerpoint/2010/main" val="4232373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Set Builder Form</a:t>
            </a:r>
          </a:p>
        </p:txBody>
      </p:sp>
      <p:sp>
        <p:nvSpPr>
          <p:cNvPr id="3" name="Content Placeholder 2"/>
          <p:cNvSpPr>
            <a:spLocks noGrp="1"/>
          </p:cNvSpPr>
          <p:nvPr>
            <p:ph idx="1"/>
          </p:nvPr>
        </p:nvSpPr>
        <p:spPr/>
        <p:txBody>
          <a:bodyPr>
            <a:normAutofit/>
          </a:bodyPr>
          <a:lstStyle/>
          <a:p>
            <a:r>
              <a:rPr dirty="0"/>
              <a:t>Example:</a:t>
            </a:r>
          </a:p>
          <a:p>
            <a:pPr marL="0" indent="0">
              <a:buNone/>
            </a:pPr>
            <a:r>
              <a:rPr lang="en-US" dirty="0"/>
              <a:t>	</a:t>
            </a:r>
            <a:r>
              <a:rPr dirty="0"/>
              <a:t>A = {x | x is an even number less than 10}</a:t>
            </a:r>
            <a:endParaRPr lang="en-US" dirty="0"/>
          </a:p>
          <a:p>
            <a:pPr marL="0" indent="0">
              <a:buNone/>
            </a:pPr>
            <a:r>
              <a:rPr lang="en-US" dirty="0"/>
              <a:t>	</a:t>
            </a:r>
            <a:r>
              <a:rPr dirty="0"/>
              <a:t>Result: A = {2, 4, 6, 8}</a:t>
            </a:r>
          </a:p>
          <a:p>
            <a:r>
              <a:rPr dirty="0"/>
              <a:t>Exercise:</a:t>
            </a:r>
          </a:p>
          <a:p>
            <a:r>
              <a:rPr dirty="0"/>
              <a:t> Write the set of all positive integers less than 7 in set-builder form.</a:t>
            </a:r>
          </a:p>
          <a:p>
            <a:r>
              <a:rPr dirty="0"/>
              <a:t> Represent the set of vowels in set-builder form.</a:t>
            </a:r>
          </a:p>
        </p:txBody>
      </p:sp>
      <p:sp>
        <p:nvSpPr>
          <p:cNvPr id="5" name="Slide Number Placeholder 4"/>
          <p:cNvSpPr>
            <a:spLocks noGrp="1"/>
          </p:cNvSpPr>
          <p:nvPr>
            <p:ph type="sldNum" sz="quarter" idx="12"/>
          </p:nvPr>
        </p:nvSpPr>
        <p:spPr/>
        <p:txBody>
          <a:bodyPr/>
          <a:lstStyle/>
          <a:p>
            <a:fld id="{8D75522D-3DA1-4E7C-B84B-2130C32BB93F}" type="slidenum">
              <a:rPr lang="en-GB" smtClean="0"/>
              <a:t>6</a:t>
            </a:fld>
            <a:endParaRPr lang="en-GB"/>
          </a:p>
        </p:txBody>
      </p:sp>
    </p:spTree>
    <p:extLst>
      <p:ext uri="{BB962C8B-B14F-4D97-AF65-F5344CB8AC3E}">
        <p14:creationId xmlns:p14="http://schemas.microsoft.com/office/powerpoint/2010/main" val="2157216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899" y="385763"/>
            <a:ext cx="11744325" cy="6335711"/>
          </a:xfrm>
        </p:spPr>
        <p:txBody>
          <a:bodyPr>
            <a:normAutofit/>
          </a:bodyPr>
          <a:lstStyle/>
          <a:p>
            <a:pPr marL="0" indent="0">
              <a:lnSpc>
                <a:spcPct val="100000"/>
              </a:lnSpc>
              <a:buNone/>
            </a:pPr>
            <a:r>
              <a:rPr lang="en-US" dirty="0"/>
              <a:t>Exercises:</a:t>
            </a:r>
          </a:p>
          <a:p>
            <a:pPr>
              <a:lnSpc>
                <a:spcPct val="100000"/>
              </a:lnSpc>
            </a:pPr>
            <a:r>
              <a:rPr lang="en-US" dirty="0"/>
              <a:t>A={2,4,6,8,10}</a:t>
            </a:r>
          </a:p>
          <a:p>
            <a:pPr>
              <a:lnSpc>
                <a:spcPct val="100000"/>
              </a:lnSpc>
            </a:pPr>
            <a:r>
              <a:rPr lang="en-US" b="1" dirty="0"/>
              <a:t>Answer:</a:t>
            </a:r>
            <a:r>
              <a:rPr lang="en-US" dirty="0"/>
              <a:t> A={x∈ ℕ  ∣ 2≤x≤10, x is even}</a:t>
            </a:r>
          </a:p>
          <a:p>
            <a:pPr marL="0" indent="0">
              <a:lnSpc>
                <a:spcPct val="100000"/>
              </a:lnSpc>
              <a:buNone/>
            </a:pPr>
            <a:r>
              <a:rPr lang="en-US" dirty="0"/>
              <a:t>A is the set of all x in the natural numbers such that x is greater than or equal to two and less than or equal to ten, and x is even</a:t>
            </a:r>
          </a:p>
          <a:p>
            <a:pPr>
              <a:lnSpc>
                <a:spcPct val="100000"/>
              </a:lnSpc>
            </a:pPr>
            <a:r>
              <a:rPr lang="en-US" dirty="0"/>
              <a:t>B={1,2,3,4}</a:t>
            </a:r>
          </a:p>
          <a:p>
            <a:pPr>
              <a:lnSpc>
                <a:spcPct val="100000"/>
              </a:lnSpc>
            </a:pPr>
            <a:r>
              <a:rPr lang="en-US" b="1" dirty="0"/>
              <a:t>Answer:</a:t>
            </a:r>
            <a:r>
              <a:rPr lang="en-US" dirty="0"/>
              <a:t> B={x∈ ℕ  ∣ 1≤x&lt;5} </a:t>
            </a:r>
          </a:p>
          <a:p>
            <a:pPr marL="0" indent="0">
              <a:lnSpc>
                <a:spcPct val="100000"/>
              </a:lnSpc>
              <a:buNone/>
            </a:pPr>
            <a:r>
              <a:rPr lang="en-US" dirty="0"/>
              <a:t>B is the set of all x in the natural numbers such that x is greater than or equal to one and less than five.</a:t>
            </a:r>
          </a:p>
        </p:txBody>
      </p:sp>
      <p:sp>
        <p:nvSpPr>
          <p:cNvPr id="5" name="Slide Number Placeholder 4"/>
          <p:cNvSpPr>
            <a:spLocks noGrp="1"/>
          </p:cNvSpPr>
          <p:nvPr>
            <p:ph type="sldNum" sz="quarter" idx="12"/>
          </p:nvPr>
        </p:nvSpPr>
        <p:spPr/>
        <p:txBody>
          <a:bodyPr/>
          <a:lstStyle/>
          <a:p>
            <a:fld id="{8D75522D-3DA1-4E7C-B84B-2130C32BB93F}" type="slidenum">
              <a:rPr lang="en-GB" smtClean="0"/>
              <a:t>7</a:t>
            </a:fld>
            <a:endParaRPr lang="en-GB"/>
          </a:p>
        </p:txBody>
      </p:sp>
    </p:spTree>
    <p:extLst>
      <p:ext uri="{BB962C8B-B14F-4D97-AF65-F5344CB8AC3E}">
        <p14:creationId xmlns:p14="http://schemas.microsoft.com/office/powerpoint/2010/main" val="387538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899" y="385763"/>
            <a:ext cx="11744325" cy="6335711"/>
          </a:xfrm>
        </p:spPr>
        <p:txBody>
          <a:bodyPr>
            <a:normAutofit/>
          </a:bodyPr>
          <a:lstStyle/>
          <a:p>
            <a:pPr>
              <a:lnSpc>
                <a:spcPct val="100000"/>
              </a:lnSpc>
            </a:pPr>
            <a:r>
              <a:rPr lang="en-US" dirty="0"/>
              <a:t>C={−3,−2,−1,0,1,2,3}</a:t>
            </a:r>
          </a:p>
          <a:p>
            <a:pPr>
              <a:lnSpc>
                <a:spcPct val="100000"/>
              </a:lnSpc>
            </a:pPr>
            <a:r>
              <a:rPr lang="en-US" b="1" dirty="0"/>
              <a:t>Answer:</a:t>
            </a:r>
            <a:r>
              <a:rPr lang="en-US" dirty="0"/>
              <a:t> C={x∈ ℤ  ∣ −3≤x≤3}</a:t>
            </a:r>
          </a:p>
          <a:p>
            <a:pPr marL="0" indent="0">
              <a:lnSpc>
                <a:spcPct val="100000"/>
              </a:lnSpc>
              <a:buNone/>
            </a:pPr>
            <a:r>
              <a:rPr lang="en-US" dirty="0"/>
              <a:t>C is the set of all x in the integers such that x is greater than or equal to negative three and less than or equal to three</a:t>
            </a:r>
          </a:p>
          <a:p>
            <a:pPr>
              <a:lnSpc>
                <a:spcPct val="100000"/>
              </a:lnSpc>
            </a:pPr>
            <a:r>
              <a:rPr lang="en-US" dirty="0"/>
              <a:t>D={Sunday, Monday, Tuesday}</a:t>
            </a:r>
          </a:p>
          <a:p>
            <a:pPr>
              <a:lnSpc>
                <a:spcPct val="100000"/>
              </a:lnSpc>
            </a:pPr>
            <a:r>
              <a:rPr lang="en-US" b="1" dirty="0"/>
              <a:t>Answer:</a:t>
            </a:r>
            <a:r>
              <a:rPr lang="en-US" dirty="0"/>
              <a:t> D={x ∣ x is a day of the week and comes before Wednesday}</a:t>
            </a:r>
          </a:p>
          <a:p>
            <a:pPr>
              <a:lnSpc>
                <a:spcPct val="100000"/>
              </a:lnSpc>
            </a:pPr>
            <a:r>
              <a:rPr lang="en-US" dirty="0"/>
              <a:t>E={1,4,9,16,25}</a:t>
            </a:r>
          </a:p>
          <a:p>
            <a:pPr>
              <a:lnSpc>
                <a:spcPct val="100000"/>
              </a:lnSpc>
            </a:pPr>
            <a:r>
              <a:rPr lang="en-US" b="1" dirty="0"/>
              <a:t>Answer:</a:t>
            </a:r>
            <a:r>
              <a:rPr lang="en-US" dirty="0"/>
              <a:t> E={x ∣ x=n</a:t>
            </a:r>
            <a:r>
              <a:rPr lang="en-US" baseline="30000" dirty="0"/>
              <a:t>2</a:t>
            </a:r>
            <a:r>
              <a:rPr lang="en-US" dirty="0"/>
              <a:t>, </a:t>
            </a:r>
            <a:r>
              <a:rPr lang="en-US" dirty="0" err="1"/>
              <a:t>n∈ℕ</a:t>
            </a:r>
            <a:r>
              <a:rPr lang="en-US" dirty="0"/>
              <a:t>, 1≤n≤5}</a:t>
            </a:r>
          </a:p>
          <a:p>
            <a:pPr marL="0" indent="0">
              <a:lnSpc>
                <a:spcPct val="100000"/>
              </a:lnSpc>
              <a:buNone/>
            </a:pPr>
            <a:r>
              <a:rPr lang="en-US" dirty="0"/>
              <a:t>E is the set of all x such that x equals n squared, where n is a natural number and n is between one and five inclusive</a:t>
            </a:r>
          </a:p>
        </p:txBody>
      </p:sp>
      <p:sp>
        <p:nvSpPr>
          <p:cNvPr id="5" name="Slide Number Placeholder 4"/>
          <p:cNvSpPr>
            <a:spLocks noGrp="1"/>
          </p:cNvSpPr>
          <p:nvPr>
            <p:ph type="sldNum" sz="quarter" idx="12"/>
          </p:nvPr>
        </p:nvSpPr>
        <p:spPr/>
        <p:txBody>
          <a:bodyPr/>
          <a:lstStyle/>
          <a:p>
            <a:fld id="{8D75522D-3DA1-4E7C-B84B-2130C32BB93F}" type="slidenum">
              <a:rPr lang="en-GB" smtClean="0"/>
              <a:t>8</a:t>
            </a:fld>
            <a:endParaRPr lang="en-GB"/>
          </a:p>
        </p:txBody>
      </p:sp>
    </p:spTree>
    <p:extLst>
      <p:ext uri="{BB962C8B-B14F-4D97-AF65-F5344CB8AC3E}">
        <p14:creationId xmlns:p14="http://schemas.microsoft.com/office/powerpoint/2010/main" val="107583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Equality of Two Sets</a:t>
            </a:r>
          </a:p>
        </p:txBody>
      </p:sp>
      <p:sp>
        <p:nvSpPr>
          <p:cNvPr id="3" name="Content Placeholder 2"/>
          <p:cNvSpPr>
            <a:spLocks noGrp="1"/>
          </p:cNvSpPr>
          <p:nvPr>
            <p:ph idx="1"/>
          </p:nvPr>
        </p:nvSpPr>
        <p:spPr/>
        <p:txBody>
          <a:bodyPr>
            <a:normAutofit fontScale="92500" lnSpcReduction="20000"/>
          </a:bodyPr>
          <a:lstStyle/>
          <a:p>
            <a:r>
              <a:rPr dirty="0"/>
              <a:t>Two sets are equal if they have exactly the same elements.</a:t>
            </a:r>
          </a:p>
          <a:p>
            <a:r>
              <a:rPr dirty="0"/>
              <a:t>Example:</a:t>
            </a:r>
          </a:p>
          <a:p>
            <a:pPr marL="0" indent="0">
              <a:buNone/>
            </a:pPr>
            <a:r>
              <a:rPr lang="en-US" dirty="0"/>
              <a:t>	</a:t>
            </a:r>
            <a:r>
              <a:rPr dirty="0"/>
              <a:t>A = {1, 2, 3}, B = {3, 2, 1} → A = B</a:t>
            </a:r>
          </a:p>
          <a:p>
            <a:r>
              <a:rPr dirty="0"/>
              <a:t>Key Points:</a:t>
            </a:r>
          </a:p>
          <a:p>
            <a:pPr marL="0" indent="0">
              <a:buNone/>
            </a:pPr>
            <a:r>
              <a:rPr lang="en-US" dirty="0"/>
              <a:t>	</a:t>
            </a:r>
            <a:r>
              <a:rPr dirty="0"/>
              <a:t>Order of elements does not matter.</a:t>
            </a:r>
          </a:p>
          <a:p>
            <a:pPr marL="0" indent="0">
              <a:buNone/>
            </a:pPr>
            <a:r>
              <a:rPr lang="en-US" dirty="0"/>
              <a:t>	</a:t>
            </a:r>
            <a:r>
              <a:rPr dirty="0"/>
              <a:t>Repetition of elements does not affect equality.</a:t>
            </a:r>
          </a:p>
          <a:p>
            <a:r>
              <a:rPr dirty="0"/>
              <a:t>Exercise:</a:t>
            </a:r>
          </a:p>
          <a:p>
            <a:pPr marL="0" indent="0">
              <a:buNone/>
            </a:pPr>
            <a:r>
              <a:rPr dirty="0"/>
              <a:t>Determine if the following sets are equal:</a:t>
            </a:r>
          </a:p>
          <a:p>
            <a:pPr marL="0" indent="0">
              <a:buNone/>
            </a:pPr>
            <a:r>
              <a:rPr lang="en-US" dirty="0"/>
              <a:t>	</a:t>
            </a:r>
            <a:r>
              <a:rPr dirty="0"/>
              <a:t>1. A = {a, b, c}, B = {b, c, a}</a:t>
            </a:r>
          </a:p>
          <a:p>
            <a:pPr marL="0" indent="0">
              <a:buNone/>
            </a:pPr>
            <a:r>
              <a:rPr lang="en-US" dirty="0"/>
              <a:t>	</a:t>
            </a:r>
            <a:r>
              <a:rPr dirty="0"/>
              <a:t>2. A = {1, 2, 3, 3}, B = {3, 2, 1}</a:t>
            </a:r>
          </a:p>
        </p:txBody>
      </p:sp>
      <p:sp>
        <p:nvSpPr>
          <p:cNvPr id="5" name="Slide Number Placeholder 4"/>
          <p:cNvSpPr>
            <a:spLocks noGrp="1"/>
          </p:cNvSpPr>
          <p:nvPr>
            <p:ph type="sldNum" sz="quarter" idx="12"/>
          </p:nvPr>
        </p:nvSpPr>
        <p:spPr/>
        <p:txBody>
          <a:bodyPr/>
          <a:lstStyle/>
          <a:p>
            <a:fld id="{8D75522D-3DA1-4E7C-B84B-2130C32BB93F}" type="slidenum">
              <a:rPr lang="en-GB" smtClean="0"/>
              <a:t>9</a:t>
            </a:fld>
            <a:endParaRPr lang="en-GB"/>
          </a:p>
        </p:txBody>
      </p:sp>
    </p:spTree>
    <p:extLst>
      <p:ext uri="{BB962C8B-B14F-4D97-AF65-F5344CB8AC3E}">
        <p14:creationId xmlns:p14="http://schemas.microsoft.com/office/powerpoint/2010/main" val="3626260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2613"/>
            <a:ext cx="10515600" cy="4351338"/>
          </a:xfrm>
        </p:spPr>
        <p:txBody>
          <a:bodyPr>
            <a:normAutofit/>
          </a:bodyPr>
          <a:lstStyle/>
          <a:p>
            <a:r>
              <a:rPr lang="en-US" dirty="0"/>
              <a:t>A </a:t>
            </a:r>
            <a:r>
              <a:rPr lang="en-US" b="1" dirty="0"/>
              <a:t>set</a:t>
            </a:r>
            <a:r>
              <a:rPr lang="en-US" dirty="0"/>
              <a:t> only contains unique elements, meaning duplicate elements are ignored.</a:t>
            </a:r>
          </a:p>
          <a:p>
            <a:r>
              <a:rPr lang="en-US" dirty="0"/>
              <a:t>Set A={1,2,3,3} simplifies to {1,2,3}</a:t>
            </a:r>
          </a:p>
          <a:p>
            <a:r>
              <a:rPr lang="en-US" dirty="0"/>
              <a:t>Set B={3,2,1} also contains the same elements, though in a different order.</a:t>
            </a:r>
          </a:p>
          <a:p>
            <a:r>
              <a:rPr lang="en-US" dirty="0"/>
              <a:t>Since sets do not consider the order of elements and only focus on the content, A=B.</a:t>
            </a:r>
          </a:p>
          <a:p>
            <a:pPr marL="0" indent="0">
              <a:buNone/>
            </a:pPr>
            <a:endParaRPr lang="en-US" dirty="0"/>
          </a:p>
        </p:txBody>
      </p:sp>
      <p:sp>
        <p:nvSpPr>
          <p:cNvPr id="5" name="Slide Number Placeholder 4"/>
          <p:cNvSpPr>
            <a:spLocks noGrp="1"/>
          </p:cNvSpPr>
          <p:nvPr>
            <p:ph type="sldNum" sz="quarter" idx="12"/>
          </p:nvPr>
        </p:nvSpPr>
        <p:spPr/>
        <p:txBody>
          <a:bodyPr/>
          <a:lstStyle/>
          <a:p>
            <a:fld id="{8D75522D-3DA1-4E7C-B84B-2130C32BB93F}" type="slidenum">
              <a:rPr lang="en-GB" smtClean="0"/>
              <a:t>10</a:t>
            </a:fld>
            <a:endParaRPr lang="en-GB"/>
          </a:p>
        </p:txBody>
      </p:sp>
    </p:spTree>
    <p:extLst>
      <p:ext uri="{BB962C8B-B14F-4D97-AF65-F5344CB8AC3E}">
        <p14:creationId xmlns:p14="http://schemas.microsoft.com/office/powerpoint/2010/main" val="2584075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946" name="Picture 26">
            <a:extLst>
              <a:ext uri="{FF2B5EF4-FFF2-40B4-BE49-F238E27FC236}">
                <a16:creationId xmlns:a16="http://schemas.microsoft.com/office/drawing/2014/main" id="{18DE2505-4D99-A480-CDBB-46E7E908D5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2850" y="898525"/>
            <a:ext cx="3105150" cy="2198688"/>
          </a:xfrm>
          <a:prstGeom prst="rect">
            <a:avLst/>
          </a:prstGeom>
          <a:noFill/>
          <a:extLst>
            <a:ext uri="{909E8E84-426E-40DD-AFC4-6F175D3DCCD1}">
              <a14:hiddenFill xmlns:a14="http://schemas.microsoft.com/office/drawing/2010/main">
                <a:solidFill>
                  <a:srgbClr val="FFFFFF"/>
                </a:solidFill>
              </a14:hiddenFill>
            </a:ext>
          </a:extLst>
        </p:spPr>
      </p:pic>
      <p:pic>
        <p:nvPicPr>
          <p:cNvPr id="209947" name="Picture 27">
            <a:extLst>
              <a:ext uri="{FF2B5EF4-FFF2-40B4-BE49-F238E27FC236}">
                <a16:creationId xmlns:a16="http://schemas.microsoft.com/office/drawing/2014/main" id="{6C4209B3-BEE7-D138-4F01-97D6E6B08D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7395" y="997369"/>
            <a:ext cx="3105150" cy="2198688"/>
          </a:xfrm>
          <a:prstGeom prst="rect">
            <a:avLst/>
          </a:prstGeom>
          <a:noFill/>
          <a:extLst>
            <a:ext uri="{909E8E84-426E-40DD-AFC4-6F175D3DCCD1}">
              <a14:hiddenFill xmlns:a14="http://schemas.microsoft.com/office/drawing/2010/main">
                <a:solidFill>
                  <a:srgbClr val="FFFFFF"/>
                </a:solidFill>
              </a14:hiddenFill>
            </a:ext>
          </a:extLst>
        </p:spPr>
      </p:pic>
      <p:sp>
        <p:nvSpPr>
          <p:cNvPr id="209945" name="Rectangle 25">
            <a:extLst>
              <a:ext uri="{FF2B5EF4-FFF2-40B4-BE49-F238E27FC236}">
                <a16:creationId xmlns:a16="http://schemas.microsoft.com/office/drawing/2014/main" id="{5F8F1636-90CA-1166-DF60-533046967CBB}"/>
              </a:ext>
            </a:extLst>
          </p:cNvPr>
          <p:cNvSpPr>
            <a:spLocks noChangeArrowheads="1"/>
          </p:cNvSpPr>
          <p:nvPr/>
        </p:nvSpPr>
        <p:spPr bwMode="auto">
          <a:xfrm>
            <a:off x="1955800" y="2876551"/>
            <a:ext cx="5588000" cy="74136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9944" name="Rectangle 24">
            <a:extLst>
              <a:ext uri="{FF2B5EF4-FFF2-40B4-BE49-F238E27FC236}">
                <a16:creationId xmlns:a16="http://schemas.microsoft.com/office/drawing/2014/main" id="{0537705E-6731-6AEB-2933-EA8906B6973F}"/>
              </a:ext>
            </a:extLst>
          </p:cNvPr>
          <p:cNvSpPr>
            <a:spLocks noChangeArrowheads="1"/>
          </p:cNvSpPr>
          <p:nvPr/>
        </p:nvSpPr>
        <p:spPr bwMode="auto">
          <a:xfrm>
            <a:off x="1955801" y="1598613"/>
            <a:ext cx="5591175" cy="74136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9923" name="Rectangle 3">
            <a:extLst>
              <a:ext uri="{FF2B5EF4-FFF2-40B4-BE49-F238E27FC236}">
                <a16:creationId xmlns:a16="http://schemas.microsoft.com/office/drawing/2014/main" id="{20A461A9-3C6D-ACFC-A27C-794C99176020}"/>
              </a:ext>
            </a:extLst>
          </p:cNvPr>
          <p:cNvSpPr>
            <a:spLocks noGrp="1" noChangeArrowheads="1"/>
          </p:cNvSpPr>
          <p:nvPr>
            <p:ph type="title" idx="4294967295"/>
          </p:nvPr>
        </p:nvSpPr>
        <p:spPr>
          <a:xfrm>
            <a:off x="1100381" y="188411"/>
            <a:ext cx="8229600" cy="608013"/>
          </a:xfrm>
        </p:spPr>
        <p:txBody>
          <a:bodyPr>
            <a:normAutofit fontScale="90000"/>
          </a:bodyPr>
          <a:lstStyle/>
          <a:p>
            <a:r>
              <a:rPr lang="en-GB" altLang="en-US" b="1" dirty="0">
                <a:latin typeface="Calibri" panose="020F0502020204030204" pitchFamily="34" charset="0"/>
                <a:cs typeface="Calibri" panose="020F0502020204030204" pitchFamily="34" charset="0"/>
              </a:rPr>
              <a:t>Subsets</a:t>
            </a:r>
          </a:p>
        </p:txBody>
      </p:sp>
      <p:sp>
        <p:nvSpPr>
          <p:cNvPr id="209926" name="Text Box 24">
            <a:extLst>
              <a:ext uri="{FF2B5EF4-FFF2-40B4-BE49-F238E27FC236}">
                <a16:creationId xmlns:a16="http://schemas.microsoft.com/office/drawing/2014/main" id="{8A9E748D-45AB-45C6-47D6-CB55A264FC65}"/>
              </a:ext>
            </a:extLst>
          </p:cNvPr>
          <p:cNvSpPr txBox="1">
            <a:spLocks noChangeArrowheads="1"/>
          </p:cNvSpPr>
          <p:nvPr/>
        </p:nvSpPr>
        <p:spPr bwMode="auto">
          <a:xfrm>
            <a:off x="2338389" y="3048000"/>
            <a:ext cx="2346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i="1" dirty="0">
                <a:solidFill>
                  <a:srgbClr val="010066"/>
                </a:solidFill>
                <a:latin typeface="Times New Roman" panose="02020603050405020304" pitchFamily="18" charset="0"/>
              </a:rPr>
              <a:t>A</a:t>
            </a:r>
            <a:r>
              <a:rPr lang="en-US" altLang="en-US" sz="2400" i="1" baseline="-25000" dirty="0">
                <a:solidFill>
                  <a:srgbClr val="010066"/>
                </a:solidFill>
                <a:latin typeface="Times New Roman" panose="02020603050405020304" pitchFamily="18" charset="0"/>
              </a:rPr>
              <a:t>e</a:t>
            </a:r>
            <a:r>
              <a:rPr lang="en-US" altLang="en-US" sz="2400" dirty="0">
                <a:solidFill>
                  <a:srgbClr val="000066"/>
                </a:solidFill>
              </a:rPr>
              <a:t> = {2, 4, 6}</a:t>
            </a:r>
            <a:endParaRPr lang="en-GB" altLang="en-US" sz="2400" dirty="0"/>
          </a:p>
        </p:txBody>
      </p:sp>
      <p:sp>
        <p:nvSpPr>
          <p:cNvPr id="209933" name="Text Box 24">
            <a:extLst>
              <a:ext uri="{FF2B5EF4-FFF2-40B4-BE49-F238E27FC236}">
                <a16:creationId xmlns:a16="http://schemas.microsoft.com/office/drawing/2014/main" id="{AB4AE224-2545-285A-CEC1-654FEDC80A9C}"/>
              </a:ext>
            </a:extLst>
          </p:cNvPr>
          <p:cNvSpPr txBox="1">
            <a:spLocks noChangeArrowheads="1"/>
          </p:cNvSpPr>
          <p:nvPr/>
        </p:nvSpPr>
        <p:spPr bwMode="auto">
          <a:xfrm>
            <a:off x="1100381" y="5805488"/>
            <a:ext cx="69752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Subsets are denoted using the </a:t>
            </a:r>
            <a:r>
              <a:rPr lang="en-US" altLang="en-US" sz="2400" dirty="0">
                <a:solidFill>
                  <a:srgbClr val="000066"/>
                </a:solidFill>
                <a:latin typeface="Lucida Sans Unicode" panose="020B0602030504020204" pitchFamily="34" charset="0"/>
                <a:cs typeface="Lucida Sans Unicode" panose="020B0602030504020204" pitchFamily="34" charset="0"/>
              </a:rPr>
              <a:t>⊆</a:t>
            </a:r>
            <a:r>
              <a:rPr lang="en-US" altLang="en-US" sz="2400" dirty="0">
                <a:solidFill>
                  <a:srgbClr val="000066"/>
                </a:solidFill>
              </a:rPr>
              <a:t> symbol</a:t>
            </a:r>
            <a:r>
              <a:rPr lang="en-US" altLang="en-US" dirty="0">
                <a:solidFill>
                  <a:srgbClr val="000066"/>
                </a:solidFill>
              </a:rPr>
              <a:t>.</a:t>
            </a:r>
            <a:r>
              <a:rPr lang="en-US" altLang="en-US" dirty="0">
                <a:solidFill>
                  <a:srgbClr val="000066"/>
                </a:solidFill>
                <a:latin typeface="Lucida Sans Unicode" panose="020B0602030504020204" pitchFamily="34" charset="0"/>
                <a:cs typeface="Lucida Sans Unicode" panose="020B0602030504020204" pitchFamily="34" charset="0"/>
              </a:rPr>
              <a:t> </a:t>
            </a:r>
          </a:p>
        </p:txBody>
      </p:sp>
      <p:sp>
        <p:nvSpPr>
          <p:cNvPr id="209934" name="Text Box 24">
            <a:extLst>
              <a:ext uri="{FF2B5EF4-FFF2-40B4-BE49-F238E27FC236}">
                <a16:creationId xmlns:a16="http://schemas.microsoft.com/office/drawing/2014/main" id="{4320F257-3D8C-125B-2912-AEEADF1C6108}"/>
              </a:ext>
            </a:extLst>
          </p:cNvPr>
          <p:cNvSpPr txBox="1">
            <a:spLocks noChangeArrowheads="1"/>
          </p:cNvSpPr>
          <p:nvPr/>
        </p:nvSpPr>
        <p:spPr bwMode="auto">
          <a:xfrm>
            <a:off x="7861300" y="5773738"/>
            <a:ext cx="1784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600" i="1" dirty="0">
                <a:solidFill>
                  <a:srgbClr val="010066"/>
                </a:solidFill>
                <a:latin typeface="Times New Roman" panose="02020603050405020304" pitchFamily="18" charset="0"/>
              </a:rPr>
              <a:t>A</a:t>
            </a:r>
            <a:r>
              <a:rPr lang="en-US" altLang="en-US" sz="2600" i="1" baseline="-25000" dirty="0">
                <a:solidFill>
                  <a:srgbClr val="010066"/>
                </a:solidFill>
                <a:latin typeface="Times New Roman" panose="02020603050405020304" pitchFamily="18" charset="0"/>
              </a:rPr>
              <a:t>e</a:t>
            </a:r>
            <a:r>
              <a:rPr lang="en-US" altLang="en-US" dirty="0">
                <a:solidFill>
                  <a:srgbClr val="000066"/>
                </a:solidFill>
              </a:rPr>
              <a:t> </a:t>
            </a:r>
            <a:r>
              <a:rPr lang="en-US" altLang="en-US" dirty="0">
                <a:solidFill>
                  <a:srgbClr val="000066"/>
                </a:solidFill>
                <a:latin typeface="Lucida Sans Unicode" panose="020B0602030504020204" pitchFamily="34" charset="0"/>
                <a:cs typeface="Lucida Sans Unicode" panose="020B0602030504020204" pitchFamily="34" charset="0"/>
              </a:rPr>
              <a:t>⊆</a:t>
            </a:r>
            <a:r>
              <a:rPr lang="en-US" altLang="en-US" dirty="0">
                <a:solidFill>
                  <a:srgbClr val="000066"/>
                </a:solidFill>
              </a:rPr>
              <a:t> </a:t>
            </a:r>
            <a:r>
              <a:rPr lang="en-US" altLang="en-US" sz="2600" i="1" dirty="0">
                <a:solidFill>
                  <a:srgbClr val="010066"/>
                </a:solidFill>
                <a:latin typeface="Times New Roman" panose="02020603050405020304" pitchFamily="18" charset="0"/>
              </a:rPr>
              <a:t>A</a:t>
            </a:r>
            <a:endParaRPr lang="en-GB" altLang="en-US" sz="2600" i="1" dirty="0">
              <a:solidFill>
                <a:srgbClr val="010066"/>
              </a:solidFill>
              <a:latin typeface="Times New Roman" panose="02020603050405020304" pitchFamily="18" charset="0"/>
            </a:endParaRPr>
          </a:p>
        </p:txBody>
      </p:sp>
      <p:sp>
        <p:nvSpPr>
          <p:cNvPr id="209936" name="Text Box 24">
            <a:extLst>
              <a:ext uri="{FF2B5EF4-FFF2-40B4-BE49-F238E27FC236}">
                <a16:creationId xmlns:a16="http://schemas.microsoft.com/office/drawing/2014/main" id="{D0DFFA6D-9FC1-BB06-28A0-09457FDEE4FE}"/>
              </a:ext>
            </a:extLst>
          </p:cNvPr>
          <p:cNvSpPr txBox="1">
            <a:spLocks noChangeArrowheads="1"/>
          </p:cNvSpPr>
          <p:nvPr/>
        </p:nvSpPr>
        <p:spPr bwMode="auto">
          <a:xfrm>
            <a:off x="2338389" y="1728789"/>
            <a:ext cx="3105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i="1" dirty="0">
                <a:solidFill>
                  <a:srgbClr val="010066"/>
                </a:solidFill>
                <a:latin typeface="Times New Roman" panose="02020603050405020304" pitchFamily="18" charset="0"/>
              </a:rPr>
              <a:t>A</a:t>
            </a:r>
            <a:r>
              <a:rPr lang="en-US" altLang="en-US" sz="2400" dirty="0">
                <a:solidFill>
                  <a:srgbClr val="000066"/>
                </a:solidFill>
              </a:rPr>
              <a:t> = {1, 2, 3, 4, 5, 6}</a:t>
            </a:r>
            <a:endParaRPr lang="en-GB" altLang="en-US" sz="2400" dirty="0"/>
          </a:p>
        </p:txBody>
      </p:sp>
      <p:sp>
        <p:nvSpPr>
          <p:cNvPr id="209939" name="Text Box 24">
            <a:extLst>
              <a:ext uri="{FF2B5EF4-FFF2-40B4-BE49-F238E27FC236}">
                <a16:creationId xmlns:a16="http://schemas.microsoft.com/office/drawing/2014/main" id="{B5E6A035-E028-D517-B6F9-33E9EE01F832}"/>
              </a:ext>
            </a:extLst>
          </p:cNvPr>
          <p:cNvSpPr txBox="1">
            <a:spLocks noChangeArrowheads="1"/>
          </p:cNvSpPr>
          <p:nvPr/>
        </p:nvSpPr>
        <p:spPr bwMode="auto">
          <a:xfrm>
            <a:off x="1100381" y="898525"/>
            <a:ext cx="55641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000" b="1" dirty="0">
                <a:solidFill>
                  <a:srgbClr val="000066"/>
                </a:solidFill>
              </a:rPr>
              <a:t>What is the set of possible outcomes from rolling a die?</a:t>
            </a:r>
            <a:endParaRPr lang="en-GB" altLang="en-US" sz="2000" b="1" dirty="0">
              <a:solidFill>
                <a:srgbClr val="000066"/>
              </a:solidFill>
            </a:endParaRPr>
          </a:p>
        </p:txBody>
      </p:sp>
      <p:sp>
        <p:nvSpPr>
          <p:cNvPr id="209940" name="Text Box 24">
            <a:extLst>
              <a:ext uri="{FF2B5EF4-FFF2-40B4-BE49-F238E27FC236}">
                <a16:creationId xmlns:a16="http://schemas.microsoft.com/office/drawing/2014/main" id="{1DB194AC-CCB3-13BC-3684-D84943B50F2B}"/>
              </a:ext>
            </a:extLst>
          </p:cNvPr>
          <p:cNvSpPr txBox="1">
            <a:spLocks noChangeArrowheads="1"/>
          </p:cNvSpPr>
          <p:nvPr/>
        </p:nvSpPr>
        <p:spPr bwMode="auto">
          <a:xfrm>
            <a:off x="1100381" y="3662364"/>
            <a:ext cx="1061633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The </a:t>
            </a:r>
            <a:r>
              <a:rPr lang="en-US" altLang="en-US" sz="2400" b="1" dirty="0">
                <a:solidFill>
                  <a:srgbClr val="FF6600"/>
                </a:solidFill>
              </a:rPr>
              <a:t>universal set </a:t>
            </a:r>
            <a:r>
              <a:rPr lang="en-US" altLang="en-US" sz="2400" dirty="0">
                <a:solidFill>
                  <a:srgbClr val="000066"/>
                </a:solidFill>
              </a:rPr>
              <a:t>is the largest possible set for a given scenario. For this example, </a:t>
            </a:r>
            <a:r>
              <a:rPr lang="en-US" altLang="en-US" sz="3200" i="1" dirty="0">
                <a:solidFill>
                  <a:srgbClr val="010066"/>
                </a:solidFill>
                <a:latin typeface="Times New Roman" panose="02020603050405020304" pitchFamily="18" charset="0"/>
              </a:rPr>
              <a:t>A</a:t>
            </a:r>
            <a:r>
              <a:rPr lang="en-US" altLang="en-US" sz="2400" dirty="0">
                <a:solidFill>
                  <a:srgbClr val="000066"/>
                </a:solidFill>
              </a:rPr>
              <a:t> </a:t>
            </a:r>
            <a:r>
              <a:rPr lang="en-US" altLang="en-US" sz="2400" dirty="0"/>
              <a:t>is the universal set.</a:t>
            </a:r>
            <a:endParaRPr lang="en-GB" altLang="en-US" sz="2400" dirty="0"/>
          </a:p>
        </p:txBody>
      </p:sp>
      <p:sp>
        <p:nvSpPr>
          <p:cNvPr id="209942" name="Text Box 24">
            <a:extLst>
              <a:ext uri="{FF2B5EF4-FFF2-40B4-BE49-F238E27FC236}">
                <a16:creationId xmlns:a16="http://schemas.microsoft.com/office/drawing/2014/main" id="{D68D44DB-1940-8411-E633-86677D1ED5E4}"/>
              </a:ext>
            </a:extLst>
          </p:cNvPr>
          <p:cNvSpPr txBox="1">
            <a:spLocks noChangeArrowheads="1"/>
          </p:cNvSpPr>
          <p:nvPr/>
        </p:nvSpPr>
        <p:spPr bwMode="auto">
          <a:xfrm>
            <a:off x="1100381" y="2450710"/>
            <a:ext cx="5462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b="1" dirty="0">
                <a:solidFill>
                  <a:srgbClr val="000066"/>
                </a:solidFill>
              </a:rPr>
              <a:t>What is the set of possible even outcomes?</a:t>
            </a:r>
            <a:endParaRPr lang="en-GB" altLang="en-US" b="1" dirty="0">
              <a:solidFill>
                <a:srgbClr val="000066"/>
              </a:solidFill>
            </a:endParaRPr>
          </a:p>
        </p:txBody>
      </p:sp>
      <p:sp>
        <p:nvSpPr>
          <p:cNvPr id="209943" name="Text Box 24">
            <a:extLst>
              <a:ext uri="{FF2B5EF4-FFF2-40B4-BE49-F238E27FC236}">
                <a16:creationId xmlns:a16="http://schemas.microsoft.com/office/drawing/2014/main" id="{DF6A65EB-89D3-B13B-BDDD-C18621091C18}"/>
              </a:ext>
            </a:extLst>
          </p:cNvPr>
          <p:cNvSpPr txBox="1">
            <a:spLocks noChangeArrowheads="1"/>
          </p:cNvSpPr>
          <p:nvPr/>
        </p:nvSpPr>
        <p:spPr bwMode="auto">
          <a:xfrm>
            <a:off x="1100381" y="4535488"/>
            <a:ext cx="999123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3200" i="1" dirty="0">
                <a:solidFill>
                  <a:srgbClr val="010066"/>
                </a:solidFill>
                <a:latin typeface="Times New Roman" panose="02020603050405020304" pitchFamily="18" charset="0"/>
              </a:rPr>
              <a:t>A</a:t>
            </a:r>
            <a:r>
              <a:rPr lang="en-US" altLang="en-US" sz="3200" i="1" baseline="-25000" dirty="0">
                <a:solidFill>
                  <a:srgbClr val="010066"/>
                </a:solidFill>
                <a:latin typeface="Times New Roman" panose="02020603050405020304" pitchFamily="18" charset="0"/>
              </a:rPr>
              <a:t>e</a:t>
            </a:r>
            <a:r>
              <a:rPr lang="en-US" altLang="en-US" sz="2400" dirty="0">
                <a:solidFill>
                  <a:srgbClr val="000066"/>
                </a:solidFill>
              </a:rPr>
              <a:t> is a </a:t>
            </a:r>
            <a:r>
              <a:rPr lang="en-US" altLang="en-US" sz="2400" b="1" dirty="0">
                <a:solidFill>
                  <a:srgbClr val="FF6600"/>
                </a:solidFill>
              </a:rPr>
              <a:t>subset</a:t>
            </a:r>
            <a:r>
              <a:rPr lang="en-US" altLang="en-US" sz="2400" dirty="0">
                <a:solidFill>
                  <a:srgbClr val="000066"/>
                </a:solidFill>
              </a:rPr>
              <a:t> of all the possible outcomes, </a:t>
            </a:r>
            <a:r>
              <a:rPr lang="en-US" altLang="en-US" sz="3200" i="1" dirty="0">
                <a:solidFill>
                  <a:srgbClr val="010066"/>
                </a:solidFill>
                <a:latin typeface="Times New Roman" panose="02020603050405020304" pitchFamily="18" charset="0"/>
              </a:rPr>
              <a:t>A</a:t>
            </a:r>
            <a:r>
              <a:rPr lang="en-US" altLang="en-US" sz="2400" dirty="0">
                <a:solidFill>
                  <a:srgbClr val="000066"/>
                </a:solidFill>
              </a:rPr>
              <a:t>, because is contains some of the elements of </a:t>
            </a:r>
            <a:r>
              <a:rPr lang="en-US" altLang="en-US" sz="3200" i="1" dirty="0">
                <a:solidFill>
                  <a:srgbClr val="010066"/>
                </a:solidFill>
                <a:latin typeface="Times New Roman" panose="02020603050405020304" pitchFamily="18" charset="0"/>
              </a:rPr>
              <a:t>A</a:t>
            </a:r>
            <a:r>
              <a:rPr lang="en-US" altLang="en-US" sz="2400" dirty="0">
                <a:solidFill>
                  <a:srgbClr val="000066"/>
                </a:solidFill>
              </a:rPr>
              <a:t>. The null set is a subset of every set.</a:t>
            </a:r>
            <a:endParaRPr lang="en-GB" altLang="en-US" sz="2400" dirty="0">
              <a:solidFill>
                <a:srgbClr val="000066"/>
              </a:solidFill>
            </a:endParaRPr>
          </a:p>
        </p:txBody>
      </p:sp>
      <p:sp>
        <p:nvSpPr>
          <p:cNvPr id="3" name="Slide Number Placeholder 2"/>
          <p:cNvSpPr>
            <a:spLocks noGrp="1"/>
          </p:cNvSpPr>
          <p:nvPr>
            <p:ph type="sldNum" sz="quarter" idx="12"/>
          </p:nvPr>
        </p:nvSpPr>
        <p:spPr/>
        <p:txBody>
          <a:bodyPr/>
          <a:lstStyle/>
          <a:p>
            <a:fld id="{8D75522D-3DA1-4E7C-B84B-2130C32BB93F}" type="slidenum">
              <a:rPr lang="en-GB" smtClean="0"/>
              <a:t>11</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9944"/>
                                        </p:tgtEl>
                                        <p:attrNameLst>
                                          <p:attrName>style.visibility</p:attrName>
                                        </p:attrNameLst>
                                      </p:cBhvr>
                                      <p:to>
                                        <p:strVal val="visible"/>
                                      </p:to>
                                    </p:set>
                                    <p:animEffect transition="in" filter="wipe(up)">
                                      <p:cBhvr>
                                        <p:cTn id="7" dur="500"/>
                                        <p:tgtEl>
                                          <p:spTgt spid="209944"/>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099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994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9942"/>
                                        </p:tgtEl>
                                        <p:attrNameLst>
                                          <p:attrName>style.visibility</p:attrName>
                                        </p:attrNameLst>
                                      </p:cBhvr>
                                      <p:to>
                                        <p:strVal val="visible"/>
                                      </p:to>
                                    </p:set>
                                    <p:animEffect transition="in" filter="wipe(left)">
                                      <p:cBhvr>
                                        <p:cTn id="17" dur="500"/>
                                        <p:tgtEl>
                                          <p:spTgt spid="2099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09945"/>
                                        </p:tgtEl>
                                        <p:attrNameLst>
                                          <p:attrName>style.visibility</p:attrName>
                                        </p:attrNameLst>
                                      </p:cBhvr>
                                      <p:to>
                                        <p:strVal val="visible"/>
                                      </p:to>
                                    </p:set>
                                    <p:animEffect transition="in" filter="wipe(up)">
                                      <p:cBhvr>
                                        <p:cTn id="22" dur="500"/>
                                        <p:tgtEl>
                                          <p:spTgt spid="209945"/>
                                        </p:tgtEl>
                                      </p:cBhvr>
                                    </p:animEffect>
                                  </p:childTnLst>
                                </p:cTn>
                              </p:par>
                            </p:childTnLst>
                          </p:cTn>
                        </p:par>
                        <p:par>
                          <p:cTn id="23" fill="hold" nodeType="afterGroup">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209926"/>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0994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9940"/>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9943"/>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0993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099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6" grpId="0"/>
      <p:bldP spid="209933" grpId="0"/>
      <p:bldP spid="209934" grpId="0"/>
      <p:bldP spid="209936" grpId="0"/>
      <p:bldP spid="209940" grpId="0"/>
      <p:bldP spid="209942" grpId="0"/>
      <p:bldP spid="20994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D75522D-3DA1-4E7C-B84B-2130C32BB93F}" type="slidenum">
              <a:rPr lang="en-GB" smtClean="0"/>
              <a:t>12</a:t>
            </a:fld>
            <a:endParaRPr lang="en-GB"/>
          </a:p>
        </p:txBody>
      </p:sp>
      <p:sp>
        <p:nvSpPr>
          <p:cNvPr id="4" name="Rectangle 3"/>
          <p:cNvSpPr/>
          <p:nvPr/>
        </p:nvSpPr>
        <p:spPr>
          <a:xfrm>
            <a:off x="1194619" y="1386959"/>
            <a:ext cx="5993628" cy="461665"/>
          </a:xfrm>
          <a:prstGeom prst="rect">
            <a:avLst/>
          </a:prstGeom>
        </p:spPr>
        <p:txBody>
          <a:bodyPr wrap="none">
            <a:spAutoFit/>
          </a:bodyPr>
          <a:lstStyle/>
          <a:p>
            <a:r>
              <a:rPr lang="en-US" sz="2400" dirty="0">
                <a:solidFill>
                  <a:srgbClr val="001D35"/>
                </a:solidFill>
                <a:latin typeface="Google Sans"/>
              </a:rPr>
              <a:t>Let set A = {1, 2, 3} and set B = {1, 2, 3, 4}.</a:t>
            </a:r>
            <a:endParaRPr lang="en-US" sz="2400" dirty="0"/>
          </a:p>
        </p:txBody>
      </p:sp>
      <p:sp>
        <p:nvSpPr>
          <p:cNvPr id="6" name="Rectangle 5"/>
          <p:cNvSpPr/>
          <p:nvPr/>
        </p:nvSpPr>
        <p:spPr>
          <a:xfrm>
            <a:off x="1194618" y="2091423"/>
            <a:ext cx="8406581" cy="400110"/>
          </a:xfrm>
          <a:prstGeom prst="rect">
            <a:avLst/>
          </a:prstGeom>
        </p:spPr>
        <p:txBody>
          <a:bodyPr wrap="square">
            <a:spAutoFit/>
          </a:bodyPr>
          <a:lstStyle/>
          <a:p>
            <a:r>
              <a:rPr lang="en-US" sz="2000" dirty="0">
                <a:solidFill>
                  <a:srgbClr val="001D35"/>
                </a:solidFill>
                <a:latin typeface="Google Sans"/>
              </a:rPr>
              <a:t>A is a subset of B because all elements of A (1, 2, and 3) are also in B.</a:t>
            </a:r>
            <a:endParaRPr lang="en-US" sz="2000" b="0" i="0" dirty="0">
              <a:solidFill>
                <a:srgbClr val="001D35"/>
              </a:solidFill>
              <a:effectLst/>
              <a:latin typeface="Google Sans"/>
            </a:endParaRPr>
          </a:p>
        </p:txBody>
      </p:sp>
      <p:sp>
        <p:nvSpPr>
          <p:cNvPr id="7" name="Rectangle 6"/>
          <p:cNvSpPr/>
          <p:nvPr/>
        </p:nvSpPr>
        <p:spPr>
          <a:xfrm>
            <a:off x="1265879" y="3580977"/>
            <a:ext cx="4132029" cy="400110"/>
          </a:xfrm>
          <a:prstGeom prst="rect">
            <a:avLst/>
          </a:prstGeom>
        </p:spPr>
        <p:txBody>
          <a:bodyPr wrap="none">
            <a:spAutoFit/>
          </a:bodyPr>
          <a:lstStyle/>
          <a:p>
            <a:r>
              <a:rPr lang="en-US" sz="2000" dirty="0">
                <a:solidFill>
                  <a:srgbClr val="001D35"/>
                </a:solidFill>
                <a:latin typeface="Google Sans"/>
              </a:rPr>
              <a:t>Subset: A ⊆ B (A is a subset of B). </a:t>
            </a:r>
            <a:endParaRPr lang="en-US" sz="2000" b="0" i="0" dirty="0">
              <a:solidFill>
                <a:srgbClr val="001D35"/>
              </a:solidFill>
              <a:effectLst/>
              <a:latin typeface="Google Sans"/>
            </a:endParaRPr>
          </a:p>
        </p:txBody>
      </p:sp>
      <p:sp>
        <p:nvSpPr>
          <p:cNvPr id="8" name="Rectangle 7"/>
          <p:cNvSpPr/>
          <p:nvPr/>
        </p:nvSpPr>
        <p:spPr>
          <a:xfrm>
            <a:off x="1265879" y="2938068"/>
            <a:ext cx="1062150" cy="461665"/>
          </a:xfrm>
          <a:prstGeom prst="rect">
            <a:avLst/>
          </a:prstGeom>
        </p:spPr>
        <p:txBody>
          <a:bodyPr wrap="none">
            <a:spAutoFit/>
          </a:bodyPr>
          <a:lstStyle/>
          <a:p>
            <a:r>
              <a:rPr lang="en-US" sz="2400" dirty="0">
                <a:solidFill>
                  <a:srgbClr val="001D35"/>
                </a:solidFill>
                <a:latin typeface="Google Sans"/>
              </a:rPr>
              <a:t>A ⊆ B </a:t>
            </a:r>
            <a:endParaRPr lang="en-US" sz="2400" dirty="0"/>
          </a:p>
        </p:txBody>
      </p:sp>
    </p:spTree>
    <p:extLst>
      <p:ext uri="{BB962C8B-B14F-4D97-AF65-F5344CB8AC3E}">
        <p14:creationId xmlns:p14="http://schemas.microsoft.com/office/powerpoint/2010/main" val="1019432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987" name="Picture 19">
            <a:extLst>
              <a:ext uri="{FF2B5EF4-FFF2-40B4-BE49-F238E27FC236}">
                <a16:creationId xmlns:a16="http://schemas.microsoft.com/office/drawing/2014/main" id="{8C02BB20-1141-F62E-04E5-67634D971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0" y="4525964"/>
            <a:ext cx="3105150" cy="2198687"/>
          </a:xfrm>
          <a:prstGeom prst="rect">
            <a:avLst/>
          </a:prstGeom>
          <a:noFill/>
          <a:extLst>
            <a:ext uri="{909E8E84-426E-40DD-AFC4-6F175D3DCCD1}">
              <a14:hiddenFill xmlns:a14="http://schemas.microsoft.com/office/drawing/2010/main">
                <a:solidFill>
                  <a:srgbClr val="FFFFFF"/>
                </a:solidFill>
              </a14:hiddenFill>
            </a:ext>
          </a:extLst>
        </p:spPr>
      </p:pic>
      <p:pic>
        <p:nvPicPr>
          <p:cNvPr id="211991" name="Picture 23">
            <a:extLst>
              <a:ext uri="{FF2B5EF4-FFF2-40B4-BE49-F238E27FC236}">
                <a16:creationId xmlns:a16="http://schemas.microsoft.com/office/drawing/2014/main" id="{7B0C5CE7-2DDC-3269-24B1-B08764657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0" y="4525964"/>
            <a:ext cx="3105150" cy="2198687"/>
          </a:xfrm>
          <a:prstGeom prst="rect">
            <a:avLst/>
          </a:prstGeom>
          <a:noFill/>
          <a:extLst>
            <a:ext uri="{909E8E84-426E-40DD-AFC4-6F175D3DCCD1}">
              <a14:hiddenFill xmlns:a14="http://schemas.microsoft.com/office/drawing/2010/main">
                <a:solidFill>
                  <a:srgbClr val="FFFFFF"/>
                </a:solidFill>
              </a14:hiddenFill>
            </a:ext>
          </a:extLst>
        </p:spPr>
      </p:pic>
      <p:pic>
        <p:nvPicPr>
          <p:cNvPr id="211986" name="Picture 18">
            <a:extLst>
              <a:ext uri="{FF2B5EF4-FFF2-40B4-BE49-F238E27FC236}">
                <a16:creationId xmlns:a16="http://schemas.microsoft.com/office/drawing/2014/main" id="{A13BBC09-90D9-2AEC-1D3B-420A788210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8618" y="4611522"/>
            <a:ext cx="3105150" cy="2198687"/>
          </a:xfrm>
          <a:prstGeom prst="rect">
            <a:avLst/>
          </a:prstGeom>
          <a:noFill/>
          <a:extLst>
            <a:ext uri="{909E8E84-426E-40DD-AFC4-6F175D3DCCD1}">
              <a14:hiddenFill xmlns:a14="http://schemas.microsoft.com/office/drawing/2010/main">
                <a:solidFill>
                  <a:srgbClr val="FFFFFF"/>
                </a:solidFill>
              </a14:hiddenFill>
            </a:ext>
          </a:extLst>
        </p:spPr>
      </p:pic>
      <p:sp>
        <p:nvSpPr>
          <p:cNvPr id="211979" name="Rectangle 11">
            <a:extLst>
              <a:ext uri="{FF2B5EF4-FFF2-40B4-BE49-F238E27FC236}">
                <a16:creationId xmlns:a16="http://schemas.microsoft.com/office/drawing/2014/main" id="{32BC36D2-1AD1-7647-696E-3F9C5B7D6225}"/>
              </a:ext>
            </a:extLst>
          </p:cNvPr>
          <p:cNvSpPr>
            <a:spLocks noChangeArrowheads="1"/>
          </p:cNvSpPr>
          <p:nvPr/>
        </p:nvSpPr>
        <p:spPr bwMode="auto">
          <a:xfrm>
            <a:off x="762000" y="3290646"/>
            <a:ext cx="11429999" cy="1444625"/>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1970" name="Text Box 24">
            <a:extLst>
              <a:ext uri="{FF2B5EF4-FFF2-40B4-BE49-F238E27FC236}">
                <a16:creationId xmlns:a16="http://schemas.microsoft.com/office/drawing/2014/main" id="{1C8D1DCB-F263-24B0-04F9-8CC4DEAA1195}"/>
              </a:ext>
            </a:extLst>
          </p:cNvPr>
          <p:cNvSpPr txBox="1">
            <a:spLocks noChangeArrowheads="1"/>
          </p:cNvSpPr>
          <p:nvPr/>
        </p:nvSpPr>
        <p:spPr bwMode="auto">
          <a:xfrm>
            <a:off x="1244601" y="898526"/>
            <a:ext cx="92106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The </a:t>
            </a:r>
            <a:r>
              <a:rPr lang="en-US" altLang="en-US" sz="2400" b="1" dirty="0">
                <a:solidFill>
                  <a:srgbClr val="FF6600"/>
                </a:solidFill>
              </a:rPr>
              <a:t>complement</a:t>
            </a:r>
            <a:r>
              <a:rPr lang="en-US" altLang="en-US" sz="2400" dirty="0">
                <a:solidFill>
                  <a:srgbClr val="000066"/>
                </a:solidFill>
              </a:rPr>
              <a:t> of a set is all of the elements in the universal set but </a:t>
            </a:r>
            <a:r>
              <a:rPr lang="en-US" altLang="en-US" sz="2400" b="1" dirty="0">
                <a:solidFill>
                  <a:srgbClr val="000066"/>
                </a:solidFill>
              </a:rPr>
              <a:t>not</a:t>
            </a:r>
            <a:r>
              <a:rPr lang="en-US" altLang="en-US" sz="2400" dirty="0">
                <a:solidFill>
                  <a:srgbClr val="000066"/>
                </a:solidFill>
              </a:rPr>
              <a:t> in the set of interest.</a:t>
            </a:r>
            <a:endParaRPr lang="en-GB" altLang="en-US" sz="2400" dirty="0">
              <a:solidFill>
                <a:srgbClr val="000066"/>
              </a:solidFill>
            </a:endParaRPr>
          </a:p>
        </p:txBody>
      </p:sp>
      <p:sp>
        <p:nvSpPr>
          <p:cNvPr id="211971" name="Rectangle 3">
            <a:extLst>
              <a:ext uri="{FF2B5EF4-FFF2-40B4-BE49-F238E27FC236}">
                <a16:creationId xmlns:a16="http://schemas.microsoft.com/office/drawing/2014/main" id="{14616EB2-9268-28DE-9203-8C8B3CFD9A39}"/>
              </a:ext>
            </a:extLst>
          </p:cNvPr>
          <p:cNvSpPr>
            <a:spLocks noGrp="1" noChangeArrowheads="1"/>
          </p:cNvSpPr>
          <p:nvPr>
            <p:ph type="title" idx="4294967295"/>
          </p:nvPr>
        </p:nvSpPr>
        <p:spPr>
          <a:xfrm>
            <a:off x="1244601" y="127317"/>
            <a:ext cx="8229600" cy="608013"/>
          </a:xfrm>
        </p:spPr>
        <p:txBody>
          <a:bodyPr>
            <a:normAutofit fontScale="90000"/>
          </a:bodyPr>
          <a:lstStyle/>
          <a:p>
            <a:r>
              <a:rPr lang="en-GB" altLang="en-US" b="1" dirty="0">
                <a:latin typeface="Calibri" panose="020F0502020204030204" pitchFamily="34" charset="0"/>
                <a:cs typeface="Calibri" panose="020F0502020204030204" pitchFamily="34" charset="0"/>
              </a:rPr>
              <a:t>Complement</a:t>
            </a:r>
          </a:p>
        </p:txBody>
      </p:sp>
      <p:sp>
        <p:nvSpPr>
          <p:cNvPr id="211974" name="Text Box 24">
            <a:extLst>
              <a:ext uri="{FF2B5EF4-FFF2-40B4-BE49-F238E27FC236}">
                <a16:creationId xmlns:a16="http://schemas.microsoft.com/office/drawing/2014/main" id="{269115E9-A7D9-443D-D1BA-315A0C9F1004}"/>
              </a:ext>
            </a:extLst>
          </p:cNvPr>
          <p:cNvSpPr txBox="1">
            <a:spLocks noChangeArrowheads="1"/>
          </p:cNvSpPr>
          <p:nvPr/>
        </p:nvSpPr>
        <p:spPr bwMode="auto">
          <a:xfrm>
            <a:off x="4664867" y="3292642"/>
            <a:ext cx="36242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800" i="1" dirty="0">
                <a:solidFill>
                  <a:srgbClr val="010066"/>
                </a:solidFill>
                <a:latin typeface="Times New Roman" panose="02020603050405020304" pitchFamily="18" charset="0"/>
              </a:rPr>
              <a:t>A</a:t>
            </a:r>
            <a:r>
              <a:rPr lang="en-US" altLang="en-US" sz="2800" dirty="0">
                <a:solidFill>
                  <a:srgbClr val="000066"/>
                </a:solidFill>
              </a:rPr>
              <a:t> = {1, 2, 3, 4, 5, 6}</a:t>
            </a:r>
            <a:endParaRPr lang="en-GB" altLang="en-US" sz="2800" dirty="0"/>
          </a:p>
        </p:txBody>
      </p:sp>
      <p:sp>
        <p:nvSpPr>
          <p:cNvPr id="211975" name="Text Box 24">
            <a:extLst>
              <a:ext uri="{FF2B5EF4-FFF2-40B4-BE49-F238E27FC236}">
                <a16:creationId xmlns:a16="http://schemas.microsoft.com/office/drawing/2014/main" id="{CB5EA221-BC62-0376-7AA3-A026B74655F7}"/>
              </a:ext>
            </a:extLst>
          </p:cNvPr>
          <p:cNvSpPr txBox="1">
            <a:spLocks noChangeArrowheads="1"/>
          </p:cNvSpPr>
          <p:nvPr/>
        </p:nvSpPr>
        <p:spPr bwMode="auto">
          <a:xfrm>
            <a:off x="1244601" y="1843088"/>
            <a:ext cx="9210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Complements of sets are denoted using a prime symbol </a:t>
            </a:r>
            <a:r>
              <a:rPr lang="en-US" altLang="en-US" sz="2400" dirty="0">
                <a:solidFill>
                  <a:srgbClr val="000066"/>
                </a:solidFill>
                <a:cs typeface="Arial" panose="020B0604020202020204" pitchFamily="34" charset="0"/>
              </a:rPr>
              <a:t>′.</a:t>
            </a:r>
            <a:endParaRPr lang="en-US" altLang="en-US" sz="2400" dirty="0">
              <a:solidFill>
                <a:srgbClr val="000066"/>
              </a:solidFill>
              <a:latin typeface="Lucida Sans Unicode" panose="020B0602030504020204" pitchFamily="34" charset="0"/>
              <a:cs typeface="Lucida Sans Unicode" panose="020B0602030504020204" pitchFamily="34" charset="0"/>
            </a:endParaRPr>
          </a:p>
        </p:txBody>
      </p:sp>
      <p:sp>
        <p:nvSpPr>
          <p:cNvPr id="211978" name="Text Box 24">
            <a:extLst>
              <a:ext uri="{FF2B5EF4-FFF2-40B4-BE49-F238E27FC236}">
                <a16:creationId xmlns:a16="http://schemas.microsoft.com/office/drawing/2014/main" id="{41118926-C6EA-25EA-D1E1-DED62775F149}"/>
              </a:ext>
            </a:extLst>
          </p:cNvPr>
          <p:cNvSpPr txBox="1">
            <a:spLocks noChangeArrowheads="1"/>
          </p:cNvSpPr>
          <p:nvPr/>
        </p:nvSpPr>
        <p:spPr bwMode="auto">
          <a:xfrm>
            <a:off x="4606926" y="4135439"/>
            <a:ext cx="75850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800" i="1" dirty="0">
                <a:solidFill>
                  <a:srgbClr val="010066"/>
                </a:solidFill>
                <a:latin typeface="Times New Roman" panose="02020603050405020304" pitchFamily="18" charset="0"/>
              </a:rPr>
              <a:t>A</a:t>
            </a:r>
            <a:r>
              <a:rPr lang="en-US" altLang="en-US" sz="2800" i="1" baseline="-25000" dirty="0">
                <a:solidFill>
                  <a:srgbClr val="010066"/>
                </a:solidFill>
                <a:latin typeface="Times New Roman" panose="02020603050405020304" pitchFamily="18" charset="0"/>
              </a:rPr>
              <a:t>e</a:t>
            </a:r>
            <a:r>
              <a:rPr lang="en-US" altLang="en-US" sz="2800" dirty="0">
                <a:solidFill>
                  <a:srgbClr val="000066"/>
                </a:solidFill>
              </a:rPr>
              <a:t>′ = {1, 3, 5}, the set of possible odd numbers.</a:t>
            </a:r>
            <a:endParaRPr lang="en-GB" altLang="en-US" sz="2800" dirty="0">
              <a:solidFill>
                <a:srgbClr val="000066"/>
              </a:solidFill>
            </a:endParaRPr>
          </a:p>
        </p:txBody>
      </p:sp>
      <p:sp>
        <p:nvSpPr>
          <p:cNvPr id="211980" name="Text Box 24">
            <a:extLst>
              <a:ext uri="{FF2B5EF4-FFF2-40B4-BE49-F238E27FC236}">
                <a16:creationId xmlns:a16="http://schemas.microsoft.com/office/drawing/2014/main" id="{333FA58E-E6E5-337A-C2E4-6AF169DE37E1}"/>
              </a:ext>
            </a:extLst>
          </p:cNvPr>
          <p:cNvSpPr txBox="1">
            <a:spLocks noChangeArrowheads="1"/>
          </p:cNvSpPr>
          <p:nvPr/>
        </p:nvSpPr>
        <p:spPr bwMode="auto">
          <a:xfrm>
            <a:off x="4606925" y="3710317"/>
            <a:ext cx="23463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800" i="1" dirty="0">
                <a:solidFill>
                  <a:srgbClr val="010066"/>
                </a:solidFill>
                <a:latin typeface="Times New Roman" panose="02020603050405020304" pitchFamily="18" charset="0"/>
              </a:rPr>
              <a:t>A</a:t>
            </a:r>
            <a:r>
              <a:rPr lang="en-US" altLang="en-US" sz="2800" i="1" baseline="-25000" dirty="0">
                <a:solidFill>
                  <a:srgbClr val="010066"/>
                </a:solidFill>
                <a:latin typeface="Times New Roman" panose="02020603050405020304" pitchFamily="18" charset="0"/>
              </a:rPr>
              <a:t>e</a:t>
            </a:r>
            <a:r>
              <a:rPr lang="en-US" altLang="en-US" sz="2800" dirty="0">
                <a:solidFill>
                  <a:srgbClr val="000066"/>
                </a:solidFill>
              </a:rPr>
              <a:t> = {2, 4, 6}</a:t>
            </a:r>
            <a:endParaRPr lang="en-GB" altLang="en-US" sz="2800" dirty="0"/>
          </a:p>
        </p:txBody>
      </p:sp>
      <p:sp>
        <p:nvSpPr>
          <p:cNvPr id="211982" name="Text Box 24">
            <a:extLst>
              <a:ext uri="{FF2B5EF4-FFF2-40B4-BE49-F238E27FC236}">
                <a16:creationId xmlns:a16="http://schemas.microsoft.com/office/drawing/2014/main" id="{CF3BEF0E-6E6F-E155-FE20-8F5855261A55}"/>
              </a:ext>
            </a:extLst>
          </p:cNvPr>
          <p:cNvSpPr txBox="1">
            <a:spLocks noChangeArrowheads="1"/>
          </p:cNvSpPr>
          <p:nvPr/>
        </p:nvSpPr>
        <p:spPr bwMode="auto">
          <a:xfrm>
            <a:off x="1244601" y="2455863"/>
            <a:ext cx="90011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b="1" dirty="0">
                <a:solidFill>
                  <a:srgbClr val="000066"/>
                </a:solidFill>
              </a:rPr>
              <a:t>What is the complement of the set of even outcomes when rolling a die?</a:t>
            </a:r>
            <a:endParaRPr lang="en-GB" altLang="en-US" sz="2400" b="1" dirty="0">
              <a:solidFill>
                <a:srgbClr val="000066"/>
              </a:solidFill>
            </a:endParaRPr>
          </a:p>
        </p:txBody>
      </p:sp>
      <p:sp>
        <p:nvSpPr>
          <p:cNvPr id="211983" name="Text Box 24">
            <a:extLst>
              <a:ext uri="{FF2B5EF4-FFF2-40B4-BE49-F238E27FC236}">
                <a16:creationId xmlns:a16="http://schemas.microsoft.com/office/drawing/2014/main" id="{8A92B978-1EA2-F6AD-9889-3E71DCDAB16B}"/>
              </a:ext>
            </a:extLst>
          </p:cNvPr>
          <p:cNvSpPr txBox="1">
            <a:spLocks noChangeArrowheads="1"/>
          </p:cNvSpPr>
          <p:nvPr/>
        </p:nvSpPr>
        <p:spPr bwMode="auto">
          <a:xfrm>
            <a:off x="1523999" y="3285827"/>
            <a:ext cx="29940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Bef>
                <a:spcPct val="50000"/>
              </a:spcBef>
            </a:pPr>
            <a:r>
              <a:rPr lang="en-US" altLang="en-US" sz="2800" dirty="0">
                <a:solidFill>
                  <a:srgbClr val="FF6600"/>
                </a:solidFill>
              </a:rPr>
              <a:t>universal set:</a:t>
            </a:r>
            <a:endParaRPr lang="en-GB" altLang="en-US" sz="2800" dirty="0">
              <a:solidFill>
                <a:srgbClr val="FF6600"/>
              </a:solidFill>
            </a:endParaRPr>
          </a:p>
        </p:txBody>
      </p:sp>
      <p:sp>
        <p:nvSpPr>
          <p:cNvPr id="211984" name="Text Box 24">
            <a:extLst>
              <a:ext uri="{FF2B5EF4-FFF2-40B4-BE49-F238E27FC236}">
                <a16:creationId xmlns:a16="http://schemas.microsoft.com/office/drawing/2014/main" id="{C1C34D23-236C-FE42-B161-083DC6925E09}"/>
              </a:ext>
            </a:extLst>
          </p:cNvPr>
          <p:cNvSpPr txBox="1">
            <a:spLocks noChangeArrowheads="1"/>
          </p:cNvSpPr>
          <p:nvPr/>
        </p:nvSpPr>
        <p:spPr bwMode="auto">
          <a:xfrm>
            <a:off x="480447" y="3710317"/>
            <a:ext cx="40375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Bef>
                <a:spcPct val="50000"/>
              </a:spcBef>
            </a:pPr>
            <a:r>
              <a:rPr lang="en-US" altLang="en-US" sz="2800" dirty="0">
                <a:solidFill>
                  <a:srgbClr val="FF6600"/>
                </a:solidFill>
              </a:rPr>
              <a:t>set of even outcomes:</a:t>
            </a:r>
            <a:endParaRPr lang="en-GB" altLang="en-US" sz="2800" dirty="0">
              <a:solidFill>
                <a:srgbClr val="FF6600"/>
              </a:solidFill>
            </a:endParaRPr>
          </a:p>
        </p:txBody>
      </p:sp>
      <p:sp>
        <p:nvSpPr>
          <p:cNvPr id="211985" name="Text Box 24">
            <a:extLst>
              <a:ext uri="{FF2B5EF4-FFF2-40B4-BE49-F238E27FC236}">
                <a16:creationId xmlns:a16="http://schemas.microsoft.com/office/drawing/2014/main" id="{0B5C9303-04D4-A44D-4ADD-651CE3CA72A5}"/>
              </a:ext>
            </a:extLst>
          </p:cNvPr>
          <p:cNvSpPr txBox="1">
            <a:spLocks noChangeArrowheads="1"/>
          </p:cNvSpPr>
          <p:nvPr/>
        </p:nvSpPr>
        <p:spPr bwMode="auto">
          <a:xfrm>
            <a:off x="991893" y="4135439"/>
            <a:ext cx="35261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Bef>
                <a:spcPct val="50000"/>
              </a:spcBef>
            </a:pPr>
            <a:r>
              <a:rPr lang="en-US" altLang="en-US" sz="2800" dirty="0">
                <a:solidFill>
                  <a:srgbClr val="FF6600"/>
                </a:solidFill>
              </a:rPr>
              <a:t>complement of set:</a:t>
            </a:r>
            <a:endParaRPr lang="en-GB" altLang="en-US" sz="2800" dirty="0">
              <a:solidFill>
                <a:srgbClr val="FF6600"/>
              </a:solidFill>
            </a:endParaRPr>
          </a:p>
        </p:txBody>
      </p:sp>
      <p:sp>
        <p:nvSpPr>
          <p:cNvPr id="3" name="Slide Number Placeholder 2"/>
          <p:cNvSpPr>
            <a:spLocks noGrp="1"/>
          </p:cNvSpPr>
          <p:nvPr>
            <p:ph type="sldNum" sz="quarter" idx="12"/>
          </p:nvPr>
        </p:nvSpPr>
        <p:spPr/>
        <p:txBody>
          <a:bodyPr/>
          <a:lstStyle/>
          <a:p>
            <a:fld id="{8D75522D-3DA1-4E7C-B84B-2130C32BB93F}" type="slidenum">
              <a:rPr lang="en-GB" smtClean="0"/>
              <a:t>13</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9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11982"/>
                                        </p:tgtEl>
                                        <p:attrNameLst>
                                          <p:attrName>style.visibility</p:attrName>
                                        </p:attrNameLst>
                                      </p:cBhvr>
                                      <p:to>
                                        <p:strVal val="visible"/>
                                      </p:to>
                                    </p:set>
                                    <p:animEffect transition="in" filter="wipe(left)">
                                      <p:cBhvr>
                                        <p:cTn id="11" dur="500"/>
                                        <p:tgtEl>
                                          <p:spTgt spid="211982"/>
                                        </p:tgtEl>
                                      </p:cBhvr>
                                    </p:animEffect>
                                  </p:childTnLst>
                                </p:cTn>
                              </p:par>
                            </p:childTnLst>
                          </p:cTn>
                        </p:par>
                        <p:par>
                          <p:cTn id="12" fill="hold" nodeType="afterGroup">
                            <p:stCondLst>
                              <p:cond delay="500"/>
                            </p:stCondLst>
                            <p:childTnLst>
                              <p:par>
                                <p:cTn id="13" presetID="22" presetClass="entr" presetSubtype="1" fill="hold" nodeType="afterEffect">
                                  <p:stCondLst>
                                    <p:cond delay="0"/>
                                  </p:stCondLst>
                                  <p:childTnLst>
                                    <p:set>
                                      <p:cBhvr>
                                        <p:cTn id="14" dur="1" fill="hold">
                                          <p:stCondLst>
                                            <p:cond delay="0"/>
                                          </p:stCondLst>
                                        </p:cTn>
                                        <p:tgtEl>
                                          <p:spTgt spid="211979"/>
                                        </p:tgtEl>
                                        <p:attrNameLst>
                                          <p:attrName>style.visibility</p:attrName>
                                        </p:attrNameLst>
                                      </p:cBhvr>
                                      <p:to>
                                        <p:strVal val="visible"/>
                                      </p:to>
                                    </p:set>
                                    <p:animEffect transition="in" filter="wipe(up)">
                                      <p:cBhvr>
                                        <p:cTn id="15" dur="500"/>
                                        <p:tgtEl>
                                          <p:spTgt spid="21197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1198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1199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11974"/>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1198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11980"/>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211991"/>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211986"/>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1198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11978"/>
                                        </p:tgtEl>
                                        <p:attrNameLst>
                                          <p:attrName>style.visibility</p:attrName>
                                        </p:attrNameLst>
                                      </p:cBhvr>
                                      <p:to>
                                        <p:strVal val="visible"/>
                                      </p:to>
                                    </p:set>
                                  </p:childTnLst>
                                </p:cTn>
                              </p:par>
                              <p:par>
                                <p:cTn id="40" presetID="1" presetClass="exit" presetSubtype="0" fill="hold" nodeType="withEffect">
                                  <p:stCondLst>
                                    <p:cond delay="0"/>
                                  </p:stCondLst>
                                  <p:childTnLst>
                                    <p:set>
                                      <p:cBhvr>
                                        <p:cTn id="41" dur="1" fill="hold">
                                          <p:stCondLst>
                                            <p:cond delay="0"/>
                                          </p:stCondLst>
                                        </p:cTn>
                                        <p:tgtEl>
                                          <p:spTgt spid="211986"/>
                                        </p:tgtEl>
                                        <p:attrNameLst>
                                          <p:attrName>style.visibility</p:attrName>
                                        </p:attrNameLst>
                                      </p:cBhvr>
                                      <p:to>
                                        <p:strVal val="hidden"/>
                                      </p:to>
                                    </p:set>
                                  </p:childTnLst>
                                </p:cTn>
                              </p:par>
                              <p:par>
                                <p:cTn id="42" presetID="1" presetClass="entr" presetSubtype="0" fill="hold" nodeType="withEffect">
                                  <p:stCondLst>
                                    <p:cond delay="0"/>
                                  </p:stCondLst>
                                  <p:childTnLst>
                                    <p:set>
                                      <p:cBhvr>
                                        <p:cTn id="43" dur="1" fill="hold">
                                          <p:stCondLst>
                                            <p:cond delay="0"/>
                                          </p:stCondLst>
                                        </p:cTn>
                                        <p:tgtEl>
                                          <p:spTgt spid="211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4" grpId="0"/>
      <p:bldP spid="211975" grpId="0"/>
      <p:bldP spid="211978" grpId="0"/>
      <p:bldP spid="211980" grpId="0"/>
      <p:bldP spid="211982" grpId="0"/>
      <p:bldP spid="211983" grpId="0"/>
      <p:bldP spid="211984" grpId="0"/>
      <p:bldP spid="21198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53" name="Rectangle 21">
            <a:extLst>
              <a:ext uri="{FF2B5EF4-FFF2-40B4-BE49-F238E27FC236}">
                <a16:creationId xmlns:a16="http://schemas.microsoft.com/office/drawing/2014/main" id="{AF088C1E-FC18-40B6-F9F6-D06F409AE9FE}"/>
              </a:ext>
            </a:extLst>
          </p:cNvPr>
          <p:cNvSpPr>
            <a:spLocks noChangeArrowheads="1"/>
          </p:cNvSpPr>
          <p:nvPr/>
        </p:nvSpPr>
        <p:spPr bwMode="auto">
          <a:xfrm>
            <a:off x="1032501" y="4269821"/>
            <a:ext cx="6747648" cy="208653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3235" name="Text Box 24">
            <a:extLst>
              <a:ext uri="{FF2B5EF4-FFF2-40B4-BE49-F238E27FC236}">
                <a16:creationId xmlns:a16="http://schemas.microsoft.com/office/drawing/2014/main" id="{D3814971-5B06-67C0-759C-F30516D22DFC}"/>
              </a:ext>
            </a:extLst>
          </p:cNvPr>
          <p:cNvSpPr txBox="1">
            <a:spLocks noChangeArrowheads="1"/>
          </p:cNvSpPr>
          <p:nvPr/>
        </p:nvSpPr>
        <p:spPr bwMode="auto">
          <a:xfrm>
            <a:off x="1172573" y="5634526"/>
            <a:ext cx="65614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GB" altLang="en-US" sz="2800" b="1" i="1" dirty="0">
                <a:solidFill>
                  <a:srgbClr val="000066"/>
                </a:solidFill>
                <a:latin typeface="Times New Roman" panose="02020603050405020304" pitchFamily="18" charset="0"/>
              </a:rPr>
              <a:t>A </a:t>
            </a:r>
            <a:r>
              <a:rPr lang="en-GB" altLang="en-US" sz="2800" b="1" dirty="0">
                <a:solidFill>
                  <a:srgbClr val="000066"/>
                </a:solidFill>
                <a:latin typeface="Lucida Sans Unicode" panose="020B0602030504020204" pitchFamily="34" charset="0"/>
                <a:cs typeface="Lucida Sans Unicode" panose="020B0602030504020204" pitchFamily="34" charset="0"/>
              </a:rPr>
              <a:t>∪ </a:t>
            </a:r>
            <a:r>
              <a:rPr lang="en-GB" altLang="en-US" sz="2800" b="1" i="1" dirty="0">
                <a:solidFill>
                  <a:srgbClr val="000066"/>
                </a:solidFill>
                <a:latin typeface="Times New Roman" panose="02020603050405020304" pitchFamily="18" charset="0"/>
                <a:cs typeface="Lucida Sans Unicode" panose="020B0602030504020204" pitchFamily="34" charset="0"/>
              </a:rPr>
              <a:t>B</a:t>
            </a:r>
            <a:r>
              <a:rPr lang="en-GB" altLang="en-US" sz="2800" b="1" dirty="0">
                <a:solidFill>
                  <a:srgbClr val="000066"/>
                </a:solidFill>
                <a:cs typeface="Lucida Sans Unicode" panose="020B0602030504020204" pitchFamily="34" charset="0"/>
              </a:rPr>
              <a:t>  =  {1, 2, 3, 4, 5, 6, 7, 8, 9, 10, 11}</a:t>
            </a:r>
          </a:p>
        </p:txBody>
      </p:sp>
      <p:sp>
        <p:nvSpPr>
          <p:cNvPr id="223236" name="Rectangle 4">
            <a:extLst>
              <a:ext uri="{FF2B5EF4-FFF2-40B4-BE49-F238E27FC236}">
                <a16:creationId xmlns:a16="http://schemas.microsoft.com/office/drawing/2014/main" id="{33C8801B-B885-8A82-A38C-DCBDE3C86C9B}"/>
              </a:ext>
            </a:extLst>
          </p:cNvPr>
          <p:cNvSpPr>
            <a:spLocks noGrp="1" noChangeArrowheads="1"/>
          </p:cNvSpPr>
          <p:nvPr>
            <p:ph type="title" idx="4294967295"/>
          </p:nvPr>
        </p:nvSpPr>
        <p:spPr>
          <a:xfrm>
            <a:off x="1024900" y="342903"/>
            <a:ext cx="8229600" cy="608013"/>
          </a:xfrm>
        </p:spPr>
        <p:txBody>
          <a:bodyPr>
            <a:normAutofit fontScale="90000"/>
          </a:bodyPr>
          <a:lstStyle/>
          <a:p>
            <a:r>
              <a:rPr lang="en-GB" altLang="en-US" b="1" dirty="0">
                <a:latin typeface="Calibri" panose="020F0502020204030204" pitchFamily="34" charset="0"/>
                <a:cs typeface="Calibri" panose="020F0502020204030204" pitchFamily="34" charset="0"/>
              </a:rPr>
              <a:t>Unions</a:t>
            </a:r>
          </a:p>
        </p:txBody>
      </p:sp>
      <p:pic>
        <p:nvPicPr>
          <p:cNvPr id="223237" name="Picture 5">
            <a:hlinkClick r:id="" action="ppaction://hlinkshowjump?jump=nextslide"/>
            <a:extLst>
              <a:ext uri="{FF2B5EF4-FFF2-40B4-BE49-F238E27FC236}">
                <a16:creationId xmlns:a16="http://schemas.microsoft.com/office/drawing/2014/main" id="{C4D2EF01-311F-B857-79DA-436A9BC3F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0796" y="6254670"/>
            <a:ext cx="63023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248" name="Text Box 24">
            <a:extLst>
              <a:ext uri="{FF2B5EF4-FFF2-40B4-BE49-F238E27FC236}">
                <a16:creationId xmlns:a16="http://schemas.microsoft.com/office/drawing/2014/main" id="{BF8C7B95-8781-ADEB-3D50-7921B58BDEC3}"/>
              </a:ext>
            </a:extLst>
          </p:cNvPr>
          <p:cNvSpPr txBox="1">
            <a:spLocks noChangeArrowheads="1"/>
          </p:cNvSpPr>
          <p:nvPr/>
        </p:nvSpPr>
        <p:spPr bwMode="auto">
          <a:xfrm>
            <a:off x="1014492" y="1085638"/>
            <a:ext cx="98414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The </a:t>
            </a:r>
            <a:r>
              <a:rPr lang="en-US" altLang="en-US" sz="2400" b="1" dirty="0">
                <a:solidFill>
                  <a:srgbClr val="FF6600"/>
                </a:solidFill>
              </a:rPr>
              <a:t>union</a:t>
            </a:r>
            <a:r>
              <a:rPr lang="en-US" altLang="en-US" sz="2400" dirty="0">
                <a:solidFill>
                  <a:srgbClr val="000066"/>
                </a:solidFill>
              </a:rPr>
              <a:t> of two or more sets contains all the elements in all the sets. </a:t>
            </a:r>
            <a:endParaRPr lang="en-GB" altLang="en-US" sz="2400" dirty="0">
              <a:solidFill>
                <a:srgbClr val="000066"/>
              </a:solidFill>
            </a:endParaRPr>
          </a:p>
        </p:txBody>
      </p:sp>
      <p:sp>
        <p:nvSpPr>
          <p:cNvPr id="223249" name="Text Box 17">
            <a:extLst>
              <a:ext uri="{FF2B5EF4-FFF2-40B4-BE49-F238E27FC236}">
                <a16:creationId xmlns:a16="http://schemas.microsoft.com/office/drawing/2014/main" id="{D5A3C84B-8684-E527-40E8-C431FAE0DE36}"/>
              </a:ext>
            </a:extLst>
          </p:cNvPr>
          <p:cNvSpPr txBox="1">
            <a:spLocks noChangeArrowheads="1"/>
          </p:cNvSpPr>
          <p:nvPr/>
        </p:nvSpPr>
        <p:spPr bwMode="auto">
          <a:xfrm>
            <a:off x="1014492" y="2619083"/>
            <a:ext cx="673344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dirty="0">
                <a:solidFill>
                  <a:srgbClr val="000066"/>
                </a:solidFill>
                <a:latin typeface="Calibri" panose="020F0502020204030204" pitchFamily="34" charset="0"/>
                <a:cs typeface="Calibri" panose="020F0502020204030204" pitchFamily="34" charset="0"/>
              </a:rPr>
              <a:t>Unions of sets are denoted by the symbol ∪. </a:t>
            </a:r>
          </a:p>
        </p:txBody>
      </p:sp>
      <p:sp>
        <p:nvSpPr>
          <p:cNvPr id="223252" name="Text Box 24">
            <a:extLst>
              <a:ext uri="{FF2B5EF4-FFF2-40B4-BE49-F238E27FC236}">
                <a16:creationId xmlns:a16="http://schemas.microsoft.com/office/drawing/2014/main" id="{0FB4E4AF-699C-A19E-F91F-43187363E1E2}"/>
              </a:ext>
            </a:extLst>
          </p:cNvPr>
          <p:cNvSpPr txBox="1">
            <a:spLocks noChangeArrowheads="1"/>
          </p:cNvSpPr>
          <p:nvPr/>
        </p:nvSpPr>
        <p:spPr bwMode="auto">
          <a:xfrm>
            <a:off x="1024900" y="3118033"/>
            <a:ext cx="97135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b="1" dirty="0">
                <a:solidFill>
                  <a:srgbClr val="000066"/>
                </a:solidFill>
              </a:rPr>
              <a:t>What is the union of set </a:t>
            </a:r>
            <a:r>
              <a:rPr lang="en-US" altLang="en-US" sz="3200" b="1" i="1" dirty="0">
                <a:solidFill>
                  <a:srgbClr val="000066"/>
                </a:solidFill>
                <a:latin typeface="Times New Roman" panose="02020603050405020304" pitchFamily="18" charset="0"/>
              </a:rPr>
              <a:t>A</a:t>
            </a:r>
            <a:r>
              <a:rPr lang="en-US" altLang="en-US" sz="2400" b="1" dirty="0">
                <a:solidFill>
                  <a:srgbClr val="000066"/>
                </a:solidFill>
              </a:rPr>
              <a:t>, the outcomes of rolling a dice, and set </a:t>
            </a:r>
            <a:r>
              <a:rPr lang="en-US" altLang="en-US" sz="3200" b="1" i="1" dirty="0">
                <a:solidFill>
                  <a:srgbClr val="000066"/>
                </a:solidFill>
                <a:latin typeface="Times New Roman" panose="02020603050405020304" pitchFamily="18" charset="0"/>
              </a:rPr>
              <a:t>B</a:t>
            </a:r>
            <a:r>
              <a:rPr lang="en-US" altLang="en-US" sz="2400" b="1" dirty="0">
                <a:solidFill>
                  <a:srgbClr val="000066"/>
                </a:solidFill>
              </a:rPr>
              <a:t>, all positive integers between 7 and 11?</a:t>
            </a:r>
            <a:endParaRPr lang="en-GB" altLang="en-US" sz="2400" b="1" dirty="0">
              <a:solidFill>
                <a:srgbClr val="000066"/>
              </a:solidFill>
            </a:endParaRPr>
          </a:p>
        </p:txBody>
      </p:sp>
      <p:sp>
        <p:nvSpPr>
          <p:cNvPr id="223254" name="Text Box 22">
            <a:extLst>
              <a:ext uri="{FF2B5EF4-FFF2-40B4-BE49-F238E27FC236}">
                <a16:creationId xmlns:a16="http://schemas.microsoft.com/office/drawing/2014/main" id="{FAA738B2-A362-4D0D-814B-3B7E91828EBE}"/>
              </a:ext>
            </a:extLst>
          </p:cNvPr>
          <p:cNvSpPr txBox="1">
            <a:spLocks noChangeArrowheads="1"/>
          </p:cNvSpPr>
          <p:nvPr/>
        </p:nvSpPr>
        <p:spPr bwMode="auto">
          <a:xfrm>
            <a:off x="1172573" y="4332837"/>
            <a:ext cx="370159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dirty="0">
                <a:solidFill>
                  <a:srgbClr val="FF6600"/>
                </a:solidFill>
                <a:latin typeface="Calibri" panose="020F0502020204030204" pitchFamily="34" charset="0"/>
                <a:cs typeface="Calibri" panose="020F0502020204030204" pitchFamily="34" charset="0"/>
              </a:rPr>
              <a:t>set </a:t>
            </a:r>
            <a:r>
              <a:rPr lang="en-GB" altLang="en-US" sz="2800" i="1" dirty="0">
                <a:solidFill>
                  <a:srgbClr val="FF6600"/>
                </a:solidFill>
                <a:latin typeface="Calibri" panose="020F0502020204030204" pitchFamily="34" charset="0"/>
                <a:cs typeface="Calibri" panose="020F0502020204030204" pitchFamily="34" charset="0"/>
              </a:rPr>
              <a:t>A</a:t>
            </a:r>
            <a:r>
              <a:rPr lang="en-GB" altLang="en-US" sz="2800" i="1" dirty="0">
                <a:latin typeface="Calibri" panose="020F0502020204030204" pitchFamily="34" charset="0"/>
                <a:cs typeface="Calibri" panose="020F0502020204030204" pitchFamily="34" charset="0"/>
              </a:rPr>
              <a:t> </a:t>
            </a:r>
            <a:r>
              <a:rPr lang="en-GB" altLang="en-US" sz="2800" dirty="0">
                <a:latin typeface="Calibri" panose="020F0502020204030204" pitchFamily="34" charset="0"/>
                <a:cs typeface="Calibri" panose="020F0502020204030204" pitchFamily="34" charset="0"/>
              </a:rPr>
              <a:t> =  {1, 2, 3, 4, 5, 6}</a:t>
            </a:r>
          </a:p>
        </p:txBody>
      </p:sp>
      <p:sp>
        <p:nvSpPr>
          <p:cNvPr id="223255" name="Text Box 23">
            <a:extLst>
              <a:ext uri="{FF2B5EF4-FFF2-40B4-BE49-F238E27FC236}">
                <a16:creationId xmlns:a16="http://schemas.microsoft.com/office/drawing/2014/main" id="{3E298997-C68C-BD9C-FCF0-6D25E5DC1CE9}"/>
              </a:ext>
            </a:extLst>
          </p:cNvPr>
          <p:cNvSpPr txBox="1">
            <a:spLocks noChangeArrowheads="1"/>
          </p:cNvSpPr>
          <p:nvPr/>
        </p:nvSpPr>
        <p:spPr bwMode="auto">
          <a:xfrm>
            <a:off x="1172573" y="4995775"/>
            <a:ext cx="370806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dirty="0">
                <a:solidFill>
                  <a:srgbClr val="FF6600"/>
                </a:solidFill>
                <a:latin typeface="Calibri" panose="020F0502020204030204" pitchFamily="34" charset="0"/>
                <a:cs typeface="Calibri" panose="020F0502020204030204" pitchFamily="34" charset="0"/>
              </a:rPr>
              <a:t>set </a:t>
            </a:r>
            <a:r>
              <a:rPr lang="en-GB" altLang="en-US" sz="2800" i="1" dirty="0">
                <a:solidFill>
                  <a:srgbClr val="FF6600"/>
                </a:solidFill>
                <a:latin typeface="Calibri" panose="020F0502020204030204" pitchFamily="34" charset="0"/>
                <a:cs typeface="Calibri" panose="020F0502020204030204" pitchFamily="34" charset="0"/>
              </a:rPr>
              <a:t>B</a:t>
            </a:r>
            <a:r>
              <a:rPr lang="en-GB" altLang="en-US" sz="2800" dirty="0">
                <a:solidFill>
                  <a:srgbClr val="FF6600"/>
                </a:solidFill>
                <a:latin typeface="Calibri" panose="020F0502020204030204" pitchFamily="34" charset="0"/>
                <a:cs typeface="Calibri" panose="020F0502020204030204" pitchFamily="34" charset="0"/>
              </a:rPr>
              <a:t> </a:t>
            </a:r>
            <a:r>
              <a:rPr lang="en-GB" altLang="en-US" sz="2800" dirty="0">
                <a:latin typeface="Calibri" panose="020F0502020204030204" pitchFamily="34" charset="0"/>
                <a:cs typeface="Calibri" panose="020F0502020204030204" pitchFamily="34" charset="0"/>
              </a:rPr>
              <a:t> =  {7, 8, 9, 10, 11}</a:t>
            </a:r>
          </a:p>
        </p:txBody>
      </p:sp>
      <p:sp>
        <p:nvSpPr>
          <p:cNvPr id="223257" name="Rectangle 25">
            <a:extLst>
              <a:ext uri="{FF2B5EF4-FFF2-40B4-BE49-F238E27FC236}">
                <a16:creationId xmlns:a16="http://schemas.microsoft.com/office/drawing/2014/main" id="{023A125B-3D52-A4B6-1A3A-66B205D0CA01}"/>
              </a:ext>
            </a:extLst>
          </p:cNvPr>
          <p:cNvSpPr>
            <a:spLocks noChangeArrowheads="1"/>
          </p:cNvSpPr>
          <p:nvPr/>
        </p:nvSpPr>
        <p:spPr bwMode="auto">
          <a:xfrm>
            <a:off x="1032501" y="1558518"/>
            <a:ext cx="1014219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800" dirty="0">
                <a:solidFill>
                  <a:srgbClr val="000066"/>
                </a:solidFill>
                <a:latin typeface="Calibri" panose="020F0502020204030204" pitchFamily="34" charset="0"/>
                <a:cs typeface="Calibri" panose="020F0502020204030204" pitchFamily="34" charset="0"/>
              </a:rPr>
              <a:t>The union of sets </a:t>
            </a:r>
            <a:r>
              <a:rPr lang="en-US" altLang="en-US" sz="3600" i="1" dirty="0">
                <a:solidFill>
                  <a:srgbClr val="000066"/>
                </a:solidFill>
                <a:latin typeface="Calibri" panose="020F0502020204030204" pitchFamily="34" charset="0"/>
                <a:cs typeface="Calibri" panose="020F0502020204030204" pitchFamily="34" charset="0"/>
              </a:rPr>
              <a:t>A</a:t>
            </a:r>
            <a:r>
              <a:rPr lang="en-US" altLang="en-US" sz="2800" dirty="0">
                <a:solidFill>
                  <a:srgbClr val="000066"/>
                </a:solidFill>
                <a:latin typeface="Calibri" panose="020F0502020204030204" pitchFamily="34" charset="0"/>
                <a:cs typeface="Calibri" panose="020F0502020204030204" pitchFamily="34" charset="0"/>
              </a:rPr>
              <a:t> and </a:t>
            </a:r>
            <a:r>
              <a:rPr lang="en-US" altLang="en-US" sz="3600" i="1" dirty="0">
                <a:solidFill>
                  <a:srgbClr val="000066"/>
                </a:solidFill>
                <a:latin typeface="Calibri" panose="020F0502020204030204" pitchFamily="34" charset="0"/>
                <a:cs typeface="Calibri" panose="020F0502020204030204" pitchFamily="34" charset="0"/>
              </a:rPr>
              <a:t>B</a:t>
            </a:r>
            <a:r>
              <a:rPr lang="en-US" altLang="en-US" sz="2800" dirty="0">
                <a:solidFill>
                  <a:srgbClr val="000066"/>
                </a:solidFill>
                <a:latin typeface="Calibri" panose="020F0502020204030204" pitchFamily="34" charset="0"/>
                <a:cs typeface="Calibri" panose="020F0502020204030204" pitchFamily="34" charset="0"/>
              </a:rPr>
              <a:t> is the elements in either set </a:t>
            </a:r>
            <a:r>
              <a:rPr lang="en-US" altLang="en-US" sz="3600" i="1" dirty="0">
                <a:solidFill>
                  <a:srgbClr val="000066"/>
                </a:solidFill>
                <a:latin typeface="Calibri" panose="020F0502020204030204" pitchFamily="34" charset="0"/>
                <a:cs typeface="Calibri" panose="020F0502020204030204" pitchFamily="34" charset="0"/>
              </a:rPr>
              <a:t>A</a:t>
            </a:r>
            <a:r>
              <a:rPr lang="en-US" altLang="en-US" sz="2800" dirty="0">
                <a:solidFill>
                  <a:srgbClr val="000066"/>
                </a:solidFill>
                <a:latin typeface="Calibri" panose="020F0502020204030204" pitchFamily="34" charset="0"/>
                <a:cs typeface="Calibri" panose="020F0502020204030204" pitchFamily="34" charset="0"/>
              </a:rPr>
              <a:t> </a:t>
            </a:r>
            <a:r>
              <a:rPr lang="en-US" altLang="en-US" sz="2800" b="1" dirty="0">
                <a:solidFill>
                  <a:srgbClr val="000066"/>
                </a:solidFill>
                <a:latin typeface="Calibri" panose="020F0502020204030204" pitchFamily="34" charset="0"/>
                <a:cs typeface="Calibri" panose="020F0502020204030204" pitchFamily="34" charset="0"/>
              </a:rPr>
              <a:t>or </a:t>
            </a:r>
            <a:r>
              <a:rPr lang="en-US" altLang="en-US" sz="3600" i="1" dirty="0">
                <a:solidFill>
                  <a:srgbClr val="000066"/>
                </a:solidFill>
                <a:latin typeface="Calibri" panose="020F0502020204030204" pitchFamily="34" charset="0"/>
                <a:cs typeface="Calibri" panose="020F0502020204030204" pitchFamily="34" charset="0"/>
              </a:rPr>
              <a:t>B </a:t>
            </a:r>
            <a:r>
              <a:rPr lang="en-US" altLang="en-US" sz="2800" b="1" dirty="0">
                <a:solidFill>
                  <a:srgbClr val="000066"/>
                </a:solidFill>
                <a:latin typeface="Calibri" panose="020F0502020204030204" pitchFamily="34" charset="0"/>
                <a:cs typeface="Calibri" panose="020F0502020204030204" pitchFamily="34" charset="0"/>
              </a:rPr>
              <a:t>or</a:t>
            </a:r>
            <a:r>
              <a:rPr lang="en-US" altLang="en-US" sz="2800" dirty="0">
                <a:solidFill>
                  <a:srgbClr val="000066"/>
                </a:solidFill>
                <a:latin typeface="Calibri" panose="020F0502020204030204" pitchFamily="34" charset="0"/>
                <a:cs typeface="Calibri" panose="020F0502020204030204" pitchFamily="34" charset="0"/>
              </a:rPr>
              <a:t> both.</a:t>
            </a:r>
            <a:endParaRPr lang="en-GB" altLang="en-US" sz="2800" dirty="0">
              <a:solidFill>
                <a:srgbClr val="000066"/>
              </a:solidFill>
              <a:latin typeface="Calibri" panose="020F0502020204030204" pitchFamily="34" charset="0"/>
              <a:cs typeface="Calibri" panose="020F0502020204030204" pitchFamily="34" charset="0"/>
            </a:endParaRPr>
          </a:p>
        </p:txBody>
      </p:sp>
      <p:pic>
        <p:nvPicPr>
          <p:cNvPr id="223269" name="Picture 37">
            <a:extLst>
              <a:ext uri="{FF2B5EF4-FFF2-40B4-BE49-F238E27FC236}">
                <a16:creationId xmlns:a16="http://schemas.microsoft.com/office/drawing/2014/main" id="{AC2BE6CF-52AA-2C11-1321-424D84EB77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76415" y="4308146"/>
            <a:ext cx="1528762" cy="1528763"/>
          </a:xfrm>
          <a:prstGeom prst="rect">
            <a:avLst/>
          </a:prstGeom>
          <a:noFill/>
          <a:extLst>
            <a:ext uri="{909E8E84-426E-40DD-AFC4-6F175D3DCCD1}">
              <a14:hiddenFill xmlns:a14="http://schemas.microsoft.com/office/drawing/2010/main">
                <a:solidFill>
                  <a:srgbClr val="FFFFFF"/>
                </a:solidFill>
              </a14:hiddenFill>
            </a:ext>
          </a:extLst>
        </p:spPr>
      </p:pic>
      <p:pic>
        <p:nvPicPr>
          <p:cNvPr id="223270" name="Picture 38">
            <a:extLst>
              <a:ext uri="{FF2B5EF4-FFF2-40B4-BE49-F238E27FC236}">
                <a16:creationId xmlns:a16="http://schemas.microsoft.com/office/drawing/2014/main" id="{E0B09C7B-FBF0-508E-A712-BCD675F387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0062" y="4332837"/>
            <a:ext cx="1528762" cy="152876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D75522D-3DA1-4E7C-B84B-2130C32BB93F}" type="slidenum">
              <a:rPr lang="en-GB" smtClean="0"/>
              <a:t>14</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32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32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3252"/>
                                        </p:tgtEl>
                                        <p:attrNameLst>
                                          <p:attrName>style.visibility</p:attrName>
                                        </p:attrNameLst>
                                      </p:cBhvr>
                                      <p:to>
                                        <p:strVal val="visible"/>
                                      </p:to>
                                    </p:set>
                                    <p:animEffect transition="in" filter="wipe(left)">
                                      <p:cBhvr>
                                        <p:cTn id="15" dur="500"/>
                                        <p:tgtEl>
                                          <p:spTgt spid="223252"/>
                                        </p:tgtEl>
                                      </p:cBhvr>
                                    </p:animEffect>
                                  </p:childTnLst>
                                </p:cTn>
                              </p:par>
                            </p:childTnLst>
                          </p:cTn>
                        </p:par>
                        <p:par>
                          <p:cTn id="16" fill="hold" nodeType="afterGroup">
                            <p:stCondLst>
                              <p:cond delay="500"/>
                            </p:stCondLst>
                            <p:childTnLst>
                              <p:par>
                                <p:cTn id="17" presetID="1" presetClass="entr" presetSubtype="0" fill="hold" nodeType="afterEffect">
                                  <p:stCondLst>
                                    <p:cond delay="0"/>
                                  </p:stCondLst>
                                  <p:childTnLst>
                                    <p:set>
                                      <p:cBhvr>
                                        <p:cTn id="18" dur="1" fill="hold">
                                          <p:stCondLst>
                                            <p:cond delay="0"/>
                                          </p:stCondLst>
                                        </p:cTn>
                                        <p:tgtEl>
                                          <p:spTgt spid="2232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326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23253"/>
                                        </p:tgtEl>
                                        <p:attrNameLst>
                                          <p:attrName>style.visibility</p:attrName>
                                        </p:attrNameLst>
                                      </p:cBhvr>
                                      <p:to>
                                        <p:strVal val="visible"/>
                                      </p:to>
                                    </p:set>
                                    <p:animEffect transition="in" filter="wipe(up)">
                                      <p:cBhvr>
                                        <p:cTn id="25" dur="500"/>
                                        <p:tgtEl>
                                          <p:spTgt spid="223253"/>
                                        </p:tgtEl>
                                      </p:cBhvr>
                                    </p:animEffect>
                                  </p:childTnLst>
                                </p:cTn>
                              </p:par>
                            </p:childTnLst>
                          </p:cTn>
                        </p:par>
                        <p:par>
                          <p:cTn id="26" fill="hold" nodeType="afterGroup">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22325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325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3235"/>
                                        </p:tgtEl>
                                        <p:attrNameLst>
                                          <p:attrName>style.visibility</p:attrName>
                                        </p:attrNameLst>
                                      </p:cBhvr>
                                      <p:to>
                                        <p:strVal val="visible"/>
                                      </p:to>
                                    </p:set>
                                  </p:childTnLst>
                                </p:cTn>
                              </p:par>
                            </p:childTnLst>
                          </p:cTn>
                        </p:par>
                        <p:par>
                          <p:cTn id="37" fill="hold" nodeType="afterGroup">
                            <p:stCondLst>
                              <p:cond delay="0"/>
                            </p:stCondLst>
                            <p:childTnLst>
                              <p:par>
                                <p:cTn id="38" presetID="1" presetClass="entr" presetSubtype="0" fill="hold" nodeType="afterEffect">
                                  <p:stCondLst>
                                    <p:cond delay="0"/>
                                  </p:stCondLst>
                                  <p:childTnLst>
                                    <p:set>
                                      <p:cBhvr>
                                        <p:cTn id="39" dur="1" fill="hold">
                                          <p:stCondLst>
                                            <p:cond delay="0"/>
                                          </p:stCondLst>
                                        </p:cTn>
                                        <p:tgtEl>
                                          <p:spTgt spid="223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p:bldP spid="223249" grpId="0"/>
      <p:bldP spid="223252" grpId="0"/>
      <p:bldP spid="223254" grpId="0"/>
      <p:bldP spid="223255" grpId="0"/>
      <p:bldP spid="22325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3">
            <a:extLst>
              <a:ext uri="{FF2B5EF4-FFF2-40B4-BE49-F238E27FC236}">
                <a16:creationId xmlns:a16="http://schemas.microsoft.com/office/drawing/2014/main" id="{A7217BFC-F817-9050-DECB-51F136A361A6}"/>
              </a:ext>
            </a:extLst>
          </p:cNvPr>
          <p:cNvSpPr>
            <a:spLocks noGrp="1" noChangeArrowheads="1"/>
          </p:cNvSpPr>
          <p:nvPr>
            <p:ph type="title" idx="4294967295"/>
          </p:nvPr>
        </p:nvSpPr>
        <p:spPr>
          <a:xfrm>
            <a:off x="960893" y="141289"/>
            <a:ext cx="8229600" cy="608013"/>
          </a:xfrm>
        </p:spPr>
        <p:txBody>
          <a:bodyPr>
            <a:normAutofit fontScale="90000"/>
          </a:bodyPr>
          <a:lstStyle/>
          <a:p>
            <a:r>
              <a:rPr lang="en-GB" altLang="en-US" b="1" dirty="0">
                <a:latin typeface="Calibri" panose="020F0502020204030204" pitchFamily="34" charset="0"/>
                <a:cs typeface="Calibri" panose="020F0502020204030204" pitchFamily="34" charset="0"/>
              </a:rPr>
              <a:t>Intersections</a:t>
            </a:r>
          </a:p>
        </p:txBody>
      </p:sp>
      <p:pic>
        <p:nvPicPr>
          <p:cNvPr id="227332" name="Picture 4">
            <a:hlinkClick r:id="" action="ppaction://hlinkshowjump?jump=nextslide"/>
            <a:extLst>
              <a:ext uri="{FF2B5EF4-FFF2-40B4-BE49-F238E27FC236}">
                <a16:creationId xmlns:a16="http://schemas.microsoft.com/office/drawing/2014/main" id="{4D86C1E7-4C21-1288-EDAD-EE5B6B2F3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5152" y="6115804"/>
            <a:ext cx="63023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3" name="Text Box 24">
            <a:extLst>
              <a:ext uri="{FF2B5EF4-FFF2-40B4-BE49-F238E27FC236}">
                <a16:creationId xmlns:a16="http://schemas.microsoft.com/office/drawing/2014/main" id="{549EF4DB-9729-54AC-0843-C1F6EA18F107}"/>
              </a:ext>
            </a:extLst>
          </p:cNvPr>
          <p:cNvSpPr txBox="1">
            <a:spLocks noChangeArrowheads="1"/>
          </p:cNvSpPr>
          <p:nvPr/>
        </p:nvSpPr>
        <p:spPr bwMode="auto">
          <a:xfrm>
            <a:off x="960895" y="898525"/>
            <a:ext cx="97071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The </a:t>
            </a:r>
            <a:r>
              <a:rPr lang="en-US" altLang="en-US" sz="2400" b="1" dirty="0">
                <a:solidFill>
                  <a:srgbClr val="FF6600"/>
                </a:solidFill>
              </a:rPr>
              <a:t>intersection</a:t>
            </a:r>
            <a:r>
              <a:rPr lang="en-US" altLang="en-US" sz="2400" dirty="0">
                <a:solidFill>
                  <a:srgbClr val="000066"/>
                </a:solidFill>
              </a:rPr>
              <a:t> of two or more sets contains all the elements that are in all sets. </a:t>
            </a:r>
            <a:endParaRPr lang="en-GB" altLang="en-US" sz="2400" dirty="0">
              <a:solidFill>
                <a:srgbClr val="000066"/>
              </a:solidFill>
            </a:endParaRPr>
          </a:p>
        </p:txBody>
      </p:sp>
      <p:sp>
        <p:nvSpPr>
          <p:cNvPr id="227336" name="Text Box 8">
            <a:extLst>
              <a:ext uri="{FF2B5EF4-FFF2-40B4-BE49-F238E27FC236}">
                <a16:creationId xmlns:a16="http://schemas.microsoft.com/office/drawing/2014/main" id="{57948B70-DC08-5B3E-4B2C-4563D4C7302B}"/>
              </a:ext>
            </a:extLst>
          </p:cNvPr>
          <p:cNvSpPr txBox="1">
            <a:spLocks noChangeArrowheads="1"/>
          </p:cNvSpPr>
          <p:nvPr/>
        </p:nvSpPr>
        <p:spPr bwMode="auto">
          <a:xfrm>
            <a:off x="960894" y="2322513"/>
            <a:ext cx="94975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800" dirty="0">
                <a:solidFill>
                  <a:srgbClr val="000066"/>
                </a:solidFill>
                <a:latin typeface="Calibri" panose="020F0502020204030204" pitchFamily="34" charset="0"/>
                <a:cs typeface="Calibri" panose="020F0502020204030204" pitchFamily="34" charset="0"/>
              </a:rPr>
              <a:t>Intersections of sets are denoted by the symbol ∩. </a:t>
            </a:r>
          </a:p>
        </p:txBody>
      </p:sp>
      <p:sp>
        <p:nvSpPr>
          <p:cNvPr id="227338" name="Rectangle 10">
            <a:extLst>
              <a:ext uri="{FF2B5EF4-FFF2-40B4-BE49-F238E27FC236}">
                <a16:creationId xmlns:a16="http://schemas.microsoft.com/office/drawing/2014/main" id="{D5A899CE-6CF2-58CE-18BC-070BAAE51FD5}"/>
              </a:ext>
            </a:extLst>
          </p:cNvPr>
          <p:cNvSpPr>
            <a:spLocks noChangeArrowheads="1"/>
          </p:cNvSpPr>
          <p:nvPr/>
        </p:nvSpPr>
        <p:spPr bwMode="auto">
          <a:xfrm>
            <a:off x="960893" y="1704310"/>
            <a:ext cx="93086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800" dirty="0">
                <a:solidFill>
                  <a:srgbClr val="000066"/>
                </a:solidFill>
                <a:latin typeface="Calibri" panose="020F0502020204030204" pitchFamily="34" charset="0"/>
                <a:cs typeface="Calibri" panose="020F0502020204030204" pitchFamily="34" charset="0"/>
              </a:rPr>
              <a:t>For example, all the elements in set </a:t>
            </a:r>
            <a:r>
              <a:rPr lang="en-US" altLang="en-US" sz="3600" i="1" dirty="0">
                <a:solidFill>
                  <a:srgbClr val="000066"/>
                </a:solidFill>
                <a:latin typeface="Calibri" panose="020F0502020204030204" pitchFamily="34" charset="0"/>
                <a:cs typeface="Calibri" panose="020F0502020204030204" pitchFamily="34" charset="0"/>
              </a:rPr>
              <a:t>A</a:t>
            </a:r>
            <a:r>
              <a:rPr lang="en-US" altLang="en-US" sz="2800" dirty="0">
                <a:solidFill>
                  <a:srgbClr val="000066"/>
                </a:solidFill>
                <a:latin typeface="Calibri" panose="020F0502020204030204" pitchFamily="34" charset="0"/>
                <a:cs typeface="Calibri" panose="020F0502020204030204" pitchFamily="34" charset="0"/>
              </a:rPr>
              <a:t> </a:t>
            </a:r>
            <a:r>
              <a:rPr lang="en-US" altLang="en-US" sz="2800" b="1" dirty="0">
                <a:solidFill>
                  <a:srgbClr val="000066"/>
                </a:solidFill>
                <a:latin typeface="Calibri" panose="020F0502020204030204" pitchFamily="34" charset="0"/>
                <a:cs typeface="Calibri" panose="020F0502020204030204" pitchFamily="34" charset="0"/>
              </a:rPr>
              <a:t>and </a:t>
            </a:r>
            <a:r>
              <a:rPr lang="en-US" altLang="en-US" sz="3600" i="1" dirty="0">
                <a:solidFill>
                  <a:srgbClr val="000066"/>
                </a:solidFill>
                <a:latin typeface="Calibri" panose="020F0502020204030204" pitchFamily="34" charset="0"/>
                <a:cs typeface="Calibri" panose="020F0502020204030204" pitchFamily="34" charset="0"/>
              </a:rPr>
              <a:t>B</a:t>
            </a:r>
            <a:r>
              <a:rPr lang="en-US" altLang="en-US" sz="2800" dirty="0">
                <a:solidFill>
                  <a:srgbClr val="000066"/>
                </a:solidFill>
                <a:latin typeface="Calibri" panose="020F0502020204030204" pitchFamily="34" charset="0"/>
                <a:cs typeface="Calibri" panose="020F0502020204030204" pitchFamily="34" charset="0"/>
              </a:rPr>
              <a:t>.</a:t>
            </a:r>
            <a:endParaRPr lang="en-GB" altLang="en-US" sz="2800" dirty="0">
              <a:solidFill>
                <a:srgbClr val="000066"/>
              </a:solidFill>
              <a:latin typeface="Calibri" panose="020F0502020204030204" pitchFamily="34" charset="0"/>
              <a:cs typeface="Calibri" panose="020F0502020204030204" pitchFamily="34" charset="0"/>
            </a:endParaRPr>
          </a:p>
        </p:txBody>
      </p:sp>
      <p:sp>
        <p:nvSpPr>
          <p:cNvPr id="227340" name="Rectangle 12">
            <a:extLst>
              <a:ext uri="{FF2B5EF4-FFF2-40B4-BE49-F238E27FC236}">
                <a16:creationId xmlns:a16="http://schemas.microsoft.com/office/drawing/2014/main" id="{05A9C4BF-E8E5-3D14-F756-1A20C7EBAD60}"/>
              </a:ext>
            </a:extLst>
          </p:cNvPr>
          <p:cNvSpPr>
            <a:spLocks noChangeArrowheads="1"/>
          </p:cNvSpPr>
          <p:nvPr/>
        </p:nvSpPr>
        <p:spPr bwMode="auto">
          <a:xfrm>
            <a:off x="960893" y="4065632"/>
            <a:ext cx="4696957" cy="175701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42" name="Text Box 24">
            <a:extLst>
              <a:ext uri="{FF2B5EF4-FFF2-40B4-BE49-F238E27FC236}">
                <a16:creationId xmlns:a16="http://schemas.microsoft.com/office/drawing/2014/main" id="{1E13AF73-9EA8-5A59-14DE-B017871F9682}"/>
              </a:ext>
            </a:extLst>
          </p:cNvPr>
          <p:cNvSpPr txBox="1">
            <a:spLocks noChangeArrowheads="1"/>
          </p:cNvSpPr>
          <p:nvPr/>
        </p:nvSpPr>
        <p:spPr bwMode="auto">
          <a:xfrm>
            <a:off x="960893" y="2787651"/>
            <a:ext cx="1010489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b="1" dirty="0">
                <a:solidFill>
                  <a:srgbClr val="000066"/>
                </a:solidFill>
              </a:rPr>
              <a:t>What is the intersection of set </a:t>
            </a:r>
            <a:r>
              <a:rPr lang="en-US" altLang="en-US" sz="3200" b="1" i="1" dirty="0">
                <a:solidFill>
                  <a:srgbClr val="000066"/>
                </a:solidFill>
                <a:latin typeface="Times New Roman" panose="02020603050405020304" pitchFamily="18" charset="0"/>
              </a:rPr>
              <a:t>A</a:t>
            </a:r>
            <a:r>
              <a:rPr lang="en-US" altLang="en-US" sz="2400" b="1" dirty="0">
                <a:solidFill>
                  <a:srgbClr val="000066"/>
                </a:solidFill>
              </a:rPr>
              <a:t>, the outcomes of rolling a dice, and set </a:t>
            </a:r>
            <a:r>
              <a:rPr lang="en-US" altLang="en-US" sz="3200" b="1" i="1" dirty="0">
                <a:solidFill>
                  <a:srgbClr val="000066"/>
                </a:solidFill>
                <a:latin typeface="Times New Roman" panose="02020603050405020304" pitchFamily="18" charset="0"/>
              </a:rPr>
              <a:t>B</a:t>
            </a:r>
            <a:r>
              <a:rPr lang="en-US" altLang="en-US" sz="2400" b="1" dirty="0">
                <a:solidFill>
                  <a:srgbClr val="000066"/>
                </a:solidFill>
              </a:rPr>
              <a:t>, all positive integers between and inclusive of 4 and 9?</a:t>
            </a:r>
            <a:endParaRPr lang="en-GB" altLang="en-US" sz="2400" b="1" dirty="0">
              <a:solidFill>
                <a:srgbClr val="000066"/>
              </a:solidFill>
            </a:endParaRPr>
          </a:p>
        </p:txBody>
      </p:sp>
      <p:sp>
        <p:nvSpPr>
          <p:cNvPr id="227345" name="Text Box 24">
            <a:extLst>
              <a:ext uri="{FF2B5EF4-FFF2-40B4-BE49-F238E27FC236}">
                <a16:creationId xmlns:a16="http://schemas.microsoft.com/office/drawing/2014/main" id="{5C9131F4-213D-6410-88F9-1AFC1EE5EDC6}"/>
              </a:ext>
            </a:extLst>
          </p:cNvPr>
          <p:cNvSpPr txBox="1">
            <a:spLocks noChangeArrowheads="1"/>
          </p:cNvSpPr>
          <p:nvPr/>
        </p:nvSpPr>
        <p:spPr bwMode="auto">
          <a:xfrm>
            <a:off x="1531861" y="5162567"/>
            <a:ext cx="36920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GB" altLang="en-US" sz="2800" b="1" i="1" dirty="0">
                <a:solidFill>
                  <a:srgbClr val="000066"/>
                </a:solidFill>
                <a:latin typeface="Times New Roman" panose="02020603050405020304" pitchFamily="18" charset="0"/>
              </a:rPr>
              <a:t>A </a:t>
            </a:r>
            <a:r>
              <a:rPr lang="en-GB" altLang="en-US" sz="2400" b="1" dirty="0">
                <a:solidFill>
                  <a:srgbClr val="000066"/>
                </a:solidFill>
                <a:latin typeface="Lucida Sans Unicode" panose="020B0602030504020204" pitchFamily="34" charset="0"/>
                <a:cs typeface="Lucida Sans Unicode" panose="020B0602030504020204" pitchFamily="34" charset="0"/>
              </a:rPr>
              <a:t>∩</a:t>
            </a:r>
            <a:r>
              <a:rPr lang="en-GB" altLang="en-US" sz="2800" b="1" dirty="0">
                <a:solidFill>
                  <a:srgbClr val="000066"/>
                </a:solidFill>
                <a:latin typeface="Lucida Sans Unicode" panose="020B0602030504020204" pitchFamily="34" charset="0"/>
                <a:cs typeface="Lucida Sans Unicode" panose="020B0602030504020204" pitchFamily="34" charset="0"/>
              </a:rPr>
              <a:t> </a:t>
            </a:r>
            <a:r>
              <a:rPr lang="en-GB" altLang="en-US" sz="2800" b="1" i="1" dirty="0">
                <a:solidFill>
                  <a:srgbClr val="000066"/>
                </a:solidFill>
                <a:latin typeface="Times New Roman" panose="02020603050405020304" pitchFamily="18" charset="0"/>
                <a:cs typeface="Lucida Sans Unicode" panose="020B0602030504020204" pitchFamily="34" charset="0"/>
              </a:rPr>
              <a:t>B</a:t>
            </a:r>
            <a:r>
              <a:rPr lang="en-GB" altLang="en-US" sz="2800" b="1" dirty="0">
                <a:solidFill>
                  <a:srgbClr val="000066"/>
                </a:solidFill>
                <a:cs typeface="Lucida Sans Unicode" panose="020B0602030504020204" pitchFamily="34" charset="0"/>
              </a:rPr>
              <a:t>  =  {4, 5, 6,}</a:t>
            </a:r>
          </a:p>
        </p:txBody>
      </p:sp>
      <p:sp>
        <p:nvSpPr>
          <p:cNvPr id="227346" name="Text Box 18">
            <a:extLst>
              <a:ext uri="{FF2B5EF4-FFF2-40B4-BE49-F238E27FC236}">
                <a16:creationId xmlns:a16="http://schemas.microsoft.com/office/drawing/2014/main" id="{EDB747E6-AE96-2280-661F-C6E50B5C4BC2}"/>
              </a:ext>
            </a:extLst>
          </p:cNvPr>
          <p:cNvSpPr txBox="1">
            <a:spLocks noChangeArrowheads="1"/>
          </p:cNvSpPr>
          <p:nvPr/>
        </p:nvSpPr>
        <p:spPr bwMode="auto">
          <a:xfrm>
            <a:off x="960893" y="4039416"/>
            <a:ext cx="370159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dirty="0">
                <a:solidFill>
                  <a:srgbClr val="FF6600"/>
                </a:solidFill>
                <a:latin typeface="Calibri" panose="020F0502020204030204" pitchFamily="34" charset="0"/>
                <a:cs typeface="Calibri" panose="020F0502020204030204" pitchFamily="34" charset="0"/>
              </a:rPr>
              <a:t>set </a:t>
            </a:r>
            <a:r>
              <a:rPr lang="en-GB" altLang="en-US" sz="2800" i="1" dirty="0">
                <a:solidFill>
                  <a:srgbClr val="FF6600"/>
                </a:solidFill>
                <a:latin typeface="Calibri" panose="020F0502020204030204" pitchFamily="34" charset="0"/>
                <a:cs typeface="Calibri" panose="020F0502020204030204" pitchFamily="34" charset="0"/>
              </a:rPr>
              <a:t>A</a:t>
            </a:r>
            <a:r>
              <a:rPr lang="en-GB" altLang="en-US" sz="2800" i="1" dirty="0">
                <a:latin typeface="Calibri" panose="020F0502020204030204" pitchFamily="34" charset="0"/>
                <a:cs typeface="Calibri" panose="020F0502020204030204" pitchFamily="34" charset="0"/>
              </a:rPr>
              <a:t> </a:t>
            </a:r>
            <a:r>
              <a:rPr lang="en-GB" altLang="en-US" sz="2800" dirty="0">
                <a:latin typeface="Calibri" panose="020F0502020204030204" pitchFamily="34" charset="0"/>
                <a:cs typeface="Calibri" panose="020F0502020204030204" pitchFamily="34" charset="0"/>
              </a:rPr>
              <a:t> =  {1, 2, 3, 4, 5, 6}</a:t>
            </a:r>
          </a:p>
        </p:txBody>
      </p:sp>
      <p:sp>
        <p:nvSpPr>
          <p:cNvPr id="227347" name="Text Box 19">
            <a:extLst>
              <a:ext uri="{FF2B5EF4-FFF2-40B4-BE49-F238E27FC236}">
                <a16:creationId xmlns:a16="http://schemas.microsoft.com/office/drawing/2014/main" id="{FD5E1A34-D2AC-88A1-A123-0BFB59C20D55}"/>
              </a:ext>
            </a:extLst>
          </p:cNvPr>
          <p:cNvSpPr txBox="1">
            <a:spLocks noChangeArrowheads="1"/>
          </p:cNvSpPr>
          <p:nvPr/>
        </p:nvSpPr>
        <p:spPr bwMode="auto">
          <a:xfrm>
            <a:off x="979377" y="4613131"/>
            <a:ext cx="36920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dirty="0">
                <a:solidFill>
                  <a:srgbClr val="FF6600"/>
                </a:solidFill>
                <a:latin typeface="Calibri" panose="020F0502020204030204" pitchFamily="34" charset="0"/>
                <a:cs typeface="Calibri" panose="020F0502020204030204" pitchFamily="34" charset="0"/>
              </a:rPr>
              <a:t>set </a:t>
            </a:r>
            <a:r>
              <a:rPr lang="en-GB" altLang="en-US" sz="2800" i="1" dirty="0">
                <a:solidFill>
                  <a:srgbClr val="FF6600"/>
                </a:solidFill>
                <a:latin typeface="Calibri" panose="020F0502020204030204" pitchFamily="34" charset="0"/>
                <a:cs typeface="Calibri" panose="020F0502020204030204" pitchFamily="34" charset="0"/>
              </a:rPr>
              <a:t>B</a:t>
            </a:r>
            <a:r>
              <a:rPr lang="en-GB" altLang="en-US" sz="2800" dirty="0">
                <a:solidFill>
                  <a:srgbClr val="FF6600"/>
                </a:solidFill>
                <a:latin typeface="Calibri" panose="020F0502020204030204" pitchFamily="34" charset="0"/>
                <a:cs typeface="Calibri" panose="020F0502020204030204" pitchFamily="34" charset="0"/>
              </a:rPr>
              <a:t> </a:t>
            </a:r>
            <a:r>
              <a:rPr lang="en-GB" altLang="en-US" sz="2800" dirty="0">
                <a:latin typeface="Calibri" panose="020F0502020204030204" pitchFamily="34" charset="0"/>
                <a:cs typeface="Calibri" panose="020F0502020204030204" pitchFamily="34" charset="0"/>
              </a:rPr>
              <a:t> =  {4, 5, 6, 7, 8, 9}</a:t>
            </a:r>
          </a:p>
        </p:txBody>
      </p:sp>
      <p:pic>
        <p:nvPicPr>
          <p:cNvPr id="227353" name="Picture 25">
            <a:extLst>
              <a:ext uri="{FF2B5EF4-FFF2-40B4-BE49-F238E27FC236}">
                <a16:creationId xmlns:a16="http://schemas.microsoft.com/office/drawing/2014/main" id="{C6508B9B-25DE-6A13-EB54-04C75CC1F1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3825" y="4073999"/>
            <a:ext cx="2451100" cy="152876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D75522D-3DA1-4E7C-B84B-2130C32BB93F}" type="slidenum">
              <a:rPr lang="en-GB" smtClean="0"/>
              <a:t>15</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73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73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7342"/>
                                        </p:tgtEl>
                                        <p:attrNameLst>
                                          <p:attrName>style.visibility</p:attrName>
                                        </p:attrNameLst>
                                      </p:cBhvr>
                                      <p:to>
                                        <p:strVal val="visible"/>
                                      </p:to>
                                    </p:set>
                                    <p:animEffect transition="in" filter="wipe(left)">
                                      <p:cBhvr>
                                        <p:cTn id="15" dur="500"/>
                                        <p:tgtEl>
                                          <p:spTgt spid="227342"/>
                                        </p:tgtEl>
                                      </p:cBhvr>
                                    </p:animEffect>
                                  </p:childTnLst>
                                </p:cTn>
                              </p:par>
                            </p:childTnLst>
                          </p:cTn>
                        </p:par>
                        <p:par>
                          <p:cTn id="16" fill="hold" nodeType="afterGroup">
                            <p:stCondLst>
                              <p:cond delay="500"/>
                            </p:stCondLst>
                            <p:childTnLst>
                              <p:par>
                                <p:cTn id="17" presetID="22" presetClass="entr" presetSubtype="1" fill="hold" nodeType="afterEffect">
                                  <p:stCondLst>
                                    <p:cond delay="0"/>
                                  </p:stCondLst>
                                  <p:childTnLst>
                                    <p:set>
                                      <p:cBhvr>
                                        <p:cTn id="18" dur="1" fill="hold">
                                          <p:stCondLst>
                                            <p:cond delay="0"/>
                                          </p:stCondLst>
                                        </p:cTn>
                                        <p:tgtEl>
                                          <p:spTgt spid="227340"/>
                                        </p:tgtEl>
                                        <p:attrNameLst>
                                          <p:attrName>style.visibility</p:attrName>
                                        </p:attrNameLst>
                                      </p:cBhvr>
                                      <p:to>
                                        <p:strVal val="visible"/>
                                      </p:to>
                                    </p:set>
                                    <p:animEffect transition="in" filter="wipe(up)">
                                      <p:cBhvr>
                                        <p:cTn id="19" dur="500"/>
                                        <p:tgtEl>
                                          <p:spTgt spid="22734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2734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2734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2734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27353"/>
                                        </p:tgtEl>
                                        <p:attrNameLst>
                                          <p:attrName>style.visibility</p:attrName>
                                        </p:attrNameLst>
                                      </p:cBhvr>
                                      <p:to>
                                        <p:strVal val="visible"/>
                                      </p:to>
                                    </p:set>
                                  </p:childTnLst>
                                </p:cTn>
                              </p:par>
                            </p:childTnLst>
                          </p:cTn>
                        </p:par>
                        <p:par>
                          <p:cTn id="34" fill="hold" nodeType="afterGroup">
                            <p:stCondLst>
                              <p:cond delay="0"/>
                            </p:stCondLst>
                            <p:childTnLst>
                              <p:par>
                                <p:cTn id="35" presetID="1" presetClass="entr" presetSubtype="0" fill="hold" nodeType="afterEffect">
                                  <p:stCondLst>
                                    <p:cond delay="0"/>
                                  </p:stCondLst>
                                  <p:childTnLst>
                                    <p:set>
                                      <p:cBhvr>
                                        <p:cTn id="36" dur="1" fill="hold">
                                          <p:stCondLst>
                                            <p:cond delay="0"/>
                                          </p:stCondLst>
                                        </p:cTn>
                                        <p:tgtEl>
                                          <p:spTgt spid="227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6" grpId="0"/>
      <p:bldP spid="227338" grpId="0"/>
      <p:bldP spid="227342" grpId="0"/>
      <p:bldP spid="227345" grpId="0"/>
      <p:bldP spid="227346" grpId="0"/>
      <p:bldP spid="2273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21266DE1-91E6-7404-32ED-DEF90B4D5BE9}"/>
              </a:ext>
            </a:extLst>
          </p:cNvPr>
          <p:cNvSpPr>
            <a:spLocks noGrp="1" noChangeArrowheads="1"/>
          </p:cNvSpPr>
          <p:nvPr>
            <p:ph type="title"/>
          </p:nvPr>
        </p:nvSpPr>
        <p:spPr>
          <a:xfrm>
            <a:off x="838200" y="129384"/>
            <a:ext cx="10515600" cy="662782"/>
          </a:xfrm>
        </p:spPr>
        <p:txBody>
          <a:bodyPr>
            <a:normAutofit fontScale="90000"/>
          </a:bodyPr>
          <a:lstStyle/>
          <a:p>
            <a:r>
              <a:rPr lang="en-GB" altLang="en-US" b="1" dirty="0"/>
              <a:t>Disjoint sets</a:t>
            </a:r>
          </a:p>
        </p:txBody>
      </p:sp>
      <p:sp>
        <p:nvSpPr>
          <p:cNvPr id="229381" name="Text Box 5">
            <a:extLst>
              <a:ext uri="{FF2B5EF4-FFF2-40B4-BE49-F238E27FC236}">
                <a16:creationId xmlns:a16="http://schemas.microsoft.com/office/drawing/2014/main" id="{BEADBBC7-9DE5-599F-BEB1-9FEF2006C20B}"/>
              </a:ext>
            </a:extLst>
          </p:cNvPr>
          <p:cNvSpPr txBox="1">
            <a:spLocks noChangeArrowheads="1"/>
          </p:cNvSpPr>
          <p:nvPr/>
        </p:nvSpPr>
        <p:spPr bwMode="auto">
          <a:xfrm>
            <a:off x="838200" y="898526"/>
            <a:ext cx="9617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b="1" dirty="0">
                <a:solidFill>
                  <a:srgbClr val="FF6600"/>
                </a:solidFill>
                <a:latin typeface="Calibri" panose="020F0502020204030204" pitchFamily="34" charset="0"/>
                <a:cs typeface="Calibri" panose="020F0502020204030204" pitchFamily="34" charset="0"/>
              </a:rPr>
              <a:t>Disjoint sets</a:t>
            </a:r>
            <a:r>
              <a:rPr lang="en-GB" altLang="en-US" sz="2400" dirty="0">
                <a:latin typeface="Calibri" panose="020F0502020204030204" pitchFamily="34" charset="0"/>
                <a:cs typeface="Calibri" panose="020F0502020204030204" pitchFamily="34" charset="0"/>
              </a:rPr>
              <a:t> are two or more sets that have no elements in common, therefore the intersection is an empty set. </a:t>
            </a:r>
            <a:endParaRPr lang="en-GB" altLang="en-US" sz="2400" b="1" dirty="0">
              <a:latin typeface="Calibri" panose="020F0502020204030204" pitchFamily="34" charset="0"/>
              <a:cs typeface="Calibri" panose="020F0502020204030204" pitchFamily="34" charset="0"/>
            </a:endParaRPr>
          </a:p>
        </p:txBody>
      </p:sp>
      <p:sp>
        <p:nvSpPr>
          <p:cNvPr id="229382" name="Text Box 24">
            <a:extLst>
              <a:ext uri="{FF2B5EF4-FFF2-40B4-BE49-F238E27FC236}">
                <a16:creationId xmlns:a16="http://schemas.microsoft.com/office/drawing/2014/main" id="{3627BB1C-E85F-4FA9-E649-9248841C6D46}"/>
              </a:ext>
            </a:extLst>
          </p:cNvPr>
          <p:cNvSpPr txBox="1">
            <a:spLocks noChangeArrowheads="1"/>
          </p:cNvSpPr>
          <p:nvPr/>
        </p:nvSpPr>
        <p:spPr bwMode="auto">
          <a:xfrm>
            <a:off x="838201" y="1790701"/>
            <a:ext cx="961707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GB" altLang="en-US" sz="2400" dirty="0">
                <a:solidFill>
                  <a:srgbClr val="000066"/>
                </a:solidFill>
              </a:rPr>
              <a:t>For example: a set of all 3D shapes with a curved surfaces, and </a:t>
            </a:r>
            <a:r>
              <a:rPr lang="en-GB" altLang="en-US" sz="3200" i="1" dirty="0">
                <a:solidFill>
                  <a:srgbClr val="000066"/>
                </a:solidFill>
                <a:latin typeface="Times New Roman" panose="02020603050405020304" pitchFamily="18" charset="0"/>
              </a:rPr>
              <a:t>B</a:t>
            </a:r>
            <a:r>
              <a:rPr lang="en-GB" altLang="en-US" sz="2400" dirty="0">
                <a:solidFill>
                  <a:srgbClr val="000066"/>
                </a:solidFill>
              </a:rPr>
              <a:t>, a set of all polyhedrons, are disjoint sets. </a:t>
            </a:r>
          </a:p>
        </p:txBody>
      </p:sp>
      <p:sp>
        <p:nvSpPr>
          <p:cNvPr id="229387" name="Text Box 24">
            <a:extLst>
              <a:ext uri="{FF2B5EF4-FFF2-40B4-BE49-F238E27FC236}">
                <a16:creationId xmlns:a16="http://schemas.microsoft.com/office/drawing/2014/main" id="{7C33D081-1DC8-5AC4-B8FD-B828935A242B}"/>
              </a:ext>
            </a:extLst>
          </p:cNvPr>
          <p:cNvSpPr txBox="1">
            <a:spLocks noChangeArrowheads="1"/>
          </p:cNvSpPr>
          <p:nvPr/>
        </p:nvSpPr>
        <p:spPr bwMode="auto">
          <a:xfrm>
            <a:off x="8153400" y="5488932"/>
            <a:ext cx="1971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600" b="1" i="1" dirty="0">
                <a:solidFill>
                  <a:srgbClr val="000066"/>
                </a:solidFill>
                <a:latin typeface="Times New Roman" panose="02020603050405020304" pitchFamily="18" charset="0"/>
              </a:rPr>
              <a:t>A</a:t>
            </a:r>
            <a:r>
              <a:rPr lang="en-US" altLang="en-US" b="1" dirty="0">
                <a:solidFill>
                  <a:srgbClr val="000066"/>
                </a:solidFill>
              </a:rPr>
              <a:t> </a:t>
            </a:r>
            <a:r>
              <a:rPr lang="en-GB" altLang="en-US" b="1" dirty="0">
                <a:solidFill>
                  <a:srgbClr val="000066"/>
                </a:solidFill>
                <a:latin typeface="Lucida Sans Unicode" panose="020B0602030504020204" pitchFamily="34" charset="0"/>
                <a:cs typeface="Lucida Sans Unicode" panose="020B0602030504020204" pitchFamily="34" charset="0"/>
              </a:rPr>
              <a:t>∩</a:t>
            </a:r>
            <a:r>
              <a:rPr lang="en-US" altLang="en-US" b="1" dirty="0">
                <a:solidFill>
                  <a:srgbClr val="000066"/>
                </a:solidFill>
              </a:rPr>
              <a:t> </a:t>
            </a:r>
            <a:r>
              <a:rPr lang="en-US" altLang="en-US" sz="2600" b="1" i="1" dirty="0">
                <a:solidFill>
                  <a:srgbClr val="000066"/>
                </a:solidFill>
                <a:latin typeface="Times New Roman" panose="02020603050405020304" pitchFamily="18" charset="0"/>
              </a:rPr>
              <a:t>B  </a:t>
            </a:r>
            <a:r>
              <a:rPr lang="en-US" altLang="en-US" b="1" dirty="0">
                <a:solidFill>
                  <a:srgbClr val="000066"/>
                </a:solidFill>
              </a:rPr>
              <a:t>= </a:t>
            </a:r>
            <a:r>
              <a:rPr lang="en-US" altLang="en-US" b="1" dirty="0">
                <a:solidFill>
                  <a:srgbClr val="010066"/>
                </a:solidFill>
                <a:latin typeface="Lucida Sans Unicode" panose="020B0602030504020204" pitchFamily="34" charset="0"/>
                <a:cs typeface="Lucida Sans Unicode" panose="020B0602030504020204" pitchFamily="34" charset="0"/>
              </a:rPr>
              <a:t>∅</a:t>
            </a:r>
            <a:endParaRPr lang="en-GB" altLang="en-US" b="1" dirty="0">
              <a:solidFill>
                <a:srgbClr val="000066"/>
              </a:solidFill>
            </a:endParaRPr>
          </a:p>
        </p:txBody>
      </p:sp>
      <p:sp>
        <p:nvSpPr>
          <p:cNvPr id="3" name="Slide Number Placeholder 2"/>
          <p:cNvSpPr>
            <a:spLocks noGrp="1"/>
          </p:cNvSpPr>
          <p:nvPr>
            <p:ph type="sldNum" sz="quarter" idx="12"/>
          </p:nvPr>
        </p:nvSpPr>
        <p:spPr/>
        <p:txBody>
          <a:bodyPr/>
          <a:lstStyle/>
          <a:p>
            <a:fld id="{8D75522D-3DA1-4E7C-B84B-2130C32BB93F}" type="slidenum">
              <a:rPr lang="en-GB" smtClean="0"/>
              <a:t>16</a:t>
            </a:fld>
            <a:endParaRPr lang="en-GB" dirty="0"/>
          </a:p>
        </p:txBody>
      </p:sp>
      <p:sp>
        <p:nvSpPr>
          <p:cNvPr id="5" name="Rectangle 4"/>
          <p:cNvSpPr/>
          <p:nvPr/>
        </p:nvSpPr>
        <p:spPr>
          <a:xfrm>
            <a:off x="838200" y="2825016"/>
            <a:ext cx="8682038" cy="2862322"/>
          </a:xfrm>
          <a:prstGeom prst="rect">
            <a:avLst/>
          </a:prstGeom>
        </p:spPr>
        <p:txBody>
          <a:bodyPr wrap="square">
            <a:spAutoFit/>
          </a:bodyPr>
          <a:lstStyle/>
          <a:p>
            <a:pPr>
              <a:lnSpc>
                <a:spcPct val="150000"/>
              </a:lnSpc>
            </a:pPr>
            <a:r>
              <a:rPr lang="en-US" sz="2400" b="1" dirty="0" err="1">
                <a:solidFill>
                  <a:srgbClr val="C00000"/>
                </a:solidFill>
                <a:latin typeface="Calibri" panose="020F0502020204030204" pitchFamily="34" charset="0"/>
                <a:cs typeface="Calibri" panose="020F0502020204030204" pitchFamily="34" charset="0"/>
              </a:rPr>
              <a:t>Eg</a:t>
            </a:r>
            <a:r>
              <a:rPr lang="en-US" sz="2400" b="1" dirty="0">
                <a:solidFill>
                  <a:srgbClr val="C00000"/>
                </a:solidFill>
                <a:latin typeface="Calibri" panose="020F0502020204030204" pitchFamily="34" charset="0"/>
                <a:cs typeface="Calibri" panose="020F0502020204030204" pitchFamily="34" charset="0"/>
              </a:rPr>
              <a:t>: </a:t>
            </a:r>
          </a:p>
          <a:p>
            <a:pPr>
              <a:lnSpc>
                <a:spcPct val="150000"/>
              </a:lnSpc>
            </a:pPr>
            <a:r>
              <a:rPr lang="en-US" sz="2400" b="1" dirty="0">
                <a:solidFill>
                  <a:srgbClr val="C00000"/>
                </a:solidFill>
                <a:latin typeface="Calibri" panose="020F0502020204030204" pitchFamily="34" charset="0"/>
                <a:cs typeface="Calibri" panose="020F0502020204030204" pitchFamily="34" charset="0"/>
              </a:rPr>
              <a:t>Set A = {1, 3, 5, 7}</a:t>
            </a:r>
          </a:p>
          <a:p>
            <a:pPr>
              <a:lnSpc>
                <a:spcPct val="150000"/>
              </a:lnSpc>
            </a:pPr>
            <a:r>
              <a:rPr lang="en-US" sz="2400" b="1" dirty="0">
                <a:solidFill>
                  <a:srgbClr val="C00000"/>
                </a:solidFill>
                <a:latin typeface="Calibri" panose="020F0502020204030204" pitchFamily="34" charset="0"/>
                <a:cs typeface="Calibri" panose="020F0502020204030204" pitchFamily="34" charset="0"/>
              </a:rPr>
              <a:t>Set B = {2, 4, 6, 8} </a:t>
            </a:r>
          </a:p>
          <a:p>
            <a:pPr>
              <a:lnSpc>
                <a:spcPct val="150000"/>
              </a:lnSpc>
            </a:pPr>
            <a:r>
              <a:rPr lang="en-US" sz="2400" b="1" dirty="0">
                <a:solidFill>
                  <a:srgbClr val="C00000"/>
                </a:solidFill>
                <a:latin typeface="Calibri" panose="020F0502020204030204" pitchFamily="34" charset="0"/>
                <a:cs typeface="Calibri" panose="020F0502020204030204" pitchFamily="34" charset="0"/>
              </a:rPr>
              <a:t>These sets are disjoint because they share no common elements. Their intersection (A ∩ B) is an empty set: { }.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93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9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82" grpId="0"/>
      <p:bldP spid="22938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792BE8-DEA2-FC94-EA23-C71F606AA2F7}"/>
              </a:ext>
            </a:extLst>
          </p:cNvPr>
          <p:cNvSpPr txBox="1"/>
          <p:nvPr/>
        </p:nvSpPr>
        <p:spPr>
          <a:xfrm>
            <a:off x="1459833" y="1670844"/>
            <a:ext cx="6096000" cy="461665"/>
          </a:xfrm>
          <a:prstGeom prst="rect">
            <a:avLst/>
          </a:prstGeom>
          <a:noFill/>
        </p:spPr>
        <p:txBody>
          <a:bodyPr wrap="square">
            <a:spAutoFit/>
          </a:bodyPr>
          <a:lstStyle/>
          <a:p>
            <a:r>
              <a:rPr lang="en-GB" sz="2400" b="1" dirty="0">
                <a:solidFill>
                  <a:srgbClr val="C00000"/>
                </a:solidFill>
                <a:latin typeface="Calibri" panose="020F0502020204030204" pitchFamily="34" charset="0"/>
                <a:cs typeface="Calibri" panose="020F0502020204030204" pitchFamily="34" charset="0"/>
              </a:rPr>
              <a:t>X ∪ Y </a:t>
            </a:r>
          </a:p>
        </p:txBody>
      </p:sp>
      <p:sp>
        <p:nvSpPr>
          <p:cNvPr id="7" name="TextBox 6">
            <a:extLst>
              <a:ext uri="{FF2B5EF4-FFF2-40B4-BE49-F238E27FC236}">
                <a16:creationId xmlns:a16="http://schemas.microsoft.com/office/drawing/2014/main" id="{F45C60E7-61A5-2C10-0CA1-F4C46C4E0460}"/>
              </a:ext>
            </a:extLst>
          </p:cNvPr>
          <p:cNvSpPr txBox="1"/>
          <p:nvPr/>
        </p:nvSpPr>
        <p:spPr>
          <a:xfrm>
            <a:off x="1155031" y="1143635"/>
            <a:ext cx="7892716" cy="461665"/>
          </a:xfrm>
          <a:prstGeom prst="rect">
            <a:avLst/>
          </a:prstGeom>
          <a:noFill/>
        </p:spPr>
        <p:txBody>
          <a:bodyPr wrap="square">
            <a:spAutoFit/>
          </a:bodyPr>
          <a:lstStyle/>
          <a:p>
            <a:r>
              <a:rPr lang="en-US" sz="2400" b="1" i="0" dirty="0">
                <a:solidFill>
                  <a:srgbClr val="273239"/>
                </a:solidFill>
                <a:effectLst/>
                <a:latin typeface="Nunito" pitchFamily="2" charset="0"/>
              </a:rPr>
              <a:t>1. Find the union of set X = {2, 3, 4} and Y = {4, 5, 6}</a:t>
            </a:r>
            <a:endParaRPr lang="en-GB" sz="2400" dirty="0"/>
          </a:p>
        </p:txBody>
      </p:sp>
      <p:sp>
        <p:nvSpPr>
          <p:cNvPr id="9" name="TextBox 8">
            <a:extLst>
              <a:ext uri="{FF2B5EF4-FFF2-40B4-BE49-F238E27FC236}">
                <a16:creationId xmlns:a16="http://schemas.microsoft.com/office/drawing/2014/main" id="{EC9C2A84-E8CD-34DC-F820-BD257F8E4AB4}"/>
              </a:ext>
            </a:extLst>
          </p:cNvPr>
          <p:cNvSpPr txBox="1"/>
          <p:nvPr/>
        </p:nvSpPr>
        <p:spPr>
          <a:xfrm>
            <a:off x="1155031" y="2295337"/>
            <a:ext cx="9416716" cy="461665"/>
          </a:xfrm>
          <a:prstGeom prst="rect">
            <a:avLst/>
          </a:prstGeom>
          <a:noFill/>
        </p:spPr>
        <p:txBody>
          <a:bodyPr wrap="square">
            <a:spAutoFit/>
          </a:bodyPr>
          <a:lstStyle/>
          <a:p>
            <a:r>
              <a:rPr lang="en-US" sz="2400" b="1" i="0" dirty="0">
                <a:solidFill>
                  <a:srgbClr val="273239"/>
                </a:solidFill>
                <a:effectLst/>
                <a:latin typeface="Nunito" pitchFamily="2" charset="0"/>
              </a:rPr>
              <a:t>2. Find the intersection f set X = {2, 3, 4} and Y = {4, 5, 6}</a:t>
            </a:r>
            <a:endParaRPr lang="en-GB" sz="2400" dirty="0"/>
          </a:p>
        </p:txBody>
      </p:sp>
      <p:sp>
        <p:nvSpPr>
          <p:cNvPr id="11" name="TextBox 10">
            <a:extLst>
              <a:ext uri="{FF2B5EF4-FFF2-40B4-BE49-F238E27FC236}">
                <a16:creationId xmlns:a16="http://schemas.microsoft.com/office/drawing/2014/main" id="{2AEC5C5A-C602-9AEF-B480-A87C926398C0}"/>
              </a:ext>
            </a:extLst>
          </p:cNvPr>
          <p:cNvSpPr txBox="1"/>
          <p:nvPr/>
        </p:nvSpPr>
        <p:spPr>
          <a:xfrm>
            <a:off x="1371600" y="3114983"/>
            <a:ext cx="6096000" cy="461665"/>
          </a:xfrm>
          <a:prstGeom prst="rect">
            <a:avLst/>
          </a:prstGeom>
          <a:noFill/>
        </p:spPr>
        <p:txBody>
          <a:bodyPr wrap="square">
            <a:spAutoFit/>
          </a:bodyPr>
          <a:lstStyle/>
          <a:p>
            <a:r>
              <a:rPr lang="en-GB" sz="2400" b="1" i="1" dirty="0">
                <a:solidFill>
                  <a:srgbClr val="C00000"/>
                </a:solidFill>
                <a:effectLst/>
                <a:latin typeface="Calibri" panose="020F0502020204030204" pitchFamily="34" charset="0"/>
                <a:cs typeface="Calibri" panose="020F0502020204030204" pitchFamily="34" charset="0"/>
              </a:rPr>
              <a:t>X ∩ Y =  </a:t>
            </a:r>
            <a:endParaRPr lang="en-GB" sz="2400" b="1" dirty="0">
              <a:solidFill>
                <a:srgbClr val="C00000"/>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44C02AFF-B886-06DC-4E15-E2AB6B07813B}"/>
              </a:ext>
            </a:extLst>
          </p:cNvPr>
          <p:cNvSpPr txBox="1"/>
          <p:nvPr/>
        </p:nvSpPr>
        <p:spPr>
          <a:xfrm>
            <a:off x="1155031" y="3842296"/>
            <a:ext cx="10684043" cy="830997"/>
          </a:xfrm>
          <a:prstGeom prst="rect">
            <a:avLst/>
          </a:prstGeom>
          <a:noFill/>
        </p:spPr>
        <p:txBody>
          <a:bodyPr wrap="square">
            <a:spAutoFit/>
          </a:bodyPr>
          <a:lstStyle/>
          <a:p>
            <a:r>
              <a:rPr lang="en-US" sz="2400" b="1" i="0" dirty="0">
                <a:solidFill>
                  <a:srgbClr val="273239"/>
                </a:solidFill>
                <a:effectLst/>
                <a:latin typeface="Nunito" pitchFamily="2" charset="0"/>
              </a:rPr>
              <a:t>3. Find whether X is subset of Y or not where set X = {2, 3, 4} and </a:t>
            </a:r>
          </a:p>
          <a:p>
            <a:r>
              <a:rPr lang="en-US" sz="2400" b="1" i="0" dirty="0">
                <a:solidFill>
                  <a:srgbClr val="273239"/>
                </a:solidFill>
                <a:effectLst/>
                <a:latin typeface="Nunito" pitchFamily="2" charset="0"/>
              </a:rPr>
              <a:t>Y = {2, </a:t>
            </a:r>
            <a:r>
              <a:rPr lang="en-US" sz="2400" b="1" dirty="0">
                <a:solidFill>
                  <a:srgbClr val="273239"/>
                </a:solidFill>
                <a:latin typeface="Nunito" pitchFamily="2" charset="0"/>
              </a:rPr>
              <a:t>  </a:t>
            </a:r>
            <a:r>
              <a:rPr lang="en-US" sz="2400" b="1" i="0" dirty="0">
                <a:solidFill>
                  <a:srgbClr val="273239"/>
                </a:solidFill>
                <a:effectLst/>
                <a:latin typeface="Nunito" pitchFamily="2" charset="0"/>
              </a:rPr>
              <a:t>3, 4, 5, 6}.</a:t>
            </a:r>
            <a:endParaRPr lang="en-GB" sz="2400" dirty="0"/>
          </a:p>
        </p:txBody>
      </p:sp>
      <p:sp>
        <p:nvSpPr>
          <p:cNvPr id="3" name="Slide Number Placeholder 2"/>
          <p:cNvSpPr>
            <a:spLocks noGrp="1"/>
          </p:cNvSpPr>
          <p:nvPr>
            <p:ph type="sldNum" sz="quarter" idx="12"/>
          </p:nvPr>
        </p:nvSpPr>
        <p:spPr/>
        <p:txBody>
          <a:bodyPr/>
          <a:lstStyle/>
          <a:p>
            <a:fld id="{8D75522D-3DA1-4E7C-B84B-2130C32BB93F}" type="slidenum">
              <a:rPr lang="en-GB" smtClean="0"/>
              <a:t>17</a:t>
            </a:fld>
            <a:endParaRPr lang="en-GB"/>
          </a:p>
        </p:txBody>
      </p:sp>
      <p:sp>
        <p:nvSpPr>
          <p:cNvPr id="10" name="TextBox 9">
            <a:extLst>
              <a:ext uri="{FF2B5EF4-FFF2-40B4-BE49-F238E27FC236}">
                <a16:creationId xmlns:a16="http://schemas.microsoft.com/office/drawing/2014/main" id="{2AEC5C5A-C602-9AEF-B480-A87C926398C0}"/>
              </a:ext>
            </a:extLst>
          </p:cNvPr>
          <p:cNvSpPr txBox="1"/>
          <p:nvPr/>
        </p:nvSpPr>
        <p:spPr>
          <a:xfrm>
            <a:off x="1371600" y="4822324"/>
            <a:ext cx="6096000" cy="461665"/>
          </a:xfrm>
          <a:prstGeom prst="rect">
            <a:avLst/>
          </a:prstGeom>
          <a:noFill/>
        </p:spPr>
        <p:txBody>
          <a:bodyPr wrap="square">
            <a:spAutoFit/>
          </a:bodyPr>
          <a:lstStyle/>
          <a:p>
            <a:r>
              <a:rPr lang="en-GB" sz="2400" b="1" i="1" dirty="0">
                <a:solidFill>
                  <a:srgbClr val="C00000"/>
                </a:solidFill>
                <a:effectLst/>
                <a:latin typeface="Calibri" panose="020F0502020204030204" pitchFamily="34" charset="0"/>
                <a:cs typeface="Calibri" panose="020F0502020204030204" pitchFamily="34" charset="0"/>
              </a:rPr>
              <a:t>X </a:t>
            </a:r>
            <a:r>
              <a:rPr lang="en-GB" sz="2400" b="1" i="1" dirty="0">
                <a:solidFill>
                  <a:srgbClr val="C00000"/>
                </a:solidFill>
                <a:effectLst/>
                <a:latin typeface="Calibri" panose="020F0502020204030204" pitchFamily="34" charset="0"/>
                <a:cs typeface="Calibri" panose="020F0502020204030204" pitchFamily="34" charset="0"/>
                <a:sym typeface="Symbol" panose="05050102010706020507" pitchFamily="18" charset="2"/>
              </a:rPr>
              <a:t>  Y 		or 	X </a:t>
            </a:r>
            <a:r>
              <a:rPr lang="en-GB" sz="2400" b="1" i="1" dirty="0">
                <a:solidFill>
                  <a:srgbClr val="C00000"/>
                </a:solidFill>
                <a:effectLst/>
                <a:latin typeface="Calibri" panose="020F0502020204030204" pitchFamily="34" charset="0"/>
                <a:cs typeface="Calibri" panose="020F0502020204030204" pitchFamily="34" charset="0"/>
              </a:rPr>
              <a:t>  Y  </a:t>
            </a:r>
            <a:endParaRPr lang="en-GB" sz="2400" b="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66759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CCC41-2134-CF98-7267-C0197C736C2E}"/>
              </a:ext>
            </a:extLst>
          </p:cNvPr>
          <p:cNvSpPr>
            <a:spLocks noGrp="1"/>
          </p:cNvSpPr>
          <p:nvPr>
            <p:ph type="title"/>
          </p:nvPr>
        </p:nvSpPr>
        <p:spPr/>
        <p:txBody>
          <a:bodyPr>
            <a:normAutofit/>
          </a:bodyPr>
          <a:lstStyle/>
          <a:p>
            <a:r>
              <a:rPr lang="en-US" sz="3600" dirty="0"/>
              <a:t>A and B are disjoint or not ?</a:t>
            </a:r>
            <a:endParaRPr lang="en-GB" sz="3600" dirty="0"/>
          </a:p>
        </p:txBody>
      </p:sp>
      <p:sp>
        <p:nvSpPr>
          <p:cNvPr id="3" name="Content Placeholder 2">
            <a:extLst>
              <a:ext uri="{FF2B5EF4-FFF2-40B4-BE49-F238E27FC236}">
                <a16:creationId xmlns:a16="http://schemas.microsoft.com/office/drawing/2014/main" id="{7EB278C4-7E69-EAD9-94BC-A0BA4C7EEF3B}"/>
              </a:ext>
            </a:extLst>
          </p:cNvPr>
          <p:cNvSpPr>
            <a:spLocks noGrp="1"/>
          </p:cNvSpPr>
          <p:nvPr>
            <p:ph idx="1"/>
          </p:nvPr>
        </p:nvSpPr>
        <p:spPr/>
        <p:txBody>
          <a:bodyPr>
            <a:normAutofit/>
          </a:bodyPr>
          <a:lstStyle/>
          <a:p>
            <a:pPr marL="0" indent="0">
              <a:buNone/>
            </a:pPr>
            <a:r>
              <a:rPr lang="en-US" dirty="0"/>
              <a:t>Check if the following sets are disjoint:</a:t>
            </a:r>
          </a:p>
          <a:p>
            <a:pPr marL="0" indent="0">
              <a:buNone/>
            </a:pPr>
            <a:r>
              <a:rPr lang="en-US" dirty="0"/>
              <a:t>	1. A = {1, 2, 3}, B = {4, 5, 6}</a:t>
            </a:r>
          </a:p>
          <a:p>
            <a:pPr marL="0" indent="0">
              <a:buNone/>
            </a:pPr>
            <a:r>
              <a:rPr lang="en-US" dirty="0"/>
              <a:t>	2. A = {x | x &gt; 9}, B = {x | x ≤ 10}</a:t>
            </a:r>
          </a:p>
          <a:p>
            <a:pPr marL="0" indent="0">
              <a:buNone/>
            </a:pPr>
            <a:r>
              <a:rPr lang="en-US" dirty="0"/>
              <a:t>	3. A ={x ∣ x=n</a:t>
            </a:r>
            <a:r>
              <a:rPr lang="en-US" baseline="30000" dirty="0"/>
              <a:t>2</a:t>
            </a:r>
            <a:r>
              <a:rPr lang="en-US" dirty="0"/>
              <a:t>, </a:t>
            </a:r>
            <a:r>
              <a:rPr lang="en-US" dirty="0" err="1"/>
              <a:t>n∈ℕ</a:t>
            </a:r>
            <a:r>
              <a:rPr lang="en-US" dirty="0"/>
              <a:t>, 1 ≤ n ≤ 5}, B= ={x ∣  1 ≤ x ≤ 5, x is even} </a:t>
            </a:r>
          </a:p>
          <a:p>
            <a:pPr marL="0" indent="0">
              <a:buNone/>
            </a:pPr>
            <a:r>
              <a:rPr lang="en-US" dirty="0"/>
              <a:t>	4. A ={x ∣ x=n</a:t>
            </a:r>
            <a:r>
              <a:rPr lang="en-US" baseline="30000" dirty="0"/>
              <a:t>3</a:t>
            </a:r>
            <a:r>
              <a:rPr lang="en-US" dirty="0"/>
              <a:t>, </a:t>
            </a:r>
            <a:r>
              <a:rPr lang="en-US" dirty="0" err="1"/>
              <a:t>n∈ℕ</a:t>
            </a:r>
            <a:r>
              <a:rPr lang="en-US" dirty="0"/>
              <a:t>, 1 ≤ n ≤ 5}, B= ={x ∣  1 ≤ x ≤ 10, x is prime} </a:t>
            </a:r>
          </a:p>
          <a:p>
            <a:pPr marL="0" indent="0">
              <a:buNone/>
            </a:pPr>
            <a:endParaRPr lang="en-US" dirty="0"/>
          </a:p>
          <a:p>
            <a:pPr marL="0" indent="0">
              <a:buNone/>
            </a:pPr>
            <a:endParaRPr lang="en-US" dirty="0"/>
          </a:p>
          <a:p>
            <a:endParaRPr lang="en-GB" dirty="0"/>
          </a:p>
        </p:txBody>
      </p:sp>
      <p:sp>
        <p:nvSpPr>
          <p:cNvPr id="5" name="Slide Number Placeholder 4"/>
          <p:cNvSpPr>
            <a:spLocks noGrp="1"/>
          </p:cNvSpPr>
          <p:nvPr>
            <p:ph type="sldNum" sz="quarter" idx="12"/>
          </p:nvPr>
        </p:nvSpPr>
        <p:spPr/>
        <p:txBody>
          <a:bodyPr/>
          <a:lstStyle/>
          <a:p>
            <a:fld id="{8D75522D-3DA1-4E7C-B84B-2130C32BB93F}" type="slidenum">
              <a:rPr lang="en-GB" smtClean="0"/>
              <a:t>18</a:t>
            </a:fld>
            <a:endParaRPr lang="en-GB"/>
          </a:p>
        </p:txBody>
      </p:sp>
    </p:spTree>
    <p:extLst>
      <p:ext uri="{BB962C8B-B14F-4D97-AF65-F5344CB8AC3E}">
        <p14:creationId xmlns:p14="http://schemas.microsoft.com/office/powerpoint/2010/main" val="2401268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E91A6B5-164B-E439-6E03-93E14BA88EF9}"/>
              </a:ext>
            </a:extLst>
          </p:cNvPr>
          <p:cNvSpPr>
            <a:spLocks noGrp="1" noChangeArrowheads="1"/>
          </p:cNvSpPr>
          <p:nvPr>
            <p:ph idx="1"/>
          </p:nvPr>
        </p:nvSpPr>
        <p:spPr bwMode="auto">
          <a:xfrm>
            <a:off x="838200" y="1213511"/>
            <a:ext cx="10407316" cy="557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rPr>
              <a:t>A = {x | x &gt; 9}, B = {x | x ≤ 10}</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Set </a:t>
            </a:r>
            <a:r>
              <a:rPr kumimoji="0" lang="en-US" altLang="en-US" sz="2400" b="1" i="0" u="none" strike="noStrike" cap="none" normalizeH="0" baseline="0" dirty="0">
                <a:ln>
                  <a:noFill/>
                </a:ln>
                <a:solidFill>
                  <a:schemeClr val="tx1"/>
                </a:solidFill>
                <a:effectLst/>
              </a:rPr>
              <a:t>A</a:t>
            </a:r>
            <a:r>
              <a:rPr kumimoji="0" lang="en-US" altLang="en-US" sz="2400" b="0" i="0" u="none" strike="noStrike" cap="none" normalizeH="0" baseline="0" dirty="0">
                <a:ln>
                  <a:noFill/>
                </a:ln>
                <a:solidFill>
                  <a:schemeClr val="tx1"/>
                </a:solidFill>
                <a:effectLst/>
              </a:rPr>
              <a:t> contains all numbers </a:t>
            </a:r>
            <a:r>
              <a:rPr kumimoji="0" lang="en-US" altLang="en-US" sz="2400" b="1" i="0" u="none" strike="noStrike" cap="none" normalizeH="0" baseline="0" dirty="0">
                <a:ln>
                  <a:noFill/>
                </a:ln>
                <a:solidFill>
                  <a:schemeClr val="tx1"/>
                </a:solidFill>
                <a:effectLst/>
              </a:rPr>
              <a:t>greater than 9</a:t>
            </a:r>
            <a:r>
              <a:rPr kumimoji="0" lang="en-US" altLang="en-US" sz="2400" b="0" i="0" u="none" strike="noStrike" cap="none" normalizeH="0" baseline="0" dirty="0">
                <a:ln>
                  <a:noFill/>
                </a:ln>
                <a:solidFill>
                  <a:schemeClr val="tx1"/>
                </a:solidFill>
                <a:effectLst/>
              </a:rPr>
              <a:t> (i.e., {10, 11, 12,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Set </a:t>
            </a:r>
            <a:r>
              <a:rPr kumimoji="0" lang="en-US" altLang="en-US" sz="2400" b="1" i="0" u="none" strike="noStrike" cap="none" normalizeH="0" baseline="0" dirty="0">
                <a:ln>
                  <a:noFill/>
                </a:ln>
                <a:solidFill>
                  <a:schemeClr val="tx1"/>
                </a:solidFill>
                <a:effectLst/>
              </a:rPr>
              <a:t>B</a:t>
            </a:r>
            <a:r>
              <a:rPr kumimoji="0" lang="en-US" altLang="en-US" sz="2400" b="0" i="0" u="none" strike="noStrike" cap="none" normalizeH="0" baseline="0" dirty="0">
                <a:ln>
                  <a:noFill/>
                </a:ln>
                <a:solidFill>
                  <a:schemeClr val="tx1"/>
                </a:solidFill>
                <a:effectLst/>
              </a:rPr>
              <a:t> contains all numbers </a:t>
            </a:r>
            <a:r>
              <a:rPr kumimoji="0" lang="en-US" altLang="en-US" sz="2400" b="1" i="0" u="none" strike="noStrike" cap="none" normalizeH="0" baseline="0" dirty="0">
                <a:ln>
                  <a:noFill/>
                </a:ln>
                <a:solidFill>
                  <a:schemeClr val="tx1"/>
                </a:solidFill>
                <a:effectLst/>
              </a:rPr>
              <a:t>less than or equal to 10</a:t>
            </a:r>
            <a:r>
              <a:rPr kumimoji="0" lang="en-US" altLang="en-US" sz="2400" b="0" i="0" u="none" strike="noStrike" cap="none" normalizeH="0" baseline="0" dirty="0">
                <a:ln>
                  <a:noFill/>
                </a:ln>
                <a:solidFill>
                  <a:schemeClr val="tx1"/>
                </a:solidFill>
                <a:effectLst/>
              </a:rPr>
              <a:t> (i.e., {..., 8, 9, 10}).</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 Common element:</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10</a:t>
            </a:r>
            <a:r>
              <a:rPr kumimoji="0" lang="en-US" altLang="en-US" sz="2400" b="0" i="0" u="none" strike="noStrike" cap="none" normalizeH="0" baseline="0" dirty="0">
                <a:ln>
                  <a:noFill/>
                </a:ln>
                <a:solidFill>
                  <a:schemeClr val="tx1"/>
                </a:solidFill>
                <a:effectLst/>
              </a:rPr>
              <a:t> is in both sets.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A and B are not disjoint.</a:t>
            </a:r>
            <a:r>
              <a:rPr kumimoji="0" lang="en-US" altLang="en-US" sz="2400" b="0" i="0" u="none" strike="noStrike" cap="none" normalizeH="0" baseline="0" dirty="0">
                <a:ln>
                  <a:noFill/>
                </a:ln>
                <a:solidFill>
                  <a:schemeClr val="tx1"/>
                </a:solidFill>
                <a:effectLst/>
              </a:rPr>
              <a:t> (They share the element 10.)</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rPr>
              <a:t>A = {1, 3, 5}, B = {2, 4, 6}</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Set </a:t>
            </a:r>
            <a:r>
              <a:rPr kumimoji="0" lang="en-US" altLang="en-US" sz="2400" b="1" i="0" u="none" strike="noStrike" cap="none" normalizeH="0" baseline="0" dirty="0">
                <a:ln>
                  <a:noFill/>
                </a:ln>
                <a:solidFill>
                  <a:schemeClr val="tx1"/>
                </a:solidFill>
                <a:effectLst/>
              </a:rPr>
              <a:t>A</a:t>
            </a:r>
            <a:r>
              <a:rPr kumimoji="0" lang="en-US" altLang="en-US" sz="2400" b="0" i="0" u="none" strike="noStrike" cap="none" normalizeH="0" baseline="0" dirty="0">
                <a:ln>
                  <a:noFill/>
                </a:ln>
                <a:solidFill>
                  <a:schemeClr val="tx1"/>
                </a:solidFill>
                <a:effectLst/>
              </a:rPr>
              <a:t> contains {1, 3, 5}.</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Set </a:t>
            </a:r>
            <a:r>
              <a:rPr kumimoji="0" lang="en-US" altLang="en-US" sz="2400" b="1" i="0" u="none" strike="noStrike" cap="none" normalizeH="0" baseline="0" dirty="0">
                <a:ln>
                  <a:noFill/>
                </a:ln>
                <a:solidFill>
                  <a:schemeClr val="tx1"/>
                </a:solidFill>
                <a:effectLst/>
              </a:rPr>
              <a:t>B</a:t>
            </a:r>
            <a:r>
              <a:rPr kumimoji="0" lang="en-US" altLang="en-US" sz="2400" b="0" i="0" u="none" strike="noStrike" cap="none" normalizeH="0" baseline="0" dirty="0">
                <a:ln>
                  <a:noFill/>
                </a:ln>
                <a:solidFill>
                  <a:schemeClr val="tx1"/>
                </a:solidFill>
                <a:effectLst/>
              </a:rPr>
              <a:t> contains {2, 4, 6}.</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There is </a:t>
            </a:r>
            <a:r>
              <a:rPr kumimoji="0" lang="en-US" altLang="en-US" sz="2400" b="1" i="0" u="none" strike="noStrike" cap="none" normalizeH="0" baseline="0" dirty="0">
                <a:ln>
                  <a:noFill/>
                </a:ln>
                <a:solidFill>
                  <a:schemeClr val="tx1"/>
                </a:solidFill>
                <a:effectLst/>
              </a:rPr>
              <a:t>no common element</a:t>
            </a:r>
            <a:r>
              <a:rPr kumimoji="0" lang="en-US" altLang="en-US" sz="2400" b="0" i="0" u="none" strike="noStrike" cap="none" normalizeH="0" baseline="0" dirty="0">
                <a:ln>
                  <a:noFill/>
                </a:ln>
                <a:solidFill>
                  <a:schemeClr val="tx1"/>
                </a:solidFill>
                <a:effectLst/>
              </a:rPr>
              <a:t> between these sets.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A and B are disjoint.</a:t>
            </a:r>
            <a:endParaRPr kumimoji="0" lang="en-US" altLang="en-US" sz="2400" b="0" i="0" u="none" strike="noStrike" cap="none" normalizeH="0" baseline="0" dirty="0">
              <a:ln>
                <a:noFill/>
              </a:ln>
              <a:solidFill>
                <a:schemeClr val="tx1"/>
              </a:solidFill>
              <a:effectLst/>
            </a:endParaRPr>
          </a:p>
        </p:txBody>
      </p:sp>
      <p:sp>
        <p:nvSpPr>
          <p:cNvPr id="3" name="Slide Number Placeholder 2"/>
          <p:cNvSpPr>
            <a:spLocks noGrp="1"/>
          </p:cNvSpPr>
          <p:nvPr>
            <p:ph type="sldNum" sz="quarter" idx="12"/>
          </p:nvPr>
        </p:nvSpPr>
        <p:spPr/>
        <p:txBody>
          <a:bodyPr/>
          <a:lstStyle/>
          <a:p>
            <a:fld id="{8D75522D-3DA1-4E7C-B84B-2130C32BB93F}" type="slidenum">
              <a:rPr lang="en-GB" smtClean="0"/>
              <a:t>19</a:t>
            </a:fld>
            <a:endParaRPr lang="en-GB"/>
          </a:p>
        </p:txBody>
      </p:sp>
    </p:spTree>
    <p:extLst>
      <p:ext uri="{BB962C8B-B14F-4D97-AF65-F5344CB8AC3E}">
        <p14:creationId xmlns:p14="http://schemas.microsoft.com/office/powerpoint/2010/main" val="1474396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Finite and Infinite Sets</a:t>
            </a:r>
          </a:p>
        </p:txBody>
      </p:sp>
      <p:sp>
        <p:nvSpPr>
          <p:cNvPr id="3" name="Content Placeholder 2"/>
          <p:cNvSpPr>
            <a:spLocks noGrp="1"/>
          </p:cNvSpPr>
          <p:nvPr>
            <p:ph idx="1"/>
          </p:nvPr>
        </p:nvSpPr>
        <p:spPr/>
        <p:txBody>
          <a:bodyPr>
            <a:normAutofit/>
          </a:bodyPr>
          <a:lstStyle/>
          <a:p>
            <a:r>
              <a:rPr dirty="0"/>
              <a:t>Finite Set: A set with a countable number of elements.</a:t>
            </a:r>
          </a:p>
          <a:p>
            <a:pPr marL="0" indent="0">
              <a:buNone/>
            </a:pPr>
            <a:r>
              <a:rPr lang="en-US" dirty="0"/>
              <a:t>	</a:t>
            </a:r>
            <a:r>
              <a:rPr dirty="0"/>
              <a:t>Example: A = {1, 2, 3, 4}</a:t>
            </a:r>
          </a:p>
          <a:p>
            <a:r>
              <a:rPr dirty="0"/>
              <a:t>Infinite Set: A set with an uncountable number of elements.</a:t>
            </a:r>
          </a:p>
          <a:p>
            <a:pPr marL="0" indent="0">
              <a:buNone/>
            </a:pPr>
            <a:r>
              <a:rPr lang="en-US" dirty="0"/>
              <a:t>	</a:t>
            </a:r>
            <a:r>
              <a:rPr dirty="0"/>
              <a:t>Example: B = {x | x &gt; 0}</a:t>
            </a:r>
          </a:p>
          <a:p>
            <a:pPr marL="0" indent="0">
              <a:buNone/>
            </a:pPr>
            <a:r>
              <a:rPr lang="en-US" dirty="0"/>
              <a:t>	</a:t>
            </a:r>
            <a:r>
              <a:rPr dirty="0"/>
              <a:t>Exercise:</a:t>
            </a:r>
          </a:p>
          <a:p>
            <a:pPr marL="0" indent="0">
              <a:buNone/>
            </a:pPr>
            <a:r>
              <a:rPr lang="en-US" dirty="0"/>
              <a:t>	- </a:t>
            </a:r>
            <a:r>
              <a:rPr dirty="0"/>
              <a:t>Identify whether the following sets are finite or infinite:</a:t>
            </a:r>
          </a:p>
          <a:p>
            <a:pPr marL="0" indent="0">
              <a:buNone/>
            </a:pPr>
            <a:r>
              <a:rPr lang="en-US" dirty="0"/>
              <a:t>	</a:t>
            </a:r>
            <a:r>
              <a:rPr dirty="0"/>
              <a:t>1. A = {2, 4, 6, ..., 20}</a:t>
            </a:r>
          </a:p>
          <a:p>
            <a:pPr marL="0" indent="0">
              <a:buNone/>
            </a:pPr>
            <a:r>
              <a:rPr lang="en-US" dirty="0"/>
              <a:t>	</a:t>
            </a:r>
            <a:r>
              <a:rPr dirty="0"/>
              <a:t>2. B = {x | x is a natural number}</a:t>
            </a:r>
          </a:p>
        </p:txBody>
      </p:sp>
      <p:sp>
        <p:nvSpPr>
          <p:cNvPr id="5" name="Slide Number Placeholder 4"/>
          <p:cNvSpPr>
            <a:spLocks noGrp="1"/>
          </p:cNvSpPr>
          <p:nvPr>
            <p:ph type="sldNum" sz="quarter" idx="12"/>
          </p:nvPr>
        </p:nvSpPr>
        <p:spPr/>
        <p:txBody>
          <a:bodyPr/>
          <a:lstStyle/>
          <a:p>
            <a:fld id="{8D75522D-3DA1-4E7C-B84B-2130C32BB93F}" type="slidenum">
              <a:rPr lang="en-GB" smtClean="0"/>
              <a:t>20</a:t>
            </a:fld>
            <a:endParaRPr lang="en-GB"/>
          </a:p>
        </p:txBody>
      </p:sp>
    </p:spTree>
    <p:extLst>
      <p:ext uri="{BB962C8B-B14F-4D97-AF65-F5344CB8AC3E}">
        <p14:creationId xmlns:p14="http://schemas.microsoft.com/office/powerpoint/2010/main" val="3142377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Set Operations</a:t>
            </a:r>
          </a:p>
        </p:txBody>
      </p:sp>
      <p:sp>
        <p:nvSpPr>
          <p:cNvPr id="3" name="Content Placeholder 2"/>
          <p:cNvSpPr>
            <a:spLocks noGrp="1"/>
          </p:cNvSpPr>
          <p:nvPr>
            <p:ph idx="1"/>
          </p:nvPr>
        </p:nvSpPr>
        <p:spPr/>
        <p:txBody>
          <a:bodyPr>
            <a:normAutofit/>
          </a:bodyPr>
          <a:lstStyle/>
          <a:p>
            <a:r>
              <a:rPr dirty="0"/>
              <a:t>Difference: A - B = {x | x ∈ A and x ∉ B}</a:t>
            </a:r>
          </a:p>
          <a:p>
            <a:pPr marL="0" indent="0">
              <a:buNone/>
            </a:pPr>
            <a:r>
              <a:rPr lang="en-US" dirty="0"/>
              <a:t>	</a:t>
            </a:r>
            <a:r>
              <a:rPr dirty="0"/>
              <a:t>Example: A = {1, 2, 3}, B = {2, 3} → A - B = {1}</a:t>
            </a:r>
          </a:p>
          <a:p>
            <a:r>
              <a:rPr dirty="0"/>
              <a:t>Complement: A' = Universal Set - A</a:t>
            </a:r>
          </a:p>
          <a:p>
            <a:pPr marL="0" indent="0">
              <a:buNone/>
            </a:pPr>
            <a:r>
              <a:rPr lang="en-US" dirty="0"/>
              <a:t>	</a:t>
            </a:r>
            <a:r>
              <a:rPr dirty="0"/>
              <a:t>Example: U = {1, 2, 3, 4}, A = {2, 4} → A' = {1, 3}</a:t>
            </a:r>
            <a:endParaRPr lang="en-US" dirty="0"/>
          </a:p>
        </p:txBody>
      </p:sp>
      <p:sp>
        <p:nvSpPr>
          <p:cNvPr id="5" name="Slide Number Placeholder 4"/>
          <p:cNvSpPr>
            <a:spLocks noGrp="1"/>
          </p:cNvSpPr>
          <p:nvPr>
            <p:ph type="sldNum" sz="quarter" idx="12"/>
          </p:nvPr>
        </p:nvSpPr>
        <p:spPr/>
        <p:txBody>
          <a:bodyPr/>
          <a:lstStyle/>
          <a:p>
            <a:fld id="{8D75522D-3DA1-4E7C-B84B-2130C32BB93F}" type="slidenum">
              <a:rPr lang="en-GB" smtClean="0"/>
              <a:t>21</a:t>
            </a:fld>
            <a:endParaRPr lang="en-GB"/>
          </a:p>
        </p:txBody>
      </p:sp>
    </p:spTree>
    <p:extLst>
      <p:ext uri="{BB962C8B-B14F-4D97-AF65-F5344CB8AC3E}">
        <p14:creationId xmlns:p14="http://schemas.microsoft.com/office/powerpoint/2010/main" val="1312954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1475"/>
            <a:ext cx="10515600" cy="5805488"/>
          </a:xfrm>
        </p:spPr>
        <p:txBody>
          <a:bodyPr>
            <a:normAutofit fontScale="92500" lnSpcReduction="10000"/>
          </a:bodyPr>
          <a:lstStyle/>
          <a:p>
            <a:pPr marL="0" indent="0">
              <a:buNone/>
            </a:pPr>
            <a:r>
              <a:rPr lang="en-US" b="1" dirty="0"/>
              <a:t>Example:</a:t>
            </a:r>
            <a:endParaRPr lang="en-US" dirty="0"/>
          </a:p>
          <a:p>
            <a:r>
              <a:rPr lang="en-US" dirty="0"/>
              <a:t>If A = {a, b, c, d, e} and B = {c, d, f, g}, </a:t>
            </a:r>
          </a:p>
          <a:p>
            <a:pPr marL="0" indent="0">
              <a:buNone/>
            </a:pPr>
            <a:r>
              <a:rPr lang="en-US" dirty="0"/>
              <a:t>	then	 A - B = {a, b, e} and </a:t>
            </a:r>
          </a:p>
          <a:p>
            <a:pPr marL="0" indent="0">
              <a:buNone/>
            </a:pPr>
            <a:r>
              <a:rPr lang="en-US" dirty="0"/>
              <a:t>		B - A = {f, g}.</a:t>
            </a:r>
          </a:p>
          <a:p>
            <a:pPr marL="0" indent="0">
              <a:buNone/>
            </a:pPr>
            <a:r>
              <a:rPr lang="en-US" b="1" dirty="0"/>
              <a:t>Example:</a:t>
            </a:r>
            <a:endParaRPr lang="en-US" dirty="0"/>
          </a:p>
          <a:p>
            <a:r>
              <a:rPr lang="en-US" dirty="0"/>
              <a:t>If A = {1, 2, 5} and B = {2, 5}, </a:t>
            </a:r>
          </a:p>
          <a:p>
            <a:pPr marL="0" indent="0">
              <a:buNone/>
            </a:pPr>
            <a:r>
              <a:rPr lang="en-US" dirty="0"/>
              <a:t>	then 	A - B = {1} and </a:t>
            </a:r>
          </a:p>
          <a:p>
            <a:pPr marL="0" indent="0">
              <a:buNone/>
            </a:pPr>
            <a:r>
              <a:rPr lang="en-US" dirty="0"/>
              <a:t>		B - A = {} (the empty set).</a:t>
            </a:r>
          </a:p>
          <a:p>
            <a:pPr marL="0" indent="0">
              <a:buNone/>
            </a:pPr>
            <a:endParaRPr lang="en-US" dirty="0"/>
          </a:p>
          <a:p>
            <a:pPr marL="0" indent="0">
              <a:buNone/>
            </a:pPr>
            <a:r>
              <a:rPr lang="en-US" dirty="0"/>
              <a:t>Exercise:</a:t>
            </a:r>
          </a:p>
          <a:p>
            <a:pPr marL="0" indent="0">
              <a:buNone/>
            </a:pPr>
            <a:r>
              <a:rPr lang="en-US" dirty="0"/>
              <a:t>	- Find the difference and complement:</a:t>
            </a:r>
          </a:p>
          <a:p>
            <a:pPr marL="0" indent="0">
              <a:buNone/>
            </a:pPr>
            <a:r>
              <a:rPr lang="en-US" dirty="0"/>
              <a:t>	1. A = {x | x &lt; 5}, B = {x | x is even}.</a:t>
            </a:r>
          </a:p>
          <a:p>
            <a:pPr marL="0" indent="0">
              <a:buNone/>
            </a:pPr>
            <a:r>
              <a:rPr lang="en-US" dirty="0"/>
              <a:t> </a:t>
            </a:r>
          </a:p>
          <a:p>
            <a:endParaRPr lang="en-US" dirty="0"/>
          </a:p>
        </p:txBody>
      </p:sp>
      <p:sp>
        <p:nvSpPr>
          <p:cNvPr id="5" name="Slide Number Placeholder 4"/>
          <p:cNvSpPr>
            <a:spLocks noGrp="1"/>
          </p:cNvSpPr>
          <p:nvPr>
            <p:ph type="sldNum" sz="quarter" idx="12"/>
          </p:nvPr>
        </p:nvSpPr>
        <p:spPr/>
        <p:txBody>
          <a:bodyPr/>
          <a:lstStyle/>
          <a:p>
            <a:fld id="{8D75522D-3DA1-4E7C-B84B-2130C32BB93F}" type="slidenum">
              <a:rPr lang="en-GB" smtClean="0"/>
              <a:t>22</a:t>
            </a:fld>
            <a:endParaRPr lang="en-GB"/>
          </a:p>
        </p:txBody>
      </p:sp>
    </p:spTree>
    <p:extLst>
      <p:ext uri="{BB962C8B-B14F-4D97-AF65-F5344CB8AC3E}">
        <p14:creationId xmlns:p14="http://schemas.microsoft.com/office/powerpoint/2010/main" val="1754429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492FBA9-7B12-8FBD-3AA5-8772E61344D3}"/>
              </a:ext>
            </a:extLst>
          </p:cNvPr>
          <p:cNvSpPr>
            <a:spLocks noGrp="1" noChangeArrowheads="1"/>
          </p:cNvSpPr>
          <p:nvPr>
            <p:ph idx="1"/>
          </p:nvPr>
        </p:nvSpPr>
        <p:spPr bwMode="auto">
          <a:xfrm>
            <a:off x="870284" y="276239"/>
            <a:ext cx="10952747" cy="5236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A = {x | x &lt; 5}</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rPr>
              <a:t>This includes all numbers </a:t>
            </a:r>
            <a:r>
              <a:rPr kumimoji="0" lang="en-US" altLang="en-US" b="1" i="0" u="none" strike="noStrike" cap="none" normalizeH="0" baseline="0" dirty="0">
                <a:ln>
                  <a:noFill/>
                </a:ln>
                <a:solidFill>
                  <a:schemeClr val="tx1"/>
                </a:solidFill>
                <a:effectLst/>
              </a:rPr>
              <a:t>less than 5</a:t>
            </a:r>
            <a:r>
              <a:rPr kumimoji="0" lang="en-US" altLang="en-US" b="0" i="0" u="none" strike="noStrike" cap="none" normalizeH="0" baseline="0" dirty="0">
                <a:ln>
                  <a:noFill/>
                </a:ln>
                <a:solidFill>
                  <a:schemeClr val="tx1"/>
                </a:solidFill>
                <a:effectLst/>
              </a:rPr>
              <a:t>, i.e., </a:t>
            </a:r>
            <a:r>
              <a:rPr kumimoji="0" lang="en-US" altLang="en-US" b="1" i="0" u="none" strike="noStrike" cap="none" normalizeH="0" baseline="0" dirty="0">
                <a:ln>
                  <a:noFill/>
                </a:ln>
                <a:solidFill>
                  <a:schemeClr val="tx1"/>
                </a:solidFill>
                <a:effectLst/>
              </a:rPr>
              <a:t>{..., -3, -2, -1, 0, 1, 2, 3, 4}</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B = {x | x is even}</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rPr>
              <a:t>This includes all </a:t>
            </a:r>
            <a:r>
              <a:rPr kumimoji="0" lang="en-US" altLang="en-US" b="1" i="0" u="none" strike="noStrike" cap="none" normalizeH="0" baseline="0" dirty="0">
                <a:ln>
                  <a:noFill/>
                </a:ln>
                <a:solidFill>
                  <a:schemeClr val="tx1"/>
                </a:solidFill>
                <a:effectLst/>
              </a:rPr>
              <a:t>even numbers</a:t>
            </a:r>
            <a:r>
              <a:rPr kumimoji="0" lang="en-US" altLang="en-US" b="0" i="0" u="none" strike="noStrike" cap="none" normalizeH="0" baseline="0" dirty="0">
                <a:ln>
                  <a:noFill/>
                </a:ln>
                <a:solidFill>
                  <a:schemeClr val="tx1"/>
                </a:solidFill>
                <a:effectLst/>
              </a:rPr>
              <a:t>, i.e., </a:t>
            </a:r>
            <a:r>
              <a:rPr kumimoji="0" lang="en-US" altLang="en-US" b="1" i="0" u="none" strike="noStrike" cap="none" normalizeH="0" baseline="0" dirty="0">
                <a:ln>
                  <a:noFill/>
                </a:ln>
                <a:solidFill>
                  <a:schemeClr val="tx1"/>
                </a:solidFill>
                <a:effectLst/>
              </a:rPr>
              <a:t>{..., -4, -2, 0, 2, 4, 6, 8, ...}</a:t>
            </a:r>
            <a:r>
              <a:rPr kumimoji="0" lang="en-US" altLang="en-US" b="0" i="0" u="none" strike="noStrike" cap="none" normalizeH="0" baseline="0" dirty="0">
                <a:ln>
                  <a:noFill/>
                </a:ln>
                <a:solidFill>
                  <a:schemeClr val="tx1"/>
                </a:solidFill>
                <a:effectLst/>
              </a:rPr>
              <a:t>.</a:t>
            </a:r>
          </a:p>
          <a:p>
            <a:pPr marL="0" lvl="0" indent="0" eaLnBrk="0" fontAlgn="base" hangingPunct="0">
              <a:lnSpc>
                <a:spcPct val="100000"/>
              </a:lnSpc>
              <a:spcBef>
                <a:spcPct val="0"/>
              </a:spcBef>
              <a:spcAft>
                <a:spcPct val="0"/>
              </a:spcAft>
              <a:buNone/>
            </a:pPr>
            <a:r>
              <a:rPr lang="pt-BR" dirty="0">
                <a:solidFill>
                  <a:srgbClr val="C00000"/>
                </a:solidFill>
              </a:rPr>
              <a:t>(A ∩ B) = ?</a:t>
            </a:r>
            <a:endParaRPr kumimoji="0" lang="en-US" altLang="en-US" b="0" i="0" u="none" strike="noStrike" cap="none" normalizeH="0" baseline="0" dirty="0">
              <a:ln>
                <a:noFill/>
              </a:ln>
              <a:solidFill>
                <a:srgbClr val="C00000"/>
              </a:solidFill>
              <a:effectLst/>
            </a:endParaRPr>
          </a:p>
          <a:p>
            <a:pPr marL="0" lvl="0" indent="0" eaLnBrk="0" fontAlgn="base" hangingPunct="0">
              <a:lnSpc>
                <a:spcPct val="100000"/>
              </a:lnSpc>
              <a:spcBef>
                <a:spcPct val="0"/>
              </a:spcBef>
              <a:spcAft>
                <a:spcPct val="0"/>
              </a:spcAft>
              <a:buNone/>
            </a:pPr>
            <a:r>
              <a:rPr lang="pt-BR" dirty="0"/>
              <a:t>(A ∩ B) = {-2, 0, 2, 4}</a:t>
            </a:r>
          </a:p>
          <a:p>
            <a:pPr marL="0" lvl="0" indent="0" eaLnBrk="0" fontAlgn="base" hangingPunct="0">
              <a:lnSpc>
                <a:spcPct val="100000"/>
              </a:lnSpc>
              <a:spcBef>
                <a:spcPct val="0"/>
              </a:spcBef>
              <a:spcAft>
                <a:spcPct val="0"/>
              </a:spcAft>
              <a:buNone/>
            </a:pPr>
            <a:r>
              <a:rPr lang="en-US" dirty="0">
                <a:solidFill>
                  <a:srgbClr val="C00000"/>
                </a:solidFill>
              </a:rPr>
              <a:t>A – B = ?</a:t>
            </a:r>
            <a:endParaRPr lang="pt-BR" dirty="0">
              <a:solidFill>
                <a:srgbClr val="C00000"/>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en-US" b="1" dirty="0"/>
              <a:t>A - B</a:t>
            </a:r>
            <a:r>
              <a:rPr lang="en-US" dirty="0"/>
              <a:t> = Elements in A that are </a:t>
            </a:r>
            <a:r>
              <a:rPr lang="en-US" b="1" dirty="0"/>
              <a:t>not in B</a:t>
            </a:r>
            <a:r>
              <a:rPr lang="en-US" dirty="0"/>
              <a:t> → </a:t>
            </a:r>
            <a:r>
              <a:rPr lang="en-US" b="1" dirty="0"/>
              <a:t>{…-5, -3, -1, 1, 3}</a:t>
            </a:r>
            <a:r>
              <a:rPr lang="en-US" dirty="0"/>
              <a:t>.</a:t>
            </a:r>
          </a:p>
          <a:p>
            <a:pPr marL="0" indent="0">
              <a:buNone/>
            </a:pPr>
            <a:r>
              <a:rPr lang="en-US" b="1" dirty="0"/>
              <a:t>B-A = Elements in B that are NOT in A</a:t>
            </a:r>
            <a:r>
              <a:rPr lang="en-US" dirty="0"/>
              <a:t> → </a:t>
            </a:r>
            <a:r>
              <a:rPr lang="en-US" b="1" dirty="0"/>
              <a:t>{..., 6, 8, 10, ...}</a:t>
            </a:r>
            <a:r>
              <a:rPr lang="en-US" dirty="0"/>
              <a:t> (All even numbers </a:t>
            </a:r>
            <a:r>
              <a:rPr lang="en-US" b="1" dirty="0"/>
              <a:t>≥ 5</a:t>
            </a:r>
            <a:r>
              <a:rPr lang="en-US" dirty="0"/>
              <a:t>).</a:t>
            </a:r>
          </a:p>
          <a:p>
            <a:pPr marL="0" indent="0">
              <a:buNone/>
            </a:pPr>
            <a:r>
              <a:rPr lang="en-US" b="1" dirty="0"/>
              <a:t>So, B - A = {x | x is even and x ≥ 5}</a:t>
            </a:r>
            <a:r>
              <a:rPr lang="en-US"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8D75522D-3DA1-4E7C-B84B-2130C32BB93F}" type="slidenum">
              <a:rPr lang="en-GB" smtClean="0"/>
              <a:t>23</a:t>
            </a:fld>
            <a:endParaRPr lang="en-GB"/>
          </a:p>
        </p:txBody>
      </p:sp>
    </p:spTree>
    <p:extLst>
      <p:ext uri="{BB962C8B-B14F-4D97-AF65-F5344CB8AC3E}">
        <p14:creationId xmlns:p14="http://schemas.microsoft.com/office/powerpoint/2010/main" val="150394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8442D-7322-3DAA-56CA-F3F2B75FBFC7}"/>
              </a:ext>
            </a:extLst>
          </p:cNvPr>
          <p:cNvSpPr>
            <a:spLocks noGrp="1"/>
          </p:cNvSpPr>
          <p:nvPr>
            <p:ph type="title"/>
          </p:nvPr>
        </p:nvSpPr>
        <p:spPr/>
        <p:txBody>
          <a:bodyPr/>
          <a:lstStyle/>
          <a:p>
            <a:r>
              <a:rPr lang="en-GB" dirty="0"/>
              <a:t>Venn Diagrams</a:t>
            </a:r>
          </a:p>
        </p:txBody>
      </p:sp>
      <p:sp>
        <p:nvSpPr>
          <p:cNvPr id="3" name="Content Placeholder 2">
            <a:extLst>
              <a:ext uri="{FF2B5EF4-FFF2-40B4-BE49-F238E27FC236}">
                <a16:creationId xmlns:a16="http://schemas.microsoft.com/office/drawing/2014/main" id="{5AEFE8A1-0F70-EAB7-C0F7-77155D9EA641}"/>
              </a:ext>
            </a:extLst>
          </p:cNvPr>
          <p:cNvSpPr>
            <a:spLocks noGrp="1"/>
          </p:cNvSpPr>
          <p:nvPr>
            <p:ph idx="1"/>
          </p:nvPr>
        </p:nvSpPr>
        <p:spPr/>
        <p:txBody>
          <a:bodyPr/>
          <a:lstStyle/>
          <a:p>
            <a:r>
              <a:rPr lang="en-US" b="0" i="0" dirty="0">
                <a:solidFill>
                  <a:srgbClr val="333333"/>
                </a:solidFill>
                <a:effectLst/>
                <a:latin typeface="Untitled Sans"/>
              </a:rPr>
              <a:t>A </a:t>
            </a:r>
            <a:r>
              <a:rPr lang="en-US" b="1" i="0" dirty="0">
                <a:solidFill>
                  <a:srgbClr val="333333"/>
                </a:solidFill>
                <a:effectLst/>
                <a:latin typeface="Untitled Sans"/>
              </a:rPr>
              <a:t>Venn diagram</a:t>
            </a:r>
            <a:r>
              <a:rPr lang="en-US" b="0" i="0" dirty="0">
                <a:solidFill>
                  <a:srgbClr val="333333"/>
                </a:solidFill>
                <a:effectLst/>
                <a:latin typeface="Untitled Sans"/>
              </a:rPr>
              <a:t> is a diagram that helps us visualize the logical relationship between </a:t>
            </a:r>
            <a:r>
              <a:rPr lang="en-US" b="0" i="0" u="none" strike="noStrike" dirty="0">
                <a:solidFill>
                  <a:srgbClr val="01A5F2"/>
                </a:solidFill>
                <a:effectLst/>
                <a:latin typeface="Untitled Sans"/>
              </a:rPr>
              <a:t>sets</a:t>
            </a:r>
            <a:r>
              <a:rPr lang="en-US" b="0" i="0" dirty="0">
                <a:solidFill>
                  <a:srgbClr val="333333"/>
                </a:solidFill>
                <a:effectLst/>
                <a:latin typeface="Untitled Sans"/>
              </a:rPr>
              <a:t> and their elements </a:t>
            </a:r>
          </a:p>
          <a:p>
            <a:r>
              <a:rPr lang="en-US" b="0" i="0" dirty="0">
                <a:solidFill>
                  <a:srgbClr val="333333"/>
                </a:solidFill>
                <a:effectLst/>
                <a:latin typeface="Untitled Sans"/>
              </a:rPr>
              <a:t>A Venn diagram typically uses intersecting and non-intersecting circles to denote the relationship between sets</a:t>
            </a:r>
            <a:endParaRPr lang="en-GB" dirty="0"/>
          </a:p>
        </p:txBody>
      </p:sp>
      <p:pic>
        <p:nvPicPr>
          <p:cNvPr id="5" name="Picture 4">
            <a:extLst>
              <a:ext uri="{FF2B5EF4-FFF2-40B4-BE49-F238E27FC236}">
                <a16:creationId xmlns:a16="http://schemas.microsoft.com/office/drawing/2014/main" id="{12081818-3AA1-B3E1-BED6-D6237DB385A0}"/>
              </a:ext>
            </a:extLst>
          </p:cNvPr>
          <p:cNvPicPr>
            <a:picLocks noChangeAspect="1"/>
          </p:cNvPicPr>
          <p:nvPr/>
        </p:nvPicPr>
        <p:blipFill>
          <a:blip r:embed="rId2"/>
          <a:stretch>
            <a:fillRect/>
          </a:stretch>
        </p:blipFill>
        <p:spPr>
          <a:xfrm>
            <a:off x="1618999" y="4001294"/>
            <a:ext cx="2505075" cy="1724025"/>
          </a:xfrm>
          <a:prstGeom prst="rect">
            <a:avLst/>
          </a:prstGeom>
        </p:spPr>
      </p:pic>
      <p:pic>
        <p:nvPicPr>
          <p:cNvPr id="7" name="Picture 6">
            <a:extLst>
              <a:ext uri="{FF2B5EF4-FFF2-40B4-BE49-F238E27FC236}">
                <a16:creationId xmlns:a16="http://schemas.microsoft.com/office/drawing/2014/main" id="{909AC251-A649-6604-74D0-EDF30002BDE6}"/>
              </a:ext>
            </a:extLst>
          </p:cNvPr>
          <p:cNvPicPr>
            <a:picLocks noChangeAspect="1"/>
          </p:cNvPicPr>
          <p:nvPr/>
        </p:nvPicPr>
        <p:blipFill>
          <a:blip r:embed="rId3"/>
          <a:stretch>
            <a:fillRect/>
          </a:stretch>
        </p:blipFill>
        <p:spPr>
          <a:xfrm>
            <a:off x="6448674" y="4001293"/>
            <a:ext cx="2683014" cy="1724025"/>
          </a:xfrm>
          <a:prstGeom prst="rect">
            <a:avLst/>
          </a:prstGeom>
        </p:spPr>
      </p:pic>
      <p:sp>
        <p:nvSpPr>
          <p:cNvPr id="6" name="Slide Number Placeholder 5"/>
          <p:cNvSpPr>
            <a:spLocks noGrp="1"/>
          </p:cNvSpPr>
          <p:nvPr>
            <p:ph type="sldNum" sz="quarter" idx="12"/>
          </p:nvPr>
        </p:nvSpPr>
        <p:spPr/>
        <p:txBody>
          <a:bodyPr/>
          <a:lstStyle/>
          <a:p>
            <a:fld id="{8D75522D-3DA1-4E7C-B84B-2130C32BB93F}" type="slidenum">
              <a:rPr lang="en-GB" smtClean="0"/>
              <a:t>24</a:t>
            </a:fld>
            <a:endParaRPr lang="en-GB"/>
          </a:p>
        </p:txBody>
      </p:sp>
    </p:spTree>
    <p:extLst>
      <p:ext uri="{BB962C8B-B14F-4D97-AF65-F5344CB8AC3E}">
        <p14:creationId xmlns:p14="http://schemas.microsoft.com/office/powerpoint/2010/main" val="3474641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84D590A5-AAE8-F8D5-ECDB-83240B56F390}"/>
              </a:ext>
            </a:extLst>
          </p:cNvPr>
          <p:cNvSpPr/>
          <p:nvPr/>
        </p:nvSpPr>
        <p:spPr>
          <a:xfrm>
            <a:off x="1088759" y="1705351"/>
            <a:ext cx="3440622" cy="3297264"/>
          </a:xfrm>
          <a:prstGeom prst="ellipse">
            <a:avLst/>
          </a:prstGeom>
          <a:noFill/>
          <a:ln w="76200"/>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6" name="Oval 5">
            <a:extLst>
              <a:ext uri="{FF2B5EF4-FFF2-40B4-BE49-F238E27FC236}">
                <a16:creationId xmlns:a16="http://schemas.microsoft.com/office/drawing/2014/main" id="{EAD28C86-D7F9-5236-AF76-92265C01FE73}"/>
              </a:ext>
            </a:extLst>
          </p:cNvPr>
          <p:cNvSpPr/>
          <p:nvPr/>
        </p:nvSpPr>
        <p:spPr>
          <a:xfrm>
            <a:off x="3444501" y="1705351"/>
            <a:ext cx="3440622" cy="3297264"/>
          </a:xfrm>
          <a:prstGeom prst="ellipse">
            <a:avLst/>
          </a:prstGeom>
          <a:noFill/>
          <a:ln w="76200"/>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8" name="TextBox 7">
            <a:extLst>
              <a:ext uri="{FF2B5EF4-FFF2-40B4-BE49-F238E27FC236}">
                <a16:creationId xmlns:a16="http://schemas.microsoft.com/office/drawing/2014/main" id="{76370F1C-F523-FB4B-62E1-58CD7CE86587}"/>
              </a:ext>
            </a:extLst>
          </p:cNvPr>
          <p:cNvSpPr txBox="1"/>
          <p:nvPr/>
        </p:nvSpPr>
        <p:spPr>
          <a:xfrm>
            <a:off x="6564825" y="1781310"/>
            <a:ext cx="635431" cy="646331"/>
          </a:xfrm>
          <a:prstGeom prst="rect">
            <a:avLst/>
          </a:prstGeom>
          <a:noFill/>
        </p:spPr>
        <p:txBody>
          <a:bodyPr wrap="square" rtlCol="0">
            <a:spAutoFit/>
          </a:bodyPr>
          <a:lstStyle/>
          <a:p>
            <a:r>
              <a:rPr lang="en-US" sz="3600" dirty="0">
                <a:solidFill>
                  <a:schemeClr val="accent1">
                    <a:lumMod val="50000"/>
                  </a:schemeClr>
                </a:solidFill>
                <a:latin typeface="Calibri" panose="020F0502020204030204" pitchFamily="34" charset="0"/>
                <a:cs typeface="Calibri" panose="020F0502020204030204" pitchFamily="34" charset="0"/>
              </a:rPr>
              <a:t>P</a:t>
            </a:r>
            <a:endParaRPr lang="en-GB" sz="3600" dirty="0">
              <a:solidFill>
                <a:schemeClr val="accent1">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F4BA3D5-3E45-A1B3-460A-C5413FA18116}"/>
              </a:ext>
            </a:extLst>
          </p:cNvPr>
          <p:cNvSpPr txBox="1"/>
          <p:nvPr/>
        </p:nvSpPr>
        <p:spPr>
          <a:xfrm>
            <a:off x="1066157" y="1594344"/>
            <a:ext cx="635431" cy="646331"/>
          </a:xfrm>
          <a:prstGeom prst="rect">
            <a:avLst/>
          </a:prstGeom>
          <a:noFill/>
        </p:spPr>
        <p:txBody>
          <a:bodyPr wrap="square" rtlCol="0">
            <a:spAutoFit/>
          </a:bodyPr>
          <a:lstStyle/>
          <a:p>
            <a:r>
              <a:rPr lang="en-US" sz="3600" dirty="0">
                <a:solidFill>
                  <a:schemeClr val="accent1">
                    <a:lumMod val="50000"/>
                  </a:schemeClr>
                </a:solidFill>
                <a:latin typeface="Calibri" panose="020F0502020204030204" pitchFamily="34" charset="0"/>
                <a:cs typeface="Calibri" panose="020F0502020204030204" pitchFamily="34" charset="0"/>
              </a:rPr>
              <a:t>Q</a:t>
            </a:r>
            <a:endParaRPr lang="en-GB" sz="3600" dirty="0">
              <a:solidFill>
                <a:schemeClr val="accent1">
                  <a:lumMod val="50000"/>
                </a:schemeClr>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F12C9921-F1EE-9BE6-C392-42838A1CEF2B}"/>
              </a:ext>
            </a:extLst>
          </p:cNvPr>
          <p:cNvSpPr txBox="1"/>
          <p:nvPr/>
        </p:nvSpPr>
        <p:spPr>
          <a:xfrm>
            <a:off x="8342606" y="1086951"/>
            <a:ext cx="2783237" cy="523220"/>
          </a:xfrm>
          <a:prstGeom prst="rect">
            <a:avLst/>
          </a:prstGeom>
          <a:noFill/>
        </p:spPr>
        <p:txBody>
          <a:bodyPr wrap="square" rtlCol="0">
            <a:spAutoFit/>
          </a:bodyPr>
          <a:lstStyle/>
          <a:p>
            <a:r>
              <a:rPr lang="en-US" sz="2800" dirty="0">
                <a:solidFill>
                  <a:schemeClr val="accent1">
                    <a:lumMod val="50000"/>
                  </a:schemeClr>
                </a:solidFill>
                <a:latin typeface="Calibri" panose="020F0502020204030204" pitchFamily="34" charset="0"/>
                <a:cs typeface="Calibri" panose="020F0502020204030204" pitchFamily="34" charset="0"/>
              </a:rPr>
              <a:t>1. P only</a:t>
            </a:r>
            <a:endParaRPr lang="en-GB" sz="2400" dirty="0">
              <a:solidFill>
                <a:schemeClr val="accent1">
                  <a:lumMod val="50000"/>
                </a:schemeClr>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1A8AAB5-E02E-D952-50EF-4526BCC2F836}"/>
              </a:ext>
            </a:extLst>
          </p:cNvPr>
          <p:cNvSpPr txBox="1"/>
          <p:nvPr/>
        </p:nvSpPr>
        <p:spPr>
          <a:xfrm>
            <a:off x="8342605" y="2181021"/>
            <a:ext cx="2783237" cy="523220"/>
          </a:xfrm>
          <a:prstGeom prst="rect">
            <a:avLst/>
          </a:prstGeom>
          <a:noFill/>
        </p:spPr>
        <p:txBody>
          <a:bodyPr wrap="square" rtlCol="0">
            <a:spAutoFit/>
          </a:bodyPr>
          <a:lstStyle/>
          <a:p>
            <a:r>
              <a:rPr lang="en-US" sz="2800" dirty="0">
                <a:solidFill>
                  <a:schemeClr val="accent1">
                    <a:lumMod val="50000"/>
                  </a:schemeClr>
                </a:solidFill>
                <a:latin typeface="Calibri" panose="020F0502020204030204" pitchFamily="34" charset="0"/>
                <a:cs typeface="Calibri" panose="020F0502020204030204" pitchFamily="34" charset="0"/>
              </a:rPr>
              <a:t>3. P &amp; Q</a:t>
            </a:r>
            <a:endParaRPr lang="en-GB" sz="2400" dirty="0">
              <a:solidFill>
                <a:schemeClr val="accent1">
                  <a:lumMod val="50000"/>
                </a:schemeClr>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D1EC23C0-97CC-29E4-C1BC-4C5238BC1C96}"/>
              </a:ext>
            </a:extLst>
          </p:cNvPr>
          <p:cNvSpPr txBox="1"/>
          <p:nvPr/>
        </p:nvSpPr>
        <p:spPr>
          <a:xfrm>
            <a:off x="8342607" y="1617500"/>
            <a:ext cx="2134248" cy="523220"/>
          </a:xfrm>
          <a:prstGeom prst="rect">
            <a:avLst/>
          </a:prstGeom>
          <a:noFill/>
        </p:spPr>
        <p:txBody>
          <a:bodyPr wrap="square" rtlCol="0">
            <a:spAutoFit/>
          </a:bodyPr>
          <a:lstStyle/>
          <a:p>
            <a:r>
              <a:rPr lang="en-US" sz="2800" dirty="0">
                <a:solidFill>
                  <a:schemeClr val="accent1">
                    <a:lumMod val="50000"/>
                  </a:schemeClr>
                </a:solidFill>
                <a:latin typeface="Calibri" panose="020F0502020204030204" pitchFamily="34" charset="0"/>
                <a:cs typeface="Calibri" panose="020F0502020204030204" pitchFamily="34" charset="0"/>
              </a:rPr>
              <a:t>2. Q only</a:t>
            </a:r>
            <a:endParaRPr lang="en-GB" sz="2400" dirty="0">
              <a:solidFill>
                <a:schemeClr val="accent1">
                  <a:lumMod val="50000"/>
                </a:schemeClr>
              </a:solidFill>
              <a:latin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8D75522D-3DA1-4E7C-B84B-2130C32BB93F}" type="slidenum">
              <a:rPr lang="en-GB" smtClean="0"/>
              <a:t>25</a:t>
            </a:fld>
            <a:endParaRPr lang="en-GB"/>
          </a:p>
        </p:txBody>
      </p:sp>
      <p:sp>
        <p:nvSpPr>
          <p:cNvPr id="12" name="TextBox 11">
            <a:extLst>
              <a:ext uri="{FF2B5EF4-FFF2-40B4-BE49-F238E27FC236}">
                <a16:creationId xmlns:a16="http://schemas.microsoft.com/office/drawing/2014/main" id="{F12C9921-F1EE-9BE6-C392-42838A1CEF2B}"/>
              </a:ext>
            </a:extLst>
          </p:cNvPr>
          <p:cNvSpPr txBox="1"/>
          <p:nvPr/>
        </p:nvSpPr>
        <p:spPr>
          <a:xfrm>
            <a:off x="7507880" y="516101"/>
            <a:ext cx="3436345" cy="523220"/>
          </a:xfrm>
          <a:prstGeom prst="rect">
            <a:avLst/>
          </a:prstGeom>
          <a:noFill/>
        </p:spPr>
        <p:txBody>
          <a:bodyPr wrap="square" rtlCol="0">
            <a:spAutoFit/>
          </a:bodyPr>
          <a:lstStyle/>
          <a:p>
            <a:r>
              <a:rPr lang="en-US" sz="2800" dirty="0">
                <a:solidFill>
                  <a:schemeClr val="accent1">
                    <a:lumMod val="50000"/>
                  </a:schemeClr>
                </a:solidFill>
                <a:latin typeface="Calibri" panose="020F0502020204030204" pitchFamily="34" charset="0"/>
                <a:cs typeface="Calibri" panose="020F0502020204030204" pitchFamily="34" charset="0"/>
              </a:rPr>
              <a:t>Highlight the areas, </a:t>
            </a:r>
            <a:endParaRPr lang="en-GB" sz="2400" dirty="0">
              <a:solidFill>
                <a:schemeClr val="accent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3255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DA76B-99B7-DC95-5FF7-F9C27A61E090}"/>
              </a:ext>
            </a:extLst>
          </p:cNvPr>
          <p:cNvSpPr>
            <a:spLocks noGrp="1"/>
          </p:cNvSpPr>
          <p:nvPr>
            <p:ph type="title"/>
          </p:nvPr>
        </p:nvSpPr>
        <p:spPr/>
        <p:txBody>
          <a:bodyPr/>
          <a:lstStyle/>
          <a:p>
            <a:r>
              <a:rPr lang="en-US" dirty="0"/>
              <a:t>Create a Venn diagram for:</a:t>
            </a:r>
            <a:endParaRPr lang="en-GB" dirty="0"/>
          </a:p>
        </p:txBody>
      </p:sp>
      <p:sp>
        <p:nvSpPr>
          <p:cNvPr id="3" name="Content Placeholder 2">
            <a:extLst>
              <a:ext uri="{FF2B5EF4-FFF2-40B4-BE49-F238E27FC236}">
                <a16:creationId xmlns:a16="http://schemas.microsoft.com/office/drawing/2014/main" id="{5AC3BCBC-E95E-4A1A-EAAC-FF64F2717C33}"/>
              </a:ext>
            </a:extLst>
          </p:cNvPr>
          <p:cNvSpPr>
            <a:spLocks noGrp="1"/>
          </p:cNvSpPr>
          <p:nvPr>
            <p:ph idx="1"/>
          </p:nvPr>
        </p:nvSpPr>
        <p:spPr/>
        <p:txBody>
          <a:bodyPr/>
          <a:lstStyle/>
          <a:p>
            <a:r>
              <a:rPr lang="en-US" dirty="0"/>
              <a:t>Multiples of 5 from 1 to 25</a:t>
            </a:r>
          </a:p>
          <a:p>
            <a:r>
              <a:rPr lang="en-US" dirty="0"/>
              <a:t>Even numbers from 1 to 25</a:t>
            </a:r>
          </a:p>
          <a:p>
            <a:endParaRPr lang="en-GB" dirty="0"/>
          </a:p>
        </p:txBody>
      </p:sp>
      <p:sp>
        <p:nvSpPr>
          <p:cNvPr id="5" name="Slide Number Placeholder 4"/>
          <p:cNvSpPr>
            <a:spLocks noGrp="1"/>
          </p:cNvSpPr>
          <p:nvPr>
            <p:ph type="sldNum" sz="quarter" idx="12"/>
          </p:nvPr>
        </p:nvSpPr>
        <p:spPr/>
        <p:txBody>
          <a:bodyPr/>
          <a:lstStyle/>
          <a:p>
            <a:fld id="{8D75522D-3DA1-4E7C-B84B-2130C32BB93F}" type="slidenum">
              <a:rPr lang="en-GB" smtClean="0"/>
              <a:t>26</a:t>
            </a:fld>
            <a:endParaRPr lang="en-GB"/>
          </a:p>
        </p:txBody>
      </p:sp>
    </p:spTree>
    <p:extLst>
      <p:ext uri="{BB962C8B-B14F-4D97-AF65-F5344CB8AC3E}">
        <p14:creationId xmlns:p14="http://schemas.microsoft.com/office/powerpoint/2010/main" val="499757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4D433-F302-BE02-0003-25C3DF39E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6D681-4AE9-1E9D-F497-A3F66985398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570271C-8C0E-8615-35BC-633C1C6351A5}"/>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A7D7E98C-A30C-FFA0-4583-1BBA7AA5648F}"/>
              </a:ext>
            </a:extLst>
          </p:cNvPr>
          <p:cNvPicPr>
            <a:picLocks noChangeAspect="1"/>
          </p:cNvPicPr>
          <p:nvPr/>
        </p:nvPicPr>
        <p:blipFill>
          <a:blip r:embed="rId2"/>
          <a:stretch>
            <a:fillRect/>
          </a:stretch>
        </p:blipFill>
        <p:spPr>
          <a:xfrm>
            <a:off x="1070675" y="525167"/>
            <a:ext cx="9722560" cy="5457179"/>
          </a:xfrm>
          <a:prstGeom prst="rect">
            <a:avLst/>
          </a:prstGeom>
        </p:spPr>
      </p:pic>
      <p:sp>
        <p:nvSpPr>
          <p:cNvPr id="6" name="Slide Number Placeholder 5"/>
          <p:cNvSpPr>
            <a:spLocks noGrp="1"/>
          </p:cNvSpPr>
          <p:nvPr>
            <p:ph type="sldNum" sz="quarter" idx="12"/>
          </p:nvPr>
        </p:nvSpPr>
        <p:spPr/>
        <p:txBody>
          <a:bodyPr/>
          <a:lstStyle/>
          <a:p>
            <a:fld id="{8D75522D-3DA1-4E7C-B84B-2130C32BB93F}" type="slidenum">
              <a:rPr lang="en-GB" smtClean="0"/>
              <a:t>27</a:t>
            </a:fld>
            <a:endParaRPr lang="en-GB"/>
          </a:p>
        </p:txBody>
      </p:sp>
    </p:spTree>
    <p:extLst>
      <p:ext uri="{BB962C8B-B14F-4D97-AF65-F5344CB8AC3E}">
        <p14:creationId xmlns:p14="http://schemas.microsoft.com/office/powerpoint/2010/main" val="30372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15B62-8B4A-F20D-DC7F-805F8091F39A}"/>
            </a:ext>
          </a:extLst>
        </p:cNvPr>
        <p:cNvGrpSpPr/>
        <p:nvPr/>
      </p:nvGrpSpPr>
      <p:grpSpPr>
        <a:xfrm>
          <a:off x="0" y="0"/>
          <a:ext cx="0" cy="0"/>
          <a:chOff x="0" y="0"/>
          <a:chExt cx="0" cy="0"/>
        </a:xfrm>
      </p:grpSpPr>
      <p:sp>
        <p:nvSpPr>
          <p:cNvPr id="12" name="TextBox 11"/>
          <p:cNvSpPr txBox="1"/>
          <p:nvPr/>
        </p:nvSpPr>
        <p:spPr>
          <a:xfrm>
            <a:off x="1117969" y="470981"/>
            <a:ext cx="7841498" cy="6016089"/>
          </a:xfrm>
          <a:prstGeom prst="rect">
            <a:avLst/>
          </a:prstGeom>
          <a:noFill/>
          <a:ln>
            <a:solidFill>
              <a:schemeClr val="tx1"/>
            </a:solidFill>
          </a:ln>
        </p:spPr>
        <p:txBody>
          <a:bodyPr wrap="square" rtlCol="0">
            <a:spAutoFit/>
          </a:bodyPr>
          <a:lstStyle/>
          <a:p>
            <a:endParaRPr lang="en-US" dirty="0"/>
          </a:p>
        </p:txBody>
      </p:sp>
      <p:sp>
        <p:nvSpPr>
          <p:cNvPr id="4" name="Oval 3">
            <a:extLst>
              <a:ext uri="{FF2B5EF4-FFF2-40B4-BE49-F238E27FC236}">
                <a16:creationId xmlns:a16="http://schemas.microsoft.com/office/drawing/2014/main" id="{0E23F6F5-8585-20E3-9DDA-4C395DFD86D3}"/>
              </a:ext>
            </a:extLst>
          </p:cNvPr>
          <p:cNvSpPr/>
          <p:nvPr/>
        </p:nvSpPr>
        <p:spPr>
          <a:xfrm>
            <a:off x="2192522" y="625359"/>
            <a:ext cx="3440622" cy="3297264"/>
          </a:xfrm>
          <a:prstGeom prst="ellipse">
            <a:avLst/>
          </a:prstGeom>
          <a:noFill/>
          <a:ln w="76200"/>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5" name="Oval 4">
            <a:extLst>
              <a:ext uri="{FF2B5EF4-FFF2-40B4-BE49-F238E27FC236}">
                <a16:creationId xmlns:a16="http://schemas.microsoft.com/office/drawing/2014/main" id="{CB2B90B4-3AF9-293A-1C87-A65285CF80F3}"/>
              </a:ext>
            </a:extLst>
          </p:cNvPr>
          <p:cNvSpPr/>
          <p:nvPr/>
        </p:nvSpPr>
        <p:spPr>
          <a:xfrm>
            <a:off x="3318407" y="2886880"/>
            <a:ext cx="3440622" cy="3297264"/>
          </a:xfrm>
          <a:prstGeom prst="ellipse">
            <a:avLst/>
          </a:prstGeom>
          <a:noFill/>
          <a:ln w="76200"/>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6" name="Oval 5">
            <a:extLst>
              <a:ext uri="{FF2B5EF4-FFF2-40B4-BE49-F238E27FC236}">
                <a16:creationId xmlns:a16="http://schemas.microsoft.com/office/drawing/2014/main" id="{2B94E11C-67E6-E265-E090-B6D4DD87C376}"/>
              </a:ext>
            </a:extLst>
          </p:cNvPr>
          <p:cNvSpPr/>
          <p:nvPr/>
        </p:nvSpPr>
        <p:spPr>
          <a:xfrm>
            <a:off x="4303842" y="774026"/>
            <a:ext cx="3440622" cy="3297264"/>
          </a:xfrm>
          <a:prstGeom prst="ellipse">
            <a:avLst/>
          </a:prstGeom>
          <a:noFill/>
          <a:ln w="76200"/>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8" name="TextBox 7">
            <a:extLst>
              <a:ext uri="{FF2B5EF4-FFF2-40B4-BE49-F238E27FC236}">
                <a16:creationId xmlns:a16="http://schemas.microsoft.com/office/drawing/2014/main" id="{EDB5FE17-DCBA-791D-107C-BCD9105E0882}"/>
              </a:ext>
            </a:extLst>
          </p:cNvPr>
          <p:cNvSpPr txBox="1"/>
          <p:nvPr/>
        </p:nvSpPr>
        <p:spPr>
          <a:xfrm>
            <a:off x="7364756" y="681037"/>
            <a:ext cx="635431" cy="646331"/>
          </a:xfrm>
          <a:prstGeom prst="rect">
            <a:avLst/>
          </a:prstGeom>
          <a:noFill/>
        </p:spPr>
        <p:txBody>
          <a:bodyPr wrap="square" rtlCol="0">
            <a:spAutoFit/>
          </a:bodyPr>
          <a:lstStyle/>
          <a:p>
            <a:r>
              <a:rPr lang="en-US" sz="3600" dirty="0">
                <a:solidFill>
                  <a:schemeClr val="accent1">
                    <a:lumMod val="50000"/>
                  </a:schemeClr>
                </a:solidFill>
              </a:rPr>
              <a:t>P</a:t>
            </a:r>
            <a:endParaRPr lang="en-GB" sz="3600" dirty="0">
              <a:solidFill>
                <a:schemeClr val="accent1">
                  <a:lumMod val="50000"/>
                </a:schemeClr>
              </a:solidFill>
            </a:endParaRPr>
          </a:p>
        </p:txBody>
      </p:sp>
      <p:sp>
        <p:nvSpPr>
          <p:cNvPr id="9" name="TextBox 8">
            <a:extLst>
              <a:ext uri="{FF2B5EF4-FFF2-40B4-BE49-F238E27FC236}">
                <a16:creationId xmlns:a16="http://schemas.microsoft.com/office/drawing/2014/main" id="{81F59D80-7D74-1560-D8DF-0D771C6F01F1}"/>
              </a:ext>
            </a:extLst>
          </p:cNvPr>
          <p:cNvSpPr txBox="1"/>
          <p:nvPr/>
        </p:nvSpPr>
        <p:spPr>
          <a:xfrm>
            <a:off x="1751788" y="1003326"/>
            <a:ext cx="635431" cy="646331"/>
          </a:xfrm>
          <a:prstGeom prst="rect">
            <a:avLst/>
          </a:prstGeom>
          <a:noFill/>
        </p:spPr>
        <p:txBody>
          <a:bodyPr wrap="square" rtlCol="0">
            <a:spAutoFit/>
          </a:bodyPr>
          <a:lstStyle/>
          <a:p>
            <a:r>
              <a:rPr lang="en-US" sz="3600" dirty="0">
                <a:solidFill>
                  <a:schemeClr val="accent1">
                    <a:lumMod val="50000"/>
                  </a:schemeClr>
                </a:solidFill>
              </a:rPr>
              <a:t>Q</a:t>
            </a:r>
            <a:endParaRPr lang="en-GB" sz="3600" dirty="0">
              <a:solidFill>
                <a:schemeClr val="accent1">
                  <a:lumMod val="50000"/>
                </a:schemeClr>
              </a:solidFill>
            </a:endParaRPr>
          </a:p>
        </p:txBody>
      </p:sp>
      <p:sp>
        <p:nvSpPr>
          <p:cNvPr id="10" name="TextBox 9">
            <a:extLst>
              <a:ext uri="{FF2B5EF4-FFF2-40B4-BE49-F238E27FC236}">
                <a16:creationId xmlns:a16="http://schemas.microsoft.com/office/drawing/2014/main" id="{447F059E-8AA2-D6FD-19E7-7E5937CB4C78}"/>
              </a:ext>
            </a:extLst>
          </p:cNvPr>
          <p:cNvSpPr txBox="1"/>
          <p:nvPr/>
        </p:nvSpPr>
        <p:spPr>
          <a:xfrm>
            <a:off x="6024153" y="5686480"/>
            <a:ext cx="635431" cy="646331"/>
          </a:xfrm>
          <a:prstGeom prst="rect">
            <a:avLst/>
          </a:prstGeom>
          <a:noFill/>
        </p:spPr>
        <p:txBody>
          <a:bodyPr wrap="square" rtlCol="0">
            <a:spAutoFit/>
          </a:bodyPr>
          <a:lstStyle/>
          <a:p>
            <a:r>
              <a:rPr lang="en-US" sz="3600" dirty="0">
                <a:solidFill>
                  <a:schemeClr val="accent1">
                    <a:lumMod val="50000"/>
                  </a:schemeClr>
                </a:solidFill>
              </a:rPr>
              <a:t>R</a:t>
            </a:r>
            <a:endParaRPr lang="en-GB" sz="3600" dirty="0">
              <a:solidFill>
                <a:schemeClr val="accent1">
                  <a:lumMod val="50000"/>
                </a:schemeClr>
              </a:solidFill>
            </a:endParaRPr>
          </a:p>
        </p:txBody>
      </p:sp>
      <p:sp>
        <p:nvSpPr>
          <p:cNvPr id="11" name="TextBox 10">
            <a:extLst>
              <a:ext uri="{FF2B5EF4-FFF2-40B4-BE49-F238E27FC236}">
                <a16:creationId xmlns:a16="http://schemas.microsoft.com/office/drawing/2014/main" id="{BF754EC0-9F1A-CC50-5893-1FA004AF1922}"/>
              </a:ext>
            </a:extLst>
          </p:cNvPr>
          <p:cNvSpPr txBox="1"/>
          <p:nvPr/>
        </p:nvSpPr>
        <p:spPr>
          <a:xfrm>
            <a:off x="9299460" y="640089"/>
            <a:ext cx="2783237" cy="523220"/>
          </a:xfrm>
          <a:prstGeom prst="rect">
            <a:avLst/>
          </a:prstGeom>
          <a:noFill/>
        </p:spPr>
        <p:txBody>
          <a:bodyPr wrap="square" rtlCol="0">
            <a:spAutoFit/>
          </a:bodyPr>
          <a:lstStyle/>
          <a:p>
            <a:r>
              <a:rPr lang="en-US" sz="2800" dirty="0">
                <a:solidFill>
                  <a:schemeClr val="accent1">
                    <a:lumMod val="50000"/>
                  </a:schemeClr>
                </a:solidFill>
              </a:rPr>
              <a:t>1. P only</a:t>
            </a:r>
            <a:endParaRPr lang="en-GB" sz="2400" dirty="0">
              <a:solidFill>
                <a:schemeClr val="accent1">
                  <a:lumMod val="50000"/>
                </a:schemeClr>
              </a:solidFill>
            </a:endParaRPr>
          </a:p>
        </p:txBody>
      </p:sp>
      <p:sp>
        <p:nvSpPr>
          <p:cNvPr id="14" name="TextBox 13">
            <a:extLst>
              <a:ext uri="{FF2B5EF4-FFF2-40B4-BE49-F238E27FC236}">
                <a16:creationId xmlns:a16="http://schemas.microsoft.com/office/drawing/2014/main" id="{E1470FD7-2460-412E-91A0-DEFE8D5C5444}"/>
              </a:ext>
            </a:extLst>
          </p:cNvPr>
          <p:cNvSpPr txBox="1"/>
          <p:nvPr/>
        </p:nvSpPr>
        <p:spPr>
          <a:xfrm>
            <a:off x="9272589" y="2211156"/>
            <a:ext cx="2995120" cy="523220"/>
          </a:xfrm>
          <a:prstGeom prst="rect">
            <a:avLst/>
          </a:prstGeom>
          <a:noFill/>
        </p:spPr>
        <p:txBody>
          <a:bodyPr wrap="square" rtlCol="0">
            <a:spAutoFit/>
          </a:bodyPr>
          <a:lstStyle/>
          <a:p>
            <a:r>
              <a:rPr lang="en-US" sz="2800" dirty="0">
                <a:solidFill>
                  <a:schemeClr val="accent1">
                    <a:lumMod val="50000"/>
                  </a:schemeClr>
                </a:solidFill>
              </a:rPr>
              <a:t>4. P &amp; Q only</a:t>
            </a:r>
            <a:endParaRPr lang="en-GB" sz="2400" dirty="0">
              <a:solidFill>
                <a:schemeClr val="accent1">
                  <a:lumMod val="50000"/>
                </a:schemeClr>
              </a:solidFill>
            </a:endParaRPr>
          </a:p>
        </p:txBody>
      </p:sp>
      <p:sp>
        <p:nvSpPr>
          <p:cNvPr id="15" name="TextBox 14">
            <a:extLst>
              <a:ext uri="{FF2B5EF4-FFF2-40B4-BE49-F238E27FC236}">
                <a16:creationId xmlns:a16="http://schemas.microsoft.com/office/drawing/2014/main" id="{596D75D1-0498-E321-FC5B-191B36DF284F}"/>
              </a:ext>
            </a:extLst>
          </p:cNvPr>
          <p:cNvSpPr txBox="1"/>
          <p:nvPr/>
        </p:nvSpPr>
        <p:spPr>
          <a:xfrm>
            <a:off x="9299459" y="1687936"/>
            <a:ext cx="2783237" cy="523220"/>
          </a:xfrm>
          <a:prstGeom prst="rect">
            <a:avLst/>
          </a:prstGeom>
          <a:noFill/>
        </p:spPr>
        <p:txBody>
          <a:bodyPr wrap="square" rtlCol="0">
            <a:spAutoFit/>
          </a:bodyPr>
          <a:lstStyle/>
          <a:p>
            <a:r>
              <a:rPr lang="en-US" sz="2800" dirty="0">
                <a:solidFill>
                  <a:schemeClr val="accent1">
                    <a:lumMod val="50000"/>
                  </a:schemeClr>
                </a:solidFill>
              </a:rPr>
              <a:t>3. R only</a:t>
            </a:r>
            <a:endParaRPr lang="en-GB" sz="2400" dirty="0">
              <a:solidFill>
                <a:schemeClr val="accent1">
                  <a:lumMod val="50000"/>
                </a:schemeClr>
              </a:solidFill>
            </a:endParaRPr>
          </a:p>
        </p:txBody>
      </p:sp>
      <p:sp>
        <p:nvSpPr>
          <p:cNvPr id="16" name="TextBox 15">
            <a:extLst>
              <a:ext uri="{FF2B5EF4-FFF2-40B4-BE49-F238E27FC236}">
                <a16:creationId xmlns:a16="http://schemas.microsoft.com/office/drawing/2014/main" id="{F8E1EBFB-6DDA-D605-396F-3D0228B8E9EF}"/>
              </a:ext>
            </a:extLst>
          </p:cNvPr>
          <p:cNvSpPr txBox="1"/>
          <p:nvPr/>
        </p:nvSpPr>
        <p:spPr>
          <a:xfrm>
            <a:off x="9272589" y="1174761"/>
            <a:ext cx="2783237" cy="523220"/>
          </a:xfrm>
          <a:prstGeom prst="rect">
            <a:avLst/>
          </a:prstGeom>
          <a:noFill/>
        </p:spPr>
        <p:txBody>
          <a:bodyPr wrap="square" rtlCol="0">
            <a:spAutoFit/>
          </a:bodyPr>
          <a:lstStyle/>
          <a:p>
            <a:r>
              <a:rPr lang="en-US" sz="2800" dirty="0">
                <a:solidFill>
                  <a:schemeClr val="accent1">
                    <a:lumMod val="50000"/>
                  </a:schemeClr>
                </a:solidFill>
              </a:rPr>
              <a:t>2. Q only</a:t>
            </a:r>
            <a:endParaRPr lang="en-GB" sz="2400" dirty="0">
              <a:solidFill>
                <a:schemeClr val="accent1">
                  <a:lumMod val="50000"/>
                </a:schemeClr>
              </a:solidFill>
            </a:endParaRPr>
          </a:p>
        </p:txBody>
      </p:sp>
      <p:sp>
        <p:nvSpPr>
          <p:cNvPr id="17" name="TextBox 16">
            <a:extLst>
              <a:ext uri="{FF2B5EF4-FFF2-40B4-BE49-F238E27FC236}">
                <a16:creationId xmlns:a16="http://schemas.microsoft.com/office/drawing/2014/main" id="{0827EFF2-52F8-7DC0-58F1-647EC0BA0AB8}"/>
              </a:ext>
            </a:extLst>
          </p:cNvPr>
          <p:cNvSpPr txBox="1"/>
          <p:nvPr/>
        </p:nvSpPr>
        <p:spPr>
          <a:xfrm>
            <a:off x="9272590" y="2714286"/>
            <a:ext cx="3089248" cy="523220"/>
          </a:xfrm>
          <a:prstGeom prst="rect">
            <a:avLst/>
          </a:prstGeom>
          <a:noFill/>
        </p:spPr>
        <p:txBody>
          <a:bodyPr wrap="square" rtlCol="0">
            <a:spAutoFit/>
          </a:bodyPr>
          <a:lstStyle/>
          <a:p>
            <a:r>
              <a:rPr lang="en-US" sz="2800" dirty="0">
                <a:solidFill>
                  <a:schemeClr val="accent1">
                    <a:lumMod val="50000"/>
                  </a:schemeClr>
                </a:solidFill>
              </a:rPr>
              <a:t>5. P &amp; R only</a:t>
            </a:r>
            <a:endParaRPr lang="en-GB" sz="2400" dirty="0">
              <a:solidFill>
                <a:schemeClr val="accent1">
                  <a:lumMod val="50000"/>
                </a:schemeClr>
              </a:solidFill>
            </a:endParaRPr>
          </a:p>
        </p:txBody>
      </p:sp>
      <p:sp>
        <p:nvSpPr>
          <p:cNvPr id="18" name="TextBox 17">
            <a:extLst>
              <a:ext uri="{FF2B5EF4-FFF2-40B4-BE49-F238E27FC236}">
                <a16:creationId xmlns:a16="http://schemas.microsoft.com/office/drawing/2014/main" id="{DF53F88E-BBA4-F743-56D5-A77945C22396}"/>
              </a:ext>
            </a:extLst>
          </p:cNvPr>
          <p:cNvSpPr txBox="1"/>
          <p:nvPr/>
        </p:nvSpPr>
        <p:spPr>
          <a:xfrm>
            <a:off x="9272590" y="3217416"/>
            <a:ext cx="3089248" cy="523220"/>
          </a:xfrm>
          <a:prstGeom prst="rect">
            <a:avLst/>
          </a:prstGeom>
          <a:noFill/>
        </p:spPr>
        <p:txBody>
          <a:bodyPr wrap="square" rtlCol="0">
            <a:spAutoFit/>
          </a:bodyPr>
          <a:lstStyle/>
          <a:p>
            <a:r>
              <a:rPr lang="en-US" sz="2800" dirty="0">
                <a:solidFill>
                  <a:schemeClr val="accent1">
                    <a:lumMod val="50000"/>
                  </a:schemeClr>
                </a:solidFill>
              </a:rPr>
              <a:t>6. Q &amp; R only</a:t>
            </a:r>
            <a:endParaRPr lang="en-GB" sz="2400" dirty="0">
              <a:solidFill>
                <a:schemeClr val="accent1">
                  <a:lumMod val="50000"/>
                </a:schemeClr>
              </a:solidFill>
            </a:endParaRPr>
          </a:p>
        </p:txBody>
      </p:sp>
      <p:sp>
        <p:nvSpPr>
          <p:cNvPr id="19" name="TextBox 18">
            <a:extLst>
              <a:ext uri="{FF2B5EF4-FFF2-40B4-BE49-F238E27FC236}">
                <a16:creationId xmlns:a16="http://schemas.microsoft.com/office/drawing/2014/main" id="{2B1C8377-253D-99BE-0338-25020FBE7B10}"/>
              </a:ext>
            </a:extLst>
          </p:cNvPr>
          <p:cNvSpPr txBox="1"/>
          <p:nvPr/>
        </p:nvSpPr>
        <p:spPr>
          <a:xfrm>
            <a:off x="9272589" y="3710636"/>
            <a:ext cx="2743199" cy="523220"/>
          </a:xfrm>
          <a:prstGeom prst="rect">
            <a:avLst/>
          </a:prstGeom>
          <a:noFill/>
        </p:spPr>
        <p:txBody>
          <a:bodyPr wrap="square" rtlCol="0">
            <a:spAutoFit/>
          </a:bodyPr>
          <a:lstStyle/>
          <a:p>
            <a:r>
              <a:rPr lang="en-US" sz="2800" dirty="0">
                <a:solidFill>
                  <a:schemeClr val="accent1">
                    <a:lumMod val="50000"/>
                  </a:schemeClr>
                </a:solidFill>
              </a:rPr>
              <a:t>7. P, Q &amp; R</a:t>
            </a:r>
            <a:endParaRPr lang="en-GB" sz="2400" dirty="0">
              <a:solidFill>
                <a:schemeClr val="accent1">
                  <a:lumMod val="50000"/>
                </a:schemeClr>
              </a:solidFill>
            </a:endParaRPr>
          </a:p>
        </p:txBody>
      </p:sp>
      <p:sp>
        <p:nvSpPr>
          <p:cNvPr id="3" name="Slide Number Placeholder 2"/>
          <p:cNvSpPr>
            <a:spLocks noGrp="1"/>
          </p:cNvSpPr>
          <p:nvPr>
            <p:ph type="sldNum" sz="quarter" idx="12"/>
          </p:nvPr>
        </p:nvSpPr>
        <p:spPr/>
        <p:txBody>
          <a:bodyPr/>
          <a:lstStyle/>
          <a:p>
            <a:fld id="{8D75522D-3DA1-4E7C-B84B-2130C32BB93F}" type="slidenum">
              <a:rPr lang="en-GB" smtClean="0"/>
              <a:t>28</a:t>
            </a:fld>
            <a:endParaRPr lang="en-GB"/>
          </a:p>
        </p:txBody>
      </p:sp>
      <p:sp>
        <p:nvSpPr>
          <p:cNvPr id="20" name="TextBox 19">
            <a:extLst>
              <a:ext uri="{FF2B5EF4-FFF2-40B4-BE49-F238E27FC236}">
                <a16:creationId xmlns:a16="http://schemas.microsoft.com/office/drawing/2014/main" id="{81F59D80-7D74-1560-D8DF-0D771C6F01F1}"/>
              </a:ext>
            </a:extLst>
          </p:cNvPr>
          <p:cNvSpPr txBox="1"/>
          <p:nvPr/>
        </p:nvSpPr>
        <p:spPr>
          <a:xfrm>
            <a:off x="1584209" y="34706"/>
            <a:ext cx="635431" cy="646331"/>
          </a:xfrm>
          <a:prstGeom prst="rect">
            <a:avLst/>
          </a:prstGeom>
          <a:noFill/>
        </p:spPr>
        <p:txBody>
          <a:bodyPr wrap="square" rtlCol="0">
            <a:spAutoFit/>
          </a:bodyPr>
          <a:lstStyle/>
          <a:p>
            <a:r>
              <a:rPr lang="en-US" sz="3600" dirty="0">
                <a:solidFill>
                  <a:schemeClr val="accent1">
                    <a:lumMod val="50000"/>
                  </a:schemeClr>
                </a:solidFill>
                <a:sym typeface="Symbol" panose="05050102010706020507" pitchFamily="18" charset="2"/>
              </a:rPr>
              <a:t></a:t>
            </a:r>
            <a:endParaRPr lang="en-GB" sz="3600" dirty="0">
              <a:solidFill>
                <a:schemeClr val="accent1">
                  <a:lumMod val="50000"/>
                </a:schemeClr>
              </a:solidFill>
            </a:endParaRPr>
          </a:p>
        </p:txBody>
      </p:sp>
    </p:spTree>
    <p:extLst>
      <p:ext uri="{BB962C8B-B14F-4D97-AF65-F5344CB8AC3E}">
        <p14:creationId xmlns:p14="http://schemas.microsoft.com/office/powerpoint/2010/main" val="129840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A3B67-B23D-3352-B3DA-05412DF027E6}"/>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4A9970D-358F-4392-F721-89B7BCF7143E}"/>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C7BE169E-F0E0-3020-2F50-F88CFAAF16D8}"/>
              </a:ext>
            </a:extLst>
          </p:cNvPr>
          <p:cNvPicPr>
            <a:picLocks noChangeAspect="1"/>
          </p:cNvPicPr>
          <p:nvPr/>
        </p:nvPicPr>
        <p:blipFill>
          <a:blip r:embed="rId2"/>
          <a:stretch>
            <a:fillRect/>
          </a:stretch>
        </p:blipFill>
        <p:spPr>
          <a:xfrm>
            <a:off x="3292663" y="365125"/>
            <a:ext cx="5820340" cy="5664200"/>
          </a:xfrm>
          <a:prstGeom prst="rect">
            <a:avLst/>
          </a:prstGeom>
          <a:ln>
            <a:solidFill>
              <a:schemeClr val="tx1"/>
            </a:solidFill>
          </a:ln>
        </p:spPr>
      </p:pic>
      <p:sp>
        <p:nvSpPr>
          <p:cNvPr id="6" name="Slide Number Placeholder 5"/>
          <p:cNvSpPr>
            <a:spLocks noGrp="1"/>
          </p:cNvSpPr>
          <p:nvPr>
            <p:ph type="sldNum" sz="quarter" idx="12"/>
          </p:nvPr>
        </p:nvSpPr>
        <p:spPr/>
        <p:txBody>
          <a:bodyPr/>
          <a:lstStyle/>
          <a:p>
            <a:fld id="{8D75522D-3DA1-4E7C-B84B-2130C32BB93F}" type="slidenum">
              <a:rPr lang="en-GB" smtClean="0"/>
              <a:t>29</a:t>
            </a:fld>
            <a:endParaRPr lang="en-GB"/>
          </a:p>
        </p:txBody>
      </p:sp>
    </p:spTree>
    <p:extLst>
      <p:ext uri="{BB962C8B-B14F-4D97-AF65-F5344CB8AC3E}">
        <p14:creationId xmlns:p14="http://schemas.microsoft.com/office/powerpoint/2010/main" val="2982810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Venn Diagrams</a:t>
            </a:r>
          </a:p>
        </p:txBody>
      </p:sp>
      <p:sp>
        <p:nvSpPr>
          <p:cNvPr id="3" name="Content Placeholder 2"/>
          <p:cNvSpPr>
            <a:spLocks noGrp="1"/>
          </p:cNvSpPr>
          <p:nvPr>
            <p:ph idx="1"/>
          </p:nvPr>
        </p:nvSpPr>
        <p:spPr/>
        <p:txBody>
          <a:bodyPr>
            <a:normAutofit/>
          </a:bodyPr>
          <a:lstStyle/>
          <a:p>
            <a:pPr marL="0" indent="0">
              <a:buNone/>
            </a:pPr>
            <a:r>
              <a:rPr dirty="0"/>
              <a:t>Example:</a:t>
            </a:r>
          </a:p>
          <a:p>
            <a:pPr marL="0" indent="0">
              <a:buNone/>
            </a:pPr>
            <a:r>
              <a:rPr lang="en-US" dirty="0"/>
              <a:t>	</a:t>
            </a:r>
            <a:r>
              <a:rPr dirty="0"/>
              <a:t>A ∪ B: Shaded area includes both A and B.</a:t>
            </a:r>
          </a:p>
          <a:p>
            <a:pPr marL="0" indent="0">
              <a:buNone/>
            </a:pPr>
            <a:r>
              <a:rPr lang="en-US" dirty="0"/>
              <a:t>	</a:t>
            </a:r>
            <a:r>
              <a:rPr dirty="0"/>
              <a:t>A ∩ B: Shaded area includes only common elements of A and B.</a:t>
            </a:r>
          </a:p>
          <a:p>
            <a:pPr marL="0" indent="0">
              <a:buNone/>
            </a:pPr>
            <a:r>
              <a:rPr dirty="0"/>
              <a:t>Exercise:</a:t>
            </a:r>
          </a:p>
          <a:p>
            <a:pPr marL="0" indent="0">
              <a:buNone/>
            </a:pPr>
            <a:r>
              <a:rPr dirty="0"/>
              <a:t> - Draw Venn diagrams for:</a:t>
            </a:r>
          </a:p>
          <a:p>
            <a:pPr marL="0" indent="0">
              <a:buNone/>
            </a:pPr>
            <a:r>
              <a:rPr lang="en-US" dirty="0"/>
              <a:t>	</a:t>
            </a:r>
            <a:r>
              <a:rPr dirty="0"/>
              <a:t>1. A ∩ B</a:t>
            </a:r>
          </a:p>
          <a:p>
            <a:pPr marL="0" indent="0">
              <a:buNone/>
            </a:pPr>
            <a:r>
              <a:rPr lang="en-US" dirty="0"/>
              <a:t>	</a:t>
            </a:r>
            <a:r>
              <a:rPr dirty="0"/>
              <a:t>2. A ∪ B</a:t>
            </a:r>
          </a:p>
          <a:p>
            <a:pPr marL="0" indent="0">
              <a:buNone/>
            </a:pPr>
            <a:r>
              <a:rPr lang="en-US" dirty="0"/>
              <a:t>	</a:t>
            </a:r>
            <a:endParaRPr dirty="0"/>
          </a:p>
        </p:txBody>
      </p:sp>
      <p:sp>
        <p:nvSpPr>
          <p:cNvPr id="5" name="Slide Number Placeholder 4"/>
          <p:cNvSpPr>
            <a:spLocks noGrp="1"/>
          </p:cNvSpPr>
          <p:nvPr>
            <p:ph type="sldNum" sz="quarter" idx="12"/>
          </p:nvPr>
        </p:nvSpPr>
        <p:spPr/>
        <p:txBody>
          <a:bodyPr/>
          <a:lstStyle/>
          <a:p>
            <a:fld id="{8D75522D-3DA1-4E7C-B84B-2130C32BB93F}" type="slidenum">
              <a:rPr lang="en-GB" smtClean="0"/>
              <a:t>30</a:t>
            </a:fld>
            <a:endParaRPr lang="en-GB"/>
          </a:p>
        </p:txBody>
      </p:sp>
    </p:spTree>
    <p:extLst>
      <p:ext uri="{BB962C8B-B14F-4D97-AF65-F5344CB8AC3E}">
        <p14:creationId xmlns:p14="http://schemas.microsoft.com/office/powerpoint/2010/main" val="2795203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565B7-F0B9-91CB-A8CD-1D4205F47818}"/>
              </a:ext>
            </a:extLst>
          </p:cNvPr>
          <p:cNvSpPr>
            <a:spLocks noGrp="1"/>
          </p:cNvSpPr>
          <p:nvPr>
            <p:ph type="title"/>
          </p:nvPr>
        </p:nvSpPr>
        <p:spPr/>
        <p:txBody>
          <a:bodyPr/>
          <a:lstStyle/>
          <a:p>
            <a:r>
              <a:rPr lang="en-US" dirty="0"/>
              <a:t>1. Set A</a:t>
            </a:r>
            <a:br>
              <a:rPr lang="en-US" dirty="0"/>
            </a:br>
            <a:r>
              <a:rPr lang="en-US" dirty="0"/>
              <a:t>2. Complement of Set A (A’)</a:t>
            </a:r>
            <a:endParaRPr lang="en-GB" dirty="0"/>
          </a:p>
        </p:txBody>
      </p:sp>
      <p:sp>
        <p:nvSpPr>
          <p:cNvPr id="3" name="Content Placeholder 2">
            <a:extLst>
              <a:ext uri="{FF2B5EF4-FFF2-40B4-BE49-F238E27FC236}">
                <a16:creationId xmlns:a16="http://schemas.microsoft.com/office/drawing/2014/main" id="{B6F6D582-3B0B-CF25-FBCB-8E2ED85C8866}"/>
              </a:ext>
            </a:extLst>
          </p:cNvPr>
          <p:cNvSpPr>
            <a:spLocks noGrp="1"/>
          </p:cNvSpPr>
          <p:nvPr>
            <p:ph idx="1"/>
          </p:nvPr>
        </p:nvSpPr>
        <p:spPr/>
        <p:txBody>
          <a:bodyPr/>
          <a:lstStyle/>
          <a:p>
            <a:endParaRPr lang="en-GB"/>
          </a:p>
        </p:txBody>
      </p:sp>
      <p:sp>
        <p:nvSpPr>
          <p:cNvPr id="5" name="Slide Number Placeholder 4"/>
          <p:cNvSpPr>
            <a:spLocks noGrp="1"/>
          </p:cNvSpPr>
          <p:nvPr>
            <p:ph type="sldNum" sz="quarter" idx="12"/>
          </p:nvPr>
        </p:nvSpPr>
        <p:spPr/>
        <p:txBody>
          <a:bodyPr/>
          <a:lstStyle/>
          <a:p>
            <a:fld id="{8D75522D-3DA1-4E7C-B84B-2130C32BB93F}" type="slidenum">
              <a:rPr lang="en-GB" smtClean="0"/>
              <a:t>31</a:t>
            </a:fld>
            <a:endParaRPr lang="en-GB"/>
          </a:p>
        </p:txBody>
      </p:sp>
    </p:spTree>
    <p:extLst>
      <p:ext uri="{BB962C8B-B14F-4D97-AF65-F5344CB8AC3E}">
        <p14:creationId xmlns:p14="http://schemas.microsoft.com/office/powerpoint/2010/main" val="133191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E41C1-BC6C-52D2-0013-65B30E795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AEF3C-83C8-7F6A-A1E4-B575C0BDC86A}"/>
              </a:ext>
            </a:extLst>
          </p:cNvPr>
          <p:cNvSpPr>
            <a:spLocks noGrp="1"/>
          </p:cNvSpPr>
          <p:nvPr>
            <p:ph type="title"/>
          </p:nvPr>
        </p:nvSpPr>
        <p:spPr/>
        <p:txBody>
          <a:bodyPr/>
          <a:lstStyle/>
          <a:p>
            <a:r>
              <a:rPr lang="en-US" dirty="0"/>
              <a:t>1. Set A</a:t>
            </a:r>
            <a:br>
              <a:rPr lang="en-US" dirty="0"/>
            </a:br>
            <a:r>
              <a:rPr lang="en-US" dirty="0"/>
              <a:t>2. Complement of Set A (A’)</a:t>
            </a:r>
            <a:endParaRPr lang="en-GB" dirty="0"/>
          </a:p>
        </p:txBody>
      </p:sp>
      <p:sp>
        <p:nvSpPr>
          <p:cNvPr id="3" name="Content Placeholder 2">
            <a:extLst>
              <a:ext uri="{FF2B5EF4-FFF2-40B4-BE49-F238E27FC236}">
                <a16:creationId xmlns:a16="http://schemas.microsoft.com/office/drawing/2014/main" id="{F5DED4D0-C072-94FE-8F00-7899244B5551}"/>
              </a:ext>
            </a:extLst>
          </p:cNvPr>
          <p:cNvSpPr>
            <a:spLocks noGrp="1"/>
          </p:cNvSpPr>
          <p:nvPr>
            <p:ph idx="1"/>
          </p:nvPr>
        </p:nvSpPr>
        <p:spPr/>
        <p:txBody>
          <a:bodyPr/>
          <a:lstStyle/>
          <a:p>
            <a:endParaRPr lang="en-GB"/>
          </a:p>
        </p:txBody>
      </p:sp>
      <p:pic>
        <p:nvPicPr>
          <p:cNvPr id="7" name="Picture 6">
            <a:extLst>
              <a:ext uri="{FF2B5EF4-FFF2-40B4-BE49-F238E27FC236}">
                <a16:creationId xmlns:a16="http://schemas.microsoft.com/office/drawing/2014/main" id="{9661A320-BFA8-F7D9-0D03-8A1FBD05D057}"/>
              </a:ext>
            </a:extLst>
          </p:cNvPr>
          <p:cNvPicPr>
            <a:picLocks noChangeAspect="1"/>
          </p:cNvPicPr>
          <p:nvPr/>
        </p:nvPicPr>
        <p:blipFill>
          <a:blip r:embed="rId2"/>
          <a:srcRect t="1003" b="67141"/>
          <a:stretch/>
        </p:blipFill>
        <p:spPr>
          <a:xfrm>
            <a:off x="1464811" y="1945104"/>
            <a:ext cx="9262378" cy="2967791"/>
          </a:xfrm>
          <a:prstGeom prst="rect">
            <a:avLst/>
          </a:prstGeom>
        </p:spPr>
      </p:pic>
      <p:sp>
        <p:nvSpPr>
          <p:cNvPr id="5" name="Slide Number Placeholder 4"/>
          <p:cNvSpPr>
            <a:spLocks noGrp="1"/>
          </p:cNvSpPr>
          <p:nvPr>
            <p:ph type="sldNum" sz="quarter" idx="12"/>
          </p:nvPr>
        </p:nvSpPr>
        <p:spPr/>
        <p:txBody>
          <a:bodyPr/>
          <a:lstStyle/>
          <a:p>
            <a:fld id="{8D75522D-3DA1-4E7C-B84B-2130C32BB93F}" type="slidenum">
              <a:rPr lang="en-GB" smtClean="0"/>
              <a:t>32</a:t>
            </a:fld>
            <a:endParaRPr lang="en-GB"/>
          </a:p>
        </p:txBody>
      </p:sp>
    </p:spTree>
    <p:extLst>
      <p:ext uri="{BB962C8B-B14F-4D97-AF65-F5344CB8AC3E}">
        <p14:creationId xmlns:p14="http://schemas.microsoft.com/office/powerpoint/2010/main" val="3753664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EC601-3ED5-1FB8-D02A-9CDF5F2B696D}"/>
              </a:ext>
            </a:extLst>
          </p:cNvPr>
          <p:cNvSpPr>
            <a:spLocks noGrp="1"/>
          </p:cNvSpPr>
          <p:nvPr>
            <p:ph type="title"/>
          </p:nvPr>
        </p:nvSpPr>
        <p:spPr/>
        <p:txBody>
          <a:bodyPr/>
          <a:lstStyle/>
          <a:p>
            <a:r>
              <a:rPr lang="en-US" dirty="0"/>
              <a:t>1. Two disjoint sets A &amp; B</a:t>
            </a:r>
            <a:br>
              <a:rPr lang="en-US" dirty="0"/>
            </a:br>
            <a:r>
              <a:rPr lang="en-US" dirty="0"/>
              <a:t>2. A </a:t>
            </a:r>
            <a:r>
              <a:rPr lang="en-US" dirty="0">
                <a:sym typeface="Symbol" panose="05050102010706020507" pitchFamily="18" charset="2"/>
              </a:rPr>
              <a:t></a:t>
            </a:r>
            <a:r>
              <a:rPr lang="en-US" dirty="0"/>
              <a:t>  B</a:t>
            </a:r>
            <a:endParaRPr lang="en-GB" dirty="0"/>
          </a:p>
        </p:txBody>
      </p:sp>
      <p:sp>
        <p:nvSpPr>
          <p:cNvPr id="9" name="Content Placeholder 8">
            <a:extLst>
              <a:ext uri="{FF2B5EF4-FFF2-40B4-BE49-F238E27FC236}">
                <a16:creationId xmlns:a16="http://schemas.microsoft.com/office/drawing/2014/main" id="{D9E1CAC0-EF1E-C64C-C71C-BF3649AEBFBB}"/>
              </a:ext>
            </a:extLst>
          </p:cNvPr>
          <p:cNvSpPr>
            <a:spLocks noGrp="1"/>
          </p:cNvSpPr>
          <p:nvPr>
            <p:ph idx="1"/>
          </p:nvPr>
        </p:nvSpPr>
        <p:spPr/>
        <p:txBody>
          <a:bodyPr/>
          <a:lstStyle/>
          <a:p>
            <a:endParaRPr lang="en-GB"/>
          </a:p>
        </p:txBody>
      </p:sp>
      <p:sp>
        <p:nvSpPr>
          <p:cNvPr id="4" name="Slide Number Placeholder 3"/>
          <p:cNvSpPr>
            <a:spLocks noGrp="1"/>
          </p:cNvSpPr>
          <p:nvPr>
            <p:ph type="sldNum" sz="quarter" idx="12"/>
          </p:nvPr>
        </p:nvSpPr>
        <p:spPr/>
        <p:txBody>
          <a:bodyPr/>
          <a:lstStyle/>
          <a:p>
            <a:fld id="{8D75522D-3DA1-4E7C-B84B-2130C32BB93F}" type="slidenum">
              <a:rPr lang="en-GB" smtClean="0"/>
              <a:t>33</a:t>
            </a:fld>
            <a:endParaRPr lang="en-GB"/>
          </a:p>
        </p:txBody>
      </p:sp>
    </p:spTree>
    <p:extLst>
      <p:ext uri="{BB962C8B-B14F-4D97-AF65-F5344CB8AC3E}">
        <p14:creationId xmlns:p14="http://schemas.microsoft.com/office/powerpoint/2010/main" val="3433568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101F-4A89-80B6-0D50-11B43ADF7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9D046-75A7-B250-184C-3AC21B9FF8A5}"/>
              </a:ext>
            </a:extLst>
          </p:cNvPr>
          <p:cNvSpPr>
            <a:spLocks noGrp="1"/>
          </p:cNvSpPr>
          <p:nvPr>
            <p:ph type="title"/>
          </p:nvPr>
        </p:nvSpPr>
        <p:spPr/>
        <p:txBody>
          <a:bodyPr/>
          <a:lstStyle/>
          <a:p>
            <a:r>
              <a:rPr lang="en-US" dirty="0"/>
              <a:t>1. Two disjoint sets A &amp; B</a:t>
            </a:r>
            <a:br>
              <a:rPr lang="en-US" dirty="0"/>
            </a:br>
            <a:r>
              <a:rPr lang="en-US" dirty="0"/>
              <a:t>2. A </a:t>
            </a:r>
            <a:r>
              <a:rPr lang="en-US" dirty="0">
                <a:sym typeface="Symbol" panose="05050102010706020507" pitchFamily="18" charset="2"/>
              </a:rPr>
              <a:t></a:t>
            </a:r>
            <a:r>
              <a:rPr lang="en-US" dirty="0"/>
              <a:t>  B</a:t>
            </a:r>
            <a:endParaRPr lang="en-GB" dirty="0"/>
          </a:p>
        </p:txBody>
      </p:sp>
      <p:pic>
        <p:nvPicPr>
          <p:cNvPr id="7" name="Content Placeholder 6">
            <a:extLst>
              <a:ext uri="{FF2B5EF4-FFF2-40B4-BE49-F238E27FC236}">
                <a16:creationId xmlns:a16="http://schemas.microsoft.com/office/drawing/2014/main" id="{2F18B485-AADE-4115-199F-C398E06F8C04}"/>
              </a:ext>
            </a:extLst>
          </p:cNvPr>
          <p:cNvPicPr>
            <a:picLocks noGrp="1" noChangeAspect="1"/>
          </p:cNvPicPr>
          <p:nvPr>
            <p:ph idx="1"/>
          </p:nvPr>
        </p:nvPicPr>
        <p:blipFill>
          <a:blip r:embed="rId2"/>
          <a:srcRect t="33453" b="33708"/>
          <a:stretch/>
        </p:blipFill>
        <p:spPr>
          <a:xfrm>
            <a:off x="1662794" y="2561088"/>
            <a:ext cx="8866412" cy="2928591"/>
          </a:xfrm>
        </p:spPr>
      </p:pic>
      <p:sp>
        <p:nvSpPr>
          <p:cNvPr id="4" name="Slide Number Placeholder 3"/>
          <p:cNvSpPr>
            <a:spLocks noGrp="1"/>
          </p:cNvSpPr>
          <p:nvPr>
            <p:ph type="sldNum" sz="quarter" idx="12"/>
          </p:nvPr>
        </p:nvSpPr>
        <p:spPr/>
        <p:txBody>
          <a:bodyPr/>
          <a:lstStyle/>
          <a:p>
            <a:fld id="{8D75522D-3DA1-4E7C-B84B-2130C32BB93F}" type="slidenum">
              <a:rPr lang="en-GB" smtClean="0"/>
              <a:t>34</a:t>
            </a:fld>
            <a:endParaRPr lang="en-GB"/>
          </a:p>
        </p:txBody>
      </p:sp>
    </p:spTree>
    <p:extLst>
      <p:ext uri="{BB962C8B-B14F-4D97-AF65-F5344CB8AC3E}">
        <p14:creationId xmlns:p14="http://schemas.microsoft.com/office/powerpoint/2010/main" val="4187318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B1606-D432-2AB7-0A73-6A64AE4BAD8B}"/>
              </a:ext>
            </a:extLst>
          </p:cNvPr>
          <p:cNvSpPr>
            <a:spLocks noGrp="1"/>
          </p:cNvSpPr>
          <p:nvPr>
            <p:ph type="title"/>
          </p:nvPr>
        </p:nvSpPr>
        <p:spPr/>
        <p:txBody>
          <a:bodyPr/>
          <a:lstStyle/>
          <a:p>
            <a:r>
              <a:rPr lang="en-US" dirty="0"/>
              <a:t>1. A </a:t>
            </a:r>
            <a:r>
              <a:rPr lang="en-US" dirty="0">
                <a:sym typeface="Symbol" panose="05050102010706020507" pitchFamily="18" charset="2"/>
              </a:rPr>
              <a:t></a:t>
            </a:r>
            <a:r>
              <a:rPr lang="en-US" dirty="0"/>
              <a:t> B</a:t>
            </a:r>
            <a:br>
              <a:rPr lang="en-US" dirty="0"/>
            </a:br>
            <a:r>
              <a:rPr lang="en-US" dirty="0"/>
              <a:t>2. A </a:t>
            </a:r>
            <a:r>
              <a:rPr lang="en-US" dirty="0">
                <a:sym typeface="Symbol" panose="05050102010706020507" pitchFamily="18" charset="2"/>
              </a:rPr>
              <a:t> </a:t>
            </a:r>
            <a:r>
              <a:rPr lang="en-US" dirty="0"/>
              <a:t>B</a:t>
            </a:r>
            <a:endParaRPr lang="en-GB" dirty="0"/>
          </a:p>
        </p:txBody>
      </p:sp>
      <p:sp>
        <p:nvSpPr>
          <p:cNvPr id="3" name="Content Placeholder 2">
            <a:extLst>
              <a:ext uri="{FF2B5EF4-FFF2-40B4-BE49-F238E27FC236}">
                <a16:creationId xmlns:a16="http://schemas.microsoft.com/office/drawing/2014/main" id="{5472DF86-F93F-4426-8C22-39E1ABBE9A34}"/>
              </a:ext>
            </a:extLst>
          </p:cNvPr>
          <p:cNvSpPr>
            <a:spLocks noGrp="1"/>
          </p:cNvSpPr>
          <p:nvPr>
            <p:ph idx="1"/>
          </p:nvPr>
        </p:nvSpPr>
        <p:spPr/>
        <p:txBody>
          <a:bodyPr/>
          <a:lstStyle/>
          <a:p>
            <a:endParaRPr lang="en-GB" dirty="0"/>
          </a:p>
        </p:txBody>
      </p:sp>
      <p:sp>
        <p:nvSpPr>
          <p:cNvPr id="5" name="Slide Number Placeholder 4"/>
          <p:cNvSpPr>
            <a:spLocks noGrp="1"/>
          </p:cNvSpPr>
          <p:nvPr>
            <p:ph type="sldNum" sz="quarter" idx="12"/>
          </p:nvPr>
        </p:nvSpPr>
        <p:spPr/>
        <p:txBody>
          <a:bodyPr/>
          <a:lstStyle/>
          <a:p>
            <a:fld id="{8D75522D-3DA1-4E7C-B84B-2130C32BB93F}" type="slidenum">
              <a:rPr lang="en-GB" smtClean="0"/>
              <a:t>35</a:t>
            </a:fld>
            <a:endParaRPr lang="en-GB"/>
          </a:p>
        </p:txBody>
      </p:sp>
    </p:spTree>
    <p:extLst>
      <p:ext uri="{BB962C8B-B14F-4D97-AF65-F5344CB8AC3E}">
        <p14:creationId xmlns:p14="http://schemas.microsoft.com/office/powerpoint/2010/main" val="493986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EC464-B23C-A04C-ECA1-6D63618E9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16B59-0520-B975-8003-05F990837320}"/>
              </a:ext>
            </a:extLst>
          </p:cNvPr>
          <p:cNvSpPr>
            <a:spLocks noGrp="1"/>
          </p:cNvSpPr>
          <p:nvPr>
            <p:ph type="title"/>
          </p:nvPr>
        </p:nvSpPr>
        <p:spPr/>
        <p:txBody>
          <a:bodyPr/>
          <a:lstStyle/>
          <a:p>
            <a:r>
              <a:rPr lang="en-US" dirty="0"/>
              <a:t>1. A </a:t>
            </a:r>
            <a:r>
              <a:rPr lang="en-US" dirty="0">
                <a:sym typeface="Symbol" panose="05050102010706020507" pitchFamily="18" charset="2"/>
              </a:rPr>
              <a:t></a:t>
            </a:r>
            <a:r>
              <a:rPr lang="en-US" dirty="0"/>
              <a:t> B</a:t>
            </a:r>
            <a:br>
              <a:rPr lang="en-US" dirty="0"/>
            </a:br>
            <a:r>
              <a:rPr lang="en-US" dirty="0"/>
              <a:t>2. A </a:t>
            </a:r>
            <a:r>
              <a:rPr lang="en-US" dirty="0">
                <a:sym typeface="Symbol" panose="05050102010706020507" pitchFamily="18" charset="2"/>
              </a:rPr>
              <a:t> </a:t>
            </a:r>
            <a:r>
              <a:rPr lang="en-US" dirty="0"/>
              <a:t>B</a:t>
            </a:r>
            <a:endParaRPr lang="en-GB" dirty="0"/>
          </a:p>
        </p:txBody>
      </p:sp>
      <p:sp>
        <p:nvSpPr>
          <p:cNvPr id="3" name="Content Placeholder 2">
            <a:extLst>
              <a:ext uri="{FF2B5EF4-FFF2-40B4-BE49-F238E27FC236}">
                <a16:creationId xmlns:a16="http://schemas.microsoft.com/office/drawing/2014/main" id="{981464D3-95EF-AECB-DED7-DBA10FF5B852}"/>
              </a:ext>
            </a:extLst>
          </p:cNvPr>
          <p:cNvSpPr>
            <a:spLocks noGrp="1"/>
          </p:cNvSpPr>
          <p:nvPr>
            <p:ph idx="1"/>
          </p:nvPr>
        </p:nvSpPr>
        <p:spPr/>
        <p:txBody>
          <a:bodyPr/>
          <a:lstStyle/>
          <a:p>
            <a:endParaRPr lang="en-GB" dirty="0"/>
          </a:p>
        </p:txBody>
      </p:sp>
      <p:pic>
        <p:nvPicPr>
          <p:cNvPr id="8" name="Picture 7">
            <a:extLst>
              <a:ext uri="{FF2B5EF4-FFF2-40B4-BE49-F238E27FC236}">
                <a16:creationId xmlns:a16="http://schemas.microsoft.com/office/drawing/2014/main" id="{41324F47-C09F-09AC-F8C9-23F7C05A4F83}"/>
              </a:ext>
            </a:extLst>
          </p:cNvPr>
          <p:cNvPicPr>
            <a:picLocks noChangeAspect="1"/>
          </p:cNvPicPr>
          <p:nvPr/>
        </p:nvPicPr>
        <p:blipFill>
          <a:blip r:embed="rId2"/>
          <a:srcRect t="66805" b="459"/>
          <a:stretch/>
        </p:blipFill>
        <p:spPr>
          <a:xfrm>
            <a:off x="1170788" y="2421147"/>
            <a:ext cx="9608131" cy="3160294"/>
          </a:xfrm>
          <a:prstGeom prst="rect">
            <a:avLst/>
          </a:prstGeom>
        </p:spPr>
      </p:pic>
      <p:sp>
        <p:nvSpPr>
          <p:cNvPr id="5" name="Slide Number Placeholder 4"/>
          <p:cNvSpPr>
            <a:spLocks noGrp="1"/>
          </p:cNvSpPr>
          <p:nvPr>
            <p:ph type="sldNum" sz="quarter" idx="12"/>
          </p:nvPr>
        </p:nvSpPr>
        <p:spPr/>
        <p:txBody>
          <a:bodyPr/>
          <a:lstStyle/>
          <a:p>
            <a:fld id="{8D75522D-3DA1-4E7C-B84B-2130C32BB93F}" type="slidenum">
              <a:rPr lang="en-GB" smtClean="0"/>
              <a:t>36</a:t>
            </a:fld>
            <a:endParaRPr lang="en-GB"/>
          </a:p>
        </p:txBody>
      </p:sp>
    </p:spTree>
    <p:extLst>
      <p:ext uri="{BB962C8B-B14F-4D97-AF65-F5344CB8AC3E}">
        <p14:creationId xmlns:p14="http://schemas.microsoft.com/office/powerpoint/2010/main" val="3621447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B756-DB8F-55A2-252F-89CF51596510}"/>
              </a:ext>
            </a:extLst>
          </p:cNvPr>
          <p:cNvSpPr>
            <a:spLocks noGrp="1"/>
          </p:cNvSpPr>
          <p:nvPr>
            <p:ph type="title"/>
          </p:nvPr>
        </p:nvSpPr>
        <p:spPr/>
        <p:txBody>
          <a:bodyPr/>
          <a:lstStyle/>
          <a:p>
            <a:r>
              <a:rPr lang="en-US" dirty="0"/>
              <a:t>Exercises</a:t>
            </a:r>
            <a:endParaRPr lang="en-GB" dirty="0"/>
          </a:p>
        </p:txBody>
      </p:sp>
      <p:sp>
        <p:nvSpPr>
          <p:cNvPr id="6" name="Rectangle 1">
            <a:extLst>
              <a:ext uri="{FF2B5EF4-FFF2-40B4-BE49-F238E27FC236}">
                <a16:creationId xmlns:a16="http://schemas.microsoft.com/office/drawing/2014/main" id="{E18D2654-3BDE-54DA-B035-1FD4D6977232}"/>
              </a:ext>
            </a:extLst>
          </p:cNvPr>
          <p:cNvSpPr>
            <a:spLocks noGrp="1" noChangeArrowheads="1"/>
          </p:cNvSpPr>
          <p:nvPr>
            <p:ph idx="1"/>
          </p:nvPr>
        </p:nvSpPr>
        <p:spPr bwMode="auto">
          <a:xfrm>
            <a:off x="838200" y="1841802"/>
            <a:ext cx="10680032" cy="31743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1: Find the intersection for set P = {1, 3, 5} and Q = {2, 5, 8}.</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a:ln>
                <a:noFill/>
              </a:ln>
              <a:solidFill>
                <a:srgbClr val="273239"/>
              </a:solidFill>
              <a:effectLst/>
              <a:latin typeface="Nunito" pitchFamily="2"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2: Find the union of set P = {5, 10} and Q = {12, 15, 18}.</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a:ln>
                <a:noFill/>
              </a:ln>
              <a:solidFill>
                <a:srgbClr val="273239"/>
              </a:solidFill>
              <a:effectLst/>
              <a:latin typeface="Nunito" pitchFamily="2"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3: Find the difference of set P = {1, 3, 5} and Q = {2, 5, 8}.</a:t>
            </a:r>
            <a:endParaRPr kumimoji="0" lang="en-US" altLang="en-US" sz="2400" b="0" i="0" u="none" strike="noStrike" cap="none" normalizeH="0" baseline="0" dirty="0">
              <a:ln>
                <a:noFill/>
              </a:ln>
              <a:solidFill>
                <a:schemeClr val="tx1"/>
              </a:solidFill>
              <a:effectLst/>
            </a:endParaRPr>
          </a:p>
        </p:txBody>
      </p:sp>
      <p:sp>
        <p:nvSpPr>
          <p:cNvPr id="4" name="Slide Number Placeholder 3"/>
          <p:cNvSpPr>
            <a:spLocks noGrp="1"/>
          </p:cNvSpPr>
          <p:nvPr>
            <p:ph type="sldNum" sz="quarter" idx="12"/>
          </p:nvPr>
        </p:nvSpPr>
        <p:spPr/>
        <p:txBody>
          <a:bodyPr/>
          <a:lstStyle/>
          <a:p>
            <a:fld id="{8D75522D-3DA1-4E7C-B84B-2130C32BB93F}" type="slidenum">
              <a:rPr lang="en-GB" smtClean="0"/>
              <a:t>37</a:t>
            </a:fld>
            <a:endParaRPr lang="en-GB"/>
          </a:p>
        </p:txBody>
      </p:sp>
    </p:spTree>
    <p:extLst>
      <p:ext uri="{BB962C8B-B14F-4D97-AF65-F5344CB8AC3E}">
        <p14:creationId xmlns:p14="http://schemas.microsoft.com/office/powerpoint/2010/main" val="10379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BEC5F-2F3D-1AEE-95E4-4B110B806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44BE4-2336-13F8-9C8B-BFA4B6308B43}"/>
              </a:ext>
            </a:extLst>
          </p:cNvPr>
          <p:cNvSpPr>
            <a:spLocks noGrp="1"/>
          </p:cNvSpPr>
          <p:nvPr>
            <p:ph type="title"/>
          </p:nvPr>
        </p:nvSpPr>
        <p:spPr/>
        <p:txBody>
          <a:bodyPr/>
          <a:lstStyle/>
          <a:p>
            <a:r>
              <a:rPr lang="en-US" dirty="0"/>
              <a:t>Exercises</a:t>
            </a:r>
            <a:endParaRPr lang="en-GB" dirty="0"/>
          </a:p>
        </p:txBody>
      </p:sp>
      <p:sp>
        <p:nvSpPr>
          <p:cNvPr id="6" name="Rectangle 1">
            <a:extLst>
              <a:ext uri="{FF2B5EF4-FFF2-40B4-BE49-F238E27FC236}">
                <a16:creationId xmlns:a16="http://schemas.microsoft.com/office/drawing/2014/main" id="{0CE31B25-3336-19AD-FBF8-5E2F41BD821D}"/>
              </a:ext>
            </a:extLst>
          </p:cNvPr>
          <p:cNvSpPr>
            <a:spLocks noGrp="1" noChangeArrowheads="1"/>
          </p:cNvSpPr>
          <p:nvPr>
            <p:ph idx="1"/>
          </p:nvPr>
        </p:nvSpPr>
        <p:spPr bwMode="auto">
          <a:xfrm>
            <a:off x="838200" y="2102232"/>
            <a:ext cx="10680032" cy="37981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1: Find the intersection for set P = {1, 3, 5} and Q = {2, 5, 8}.</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P ∩ Q = {5}</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2: Find the union of set P = {5, 10} and Q = {12, 15, 18}.</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P ∪ Q = {5, 10, 12, 15, 18}</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3: Find the difference of set P = {1, 3, 5} and Q = {2, 5, 8}.</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P - Q = {1, 3}</a:t>
            </a:r>
          </a:p>
        </p:txBody>
      </p:sp>
      <p:sp>
        <p:nvSpPr>
          <p:cNvPr id="4" name="Slide Number Placeholder 3"/>
          <p:cNvSpPr>
            <a:spLocks noGrp="1"/>
          </p:cNvSpPr>
          <p:nvPr>
            <p:ph type="sldNum" sz="quarter" idx="12"/>
          </p:nvPr>
        </p:nvSpPr>
        <p:spPr/>
        <p:txBody>
          <a:bodyPr/>
          <a:lstStyle/>
          <a:p>
            <a:fld id="{8D75522D-3DA1-4E7C-B84B-2130C32BB93F}" type="slidenum">
              <a:rPr lang="en-GB" smtClean="0"/>
              <a:t>38</a:t>
            </a:fld>
            <a:endParaRPr lang="en-GB"/>
          </a:p>
        </p:txBody>
      </p:sp>
    </p:spTree>
    <p:extLst>
      <p:ext uri="{BB962C8B-B14F-4D97-AF65-F5344CB8AC3E}">
        <p14:creationId xmlns:p14="http://schemas.microsoft.com/office/powerpoint/2010/main" val="3966128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B2C16-672D-D45E-5BD4-2FEE25842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BF6F3-2C8C-F294-F122-E9CDBEBA2C1C}"/>
              </a:ext>
            </a:extLst>
          </p:cNvPr>
          <p:cNvSpPr>
            <a:spLocks noGrp="1"/>
          </p:cNvSpPr>
          <p:nvPr>
            <p:ph type="title"/>
          </p:nvPr>
        </p:nvSpPr>
        <p:spPr/>
        <p:txBody>
          <a:bodyPr/>
          <a:lstStyle/>
          <a:p>
            <a:r>
              <a:rPr lang="en-US" dirty="0"/>
              <a:t>Exercises</a:t>
            </a:r>
            <a:endParaRPr lang="en-GB" dirty="0"/>
          </a:p>
        </p:txBody>
      </p:sp>
      <p:sp>
        <p:nvSpPr>
          <p:cNvPr id="6" name="Rectangle 1">
            <a:extLst>
              <a:ext uri="{FF2B5EF4-FFF2-40B4-BE49-F238E27FC236}">
                <a16:creationId xmlns:a16="http://schemas.microsoft.com/office/drawing/2014/main" id="{AE749B05-40C4-106B-7326-2BA8BBB72B20}"/>
              </a:ext>
            </a:extLst>
          </p:cNvPr>
          <p:cNvSpPr>
            <a:spLocks noGrp="1" noChangeArrowheads="1"/>
          </p:cNvSpPr>
          <p:nvPr>
            <p:ph idx="1"/>
          </p:nvPr>
        </p:nvSpPr>
        <p:spPr bwMode="auto">
          <a:xfrm>
            <a:off x="838200" y="2174390"/>
            <a:ext cx="10776284" cy="16004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4: Find the complement of set X = {a, b, d} and U = {a, b, c, d, 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solidFill>
                <a:srgbClr val="273239"/>
              </a:solidFill>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5: Find whether P is subset of Q or not where set P = {2, 4} and</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8D75522D-3DA1-4E7C-B84B-2130C32BB93F}" type="slidenum">
              <a:rPr lang="en-GB" smtClean="0"/>
              <a:t>39</a:t>
            </a:fld>
            <a:endParaRPr lang="en-GB"/>
          </a:p>
        </p:txBody>
      </p:sp>
    </p:spTree>
    <p:extLst>
      <p:ext uri="{BB962C8B-B14F-4D97-AF65-F5344CB8AC3E}">
        <p14:creationId xmlns:p14="http://schemas.microsoft.com/office/powerpoint/2010/main" val="15173968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64FC2-D867-D85B-10F4-DC6578ED1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DDD21-66B3-C5C5-9DCD-C47752D329EA}"/>
              </a:ext>
            </a:extLst>
          </p:cNvPr>
          <p:cNvSpPr>
            <a:spLocks noGrp="1"/>
          </p:cNvSpPr>
          <p:nvPr>
            <p:ph type="title"/>
          </p:nvPr>
        </p:nvSpPr>
        <p:spPr/>
        <p:txBody>
          <a:bodyPr/>
          <a:lstStyle/>
          <a:p>
            <a:r>
              <a:rPr lang="en-US" dirty="0"/>
              <a:t>Exercises</a:t>
            </a:r>
            <a:endParaRPr lang="en-GB" dirty="0"/>
          </a:p>
        </p:txBody>
      </p:sp>
      <mc:AlternateContent xmlns:mc="http://schemas.openxmlformats.org/markup-compatibility/2006">
        <mc:Choice xmlns:a14="http://schemas.microsoft.com/office/drawing/2010/main" Requires="a14">
          <p:sp>
            <p:nvSpPr>
              <p:cNvPr id="6" name="Rectangle 1">
                <a:extLst>
                  <a:ext uri="{FF2B5EF4-FFF2-40B4-BE49-F238E27FC236}">
                    <a16:creationId xmlns:a16="http://schemas.microsoft.com/office/drawing/2014/main" id="{6E3D551C-7236-CE6C-831F-C3DA0BB2AB05}"/>
                  </a:ext>
                </a:extLst>
              </p:cNvPr>
              <p:cNvSpPr>
                <a:spLocks noGrp="1" noChangeArrowheads="1"/>
              </p:cNvSpPr>
              <p:nvPr>
                <p:ph idx="1"/>
              </p:nvPr>
            </p:nvSpPr>
            <p:spPr bwMode="auto">
              <a:xfrm>
                <a:off x="838201" y="2010311"/>
                <a:ext cx="10776284" cy="3981988"/>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4: Find the complement of set X = {a, b, d} and U = {a, b, c, d, e}.</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X = {a, b, 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14:m>
                  <m:oMath xmlns:m="http://schemas.openxmlformats.org/officeDocument/2006/math">
                    <m:sSup>
                      <m:sSupPr>
                        <m:ctrlPr>
                          <a:rPr kumimoji="0" lang="en-US" altLang="en-US" b="0" i="1" u="none" strike="noStrike" cap="none" normalizeH="0" baseline="0" smtClean="0">
                            <a:ln>
                              <a:noFill/>
                            </a:ln>
                            <a:solidFill>
                              <a:schemeClr val="tx1"/>
                            </a:solidFill>
                            <a:effectLst/>
                            <a:latin typeface="Cambria Math" panose="02040503050406030204" pitchFamily="18" charset="0"/>
                          </a:rPr>
                        </m:ctrlPr>
                      </m:sSupPr>
                      <m:e>
                        <m:r>
                          <a:rPr kumimoji="0" lang="en-US" altLang="en-US" b="0" i="1" u="none" strike="noStrike" cap="none" normalizeH="0" baseline="0" smtClean="0">
                            <a:ln>
                              <a:noFill/>
                            </a:ln>
                            <a:solidFill>
                              <a:schemeClr val="tx1"/>
                            </a:solidFill>
                            <a:effectLst/>
                            <a:latin typeface="Cambria Math" panose="02040503050406030204" pitchFamily="18" charset="0"/>
                          </a:rPr>
                          <m:t>𝑋</m:t>
                        </m:r>
                      </m:e>
                      <m:sup>
                        <m:r>
                          <a:rPr kumimoji="0" lang="en-US" altLang="en-US" b="0" i="1" u="none" strike="noStrike" cap="none" normalizeH="0" baseline="0" smtClean="0">
                            <a:ln>
                              <a:noFill/>
                            </a:ln>
                            <a:solidFill>
                              <a:schemeClr val="tx1"/>
                            </a:solidFill>
                            <a:effectLst/>
                            <a:latin typeface="Cambria Math" panose="02040503050406030204" pitchFamily="18" charset="0"/>
                          </a:rPr>
                          <m:t>𝑐</m:t>
                        </m:r>
                      </m:sup>
                    </m:sSup>
                  </m:oMath>
                </a14:m>
                <a:r>
                  <a:rPr kumimoji="0" lang="en-US" altLang="en-US" b="0" i="0" u="none" strike="noStrike" cap="none" normalizeH="0" baseline="0" dirty="0">
                    <a:ln>
                      <a:noFill/>
                    </a:ln>
                    <a:solidFill>
                      <a:schemeClr val="tx1"/>
                    </a:solidFill>
                    <a:effectLst/>
                    <a:latin typeface="Arial" panose="020B0604020202020204" pitchFamily="34" charset="0"/>
                  </a:rPr>
                  <a:t> = {c, 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5: Find whether P is subset of Q or not where set P = {2, 4} and 	Q = {4, 5, 6}.</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P = {2, 4}</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Q = {4, 5, 6}</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Since Q does not includes all the elements of P (element 2)</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Therefore, P is not a subset of Q.</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mc:Choice>
        <mc:Fallback>
          <p:sp>
            <p:nvSpPr>
              <p:cNvPr id="6" name="Rectangle 1">
                <a:extLst>
                  <a:ext uri="{FF2B5EF4-FFF2-40B4-BE49-F238E27FC236}">
                    <a16:creationId xmlns:a16="http://schemas.microsoft.com/office/drawing/2014/main" id="{6E3D551C-7236-CE6C-831F-C3DA0BB2AB05}"/>
                  </a:ext>
                </a:extLst>
              </p:cNvPr>
              <p:cNvSpPr>
                <a:spLocks noGrp="1" noRot="1" noChangeAspect="1" noMove="1" noResize="1" noEditPoints="1" noAdjustHandles="1" noChangeArrowheads="1" noChangeShapeType="1" noTextEdit="1"/>
              </p:cNvSpPr>
              <p:nvPr>
                <p:ph idx="1"/>
              </p:nvPr>
            </p:nvSpPr>
            <p:spPr bwMode="auto">
              <a:xfrm>
                <a:off x="838201" y="2010311"/>
                <a:ext cx="10776284" cy="3981988"/>
              </a:xfrm>
              <a:prstGeom prst="rect">
                <a:avLst/>
              </a:prstGeom>
              <a:blipFill>
                <a:blip r:embed="rId2"/>
                <a:stretch>
                  <a:fillRect l="-2037" t="-919" b="-3675"/>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D75522D-3DA1-4E7C-B84B-2130C32BB93F}" type="slidenum">
              <a:rPr lang="en-GB" smtClean="0"/>
              <a:t>40</a:t>
            </a:fld>
            <a:endParaRPr lang="en-GB"/>
          </a:p>
        </p:txBody>
      </p:sp>
    </p:spTree>
    <p:extLst>
      <p:ext uri="{BB962C8B-B14F-4D97-AF65-F5344CB8AC3E}">
        <p14:creationId xmlns:p14="http://schemas.microsoft.com/office/powerpoint/2010/main" val="212778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807" name="Rectangle 31">
            <a:extLst>
              <a:ext uri="{FF2B5EF4-FFF2-40B4-BE49-F238E27FC236}">
                <a16:creationId xmlns:a16="http://schemas.microsoft.com/office/drawing/2014/main" id="{60AD0A28-5FD7-BF51-7177-9CB6C702C219}"/>
              </a:ext>
            </a:extLst>
          </p:cNvPr>
          <p:cNvSpPr>
            <a:spLocks noChangeArrowheads="1"/>
          </p:cNvSpPr>
          <p:nvPr/>
        </p:nvSpPr>
        <p:spPr bwMode="auto">
          <a:xfrm>
            <a:off x="1436688" y="3112752"/>
            <a:ext cx="8607425" cy="140844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3798" name="Rectangle 22">
            <a:extLst>
              <a:ext uri="{FF2B5EF4-FFF2-40B4-BE49-F238E27FC236}">
                <a16:creationId xmlns:a16="http://schemas.microsoft.com/office/drawing/2014/main" id="{CEC472DE-BB9A-CF42-9010-1B9A670B3DFB}"/>
              </a:ext>
            </a:extLst>
          </p:cNvPr>
          <p:cNvSpPr>
            <a:spLocks noChangeArrowheads="1"/>
          </p:cNvSpPr>
          <p:nvPr/>
        </p:nvSpPr>
        <p:spPr bwMode="auto">
          <a:xfrm>
            <a:off x="1388562" y="4985252"/>
            <a:ext cx="9231312" cy="68421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3778" name="Text Box 24">
            <a:extLst>
              <a:ext uri="{FF2B5EF4-FFF2-40B4-BE49-F238E27FC236}">
                <a16:creationId xmlns:a16="http://schemas.microsoft.com/office/drawing/2014/main" id="{4C9BA11E-1374-CAD0-AF43-B95F879C6AC0}"/>
              </a:ext>
            </a:extLst>
          </p:cNvPr>
          <p:cNvSpPr txBox="1">
            <a:spLocks noChangeArrowheads="1"/>
          </p:cNvSpPr>
          <p:nvPr/>
        </p:nvSpPr>
        <p:spPr bwMode="auto">
          <a:xfrm>
            <a:off x="1179515" y="741357"/>
            <a:ext cx="71231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Let</a:t>
            </a:r>
            <a:r>
              <a:rPr lang="en-US" altLang="en-US" sz="3200" i="1" dirty="0">
                <a:solidFill>
                  <a:srgbClr val="000066"/>
                </a:solidFill>
                <a:latin typeface="Times New Roman" panose="02020603050405020304" pitchFamily="18" charset="0"/>
              </a:rPr>
              <a:t> A</a:t>
            </a:r>
            <a:r>
              <a:rPr lang="en-US" altLang="en-US" sz="2400" dirty="0">
                <a:solidFill>
                  <a:srgbClr val="000066"/>
                </a:solidFill>
              </a:rPr>
              <a:t> be the set of all letters in the alphabet. </a:t>
            </a:r>
            <a:endParaRPr lang="en-GB" altLang="en-US" sz="2400" dirty="0">
              <a:solidFill>
                <a:srgbClr val="000066"/>
              </a:solidFill>
            </a:endParaRPr>
          </a:p>
        </p:txBody>
      </p:sp>
      <p:sp>
        <p:nvSpPr>
          <p:cNvPr id="203779" name="Rectangle 3">
            <a:extLst>
              <a:ext uri="{FF2B5EF4-FFF2-40B4-BE49-F238E27FC236}">
                <a16:creationId xmlns:a16="http://schemas.microsoft.com/office/drawing/2014/main" id="{447BA573-AE23-BA92-D13C-D78FD310BD85}"/>
              </a:ext>
            </a:extLst>
          </p:cNvPr>
          <p:cNvSpPr>
            <a:spLocks noGrp="1" noChangeArrowheads="1"/>
          </p:cNvSpPr>
          <p:nvPr>
            <p:ph type="title" idx="4294967295"/>
          </p:nvPr>
        </p:nvSpPr>
        <p:spPr>
          <a:xfrm>
            <a:off x="1179514" y="175585"/>
            <a:ext cx="8229600" cy="608013"/>
          </a:xfrm>
        </p:spPr>
        <p:txBody>
          <a:bodyPr>
            <a:normAutofit fontScale="90000"/>
          </a:bodyPr>
          <a:lstStyle/>
          <a:p>
            <a:r>
              <a:rPr lang="en-GB" altLang="en-US" dirty="0">
                <a:latin typeface="Calibri" panose="020F0502020204030204" pitchFamily="34" charset="0"/>
                <a:cs typeface="Calibri" panose="020F0502020204030204" pitchFamily="34" charset="0"/>
              </a:rPr>
              <a:t>Unions and intersections</a:t>
            </a:r>
          </a:p>
        </p:txBody>
      </p:sp>
      <p:pic>
        <p:nvPicPr>
          <p:cNvPr id="203780" name="Picture 4">
            <a:hlinkClick r:id="" action="ppaction://hlinkshowjump?jump=nextslide"/>
            <a:extLst>
              <a:ext uri="{FF2B5EF4-FFF2-40B4-BE49-F238E27FC236}">
                <a16:creationId xmlns:a16="http://schemas.microsoft.com/office/drawing/2014/main" id="{90DE618C-CE84-1A3B-E20E-5D5D21B84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2333" y="6141286"/>
            <a:ext cx="63023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8" name="Text Box 24">
            <a:extLst>
              <a:ext uri="{FF2B5EF4-FFF2-40B4-BE49-F238E27FC236}">
                <a16:creationId xmlns:a16="http://schemas.microsoft.com/office/drawing/2014/main" id="{9CA74C30-DF3E-3B1D-4F1E-047264E11761}"/>
              </a:ext>
            </a:extLst>
          </p:cNvPr>
          <p:cNvSpPr txBox="1">
            <a:spLocks noChangeArrowheads="1"/>
          </p:cNvSpPr>
          <p:nvPr/>
        </p:nvSpPr>
        <p:spPr bwMode="auto">
          <a:xfrm>
            <a:off x="1179515" y="1160459"/>
            <a:ext cx="6921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Let</a:t>
            </a:r>
            <a:r>
              <a:rPr lang="en-US" altLang="en-US" sz="3200" i="1" dirty="0">
                <a:solidFill>
                  <a:srgbClr val="000066"/>
                </a:solidFill>
                <a:latin typeface="Times New Roman" panose="02020603050405020304" pitchFamily="18" charset="0"/>
              </a:rPr>
              <a:t> B</a:t>
            </a:r>
            <a:r>
              <a:rPr lang="en-US" altLang="en-US" sz="2400" dirty="0">
                <a:solidFill>
                  <a:srgbClr val="000066"/>
                </a:solidFill>
              </a:rPr>
              <a:t> be the set of all vowels in the alphabet. </a:t>
            </a:r>
            <a:endParaRPr lang="en-GB" altLang="en-US" sz="2400" dirty="0">
              <a:solidFill>
                <a:srgbClr val="000066"/>
              </a:solidFill>
            </a:endParaRPr>
          </a:p>
        </p:txBody>
      </p:sp>
      <p:sp>
        <p:nvSpPr>
          <p:cNvPr id="203789" name="Text Box 24">
            <a:extLst>
              <a:ext uri="{FF2B5EF4-FFF2-40B4-BE49-F238E27FC236}">
                <a16:creationId xmlns:a16="http://schemas.microsoft.com/office/drawing/2014/main" id="{40CCF923-A0ED-20C0-75E1-F2D6F7DD4922}"/>
              </a:ext>
            </a:extLst>
          </p:cNvPr>
          <p:cNvSpPr txBox="1">
            <a:spLocks noChangeArrowheads="1"/>
          </p:cNvSpPr>
          <p:nvPr/>
        </p:nvSpPr>
        <p:spPr bwMode="auto">
          <a:xfrm>
            <a:off x="1179515" y="1612900"/>
            <a:ext cx="92757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Let</a:t>
            </a:r>
            <a:r>
              <a:rPr lang="en-US" altLang="en-US" sz="2400" dirty="0"/>
              <a:t> </a:t>
            </a:r>
            <a:r>
              <a:rPr lang="en-US" altLang="en-US" sz="3200" i="1" dirty="0">
                <a:solidFill>
                  <a:srgbClr val="000066"/>
                </a:solidFill>
                <a:latin typeface="Times New Roman" panose="02020603050405020304" pitchFamily="18" charset="0"/>
              </a:rPr>
              <a:t>C</a:t>
            </a:r>
            <a:r>
              <a:rPr lang="en-US" altLang="en-US" sz="2400" dirty="0">
                <a:solidFill>
                  <a:srgbClr val="000066"/>
                </a:solidFill>
              </a:rPr>
              <a:t> be the set of all letters in your name. </a:t>
            </a:r>
            <a:endParaRPr lang="en-GB" altLang="en-US" sz="2400" dirty="0">
              <a:solidFill>
                <a:srgbClr val="000066"/>
              </a:solidFill>
            </a:endParaRPr>
          </a:p>
        </p:txBody>
      </p:sp>
      <p:sp>
        <p:nvSpPr>
          <p:cNvPr id="203791" name="Text Box 24">
            <a:extLst>
              <a:ext uri="{FF2B5EF4-FFF2-40B4-BE49-F238E27FC236}">
                <a16:creationId xmlns:a16="http://schemas.microsoft.com/office/drawing/2014/main" id="{1F11FE4A-88C6-2CE9-5327-B25C1B062B37}"/>
              </a:ext>
            </a:extLst>
          </p:cNvPr>
          <p:cNvSpPr txBox="1">
            <a:spLocks noChangeArrowheads="1"/>
          </p:cNvSpPr>
          <p:nvPr/>
        </p:nvSpPr>
        <p:spPr bwMode="auto">
          <a:xfrm>
            <a:off x="1179514" y="2097089"/>
            <a:ext cx="93440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b="1" dirty="0">
                <a:solidFill>
                  <a:srgbClr val="C00000"/>
                </a:solidFill>
              </a:rPr>
              <a:t>Draw a Venn diagram to represent these sets. </a:t>
            </a:r>
          </a:p>
          <a:p>
            <a:pPr>
              <a:spcBef>
                <a:spcPct val="50000"/>
              </a:spcBef>
            </a:pPr>
            <a:r>
              <a:rPr lang="en-US" altLang="en-US" sz="2400" b="1" dirty="0">
                <a:solidFill>
                  <a:srgbClr val="C00000"/>
                </a:solidFill>
              </a:rPr>
              <a:t>What is the universal set and which are subsets?</a:t>
            </a:r>
            <a:endParaRPr lang="en-GB" altLang="en-US" sz="2400" b="1" dirty="0">
              <a:solidFill>
                <a:srgbClr val="C00000"/>
              </a:solidFill>
            </a:endParaRPr>
          </a:p>
        </p:txBody>
      </p:sp>
      <p:sp>
        <p:nvSpPr>
          <p:cNvPr id="203793" name="Text Box 24">
            <a:extLst>
              <a:ext uri="{FF2B5EF4-FFF2-40B4-BE49-F238E27FC236}">
                <a16:creationId xmlns:a16="http://schemas.microsoft.com/office/drawing/2014/main" id="{1A0FEF79-BCA4-F50E-A335-F207205D4EFA}"/>
              </a:ext>
            </a:extLst>
          </p:cNvPr>
          <p:cNvSpPr txBox="1">
            <a:spLocks noChangeArrowheads="1"/>
          </p:cNvSpPr>
          <p:nvPr/>
        </p:nvSpPr>
        <p:spPr bwMode="auto">
          <a:xfrm>
            <a:off x="1331495" y="5669465"/>
            <a:ext cx="88090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000" b="1" dirty="0">
                <a:solidFill>
                  <a:srgbClr val="000066"/>
                </a:solidFill>
              </a:rPr>
              <a:t>List the elements in </a:t>
            </a:r>
            <a:r>
              <a:rPr lang="en-GB" altLang="en-US" sz="2800" b="1" i="1" dirty="0">
                <a:solidFill>
                  <a:srgbClr val="000066"/>
                </a:solidFill>
                <a:latin typeface="Times New Roman" panose="02020603050405020304" pitchFamily="18" charset="0"/>
              </a:rPr>
              <a:t>B </a:t>
            </a:r>
            <a:r>
              <a:rPr lang="en-GB" altLang="en-US" sz="2000" b="1" dirty="0">
                <a:solidFill>
                  <a:srgbClr val="000066"/>
                </a:solidFill>
                <a:latin typeface="Lucida Sans Unicode" panose="020B0602030504020204" pitchFamily="34" charset="0"/>
                <a:cs typeface="Lucida Sans Unicode" panose="020B0602030504020204" pitchFamily="34" charset="0"/>
              </a:rPr>
              <a:t>∩</a:t>
            </a:r>
            <a:r>
              <a:rPr lang="en-GB" altLang="en-US" sz="2800" b="1" dirty="0">
                <a:solidFill>
                  <a:srgbClr val="000066"/>
                </a:solidFill>
                <a:latin typeface="Lucida Sans Unicode" panose="020B0602030504020204" pitchFamily="34" charset="0"/>
                <a:cs typeface="Lucida Sans Unicode" panose="020B0602030504020204" pitchFamily="34" charset="0"/>
              </a:rPr>
              <a:t> </a:t>
            </a:r>
            <a:r>
              <a:rPr lang="en-GB" altLang="en-US" sz="2800" b="1" i="1" dirty="0">
                <a:solidFill>
                  <a:srgbClr val="000066"/>
                </a:solidFill>
                <a:latin typeface="Times New Roman" panose="02020603050405020304" pitchFamily="18" charset="0"/>
                <a:cs typeface="Lucida Sans Unicode" panose="020B0602030504020204" pitchFamily="34" charset="0"/>
              </a:rPr>
              <a:t>C</a:t>
            </a:r>
            <a:r>
              <a:rPr lang="en-US" altLang="en-US" sz="2800" b="1" dirty="0">
                <a:solidFill>
                  <a:srgbClr val="000066"/>
                </a:solidFill>
              </a:rPr>
              <a:t> </a:t>
            </a:r>
            <a:r>
              <a:rPr lang="en-US" altLang="en-US" sz="2000" b="1" dirty="0">
                <a:solidFill>
                  <a:srgbClr val="000066"/>
                </a:solidFill>
              </a:rPr>
              <a:t>and</a:t>
            </a:r>
            <a:r>
              <a:rPr lang="en-US" altLang="en-US" sz="2800" b="1" dirty="0">
                <a:solidFill>
                  <a:srgbClr val="000066"/>
                </a:solidFill>
              </a:rPr>
              <a:t> </a:t>
            </a:r>
            <a:r>
              <a:rPr lang="en-GB" altLang="en-US" sz="2800" b="1" i="1" dirty="0">
                <a:solidFill>
                  <a:srgbClr val="000066"/>
                </a:solidFill>
                <a:latin typeface="Times New Roman" panose="02020603050405020304" pitchFamily="18" charset="0"/>
              </a:rPr>
              <a:t>B </a:t>
            </a:r>
            <a:r>
              <a:rPr lang="en-GB" altLang="en-US" sz="2000" b="1" dirty="0">
                <a:solidFill>
                  <a:srgbClr val="000066"/>
                </a:solidFill>
                <a:latin typeface="Lucida Sans Unicode" panose="020B0602030504020204" pitchFamily="34" charset="0"/>
                <a:cs typeface="Lucida Sans Unicode" panose="020B0602030504020204" pitchFamily="34" charset="0"/>
              </a:rPr>
              <a:t>∪</a:t>
            </a:r>
            <a:r>
              <a:rPr lang="en-GB" altLang="en-US" sz="2800" b="1" dirty="0">
                <a:solidFill>
                  <a:srgbClr val="000066"/>
                </a:solidFill>
                <a:latin typeface="Lucida Sans Unicode" panose="020B0602030504020204" pitchFamily="34" charset="0"/>
                <a:cs typeface="Lucida Sans Unicode" panose="020B0602030504020204" pitchFamily="34" charset="0"/>
              </a:rPr>
              <a:t> </a:t>
            </a:r>
            <a:r>
              <a:rPr lang="en-GB" altLang="en-US" sz="2800" b="1" i="1" dirty="0">
                <a:solidFill>
                  <a:srgbClr val="000066"/>
                </a:solidFill>
                <a:latin typeface="Times New Roman" panose="02020603050405020304" pitchFamily="18" charset="0"/>
                <a:cs typeface="Lucida Sans Unicode" panose="020B0602030504020204" pitchFamily="34" charset="0"/>
              </a:rPr>
              <a:t>C</a:t>
            </a:r>
            <a:r>
              <a:rPr lang="en-US" altLang="en-US" sz="2000" b="1" dirty="0">
                <a:solidFill>
                  <a:srgbClr val="000066"/>
                </a:solidFill>
              </a:rPr>
              <a:t>?</a:t>
            </a:r>
            <a:endParaRPr lang="en-GB" altLang="en-US" sz="2000" b="1" dirty="0">
              <a:solidFill>
                <a:srgbClr val="000066"/>
              </a:solidFill>
            </a:endParaRPr>
          </a:p>
        </p:txBody>
      </p:sp>
      <p:sp>
        <p:nvSpPr>
          <p:cNvPr id="203795" name="Text Box 24">
            <a:extLst>
              <a:ext uri="{FF2B5EF4-FFF2-40B4-BE49-F238E27FC236}">
                <a16:creationId xmlns:a16="http://schemas.microsoft.com/office/drawing/2014/main" id="{9C4FA6EB-C3A2-A832-E85A-3BC42B361D06}"/>
              </a:ext>
            </a:extLst>
          </p:cNvPr>
          <p:cNvSpPr txBox="1">
            <a:spLocks noChangeArrowheads="1"/>
          </p:cNvSpPr>
          <p:nvPr/>
        </p:nvSpPr>
        <p:spPr bwMode="auto">
          <a:xfrm>
            <a:off x="1247776" y="4521200"/>
            <a:ext cx="92313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000" b="1" dirty="0">
                <a:solidFill>
                  <a:srgbClr val="000066"/>
                </a:solidFill>
              </a:rPr>
              <a:t>Describe </a:t>
            </a:r>
            <a:r>
              <a:rPr lang="en-US" altLang="en-US" sz="2800" b="1" i="1" dirty="0">
                <a:solidFill>
                  <a:srgbClr val="000066"/>
                </a:solidFill>
                <a:latin typeface="Times New Roman" panose="02020603050405020304" pitchFamily="18" charset="0"/>
              </a:rPr>
              <a:t>B</a:t>
            </a:r>
            <a:r>
              <a:rPr lang="en-US" altLang="en-US" sz="2800" b="1" dirty="0">
                <a:solidFill>
                  <a:srgbClr val="000066"/>
                </a:solidFill>
                <a:cs typeface="Arial" panose="020B0604020202020204" pitchFamily="34" charset="0"/>
              </a:rPr>
              <a:t>′</a:t>
            </a:r>
            <a:r>
              <a:rPr lang="en-US" altLang="en-US" sz="2000" b="1" dirty="0">
                <a:solidFill>
                  <a:srgbClr val="000066"/>
                </a:solidFill>
              </a:rPr>
              <a:t>. </a:t>
            </a:r>
            <a:endParaRPr lang="en-GB" altLang="en-US" sz="2000" b="1" dirty="0">
              <a:solidFill>
                <a:srgbClr val="000066"/>
              </a:solidFill>
            </a:endParaRPr>
          </a:p>
        </p:txBody>
      </p:sp>
      <p:sp>
        <p:nvSpPr>
          <p:cNvPr id="203804" name="Rectangle 28">
            <a:extLst>
              <a:ext uri="{FF2B5EF4-FFF2-40B4-BE49-F238E27FC236}">
                <a16:creationId xmlns:a16="http://schemas.microsoft.com/office/drawing/2014/main" id="{DA0D25AA-3FCD-DD81-363C-0408BFE6247C}"/>
              </a:ext>
            </a:extLst>
          </p:cNvPr>
          <p:cNvSpPr>
            <a:spLocks noChangeArrowheads="1"/>
          </p:cNvSpPr>
          <p:nvPr/>
        </p:nvSpPr>
        <p:spPr bwMode="auto">
          <a:xfrm>
            <a:off x="7814955" y="1401406"/>
            <a:ext cx="39003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3200" i="1" dirty="0">
                <a:solidFill>
                  <a:srgbClr val="000066"/>
                </a:solidFill>
                <a:latin typeface="Calibri" panose="020F0502020204030204" pitchFamily="34" charset="0"/>
                <a:cs typeface="Calibri" panose="020F0502020204030204" pitchFamily="34" charset="0"/>
              </a:rPr>
              <a:t>B</a:t>
            </a:r>
            <a:r>
              <a:rPr lang="en-US" altLang="en-US" sz="2400" dirty="0">
                <a:solidFill>
                  <a:srgbClr val="000066"/>
                </a:solidFill>
                <a:latin typeface="Calibri" panose="020F0502020204030204" pitchFamily="34" charset="0"/>
                <a:cs typeface="Calibri" panose="020F0502020204030204" pitchFamily="34" charset="0"/>
              </a:rPr>
              <a:t> = { A, E, I, O, U}</a:t>
            </a:r>
            <a:endParaRPr lang="en-GB" altLang="en-US" sz="2400" dirty="0">
              <a:solidFill>
                <a:srgbClr val="000066"/>
              </a:solidFill>
              <a:latin typeface="Calibri" panose="020F0502020204030204" pitchFamily="34" charset="0"/>
              <a:cs typeface="Calibri" panose="020F0502020204030204" pitchFamily="34" charset="0"/>
            </a:endParaRPr>
          </a:p>
        </p:txBody>
      </p:sp>
      <p:sp>
        <p:nvSpPr>
          <p:cNvPr id="203805" name="Rectangle 29">
            <a:extLst>
              <a:ext uri="{FF2B5EF4-FFF2-40B4-BE49-F238E27FC236}">
                <a16:creationId xmlns:a16="http://schemas.microsoft.com/office/drawing/2014/main" id="{80AFA8F7-0BCA-5148-329E-8C874B242273}"/>
              </a:ext>
            </a:extLst>
          </p:cNvPr>
          <p:cNvSpPr>
            <a:spLocks noChangeArrowheads="1"/>
          </p:cNvSpPr>
          <p:nvPr/>
        </p:nvSpPr>
        <p:spPr bwMode="auto">
          <a:xfrm>
            <a:off x="7814955" y="670995"/>
            <a:ext cx="36576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3200" i="1" dirty="0">
                <a:solidFill>
                  <a:srgbClr val="000066"/>
                </a:solidFill>
                <a:latin typeface="Calibri" panose="020F0502020204030204" pitchFamily="34" charset="0"/>
                <a:cs typeface="Calibri" panose="020F0502020204030204" pitchFamily="34" charset="0"/>
              </a:rPr>
              <a:t>A</a:t>
            </a:r>
            <a:r>
              <a:rPr lang="en-US" altLang="en-US" sz="2400" dirty="0">
                <a:solidFill>
                  <a:srgbClr val="000066"/>
                </a:solidFill>
                <a:latin typeface="Calibri" panose="020F0502020204030204" pitchFamily="34" charset="0"/>
                <a:cs typeface="Calibri" panose="020F0502020204030204" pitchFamily="34" charset="0"/>
              </a:rPr>
              <a:t> = {A, B, C, …}</a:t>
            </a:r>
            <a:r>
              <a:rPr lang="en-US" altLang="en-US" sz="2400" dirty="0">
                <a:latin typeface="Calibri" panose="020F0502020204030204" pitchFamily="34" charset="0"/>
                <a:cs typeface="Calibri" panose="020F0502020204030204" pitchFamily="34" charset="0"/>
              </a:rPr>
              <a:t> </a:t>
            </a:r>
            <a:endParaRPr lang="en-GB" altLang="en-US" sz="2400" dirty="0">
              <a:latin typeface="Calibri" panose="020F0502020204030204" pitchFamily="34" charset="0"/>
              <a:cs typeface="Calibri" panose="020F0502020204030204" pitchFamily="34" charset="0"/>
            </a:endParaRPr>
          </a:p>
        </p:txBody>
      </p:sp>
      <p:sp>
        <p:nvSpPr>
          <p:cNvPr id="203808" name="Text Box 32">
            <a:extLst>
              <a:ext uri="{FF2B5EF4-FFF2-40B4-BE49-F238E27FC236}">
                <a16:creationId xmlns:a16="http://schemas.microsoft.com/office/drawing/2014/main" id="{49C61530-F9E6-26BF-365E-68982D665E6E}"/>
              </a:ext>
            </a:extLst>
          </p:cNvPr>
          <p:cNvSpPr txBox="1">
            <a:spLocks noChangeArrowheads="1"/>
          </p:cNvSpPr>
          <p:nvPr/>
        </p:nvSpPr>
        <p:spPr bwMode="auto">
          <a:xfrm>
            <a:off x="1331495" y="3037215"/>
            <a:ext cx="55447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i="1" dirty="0">
                <a:latin typeface="Calibri" panose="020F0502020204030204" pitchFamily="34" charset="0"/>
                <a:cs typeface="Calibri" panose="020F0502020204030204" pitchFamily="34" charset="0"/>
              </a:rPr>
              <a:t>A</a:t>
            </a:r>
            <a:r>
              <a:rPr lang="en-GB" altLang="en-US" sz="2800" dirty="0">
                <a:latin typeface="Calibri" panose="020F0502020204030204" pitchFamily="34" charset="0"/>
                <a:cs typeface="Calibri" panose="020F0502020204030204" pitchFamily="34" charset="0"/>
              </a:rPr>
              <a:t> is the universal set in this scenario.</a:t>
            </a:r>
          </a:p>
        </p:txBody>
      </p:sp>
      <p:sp>
        <p:nvSpPr>
          <p:cNvPr id="203809" name="Text Box 33">
            <a:extLst>
              <a:ext uri="{FF2B5EF4-FFF2-40B4-BE49-F238E27FC236}">
                <a16:creationId xmlns:a16="http://schemas.microsoft.com/office/drawing/2014/main" id="{4F9ED8FB-CBF9-FCD3-DAA9-07A47EA5218C}"/>
              </a:ext>
            </a:extLst>
          </p:cNvPr>
          <p:cNvSpPr txBox="1">
            <a:spLocks noChangeArrowheads="1"/>
          </p:cNvSpPr>
          <p:nvPr/>
        </p:nvSpPr>
        <p:spPr bwMode="auto">
          <a:xfrm>
            <a:off x="1331495" y="3478708"/>
            <a:ext cx="27361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i="1" dirty="0">
                <a:latin typeface="Calibri" panose="020F0502020204030204" pitchFamily="34" charset="0"/>
                <a:cs typeface="Calibri" panose="020F0502020204030204" pitchFamily="34" charset="0"/>
              </a:rPr>
              <a:t>B</a:t>
            </a:r>
            <a:r>
              <a:rPr lang="en-GB" altLang="en-US" sz="2800" dirty="0">
                <a:latin typeface="Calibri" panose="020F0502020204030204" pitchFamily="34" charset="0"/>
                <a:cs typeface="Calibri" panose="020F0502020204030204" pitchFamily="34" charset="0"/>
              </a:rPr>
              <a:t> is a subset of </a:t>
            </a:r>
            <a:r>
              <a:rPr lang="en-GB" altLang="en-US" sz="2800" i="1" dirty="0">
                <a:latin typeface="Calibri" panose="020F0502020204030204" pitchFamily="34" charset="0"/>
                <a:cs typeface="Calibri" panose="020F0502020204030204" pitchFamily="34" charset="0"/>
              </a:rPr>
              <a:t>A</a:t>
            </a:r>
            <a:r>
              <a:rPr lang="en-GB" altLang="en-US" sz="2800" dirty="0">
                <a:latin typeface="Calibri" panose="020F0502020204030204" pitchFamily="34" charset="0"/>
                <a:cs typeface="Calibri" panose="020F0502020204030204" pitchFamily="34" charset="0"/>
              </a:rPr>
              <a:t>.</a:t>
            </a:r>
          </a:p>
        </p:txBody>
      </p:sp>
      <p:sp>
        <p:nvSpPr>
          <p:cNvPr id="203810" name="Text Box 34">
            <a:extLst>
              <a:ext uri="{FF2B5EF4-FFF2-40B4-BE49-F238E27FC236}">
                <a16:creationId xmlns:a16="http://schemas.microsoft.com/office/drawing/2014/main" id="{B0F98FD5-8E6F-FEAE-3CD5-6F0CD3259ED8}"/>
              </a:ext>
            </a:extLst>
          </p:cNvPr>
          <p:cNvSpPr txBox="1">
            <a:spLocks noChangeArrowheads="1"/>
          </p:cNvSpPr>
          <p:nvPr/>
        </p:nvSpPr>
        <p:spPr bwMode="auto">
          <a:xfrm>
            <a:off x="1355998" y="3964978"/>
            <a:ext cx="27009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i="1" dirty="0">
                <a:latin typeface="Calibri" panose="020F0502020204030204" pitchFamily="34" charset="0"/>
                <a:cs typeface="Calibri" panose="020F0502020204030204" pitchFamily="34" charset="0"/>
              </a:rPr>
              <a:t>C</a:t>
            </a:r>
            <a:r>
              <a:rPr lang="en-GB" altLang="en-US" sz="2800" dirty="0">
                <a:latin typeface="Calibri" panose="020F0502020204030204" pitchFamily="34" charset="0"/>
                <a:cs typeface="Calibri" panose="020F0502020204030204" pitchFamily="34" charset="0"/>
              </a:rPr>
              <a:t> is a subset of </a:t>
            </a:r>
            <a:r>
              <a:rPr lang="en-GB" altLang="en-US" sz="2800" i="1" dirty="0">
                <a:latin typeface="Calibri" panose="020F0502020204030204" pitchFamily="34" charset="0"/>
                <a:cs typeface="Calibri" panose="020F0502020204030204" pitchFamily="34" charset="0"/>
              </a:rPr>
              <a:t>A</a:t>
            </a:r>
            <a:r>
              <a:rPr lang="en-GB" altLang="en-US" sz="2000" dirty="0">
                <a:latin typeface="Calibri" panose="020F0502020204030204" pitchFamily="34" charset="0"/>
                <a:cs typeface="Calibri" panose="020F0502020204030204" pitchFamily="34" charset="0"/>
              </a:rPr>
              <a:t>.</a:t>
            </a:r>
          </a:p>
        </p:txBody>
      </p:sp>
      <p:sp>
        <p:nvSpPr>
          <p:cNvPr id="3" name="Slide Number Placeholder 2"/>
          <p:cNvSpPr>
            <a:spLocks noGrp="1"/>
          </p:cNvSpPr>
          <p:nvPr>
            <p:ph type="sldNum" sz="quarter" idx="12"/>
          </p:nvPr>
        </p:nvSpPr>
        <p:spPr/>
        <p:txBody>
          <a:bodyPr/>
          <a:lstStyle/>
          <a:p>
            <a:fld id="{8D75522D-3DA1-4E7C-B84B-2130C32BB93F}" type="slidenum">
              <a:rPr lang="en-GB" smtClean="0"/>
              <a:t>41</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8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37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38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37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3791"/>
                                        </p:tgtEl>
                                        <p:attrNameLst>
                                          <p:attrName>style.visibility</p:attrName>
                                        </p:attrNameLst>
                                      </p:cBhvr>
                                      <p:to>
                                        <p:strVal val="visible"/>
                                      </p:to>
                                    </p:set>
                                    <p:animEffect transition="in" filter="wipe(left)">
                                      <p:cBhvr>
                                        <p:cTn id="23" dur="500"/>
                                        <p:tgtEl>
                                          <p:spTgt spid="20379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203807"/>
                                        </p:tgtEl>
                                        <p:attrNameLst>
                                          <p:attrName>style.visibility</p:attrName>
                                        </p:attrNameLst>
                                      </p:cBhvr>
                                      <p:to>
                                        <p:strVal val="visible"/>
                                      </p:to>
                                    </p:set>
                                    <p:animEffect transition="in" filter="wipe(up)">
                                      <p:cBhvr>
                                        <p:cTn id="28" dur="500"/>
                                        <p:tgtEl>
                                          <p:spTgt spid="203807"/>
                                        </p:tgtEl>
                                      </p:cBhvr>
                                    </p:animEffect>
                                  </p:childTnLst>
                                </p:cTn>
                              </p:par>
                            </p:childTnLst>
                          </p:cTn>
                        </p:par>
                        <p:par>
                          <p:cTn id="29" fill="hold" nodeType="afterGroup">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203808"/>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380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0381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03795"/>
                                        </p:tgtEl>
                                        <p:attrNameLst>
                                          <p:attrName>style.visibility</p:attrName>
                                        </p:attrNameLst>
                                      </p:cBhvr>
                                      <p:to>
                                        <p:strVal val="visible"/>
                                      </p:to>
                                    </p:set>
                                    <p:animEffect transition="in" filter="wipe(left)">
                                      <p:cBhvr>
                                        <p:cTn id="44" dur="500"/>
                                        <p:tgtEl>
                                          <p:spTgt spid="20379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203798"/>
                                        </p:tgtEl>
                                        <p:attrNameLst>
                                          <p:attrName>style.visibility</p:attrName>
                                        </p:attrNameLst>
                                      </p:cBhvr>
                                      <p:to>
                                        <p:strVal val="visible"/>
                                      </p:to>
                                    </p:set>
                                    <p:animEffect transition="in" filter="wipe(up)">
                                      <p:cBhvr>
                                        <p:cTn id="49" dur="500"/>
                                        <p:tgtEl>
                                          <p:spTgt spid="20379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03793"/>
                                        </p:tgtEl>
                                        <p:attrNameLst>
                                          <p:attrName>style.visibility</p:attrName>
                                        </p:attrNameLst>
                                      </p:cBhvr>
                                      <p:to>
                                        <p:strVal val="visible"/>
                                      </p:to>
                                    </p:set>
                                    <p:animEffect transition="in" filter="wipe(left)">
                                      <p:cBhvr>
                                        <p:cTn id="54" dur="500"/>
                                        <p:tgtEl>
                                          <p:spTgt spid="203793"/>
                                        </p:tgtEl>
                                      </p:cBhvr>
                                    </p:animEffect>
                                  </p:childTnLst>
                                </p:cTn>
                              </p:par>
                            </p:childTnLst>
                          </p:cTn>
                        </p:par>
                        <p:par>
                          <p:cTn id="55" fill="hold" nodeType="afterGroup">
                            <p:stCondLst>
                              <p:cond delay="500"/>
                            </p:stCondLst>
                            <p:childTnLst>
                              <p:par>
                                <p:cTn id="56" presetID="1" presetClass="entr" presetSubtype="0" fill="hold" nodeType="afterEffect">
                                  <p:stCondLst>
                                    <p:cond delay="0"/>
                                  </p:stCondLst>
                                  <p:childTnLst>
                                    <p:set>
                                      <p:cBhvr>
                                        <p:cTn id="57" dur="1" fill="hold">
                                          <p:stCondLst>
                                            <p:cond delay="0"/>
                                          </p:stCondLst>
                                        </p:cTn>
                                        <p:tgtEl>
                                          <p:spTgt spid="2037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8" grpId="0"/>
      <p:bldP spid="203789" grpId="0"/>
      <p:bldP spid="203791" grpId="0"/>
      <p:bldP spid="203793" grpId="0"/>
      <p:bldP spid="203795" grpId="0"/>
      <p:bldP spid="203804" grpId="0"/>
      <p:bldP spid="203805" grpId="0"/>
      <p:bldP spid="203808" grpId="0"/>
      <p:bldP spid="203809" grpId="0"/>
      <p:bldP spid="2038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67301-9926-E9FC-D48D-F99D894BF3B4}"/>
            </a:ext>
          </a:extLst>
        </p:cNvPr>
        <p:cNvGrpSpPr/>
        <p:nvPr/>
      </p:nvGrpSpPr>
      <p:grpSpPr>
        <a:xfrm>
          <a:off x="0" y="0"/>
          <a:ext cx="0" cy="0"/>
          <a:chOff x="0" y="0"/>
          <a:chExt cx="0" cy="0"/>
        </a:xfrm>
      </p:grpSpPr>
      <p:sp>
        <p:nvSpPr>
          <p:cNvPr id="203807" name="Rectangle 31">
            <a:extLst>
              <a:ext uri="{FF2B5EF4-FFF2-40B4-BE49-F238E27FC236}">
                <a16:creationId xmlns:a16="http://schemas.microsoft.com/office/drawing/2014/main" id="{A24CB0EA-F334-49DC-2ABC-C78A6AF688D9}"/>
              </a:ext>
            </a:extLst>
          </p:cNvPr>
          <p:cNvSpPr>
            <a:spLocks noChangeArrowheads="1"/>
          </p:cNvSpPr>
          <p:nvPr/>
        </p:nvSpPr>
        <p:spPr bwMode="auto">
          <a:xfrm>
            <a:off x="1331494" y="2884488"/>
            <a:ext cx="8512594" cy="168751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3798" name="Rectangle 22">
            <a:extLst>
              <a:ext uri="{FF2B5EF4-FFF2-40B4-BE49-F238E27FC236}">
                <a16:creationId xmlns:a16="http://schemas.microsoft.com/office/drawing/2014/main" id="{47780291-29AC-867E-A66E-295E33C86569}"/>
              </a:ext>
            </a:extLst>
          </p:cNvPr>
          <p:cNvSpPr>
            <a:spLocks noChangeArrowheads="1"/>
          </p:cNvSpPr>
          <p:nvPr/>
        </p:nvSpPr>
        <p:spPr bwMode="auto">
          <a:xfrm>
            <a:off x="1436688" y="4937126"/>
            <a:ext cx="9231312" cy="68421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3778" name="Text Box 24">
            <a:extLst>
              <a:ext uri="{FF2B5EF4-FFF2-40B4-BE49-F238E27FC236}">
                <a16:creationId xmlns:a16="http://schemas.microsoft.com/office/drawing/2014/main" id="{0261DCAD-D33C-8ACF-C415-EC2A6FD59E16}"/>
              </a:ext>
            </a:extLst>
          </p:cNvPr>
          <p:cNvSpPr txBox="1">
            <a:spLocks noChangeArrowheads="1"/>
          </p:cNvSpPr>
          <p:nvPr/>
        </p:nvSpPr>
        <p:spPr bwMode="auto">
          <a:xfrm>
            <a:off x="1179515" y="898525"/>
            <a:ext cx="71231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Let</a:t>
            </a:r>
            <a:r>
              <a:rPr lang="en-US" altLang="en-US" sz="3200" i="1" dirty="0">
                <a:solidFill>
                  <a:srgbClr val="000066"/>
                </a:solidFill>
                <a:latin typeface="Times New Roman" panose="02020603050405020304" pitchFamily="18" charset="0"/>
              </a:rPr>
              <a:t> A</a:t>
            </a:r>
            <a:r>
              <a:rPr lang="en-US" altLang="en-US" sz="2400" dirty="0">
                <a:solidFill>
                  <a:srgbClr val="000066"/>
                </a:solidFill>
              </a:rPr>
              <a:t> be the set of all letters in the alphabet. </a:t>
            </a:r>
            <a:endParaRPr lang="en-GB" altLang="en-US" sz="2400" dirty="0">
              <a:solidFill>
                <a:srgbClr val="000066"/>
              </a:solidFill>
            </a:endParaRPr>
          </a:p>
        </p:txBody>
      </p:sp>
      <p:sp>
        <p:nvSpPr>
          <p:cNvPr id="203779" name="Rectangle 3">
            <a:extLst>
              <a:ext uri="{FF2B5EF4-FFF2-40B4-BE49-F238E27FC236}">
                <a16:creationId xmlns:a16="http://schemas.microsoft.com/office/drawing/2014/main" id="{D5B9401E-6B7D-108F-3F5D-15FF17C6D6E7}"/>
              </a:ext>
            </a:extLst>
          </p:cNvPr>
          <p:cNvSpPr>
            <a:spLocks noGrp="1" noChangeArrowheads="1"/>
          </p:cNvSpPr>
          <p:nvPr>
            <p:ph type="title" idx="4294967295"/>
          </p:nvPr>
        </p:nvSpPr>
        <p:spPr>
          <a:xfrm>
            <a:off x="1179514" y="175585"/>
            <a:ext cx="8229600" cy="608013"/>
          </a:xfrm>
        </p:spPr>
        <p:txBody>
          <a:bodyPr>
            <a:normAutofit fontScale="90000"/>
          </a:bodyPr>
          <a:lstStyle/>
          <a:p>
            <a:r>
              <a:rPr lang="en-GB" altLang="en-US" dirty="0"/>
              <a:t>Unions and intersections</a:t>
            </a:r>
          </a:p>
        </p:txBody>
      </p:sp>
      <p:pic>
        <p:nvPicPr>
          <p:cNvPr id="203780" name="Picture 4">
            <a:hlinkClick r:id="" action="ppaction://hlinkshowjump?jump=nextslide"/>
            <a:extLst>
              <a:ext uri="{FF2B5EF4-FFF2-40B4-BE49-F238E27FC236}">
                <a16:creationId xmlns:a16="http://schemas.microsoft.com/office/drawing/2014/main" id="{CBA0E577-FE6B-C3E8-9095-89143928B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2333" y="6141286"/>
            <a:ext cx="63023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8" name="Text Box 24">
            <a:extLst>
              <a:ext uri="{FF2B5EF4-FFF2-40B4-BE49-F238E27FC236}">
                <a16:creationId xmlns:a16="http://schemas.microsoft.com/office/drawing/2014/main" id="{D2FBA3E1-69F9-D096-6599-3418766FADB7}"/>
              </a:ext>
            </a:extLst>
          </p:cNvPr>
          <p:cNvSpPr txBox="1">
            <a:spLocks noChangeArrowheads="1"/>
          </p:cNvSpPr>
          <p:nvPr/>
        </p:nvSpPr>
        <p:spPr bwMode="auto">
          <a:xfrm>
            <a:off x="1179515" y="1260475"/>
            <a:ext cx="6921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Let</a:t>
            </a:r>
            <a:r>
              <a:rPr lang="en-US" altLang="en-US" sz="3200" i="1" dirty="0">
                <a:solidFill>
                  <a:srgbClr val="000066"/>
                </a:solidFill>
                <a:latin typeface="Times New Roman" panose="02020603050405020304" pitchFamily="18" charset="0"/>
              </a:rPr>
              <a:t> B</a:t>
            </a:r>
            <a:r>
              <a:rPr lang="en-US" altLang="en-US" sz="2400" dirty="0">
                <a:solidFill>
                  <a:srgbClr val="000066"/>
                </a:solidFill>
              </a:rPr>
              <a:t> be the set of all vowels in the alphabet. </a:t>
            </a:r>
            <a:endParaRPr lang="en-GB" altLang="en-US" sz="2400" dirty="0">
              <a:solidFill>
                <a:srgbClr val="000066"/>
              </a:solidFill>
            </a:endParaRPr>
          </a:p>
        </p:txBody>
      </p:sp>
      <p:sp>
        <p:nvSpPr>
          <p:cNvPr id="203789" name="Text Box 24">
            <a:extLst>
              <a:ext uri="{FF2B5EF4-FFF2-40B4-BE49-F238E27FC236}">
                <a16:creationId xmlns:a16="http://schemas.microsoft.com/office/drawing/2014/main" id="{EB5D4DBC-5170-0D85-8092-90A74C891E4F}"/>
              </a:ext>
            </a:extLst>
          </p:cNvPr>
          <p:cNvSpPr txBox="1">
            <a:spLocks noChangeArrowheads="1"/>
          </p:cNvSpPr>
          <p:nvPr/>
        </p:nvSpPr>
        <p:spPr bwMode="auto">
          <a:xfrm>
            <a:off x="1179515" y="1612900"/>
            <a:ext cx="92757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dirty="0">
                <a:solidFill>
                  <a:srgbClr val="000066"/>
                </a:solidFill>
              </a:rPr>
              <a:t>Let</a:t>
            </a:r>
            <a:r>
              <a:rPr lang="en-US" altLang="en-US" sz="2400" dirty="0"/>
              <a:t> </a:t>
            </a:r>
            <a:r>
              <a:rPr lang="en-US" altLang="en-US" sz="3200" i="1" dirty="0">
                <a:solidFill>
                  <a:srgbClr val="000066"/>
                </a:solidFill>
                <a:latin typeface="Times New Roman" panose="02020603050405020304" pitchFamily="18" charset="0"/>
              </a:rPr>
              <a:t>C</a:t>
            </a:r>
            <a:r>
              <a:rPr lang="en-US" altLang="en-US" sz="2400" dirty="0">
                <a:solidFill>
                  <a:srgbClr val="000066"/>
                </a:solidFill>
              </a:rPr>
              <a:t> be the set of all letters in your name. </a:t>
            </a:r>
            <a:endParaRPr lang="en-GB" altLang="en-US" sz="2400" dirty="0">
              <a:solidFill>
                <a:srgbClr val="000066"/>
              </a:solidFill>
            </a:endParaRPr>
          </a:p>
        </p:txBody>
      </p:sp>
      <p:sp>
        <p:nvSpPr>
          <p:cNvPr id="203791" name="Text Box 24">
            <a:extLst>
              <a:ext uri="{FF2B5EF4-FFF2-40B4-BE49-F238E27FC236}">
                <a16:creationId xmlns:a16="http://schemas.microsoft.com/office/drawing/2014/main" id="{15C6300F-2CD7-2398-B538-6EA54FC10DCD}"/>
              </a:ext>
            </a:extLst>
          </p:cNvPr>
          <p:cNvSpPr txBox="1">
            <a:spLocks noChangeArrowheads="1"/>
          </p:cNvSpPr>
          <p:nvPr/>
        </p:nvSpPr>
        <p:spPr bwMode="auto">
          <a:xfrm>
            <a:off x="1179514" y="2097089"/>
            <a:ext cx="93440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b="1" dirty="0">
                <a:solidFill>
                  <a:srgbClr val="C00000"/>
                </a:solidFill>
              </a:rPr>
              <a:t>Draw a Venn diagram to represent these sets. What is the universal set and which are subsets?</a:t>
            </a:r>
            <a:endParaRPr lang="en-GB" altLang="en-US" sz="2400" b="1" dirty="0">
              <a:solidFill>
                <a:srgbClr val="C00000"/>
              </a:solidFill>
            </a:endParaRPr>
          </a:p>
        </p:txBody>
      </p:sp>
      <p:sp>
        <p:nvSpPr>
          <p:cNvPr id="203793" name="Text Box 24">
            <a:extLst>
              <a:ext uri="{FF2B5EF4-FFF2-40B4-BE49-F238E27FC236}">
                <a16:creationId xmlns:a16="http://schemas.microsoft.com/office/drawing/2014/main" id="{8247A25E-7671-0770-3B84-682F777B08A0}"/>
              </a:ext>
            </a:extLst>
          </p:cNvPr>
          <p:cNvSpPr txBox="1">
            <a:spLocks noChangeArrowheads="1"/>
          </p:cNvSpPr>
          <p:nvPr/>
        </p:nvSpPr>
        <p:spPr bwMode="auto">
          <a:xfrm>
            <a:off x="1436688" y="5630863"/>
            <a:ext cx="88090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000" b="1" dirty="0">
                <a:solidFill>
                  <a:srgbClr val="000066"/>
                </a:solidFill>
              </a:rPr>
              <a:t>List the elements in </a:t>
            </a:r>
            <a:r>
              <a:rPr lang="en-GB" altLang="en-US" sz="2800" b="1" i="1" dirty="0">
                <a:solidFill>
                  <a:srgbClr val="000066"/>
                </a:solidFill>
                <a:latin typeface="Times New Roman" panose="02020603050405020304" pitchFamily="18" charset="0"/>
              </a:rPr>
              <a:t>B </a:t>
            </a:r>
            <a:r>
              <a:rPr lang="en-GB" altLang="en-US" sz="2000" b="1" dirty="0">
                <a:solidFill>
                  <a:srgbClr val="000066"/>
                </a:solidFill>
                <a:latin typeface="Lucida Sans Unicode" panose="020B0602030504020204" pitchFamily="34" charset="0"/>
                <a:cs typeface="Lucida Sans Unicode" panose="020B0602030504020204" pitchFamily="34" charset="0"/>
              </a:rPr>
              <a:t>∩</a:t>
            </a:r>
            <a:r>
              <a:rPr lang="en-GB" altLang="en-US" sz="2800" b="1" dirty="0">
                <a:solidFill>
                  <a:srgbClr val="000066"/>
                </a:solidFill>
                <a:latin typeface="Lucida Sans Unicode" panose="020B0602030504020204" pitchFamily="34" charset="0"/>
                <a:cs typeface="Lucida Sans Unicode" panose="020B0602030504020204" pitchFamily="34" charset="0"/>
              </a:rPr>
              <a:t> </a:t>
            </a:r>
            <a:r>
              <a:rPr lang="en-GB" altLang="en-US" sz="2800" b="1" i="1" dirty="0">
                <a:solidFill>
                  <a:srgbClr val="000066"/>
                </a:solidFill>
                <a:latin typeface="Times New Roman" panose="02020603050405020304" pitchFamily="18" charset="0"/>
                <a:cs typeface="Lucida Sans Unicode" panose="020B0602030504020204" pitchFamily="34" charset="0"/>
              </a:rPr>
              <a:t>C</a:t>
            </a:r>
            <a:r>
              <a:rPr lang="en-US" altLang="en-US" sz="2800" b="1" dirty="0">
                <a:solidFill>
                  <a:srgbClr val="000066"/>
                </a:solidFill>
              </a:rPr>
              <a:t> </a:t>
            </a:r>
            <a:r>
              <a:rPr lang="en-US" altLang="en-US" sz="2000" b="1" dirty="0">
                <a:solidFill>
                  <a:srgbClr val="000066"/>
                </a:solidFill>
              </a:rPr>
              <a:t>and</a:t>
            </a:r>
            <a:r>
              <a:rPr lang="en-US" altLang="en-US" sz="2800" b="1" dirty="0">
                <a:solidFill>
                  <a:srgbClr val="000066"/>
                </a:solidFill>
              </a:rPr>
              <a:t> </a:t>
            </a:r>
            <a:r>
              <a:rPr lang="en-GB" altLang="en-US" sz="2800" b="1" i="1" dirty="0">
                <a:solidFill>
                  <a:srgbClr val="000066"/>
                </a:solidFill>
                <a:latin typeface="Times New Roman" panose="02020603050405020304" pitchFamily="18" charset="0"/>
              </a:rPr>
              <a:t>B </a:t>
            </a:r>
            <a:r>
              <a:rPr lang="en-GB" altLang="en-US" sz="2000" b="1" dirty="0">
                <a:solidFill>
                  <a:srgbClr val="000066"/>
                </a:solidFill>
                <a:latin typeface="Lucida Sans Unicode" panose="020B0602030504020204" pitchFamily="34" charset="0"/>
                <a:cs typeface="Lucida Sans Unicode" panose="020B0602030504020204" pitchFamily="34" charset="0"/>
              </a:rPr>
              <a:t>∪</a:t>
            </a:r>
            <a:r>
              <a:rPr lang="en-GB" altLang="en-US" sz="2800" b="1" dirty="0">
                <a:solidFill>
                  <a:srgbClr val="000066"/>
                </a:solidFill>
                <a:latin typeface="Lucida Sans Unicode" panose="020B0602030504020204" pitchFamily="34" charset="0"/>
                <a:cs typeface="Lucida Sans Unicode" panose="020B0602030504020204" pitchFamily="34" charset="0"/>
              </a:rPr>
              <a:t> </a:t>
            </a:r>
            <a:r>
              <a:rPr lang="en-GB" altLang="en-US" sz="2800" b="1" i="1" dirty="0">
                <a:solidFill>
                  <a:srgbClr val="000066"/>
                </a:solidFill>
                <a:latin typeface="Times New Roman" panose="02020603050405020304" pitchFamily="18" charset="0"/>
                <a:cs typeface="Lucida Sans Unicode" panose="020B0602030504020204" pitchFamily="34" charset="0"/>
              </a:rPr>
              <a:t>C</a:t>
            </a:r>
            <a:r>
              <a:rPr lang="en-US" altLang="en-US" sz="2000" b="1" dirty="0">
                <a:solidFill>
                  <a:srgbClr val="000066"/>
                </a:solidFill>
              </a:rPr>
              <a:t>?</a:t>
            </a:r>
            <a:endParaRPr lang="en-GB" altLang="en-US" sz="2000" b="1" dirty="0">
              <a:solidFill>
                <a:srgbClr val="000066"/>
              </a:solidFill>
            </a:endParaRPr>
          </a:p>
        </p:txBody>
      </p:sp>
      <p:sp>
        <p:nvSpPr>
          <p:cNvPr id="203795" name="Text Box 24">
            <a:extLst>
              <a:ext uri="{FF2B5EF4-FFF2-40B4-BE49-F238E27FC236}">
                <a16:creationId xmlns:a16="http://schemas.microsoft.com/office/drawing/2014/main" id="{4439EAD4-4E84-72CF-7B99-CEEF8B3C623C}"/>
              </a:ext>
            </a:extLst>
          </p:cNvPr>
          <p:cNvSpPr txBox="1">
            <a:spLocks noChangeArrowheads="1"/>
          </p:cNvSpPr>
          <p:nvPr/>
        </p:nvSpPr>
        <p:spPr bwMode="auto">
          <a:xfrm>
            <a:off x="1247776" y="4521200"/>
            <a:ext cx="92313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000" b="1" dirty="0">
                <a:solidFill>
                  <a:srgbClr val="000066"/>
                </a:solidFill>
              </a:rPr>
              <a:t>Describe </a:t>
            </a:r>
            <a:r>
              <a:rPr lang="en-US" altLang="en-US" sz="2800" b="1" i="1" dirty="0">
                <a:solidFill>
                  <a:srgbClr val="000066"/>
                </a:solidFill>
                <a:latin typeface="Times New Roman" panose="02020603050405020304" pitchFamily="18" charset="0"/>
              </a:rPr>
              <a:t>B</a:t>
            </a:r>
            <a:r>
              <a:rPr lang="en-US" altLang="en-US" sz="2800" b="1" dirty="0">
                <a:solidFill>
                  <a:srgbClr val="000066"/>
                </a:solidFill>
                <a:cs typeface="Arial" panose="020B0604020202020204" pitchFamily="34" charset="0"/>
              </a:rPr>
              <a:t>′</a:t>
            </a:r>
            <a:r>
              <a:rPr lang="en-US" altLang="en-US" sz="2000" b="1" dirty="0">
                <a:solidFill>
                  <a:srgbClr val="000066"/>
                </a:solidFill>
              </a:rPr>
              <a:t>. </a:t>
            </a:r>
            <a:endParaRPr lang="en-GB" altLang="en-US" sz="2000" b="1" dirty="0">
              <a:solidFill>
                <a:srgbClr val="000066"/>
              </a:solidFill>
            </a:endParaRPr>
          </a:p>
        </p:txBody>
      </p:sp>
      <p:sp>
        <p:nvSpPr>
          <p:cNvPr id="203799" name="Text Box 24">
            <a:extLst>
              <a:ext uri="{FF2B5EF4-FFF2-40B4-BE49-F238E27FC236}">
                <a16:creationId xmlns:a16="http://schemas.microsoft.com/office/drawing/2014/main" id="{1C5E3DB6-458C-4090-8264-F2CA97BEE947}"/>
              </a:ext>
            </a:extLst>
          </p:cNvPr>
          <p:cNvSpPr txBox="1">
            <a:spLocks noChangeArrowheads="1"/>
          </p:cNvSpPr>
          <p:nvPr/>
        </p:nvSpPr>
        <p:spPr bwMode="auto">
          <a:xfrm>
            <a:off x="1524000" y="5070476"/>
            <a:ext cx="9144001"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000" dirty="0">
                <a:solidFill>
                  <a:srgbClr val="000066"/>
                </a:solidFill>
              </a:rPr>
              <a:t>B′ is the set of all consonants in the English alphabet. </a:t>
            </a:r>
            <a:endParaRPr lang="en-GB" altLang="en-US" sz="2000" dirty="0">
              <a:solidFill>
                <a:srgbClr val="000066"/>
              </a:solidFill>
            </a:endParaRPr>
          </a:p>
        </p:txBody>
      </p:sp>
      <p:sp>
        <p:nvSpPr>
          <p:cNvPr id="203804" name="Rectangle 28">
            <a:extLst>
              <a:ext uri="{FF2B5EF4-FFF2-40B4-BE49-F238E27FC236}">
                <a16:creationId xmlns:a16="http://schemas.microsoft.com/office/drawing/2014/main" id="{2AFD3CE9-3F96-72B2-F201-6FE297C4993C}"/>
              </a:ext>
            </a:extLst>
          </p:cNvPr>
          <p:cNvSpPr>
            <a:spLocks noChangeArrowheads="1"/>
          </p:cNvSpPr>
          <p:nvPr/>
        </p:nvSpPr>
        <p:spPr bwMode="auto">
          <a:xfrm>
            <a:off x="9218694" y="1358326"/>
            <a:ext cx="24359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spcBef>
                <a:spcPct val="50000"/>
              </a:spcBef>
            </a:pPr>
            <a:r>
              <a:rPr lang="en-US" altLang="en-US" sz="3200" i="1" dirty="0">
                <a:solidFill>
                  <a:srgbClr val="000066"/>
                </a:solidFill>
                <a:latin typeface="Times New Roman" panose="02020603050405020304" pitchFamily="18" charset="0"/>
              </a:rPr>
              <a:t>B</a:t>
            </a:r>
            <a:r>
              <a:rPr lang="en-US" altLang="en-US" sz="2400" dirty="0">
                <a:solidFill>
                  <a:srgbClr val="000066"/>
                </a:solidFill>
              </a:rPr>
              <a:t> = { A, E, I, O, U}</a:t>
            </a:r>
            <a:endParaRPr lang="en-GB" altLang="en-US" sz="2400" dirty="0">
              <a:solidFill>
                <a:srgbClr val="000066"/>
              </a:solidFill>
            </a:endParaRPr>
          </a:p>
        </p:txBody>
      </p:sp>
      <p:sp>
        <p:nvSpPr>
          <p:cNvPr id="203805" name="Rectangle 29">
            <a:extLst>
              <a:ext uri="{FF2B5EF4-FFF2-40B4-BE49-F238E27FC236}">
                <a16:creationId xmlns:a16="http://schemas.microsoft.com/office/drawing/2014/main" id="{9A887089-2EB2-11EE-7CAE-940BBAAB89EA}"/>
              </a:ext>
            </a:extLst>
          </p:cNvPr>
          <p:cNvSpPr>
            <a:spLocks noChangeArrowheads="1"/>
          </p:cNvSpPr>
          <p:nvPr/>
        </p:nvSpPr>
        <p:spPr bwMode="auto">
          <a:xfrm>
            <a:off x="7739589" y="927306"/>
            <a:ext cx="22437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US" sz="3200" i="1" dirty="0">
                <a:solidFill>
                  <a:srgbClr val="000066"/>
                </a:solidFill>
                <a:latin typeface="Times New Roman" panose="02020603050405020304" pitchFamily="18" charset="0"/>
              </a:rPr>
              <a:t>A</a:t>
            </a:r>
            <a:r>
              <a:rPr lang="en-US" altLang="en-US" sz="2400" dirty="0">
                <a:solidFill>
                  <a:srgbClr val="000066"/>
                </a:solidFill>
              </a:rPr>
              <a:t> = {A, B, C, …}</a:t>
            </a:r>
            <a:r>
              <a:rPr lang="en-US" altLang="en-US" sz="2400" dirty="0"/>
              <a:t> </a:t>
            </a:r>
            <a:endParaRPr lang="en-GB" altLang="en-US" sz="2400" dirty="0"/>
          </a:p>
        </p:txBody>
      </p:sp>
      <p:sp>
        <p:nvSpPr>
          <p:cNvPr id="203808" name="Text Box 32">
            <a:extLst>
              <a:ext uri="{FF2B5EF4-FFF2-40B4-BE49-F238E27FC236}">
                <a16:creationId xmlns:a16="http://schemas.microsoft.com/office/drawing/2014/main" id="{54C2FBC0-DF53-F515-E824-FF8272A84F24}"/>
              </a:ext>
            </a:extLst>
          </p:cNvPr>
          <p:cNvSpPr txBox="1">
            <a:spLocks noChangeArrowheads="1"/>
          </p:cNvSpPr>
          <p:nvPr/>
        </p:nvSpPr>
        <p:spPr bwMode="auto">
          <a:xfrm>
            <a:off x="1331495" y="3037215"/>
            <a:ext cx="58573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i="1" dirty="0">
                <a:latin typeface="Times New Roman" panose="02020603050405020304" pitchFamily="18" charset="0"/>
              </a:rPr>
              <a:t>A</a:t>
            </a:r>
            <a:r>
              <a:rPr lang="en-GB" altLang="en-US" sz="2800" dirty="0"/>
              <a:t> is the universal set in this scenario.</a:t>
            </a:r>
          </a:p>
        </p:txBody>
      </p:sp>
      <p:sp>
        <p:nvSpPr>
          <p:cNvPr id="203809" name="Text Box 33">
            <a:extLst>
              <a:ext uri="{FF2B5EF4-FFF2-40B4-BE49-F238E27FC236}">
                <a16:creationId xmlns:a16="http://schemas.microsoft.com/office/drawing/2014/main" id="{94480C27-CE7D-AC7C-A6CA-DFFEDDBEDF10}"/>
              </a:ext>
            </a:extLst>
          </p:cNvPr>
          <p:cNvSpPr txBox="1">
            <a:spLocks noChangeArrowheads="1"/>
          </p:cNvSpPr>
          <p:nvPr/>
        </p:nvSpPr>
        <p:spPr bwMode="auto">
          <a:xfrm>
            <a:off x="1331495" y="3478708"/>
            <a:ext cx="29081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i="1" dirty="0">
                <a:latin typeface="Times New Roman" panose="02020603050405020304" pitchFamily="18" charset="0"/>
              </a:rPr>
              <a:t>B</a:t>
            </a:r>
            <a:r>
              <a:rPr lang="en-GB" altLang="en-US" sz="2800" dirty="0"/>
              <a:t> is a subset of </a:t>
            </a:r>
            <a:r>
              <a:rPr lang="en-GB" altLang="en-US" sz="2800" i="1" dirty="0">
                <a:latin typeface="Times New Roman" panose="02020603050405020304" pitchFamily="18" charset="0"/>
              </a:rPr>
              <a:t>A</a:t>
            </a:r>
            <a:r>
              <a:rPr lang="en-GB" altLang="en-US" sz="2800" dirty="0"/>
              <a:t>.</a:t>
            </a:r>
          </a:p>
        </p:txBody>
      </p:sp>
      <p:sp>
        <p:nvSpPr>
          <p:cNvPr id="203810" name="Text Box 34">
            <a:extLst>
              <a:ext uri="{FF2B5EF4-FFF2-40B4-BE49-F238E27FC236}">
                <a16:creationId xmlns:a16="http://schemas.microsoft.com/office/drawing/2014/main" id="{FD0591EC-9A1B-0CB9-F026-404FEE0194C0}"/>
              </a:ext>
            </a:extLst>
          </p:cNvPr>
          <p:cNvSpPr txBox="1">
            <a:spLocks noChangeArrowheads="1"/>
          </p:cNvSpPr>
          <p:nvPr/>
        </p:nvSpPr>
        <p:spPr bwMode="auto">
          <a:xfrm>
            <a:off x="1355998" y="3964978"/>
            <a:ext cx="28985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i="1" dirty="0">
                <a:latin typeface="Times New Roman" panose="02020603050405020304" pitchFamily="18" charset="0"/>
              </a:rPr>
              <a:t>C</a:t>
            </a:r>
            <a:r>
              <a:rPr lang="en-GB" altLang="en-US" sz="2800" dirty="0"/>
              <a:t> is a subset of </a:t>
            </a:r>
            <a:r>
              <a:rPr lang="en-GB" altLang="en-US" sz="2800" i="1" dirty="0">
                <a:latin typeface="Times New Roman" panose="02020603050405020304" pitchFamily="18" charset="0"/>
              </a:rPr>
              <a:t>A</a:t>
            </a:r>
            <a:r>
              <a:rPr lang="en-GB" altLang="en-US" sz="2000" dirty="0"/>
              <a:t>.</a:t>
            </a:r>
          </a:p>
        </p:txBody>
      </p:sp>
      <p:pic>
        <p:nvPicPr>
          <p:cNvPr id="203814" name="Picture 38">
            <a:extLst>
              <a:ext uri="{FF2B5EF4-FFF2-40B4-BE49-F238E27FC236}">
                <a16:creationId xmlns:a16="http://schemas.microsoft.com/office/drawing/2014/main" id="{12EBFE82-5A94-2951-4AE8-B1E7F75DDE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75" y="3478708"/>
            <a:ext cx="3803650" cy="15367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D75522D-3DA1-4E7C-B84B-2130C32BB93F}" type="slidenum">
              <a:rPr lang="en-GB" smtClean="0"/>
              <a:t>42</a:t>
            </a:fld>
            <a:endParaRPr lang="en-GB"/>
          </a:p>
        </p:txBody>
      </p:sp>
    </p:spTree>
    <p:extLst>
      <p:ext uri="{BB962C8B-B14F-4D97-AF65-F5344CB8AC3E}">
        <p14:creationId xmlns:p14="http://schemas.microsoft.com/office/powerpoint/2010/main" val="1324595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8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37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38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37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3791"/>
                                        </p:tgtEl>
                                        <p:attrNameLst>
                                          <p:attrName>style.visibility</p:attrName>
                                        </p:attrNameLst>
                                      </p:cBhvr>
                                      <p:to>
                                        <p:strVal val="visible"/>
                                      </p:to>
                                    </p:set>
                                    <p:animEffect transition="in" filter="wipe(left)">
                                      <p:cBhvr>
                                        <p:cTn id="23" dur="500"/>
                                        <p:tgtEl>
                                          <p:spTgt spid="20379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203807"/>
                                        </p:tgtEl>
                                        <p:attrNameLst>
                                          <p:attrName>style.visibility</p:attrName>
                                        </p:attrNameLst>
                                      </p:cBhvr>
                                      <p:to>
                                        <p:strVal val="visible"/>
                                      </p:to>
                                    </p:set>
                                    <p:animEffect transition="in" filter="wipe(up)">
                                      <p:cBhvr>
                                        <p:cTn id="28" dur="500"/>
                                        <p:tgtEl>
                                          <p:spTgt spid="203807"/>
                                        </p:tgtEl>
                                      </p:cBhvr>
                                    </p:animEffect>
                                  </p:childTnLst>
                                </p:cTn>
                              </p:par>
                            </p:childTnLst>
                          </p:cTn>
                        </p:par>
                        <p:par>
                          <p:cTn id="29" fill="hold" nodeType="afterGroup">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203808"/>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380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0381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203814"/>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03795"/>
                                        </p:tgtEl>
                                        <p:attrNameLst>
                                          <p:attrName>style.visibility</p:attrName>
                                        </p:attrNameLst>
                                      </p:cBhvr>
                                      <p:to>
                                        <p:strVal val="visible"/>
                                      </p:to>
                                    </p:set>
                                    <p:animEffect transition="in" filter="wipe(left)">
                                      <p:cBhvr>
                                        <p:cTn id="48" dur="500"/>
                                        <p:tgtEl>
                                          <p:spTgt spid="20379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203798"/>
                                        </p:tgtEl>
                                        <p:attrNameLst>
                                          <p:attrName>style.visibility</p:attrName>
                                        </p:attrNameLst>
                                      </p:cBhvr>
                                      <p:to>
                                        <p:strVal val="visible"/>
                                      </p:to>
                                    </p:set>
                                    <p:animEffect transition="in" filter="wipe(up)">
                                      <p:cBhvr>
                                        <p:cTn id="53" dur="500"/>
                                        <p:tgtEl>
                                          <p:spTgt spid="203798"/>
                                        </p:tgtEl>
                                      </p:cBhvr>
                                    </p:animEffect>
                                  </p:childTnLst>
                                </p:cTn>
                              </p:par>
                            </p:childTnLst>
                          </p:cTn>
                        </p:par>
                        <p:par>
                          <p:cTn id="54" fill="hold" nodeType="afterGroup">
                            <p:stCondLst>
                              <p:cond delay="500"/>
                            </p:stCondLst>
                            <p:childTnLst>
                              <p:par>
                                <p:cTn id="55" presetID="1" presetClass="entr" presetSubtype="0" fill="hold" grpId="0" nodeType="afterEffect">
                                  <p:stCondLst>
                                    <p:cond delay="0"/>
                                  </p:stCondLst>
                                  <p:childTnLst>
                                    <p:set>
                                      <p:cBhvr>
                                        <p:cTn id="56" dur="1" fill="hold">
                                          <p:stCondLst>
                                            <p:cond delay="0"/>
                                          </p:stCondLst>
                                        </p:cTn>
                                        <p:tgtEl>
                                          <p:spTgt spid="203799"/>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03793"/>
                                        </p:tgtEl>
                                        <p:attrNameLst>
                                          <p:attrName>style.visibility</p:attrName>
                                        </p:attrNameLst>
                                      </p:cBhvr>
                                      <p:to>
                                        <p:strVal val="visible"/>
                                      </p:to>
                                    </p:set>
                                    <p:animEffect transition="in" filter="wipe(left)">
                                      <p:cBhvr>
                                        <p:cTn id="61" dur="500"/>
                                        <p:tgtEl>
                                          <p:spTgt spid="203793"/>
                                        </p:tgtEl>
                                      </p:cBhvr>
                                    </p:animEffect>
                                  </p:childTnLst>
                                </p:cTn>
                              </p:par>
                            </p:childTnLst>
                          </p:cTn>
                        </p:par>
                        <p:par>
                          <p:cTn id="62" fill="hold" nodeType="afterGroup">
                            <p:stCondLst>
                              <p:cond delay="500"/>
                            </p:stCondLst>
                            <p:childTnLst>
                              <p:par>
                                <p:cTn id="63" presetID="1" presetClass="entr" presetSubtype="0" fill="hold" nodeType="afterEffect">
                                  <p:stCondLst>
                                    <p:cond delay="0"/>
                                  </p:stCondLst>
                                  <p:childTnLst>
                                    <p:set>
                                      <p:cBhvr>
                                        <p:cTn id="64" dur="1" fill="hold">
                                          <p:stCondLst>
                                            <p:cond delay="0"/>
                                          </p:stCondLst>
                                        </p:cTn>
                                        <p:tgtEl>
                                          <p:spTgt spid="2037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8" grpId="0"/>
      <p:bldP spid="203789" grpId="0"/>
      <p:bldP spid="203791" grpId="0"/>
      <p:bldP spid="203793" grpId="0"/>
      <p:bldP spid="203795" grpId="0"/>
      <p:bldP spid="203799" grpId="0"/>
      <p:bldP spid="203804" grpId="0"/>
      <p:bldP spid="203805" grpId="0"/>
      <p:bldP spid="203808" grpId="0"/>
      <p:bldP spid="203809" grpId="0"/>
      <p:bldP spid="2038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5" name="Rectangle 3">
            <a:extLst>
              <a:ext uri="{FF2B5EF4-FFF2-40B4-BE49-F238E27FC236}">
                <a16:creationId xmlns:a16="http://schemas.microsoft.com/office/drawing/2014/main" id="{ADCFE924-A838-5CCB-EA23-943ACC92110F}"/>
              </a:ext>
            </a:extLst>
          </p:cNvPr>
          <p:cNvSpPr>
            <a:spLocks noGrp="1" noChangeArrowheads="1"/>
          </p:cNvSpPr>
          <p:nvPr>
            <p:ph type="title" idx="4294967295"/>
          </p:nvPr>
        </p:nvSpPr>
        <p:spPr>
          <a:xfrm>
            <a:off x="1524000" y="234198"/>
            <a:ext cx="8229600" cy="608013"/>
          </a:xfrm>
        </p:spPr>
        <p:txBody>
          <a:bodyPr>
            <a:normAutofit fontScale="90000"/>
          </a:bodyPr>
          <a:lstStyle/>
          <a:p>
            <a:r>
              <a:rPr lang="en-GB" altLang="en-US" dirty="0">
                <a:latin typeface="Calibri" panose="020F0502020204030204" pitchFamily="34" charset="0"/>
                <a:cs typeface="Calibri" panose="020F0502020204030204" pitchFamily="34" charset="0"/>
              </a:rPr>
              <a:t>Language of sets</a:t>
            </a:r>
          </a:p>
        </p:txBody>
      </p:sp>
      <p:pic>
        <p:nvPicPr>
          <p:cNvPr id="207885" name="Settheory_sortdrag.jpg">
            <a:extLst>
              <a:ext uri="{FF2B5EF4-FFF2-40B4-BE49-F238E27FC236}">
                <a16:creationId xmlns:a16="http://schemas.microsoft.com/office/drawing/2014/main" id="{B82A1930-8625-B032-AC4E-8983022C92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816"/>
          <a:stretch/>
        </p:blipFill>
        <p:spPr bwMode="auto">
          <a:xfrm>
            <a:off x="1524000" y="1281363"/>
            <a:ext cx="8699500" cy="4734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8D75522D-3DA1-4E7C-B84B-2130C32BB93F}" type="slidenum">
              <a:rPr lang="en-GB" smtClean="0"/>
              <a:t>43</a:t>
            </a:fld>
            <a:endParaRPr lang="en-GB"/>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B14540-4CC2-E5DE-744A-502C4B013933}"/>
              </a:ext>
            </a:extLst>
          </p:cNvPr>
          <p:cNvPicPr>
            <a:picLocks noChangeAspect="1"/>
          </p:cNvPicPr>
          <p:nvPr/>
        </p:nvPicPr>
        <p:blipFill>
          <a:blip r:embed="rId2"/>
          <a:stretch>
            <a:fillRect/>
          </a:stretch>
        </p:blipFill>
        <p:spPr>
          <a:xfrm>
            <a:off x="0" y="26570"/>
            <a:ext cx="7895444" cy="3578776"/>
          </a:xfrm>
          <a:prstGeom prst="rect">
            <a:avLst/>
          </a:prstGeom>
        </p:spPr>
      </p:pic>
      <p:pic>
        <p:nvPicPr>
          <p:cNvPr id="5" name="Picture 4">
            <a:extLst>
              <a:ext uri="{FF2B5EF4-FFF2-40B4-BE49-F238E27FC236}">
                <a16:creationId xmlns:a16="http://schemas.microsoft.com/office/drawing/2014/main" id="{E756BABD-1797-05CA-1112-1BF4CBD9C62B}"/>
              </a:ext>
            </a:extLst>
          </p:cNvPr>
          <p:cNvPicPr>
            <a:picLocks noChangeAspect="1"/>
          </p:cNvPicPr>
          <p:nvPr/>
        </p:nvPicPr>
        <p:blipFill>
          <a:blip r:embed="rId3"/>
          <a:stretch>
            <a:fillRect/>
          </a:stretch>
        </p:blipFill>
        <p:spPr>
          <a:xfrm>
            <a:off x="6096000" y="3052080"/>
            <a:ext cx="6205748" cy="3578775"/>
          </a:xfrm>
          <a:prstGeom prst="rect">
            <a:avLst/>
          </a:prstGeom>
        </p:spPr>
      </p:pic>
      <p:sp>
        <p:nvSpPr>
          <p:cNvPr id="4" name="Slide Number Placeholder 3"/>
          <p:cNvSpPr>
            <a:spLocks noGrp="1"/>
          </p:cNvSpPr>
          <p:nvPr>
            <p:ph type="sldNum" sz="quarter" idx="12"/>
          </p:nvPr>
        </p:nvSpPr>
        <p:spPr/>
        <p:txBody>
          <a:bodyPr/>
          <a:lstStyle/>
          <a:p>
            <a:fld id="{8D75522D-3DA1-4E7C-B84B-2130C32BB93F}" type="slidenum">
              <a:rPr lang="en-GB" smtClean="0"/>
              <a:t>44</a:t>
            </a:fld>
            <a:endParaRPr lang="en-GB"/>
          </a:p>
        </p:txBody>
      </p:sp>
    </p:spTree>
    <p:extLst>
      <p:ext uri="{BB962C8B-B14F-4D97-AF65-F5344CB8AC3E}">
        <p14:creationId xmlns:p14="http://schemas.microsoft.com/office/powerpoint/2010/main" val="30894196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58A87F-8E87-D7AF-4DBE-F168F7ADF6D0}"/>
              </a:ext>
            </a:extLst>
          </p:cNvPr>
          <p:cNvPicPr>
            <a:picLocks noChangeAspect="1"/>
          </p:cNvPicPr>
          <p:nvPr/>
        </p:nvPicPr>
        <p:blipFill>
          <a:blip r:embed="rId2"/>
          <a:stretch>
            <a:fillRect/>
          </a:stretch>
        </p:blipFill>
        <p:spPr>
          <a:xfrm>
            <a:off x="878413" y="605589"/>
            <a:ext cx="10435173" cy="5646821"/>
          </a:xfrm>
          <a:prstGeom prst="rect">
            <a:avLst/>
          </a:prstGeom>
        </p:spPr>
      </p:pic>
      <p:sp>
        <p:nvSpPr>
          <p:cNvPr id="4" name="Slide Number Placeholder 3"/>
          <p:cNvSpPr>
            <a:spLocks noGrp="1"/>
          </p:cNvSpPr>
          <p:nvPr>
            <p:ph type="sldNum" sz="quarter" idx="12"/>
          </p:nvPr>
        </p:nvSpPr>
        <p:spPr/>
        <p:txBody>
          <a:bodyPr/>
          <a:lstStyle/>
          <a:p>
            <a:fld id="{8D75522D-3DA1-4E7C-B84B-2130C32BB93F}" type="slidenum">
              <a:rPr lang="en-GB" smtClean="0"/>
              <a:t>45</a:t>
            </a:fld>
            <a:endParaRPr lang="en-GB"/>
          </a:p>
        </p:txBody>
      </p:sp>
    </p:spTree>
    <p:extLst>
      <p:ext uri="{BB962C8B-B14F-4D97-AF65-F5344CB8AC3E}">
        <p14:creationId xmlns:p14="http://schemas.microsoft.com/office/powerpoint/2010/main" val="4203336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E2EDD0-6B2A-0008-CB6D-E9DB89353B23}"/>
              </a:ext>
            </a:extLst>
          </p:cNvPr>
          <p:cNvPicPr>
            <a:picLocks noChangeAspect="1"/>
          </p:cNvPicPr>
          <p:nvPr/>
        </p:nvPicPr>
        <p:blipFill>
          <a:blip r:embed="rId2"/>
          <a:stretch>
            <a:fillRect/>
          </a:stretch>
        </p:blipFill>
        <p:spPr>
          <a:xfrm>
            <a:off x="434911" y="802105"/>
            <a:ext cx="11322177" cy="4251157"/>
          </a:xfrm>
          <a:prstGeom prst="rect">
            <a:avLst/>
          </a:prstGeom>
        </p:spPr>
      </p:pic>
      <p:sp>
        <p:nvSpPr>
          <p:cNvPr id="4" name="Slide Number Placeholder 3"/>
          <p:cNvSpPr>
            <a:spLocks noGrp="1"/>
          </p:cNvSpPr>
          <p:nvPr>
            <p:ph type="sldNum" sz="quarter" idx="12"/>
          </p:nvPr>
        </p:nvSpPr>
        <p:spPr/>
        <p:txBody>
          <a:bodyPr/>
          <a:lstStyle/>
          <a:p>
            <a:fld id="{8D75522D-3DA1-4E7C-B84B-2130C32BB93F}" type="slidenum">
              <a:rPr lang="en-GB" smtClean="0"/>
              <a:t>46</a:t>
            </a:fld>
            <a:endParaRPr lang="en-GB"/>
          </a:p>
        </p:txBody>
      </p:sp>
    </p:spTree>
    <p:extLst>
      <p:ext uri="{BB962C8B-B14F-4D97-AF65-F5344CB8AC3E}">
        <p14:creationId xmlns:p14="http://schemas.microsoft.com/office/powerpoint/2010/main" val="6611958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9BD0F33-9278-A818-BB0D-F424DCDD54E3}"/>
              </a:ext>
            </a:extLst>
          </p:cNvPr>
          <p:cNvSpPr>
            <a:spLocks noGrp="1" noChangeArrowheads="1"/>
          </p:cNvSpPr>
          <p:nvPr>
            <p:ph type="title"/>
          </p:nvPr>
        </p:nvSpPr>
        <p:spPr/>
        <p:txBody>
          <a:bodyPr/>
          <a:lstStyle/>
          <a:p>
            <a:r>
              <a:rPr lang="en-US" altLang="en-LK" dirty="0"/>
              <a:t>Cartesian Product</a:t>
            </a:r>
          </a:p>
        </p:txBody>
      </p:sp>
      <p:sp>
        <p:nvSpPr>
          <p:cNvPr id="15363" name="Text Box 3">
            <a:extLst>
              <a:ext uri="{FF2B5EF4-FFF2-40B4-BE49-F238E27FC236}">
                <a16:creationId xmlns:a16="http://schemas.microsoft.com/office/drawing/2014/main" id="{E1A95576-D988-1A8C-A049-3BA7F346BB56}"/>
              </a:ext>
            </a:extLst>
          </p:cNvPr>
          <p:cNvSpPr txBox="1">
            <a:spLocks noChangeArrowheads="1"/>
          </p:cNvSpPr>
          <p:nvPr/>
        </p:nvSpPr>
        <p:spPr bwMode="auto">
          <a:xfrm>
            <a:off x="1600201" y="1565276"/>
            <a:ext cx="82454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LK" sz="2400" b="1" dirty="0">
                <a:latin typeface="Arial" panose="020B0604020202020204" pitchFamily="34" charset="0"/>
                <a:cs typeface="Arial" panose="020B0604020202020204" pitchFamily="34" charset="0"/>
              </a:rPr>
              <a:t>Definition</a:t>
            </a:r>
            <a:r>
              <a:rPr lang="en-US" altLang="en-LK" sz="2400" dirty="0">
                <a:latin typeface="Arial" panose="020B0604020202020204" pitchFamily="34" charset="0"/>
                <a:cs typeface="Arial" panose="020B0604020202020204" pitchFamily="34" charset="0"/>
              </a:rPr>
              <a:t>: </a:t>
            </a:r>
            <a:r>
              <a:rPr lang="en-US" altLang="en-LK" sz="2400" dirty="0">
                <a:solidFill>
                  <a:schemeClr val="accent1"/>
                </a:solidFill>
                <a:latin typeface="Arial" panose="020B0604020202020204" pitchFamily="34" charset="0"/>
                <a:cs typeface="Arial" panose="020B0604020202020204" pitchFamily="34" charset="0"/>
              </a:rPr>
              <a:t>Given two sets, A and B, the </a:t>
            </a:r>
            <a:r>
              <a:rPr lang="en-US" altLang="en-LK" sz="2400" b="1" dirty="0">
                <a:solidFill>
                  <a:schemeClr val="accent1"/>
                </a:solidFill>
                <a:latin typeface="Arial" panose="020B0604020202020204" pitchFamily="34" charset="0"/>
                <a:cs typeface="Arial" panose="020B0604020202020204" pitchFamily="34" charset="0"/>
              </a:rPr>
              <a:t>Cartesian product</a:t>
            </a:r>
            <a:r>
              <a:rPr lang="en-US" altLang="en-LK" sz="2400" dirty="0">
                <a:solidFill>
                  <a:schemeClr val="accent1"/>
                </a:solidFill>
                <a:latin typeface="Arial" panose="020B0604020202020204" pitchFamily="34" charset="0"/>
                <a:cs typeface="Arial" panose="020B0604020202020204" pitchFamily="34" charset="0"/>
              </a:rPr>
              <a:t> of A and B, denoted by A </a:t>
            </a:r>
            <a:r>
              <a:rPr lang="en-US" altLang="en-LK" sz="2400" dirty="0">
                <a:solidFill>
                  <a:schemeClr val="accent1"/>
                </a:solidFill>
                <a:latin typeface="Arial" panose="020B0604020202020204" pitchFamily="34" charset="0"/>
                <a:cs typeface="Arial" panose="020B0604020202020204" pitchFamily="34" charset="0"/>
                <a:sym typeface="Symbol" pitchFamily="2" charset="2"/>
              </a:rPr>
              <a:t></a:t>
            </a:r>
            <a:r>
              <a:rPr lang="en-US" altLang="en-LK" sz="2400" dirty="0">
                <a:solidFill>
                  <a:schemeClr val="accent1"/>
                </a:solidFill>
                <a:latin typeface="Arial" panose="020B0604020202020204" pitchFamily="34" charset="0"/>
                <a:cs typeface="Arial" panose="020B0604020202020204" pitchFamily="34" charset="0"/>
              </a:rPr>
              <a:t> B, is the following set:</a:t>
            </a:r>
          </a:p>
          <a:p>
            <a:endParaRPr lang="en-US" altLang="en-LK" dirty="0">
              <a:latin typeface="Arial" panose="020B0604020202020204" pitchFamily="34" charset="0"/>
              <a:cs typeface="Arial" panose="020B0604020202020204" pitchFamily="34" charset="0"/>
            </a:endParaRPr>
          </a:p>
          <a:p>
            <a:r>
              <a:rPr lang="en-US" altLang="en-LK" sz="2400" dirty="0">
                <a:latin typeface="Arial" panose="020B0604020202020204" pitchFamily="34" charset="0"/>
                <a:cs typeface="Arial" panose="020B0604020202020204" pitchFamily="34" charset="0"/>
              </a:rPr>
              <a:t>                       {(</a:t>
            </a:r>
            <a:r>
              <a:rPr lang="en-US" altLang="en-LK" sz="2400" dirty="0" err="1">
                <a:latin typeface="Arial" panose="020B0604020202020204" pitchFamily="34" charset="0"/>
                <a:cs typeface="Arial" panose="020B0604020202020204" pitchFamily="34" charset="0"/>
              </a:rPr>
              <a:t>a,b</a:t>
            </a:r>
            <a:r>
              <a:rPr lang="en-US" altLang="en-LK" sz="2400" dirty="0">
                <a:latin typeface="Arial" panose="020B0604020202020204" pitchFamily="34" charset="0"/>
                <a:cs typeface="Arial" panose="020B0604020202020204" pitchFamily="34" charset="0"/>
              </a:rPr>
              <a:t>) | a </a:t>
            </a:r>
            <a:r>
              <a:rPr lang="en-US" altLang="en-LK" sz="2400" dirty="0">
                <a:latin typeface="Arial" panose="020B0604020202020204" pitchFamily="34" charset="0"/>
                <a:cs typeface="Arial" panose="020B0604020202020204" pitchFamily="34" charset="0"/>
                <a:sym typeface="Symbol" pitchFamily="2" charset="2"/>
              </a:rPr>
              <a:t>A and b  B}</a:t>
            </a:r>
          </a:p>
        </p:txBody>
      </p:sp>
      <p:sp>
        <p:nvSpPr>
          <p:cNvPr id="15364" name="Text Box 4">
            <a:extLst>
              <a:ext uri="{FF2B5EF4-FFF2-40B4-BE49-F238E27FC236}">
                <a16:creationId xmlns:a16="http://schemas.microsoft.com/office/drawing/2014/main" id="{92215680-5620-4E69-0BDC-04AEA75D0A93}"/>
              </a:ext>
            </a:extLst>
          </p:cNvPr>
          <p:cNvSpPr txBox="1">
            <a:spLocks noChangeArrowheads="1"/>
          </p:cNvSpPr>
          <p:nvPr/>
        </p:nvSpPr>
        <p:spPr bwMode="auto">
          <a:xfrm>
            <a:off x="1528763" y="3785215"/>
            <a:ext cx="687220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dirty="0">
                <a:latin typeface="Arial" panose="020B0604020202020204" pitchFamily="34" charset="0"/>
                <a:cs typeface="Arial" panose="020B0604020202020204" pitchFamily="34" charset="0"/>
              </a:rPr>
              <a:t>Examples:</a:t>
            </a:r>
          </a:p>
          <a:p>
            <a:endParaRPr lang="en-US" altLang="en-LK" sz="2400" dirty="0">
              <a:latin typeface="Arial" panose="020B0604020202020204" pitchFamily="34" charset="0"/>
              <a:cs typeface="Arial" panose="020B0604020202020204" pitchFamily="34" charset="0"/>
            </a:endParaRPr>
          </a:p>
          <a:p>
            <a:pPr lvl="1">
              <a:buFontTx/>
              <a:buChar char="•"/>
            </a:pPr>
            <a:r>
              <a:rPr lang="en-US" altLang="en-LK" sz="2400" dirty="0">
                <a:latin typeface="Arial" panose="020B0604020202020204" pitchFamily="34" charset="0"/>
                <a:cs typeface="Arial" panose="020B0604020202020204" pitchFamily="34" charset="0"/>
              </a:rPr>
              <a:t>What is: {1, 2 , 3} </a:t>
            </a:r>
            <a:r>
              <a:rPr lang="en-US" altLang="en-LK" sz="2400" dirty="0">
                <a:latin typeface="Arial" panose="020B0604020202020204" pitchFamily="34" charset="0"/>
                <a:cs typeface="Arial" panose="020B0604020202020204" pitchFamily="34" charset="0"/>
                <a:sym typeface="Symbol" pitchFamily="2" charset="2"/>
              </a:rPr>
              <a:t> {</a:t>
            </a:r>
            <a:r>
              <a:rPr lang="en-US" altLang="en-LK" sz="2400" dirty="0" err="1">
                <a:latin typeface="Arial" panose="020B0604020202020204" pitchFamily="34" charset="0"/>
                <a:cs typeface="Arial" panose="020B0604020202020204" pitchFamily="34" charset="0"/>
                <a:sym typeface="Symbol" pitchFamily="2" charset="2"/>
              </a:rPr>
              <a:t>a,b</a:t>
            </a:r>
            <a:r>
              <a:rPr lang="en-US" altLang="en-LK" sz="2400" dirty="0">
                <a:latin typeface="Arial" panose="020B0604020202020204" pitchFamily="34" charset="0"/>
                <a:cs typeface="Arial" panose="020B0604020202020204" pitchFamily="34" charset="0"/>
                <a:sym typeface="Symbol" pitchFamily="2" charset="2"/>
              </a:rPr>
              <a:t>} =</a:t>
            </a:r>
          </a:p>
          <a:p>
            <a:pPr lvl="1">
              <a:buFontTx/>
              <a:buChar char="•"/>
            </a:pPr>
            <a:endParaRPr lang="en-US" altLang="en-LK" sz="2400" dirty="0">
              <a:latin typeface="Arial" panose="020B0604020202020204" pitchFamily="34" charset="0"/>
              <a:cs typeface="Arial" panose="020B0604020202020204" pitchFamily="34" charset="0"/>
              <a:sym typeface="Symbol" pitchFamily="2" charset="2"/>
            </a:endParaRPr>
          </a:p>
          <a:p>
            <a:pPr lvl="1">
              <a:buFontTx/>
              <a:buChar char="•"/>
            </a:pPr>
            <a:r>
              <a:rPr lang="en-US" altLang="en-LK" sz="2400" dirty="0">
                <a:latin typeface="Arial" panose="020B0604020202020204" pitchFamily="34" charset="0"/>
                <a:cs typeface="Arial" panose="020B0604020202020204" pitchFamily="34" charset="0"/>
                <a:sym typeface="Arial Alternative" pitchFamily="49" charset="2"/>
              </a:rPr>
              <a:t>True or false: {(1,a), (3,b)} </a:t>
            </a:r>
            <a:r>
              <a:rPr lang="en-US" altLang="en-LK" sz="2400" dirty="0">
                <a:latin typeface="Arial" panose="020B0604020202020204" pitchFamily="34" charset="0"/>
                <a:cs typeface="Arial" panose="020B0604020202020204" pitchFamily="34" charset="0"/>
                <a:sym typeface="Symbol" pitchFamily="2" charset="2"/>
              </a:rPr>
              <a:t> </a:t>
            </a:r>
            <a:r>
              <a:rPr lang="en-US" altLang="en-LK" sz="2400" dirty="0">
                <a:latin typeface="Arial" panose="020B0604020202020204" pitchFamily="34" charset="0"/>
                <a:cs typeface="Arial" panose="020B0604020202020204" pitchFamily="34" charset="0"/>
              </a:rPr>
              <a:t>{1, 2 , 3} </a:t>
            </a:r>
            <a:r>
              <a:rPr lang="en-US" altLang="en-LK" sz="2400" dirty="0">
                <a:latin typeface="Arial" panose="020B0604020202020204" pitchFamily="34" charset="0"/>
                <a:cs typeface="Arial" panose="020B0604020202020204" pitchFamily="34" charset="0"/>
                <a:sym typeface="Symbol" pitchFamily="2" charset="2"/>
              </a:rPr>
              <a:t> {</a:t>
            </a:r>
            <a:r>
              <a:rPr lang="en-US" altLang="en-LK" sz="2400" dirty="0" err="1">
                <a:latin typeface="Arial" panose="020B0604020202020204" pitchFamily="34" charset="0"/>
                <a:cs typeface="Arial" panose="020B0604020202020204" pitchFamily="34" charset="0"/>
                <a:sym typeface="Symbol" pitchFamily="2" charset="2"/>
              </a:rPr>
              <a:t>a,b</a:t>
            </a:r>
            <a:r>
              <a:rPr lang="en-US" altLang="en-LK" sz="2400" dirty="0">
                <a:latin typeface="Arial" panose="020B0604020202020204" pitchFamily="34" charset="0"/>
                <a:cs typeface="Arial" panose="020B0604020202020204" pitchFamily="34" charset="0"/>
                <a:sym typeface="Symbol" pitchFamily="2" charset="2"/>
              </a:rPr>
              <a:t>} </a:t>
            </a:r>
          </a:p>
          <a:p>
            <a:pPr lvl="1">
              <a:buFontTx/>
              <a:buChar char="•"/>
            </a:pPr>
            <a:endParaRPr lang="en-US" altLang="en-LK" sz="2400" dirty="0">
              <a:latin typeface="Arial" panose="020B0604020202020204" pitchFamily="34" charset="0"/>
              <a:cs typeface="Arial" panose="020B0604020202020204" pitchFamily="34" charset="0"/>
              <a:sym typeface="Symbol" pitchFamily="2" charset="2"/>
            </a:endParaRPr>
          </a:p>
          <a:p>
            <a:pPr lvl="1">
              <a:buFontTx/>
              <a:buChar char="•"/>
            </a:pPr>
            <a:r>
              <a:rPr lang="en-US" altLang="en-LK" sz="2400" dirty="0">
                <a:latin typeface="Arial" panose="020B0604020202020204" pitchFamily="34" charset="0"/>
                <a:cs typeface="Arial" panose="020B0604020202020204" pitchFamily="34" charset="0"/>
                <a:sym typeface="Symbol" pitchFamily="2" charset="2"/>
              </a:rPr>
              <a:t>True or false: </a:t>
            </a:r>
            <a:r>
              <a:rPr lang="en-US" altLang="en-LK" sz="2400" dirty="0">
                <a:latin typeface="Arial" panose="020B0604020202020204" pitchFamily="34" charset="0"/>
                <a:cs typeface="Arial" panose="020B0604020202020204" pitchFamily="34" charset="0"/>
              </a:rPr>
              <a:t>{1,2,3} </a:t>
            </a:r>
            <a:r>
              <a:rPr lang="en-US" altLang="en-LK" sz="2400" dirty="0">
                <a:latin typeface="Arial" panose="020B0604020202020204" pitchFamily="34" charset="0"/>
                <a:cs typeface="Arial" panose="020B0604020202020204" pitchFamily="34" charset="0"/>
                <a:sym typeface="Symbol" pitchFamily="2" charset="2"/>
              </a:rPr>
              <a:t> </a:t>
            </a:r>
            <a:r>
              <a:rPr lang="en-US" altLang="en-LK" sz="2400" dirty="0">
                <a:latin typeface="Arial" panose="020B0604020202020204" pitchFamily="34" charset="0"/>
                <a:cs typeface="Arial" panose="020B0604020202020204" pitchFamily="34" charset="0"/>
              </a:rPr>
              <a:t>{1, 2 , 3} </a:t>
            </a:r>
            <a:r>
              <a:rPr lang="en-US" altLang="en-LK" sz="2400" dirty="0">
                <a:latin typeface="Arial" panose="020B0604020202020204" pitchFamily="34" charset="0"/>
                <a:cs typeface="Arial" panose="020B0604020202020204" pitchFamily="34" charset="0"/>
                <a:sym typeface="Symbol" pitchFamily="2" charset="2"/>
              </a:rPr>
              <a:t> {</a:t>
            </a:r>
            <a:r>
              <a:rPr lang="en-US" altLang="en-LK" sz="2400" dirty="0" err="1">
                <a:latin typeface="Arial" panose="020B0604020202020204" pitchFamily="34" charset="0"/>
                <a:cs typeface="Arial" panose="020B0604020202020204" pitchFamily="34" charset="0"/>
                <a:sym typeface="Symbol" pitchFamily="2" charset="2"/>
              </a:rPr>
              <a:t>a,b</a:t>
            </a:r>
            <a:r>
              <a:rPr lang="en-US" altLang="en-LK" sz="2400" dirty="0">
                <a:latin typeface="Arial" panose="020B0604020202020204" pitchFamily="34" charset="0"/>
                <a:cs typeface="Arial" panose="020B0604020202020204" pitchFamily="34" charset="0"/>
                <a:sym typeface="Symbol" pitchFamily="2" charset="2"/>
              </a:rPr>
              <a:t>}</a:t>
            </a:r>
          </a:p>
        </p:txBody>
      </p:sp>
      <p:sp>
        <p:nvSpPr>
          <p:cNvPr id="15365" name="Text Box 5">
            <a:extLst>
              <a:ext uri="{FF2B5EF4-FFF2-40B4-BE49-F238E27FC236}">
                <a16:creationId xmlns:a16="http://schemas.microsoft.com/office/drawing/2014/main" id="{5F4E5BC7-F179-8B1F-7428-A3A1526CA8DB}"/>
              </a:ext>
            </a:extLst>
          </p:cNvPr>
          <p:cNvSpPr txBox="1">
            <a:spLocks noChangeArrowheads="1"/>
          </p:cNvSpPr>
          <p:nvPr/>
        </p:nvSpPr>
        <p:spPr bwMode="auto">
          <a:xfrm>
            <a:off x="9004602" y="5360869"/>
            <a:ext cx="7200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dirty="0"/>
              <a:t>true</a:t>
            </a:r>
          </a:p>
        </p:txBody>
      </p:sp>
      <p:sp>
        <p:nvSpPr>
          <p:cNvPr id="15366" name="Text Box 6">
            <a:extLst>
              <a:ext uri="{FF2B5EF4-FFF2-40B4-BE49-F238E27FC236}">
                <a16:creationId xmlns:a16="http://schemas.microsoft.com/office/drawing/2014/main" id="{89723122-8922-9711-D987-40CF8EBFE2D7}"/>
              </a:ext>
            </a:extLst>
          </p:cNvPr>
          <p:cNvSpPr txBox="1">
            <a:spLocks noChangeArrowheads="1"/>
          </p:cNvSpPr>
          <p:nvPr/>
        </p:nvSpPr>
        <p:spPr bwMode="auto">
          <a:xfrm>
            <a:off x="8965136" y="6001036"/>
            <a:ext cx="8264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dirty="0"/>
              <a:t>false</a:t>
            </a:r>
          </a:p>
        </p:txBody>
      </p:sp>
      <p:grpSp>
        <p:nvGrpSpPr>
          <p:cNvPr id="15367" name="Group 7">
            <a:extLst>
              <a:ext uri="{FF2B5EF4-FFF2-40B4-BE49-F238E27FC236}">
                <a16:creationId xmlns:a16="http://schemas.microsoft.com/office/drawing/2014/main" id="{C279C6A8-6408-495A-7E38-2997959F90E3}"/>
              </a:ext>
            </a:extLst>
          </p:cNvPr>
          <p:cNvGrpSpPr>
            <a:grpSpLocks/>
          </p:cNvGrpSpPr>
          <p:nvPr/>
        </p:nvGrpSpPr>
        <p:grpSpPr bwMode="auto">
          <a:xfrm>
            <a:off x="4086225" y="3099415"/>
            <a:ext cx="2619376" cy="461963"/>
            <a:chOff x="1584" y="1824"/>
            <a:chExt cx="1650" cy="291"/>
          </a:xfrm>
        </p:grpSpPr>
        <p:sp>
          <p:nvSpPr>
            <p:cNvPr id="15368" name="Line 8">
              <a:extLst>
                <a:ext uri="{FF2B5EF4-FFF2-40B4-BE49-F238E27FC236}">
                  <a16:creationId xmlns:a16="http://schemas.microsoft.com/office/drawing/2014/main" id="{3ACB89F0-5074-5CFE-AE67-13C56857C673}"/>
                </a:ext>
              </a:extLst>
            </p:cNvPr>
            <p:cNvSpPr>
              <a:spLocks noChangeShapeType="1"/>
            </p:cNvSpPr>
            <p:nvPr/>
          </p:nvSpPr>
          <p:spPr bwMode="auto">
            <a:xfrm flipV="1">
              <a:off x="1584" y="1824"/>
              <a:ext cx="0" cy="2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5369" name="Line 9">
              <a:extLst>
                <a:ext uri="{FF2B5EF4-FFF2-40B4-BE49-F238E27FC236}">
                  <a16:creationId xmlns:a16="http://schemas.microsoft.com/office/drawing/2014/main" id="{7853AE3C-A59C-4260-6349-FD23062D5F26}"/>
                </a:ext>
              </a:extLst>
            </p:cNvPr>
            <p:cNvSpPr>
              <a:spLocks noChangeShapeType="1"/>
            </p:cNvSpPr>
            <p:nvPr/>
          </p:nvSpPr>
          <p:spPr bwMode="auto">
            <a:xfrm>
              <a:off x="1584" y="2040"/>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5370" name="Text Box 10">
              <a:extLst>
                <a:ext uri="{FF2B5EF4-FFF2-40B4-BE49-F238E27FC236}">
                  <a16:creationId xmlns:a16="http://schemas.microsoft.com/office/drawing/2014/main" id="{11E1E7B7-658D-F9F9-487A-01186ECA6F1C}"/>
                </a:ext>
              </a:extLst>
            </p:cNvPr>
            <p:cNvSpPr txBox="1">
              <a:spLocks noChangeArrowheads="1"/>
            </p:cNvSpPr>
            <p:nvPr/>
          </p:nvSpPr>
          <p:spPr bwMode="auto">
            <a:xfrm>
              <a:off x="1920" y="1824"/>
              <a:ext cx="13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dirty="0">
                  <a:latin typeface="Arial" panose="020B0604020202020204" pitchFamily="34" charset="0"/>
                  <a:cs typeface="Arial" panose="020B0604020202020204" pitchFamily="34" charset="0"/>
                </a:rPr>
                <a:t>pair or 2-tuple</a:t>
              </a:r>
            </a:p>
          </p:txBody>
        </p:sp>
      </p:grpSp>
      <p:sp>
        <p:nvSpPr>
          <p:cNvPr id="15371" name="Text Box 11">
            <a:extLst>
              <a:ext uri="{FF2B5EF4-FFF2-40B4-BE49-F238E27FC236}">
                <a16:creationId xmlns:a16="http://schemas.microsoft.com/office/drawing/2014/main" id="{329849AE-F2AD-5369-6DF5-5CDF0DBBF6E5}"/>
              </a:ext>
            </a:extLst>
          </p:cNvPr>
          <p:cNvSpPr txBox="1">
            <a:spLocks noChangeArrowheads="1"/>
          </p:cNvSpPr>
          <p:nvPr/>
        </p:nvSpPr>
        <p:spPr bwMode="auto">
          <a:xfrm>
            <a:off x="5841629" y="4532933"/>
            <a:ext cx="51235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dirty="0">
                <a:latin typeface="Arial" panose="020B0604020202020204" pitchFamily="34" charset="0"/>
                <a:cs typeface="Arial" panose="020B0604020202020204" pitchFamily="34" charset="0"/>
                <a:sym typeface="Symbol" pitchFamily="2" charset="2"/>
              </a:rPr>
              <a:t>{(1,a),  (1,b), (2,a), (2,b), (3,a), (3,b)}</a:t>
            </a:r>
            <a:endParaRPr lang="en-US" altLang="en-LK"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36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37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3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autoUpdateAnimBg="0"/>
      <p:bldP spid="15366" grpId="0" autoUpdateAnimBg="0"/>
      <p:bldP spid="15371"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5EB35BE-0649-2C2C-68DD-DD0A1309BBC2}"/>
              </a:ext>
            </a:extLst>
          </p:cNvPr>
          <p:cNvSpPr>
            <a:spLocks noGrp="1" noChangeArrowheads="1"/>
          </p:cNvSpPr>
          <p:nvPr>
            <p:ph type="title"/>
          </p:nvPr>
        </p:nvSpPr>
        <p:spPr/>
        <p:txBody>
          <a:bodyPr/>
          <a:lstStyle/>
          <a:p>
            <a:r>
              <a:rPr lang="en-US" altLang="en-LK"/>
              <a:t>Cartesian Product II</a:t>
            </a:r>
          </a:p>
        </p:txBody>
      </p:sp>
      <p:sp>
        <p:nvSpPr>
          <p:cNvPr id="23555" name="Text Box 3">
            <a:extLst>
              <a:ext uri="{FF2B5EF4-FFF2-40B4-BE49-F238E27FC236}">
                <a16:creationId xmlns:a16="http://schemas.microsoft.com/office/drawing/2014/main" id="{2AF5A54B-2F53-8E82-95F1-1DD9B6078F93}"/>
              </a:ext>
            </a:extLst>
          </p:cNvPr>
          <p:cNvSpPr txBox="1">
            <a:spLocks noChangeArrowheads="1"/>
          </p:cNvSpPr>
          <p:nvPr/>
        </p:nvSpPr>
        <p:spPr bwMode="auto">
          <a:xfrm>
            <a:off x="1800226" y="1680251"/>
            <a:ext cx="82454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LK" sz="2400" b="1" dirty="0">
                <a:latin typeface="Arial" panose="020B0604020202020204" pitchFamily="34" charset="0"/>
                <a:cs typeface="Arial" panose="020B0604020202020204" pitchFamily="34" charset="0"/>
              </a:rPr>
              <a:t>Definition</a:t>
            </a:r>
            <a:r>
              <a:rPr lang="en-US" altLang="en-LK" sz="2400" dirty="0">
                <a:latin typeface="Arial" panose="020B0604020202020204" pitchFamily="34" charset="0"/>
                <a:cs typeface="Arial" panose="020B0604020202020204" pitchFamily="34" charset="0"/>
              </a:rPr>
              <a:t>: </a:t>
            </a:r>
            <a:r>
              <a:rPr lang="en-US" altLang="en-LK" sz="2400" dirty="0">
                <a:solidFill>
                  <a:schemeClr val="accent1"/>
                </a:solidFill>
                <a:latin typeface="Arial" panose="020B0604020202020204" pitchFamily="34" charset="0"/>
                <a:cs typeface="Arial" panose="020B0604020202020204" pitchFamily="34" charset="0"/>
              </a:rPr>
              <a:t>Given three sets, A, B and C, the </a:t>
            </a:r>
            <a:r>
              <a:rPr lang="en-US" altLang="en-LK" sz="2400" b="1" dirty="0">
                <a:solidFill>
                  <a:schemeClr val="accent1"/>
                </a:solidFill>
                <a:latin typeface="Arial" panose="020B0604020202020204" pitchFamily="34" charset="0"/>
                <a:cs typeface="Arial" panose="020B0604020202020204" pitchFamily="34" charset="0"/>
              </a:rPr>
              <a:t>Cartesian product</a:t>
            </a:r>
            <a:r>
              <a:rPr lang="en-US" altLang="en-LK" sz="2400" dirty="0">
                <a:solidFill>
                  <a:schemeClr val="accent1"/>
                </a:solidFill>
                <a:latin typeface="Arial" panose="020B0604020202020204" pitchFamily="34" charset="0"/>
                <a:cs typeface="Arial" panose="020B0604020202020204" pitchFamily="34" charset="0"/>
              </a:rPr>
              <a:t> of A, B, and C denoted by A </a:t>
            </a:r>
            <a:r>
              <a:rPr lang="en-US" altLang="en-LK" sz="2400" dirty="0">
                <a:solidFill>
                  <a:schemeClr val="accent1"/>
                </a:solidFill>
                <a:latin typeface="Arial" panose="020B0604020202020204" pitchFamily="34" charset="0"/>
                <a:cs typeface="Arial" panose="020B0604020202020204" pitchFamily="34" charset="0"/>
                <a:sym typeface="Symbol" pitchFamily="2" charset="2"/>
              </a:rPr>
              <a:t></a:t>
            </a:r>
            <a:r>
              <a:rPr lang="en-US" altLang="en-LK" sz="2400" dirty="0">
                <a:solidFill>
                  <a:schemeClr val="accent1"/>
                </a:solidFill>
                <a:latin typeface="Arial" panose="020B0604020202020204" pitchFamily="34" charset="0"/>
                <a:cs typeface="Arial" panose="020B0604020202020204" pitchFamily="34" charset="0"/>
              </a:rPr>
              <a:t> B </a:t>
            </a:r>
            <a:r>
              <a:rPr lang="en-US" altLang="en-LK" sz="2400" dirty="0">
                <a:solidFill>
                  <a:schemeClr val="accent1"/>
                </a:solidFill>
                <a:latin typeface="Arial" panose="020B0604020202020204" pitchFamily="34" charset="0"/>
                <a:cs typeface="Arial" panose="020B0604020202020204" pitchFamily="34" charset="0"/>
                <a:sym typeface="Symbol" pitchFamily="2" charset="2"/>
              </a:rPr>
              <a:t> C</a:t>
            </a:r>
            <a:r>
              <a:rPr lang="en-US" altLang="en-LK" sz="2400" dirty="0">
                <a:solidFill>
                  <a:schemeClr val="accent1"/>
                </a:solidFill>
                <a:latin typeface="Arial" panose="020B0604020202020204" pitchFamily="34" charset="0"/>
                <a:cs typeface="Arial" panose="020B0604020202020204" pitchFamily="34" charset="0"/>
              </a:rPr>
              <a:t>, is the following set:</a:t>
            </a:r>
          </a:p>
          <a:p>
            <a:endParaRPr lang="en-US" altLang="en-LK" sz="2400" dirty="0">
              <a:latin typeface="Arial" panose="020B0604020202020204" pitchFamily="34" charset="0"/>
              <a:cs typeface="Arial" panose="020B0604020202020204" pitchFamily="34" charset="0"/>
            </a:endParaRPr>
          </a:p>
          <a:p>
            <a:r>
              <a:rPr lang="en-US" altLang="en-LK" sz="2400" dirty="0">
                <a:latin typeface="Arial" panose="020B0604020202020204" pitchFamily="34" charset="0"/>
                <a:cs typeface="Arial" panose="020B0604020202020204" pitchFamily="34" charset="0"/>
              </a:rPr>
              <a:t>                       {(</a:t>
            </a:r>
            <a:r>
              <a:rPr lang="en-US" altLang="en-LK" sz="2400" dirty="0" err="1">
                <a:latin typeface="Arial" panose="020B0604020202020204" pitchFamily="34" charset="0"/>
                <a:cs typeface="Arial" panose="020B0604020202020204" pitchFamily="34" charset="0"/>
              </a:rPr>
              <a:t>a,b,c</a:t>
            </a:r>
            <a:r>
              <a:rPr lang="en-US" altLang="en-LK" sz="2400" dirty="0">
                <a:latin typeface="Arial" panose="020B0604020202020204" pitchFamily="34" charset="0"/>
                <a:cs typeface="Arial" panose="020B0604020202020204" pitchFamily="34" charset="0"/>
              </a:rPr>
              <a:t>) | a </a:t>
            </a:r>
            <a:r>
              <a:rPr lang="en-US" altLang="en-LK" sz="2400" dirty="0">
                <a:latin typeface="Arial" panose="020B0604020202020204" pitchFamily="34" charset="0"/>
                <a:cs typeface="Arial" panose="020B0604020202020204" pitchFamily="34" charset="0"/>
                <a:sym typeface="Symbol" pitchFamily="2" charset="2"/>
              </a:rPr>
              <a:t>A, b  B, c  C}</a:t>
            </a:r>
          </a:p>
        </p:txBody>
      </p:sp>
      <p:sp>
        <p:nvSpPr>
          <p:cNvPr id="23556" name="Text Box 4">
            <a:extLst>
              <a:ext uri="{FF2B5EF4-FFF2-40B4-BE49-F238E27FC236}">
                <a16:creationId xmlns:a16="http://schemas.microsoft.com/office/drawing/2014/main" id="{4028D6B0-460A-9609-D3EA-2AD1CF27B757}"/>
              </a:ext>
            </a:extLst>
          </p:cNvPr>
          <p:cNvSpPr txBox="1">
            <a:spLocks noChangeArrowheads="1"/>
          </p:cNvSpPr>
          <p:nvPr/>
        </p:nvSpPr>
        <p:spPr bwMode="auto">
          <a:xfrm>
            <a:off x="1800226" y="4317040"/>
            <a:ext cx="50381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b="1" dirty="0">
                <a:latin typeface="Arial" panose="020B0604020202020204" pitchFamily="34" charset="0"/>
                <a:cs typeface="Arial" panose="020B0604020202020204" pitchFamily="34" charset="0"/>
              </a:rPr>
              <a:t>Definition.</a:t>
            </a:r>
            <a:r>
              <a:rPr lang="en-US" altLang="en-LK" sz="2400" dirty="0">
                <a:latin typeface="Arial" panose="020B0604020202020204" pitchFamily="34" charset="0"/>
                <a:cs typeface="Arial" panose="020B0604020202020204" pitchFamily="34" charset="0"/>
              </a:rPr>
              <a:t>  (</a:t>
            </a:r>
            <a:r>
              <a:rPr lang="en-US" altLang="en-LK" sz="2400" dirty="0" err="1">
                <a:latin typeface="Arial" panose="020B0604020202020204" pitchFamily="34" charset="0"/>
                <a:cs typeface="Arial" panose="020B0604020202020204" pitchFamily="34" charset="0"/>
              </a:rPr>
              <a:t>x,y,z</a:t>
            </a:r>
            <a:r>
              <a:rPr lang="en-US" altLang="en-LK" sz="2400" dirty="0">
                <a:latin typeface="Arial" panose="020B0604020202020204" pitchFamily="34" charset="0"/>
                <a:cs typeface="Arial" panose="020B0604020202020204" pitchFamily="34" charset="0"/>
              </a:rPr>
              <a:t>) = (</a:t>
            </a:r>
            <a:r>
              <a:rPr lang="en-US" altLang="en-LK" sz="2400" dirty="0" err="1">
                <a:latin typeface="Arial" panose="020B0604020202020204" pitchFamily="34" charset="0"/>
                <a:cs typeface="Arial" panose="020B0604020202020204" pitchFamily="34" charset="0"/>
              </a:rPr>
              <a:t>x’,y</a:t>
            </a:r>
            <a:r>
              <a:rPr lang="en-US" altLang="en-LK" sz="2400" dirty="0">
                <a:latin typeface="Arial" panose="020B0604020202020204" pitchFamily="34" charset="0"/>
                <a:cs typeface="Arial" panose="020B0604020202020204" pitchFamily="34" charset="0"/>
              </a:rPr>
              <a:t>’, z’) only if</a:t>
            </a:r>
          </a:p>
        </p:txBody>
      </p:sp>
      <p:sp>
        <p:nvSpPr>
          <p:cNvPr id="23557" name="Text Box 5">
            <a:extLst>
              <a:ext uri="{FF2B5EF4-FFF2-40B4-BE49-F238E27FC236}">
                <a16:creationId xmlns:a16="http://schemas.microsoft.com/office/drawing/2014/main" id="{C9A0A27C-1C2C-6BDF-7A90-FD41E0F5C14B}"/>
              </a:ext>
            </a:extLst>
          </p:cNvPr>
          <p:cNvSpPr txBox="1">
            <a:spLocks noChangeArrowheads="1"/>
          </p:cNvSpPr>
          <p:nvPr/>
        </p:nvSpPr>
        <p:spPr bwMode="auto">
          <a:xfrm>
            <a:off x="2849870" y="4878620"/>
            <a:ext cx="320613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dirty="0">
                <a:latin typeface="Arial" panose="020B0604020202020204" pitchFamily="34" charset="0"/>
                <a:cs typeface="Arial" panose="020B0604020202020204" pitchFamily="34" charset="0"/>
              </a:rPr>
              <a:t>x = x’, y = y’ and z = z’</a:t>
            </a:r>
          </a:p>
        </p:txBody>
      </p:sp>
      <p:sp>
        <p:nvSpPr>
          <p:cNvPr id="23558" name="Text Box 6">
            <a:extLst>
              <a:ext uri="{FF2B5EF4-FFF2-40B4-BE49-F238E27FC236}">
                <a16:creationId xmlns:a16="http://schemas.microsoft.com/office/drawing/2014/main" id="{0B96D718-C5D8-199F-BD52-70EDDB6EAEA6}"/>
              </a:ext>
            </a:extLst>
          </p:cNvPr>
          <p:cNvSpPr txBox="1">
            <a:spLocks noChangeArrowheads="1"/>
          </p:cNvSpPr>
          <p:nvPr/>
        </p:nvSpPr>
        <p:spPr bwMode="auto">
          <a:xfrm>
            <a:off x="1800226" y="5514661"/>
            <a:ext cx="92576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dirty="0">
                <a:latin typeface="Arial" panose="020B0604020202020204" pitchFamily="34" charset="0"/>
                <a:cs typeface="Arial" panose="020B0604020202020204" pitchFamily="34" charset="0"/>
              </a:rPr>
              <a:t>These definitions can be extended to define the Cartesian product:</a:t>
            </a:r>
          </a:p>
          <a:p>
            <a:r>
              <a:rPr lang="en-US" altLang="en-LK" sz="2400" dirty="0">
                <a:latin typeface="Arial" panose="020B0604020202020204" pitchFamily="34" charset="0"/>
                <a:cs typeface="Arial" panose="020B0604020202020204" pitchFamily="34" charset="0"/>
              </a:rPr>
              <a:t>                               A</a:t>
            </a:r>
            <a:r>
              <a:rPr lang="en-US" altLang="en-LK" sz="2400" baseline="-25000" dirty="0">
                <a:latin typeface="Arial" panose="020B0604020202020204" pitchFamily="34" charset="0"/>
                <a:cs typeface="Arial" panose="020B0604020202020204" pitchFamily="34" charset="0"/>
              </a:rPr>
              <a:t>1</a:t>
            </a:r>
            <a:r>
              <a:rPr lang="en-US" altLang="en-LK" sz="2400" dirty="0">
                <a:latin typeface="Arial" panose="020B0604020202020204" pitchFamily="34" charset="0"/>
                <a:cs typeface="Arial" panose="020B0604020202020204" pitchFamily="34" charset="0"/>
              </a:rPr>
              <a:t> </a:t>
            </a:r>
            <a:r>
              <a:rPr lang="en-US" altLang="en-LK" sz="2400" dirty="0">
                <a:latin typeface="Arial" panose="020B0604020202020204" pitchFamily="34" charset="0"/>
                <a:cs typeface="Arial" panose="020B0604020202020204" pitchFamily="34" charset="0"/>
                <a:sym typeface="Symbol" pitchFamily="2" charset="2"/>
              </a:rPr>
              <a:t> </a:t>
            </a:r>
            <a:r>
              <a:rPr lang="en-US" altLang="en-LK" sz="2400" dirty="0">
                <a:latin typeface="Arial" panose="020B0604020202020204" pitchFamily="34" charset="0"/>
                <a:cs typeface="Arial" panose="020B0604020202020204" pitchFamily="34" charset="0"/>
              </a:rPr>
              <a:t>A</a:t>
            </a:r>
            <a:r>
              <a:rPr lang="en-US" altLang="en-LK" sz="2400" baseline="-25000" dirty="0">
                <a:latin typeface="Arial" panose="020B0604020202020204" pitchFamily="34" charset="0"/>
                <a:cs typeface="Arial" panose="020B0604020202020204" pitchFamily="34" charset="0"/>
              </a:rPr>
              <a:t>2</a:t>
            </a:r>
            <a:r>
              <a:rPr lang="en-US" altLang="en-LK" sz="2400" dirty="0">
                <a:latin typeface="Arial" panose="020B0604020202020204" pitchFamily="34" charset="0"/>
                <a:cs typeface="Arial" panose="020B0604020202020204" pitchFamily="34" charset="0"/>
              </a:rPr>
              <a:t> </a:t>
            </a:r>
            <a:r>
              <a:rPr lang="en-US" altLang="en-LK" sz="2400" dirty="0">
                <a:latin typeface="Arial" panose="020B0604020202020204" pitchFamily="34" charset="0"/>
                <a:cs typeface="Arial" panose="020B0604020202020204" pitchFamily="34" charset="0"/>
                <a:sym typeface="Symbol" pitchFamily="2" charset="2"/>
              </a:rPr>
              <a:t> …  </a:t>
            </a:r>
            <a:r>
              <a:rPr lang="en-US" altLang="en-LK" sz="2400" dirty="0">
                <a:latin typeface="Arial" panose="020B0604020202020204" pitchFamily="34" charset="0"/>
                <a:cs typeface="Arial" panose="020B0604020202020204" pitchFamily="34" charset="0"/>
              </a:rPr>
              <a:t>A</a:t>
            </a:r>
            <a:r>
              <a:rPr lang="en-US" altLang="en-LK" sz="2400" baseline="-25000" dirty="0">
                <a:latin typeface="Arial" panose="020B0604020202020204" pitchFamily="34" charset="0"/>
                <a:cs typeface="Arial" panose="020B0604020202020204" pitchFamily="34" charset="0"/>
              </a:rPr>
              <a:t>n</a:t>
            </a:r>
          </a:p>
          <a:p>
            <a:r>
              <a:rPr lang="en-US" altLang="en-LK" sz="2400" dirty="0">
                <a:latin typeface="Arial" panose="020B0604020202020204" pitchFamily="34" charset="0"/>
                <a:cs typeface="Arial" panose="020B0604020202020204" pitchFamily="34" charset="0"/>
              </a:rPr>
              <a:t>and equality between n-tuples</a:t>
            </a:r>
          </a:p>
        </p:txBody>
      </p:sp>
      <p:grpSp>
        <p:nvGrpSpPr>
          <p:cNvPr id="23559" name="Group 7">
            <a:extLst>
              <a:ext uri="{FF2B5EF4-FFF2-40B4-BE49-F238E27FC236}">
                <a16:creationId xmlns:a16="http://schemas.microsoft.com/office/drawing/2014/main" id="{7057F314-D35F-397D-98CA-560A20C4DC3F}"/>
              </a:ext>
            </a:extLst>
          </p:cNvPr>
          <p:cNvGrpSpPr>
            <a:grpSpLocks/>
          </p:cNvGrpSpPr>
          <p:nvPr/>
        </p:nvGrpSpPr>
        <p:grpSpPr bwMode="auto">
          <a:xfrm>
            <a:off x="4452937" y="3586106"/>
            <a:ext cx="2940051" cy="594719"/>
            <a:chOff x="1680" y="1728"/>
            <a:chExt cx="1852" cy="428"/>
          </a:xfrm>
        </p:grpSpPr>
        <p:sp>
          <p:nvSpPr>
            <p:cNvPr id="23560" name="Line 8">
              <a:extLst>
                <a:ext uri="{FF2B5EF4-FFF2-40B4-BE49-F238E27FC236}">
                  <a16:creationId xmlns:a16="http://schemas.microsoft.com/office/drawing/2014/main" id="{1C11F369-84C8-D151-DD26-3037F6B32B04}"/>
                </a:ext>
              </a:extLst>
            </p:cNvPr>
            <p:cNvSpPr>
              <a:spLocks noChangeShapeType="1"/>
            </p:cNvSpPr>
            <p:nvPr/>
          </p:nvSpPr>
          <p:spPr bwMode="auto">
            <a:xfrm flipV="1">
              <a:off x="1680" y="1728"/>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23561" name="Line 9">
              <a:extLst>
                <a:ext uri="{FF2B5EF4-FFF2-40B4-BE49-F238E27FC236}">
                  <a16:creationId xmlns:a16="http://schemas.microsoft.com/office/drawing/2014/main" id="{48F91A9D-8DC8-1B6E-D2D0-494531F1D6D2}"/>
                </a:ext>
              </a:extLst>
            </p:cNvPr>
            <p:cNvSpPr>
              <a:spLocks noChangeShapeType="1"/>
            </p:cNvSpPr>
            <p:nvPr/>
          </p:nvSpPr>
          <p:spPr bwMode="auto">
            <a:xfrm>
              <a:off x="1680" y="201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23562" name="Text Box 10">
              <a:extLst>
                <a:ext uri="{FF2B5EF4-FFF2-40B4-BE49-F238E27FC236}">
                  <a16:creationId xmlns:a16="http://schemas.microsoft.com/office/drawing/2014/main" id="{20C705EA-1D1E-4168-9747-528686CC962A}"/>
                </a:ext>
              </a:extLst>
            </p:cNvPr>
            <p:cNvSpPr txBox="1">
              <a:spLocks noChangeArrowheads="1"/>
            </p:cNvSpPr>
            <p:nvPr/>
          </p:nvSpPr>
          <p:spPr bwMode="auto">
            <a:xfrm>
              <a:off x="2064" y="1824"/>
              <a:ext cx="146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LK" sz="2400" dirty="0">
                  <a:latin typeface="Arial" panose="020B0604020202020204" pitchFamily="34" charset="0"/>
                  <a:cs typeface="Arial" panose="020B0604020202020204" pitchFamily="34" charset="0"/>
                </a:rPr>
                <a:t>Triple or 3-tuple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35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35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355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3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utoUpdateAnimBg="0"/>
      <p:bldP spid="23557" grpId="0" autoUpdateAnimBg="0"/>
      <p:bldP spid="23558"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4E5786A-9E46-9A89-05F5-7609090A3CE0}"/>
                  </a:ext>
                </a:extLst>
              </p:cNvPr>
              <p:cNvSpPr>
                <a:spLocks noGrp="1"/>
              </p:cNvSpPr>
              <p:nvPr>
                <p:ph type="title"/>
              </p:nvPr>
            </p:nvSpPr>
            <p:spPr/>
            <p:txBody>
              <a:bodyPr/>
              <a:lstStyle/>
              <a:p>
                <a:r>
                  <a:rPr lang="en-LK" dirty="0"/>
                  <a:t>Properties of the zero(</a:t>
                </a:r>
                <a14:m>
                  <m:oMath xmlns:m="http://schemas.openxmlformats.org/officeDocument/2006/math">
                    <m:r>
                      <a:rPr lang="en-LK" i="1" dirty="0" smtClean="0">
                        <a:latin typeface="Cambria Math" panose="02040503050406030204" pitchFamily="18" charset="0"/>
                      </a:rPr>
                      <m:t>0</m:t>
                    </m:r>
                  </m:oMath>
                </a14:m>
                <a:r>
                  <a:rPr lang="en-LK" dirty="0"/>
                  <a:t>) and infinity(</a:t>
                </a:r>
                <a14:m>
                  <m:oMath xmlns:m="http://schemas.openxmlformats.org/officeDocument/2006/math">
                    <m:r>
                      <a:rPr lang="en-LK" i="1" smtClean="0">
                        <a:latin typeface="Cambria Math" panose="02040503050406030204" pitchFamily="18" charset="0"/>
                        <a:ea typeface="Cambria Math" panose="02040503050406030204" pitchFamily="18" charset="0"/>
                      </a:rPr>
                      <m:t>∞</m:t>
                    </m:r>
                  </m:oMath>
                </a14:m>
                <a:r>
                  <a:rPr lang="en-LK" dirty="0"/>
                  <a:t>)</a:t>
                </a:r>
              </a:p>
            </p:txBody>
          </p:sp>
        </mc:Choice>
        <mc:Fallback xmlns="">
          <p:sp>
            <p:nvSpPr>
              <p:cNvPr id="2" name="Title 1">
                <a:extLst>
                  <a:ext uri="{FF2B5EF4-FFF2-40B4-BE49-F238E27FC236}">
                    <a16:creationId xmlns:a16="http://schemas.microsoft.com/office/drawing/2014/main" id="{04E5786A-9E46-9A89-05F5-7609090A3CE0}"/>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LK">
                    <a:noFill/>
                  </a:rPr>
                  <a:t> </a:t>
                </a:r>
              </a:p>
            </p:txBody>
          </p:sp>
        </mc:Fallback>
      </mc:AlternateContent>
      <p:sp>
        <p:nvSpPr>
          <p:cNvPr id="3" name="Footer Placeholder 2">
            <a:extLst>
              <a:ext uri="{FF2B5EF4-FFF2-40B4-BE49-F238E27FC236}">
                <a16:creationId xmlns:a16="http://schemas.microsoft.com/office/drawing/2014/main" id="{FE387CE6-B127-74C0-FA77-CB23141793F5}"/>
              </a:ext>
            </a:extLst>
          </p:cNvPr>
          <p:cNvSpPr>
            <a:spLocks noGrp="1"/>
          </p:cNvSpPr>
          <p:nvPr>
            <p:ph type="ftr" sz="quarter" idx="11"/>
          </p:nvPr>
        </p:nvSpPr>
        <p:spPr/>
        <p:txBody>
          <a:bodyPr/>
          <a:lstStyle/>
          <a:p>
            <a:r>
              <a:rPr lang="en-GB"/>
              <a:t>TMS1173</a:t>
            </a:r>
          </a:p>
        </p:txBody>
      </p:sp>
      <p:sp>
        <p:nvSpPr>
          <p:cNvPr id="4" name="Slide Number Placeholder 3">
            <a:extLst>
              <a:ext uri="{FF2B5EF4-FFF2-40B4-BE49-F238E27FC236}">
                <a16:creationId xmlns:a16="http://schemas.microsoft.com/office/drawing/2014/main" id="{A79BD097-65F6-6BA4-14D2-5FAD608A04FB}"/>
              </a:ext>
            </a:extLst>
          </p:cNvPr>
          <p:cNvSpPr>
            <a:spLocks noGrp="1"/>
          </p:cNvSpPr>
          <p:nvPr>
            <p:ph type="sldNum" sz="quarter" idx="12"/>
          </p:nvPr>
        </p:nvSpPr>
        <p:spPr/>
        <p:txBody>
          <a:bodyPr/>
          <a:lstStyle/>
          <a:p>
            <a:fld id="{8D75522D-3DA1-4E7C-B84B-2130C32BB93F}" type="slidenum">
              <a:rPr lang="en-GB" smtClean="0"/>
              <a:t>49</a:t>
            </a:fld>
            <a:endParaRPr lang="en-GB"/>
          </a:p>
        </p:txBody>
      </p:sp>
      <p:sp>
        <p:nvSpPr>
          <p:cNvPr id="5" name="TextBox 4">
            <a:extLst>
              <a:ext uri="{FF2B5EF4-FFF2-40B4-BE49-F238E27FC236}">
                <a16:creationId xmlns:a16="http://schemas.microsoft.com/office/drawing/2014/main" id="{31C92940-8BBD-CB9E-CB5C-C2F48671668F}"/>
              </a:ext>
            </a:extLst>
          </p:cNvPr>
          <p:cNvSpPr txBox="1"/>
          <p:nvPr/>
        </p:nvSpPr>
        <p:spPr>
          <a:xfrm>
            <a:off x="838200" y="1705678"/>
            <a:ext cx="10314482" cy="6370975"/>
          </a:xfrm>
          <a:prstGeom prst="rect">
            <a:avLst/>
          </a:prstGeom>
          <a:noFill/>
        </p:spPr>
        <p:txBody>
          <a:bodyPr wrap="square" rtlCol="0">
            <a:spAutoFit/>
          </a:bodyPr>
          <a:lstStyle/>
          <a:p>
            <a:pPr marL="342900" indent="-342900">
              <a:buFont typeface="Arial" panose="020B0604020202020204" pitchFamily="34" charset="0"/>
              <a:buChar char="•"/>
            </a:pPr>
            <a:r>
              <a:rPr lang="en-LK" sz="2400" dirty="0"/>
              <a:t>In mathematics, zero and infinity have unique properties that play an important role in algebra and calculus. </a:t>
            </a:r>
          </a:p>
          <a:p>
            <a:endParaRPr lang="en-LK" sz="2400" dirty="0"/>
          </a:p>
          <a:p>
            <a:pPr marL="285750" indent="-285750">
              <a:buFont typeface="Arial" panose="020B0604020202020204" pitchFamily="34" charset="0"/>
              <a:buChar char="•"/>
            </a:pPr>
            <a:r>
              <a:rPr lang="en-US" sz="2400" dirty="0"/>
              <a:t>Let’s learn the basic properties of zero and infinity, two essential concepts in mathematics.</a:t>
            </a:r>
          </a:p>
          <a:p>
            <a:endParaRPr lang="en-US" dirty="0"/>
          </a:p>
          <a:p>
            <a:endParaRPr lang="en-US" dirty="0"/>
          </a:p>
          <a:p>
            <a:r>
              <a:rPr lang="en-US" dirty="0"/>
              <a:t> </a:t>
            </a:r>
          </a:p>
          <a:p>
            <a:endParaRPr lang="en-US" dirty="0"/>
          </a:p>
          <a:p>
            <a:endParaRPr lang="en-LK" dirty="0"/>
          </a:p>
          <a:p>
            <a:endParaRPr lang="en-LK" dirty="0"/>
          </a:p>
          <a:p>
            <a:endParaRPr lang="en-LK" dirty="0"/>
          </a:p>
          <a:p>
            <a:endParaRPr lang="en-LK" dirty="0"/>
          </a:p>
          <a:p>
            <a:endParaRPr lang="en-LK" dirty="0"/>
          </a:p>
          <a:p>
            <a:endParaRPr lang="en-LK" dirty="0"/>
          </a:p>
          <a:p>
            <a:endParaRPr lang="en-LK" dirty="0"/>
          </a:p>
          <a:p>
            <a:endParaRPr lang="en-LK" dirty="0"/>
          </a:p>
          <a:p>
            <a:endParaRPr lang="en-LK" dirty="0"/>
          </a:p>
          <a:p>
            <a:endParaRPr lang="en-LK" dirty="0"/>
          </a:p>
          <a:p>
            <a:endParaRPr lang="en-LK" dirty="0"/>
          </a:p>
          <a:p>
            <a:endParaRPr lang="en-LK" dirty="0"/>
          </a:p>
        </p:txBody>
      </p:sp>
    </p:spTree>
    <p:extLst>
      <p:ext uri="{BB962C8B-B14F-4D97-AF65-F5344CB8AC3E}">
        <p14:creationId xmlns:p14="http://schemas.microsoft.com/office/powerpoint/2010/main" val="27412538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8A33CE9-5ECD-9202-1435-A3B1E1741155}"/>
                  </a:ext>
                </a:extLst>
              </p:cNvPr>
              <p:cNvSpPr>
                <a:spLocks noGrp="1"/>
              </p:cNvSpPr>
              <p:nvPr>
                <p:ph type="title"/>
              </p:nvPr>
            </p:nvSpPr>
            <p:spPr>
              <a:xfrm>
                <a:off x="838200" y="136525"/>
                <a:ext cx="10515600" cy="1325563"/>
              </a:xfrm>
            </p:spPr>
            <p:txBody>
              <a:bodyPr/>
              <a:lstStyle/>
              <a:p>
                <a:r>
                  <a:rPr lang="en-LK" dirty="0"/>
                  <a:t>Properties of the zero(</a:t>
                </a:r>
                <a14:m>
                  <m:oMath xmlns:m="http://schemas.openxmlformats.org/officeDocument/2006/math">
                    <m:r>
                      <a:rPr lang="en-LK" i="1" dirty="0" smtClean="0">
                        <a:latin typeface="Cambria Math" panose="02040503050406030204" pitchFamily="18" charset="0"/>
                      </a:rPr>
                      <m:t>0</m:t>
                    </m:r>
                  </m:oMath>
                </a14:m>
                <a:r>
                  <a:rPr lang="en-LK" dirty="0"/>
                  <a:t>) and infinity(</a:t>
                </a:r>
                <a14:m>
                  <m:oMath xmlns:m="http://schemas.openxmlformats.org/officeDocument/2006/math">
                    <m:r>
                      <a:rPr lang="en-LK" i="1" smtClean="0">
                        <a:latin typeface="Cambria Math" panose="02040503050406030204" pitchFamily="18" charset="0"/>
                        <a:ea typeface="Cambria Math" panose="02040503050406030204" pitchFamily="18" charset="0"/>
                      </a:rPr>
                      <m:t>∞</m:t>
                    </m:r>
                  </m:oMath>
                </a14:m>
                <a:r>
                  <a:rPr lang="en-LK" dirty="0"/>
                  <a:t>)</a:t>
                </a:r>
              </a:p>
            </p:txBody>
          </p:sp>
        </mc:Choice>
        <mc:Fallback xmlns="">
          <p:sp>
            <p:nvSpPr>
              <p:cNvPr id="2" name="Title 1">
                <a:extLst>
                  <a:ext uri="{FF2B5EF4-FFF2-40B4-BE49-F238E27FC236}">
                    <a16:creationId xmlns:a16="http://schemas.microsoft.com/office/drawing/2014/main" id="{28A33CE9-5ECD-9202-1435-A3B1E1741155}"/>
                  </a:ext>
                </a:extLst>
              </p:cNvPr>
              <p:cNvSpPr>
                <a:spLocks noGrp="1" noRot="1" noChangeAspect="1" noMove="1" noResize="1" noEditPoints="1" noAdjustHandles="1" noChangeArrowheads="1" noChangeShapeType="1" noTextEdit="1"/>
              </p:cNvSpPr>
              <p:nvPr>
                <p:ph type="title"/>
              </p:nvPr>
            </p:nvSpPr>
            <p:spPr>
              <a:xfrm>
                <a:off x="838200" y="136525"/>
                <a:ext cx="10515600" cy="1325563"/>
              </a:xfrm>
              <a:blipFill>
                <a:blip r:embed="rId2"/>
                <a:stretch>
                  <a:fillRect l="-2413"/>
                </a:stretch>
              </a:blipFill>
            </p:spPr>
            <p:txBody>
              <a:bodyPr/>
              <a:lstStyle/>
              <a:p>
                <a:r>
                  <a:rPr lang="en-LK">
                    <a:noFill/>
                  </a:rPr>
                  <a:t> </a:t>
                </a:r>
              </a:p>
            </p:txBody>
          </p:sp>
        </mc:Fallback>
      </mc:AlternateContent>
      <p:sp>
        <p:nvSpPr>
          <p:cNvPr id="3" name="Footer Placeholder 2">
            <a:extLst>
              <a:ext uri="{FF2B5EF4-FFF2-40B4-BE49-F238E27FC236}">
                <a16:creationId xmlns:a16="http://schemas.microsoft.com/office/drawing/2014/main" id="{E91DD74C-C567-1E48-14A1-FA007445FD65}"/>
              </a:ext>
            </a:extLst>
          </p:cNvPr>
          <p:cNvSpPr>
            <a:spLocks noGrp="1"/>
          </p:cNvSpPr>
          <p:nvPr>
            <p:ph type="ftr" sz="quarter" idx="11"/>
          </p:nvPr>
        </p:nvSpPr>
        <p:spPr/>
        <p:txBody>
          <a:bodyPr/>
          <a:lstStyle/>
          <a:p>
            <a:r>
              <a:rPr lang="en-GB"/>
              <a:t>TMS1173</a:t>
            </a:r>
          </a:p>
        </p:txBody>
      </p:sp>
      <p:sp>
        <p:nvSpPr>
          <p:cNvPr id="4" name="Slide Number Placeholder 3">
            <a:extLst>
              <a:ext uri="{FF2B5EF4-FFF2-40B4-BE49-F238E27FC236}">
                <a16:creationId xmlns:a16="http://schemas.microsoft.com/office/drawing/2014/main" id="{9823270F-535B-D9D1-F056-00B11E1AB261}"/>
              </a:ext>
            </a:extLst>
          </p:cNvPr>
          <p:cNvSpPr>
            <a:spLocks noGrp="1"/>
          </p:cNvSpPr>
          <p:nvPr>
            <p:ph type="sldNum" sz="quarter" idx="12"/>
          </p:nvPr>
        </p:nvSpPr>
        <p:spPr/>
        <p:txBody>
          <a:bodyPr/>
          <a:lstStyle/>
          <a:p>
            <a:fld id="{8D75522D-3DA1-4E7C-B84B-2130C32BB93F}" type="slidenum">
              <a:rPr lang="en-GB" smtClean="0"/>
              <a:t>50</a:t>
            </a:fld>
            <a:endParaRPr lang="en-GB"/>
          </a:p>
        </p:txBody>
      </p:sp>
      <mc:AlternateContent xmlns:mc="http://schemas.openxmlformats.org/markup-compatibility/2006">
        <mc:Choice xmlns:a14="http://schemas.microsoft.com/office/drawing/2010/main" Requires="a14">
          <p:graphicFrame>
            <p:nvGraphicFramePr>
              <p:cNvPr id="5" name="Table 5">
                <a:extLst>
                  <a:ext uri="{FF2B5EF4-FFF2-40B4-BE49-F238E27FC236}">
                    <a16:creationId xmlns:a16="http://schemas.microsoft.com/office/drawing/2014/main" id="{238CDD02-D39A-ED3E-0E08-39DF1E2CA99F}"/>
                  </a:ext>
                </a:extLst>
              </p:cNvPr>
              <p:cNvGraphicFramePr>
                <a:graphicFrameLocks noGrp="1"/>
              </p:cNvGraphicFramePr>
              <p:nvPr>
                <p:extLst>
                  <p:ext uri="{D42A27DB-BD31-4B8C-83A1-F6EECF244321}">
                    <p14:modId xmlns:p14="http://schemas.microsoft.com/office/powerpoint/2010/main" val="1485565661"/>
                  </p:ext>
                </p:extLst>
              </p:nvPr>
            </p:nvGraphicFramePr>
            <p:xfrm>
              <a:off x="838200" y="1139285"/>
              <a:ext cx="10824148" cy="5539868"/>
            </p:xfrm>
            <a:graphic>
              <a:graphicData uri="http://schemas.openxmlformats.org/drawingml/2006/table">
                <a:tbl>
                  <a:tblPr firstRow="1" bandRow="1">
                    <a:tableStyleId>{5C22544A-7EE6-4342-B048-85BDC9FD1C3A}</a:tableStyleId>
                  </a:tblPr>
                  <a:tblGrid>
                    <a:gridCol w="5637551">
                      <a:extLst>
                        <a:ext uri="{9D8B030D-6E8A-4147-A177-3AD203B41FA5}">
                          <a16:colId xmlns:a16="http://schemas.microsoft.com/office/drawing/2014/main" val="1557901765"/>
                        </a:ext>
                      </a:extLst>
                    </a:gridCol>
                    <a:gridCol w="5186597">
                      <a:extLst>
                        <a:ext uri="{9D8B030D-6E8A-4147-A177-3AD203B41FA5}">
                          <a16:colId xmlns:a16="http://schemas.microsoft.com/office/drawing/2014/main" val="307735393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K" sz="2000" u="sng" dirty="0"/>
                            <a:t>Properties of zero (0)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K" sz="2000" u="sng" dirty="0"/>
                            <a:t>Properties of</a:t>
                          </a:r>
                          <a:r>
                            <a:rPr lang="en-US" sz="2000" u="sng" baseline="0"/>
                            <a:t> infinity</a:t>
                          </a:r>
                          <a:r>
                            <a:rPr lang="en-LK" sz="2000" u="sng"/>
                            <a:t> </a:t>
                          </a:r>
                          <a:r>
                            <a:rPr lang="en-LK" sz="2000" u="sng" dirty="0"/>
                            <a:t>(</a:t>
                          </a:r>
                          <a14:m>
                            <m:oMath xmlns:m="http://schemas.openxmlformats.org/officeDocument/2006/math">
                              <m:r>
                                <a:rPr lang="en-LK" sz="2000" i="1" u="sng" smtClean="0">
                                  <a:latin typeface="Cambria Math" panose="02040503050406030204" pitchFamily="18" charset="0"/>
                                  <a:ea typeface="Cambria Math" panose="02040503050406030204" pitchFamily="18" charset="0"/>
                                </a:rPr>
                                <m:t>∞</m:t>
                              </m:r>
                            </m:oMath>
                          </a14:m>
                          <a:r>
                            <a:rPr lang="en-LK" sz="2000" u="sng" dirty="0"/>
                            <a:t>)</a:t>
                          </a:r>
                        </a:p>
                      </a:txBody>
                      <a:tcPr/>
                    </a:tc>
                    <a:extLst>
                      <a:ext uri="{0D108BD9-81ED-4DB2-BD59-A6C34878D82A}">
                        <a16:rowId xmlns:a16="http://schemas.microsoft.com/office/drawing/2014/main" val="1622770039"/>
                      </a:ext>
                    </a:extLst>
                  </a:tr>
                  <a:tr h="370840">
                    <a:tc>
                      <a:txBody>
                        <a:bodyPr/>
                        <a:lstStyle/>
                        <a:p>
                          <a:r>
                            <a:rPr lang="en-LK" sz="2000" dirty="0"/>
                            <a:t>Additive identity: </a:t>
                          </a:r>
                          <a14:m>
                            <m:oMath xmlns:m="http://schemas.openxmlformats.org/officeDocument/2006/math">
                              <m:r>
                                <a:rPr lang="en-LK" sz="2000" i="1" dirty="0" smtClean="0">
                                  <a:latin typeface="Cambria Math" panose="02040503050406030204" pitchFamily="18" charset="0"/>
                                </a:rPr>
                                <m:t>𝑎</m:t>
                              </m:r>
                              <m:r>
                                <a:rPr lang="en-LK" sz="2000" i="1" dirty="0" smtClean="0">
                                  <a:latin typeface="Cambria Math" panose="02040503050406030204" pitchFamily="18" charset="0"/>
                                </a:rPr>
                                <m:t>+0=</m:t>
                              </m:r>
                              <m:r>
                                <a:rPr lang="en-LK" sz="2000" i="1" dirty="0" smtClean="0">
                                  <a:latin typeface="Cambria Math" panose="02040503050406030204" pitchFamily="18" charset="0"/>
                                </a:rPr>
                                <m:t>𝑎</m:t>
                              </m:r>
                            </m:oMath>
                          </a14:m>
                          <a:r>
                            <a:rPr lang="en-LK" sz="20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K" sz="2000" dirty="0"/>
                            <a:t>Infinity is not a real number; it represents an unbounded quantity.</a:t>
                          </a:r>
                        </a:p>
                      </a:txBody>
                      <a:tcPr/>
                    </a:tc>
                    <a:extLst>
                      <a:ext uri="{0D108BD9-81ED-4DB2-BD59-A6C34878D82A}">
                        <a16:rowId xmlns:a16="http://schemas.microsoft.com/office/drawing/2014/main" val="23109690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K" sz="2000" dirty="0"/>
                            <a:t>Substraction:</a:t>
                          </a:r>
                          <a:r>
                            <a:rPr lang="en-LK" sz="2000" baseline="0" dirty="0"/>
                            <a:t> </a:t>
                          </a:r>
                          <a14:m>
                            <m:oMath xmlns:m="http://schemas.openxmlformats.org/officeDocument/2006/math">
                              <m:r>
                                <a:rPr lang="en-LK" sz="2000" i="1" dirty="0" smtClean="0">
                                  <a:latin typeface="Cambria Math" panose="02040503050406030204" pitchFamily="18" charset="0"/>
                                </a:rPr>
                                <m:t>𝑎</m:t>
                              </m:r>
                              <m:r>
                                <a:rPr lang="en-LK" sz="2000" i="1" dirty="0" smtClean="0">
                                  <a:latin typeface="Cambria Math" panose="02040503050406030204" pitchFamily="18" charset="0"/>
                                </a:rPr>
                                <m:t>−0=</m:t>
                              </m:r>
                              <m:r>
                                <a:rPr lang="en-LK" sz="2000" i="1" dirty="0" smtClean="0">
                                  <a:latin typeface="Cambria Math" panose="02040503050406030204" pitchFamily="18" charset="0"/>
                                </a:rPr>
                                <m:t>𝑎</m:t>
                              </m:r>
                              <m:r>
                                <a:rPr lang="en-US" sz="2000" b="0" i="1" dirty="0" smtClean="0">
                                  <a:latin typeface="Cambria Math" panose="02040503050406030204" pitchFamily="18" charset="0"/>
                                </a:rPr>
                                <m:t>.</m:t>
                              </m:r>
                            </m:oMath>
                          </a14:m>
                          <a:endParaRPr lang="en-LK"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LK" sz="2000" i="1" dirty="0" smtClean="0">
                                  <a:latin typeface="Cambria Math" panose="02040503050406030204" pitchFamily="18" charset="0"/>
                                </a:rPr>
                                <m:t>𝑎</m:t>
                              </m:r>
                              <m:r>
                                <a:rPr lang="en-LK" sz="2000" i="1" dirty="0" smtClean="0">
                                  <a:latin typeface="Cambria Math" panose="02040503050406030204" pitchFamily="18" charset="0"/>
                                </a:rPr>
                                <m:t>+∞=∞</m:t>
                              </m:r>
                            </m:oMath>
                          </a14:m>
                          <a:r>
                            <a:rPr lang="en-LK" sz="2000" dirty="0"/>
                            <a:t>.</a:t>
                          </a:r>
                        </a:p>
                      </a:txBody>
                      <a:tcPr/>
                    </a:tc>
                    <a:extLst>
                      <a:ext uri="{0D108BD9-81ED-4DB2-BD59-A6C34878D82A}">
                        <a16:rowId xmlns:a16="http://schemas.microsoft.com/office/drawing/2014/main" val="35909249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K" sz="2000" dirty="0"/>
                            <a:t>Multiplication: </a:t>
                          </a:r>
                          <a14:m>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×0=0.</m:t>
                              </m:r>
                            </m:oMath>
                          </a14:m>
                          <a:endParaRPr lang="en-US" sz="2000" b="0" dirty="0">
                            <a:ea typeface="Cambria Math"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LK" sz="2000" i="1" dirty="0" smtClean="0">
                                  <a:latin typeface="Cambria Math" panose="02040503050406030204" pitchFamily="18" charset="0"/>
                                </a:rPr>
                                <m:t>𝑎</m:t>
                              </m:r>
                              <m:r>
                                <a:rPr lang="en-US" sz="2000" i="1">
                                  <a:latin typeface="Cambria Math" panose="02040503050406030204" pitchFamily="18" charset="0"/>
                                  <a:ea typeface="Cambria Math" panose="02040503050406030204" pitchFamily="18" charset="0"/>
                                </a:rPr>
                                <m:t>×</m:t>
                              </m:r>
                              <m:r>
                                <a:rPr lang="en-LK" sz="2000" i="1" dirty="0" smtClean="0">
                                  <a:latin typeface="Cambria Math" panose="02040503050406030204" pitchFamily="18" charset="0"/>
                                </a:rPr>
                                <m:t>∞=∞</m:t>
                              </m:r>
                              <m:r>
                                <a:rPr lang="en-US" sz="2000" b="0" i="0" dirty="0" smtClean="0">
                                  <a:latin typeface="Cambria Math" panose="02040503050406030204" pitchFamily="18" charset="0"/>
                                </a:rPr>
                                <m:t>, </m:t>
                              </m:r>
                            </m:oMath>
                          </a14:m>
                          <a:r>
                            <a:rPr lang="en-LK" sz="2000" dirty="0"/>
                            <a:t> </a:t>
                          </a:r>
                          <a:r>
                            <a:rPr lang="en-GB" sz="2000" dirty="0"/>
                            <a:t>for </a:t>
                          </a:r>
                          <a14:m>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&gt;</m:t>
                              </m:r>
                              <m:r>
                                <a:rPr lang="en-US" sz="2000" b="0" i="1" smtClean="0">
                                  <a:latin typeface="Cambria Math" panose="02040503050406030204" pitchFamily="18" charset="0"/>
                                </a:rPr>
                                <m:t>𝑜</m:t>
                              </m:r>
                              <m:r>
                                <a:rPr lang="en-US" sz="2000" b="0" i="1" smtClean="0">
                                  <a:latin typeface="Cambria Math" panose="02040503050406030204" pitchFamily="18" charset="0"/>
                                </a:rPr>
                                <m:t>.</m:t>
                              </m:r>
                            </m:oMath>
                          </a14:m>
                          <a:endParaRPr lang="en-US" sz="2000" b="0" dirty="0"/>
                        </a:p>
                      </a:txBody>
                      <a:tcPr/>
                    </a:tc>
                    <a:extLst>
                      <a:ext uri="{0D108BD9-81ED-4DB2-BD59-A6C34878D82A}">
                        <a16:rowId xmlns:a16="http://schemas.microsoft.com/office/drawing/2014/main" val="32270772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K" sz="2000" dirty="0"/>
                            <a:t>Division by zero: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𝑎</m:t>
                                  </m:r>
                                </m:num>
                                <m:den>
                                  <m:r>
                                    <a:rPr lang="en-US" sz="2000" b="0" i="1" smtClean="0">
                                      <a:latin typeface="Cambria Math" panose="02040503050406030204" pitchFamily="18" charset="0"/>
                                    </a:rPr>
                                    <m:t>0</m:t>
                                  </m:r>
                                </m:den>
                              </m:f>
                              <m:r>
                                <a:rPr lang="en-US" sz="2000" b="0" i="1" smtClean="0">
                                  <a:latin typeface="Cambria Math" panose="02040503050406030204" pitchFamily="18" charset="0"/>
                                </a:rPr>
                                <m:t> </m:t>
                              </m:r>
                              <m:r>
                                <a:rPr lang="en-US" sz="2000" b="0" i="1" smtClean="0">
                                  <a:latin typeface="Cambria Math" panose="02040503050406030204" pitchFamily="18" charset="0"/>
                                </a:rPr>
                                <m:t>𝑖𝑠</m:t>
                              </m:r>
                              <m:r>
                                <a:rPr lang="en-US" sz="2000" b="0" i="1" smtClean="0">
                                  <a:latin typeface="Cambria Math" panose="02040503050406030204" pitchFamily="18" charset="0"/>
                                </a:rPr>
                                <m:t> </m:t>
                              </m:r>
                              <m:r>
                                <a:rPr lang="en-US" sz="2000" b="0" i="1" smtClean="0">
                                  <a:latin typeface="Cambria Math" panose="02040503050406030204" pitchFamily="18" charset="0"/>
                                </a:rPr>
                                <m:t>𝑢𝑛𝑑𝑖𝑓𝑖𝑛𝑒𝑑</m:t>
                              </m:r>
                              <m:r>
                                <a:rPr lang="en-US" sz="2000" b="0" i="1" smtClean="0">
                                  <a:latin typeface="Cambria Math" panose="02040503050406030204" pitchFamily="18" charset="0"/>
                                </a:rPr>
                                <m:t>.</m:t>
                              </m:r>
                            </m:oMath>
                          </a14:m>
                          <a:endParaRPr lang="en-US" sz="20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𝑎</m:t>
                                    </m:r>
                                  </m:num>
                                  <m:den>
                                    <m:r>
                                      <a:rPr lang="en-LK" sz="2000" i="1">
                                        <a:latin typeface="Cambria Math" panose="02040503050406030204" pitchFamily="18" charset="0"/>
                                        <a:ea typeface="Cambria Math" panose="02040503050406030204" pitchFamily="18" charset="0"/>
                                      </a:rPr>
                                      <m:t>∞</m:t>
                                    </m:r>
                                  </m:den>
                                </m:f>
                                <m:r>
                                  <a:rPr lang="en-US" sz="2000" b="0" i="1" smtClean="0">
                                    <a:latin typeface="Cambria Math" panose="02040503050406030204" pitchFamily="18" charset="0"/>
                                  </a:rPr>
                                  <m:t>=0.</m:t>
                                </m:r>
                              </m:oMath>
                            </m:oMathPara>
                          </a14:m>
                          <a:endParaRPr lang="en-US" sz="2000" b="0" dirty="0"/>
                        </a:p>
                      </a:txBody>
                      <a:tcPr/>
                    </a:tc>
                    <a:extLst>
                      <a:ext uri="{0D108BD9-81ED-4DB2-BD59-A6C34878D82A}">
                        <a16:rowId xmlns:a16="http://schemas.microsoft.com/office/drawing/2014/main" val="2432005604"/>
                      </a:ext>
                    </a:extLst>
                  </a:tr>
                  <a:tr h="370840">
                    <a:tc>
                      <a:txBody>
                        <a:bodyPr/>
                        <a:lstStyle/>
                        <a:p>
                          <a:r>
                            <a:rPr lang="en-LK" sz="2000" dirty="0"/>
                            <a:t>Zero divide by a Non-zero number: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m:t>
                                  </m:r>
                                </m:num>
                                <m:den>
                                  <m:r>
                                    <a:rPr lang="en-US" sz="2000" b="0" i="1" smtClean="0">
                                      <a:latin typeface="Cambria Math" panose="02040503050406030204" pitchFamily="18" charset="0"/>
                                    </a:rPr>
                                    <m:t>𝑎</m:t>
                                  </m:r>
                                </m:den>
                              </m:f>
                              <m:r>
                                <a:rPr lang="en-US" sz="2000" b="0" i="1" smtClean="0">
                                  <a:latin typeface="Cambria Math" panose="02040503050406030204" pitchFamily="18" charset="0"/>
                                </a:rPr>
                                <m:t>=0, </m:t>
                              </m:r>
                              <m:r>
                                <a:rPr lang="en-US" sz="2000" b="0" i="1" smtClean="0">
                                  <a:latin typeface="Cambria Math" panose="02040503050406030204" pitchFamily="18" charset="0"/>
                                </a:rPr>
                                <m:t>𝑤ℎ𝑒𝑟𝑒</m:t>
                              </m:r>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≠0</m:t>
                              </m:r>
                            </m:oMath>
                          </a14:m>
                          <a:r>
                            <a:rPr lang="en-LK" sz="2000" dirty="0"/>
                            <a:t>.</a:t>
                          </a:r>
                        </a:p>
                      </a:txBody>
                      <a:tcPr/>
                    </a:tc>
                    <a:tc>
                      <a:txBody>
                        <a:bodyPr/>
                        <a:lstStyle/>
                        <a:p>
                          <a14:m>
                            <m:oMath xmlns:m="http://schemas.openxmlformats.org/officeDocument/2006/math">
                              <m:f>
                                <m:fPr>
                                  <m:ctrlPr>
                                    <a:rPr lang="en-LK" sz="2000" i="1">
                                      <a:latin typeface="Cambria Math" panose="02040503050406030204" pitchFamily="18" charset="0"/>
                                      <a:ea typeface="Cambria Math" panose="02040503050406030204" pitchFamily="18" charset="0"/>
                                    </a:rPr>
                                  </m:ctrlPr>
                                </m:fPr>
                                <m:num>
                                  <m:r>
                                    <a:rPr lang="en-LK" sz="2000" i="1">
                                      <a:latin typeface="Cambria Math" panose="02040503050406030204" pitchFamily="18" charset="0"/>
                                      <a:ea typeface="Cambria Math" panose="02040503050406030204" pitchFamily="18" charset="0"/>
                                    </a:rPr>
                                    <m:t>∞</m:t>
                                  </m:r>
                                </m:num>
                                <m:den>
                                  <m:r>
                                    <a:rPr lang="en-US" sz="2000" b="0" i="1" smtClean="0">
                                      <a:latin typeface="Cambria Math" panose="02040503050406030204" pitchFamily="18" charset="0"/>
                                    </a:rPr>
                                    <m:t>𝑎</m:t>
                                  </m:r>
                                </m:den>
                              </m:f>
                              <m:r>
                                <a:rPr lang="en-US" sz="2000" b="0" i="1" smtClean="0">
                                  <a:latin typeface="Cambria Math" panose="02040503050406030204" pitchFamily="18" charset="0"/>
                                </a:rPr>
                                <m:t>=</m:t>
                              </m:r>
                              <m:r>
                                <a:rPr lang="en-LK" sz="2000" i="1" dirty="0" smtClean="0">
                                  <a:latin typeface="Cambria Math" panose="02040503050406030204" pitchFamily="18" charset="0"/>
                                </a:rPr>
                                <m:t>∞</m:t>
                              </m:r>
                              <m:r>
                                <a:rPr lang="en-US" sz="2000" b="0" i="1" smtClean="0">
                                  <a:latin typeface="Cambria Math" panose="02040503050406030204" pitchFamily="18" charset="0"/>
                                </a:rPr>
                                <m:t>,</m:t>
                              </m:r>
                            </m:oMath>
                          </a14:m>
                          <a:r>
                            <a:rPr lang="en-LK" sz="2000" dirty="0"/>
                            <a:t> </a:t>
                          </a:r>
                          <a:r>
                            <a:rPr lang="en-GB" sz="2000" dirty="0"/>
                            <a:t>for </a:t>
                          </a:r>
                          <a14:m>
                            <m:oMath xmlns:m="http://schemas.openxmlformats.org/officeDocument/2006/math">
                              <m:r>
                                <a:rPr lang="en-US" sz="2000" i="1">
                                  <a:latin typeface="Cambria Math" panose="02040503050406030204" pitchFamily="18" charset="0"/>
                                </a:rPr>
                                <m:t>𝑎</m:t>
                              </m:r>
                              <m:r>
                                <a:rPr lang="en-US" sz="2000" i="1">
                                  <a:latin typeface="Cambria Math" panose="02040503050406030204" pitchFamily="18" charset="0"/>
                                </a:rPr>
                                <m:t>&gt;</m:t>
                              </m:r>
                              <m:r>
                                <a:rPr lang="en-US" sz="2000" i="1">
                                  <a:latin typeface="Cambria Math" panose="02040503050406030204" pitchFamily="18" charset="0"/>
                                </a:rPr>
                                <m:t>𝑜</m:t>
                              </m:r>
                              <m:r>
                                <a:rPr lang="en-US" sz="2000" i="1">
                                  <a:latin typeface="Cambria Math" panose="02040503050406030204" pitchFamily="18" charset="0"/>
                                </a:rPr>
                                <m:t>.</m:t>
                              </m:r>
                            </m:oMath>
                          </a14:m>
                          <a:endParaRPr lang="en-LK" sz="2000" dirty="0"/>
                        </a:p>
                      </a:txBody>
                      <a:tcPr/>
                    </a:tc>
                    <a:extLst>
                      <a:ext uri="{0D108BD9-81ED-4DB2-BD59-A6C34878D82A}">
                        <a16:rowId xmlns:a16="http://schemas.microsoft.com/office/drawing/2014/main" val="5478719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t>Zero to a positive power: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0</m:t>
                                  </m:r>
                                </m:e>
                                <m:sup>
                                  <m:r>
                                    <a:rPr lang="en-US" sz="2000" b="0" i="1" smtClean="0">
                                      <a:latin typeface="Cambria Math" panose="02040503050406030204" pitchFamily="18" charset="0"/>
                                    </a:rPr>
                                    <m:t>𝑛</m:t>
                                  </m:r>
                                </m:sup>
                              </m:sSup>
                              <m:r>
                                <a:rPr lang="en-US" sz="2000" b="0" i="1" smtClean="0">
                                  <a:latin typeface="Cambria Math" panose="02040503050406030204" pitchFamily="18" charset="0"/>
                                </a:rPr>
                                <m:t>=0 </m:t>
                              </m:r>
                            </m:oMath>
                          </a14:m>
                          <a:r>
                            <a:rPr lang="en-LK" sz="2000" dirty="0"/>
                            <a:t>for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&gt;0.</m:t>
                              </m:r>
                            </m:oMath>
                          </a14:m>
                          <a:endParaRPr lang="en-US" sz="20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LK" sz="2000" i="1" dirty="0" smtClean="0">
                                  <a:latin typeface="Cambria Math" panose="02040503050406030204" pitchFamily="18" charset="0"/>
                                </a:rPr>
                                <m:t>∞</m:t>
                              </m:r>
                            </m:oMath>
                          </a14:m>
                          <a:r>
                            <a:rPr lang="en-US" sz="2000" dirty="0"/>
                            <a:t>+</a:t>
                          </a:r>
                          <a:r>
                            <a:rPr lang="en-LK" sz="2000" dirty="0"/>
                            <a:t> </a:t>
                          </a:r>
                          <a14:m>
                            <m:oMath xmlns:m="http://schemas.openxmlformats.org/officeDocument/2006/math">
                              <m:r>
                                <a:rPr lang="en-LK" sz="2000" i="1" dirty="0">
                                  <a:latin typeface="Cambria Math" panose="02040503050406030204" pitchFamily="18" charset="0"/>
                                </a:rPr>
                                <m:t>∞</m:t>
                              </m:r>
                            </m:oMath>
                          </a14:m>
                          <a:r>
                            <a:rPr lang="en-US" sz="2000" dirty="0"/>
                            <a:t>=</a:t>
                          </a:r>
                          <a:r>
                            <a:rPr lang="en-LK" sz="2000" dirty="0"/>
                            <a:t> </a:t>
                          </a:r>
                          <a14:m>
                            <m:oMath xmlns:m="http://schemas.openxmlformats.org/officeDocument/2006/math">
                              <m:r>
                                <a:rPr lang="en-LK" sz="2000" i="1" dirty="0">
                                  <a:latin typeface="Cambria Math" panose="02040503050406030204" pitchFamily="18" charset="0"/>
                                </a:rPr>
                                <m:t>∞</m:t>
                              </m:r>
                            </m:oMath>
                          </a14:m>
                          <a:r>
                            <a:rPr lang="en-US" sz="2000" dirty="0"/>
                            <a:t>.</a:t>
                          </a:r>
                        </a:p>
                      </a:txBody>
                      <a:tcPr/>
                    </a:tc>
                    <a:extLst>
                      <a:ext uri="{0D108BD9-81ED-4DB2-BD59-A6C34878D82A}">
                        <a16:rowId xmlns:a16="http://schemas.microsoft.com/office/drawing/2014/main" val="3389469143"/>
                      </a:ext>
                    </a:extLst>
                  </a:tr>
                  <a:tr h="370840">
                    <a:tc>
                      <a:txBody>
                        <a:bodyPr/>
                        <a:lstStyle/>
                        <a:p>
                          <a:endParaRPr lang="en-LK" sz="2000" dirty="0"/>
                        </a:p>
                      </a:txBody>
                      <a:tcPr/>
                    </a:tc>
                    <a:tc>
                      <a:txBody>
                        <a:bodyPr/>
                        <a:lstStyle/>
                        <a:p>
                          <a14:m>
                            <m:oMath xmlns:m="http://schemas.openxmlformats.org/officeDocument/2006/math">
                              <m:r>
                                <a:rPr lang="en-LK" sz="2000" i="1" dirty="0" smtClean="0">
                                  <a:latin typeface="Cambria Math" panose="02040503050406030204" pitchFamily="18" charset="0"/>
                                </a:rPr>
                                <m:t>∞</m:t>
                              </m:r>
                            </m:oMath>
                          </a14:m>
                          <a:r>
                            <a:rPr lang="en-US" sz="2000" dirty="0"/>
                            <a:t>-</a:t>
                          </a:r>
                          <a:r>
                            <a:rPr lang="en-LK" sz="2000" dirty="0"/>
                            <a:t> </a:t>
                          </a:r>
                          <a14:m>
                            <m:oMath xmlns:m="http://schemas.openxmlformats.org/officeDocument/2006/math">
                              <m:r>
                                <a:rPr lang="en-LK" sz="2000" i="1" dirty="0">
                                  <a:latin typeface="Cambria Math" panose="02040503050406030204" pitchFamily="18" charset="0"/>
                                </a:rPr>
                                <m:t>∞</m:t>
                              </m:r>
                            </m:oMath>
                          </a14:m>
                          <a:r>
                            <a:rPr lang="en-US" sz="2000" dirty="0"/>
                            <a:t> is indeterminate.</a:t>
                          </a:r>
                          <a:endParaRPr lang="en-LK" sz="2000" dirty="0"/>
                        </a:p>
                      </a:txBody>
                      <a:tcPr/>
                    </a:tc>
                    <a:extLst>
                      <a:ext uri="{0D108BD9-81ED-4DB2-BD59-A6C34878D82A}">
                        <a16:rowId xmlns:a16="http://schemas.microsoft.com/office/drawing/2014/main" val="525270130"/>
                      </a:ext>
                    </a:extLst>
                  </a:tr>
                  <a:tr h="370840">
                    <a:tc>
                      <a:txBody>
                        <a:bodyPr/>
                        <a:lstStyle/>
                        <a:p>
                          <a:endParaRPr lang="en-LK" sz="2000" dirty="0"/>
                        </a:p>
                      </a:txBody>
                      <a:tcPr/>
                    </a:tc>
                    <a:tc>
                      <a:txBody>
                        <a:bodyPr/>
                        <a:lstStyle/>
                        <a:p>
                          <a14:m>
                            <m:oMath xmlns:m="http://schemas.openxmlformats.org/officeDocument/2006/math">
                              <m:f>
                                <m:fPr>
                                  <m:ctrlPr>
                                    <a:rPr lang="en-LK" sz="2000" i="1">
                                      <a:latin typeface="Cambria Math" panose="02040503050406030204" pitchFamily="18" charset="0"/>
                                      <a:ea typeface="Cambria Math" panose="02040503050406030204" pitchFamily="18" charset="0"/>
                                    </a:rPr>
                                  </m:ctrlPr>
                                </m:fPr>
                                <m:num>
                                  <m:r>
                                    <a:rPr lang="en-LK" sz="2000" i="1">
                                      <a:latin typeface="Cambria Math" panose="02040503050406030204" pitchFamily="18" charset="0"/>
                                      <a:ea typeface="Cambria Math" panose="02040503050406030204" pitchFamily="18" charset="0"/>
                                    </a:rPr>
                                    <m:t>∞</m:t>
                                  </m:r>
                                </m:num>
                                <m:den>
                                  <m:r>
                                    <a:rPr lang="en-LK" sz="2000" i="1">
                                      <a:latin typeface="Cambria Math" panose="02040503050406030204" pitchFamily="18" charset="0"/>
                                      <a:ea typeface="Cambria Math" panose="02040503050406030204" pitchFamily="18" charset="0"/>
                                    </a:rPr>
                                    <m:t>∞</m:t>
                                  </m:r>
                                </m:den>
                              </m:f>
                            </m:oMath>
                          </a14:m>
                          <a:r>
                            <a:rPr lang="en-US" sz="2000" dirty="0"/>
                            <a:t>  is indeterminate.</a:t>
                          </a:r>
                          <a:endParaRPr lang="en-LK" sz="2000" dirty="0"/>
                        </a:p>
                      </a:txBody>
                      <a:tcPr/>
                    </a:tc>
                    <a:extLst>
                      <a:ext uri="{0D108BD9-81ED-4DB2-BD59-A6C34878D82A}">
                        <a16:rowId xmlns:a16="http://schemas.microsoft.com/office/drawing/2014/main" val="1030343748"/>
                      </a:ext>
                    </a:extLst>
                  </a:tr>
                  <a:tr h="370840">
                    <a:tc>
                      <a:txBody>
                        <a:bodyPr/>
                        <a:lstStyle/>
                        <a:p>
                          <a:endParaRPr lang="en-LK" sz="2000"/>
                        </a:p>
                      </a:txBody>
                      <a:tcPr/>
                    </a:tc>
                    <a:tc>
                      <a:txBody>
                        <a:bodyPr/>
                        <a:lstStyle/>
                        <a:p>
                          <a14:m>
                            <m:oMath xmlns:m="http://schemas.openxmlformats.org/officeDocument/2006/math">
                              <m:r>
                                <a:rPr lang="en-US" sz="2000" b="0" i="1" smtClean="0">
                                  <a:latin typeface="Cambria Math" panose="02040503050406030204" pitchFamily="18" charset="0"/>
                                  <a:ea typeface="Cambria Math" panose="02040503050406030204" pitchFamily="18" charset="0"/>
                                </a:rPr>
                                <m:t>0</m:t>
                              </m:r>
                              <m:r>
                                <a:rPr lang="en-US" sz="2000" i="1">
                                  <a:latin typeface="Cambria Math" panose="02040503050406030204" pitchFamily="18" charset="0"/>
                                  <a:ea typeface="Cambria Math" panose="02040503050406030204" pitchFamily="18" charset="0"/>
                                </a:rPr>
                                <m:t>× </m:t>
                              </m:r>
                              <m:r>
                                <a:rPr lang="en-LK" sz="2000" i="1" dirty="0" smtClean="0">
                                  <a:latin typeface="Cambria Math" panose="02040503050406030204" pitchFamily="18" charset="0"/>
                                </a:rPr>
                                <m:t>∞</m:t>
                              </m:r>
                              <m:r>
                                <a:rPr lang="en-US" sz="2000" b="0" i="1" dirty="0" smtClean="0">
                                  <a:latin typeface="Cambria Math" panose="02040503050406030204" pitchFamily="18" charset="0"/>
                                </a:rPr>
                                <m:t> </m:t>
                              </m:r>
                            </m:oMath>
                          </a14:m>
                          <a:r>
                            <a:rPr lang="en-US" sz="2000" dirty="0"/>
                            <a:t>is indeterminate.</a:t>
                          </a:r>
                          <a:endParaRPr lang="en-LK" sz="2000" dirty="0"/>
                        </a:p>
                      </a:txBody>
                      <a:tcPr/>
                    </a:tc>
                    <a:extLst>
                      <a:ext uri="{0D108BD9-81ED-4DB2-BD59-A6C34878D82A}">
                        <a16:rowId xmlns:a16="http://schemas.microsoft.com/office/drawing/2014/main" val="2633439198"/>
                      </a:ext>
                    </a:extLst>
                  </a:tr>
                  <a:tr h="370840">
                    <a:tc>
                      <a:txBody>
                        <a:bodyPr/>
                        <a:lstStyle/>
                        <a:p>
                          <a:endParaRPr lang="en-LK" sz="2000" dirty="0"/>
                        </a:p>
                      </a:txBody>
                      <a:tcPr/>
                    </a:tc>
                    <a:tc>
                      <a:txBody>
                        <a:bodyPr/>
                        <a:lstStyle/>
                        <a:p>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m:t>
                                  </m:r>
                                </m:num>
                                <m:den>
                                  <m:r>
                                    <a:rPr lang="en-US" sz="2000" b="0" i="1" smtClean="0">
                                      <a:latin typeface="Cambria Math" panose="02040503050406030204" pitchFamily="18" charset="0"/>
                                      <a:ea typeface="Cambria Math" panose="02040503050406030204" pitchFamily="18" charset="0"/>
                                    </a:rPr>
                                    <m:t>0</m:t>
                                  </m:r>
                                </m:den>
                              </m:f>
                            </m:oMath>
                          </a14:m>
                          <a:r>
                            <a:rPr lang="en-US" sz="2000" dirty="0"/>
                            <a:t> is indeterminate.</a:t>
                          </a:r>
                          <a:endParaRPr lang="en-LK" sz="2000" dirty="0"/>
                        </a:p>
                      </a:txBody>
                      <a:tcPr/>
                    </a:tc>
                    <a:extLst>
                      <a:ext uri="{0D108BD9-81ED-4DB2-BD59-A6C34878D82A}">
                        <a16:rowId xmlns:a16="http://schemas.microsoft.com/office/drawing/2014/main" val="1539147053"/>
                      </a:ext>
                    </a:extLst>
                  </a:tr>
                </a:tbl>
              </a:graphicData>
            </a:graphic>
          </p:graphicFrame>
        </mc:Choice>
        <mc:Fallback>
          <p:graphicFrame>
            <p:nvGraphicFramePr>
              <p:cNvPr id="5" name="Table 5">
                <a:extLst>
                  <a:ext uri="{FF2B5EF4-FFF2-40B4-BE49-F238E27FC236}">
                    <a16:creationId xmlns:a16="http://schemas.microsoft.com/office/drawing/2014/main" id="{238CDD02-D39A-ED3E-0E08-39DF1E2CA99F}"/>
                  </a:ext>
                </a:extLst>
              </p:cNvPr>
              <p:cNvGraphicFramePr>
                <a:graphicFrameLocks noGrp="1"/>
              </p:cNvGraphicFramePr>
              <p:nvPr>
                <p:extLst>
                  <p:ext uri="{D42A27DB-BD31-4B8C-83A1-F6EECF244321}">
                    <p14:modId xmlns:p14="http://schemas.microsoft.com/office/powerpoint/2010/main" val="1485565661"/>
                  </p:ext>
                </p:extLst>
              </p:nvPr>
            </p:nvGraphicFramePr>
            <p:xfrm>
              <a:off x="838200" y="1139285"/>
              <a:ext cx="10824148" cy="5539868"/>
            </p:xfrm>
            <a:graphic>
              <a:graphicData uri="http://schemas.openxmlformats.org/drawingml/2006/table">
                <a:tbl>
                  <a:tblPr firstRow="1" bandRow="1">
                    <a:tableStyleId>{5C22544A-7EE6-4342-B048-85BDC9FD1C3A}</a:tableStyleId>
                  </a:tblPr>
                  <a:tblGrid>
                    <a:gridCol w="5637551">
                      <a:extLst>
                        <a:ext uri="{9D8B030D-6E8A-4147-A177-3AD203B41FA5}">
                          <a16:colId xmlns:a16="http://schemas.microsoft.com/office/drawing/2014/main" val="1557901765"/>
                        </a:ext>
                      </a:extLst>
                    </a:gridCol>
                    <a:gridCol w="5186597">
                      <a:extLst>
                        <a:ext uri="{9D8B030D-6E8A-4147-A177-3AD203B41FA5}">
                          <a16:colId xmlns:a16="http://schemas.microsoft.com/office/drawing/2014/main" val="3077353933"/>
                        </a:ext>
                      </a:extLst>
                    </a:gridCol>
                  </a:tblGrid>
                  <a:tr h="396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K" sz="2000" u="sng" dirty="0"/>
                            <a:t>Properties of zero (0)</a:t>
                          </a:r>
                        </a:p>
                      </a:txBody>
                      <a:tcPr/>
                    </a:tc>
                    <a:tc>
                      <a:txBody>
                        <a:bodyPr/>
                        <a:lstStyle/>
                        <a:p>
                          <a:endParaRPr lang="en-US"/>
                        </a:p>
                      </a:txBody>
                      <a:tcPr>
                        <a:blipFill>
                          <a:blip r:embed="rId3"/>
                          <a:stretch>
                            <a:fillRect l="-108931" t="-7692" r="-470" b="-1313846"/>
                          </a:stretch>
                        </a:blipFill>
                      </a:tcPr>
                    </a:tc>
                    <a:extLst>
                      <a:ext uri="{0D108BD9-81ED-4DB2-BD59-A6C34878D82A}">
                        <a16:rowId xmlns:a16="http://schemas.microsoft.com/office/drawing/2014/main" val="1622770039"/>
                      </a:ext>
                    </a:extLst>
                  </a:tr>
                  <a:tr h="701040">
                    <a:tc>
                      <a:txBody>
                        <a:bodyPr/>
                        <a:lstStyle/>
                        <a:p>
                          <a:endParaRPr lang="en-US"/>
                        </a:p>
                      </a:txBody>
                      <a:tcPr>
                        <a:blipFill>
                          <a:blip r:embed="rId3"/>
                          <a:stretch>
                            <a:fillRect l="-108" t="-60870" r="-92333" b="-64260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K" sz="2000" dirty="0"/>
                            <a:t>Infinity is not a real number; it represents an unbounded quantity.</a:t>
                          </a:r>
                        </a:p>
                      </a:txBody>
                      <a:tcPr/>
                    </a:tc>
                    <a:extLst>
                      <a:ext uri="{0D108BD9-81ED-4DB2-BD59-A6C34878D82A}">
                        <a16:rowId xmlns:a16="http://schemas.microsoft.com/office/drawing/2014/main" val="2310969050"/>
                      </a:ext>
                    </a:extLst>
                  </a:tr>
                  <a:tr h="396240">
                    <a:tc>
                      <a:txBody>
                        <a:bodyPr/>
                        <a:lstStyle/>
                        <a:p>
                          <a:endParaRPr lang="en-US"/>
                        </a:p>
                      </a:txBody>
                      <a:tcPr>
                        <a:blipFill>
                          <a:blip r:embed="rId3"/>
                          <a:stretch>
                            <a:fillRect l="-108" t="-284615" r="-92333" b="-1036923"/>
                          </a:stretch>
                        </a:blipFill>
                      </a:tcPr>
                    </a:tc>
                    <a:tc>
                      <a:txBody>
                        <a:bodyPr/>
                        <a:lstStyle/>
                        <a:p>
                          <a:endParaRPr lang="en-US"/>
                        </a:p>
                      </a:txBody>
                      <a:tcPr>
                        <a:blipFill>
                          <a:blip r:embed="rId3"/>
                          <a:stretch>
                            <a:fillRect l="-108931" t="-284615" r="-470" b="-1036923"/>
                          </a:stretch>
                        </a:blipFill>
                      </a:tcPr>
                    </a:tc>
                    <a:extLst>
                      <a:ext uri="{0D108BD9-81ED-4DB2-BD59-A6C34878D82A}">
                        <a16:rowId xmlns:a16="http://schemas.microsoft.com/office/drawing/2014/main" val="3590924982"/>
                      </a:ext>
                    </a:extLst>
                  </a:tr>
                  <a:tr h="396240">
                    <a:tc>
                      <a:txBody>
                        <a:bodyPr/>
                        <a:lstStyle/>
                        <a:p>
                          <a:endParaRPr lang="en-US"/>
                        </a:p>
                      </a:txBody>
                      <a:tcPr>
                        <a:blipFill>
                          <a:blip r:embed="rId3"/>
                          <a:stretch>
                            <a:fillRect l="-108" t="-384615" r="-92333" b="-936923"/>
                          </a:stretch>
                        </a:blipFill>
                      </a:tcPr>
                    </a:tc>
                    <a:tc>
                      <a:txBody>
                        <a:bodyPr/>
                        <a:lstStyle/>
                        <a:p>
                          <a:endParaRPr lang="en-US"/>
                        </a:p>
                      </a:txBody>
                      <a:tcPr>
                        <a:blipFill>
                          <a:blip r:embed="rId3"/>
                          <a:stretch>
                            <a:fillRect l="-108931" t="-384615" r="-470" b="-936923"/>
                          </a:stretch>
                        </a:blipFill>
                      </a:tcPr>
                    </a:tc>
                    <a:extLst>
                      <a:ext uri="{0D108BD9-81ED-4DB2-BD59-A6C34878D82A}">
                        <a16:rowId xmlns:a16="http://schemas.microsoft.com/office/drawing/2014/main" val="3227077246"/>
                      </a:ext>
                    </a:extLst>
                  </a:tr>
                  <a:tr h="611442">
                    <a:tc>
                      <a:txBody>
                        <a:bodyPr/>
                        <a:lstStyle/>
                        <a:p>
                          <a:endParaRPr lang="en-US"/>
                        </a:p>
                      </a:txBody>
                      <a:tcPr>
                        <a:blipFill>
                          <a:blip r:embed="rId3"/>
                          <a:stretch>
                            <a:fillRect l="-108" t="-311881" r="-92333" b="-502970"/>
                          </a:stretch>
                        </a:blipFill>
                      </a:tcPr>
                    </a:tc>
                    <a:tc>
                      <a:txBody>
                        <a:bodyPr/>
                        <a:lstStyle/>
                        <a:p>
                          <a:endParaRPr lang="en-US"/>
                        </a:p>
                      </a:txBody>
                      <a:tcPr>
                        <a:blipFill>
                          <a:blip r:embed="rId3"/>
                          <a:stretch>
                            <a:fillRect l="-108931" t="-311881" r="-470" b="-502970"/>
                          </a:stretch>
                        </a:blipFill>
                      </a:tcPr>
                    </a:tc>
                    <a:extLst>
                      <a:ext uri="{0D108BD9-81ED-4DB2-BD59-A6C34878D82A}">
                        <a16:rowId xmlns:a16="http://schemas.microsoft.com/office/drawing/2014/main" val="2432005604"/>
                      </a:ext>
                    </a:extLst>
                  </a:tr>
                  <a:tr h="828866">
                    <a:tc>
                      <a:txBody>
                        <a:bodyPr/>
                        <a:lstStyle/>
                        <a:p>
                          <a:endParaRPr lang="en-US"/>
                        </a:p>
                      </a:txBody>
                      <a:tcPr>
                        <a:blipFill>
                          <a:blip r:embed="rId3"/>
                          <a:stretch>
                            <a:fillRect l="-108" t="-305882" r="-92333" b="-273529"/>
                          </a:stretch>
                        </a:blipFill>
                      </a:tcPr>
                    </a:tc>
                    <a:tc>
                      <a:txBody>
                        <a:bodyPr/>
                        <a:lstStyle/>
                        <a:p>
                          <a:endParaRPr lang="en-US"/>
                        </a:p>
                      </a:txBody>
                      <a:tcPr>
                        <a:blipFill>
                          <a:blip r:embed="rId3"/>
                          <a:stretch>
                            <a:fillRect l="-108931" t="-305882" r="-470" b="-273529"/>
                          </a:stretch>
                        </a:blipFill>
                      </a:tcPr>
                    </a:tc>
                    <a:extLst>
                      <a:ext uri="{0D108BD9-81ED-4DB2-BD59-A6C34878D82A}">
                        <a16:rowId xmlns:a16="http://schemas.microsoft.com/office/drawing/2014/main" val="547871924"/>
                      </a:ext>
                    </a:extLst>
                  </a:tr>
                  <a:tr h="396240">
                    <a:tc>
                      <a:txBody>
                        <a:bodyPr/>
                        <a:lstStyle/>
                        <a:p>
                          <a:endParaRPr lang="en-US"/>
                        </a:p>
                      </a:txBody>
                      <a:tcPr>
                        <a:blipFill>
                          <a:blip r:embed="rId3"/>
                          <a:stretch>
                            <a:fillRect l="-108" t="-849231" r="-92333" b="-472308"/>
                          </a:stretch>
                        </a:blipFill>
                      </a:tcPr>
                    </a:tc>
                    <a:tc>
                      <a:txBody>
                        <a:bodyPr/>
                        <a:lstStyle/>
                        <a:p>
                          <a:endParaRPr lang="en-US"/>
                        </a:p>
                      </a:txBody>
                      <a:tcPr>
                        <a:blipFill>
                          <a:blip r:embed="rId3"/>
                          <a:stretch>
                            <a:fillRect l="-108931" t="-849231" r="-470" b="-472308"/>
                          </a:stretch>
                        </a:blipFill>
                      </a:tcPr>
                    </a:tc>
                    <a:extLst>
                      <a:ext uri="{0D108BD9-81ED-4DB2-BD59-A6C34878D82A}">
                        <a16:rowId xmlns:a16="http://schemas.microsoft.com/office/drawing/2014/main" val="3389469143"/>
                      </a:ext>
                    </a:extLst>
                  </a:tr>
                  <a:tr h="396240">
                    <a:tc>
                      <a:txBody>
                        <a:bodyPr/>
                        <a:lstStyle/>
                        <a:p>
                          <a:endParaRPr lang="en-LK" sz="2000" dirty="0"/>
                        </a:p>
                      </a:txBody>
                      <a:tcPr/>
                    </a:tc>
                    <a:tc>
                      <a:txBody>
                        <a:bodyPr/>
                        <a:lstStyle/>
                        <a:p>
                          <a:endParaRPr lang="en-US"/>
                        </a:p>
                      </a:txBody>
                      <a:tcPr>
                        <a:blipFill>
                          <a:blip r:embed="rId3"/>
                          <a:stretch>
                            <a:fillRect l="-108931" t="-949231" r="-470" b="-372308"/>
                          </a:stretch>
                        </a:blipFill>
                      </a:tcPr>
                    </a:tc>
                    <a:extLst>
                      <a:ext uri="{0D108BD9-81ED-4DB2-BD59-A6C34878D82A}">
                        <a16:rowId xmlns:a16="http://schemas.microsoft.com/office/drawing/2014/main" val="525270130"/>
                      </a:ext>
                    </a:extLst>
                  </a:tr>
                  <a:tr h="496697">
                    <a:tc>
                      <a:txBody>
                        <a:bodyPr/>
                        <a:lstStyle/>
                        <a:p>
                          <a:endParaRPr lang="en-LK" sz="2000" dirty="0"/>
                        </a:p>
                      </a:txBody>
                      <a:tcPr/>
                    </a:tc>
                    <a:tc>
                      <a:txBody>
                        <a:bodyPr/>
                        <a:lstStyle/>
                        <a:p>
                          <a:endParaRPr lang="en-US"/>
                        </a:p>
                      </a:txBody>
                      <a:tcPr>
                        <a:blipFill>
                          <a:blip r:embed="rId3"/>
                          <a:stretch>
                            <a:fillRect l="-108931" t="-831707" r="-470" b="-195122"/>
                          </a:stretch>
                        </a:blipFill>
                      </a:tcPr>
                    </a:tc>
                    <a:extLst>
                      <a:ext uri="{0D108BD9-81ED-4DB2-BD59-A6C34878D82A}">
                        <a16:rowId xmlns:a16="http://schemas.microsoft.com/office/drawing/2014/main" val="1030343748"/>
                      </a:ext>
                    </a:extLst>
                  </a:tr>
                  <a:tr h="396240">
                    <a:tc>
                      <a:txBody>
                        <a:bodyPr/>
                        <a:lstStyle/>
                        <a:p>
                          <a:endParaRPr lang="en-LK" sz="2000"/>
                        </a:p>
                      </a:txBody>
                      <a:tcPr/>
                    </a:tc>
                    <a:tc>
                      <a:txBody>
                        <a:bodyPr/>
                        <a:lstStyle/>
                        <a:p>
                          <a:endParaRPr lang="en-US"/>
                        </a:p>
                      </a:txBody>
                      <a:tcPr>
                        <a:blipFill>
                          <a:blip r:embed="rId3"/>
                          <a:stretch>
                            <a:fillRect l="-108931" t="-1175385" r="-470" b="-146154"/>
                          </a:stretch>
                        </a:blipFill>
                      </a:tcPr>
                    </a:tc>
                    <a:extLst>
                      <a:ext uri="{0D108BD9-81ED-4DB2-BD59-A6C34878D82A}">
                        <a16:rowId xmlns:a16="http://schemas.microsoft.com/office/drawing/2014/main" val="2633439198"/>
                      </a:ext>
                    </a:extLst>
                  </a:tr>
                  <a:tr h="524383">
                    <a:tc>
                      <a:txBody>
                        <a:bodyPr/>
                        <a:lstStyle/>
                        <a:p>
                          <a:endParaRPr lang="en-LK" sz="2000" dirty="0"/>
                        </a:p>
                      </a:txBody>
                      <a:tcPr/>
                    </a:tc>
                    <a:tc>
                      <a:txBody>
                        <a:bodyPr/>
                        <a:lstStyle/>
                        <a:p>
                          <a:endParaRPr lang="en-US"/>
                        </a:p>
                      </a:txBody>
                      <a:tcPr>
                        <a:blipFill>
                          <a:blip r:embed="rId3"/>
                          <a:stretch>
                            <a:fillRect l="-108931" t="-963953" r="-470" b="-10465"/>
                          </a:stretch>
                        </a:blipFill>
                      </a:tcPr>
                    </a:tc>
                    <a:extLst>
                      <a:ext uri="{0D108BD9-81ED-4DB2-BD59-A6C34878D82A}">
                        <a16:rowId xmlns:a16="http://schemas.microsoft.com/office/drawing/2014/main" val="1539147053"/>
                      </a:ext>
                    </a:extLst>
                  </a:tr>
                </a:tbl>
              </a:graphicData>
            </a:graphic>
          </p:graphicFrame>
        </mc:Fallback>
      </mc:AlternateContent>
    </p:spTree>
    <p:extLst>
      <p:ext uri="{BB962C8B-B14F-4D97-AF65-F5344CB8AC3E}">
        <p14:creationId xmlns:p14="http://schemas.microsoft.com/office/powerpoint/2010/main" val="32853082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D3889-1B20-ADAB-C3B2-AB876700C394}"/>
              </a:ext>
            </a:extLst>
          </p:cNvPr>
          <p:cNvSpPr>
            <a:spLocks noGrp="1"/>
          </p:cNvSpPr>
          <p:nvPr>
            <p:ph type="title"/>
          </p:nvPr>
        </p:nvSpPr>
        <p:spPr>
          <a:xfrm>
            <a:off x="838200" y="2123788"/>
            <a:ext cx="10515600" cy="1325563"/>
          </a:xfrm>
        </p:spPr>
        <p:txBody>
          <a:bodyPr/>
          <a:lstStyle/>
          <a:p>
            <a:r>
              <a:rPr lang="en-LK" dirty="0"/>
              <a:t>Thank You</a:t>
            </a:r>
          </a:p>
        </p:txBody>
      </p:sp>
      <p:sp>
        <p:nvSpPr>
          <p:cNvPr id="3" name="Footer Placeholder 2">
            <a:extLst>
              <a:ext uri="{FF2B5EF4-FFF2-40B4-BE49-F238E27FC236}">
                <a16:creationId xmlns:a16="http://schemas.microsoft.com/office/drawing/2014/main" id="{217E2699-B880-61D6-B83C-9ED1BF164D99}"/>
              </a:ext>
            </a:extLst>
          </p:cNvPr>
          <p:cNvSpPr>
            <a:spLocks noGrp="1"/>
          </p:cNvSpPr>
          <p:nvPr>
            <p:ph type="ftr" sz="quarter" idx="11"/>
          </p:nvPr>
        </p:nvSpPr>
        <p:spPr/>
        <p:txBody>
          <a:bodyPr/>
          <a:lstStyle/>
          <a:p>
            <a:r>
              <a:rPr lang="en-GB"/>
              <a:t>TMS1173</a:t>
            </a:r>
          </a:p>
        </p:txBody>
      </p:sp>
      <p:sp>
        <p:nvSpPr>
          <p:cNvPr id="4" name="Slide Number Placeholder 3">
            <a:extLst>
              <a:ext uri="{FF2B5EF4-FFF2-40B4-BE49-F238E27FC236}">
                <a16:creationId xmlns:a16="http://schemas.microsoft.com/office/drawing/2014/main" id="{C17FB489-75FC-AB1C-B43D-DC59C4467589}"/>
              </a:ext>
            </a:extLst>
          </p:cNvPr>
          <p:cNvSpPr>
            <a:spLocks noGrp="1"/>
          </p:cNvSpPr>
          <p:nvPr>
            <p:ph type="sldNum" sz="quarter" idx="12"/>
          </p:nvPr>
        </p:nvSpPr>
        <p:spPr/>
        <p:txBody>
          <a:bodyPr/>
          <a:lstStyle/>
          <a:p>
            <a:fld id="{8D75522D-3DA1-4E7C-B84B-2130C32BB93F}" type="slidenum">
              <a:rPr lang="en-GB" smtClean="0"/>
              <a:t>51</a:t>
            </a:fld>
            <a:endParaRPr lang="en-GB"/>
          </a:p>
        </p:txBody>
      </p:sp>
    </p:spTree>
    <p:extLst>
      <p:ext uri="{BB962C8B-B14F-4D97-AF65-F5344CB8AC3E}">
        <p14:creationId xmlns:p14="http://schemas.microsoft.com/office/powerpoint/2010/main" val="1494911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2117</TotalTime>
  <Words>4386</Words>
  <Application>Microsoft Office PowerPoint</Application>
  <PresentationFormat>Widescreen</PresentationFormat>
  <Paragraphs>459</Paragraphs>
  <Slides>51</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51</vt:i4>
      </vt:variant>
    </vt:vector>
  </HeadingPairs>
  <TitlesOfParts>
    <vt:vector size="63" baseType="lpstr">
      <vt:lpstr>Aptos</vt:lpstr>
      <vt:lpstr>Aptos Display</vt:lpstr>
      <vt:lpstr>Arial</vt:lpstr>
      <vt:lpstr>Calibri</vt:lpstr>
      <vt:lpstr>Cambria Math</vt:lpstr>
      <vt:lpstr>Google Sans</vt:lpstr>
      <vt:lpstr>Lucida Sans Unicode</vt:lpstr>
      <vt:lpstr>Nunito</vt:lpstr>
      <vt:lpstr>Symbol</vt:lpstr>
      <vt:lpstr>Times New Roman</vt:lpstr>
      <vt:lpstr>Untitled Sans</vt:lpstr>
      <vt:lpstr>Office Theme</vt:lpstr>
      <vt:lpstr>Sets  TMS1113 : Foundation of Mathematics</vt:lpstr>
      <vt:lpstr>What are Sets?</vt:lpstr>
      <vt:lpstr>Sets and elements</vt:lpstr>
      <vt:lpstr>Sets:Representation</vt:lpstr>
      <vt:lpstr>Sets:Representation</vt:lpstr>
      <vt:lpstr>Set Builder Form</vt:lpstr>
      <vt:lpstr>PowerPoint Presentation</vt:lpstr>
      <vt:lpstr>PowerPoint Presentation</vt:lpstr>
      <vt:lpstr>Equality of Two Sets</vt:lpstr>
      <vt:lpstr>PowerPoint Presentation</vt:lpstr>
      <vt:lpstr>Subsets</vt:lpstr>
      <vt:lpstr>PowerPoint Presentation</vt:lpstr>
      <vt:lpstr>Complement</vt:lpstr>
      <vt:lpstr>Unions</vt:lpstr>
      <vt:lpstr>Intersections</vt:lpstr>
      <vt:lpstr>Disjoint sets</vt:lpstr>
      <vt:lpstr>PowerPoint Presentation</vt:lpstr>
      <vt:lpstr>A and B are disjoint or not ?</vt:lpstr>
      <vt:lpstr>PowerPoint Presentation</vt:lpstr>
      <vt:lpstr>Finite and Infinite Sets</vt:lpstr>
      <vt:lpstr>Set Operations</vt:lpstr>
      <vt:lpstr>PowerPoint Presentation</vt:lpstr>
      <vt:lpstr>PowerPoint Presentation</vt:lpstr>
      <vt:lpstr>Venn Diagrams</vt:lpstr>
      <vt:lpstr>PowerPoint Presentation</vt:lpstr>
      <vt:lpstr>Create a Venn diagram for:</vt:lpstr>
      <vt:lpstr>PowerPoint Presentation</vt:lpstr>
      <vt:lpstr>PowerPoint Presentation</vt:lpstr>
      <vt:lpstr>PowerPoint Presentation</vt:lpstr>
      <vt:lpstr>Venn Diagrams</vt:lpstr>
      <vt:lpstr>1. Set A 2. Complement of Set A (A’)</vt:lpstr>
      <vt:lpstr>1. Set A 2. Complement of Set A (A’)</vt:lpstr>
      <vt:lpstr>1. Two disjoint sets A &amp; B 2. A   B</vt:lpstr>
      <vt:lpstr>1. Two disjoint sets A &amp; B 2. A   B</vt:lpstr>
      <vt:lpstr>1. A  B 2. A  B</vt:lpstr>
      <vt:lpstr>1. A  B 2. A  B</vt:lpstr>
      <vt:lpstr>Exercises</vt:lpstr>
      <vt:lpstr>Exercises</vt:lpstr>
      <vt:lpstr>Exercises</vt:lpstr>
      <vt:lpstr>Exercises</vt:lpstr>
      <vt:lpstr>Unions and intersections</vt:lpstr>
      <vt:lpstr>Unions and intersections</vt:lpstr>
      <vt:lpstr>Language of sets</vt:lpstr>
      <vt:lpstr>PowerPoint Presentation</vt:lpstr>
      <vt:lpstr>PowerPoint Presentation</vt:lpstr>
      <vt:lpstr>PowerPoint Presentation</vt:lpstr>
      <vt:lpstr>Cartesian Product</vt:lpstr>
      <vt:lpstr>Cartesian Product II</vt:lpstr>
      <vt:lpstr>Properties of the zero(0) and infinity(∞)</vt:lpstr>
      <vt:lpstr>Properties of the zero(0) and infinity(∞)</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Sets  TMS1173 : Fundamentals of Mathematics</dc:title>
  <dc:creator>Mr. Chandana Puspakumara</dc:creator>
  <cp:lastModifiedBy>Admin</cp:lastModifiedBy>
  <cp:revision>105</cp:revision>
  <dcterms:created xsi:type="dcterms:W3CDTF">2025-01-29T03:51:49Z</dcterms:created>
  <dcterms:modified xsi:type="dcterms:W3CDTF">2026-08-10T05:18:45Z</dcterms:modified>
</cp:coreProperties>
</file>