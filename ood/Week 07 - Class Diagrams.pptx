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44"/>
  </p:notesMasterIdLst>
  <p:sldIdLst>
    <p:sldId id="256" r:id="rId3"/>
    <p:sldId id="257" r:id="rId4"/>
    <p:sldId id="259" r:id="rId5"/>
    <p:sldId id="380" r:id="rId6"/>
    <p:sldId id="381" r:id="rId7"/>
    <p:sldId id="421" r:id="rId8"/>
    <p:sldId id="422" r:id="rId9"/>
    <p:sldId id="461" r:id="rId10"/>
    <p:sldId id="427" r:id="rId11"/>
    <p:sldId id="462" r:id="rId12"/>
    <p:sldId id="428" r:id="rId13"/>
    <p:sldId id="429" r:id="rId14"/>
    <p:sldId id="430" r:id="rId15"/>
    <p:sldId id="463" r:id="rId16"/>
    <p:sldId id="431" r:id="rId17"/>
    <p:sldId id="432" r:id="rId18"/>
    <p:sldId id="464" r:id="rId19"/>
    <p:sldId id="425" r:id="rId20"/>
    <p:sldId id="434" r:id="rId21"/>
    <p:sldId id="436" r:id="rId22"/>
    <p:sldId id="324" r:id="rId23"/>
    <p:sldId id="438" r:id="rId24"/>
    <p:sldId id="439" r:id="rId25"/>
    <p:sldId id="465" r:id="rId26"/>
    <p:sldId id="441" r:id="rId27"/>
    <p:sldId id="442" r:id="rId28"/>
    <p:sldId id="443" r:id="rId29"/>
    <p:sldId id="466" r:id="rId30"/>
    <p:sldId id="460" r:id="rId31"/>
    <p:sldId id="444" r:id="rId32"/>
    <p:sldId id="445" r:id="rId33"/>
    <p:sldId id="446" r:id="rId34"/>
    <p:sldId id="447" r:id="rId35"/>
    <p:sldId id="459" r:id="rId36"/>
    <p:sldId id="448" r:id="rId37"/>
    <p:sldId id="449" r:id="rId38"/>
    <p:sldId id="456" r:id="rId39"/>
    <p:sldId id="450" r:id="rId40"/>
    <p:sldId id="457" r:id="rId41"/>
    <p:sldId id="453" r:id="rId42"/>
    <p:sldId id="437" r:id="rId4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0" autoAdjust="0"/>
    <p:restoredTop sz="96170" autoAdjust="0"/>
  </p:normalViewPr>
  <p:slideViewPr>
    <p:cSldViewPr>
      <p:cViewPr varScale="1">
        <p:scale>
          <a:sx n="110" d="100"/>
          <a:sy n="110" d="100"/>
        </p:scale>
        <p:origin x="50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F6FF3-FACD-4D67-B62B-ED71E1E82F12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60A4B-000A-4923-8582-4C2CCF0E4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0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547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137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386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transition from analysis to design</a:t>
            </a:r>
            <a:r>
              <a:rPr lang="en-GB" dirty="0"/>
              <a:t> involves moving from understanding </a:t>
            </a:r>
            <a:r>
              <a:rPr lang="en-GB" b="1" dirty="0"/>
              <a:t>what</a:t>
            </a:r>
            <a:r>
              <a:rPr lang="en-GB" dirty="0"/>
              <a:t> the system </a:t>
            </a:r>
            <a:r>
              <a:rPr lang="en-GB" b="1" dirty="0"/>
              <a:t>must do</a:t>
            </a:r>
            <a:r>
              <a:rPr lang="en-GB" dirty="0"/>
              <a:t> (requirements and domain understanding) to determining </a:t>
            </a:r>
            <a:r>
              <a:rPr lang="en-GB" b="1" dirty="0"/>
              <a:t>how</a:t>
            </a:r>
            <a:r>
              <a:rPr lang="en-GB" dirty="0"/>
              <a:t> the system </a:t>
            </a:r>
            <a:r>
              <a:rPr lang="en-GB" b="1" dirty="0"/>
              <a:t>will do it </a:t>
            </a:r>
            <a:r>
              <a:rPr lang="en-GB" dirty="0"/>
              <a:t>(implementation details). This transition ensures that business requirements are effectively translated into a structured, implementable software solution.</a:t>
            </a:r>
          </a:p>
          <a:p>
            <a:endParaRPr lang="en-US" baseline="0" dirty="0"/>
          </a:p>
          <a:p>
            <a:endParaRPr lang="en-US" baseline="0" dirty="0"/>
          </a:p>
          <a:p>
            <a:pPr>
              <a:buNone/>
            </a:pPr>
            <a:r>
              <a:rPr lang="en-GB" b="1" dirty="0"/>
              <a:t>1. Design Class Diagram (Static View)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Represents the </a:t>
            </a:r>
            <a:r>
              <a:rPr lang="en-GB" b="1" dirty="0"/>
              <a:t>static structure</a:t>
            </a:r>
            <a:r>
              <a:rPr lang="en-GB" dirty="0"/>
              <a:t> of the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is derived from the </a:t>
            </a:r>
            <a:r>
              <a:rPr lang="en-GB" b="1" dirty="0"/>
              <a:t>Domain Model</a:t>
            </a:r>
            <a:r>
              <a:rPr lang="en-GB" dirty="0"/>
              <a:t> but includes additional design details such as methods, attributes, and relationships.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Focuses on </a:t>
            </a:r>
            <a:r>
              <a:rPr lang="en-GB" b="1" dirty="0"/>
              <a:t>object-oriented relationships</a:t>
            </a:r>
            <a:r>
              <a:rPr lang="en-GB" dirty="0"/>
              <a:t>, class hierarchies, and encapsulation.</a:t>
            </a:r>
          </a:p>
          <a:p>
            <a:endParaRPr lang="en-US" baseline="0" dirty="0"/>
          </a:p>
          <a:p>
            <a:pPr>
              <a:buNone/>
            </a:pPr>
            <a:r>
              <a:rPr lang="en-GB" b="1" dirty="0"/>
              <a:t>2. Sequence Diagram (Dynamic View)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Represents the </a:t>
            </a:r>
            <a:r>
              <a:rPr lang="en-GB" b="1" dirty="0"/>
              <a:t>dynamic </a:t>
            </a:r>
            <a:r>
              <a:rPr lang="en-GB" b="1" dirty="0" err="1"/>
              <a:t>behavior</a:t>
            </a:r>
            <a:r>
              <a:rPr lang="en-GB" dirty="0"/>
              <a:t> of the system by </a:t>
            </a:r>
            <a:r>
              <a:rPr lang="en-GB" dirty="0" err="1"/>
              <a:t>modeling</a:t>
            </a:r>
            <a:r>
              <a:rPr lang="en-GB" dirty="0"/>
              <a:t> </a:t>
            </a:r>
            <a:r>
              <a:rPr lang="en-GB" b="1" dirty="0"/>
              <a:t>interactions</a:t>
            </a:r>
            <a:r>
              <a:rPr lang="en-GB" dirty="0"/>
              <a:t> between objects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Shows </a:t>
            </a:r>
            <a:r>
              <a:rPr lang="en-GB" b="1" dirty="0"/>
              <a:t>how objects collaborate</a:t>
            </a:r>
            <a:r>
              <a:rPr lang="en-GB" dirty="0"/>
              <a:t> to achieve a function by specifying message flows.</a:t>
            </a:r>
          </a:p>
          <a:p>
            <a:endParaRPr lang="en-US" baseline="0" dirty="0"/>
          </a:p>
          <a:p>
            <a:endParaRPr lang="en-US" dirty="0"/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25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075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149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It provides a </a:t>
            </a:r>
            <a:r>
              <a:rPr lang="en-GB" b="1" dirty="0"/>
              <a:t>static view of the system</a:t>
            </a:r>
            <a:r>
              <a:rPr lang="en-GB" dirty="0"/>
              <a:t>, meaning it focuses on how the system is organized rather than how it behaves during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70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DAC1-F868-DBA0-08CB-AAE77A75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61B99-483F-4ED7-E7E4-9D2E72FEA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D1D06-EA56-0929-5655-AE0943EB0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67AEC-5B53-B350-4B8E-7AC16FFF1A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8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Example : University Course Registration</a:t>
            </a:r>
          </a:p>
          <a:p>
            <a:endParaRPr lang="en-GB" b="1" dirty="0"/>
          </a:p>
          <a:p>
            <a:r>
              <a:rPr lang="en-GB" b="1" dirty="0"/>
              <a:t>Problem Description:</a:t>
            </a:r>
            <a:br>
              <a:rPr lang="en-GB" dirty="0"/>
            </a:br>
            <a:r>
              <a:rPr lang="en-GB" dirty="0"/>
              <a:t>“Students </a:t>
            </a:r>
            <a:r>
              <a:rPr lang="en-GB" dirty="0" err="1"/>
              <a:t>enroll</a:t>
            </a:r>
            <a:r>
              <a:rPr lang="en-GB" dirty="0"/>
              <a:t> in courses offered by the university.”</a:t>
            </a:r>
          </a:p>
          <a:p>
            <a:endParaRPr lang="en-GB" dirty="0"/>
          </a:p>
          <a:p>
            <a:r>
              <a:rPr lang="en-GB" b="1" dirty="0"/>
              <a:t>Identified nouns:</a:t>
            </a:r>
            <a:endParaRPr lang="en-GB" dirty="0"/>
          </a:p>
          <a:p>
            <a:r>
              <a:rPr lang="en-GB" dirty="0"/>
              <a:t>Student</a:t>
            </a:r>
          </a:p>
          <a:p>
            <a:r>
              <a:rPr lang="en-GB" dirty="0"/>
              <a:t>Course</a:t>
            </a:r>
          </a:p>
          <a:p>
            <a:r>
              <a:rPr lang="en-GB" dirty="0"/>
              <a:t>University</a:t>
            </a:r>
          </a:p>
          <a:p>
            <a:r>
              <a:rPr lang="en-GB" b="1" dirty="0"/>
              <a:t>Hidden Class:</a:t>
            </a:r>
            <a:endParaRPr lang="en-GB" dirty="0"/>
          </a:p>
          <a:p>
            <a:r>
              <a:rPr lang="en-GB" b="1" dirty="0" err="1"/>
              <a:t>Enrollment</a:t>
            </a:r>
            <a:endParaRPr lang="en-GB" dirty="0"/>
          </a:p>
          <a:p>
            <a:r>
              <a:rPr lang="en-GB" b="1" dirty="0"/>
              <a:t>Why it is hidden:</a:t>
            </a:r>
            <a:br>
              <a:rPr lang="en-GB" dirty="0"/>
            </a:br>
            <a:r>
              <a:rPr lang="en-GB" dirty="0"/>
              <a:t>The system must track </a:t>
            </a:r>
            <a:r>
              <a:rPr lang="en-GB" b="1" dirty="0"/>
              <a:t>which student registered for which course</a:t>
            </a:r>
            <a:r>
              <a:rPr lang="en-GB" dirty="0"/>
              <a:t>, semester, grade, etc.</a:t>
            </a:r>
          </a:p>
          <a:p>
            <a:r>
              <a:rPr lang="en-GB" dirty="0"/>
              <a:t>Possible class:</a:t>
            </a:r>
          </a:p>
          <a:p>
            <a:pPr rtl="0"/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Enrollment</a:t>
            </a:r>
            <a:b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enrollmentID</a:t>
            </a:r>
            <a:b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semester</a:t>
            </a:r>
            <a:b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grade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76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7ED7-D78A-00ED-6651-7B9D7F82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D491E1-01F6-AD35-C412-A6708BA6C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BE002-5F32-AA36-9D03-FE2AFB264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Example : University Course Registration</a:t>
            </a:r>
          </a:p>
          <a:p>
            <a:endParaRPr lang="en-GB" b="1" dirty="0"/>
          </a:p>
          <a:p>
            <a:r>
              <a:rPr lang="en-GB" b="1" dirty="0"/>
              <a:t>Problem Description:</a:t>
            </a:r>
            <a:br>
              <a:rPr lang="en-GB" dirty="0"/>
            </a:br>
            <a:r>
              <a:rPr lang="en-GB" dirty="0"/>
              <a:t>“Students </a:t>
            </a:r>
            <a:r>
              <a:rPr lang="en-GB" dirty="0" err="1"/>
              <a:t>enroll</a:t>
            </a:r>
            <a:r>
              <a:rPr lang="en-GB" dirty="0"/>
              <a:t> in courses offered by the university.”</a:t>
            </a:r>
          </a:p>
          <a:p>
            <a:endParaRPr lang="en-GB" dirty="0"/>
          </a:p>
          <a:p>
            <a:r>
              <a:rPr lang="en-GB" b="1" dirty="0"/>
              <a:t>Identified nouns:</a:t>
            </a:r>
            <a:endParaRPr lang="en-GB" dirty="0"/>
          </a:p>
          <a:p>
            <a:r>
              <a:rPr lang="en-GB" dirty="0"/>
              <a:t>Student</a:t>
            </a:r>
          </a:p>
          <a:p>
            <a:r>
              <a:rPr lang="en-GB" dirty="0"/>
              <a:t>Course</a:t>
            </a:r>
          </a:p>
          <a:p>
            <a:r>
              <a:rPr lang="en-GB" dirty="0"/>
              <a:t>University</a:t>
            </a:r>
          </a:p>
          <a:p>
            <a:r>
              <a:rPr lang="en-GB" b="1" dirty="0"/>
              <a:t>Hidden Class:</a:t>
            </a:r>
            <a:endParaRPr lang="en-GB" dirty="0"/>
          </a:p>
          <a:p>
            <a:r>
              <a:rPr lang="en-GB" b="1" dirty="0" err="1"/>
              <a:t>Enrollment</a:t>
            </a:r>
            <a:endParaRPr lang="en-GB" dirty="0"/>
          </a:p>
          <a:p>
            <a:r>
              <a:rPr lang="en-GB" b="1" dirty="0"/>
              <a:t>Why it is hidden:</a:t>
            </a:r>
            <a:br>
              <a:rPr lang="en-GB" dirty="0"/>
            </a:br>
            <a:r>
              <a:rPr lang="en-GB" dirty="0"/>
              <a:t>The system must track </a:t>
            </a:r>
            <a:r>
              <a:rPr lang="en-GB" b="1" dirty="0"/>
              <a:t>which student registered for which course</a:t>
            </a:r>
            <a:r>
              <a:rPr lang="en-GB" dirty="0"/>
              <a:t>, semester, grade, etc.</a:t>
            </a:r>
          </a:p>
          <a:p>
            <a:r>
              <a:rPr lang="en-GB" dirty="0"/>
              <a:t>Possible class:</a:t>
            </a:r>
          </a:p>
          <a:p>
            <a:pPr rtl="0"/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Enrollment</a:t>
            </a:r>
            <a:b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enrollmentID</a:t>
            </a:r>
            <a:b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semester</a:t>
            </a:r>
            <a:b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grade</a:t>
            </a:r>
          </a:p>
          <a:p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4C36C-030B-A7DF-2268-E33454456B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922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/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633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63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93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A187-75C9-885C-6C4B-418818196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42CBC-7352-14F5-5EF1-2EF3F39EB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DA5D3-735F-98B1-D130-8E13AAB77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DC25-766E-93A0-DCEA-3C16F592E6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86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(Nouns and noun phrases may indicate classes or class attributes. Verbs and verb phrases may indicate responsibilities of classes)</a:t>
            </a:r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701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(Nouns and noun phrases may indicate classes or class attributes. Verbs and verb phrases may indicate responsibilities of classes)</a:t>
            </a:r>
          </a:p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7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DCF7-E865-4616-81D8-B233C217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AED1BA-B42C-8CD4-B18C-A8B7FD2CE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9F2B9-4F3C-8EBB-F9F3-4AB36430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E2EF7-4019-3C17-B937-33277AB6CC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294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5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557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82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006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392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2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8DB22-DE89-852A-F444-3F98C231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0CF40-03F4-D2A9-77A2-A117C39D5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CB91A-1C16-7CB4-3343-60F2049E7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50FFBA-F3A9-F4CC-E931-1C4B00821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384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247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12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39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82DA-2321-C5CB-F0DC-D5ACC8E2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9CE2-DA3E-1D5C-797A-14B9DD98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61E17-B7E3-F1E2-8D75-01A3F7E57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F6DCD-31F1-1DB7-34F0-C18D7BE9A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434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9ABE-244A-4320-C862-45C3F9387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6A86B-9EB5-DEF7-118C-CA0C8A76E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519C3-6481-3E57-1C1E-BD84FA052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FBEA2-2B26-5D89-5B48-A7FCD957C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8525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01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38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270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00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5D81-3C64-9F39-81F2-78B51D1F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18276-CC35-DD15-A380-27A9029F7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2804A-A7DB-F460-F0BA-53EE07C1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Dashed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7DA94-16FB-EC0D-E0A6-CB0AA8A60B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011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Hollow diamond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167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1089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535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Box Office</a:t>
            </a:r>
            <a:r>
              <a:rPr lang="en-GB" dirty="0"/>
              <a:t> is a place where tickets for movies, plays, concerts, or other events are sold.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068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11FD-4895-2BFE-C069-41B2556E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8F5EB-2CDD-1367-213B-233301BD9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B4677-00BD-EF6D-79EA-965A70A4F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Notes: captain could alternatively be represented as a second, named association between player and team. Assumptions: each player only plays on one team, each captain only captains one team, each team only plays in one league.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League:</a:t>
            </a:r>
            <a:r>
              <a:rPr lang="en-US" baseline="0" dirty="0"/>
              <a:t> </a:t>
            </a:r>
            <a:r>
              <a:rPr lang="en-US" dirty="0"/>
              <a:t>An association of sports teams that organizes matches for its members</a:t>
            </a:r>
          </a:p>
          <a:p>
            <a:endParaRPr lang="en-US" dirty="0"/>
          </a:p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EFEB1-CE09-AAE7-FFCD-E721BF62E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223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087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160A4B-000A-4923-8582-4C2CCF0E49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13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131590"/>
            <a:ext cx="8496944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1808261"/>
            <a:ext cx="8496944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987574"/>
            <a:ext cx="6912768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1664245"/>
            <a:ext cx="6912768" cy="2995737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-powerpoint-templates-design.com/free-powerpoint-templates-desig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hlinkClick r:id="rId3"/>
          </p:cNvPr>
          <p:cNvSpPr txBox="1"/>
          <p:nvPr/>
        </p:nvSpPr>
        <p:spPr>
          <a:xfrm>
            <a:off x="0" y="4844068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8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 Same Side Corner Rectangle 7"/>
          <p:cNvSpPr/>
          <p:nvPr/>
        </p:nvSpPr>
        <p:spPr>
          <a:xfrm rot="5400000">
            <a:off x="970509" y="521121"/>
            <a:ext cx="2847005" cy="4788024"/>
          </a:xfrm>
          <a:prstGeom prst="round2SameRect">
            <a:avLst/>
          </a:prstGeom>
          <a:solidFill>
            <a:srgbClr val="FF0000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4254" y="3035032"/>
            <a:ext cx="4788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Sandaruwani Pathirage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Dept. of ICT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Faculty of Technology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University of Ruhuna</a:t>
            </a: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160151" y="1546763"/>
            <a:ext cx="478802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 Oriented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Analysis and Design</a:t>
            </a:r>
            <a:br>
              <a:rPr lang="en-US" sz="28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ICT2142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1560" y="411510"/>
            <a:ext cx="7776864" cy="2304256"/>
          </a:xfrm>
        </p:spPr>
        <p:txBody>
          <a:bodyPr/>
          <a:lstStyle/>
          <a:p>
            <a:r>
              <a:rPr lang="en-US" altLang="ko-KR" dirty="0"/>
              <a:t>LECTURE 07 :</a:t>
            </a:r>
            <a:br>
              <a:rPr lang="en-US" altLang="ko-KR" dirty="0"/>
            </a:br>
            <a:r>
              <a:rPr lang="en-US" dirty="0"/>
              <a:t>Class Diagrams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211710"/>
            <a:ext cx="4334943" cy="25803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90594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06563" y="915566"/>
            <a:ext cx="7200800" cy="607164"/>
          </a:xfrm>
        </p:spPr>
        <p:txBody>
          <a:bodyPr/>
          <a:lstStyle/>
          <a:p>
            <a:r>
              <a:rPr lang="en-US" sz="2800" b="1" dirty="0"/>
              <a:t>Objectives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0"/>
          </p:nvPr>
        </p:nvSpPr>
        <p:spPr>
          <a:xfrm>
            <a:off x="1691680" y="1923678"/>
            <a:ext cx="7200800" cy="2664296"/>
          </a:xfrm>
        </p:spPr>
        <p:txBody>
          <a:bodyPr/>
          <a:lstStyle/>
          <a:p>
            <a:r>
              <a:rPr lang="en-US" altLang="ko-KR" sz="2400" b="1" dirty="0">
                <a:latin typeface="Arial" pitchFamily="34" charset="0"/>
                <a:cs typeface="Arial" pitchFamily="34" charset="0"/>
              </a:rPr>
              <a:t>After successful completion of this lecture, students should be able to: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ko-KR" sz="2000" b="1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Identify the difference between the domain model vs design model class diagrams.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cs typeface="Arial" panose="020B0604020202020204" pitchFamily="34" charset="0"/>
              </a:rPr>
              <a:t>Draw class diagrams by analyzing a given scenario.</a:t>
            </a:r>
          </a:p>
        </p:txBody>
      </p:sp>
    </p:spTree>
    <p:extLst>
      <p:ext uri="{BB962C8B-B14F-4D97-AF65-F5344CB8AC3E}">
        <p14:creationId xmlns:p14="http://schemas.microsoft.com/office/powerpoint/2010/main" val="9791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292883" y="627534"/>
            <a:ext cx="7632848" cy="446449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800" dirty="0"/>
              <a:t>A </a:t>
            </a:r>
            <a:r>
              <a:rPr lang="en-GB" sz="1800" b="1" dirty="0"/>
              <a:t>Domain Class Diagram </a:t>
            </a:r>
            <a:r>
              <a:rPr lang="en-GB" sz="1800" dirty="0"/>
              <a:t>models the concepts in the problem </a:t>
            </a:r>
            <a:br>
              <a:rPr lang="en-GB" sz="1800" dirty="0"/>
            </a:br>
            <a:r>
              <a:rPr lang="en-GB" sz="1800" dirty="0"/>
              <a:t>domain. It usually shows only the class names and relationships and helps define the vocabulary of the problem domain.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800" dirty="0"/>
              <a:t>A </a:t>
            </a:r>
            <a:r>
              <a:rPr lang="en-GB" sz="1800" b="1" dirty="0"/>
              <a:t>Design Class Diagram</a:t>
            </a:r>
            <a:r>
              <a:rPr lang="en-GB" sz="1800" dirty="0"/>
              <a:t> models the actual software design.</a:t>
            </a:r>
            <a:br>
              <a:rPr lang="en-GB" sz="1800" dirty="0"/>
            </a:br>
            <a:r>
              <a:rPr lang="en-GB" sz="1800" dirty="0"/>
              <a:t>It includes more detailed information, such as attributes, </a:t>
            </a:r>
            <a:br>
              <a:rPr lang="en-GB" sz="1800" dirty="0"/>
            </a:br>
            <a:r>
              <a:rPr lang="en-GB" sz="1800" dirty="0"/>
              <a:t>operations (methods), visibility, and therefore provides more </a:t>
            </a:r>
            <a:br>
              <a:rPr lang="en-GB" sz="1800" dirty="0"/>
            </a:br>
            <a:r>
              <a:rPr lang="en-GB" sz="1800" dirty="0"/>
              <a:t>detail than a domain class diagram.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8614"/>
            <a:ext cx="7344816" cy="568920"/>
          </a:xfrm>
        </p:spPr>
        <p:txBody>
          <a:bodyPr/>
          <a:lstStyle/>
          <a:p>
            <a:r>
              <a:rPr lang="en-GB" sz="2400" dirty="0"/>
              <a:t>Domain Class Diagram vs Design Class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8264" y="4731990"/>
            <a:ext cx="1673158" cy="183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2841819"/>
            <a:ext cx="5616624" cy="23028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23C3FD-358F-0181-D685-712F7FDF1451}"/>
              </a:ext>
            </a:extLst>
          </p:cNvPr>
          <p:cNvSpPr/>
          <p:nvPr/>
        </p:nvSpPr>
        <p:spPr>
          <a:xfrm>
            <a:off x="6732240" y="3219822"/>
            <a:ext cx="1224136" cy="504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269527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403648" y="1131589"/>
            <a:ext cx="7560840" cy="332216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Software classes with attributes &amp; operations together </a:t>
            </a:r>
            <a:br>
              <a:rPr lang="en-US" sz="2000" dirty="0">
                <a:cs typeface="Arial" panose="020B0604020202020204" pitchFamily="34" charset="0"/>
              </a:rPr>
            </a:br>
            <a:r>
              <a:rPr lang="en-US" sz="2000" dirty="0">
                <a:cs typeface="Arial" panose="020B0604020202020204" pitchFamily="34" charset="0"/>
              </a:rPr>
              <a:t>with detailed relationships between the classes.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Design class model extends the domain class model by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Arial" panose="020B0604020202020204" pitchFamily="34" charset="0"/>
              </a:rPr>
              <a:t>    refining attributes &amp; relationships, &amp; by refining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Arial" panose="020B0604020202020204" pitchFamily="34" charset="0"/>
              </a:rPr>
              <a:t>    operations.</a:t>
            </a:r>
          </a:p>
          <a:p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339501"/>
            <a:ext cx="7200800" cy="543447"/>
          </a:xfrm>
        </p:spPr>
        <p:txBody>
          <a:bodyPr/>
          <a:lstStyle/>
          <a:p>
            <a:r>
              <a:rPr lang="en-US" sz="2400" dirty="0"/>
              <a:t>Design Class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8264" y="4731990"/>
            <a:ext cx="1673158" cy="183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2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55576" y="1887674"/>
            <a:ext cx="7776864" cy="1368152"/>
          </a:xfrm>
        </p:spPr>
        <p:txBody>
          <a:bodyPr/>
          <a:lstStyle/>
          <a:p>
            <a:r>
              <a:rPr lang="en-US" sz="4000" dirty="0"/>
              <a:t>Class Diagrams</a:t>
            </a:r>
          </a:p>
        </p:txBody>
      </p:sp>
    </p:spTree>
    <p:extLst>
      <p:ext uri="{BB962C8B-B14F-4D97-AF65-F5344CB8AC3E}">
        <p14:creationId xmlns:p14="http://schemas.microsoft.com/office/powerpoint/2010/main" val="418773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699692" y="1026965"/>
            <a:ext cx="7336804" cy="3888432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800" dirty="0"/>
              <a:t>Provides an overview of a system by illustrating its classes </a:t>
            </a:r>
            <a:br>
              <a:rPr lang="en-GB" sz="1800" dirty="0"/>
            </a:br>
            <a:r>
              <a:rPr lang="en-GB" sz="1800" dirty="0"/>
              <a:t>and the relationships between them.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800" dirty="0"/>
              <a:t>Also represents the attributes (data) and operations (methods/functions) of each class.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800" dirty="0"/>
              <a:t>Serves as an effective way to describe the overall structure </a:t>
            </a:r>
            <a:br>
              <a:rPr lang="en-GB" sz="1800" dirty="0"/>
            </a:br>
            <a:r>
              <a:rPr lang="en-GB" sz="1800" dirty="0"/>
              <a:t>and the architecture of system components.</a:t>
            </a:r>
          </a:p>
          <a:p>
            <a:pPr>
              <a:lnSpc>
                <a:spcPct val="90000"/>
              </a:lnSpc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228103"/>
            <a:ext cx="7200800" cy="543447"/>
          </a:xfrm>
        </p:spPr>
        <p:txBody>
          <a:bodyPr/>
          <a:lstStyle/>
          <a:p>
            <a:r>
              <a:rPr lang="en-US" sz="2400" dirty="0"/>
              <a:t>Class Diagrams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8264" y="4731990"/>
            <a:ext cx="1673158" cy="183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037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6370-745A-CBA8-532D-E7FECE8FC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2131A1-A553-373A-DD7F-D45EC35180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699320" y="771550"/>
            <a:ext cx="7336804" cy="38884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2000" dirty="0"/>
              <a:t>There are two common approaches for identifying classes in a system:</a:t>
            </a:r>
            <a:endParaRPr lang="en-GB" sz="2000" b="1" dirty="0"/>
          </a:p>
          <a:p>
            <a:pPr marL="108585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000" dirty="0">
                <a:solidFill>
                  <a:srgbClr val="0070C0"/>
                </a:solidFill>
              </a:rPr>
              <a:t>Noun–Verb Analysis</a:t>
            </a:r>
            <a:endParaRPr lang="en-GB" sz="2000" dirty="0"/>
          </a:p>
          <a:p>
            <a:pPr marL="108585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2000" dirty="0">
                <a:solidFill>
                  <a:srgbClr val="0070C0"/>
                </a:solidFill>
              </a:rPr>
              <a:t>CRC Analysis (Class–Responsibility–Collaboration)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endParaRPr lang="en-GB" sz="2000" dirty="0"/>
          </a:p>
          <a:p>
            <a:pPr>
              <a:lnSpc>
                <a:spcPct val="90000"/>
              </a:lnSpc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E7C4055-C827-0674-F749-0F316184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320" y="339502"/>
            <a:ext cx="7200800" cy="543447"/>
          </a:xfrm>
        </p:spPr>
        <p:txBody>
          <a:bodyPr/>
          <a:lstStyle/>
          <a:p>
            <a:r>
              <a:rPr lang="en-GB" sz="2400" dirty="0"/>
              <a:t>Finding Classes</a:t>
            </a:r>
            <a:br>
              <a:rPr lang="en-GB" sz="2400" dirty="0"/>
            </a:br>
            <a:endParaRPr 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79C2E-530E-AC9A-5B56-33E72DD456E7}"/>
              </a:ext>
            </a:extLst>
          </p:cNvPr>
          <p:cNvSpPr/>
          <p:nvPr/>
        </p:nvSpPr>
        <p:spPr>
          <a:xfrm>
            <a:off x="6948264" y="4731990"/>
            <a:ext cx="1673158" cy="1834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69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403648" y="650819"/>
            <a:ext cx="7632848" cy="388843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700" dirty="0">
                <a:cs typeface="Arial" panose="020B0604020202020204" pitchFamily="34" charset="0"/>
              </a:rPr>
              <a:t>Noun–verb analysis has been used for many years and works well </a:t>
            </a:r>
            <a:br>
              <a:rPr lang="en-US" sz="1700" dirty="0">
                <a:cs typeface="Arial" panose="020B0604020202020204" pitchFamily="34" charset="0"/>
              </a:rPr>
            </a:br>
            <a:r>
              <a:rPr lang="en-US" sz="1700" dirty="0">
                <a:cs typeface="Arial" panose="020B0604020202020204" pitchFamily="34" charset="0"/>
              </a:rPr>
              <a:t>because it is based on the direct analysis of the language used in the </a:t>
            </a:r>
            <a:br>
              <a:rPr lang="en-US" sz="1700" dirty="0">
                <a:cs typeface="Arial" panose="020B0604020202020204" pitchFamily="34" charset="0"/>
              </a:rPr>
            </a:br>
            <a:r>
              <a:rPr lang="en-US" sz="1700" dirty="0">
                <a:cs typeface="Arial" panose="020B0604020202020204" pitchFamily="34" charset="0"/>
              </a:rPr>
              <a:t>problem domain.</a:t>
            </a: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700" b="1" dirty="0"/>
              <a:t>When a Text Description is Given,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Nouns and noun phrases in the text usually indicate classes or </a:t>
            </a:r>
            <a:br>
              <a:rPr lang="en-GB" sz="1700" dirty="0"/>
            </a:br>
            <a:r>
              <a:rPr lang="en-GB" sz="1700" dirty="0"/>
              <a:t>attributes of classes.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Verbs and verb phrases indicate the responsibilities or operations </a:t>
            </a:r>
            <a:br>
              <a:rPr lang="en-GB" sz="1700" dirty="0"/>
            </a:br>
            <a:r>
              <a:rPr lang="en-GB" sz="1700" dirty="0"/>
              <a:t>(methods) of a class.</a:t>
            </a:r>
          </a:p>
          <a:p>
            <a:pPr>
              <a:lnSpc>
                <a:spcPct val="150000"/>
              </a:lnSpc>
            </a:pP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 dirty="0"/>
              <a:t>Finding classes using noun/verb analysis</a:t>
            </a:r>
          </a:p>
        </p:txBody>
      </p:sp>
    </p:spTree>
    <p:extLst>
      <p:ext uri="{BB962C8B-B14F-4D97-AF65-F5344CB8AC3E}">
        <p14:creationId xmlns:p14="http://schemas.microsoft.com/office/powerpoint/2010/main" val="2943765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DC3C-D1AC-DD6C-22C9-7F7F47511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A277E7-F312-48DB-8D17-B4A7D9A6A3B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475656" y="915566"/>
            <a:ext cx="7848872" cy="388843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It is also important to identify “hidden classes”, which are inherent </a:t>
            </a:r>
            <a:br>
              <a:rPr lang="en-GB" sz="1800" dirty="0"/>
            </a:br>
            <a:r>
              <a:rPr lang="en-GB" sz="1800" dirty="0"/>
              <a:t>to the problem domain, but may not be explicitly mentioned in </a:t>
            </a:r>
            <a:br>
              <a:rPr lang="en-GB" sz="1800" dirty="0"/>
            </a:br>
            <a:r>
              <a:rPr lang="en-GB" sz="1800" dirty="0"/>
              <a:t>the description (In University Course Registration system, students </a:t>
            </a:r>
            <a:r>
              <a:rPr lang="en-GB" sz="1800" dirty="0" err="1"/>
              <a:t>enroll</a:t>
            </a:r>
            <a:r>
              <a:rPr lang="en-GB" sz="1800" dirty="0"/>
              <a:t> in courses offered by the university.”)</a:t>
            </a:r>
          </a:p>
          <a:p>
            <a:endParaRPr lang="en-GB" sz="1800" b="1" dirty="0"/>
          </a:p>
          <a:p>
            <a:r>
              <a:rPr lang="en-GB" sz="1800" b="1" dirty="0"/>
              <a:t>Note: </a:t>
            </a:r>
          </a:p>
          <a:p>
            <a:r>
              <a:rPr lang="en-GB" sz="1800" dirty="0"/>
              <a:t>Be careful when interpreting </a:t>
            </a:r>
            <a:r>
              <a:rPr lang="en-GB" sz="1800" b="1" dirty="0"/>
              <a:t>synonyms</a:t>
            </a:r>
            <a:r>
              <a:rPr lang="en-GB" sz="1800" dirty="0"/>
              <a:t> (different words with the </a:t>
            </a:r>
            <a:br>
              <a:rPr lang="en-GB" sz="1800" dirty="0"/>
            </a:br>
            <a:r>
              <a:rPr lang="en-GB" sz="1800" dirty="0"/>
              <a:t>same meaning) and </a:t>
            </a:r>
            <a:r>
              <a:rPr lang="en-GB" sz="1800" b="1" dirty="0"/>
              <a:t>homonyms</a:t>
            </a:r>
            <a:r>
              <a:rPr lang="en-GB" sz="1800" dirty="0"/>
              <a:t> (words that have multiple meanings), as they may lead to incorrect identification of classes or operations.</a:t>
            </a:r>
          </a:p>
          <a:p>
            <a:endParaRPr lang="en-GB" sz="1800" b="1" dirty="0"/>
          </a:p>
          <a:p>
            <a:r>
              <a:rPr lang="en-GB" sz="1800" u="sng" dirty="0"/>
              <a:t>Example: Order</a:t>
            </a:r>
          </a:p>
          <a:p>
            <a:r>
              <a:rPr lang="en-GB" sz="1800" dirty="0"/>
              <a:t>Order (purchase request) – in an e-commerce system.</a:t>
            </a:r>
          </a:p>
          <a:p>
            <a:r>
              <a:rPr lang="en-GB" sz="1800" dirty="0"/>
              <a:t>Order (command/instruction) – in a military or management system.</a:t>
            </a:r>
          </a:p>
          <a:p>
            <a:pPr>
              <a:lnSpc>
                <a:spcPct val="150000"/>
              </a:lnSpc>
            </a:pPr>
            <a:endParaRPr lang="en-US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954254-FA5C-3B3D-A642-E0E1E886C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 dirty="0"/>
              <a:t>Finding classes using noun/verb analysis</a:t>
            </a:r>
          </a:p>
        </p:txBody>
      </p:sp>
    </p:spTree>
    <p:extLst>
      <p:ext uri="{BB962C8B-B14F-4D97-AF65-F5344CB8AC3E}">
        <p14:creationId xmlns:p14="http://schemas.microsoft.com/office/powerpoint/2010/main" val="2827139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331640" y="555526"/>
            <a:ext cx="7632848" cy="3888432"/>
          </a:xfrm>
        </p:spPr>
        <p:txBody>
          <a:bodyPr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 dirty="0"/>
              <a:t>Step 01 – Noun Phrase Identification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34580" y="594917"/>
            <a:ext cx="5715000" cy="3655937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40"/>
              </a:spcBef>
            </a:pPr>
            <a:r>
              <a:rPr sz="1200" spc="-5" dirty="0">
                <a:latin typeface="Times New Roman"/>
                <a:cs typeface="Times New Roman"/>
              </a:rPr>
              <a:t>The Portfolio Manager shall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able to </a:t>
            </a:r>
            <a:r>
              <a:rPr sz="1200" dirty="0">
                <a:latin typeface="Times New Roman"/>
                <a:cs typeface="Times New Roman"/>
              </a:rPr>
              <a:t>roll up </a:t>
            </a:r>
            <a:r>
              <a:rPr sz="1200" spc="-5" dirty="0">
                <a:latin typeface="Times New Roman"/>
                <a:cs typeface="Times New Roman"/>
              </a:rPr>
              <a:t>portfolios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several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levels.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88900" marR="215900">
              <a:lnSpc>
                <a:spcPct val="119400"/>
              </a:lnSpc>
            </a:pP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spc="-5" dirty="0">
                <a:latin typeface="Times New Roman"/>
                <a:cs typeface="Times New Roman"/>
              </a:rPr>
              <a:t>Trader </a:t>
            </a:r>
            <a:r>
              <a:rPr sz="1200" dirty="0">
                <a:latin typeface="Times New Roman"/>
                <a:cs typeface="Times New Roman"/>
              </a:rPr>
              <a:t>shall be </a:t>
            </a:r>
            <a:r>
              <a:rPr sz="1200" spc="-5" dirty="0">
                <a:latin typeface="Times New Roman"/>
                <a:cs typeface="Times New Roman"/>
              </a:rPr>
              <a:t>able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place </a:t>
            </a:r>
            <a:r>
              <a:rPr lang="en-GB" sz="1200" spc="-5" dirty="0">
                <a:latin typeface="Times New Roman"/>
                <a:cs typeface="Times New Roman"/>
              </a:rPr>
              <a:t>orders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behalf </a:t>
            </a:r>
            <a:r>
              <a:rPr sz="1200" dirty="0">
                <a:latin typeface="Times New Roman"/>
                <a:cs typeface="Times New Roman"/>
              </a:rPr>
              <a:t>of a </a:t>
            </a:r>
            <a:r>
              <a:rPr lang="en-GB" sz="1200" spc="-5" dirty="0">
                <a:latin typeface="Times New Roman"/>
                <a:cs typeface="Times New Roman"/>
              </a:rPr>
              <a:t>portfolio</a:t>
            </a:r>
            <a:r>
              <a:rPr sz="1200" spc="-5" dirty="0">
                <a:latin typeface="Times New Roman"/>
                <a:cs typeface="Times New Roman"/>
              </a:rPr>
              <a:t> that generate </a:t>
            </a:r>
            <a:r>
              <a:rPr sz="1200" dirty="0">
                <a:latin typeface="Times New Roman"/>
                <a:cs typeface="Times New Roman"/>
              </a:rPr>
              <a:t>one or </a:t>
            </a:r>
            <a:r>
              <a:rPr sz="1200" spc="-5" dirty="0">
                <a:latin typeface="Times New Roman"/>
                <a:cs typeface="Times New Roman"/>
              </a:rPr>
              <a:t>more </a:t>
            </a:r>
            <a:br>
              <a:rPr lang="en-US" sz="1200" spc="-5" dirty="0">
                <a:latin typeface="Times New Roman"/>
                <a:cs typeface="Times New Roman"/>
              </a:rPr>
            </a:br>
            <a:r>
              <a:rPr lang="en-GB" sz="1200" spc="-5" dirty="0">
                <a:latin typeface="Times New Roman"/>
                <a:cs typeface="Times New Roman"/>
              </a:rPr>
              <a:t>trades.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88900" marR="141605">
              <a:lnSpc>
                <a:spcPct val="120100"/>
              </a:lnSpc>
            </a:pPr>
            <a:r>
              <a:rPr sz="1200" dirty="0">
                <a:latin typeface="Times New Roman"/>
                <a:cs typeface="Times New Roman"/>
              </a:rPr>
              <a:t>A Portfolio </a:t>
            </a:r>
            <a:r>
              <a:rPr sz="1200" spc="-5" dirty="0">
                <a:latin typeface="Times New Roman"/>
                <a:cs typeface="Times New Roman"/>
              </a:rPr>
              <a:t>Manager </a:t>
            </a:r>
            <a:r>
              <a:rPr sz="1200" dirty="0">
                <a:latin typeface="Times New Roman"/>
                <a:cs typeface="Times New Roman"/>
              </a:rPr>
              <a:t>shall be </a:t>
            </a:r>
            <a:r>
              <a:rPr sz="1200" spc="-5" dirty="0">
                <a:latin typeface="Times New Roman"/>
                <a:cs typeface="Times New Roman"/>
              </a:rPr>
              <a:t>able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select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lang="en-GB" sz="1200" spc="-5" dirty="0">
                <a:latin typeface="Times New Roman"/>
                <a:cs typeface="Times New Roman"/>
              </a:rPr>
              <a:t>purchase</a:t>
            </a:r>
            <a:r>
              <a:rPr sz="1200" spc="-5" dirty="0">
                <a:latin typeface="Times New Roman"/>
                <a:cs typeface="Times New Roman"/>
              </a:rPr>
              <a:t> method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conjunction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-5" dirty="0">
                <a:latin typeface="Times New Roman"/>
                <a:cs typeface="Times New Roman"/>
              </a:rPr>
              <a:t>placing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lang="en-GB" sz="1200" dirty="0">
                <a:latin typeface="Times New Roman"/>
                <a:cs typeface="Times New Roman"/>
              </a:rPr>
              <a:t>sell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order.</a:t>
            </a:r>
            <a:endParaRPr sz="1200" dirty="0">
              <a:latin typeface="Times New Roman"/>
              <a:cs typeface="Times New Roman"/>
            </a:endParaRPr>
          </a:p>
          <a:p>
            <a:pPr marL="88900" marR="81280">
              <a:lnSpc>
                <a:spcPts val="3450"/>
              </a:lnSpc>
              <a:spcBef>
                <a:spcPts val="440"/>
              </a:spcBef>
            </a:pPr>
            <a:r>
              <a:rPr lang="en-GB" sz="1200" spc="-5" dirty="0">
                <a:latin typeface="Times New Roman"/>
                <a:cs typeface="Times New Roman"/>
              </a:rPr>
              <a:t>A trade entry</a:t>
            </a:r>
            <a:r>
              <a:rPr sz="1200" spc="-5" dirty="0">
                <a:latin typeface="Times New Roman"/>
                <a:cs typeface="Times New Roman"/>
              </a:rPr>
              <a:t> shall generate forecasted </a:t>
            </a:r>
            <a:r>
              <a:rPr lang="en-GB" sz="1200" spc="-5" dirty="0">
                <a:latin typeface="Times New Roman"/>
                <a:cs typeface="Times New Roman"/>
              </a:rPr>
              <a:t>cash flows</a:t>
            </a:r>
            <a:r>
              <a:rPr sz="1200" spc="-5" dirty="0">
                <a:latin typeface="Times New Roman"/>
                <a:cs typeface="Times New Roman"/>
              </a:rPr>
              <a:t> associated with the given trade </a:t>
            </a:r>
            <a:r>
              <a:rPr sz="1200" dirty="0">
                <a:latin typeface="Times New Roman"/>
                <a:cs typeface="Times New Roman"/>
              </a:rPr>
              <a:t>lot.  </a:t>
            </a:r>
            <a:endParaRPr lang="en-US" sz="1200" dirty="0">
              <a:latin typeface="Times New Roman"/>
              <a:cs typeface="Times New Roman"/>
            </a:endParaRPr>
          </a:p>
          <a:p>
            <a:pPr marL="88900" marR="81280">
              <a:lnSpc>
                <a:spcPts val="3450"/>
              </a:lnSpc>
              <a:spcBef>
                <a:spcPts val="440"/>
              </a:spcBef>
            </a:pPr>
            <a:r>
              <a:rPr sz="1200" spc="-5" dirty="0">
                <a:latin typeface="Times New Roman"/>
                <a:cs typeface="Times New Roman"/>
              </a:rPr>
              <a:t>The system shall match </a:t>
            </a:r>
            <a:r>
              <a:rPr sz="1200" dirty="0">
                <a:latin typeface="Times New Roman"/>
                <a:cs typeface="Times New Roman"/>
              </a:rPr>
              <a:t>up </a:t>
            </a:r>
            <a:r>
              <a:rPr sz="1200" spc="-5" dirty="0">
                <a:latin typeface="Times New Roman"/>
                <a:cs typeface="Times New Roman"/>
              </a:rPr>
              <a:t>actual cashflows with forecasted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cashflows.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1200" spc="-5" dirty="0">
                <a:latin typeface="Times New Roman"/>
                <a:cs typeface="Times New Roman"/>
              </a:rPr>
              <a:t>The system shall automatically generate appropriate </a:t>
            </a:r>
            <a:r>
              <a:rPr sz="1200" dirty="0">
                <a:latin typeface="Times New Roman"/>
                <a:cs typeface="Times New Roman"/>
              </a:rPr>
              <a:t>postings to </a:t>
            </a:r>
            <a:r>
              <a:rPr sz="1200" spc="-5" dirty="0">
                <a:latin typeface="Times New Roman"/>
                <a:cs typeface="Times New Roman"/>
              </a:rPr>
              <a:t>the General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Ledger.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88900" marR="173355">
              <a:lnSpc>
                <a:spcPct val="1201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The system shall allow an Assistant Trader </a:t>
            </a:r>
            <a:r>
              <a:rPr sz="1200" dirty="0">
                <a:latin typeface="Times New Roman"/>
                <a:cs typeface="Times New Roman"/>
              </a:rPr>
              <a:t>to modify </a:t>
            </a:r>
            <a:r>
              <a:rPr sz="1200" spc="-5" dirty="0">
                <a:latin typeface="Times New Roman"/>
                <a:cs typeface="Times New Roman"/>
              </a:rPr>
              <a:t>trade data and propagate the results </a:t>
            </a:r>
            <a:r>
              <a:rPr lang="en-GB" sz="1200" spc="-5" dirty="0">
                <a:latin typeface="Times New Roman"/>
                <a:cs typeface="Times New Roman"/>
              </a:rPr>
              <a:t>accordingly.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2195736" y="4587974"/>
            <a:ext cx="640871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the nouns </a:t>
            </a:r>
            <a:r>
              <a:rPr sz="1600" spc="-1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noun phrases in this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sz="1600" spc="-5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1600"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 dirty="0">
                <a:latin typeface="Arial" panose="020B0604020202020204" pitchFamily="34" charset="0"/>
                <a:cs typeface="Arial" panose="020B0604020202020204" pitchFamily="34" charset="0"/>
              </a:rPr>
              <a:t>definition.</a:t>
            </a:r>
          </a:p>
        </p:txBody>
      </p:sp>
    </p:spTree>
    <p:extLst>
      <p:ext uri="{BB962C8B-B14F-4D97-AF65-F5344CB8AC3E}">
        <p14:creationId xmlns:p14="http://schemas.microsoft.com/office/powerpoint/2010/main" val="2807609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331640" y="555526"/>
            <a:ext cx="7632848" cy="3888432"/>
          </a:xfrm>
        </p:spPr>
        <p:txBody>
          <a:bodyPr/>
          <a:lstStyle/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/>
              <a:t>Step 0 – Noun Phrase Identification</a:t>
            </a:r>
          </a:p>
        </p:txBody>
      </p:sp>
      <p:sp>
        <p:nvSpPr>
          <p:cNvPr id="6" name="object 7"/>
          <p:cNvSpPr txBox="1"/>
          <p:nvPr/>
        </p:nvSpPr>
        <p:spPr>
          <a:xfrm>
            <a:off x="2195736" y="4587974"/>
            <a:ext cx="640871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Identify </a:t>
            </a:r>
            <a:r>
              <a:rPr sz="1600" spc="-5">
                <a:latin typeface="Arial" panose="020B0604020202020204" pitchFamily="34" charset="0"/>
                <a:cs typeface="Arial" panose="020B0604020202020204" pitchFamily="34" charset="0"/>
              </a:rPr>
              <a:t>the nouns </a:t>
            </a:r>
            <a:r>
              <a:rPr sz="1600" spc="-1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sz="1600" spc="-5">
                <a:latin typeface="Arial" panose="020B0604020202020204" pitchFamily="34" charset="0"/>
                <a:cs typeface="Arial" panose="020B0604020202020204" pitchFamily="34" charset="0"/>
              </a:rPr>
              <a:t>noun phrases in this </a:t>
            </a:r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sz="1600" spc="-5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sz="1600" spc="1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definition.</a:t>
            </a:r>
          </a:p>
        </p:txBody>
      </p:sp>
      <p:sp>
        <p:nvSpPr>
          <p:cNvPr id="7" name="object 5"/>
          <p:cNvSpPr txBox="1"/>
          <p:nvPr/>
        </p:nvSpPr>
        <p:spPr>
          <a:xfrm>
            <a:off x="2195736" y="628879"/>
            <a:ext cx="5715000" cy="3602525"/>
          </a:xfrm>
          <a:prstGeom prst="rect">
            <a:avLst/>
          </a:prstGeom>
          <a:ln w="12579">
            <a:solidFill>
              <a:srgbClr val="000000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60"/>
              </a:spcBef>
            </a:pPr>
            <a:r>
              <a:rPr sz="1200" spc="-5" dirty="0">
                <a:latin typeface="Times New Roman"/>
                <a:cs typeface="Times New Roman"/>
              </a:rPr>
              <a:t>The </a:t>
            </a:r>
            <a:r>
              <a:rPr sz="1200" b="1" spc="-5" dirty="0">
                <a:latin typeface="Times New Roman"/>
                <a:cs typeface="Times New Roman"/>
              </a:rPr>
              <a:t>Portfolio Manager </a:t>
            </a:r>
            <a:r>
              <a:rPr sz="1200" spc="-5" dirty="0">
                <a:latin typeface="Times New Roman"/>
                <a:cs typeface="Times New Roman"/>
              </a:rPr>
              <a:t>shall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able to roll </a:t>
            </a:r>
            <a:r>
              <a:rPr sz="1200" dirty="0">
                <a:latin typeface="Times New Roman"/>
                <a:cs typeface="Times New Roman"/>
              </a:rPr>
              <a:t>up </a:t>
            </a:r>
            <a:r>
              <a:rPr sz="1200" b="1" spc="-5" dirty="0">
                <a:latin typeface="Times New Roman"/>
                <a:cs typeface="Times New Roman"/>
              </a:rPr>
              <a:t>portfolios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several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levels</a:t>
            </a:r>
            <a:r>
              <a:rPr sz="1200" spc="-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88900" marR="431165">
              <a:lnSpc>
                <a:spcPct val="120100"/>
              </a:lnSpc>
            </a:pP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b="1" spc="-5" dirty="0">
                <a:latin typeface="Times New Roman"/>
                <a:cs typeface="Times New Roman"/>
              </a:rPr>
              <a:t>Trader </a:t>
            </a:r>
            <a:r>
              <a:rPr sz="1200" spc="-5" dirty="0">
                <a:latin typeface="Times New Roman"/>
                <a:cs typeface="Times New Roman"/>
              </a:rPr>
              <a:t>shall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able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place </a:t>
            </a:r>
            <a:r>
              <a:rPr sz="1200" b="1" spc="-5" dirty="0">
                <a:latin typeface="Times New Roman"/>
                <a:cs typeface="Times New Roman"/>
              </a:rPr>
              <a:t>orders</a:t>
            </a:r>
            <a:r>
              <a:rPr sz="1200" spc="-5" dirty="0">
                <a:latin typeface="Times New Roman"/>
                <a:cs typeface="Times New Roman"/>
              </a:rPr>
              <a:t>, </a:t>
            </a:r>
            <a:r>
              <a:rPr sz="1200" dirty="0">
                <a:latin typeface="Times New Roman"/>
                <a:cs typeface="Times New Roman"/>
              </a:rPr>
              <a:t>on </a:t>
            </a:r>
            <a:r>
              <a:rPr sz="1200" spc="-5" dirty="0">
                <a:latin typeface="Times New Roman"/>
                <a:cs typeface="Times New Roman"/>
              </a:rPr>
              <a:t>behalf </a:t>
            </a:r>
            <a:r>
              <a:rPr sz="1200" dirty="0">
                <a:latin typeface="Times New Roman"/>
                <a:cs typeface="Times New Roman"/>
              </a:rPr>
              <a:t>of a </a:t>
            </a:r>
            <a:r>
              <a:rPr sz="1200" b="1" spc="-5" dirty="0">
                <a:latin typeface="Times New Roman"/>
                <a:cs typeface="Times New Roman"/>
              </a:rPr>
              <a:t>portfolio</a:t>
            </a:r>
            <a:r>
              <a:rPr sz="1200" spc="-5" dirty="0">
                <a:latin typeface="Times New Roman"/>
                <a:cs typeface="Times New Roman"/>
              </a:rPr>
              <a:t>, that generate </a:t>
            </a:r>
            <a:r>
              <a:rPr sz="1200" dirty="0">
                <a:latin typeface="Times New Roman"/>
                <a:cs typeface="Times New Roman"/>
              </a:rPr>
              <a:t>one or </a:t>
            </a:r>
            <a:r>
              <a:rPr lang="en-GB" sz="1200" dirty="0">
                <a:latin typeface="Times New Roman"/>
                <a:cs typeface="Times New Roman"/>
              </a:rPr>
              <a:t>more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trades</a:t>
            </a:r>
            <a:r>
              <a:rPr sz="1200" spc="-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latinLnBrk="0">
              <a:lnSpc>
                <a:spcPct val="100000"/>
              </a:lnSpc>
              <a:spcBef>
                <a:spcPts val="4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88900" marR="95885" latinLnBrk="0">
              <a:lnSpc>
                <a:spcPct val="120100"/>
              </a:lnSpc>
            </a:pPr>
            <a:r>
              <a:rPr sz="1200" dirty="0">
                <a:latin typeface="Times New Roman"/>
                <a:cs typeface="Times New Roman"/>
              </a:rPr>
              <a:t>A </a:t>
            </a:r>
            <a:r>
              <a:rPr sz="1200" b="1" spc="-5" dirty="0">
                <a:latin typeface="Times New Roman"/>
                <a:cs typeface="Times New Roman"/>
              </a:rPr>
              <a:t>Portfolio Manager </a:t>
            </a:r>
            <a:r>
              <a:rPr sz="1200" spc="-5" dirty="0">
                <a:latin typeface="Times New Roman"/>
                <a:cs typeface="Times New Roman"/>
              </a:rPr>
              <a:t>shall </a:t>
            </a:r>
            <a:r>
              <a:rPr sz="1200" dirty="0">
                <a:latin typeface="Times New Roman"/>
                <a:cs typeface="Times New Roman"/>
              </a:rPr>
              <a:t>be </a:t>
            </a:r>
            <a:r>
              <a:rPr sz="1200" spc="-5" dirty="0">
                <a:latin typeface="Times New Roman"/>
                <a:cs typeface="Times New Roman"/>
              </a:rPr>
              <a:t>able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select </a:t>
            </a:r>
            <a:r>
              <a:rPr sz="1200" dirty="0">
                <a:latin typeface="Times New Roman"/>
                <a:cs typeface="Times New Roman"/>
              </a:rPr>
              <a:t>a </a:t>
            </a:r>
            <a:r>
              <a:rPr lang="en-GB" sz="1200" b="1" spc="-5" dirty="0">
                <a:latin typeface="Times New Roman"/>
                <a:cs typeface="Times New Roman"/>
              </a:rPr>
              <a:t>purchase</a:t>
            </a:r>
            <a:r>
              <a:rPr sz="1200" b="1" spc="-5" dirty="0">
                <a:latin typeface="Times New Roman"/>
                <a:cs typeface="Times New Roman"/>
              </a:rPr>
              <a:t> method </a:t>
            </a:r>
            <a:r>
              <a:rPr sz="1200" dirty="0">
                <a:latin typeface="Times New Roman"/>
                <a:cs typeface="Times New Roman"/>
              </a:rPr>
              <a:t>in </a:t>
            </a:r>
            <a:r>
              <a:rPr sz="1200" spc="-5" dirty="0">
                <a:latin typeface="Times New Roman"/>
                <a:cs typeface="Times New Roman"/>
              </a:rPr>
              <a:t>conjunction </a:t>
            </a:r>
            <a:r>
              <a:rPr sz="1200" dirty="0">
                <a:latin typeface="Times New Roman"/>
                <a:cs typeface="Times New Roman"/>
              </a:rPr>
              <a:t>with </a:t>
            </a:r>
            <a:r>
              <a:rPr sz="1200" spc="-5" dirty="0">
                <a:latin typeface="Times New Roman"/>
                <a:cs typeface="Times New Roman"/>
              </a:rPr>
              <a:t>placing </a:t>
            </a:r>
            <a:r>
              <a:rPr lang="en-GB"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sell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order</a:t>
            </a:r>
            <a:r>
              <a:rPr sz="1200" spc="-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88900" marR="173355">
              <a:lnSpc>
                <a:spcPct val="120100"/>
              </a:lnSpc>
              <a:spcBef>
                <a:spcPts val="5"/>
              </a:spcBef>
            </a:pPr>
            <a:r>
              <a:rPr lang="en-GB" sz="1200" spc="-5" dirty="0">
                <a:latin typeface="Times New Roman"/>
                <a:cs typeface="Times New Roman"/>
              </a:rPr>
              <a:t>A </a:t>
            </a:r>
            <a:r>
              <a:rPr lang="en-GB" sz="1200" b="1" spc="-5" dirty="0">
                <a:latin typeface="Times New Roman"/>
                <a:cs typeface="Times New Roman"/>
              </a:rPr>
              <a:t>trade</a:t>
            </a:r>
            <a:r>
              <a:rPr lang="en-GB" sz="1200" spc="-5" dirty="0">
                <a:latin typeface="Times New Roman"/>
                <a:cs typeface="Times New Roman"/>
              </a:rPr>
              <a:t> entry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shall generate </a:t>
            </a:r>
            <a:r>
              <a:rPr sz="1200" b="1" spc="-5" dirty="0">
                <a:latin typeface="Times New Roman"/>
                <a:cs typeface="Times New Roman"/>
              </a:rPr>
              <a:t>forecasted </a:t>
            </a:r>
            <a:r>
              <a:rPr lang="en-GB" sz="1200" b="1" spc="-5" dirty="0">
                <a:latin typeface="Times New Roman"/>
                <a:cs typeface="Times New Roman"/>
              </a:rPr>
              <a:t>cash flows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Times New Roman"/>
                <a:cs typeface="Times New Roman"/>
              </a:rPr>
              <a:t>associated </a:t>
            </a:r>
            <a:r>
              <a:rPr sz="1200" dirty="0">
                <a:latin typeface="Times New Roman"/>
                <a:cs typeface="Times New Roman"/>
              </a:rPr>
              <a:t>with the </a:t>
            </a:r>
            <a:r>
              <a:rPr sz="1200" spc="-5" dirty="0">
                <a:latin typeface="Times New Roman"/>
                <a:cs typeface="Times New Roman"/>
              </a:rPr>
              <a:t>given </a:t>
            </a:r>
            <a:r>
              <a:rPr sz="1200" b="1" spc="-5" dirty="0">
                <a:latin typeface="Times New Roman"/>
                <a:cs typeface="Times New Roman"/>
              </a:rPr>
              <a:t>trade </a:t>
            </a:r>
            <a:r>
              <a:rPr lang="en-GB" sz="1200" b="1" spc="-5" dirty="0">
                <a:latin typeface="Times New Roman"/>
                <a:cs typeface="Times New Roman"/>
              </a:rPr>
              <a:t>lot.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latin typeface="Times New Roman"/>
                <a:cs typeface="Times New Roman"/>
              </a:rPr>
              <a:t>The </a:t>
            </a:r>
            <a:r>
              <a:rPr sz="1200" b="1" spc="-5" dirty="0">
                <a:latin typeface="Times New Roman"/>
                <a:cs typeface="Times New Roman"/>
              </a:rPr>
              <a:t>system </a:t>
            </a:r>
            <a:r>
              <a:rPr sz="1200" spc="-5" dirty="0">
                <a:latin typeface="Times New Roman"/>
                <a:cs typeface="Times New Roman"/>
              </a:rPr>
              <a:t>shall match </a:t>
            </a:r>
            <a:r>
              <a:rPr sz="1200" dirty="0">
                <a:latin typeface="Times New Roman"/>
                <a:cs typeface="Times New Roman"/>
              </a:rPr>
              <a:t>up </a:t>
            </a:r>
            <a:r>
              <a:rPr sz="1200" b="1" spc="-5" dirty="0">
                <a:latin typeface="Times New Roman"/>
                <a:cs typeface="Times New Roman"/>
              </a:rPr>
              <a:t>actual cashflows </a:t>
            </a:r>
            <a:r>
              <a:rPr sz="1200" spc="-5" dirty="0">
                <a:latin typeface="Times New Roman"/>
                <a:cs typeface="Times New Roman"/>
              </a:rPr>
              <a:t>with </a:t>
            </a:r>
            <a:r>
              <a:rPr sz="1200" b="1" spc="-5" dirty="0">
                <a:latin typeface="Times New Roman"/>
                <a:cs typeface="Times New Roman"/>
              </a:rPr>
              <a:t>forecasted</a:t>
            </a:r>
            <a:r>
              <a:rPr sz="1200" b="1" spc="30" dirty="0">
                <a:latin typeface="Times New Roman"/>
                <a:cs typeface="Times New Roman"/>
              </a:rPr>
              <a:t> </a:t>
            </a:r>
            <a:r>
              <a:rPr sz="1200" b="1" spc="-5" dirty="0">
                <a:latin typeface="Times New Roman"/>
                <a:cs typeface="Times New Roman"/>
              </a:rPr>
              <a:t>cashflows</a:t>
            </a:r>
            <a:r>
              <a:rPr sz="1200" spc="-5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88900" marR="374015">
              <a:lnSpc>
                <a:spcPct val="239600"/>
              </a:lnSpc>
            </a:pPr>
            <a:r>
              <a:rPr sz="1200" spc="-5" dirty="0">
                <a:latin typeface="Times New Roman"/>
                <a:cs typeface="Times New Roman"/>
              </a:rPr>
              <a:t>The </a:t>
            </a:r>
            <a:r>
              <a:rPr sz="1200" b="1" spc="-5" dirty="0">
                <a:latin typeface="Times New Roman"/>
                <a:cs typeface="Times New Roman"/>
              </a:rPr>
              <a:t>system </a:t>
            </a:r>
            <a:r>
              <a:rPr sz="1200" spc="-5" dirty="0">
                <a:latin typeface="Times New Roman"/>
                <a:cs typeface="Times New Roman"/>
              </a:rPr>
              <a:t>shall automatically generate appropriate </a:t>
            </a:r>
            <a:r>
              <a:rPr sz="1200" b="1" dirty="0">
                <a:latin typeface="Times New Roman"/>
                <a:cs typeface="Times New Roman"/>
              </a:rPr>
              <a:t>postings </a:t>
            </a:r>
            <a:r>
              <a:rPr sz="1200" spc="-5" dirty="0">
                <a:latin typeface="Times New Roman"/>
                <a:cs typeface="Times New Roman"/>
              </a:rPr>
              <a:t>to </a:t>
            </a:r>
            <a:r>
              <a:rPr sz="1200" dirty="0">
                <a:latin typeface="Times New Roman"/>
                <a:cs typeface="Times New Roman"/>
              </a:rPr>
              <a:t>the </a:t>
            </a:r>
            <a:r>
              <a:rPr sz="1200" b="1" spc="-5" dirty="0">
                <a:latin typeface="Times New Roman"/>
                <a:cs typeface="Times New Roman"/>
              </a:rPr>
              <a:t>General Ledger</a:t>
            </a:r>
            <a:r>
              <a:rPr sz="1200" spc="-5" dirty="0">
                <a:latin typeface="Times New Roman"/>
                <a:cs typeface="Times New Roman"/>
              </a:rPr>
              <a:t>.  The </a:t>
            </a:r>
            <a:r>
              <a:rPr sz="1200" b="1" spc="-5" dirty="0">
                <a:latin typeface="Times New Roman"/>
                <a:cs typeface="Times New Roman"/>
              </a:rPr>
              <a:t>system </a:t>
            </a:r>
            <a:r>
              <a:rPr sz="1200" spc="-5" dirty="0">
                <a:latin typeface="Times New Roman"/>
                <a:cs typeface="Times New Roman"/>
              </a:rPr>
              <a:t>shall allow an </a:t>
            </a:r>
            <a:r>
              <a:rPr sz="1200" b="1" spc="-5" dirty="0">
                <a:latin typeface="Times New Roman"/>
                <a:cs typeface="Times New Roman"/>
              </a:rPr>
              <a:t>Assistant Trader </a:t>
            </a:r>
            <a:r>
              <a:rPr sz="1200" dirty="0">
                <a:latin typeface="Times New Roman"/>
                <a:cs typeface="Times New Roman"/>
              </a:rPr>
              <a:t>to </a:t>
            </a:r>
            <a:r>
              <a:rPr sz="1200" spc="-5" dirty="0">
                <a:latin typeface="Times New Roman"/>
                <a:cs typeface="Times New Roman"/>
              </a:rPr>
              <a:t>modify </a:t>
            </a:r>
            <a:r>
              <a:rPr sz="1200" b="1" spc="-5" dirty="0">
                <a:latin typeface="Times New Roman"/>
                <a:cs typeface="Times New Roman"/>
              </a:rPr>
              <a:t>trade </a:t>
            </a:r>
            <a:r>
              <a:rPr sz="1200" b="1" dirty="0">
                <a:latin typeface="Times New Roman"/>
                <a:cs typeface="Times New Roman"/>
              </a:rPr>
              <a:t>data </a:t>
            </a:r>
            <a:r>
              <a:rPr sz="1200" spc="-5" dirty="0">
                <a:latin typeface="Times New Roman"/>
                <a:cs typeface="Times New Roman"/>
              </a:rPr>
              <a:t>and propagate</a:t>
            </a:r>
            <a:r>
              <a:rPr sz="1200" spc="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</a:p>
          <a:p>
            <a:pPr marL="88900">
              <a:lnSpc>
                <a:spcPct val="100000"/>
              </a:lnSpc>
              <a:spcBef>
                <a:spcPts val="280"/>
              </a:spcBef>
            </a:pPr>
            <a:r>
              <a:rPr sz="1200" b="1" spc="-5" dirty="0">
                <a:latin typeface="Times New Roman"/>
                <a:cs typeface="Times New Roman"/>
              </a:rPr>
              <a:t>results </a:t>
            </a:r>
            <a:r>
              <a:rPr sz="1200" spc="-5" dirty="0">
                <a:latin typeface="Times New Roman"/>
                <a:cs typeface="Times New Roman"/>
              </a:rPr>
              <a:t>accordingly.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5800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907704" y="987574"/>
            <a:ext cx="7704856" cy="4320480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After identifying nouns  and noun phrases,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Make plural terms singular.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Eliminate duplicate terms.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Consolidate synonyms into single term.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Place list in alphabetic order.</a:t>
            </a:r>
          </a:p>
          <a:p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/>
              <a:t>Step 02 – Noun Phrase Consolidation</a:t>
            </a:r>
          </a:p>
        </p:txBody>
      </p:sp>
    </p:spTree>
    <p:extLst>
      <p:ext uri="{BB962C8B-B14F-4D97-AF65-F5344CB8AC3E}">
        <p14:creationId xmlns:p14="http://schemas.microsoft.com/office/powerpoint/2010/main" val="339584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E5889-E20F-AABA-79FB-0A9A996F1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88D804-0B97-A401-EB7B-4B530F79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251985"/>
            <a:ext cx="7200800" cy="543447"/>
          </a:xfrm>
        </p:spPr>
        <p:txBody>
          <a:bodyPr/>
          <a:lstStyle/>
          <a:p>
            <a:r>
              <a:rPr lang="en-US" sz="2400" dirty="0"/>
              <a:t>Step 02 – Noun Phrase Consolidation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FC8106C-3689-FABC-5E9C-AA4AD97240D0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3146192840"/>
              </p:ext>
            </p:extLst>
          </p:nvPr>
        </p:nvGraphicFramePr>
        <p:xfrm>
          <a:off x="1958804" y="949435"/>
          <a:ext cx="6911972" cy="394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9187">
                  <a:extLst>
                    <a:ext uri="{9D8B030D-6E8A-4147-A177-3AD203B41FA5}">
                      <a16:colId xmlns:a16="http://schemas.microsoft.com/office/drawing/2014/main" val="1431663432"/>
                    </a:ext>
                  </a:extLst>
                </a:gridCol>
                <a:gridCol w="1666799">
                  <a:extLst>
                    <a:ext uri="{9D8B030D-6E8A-4147-A177-3AD203B41FA5}">
                      <a16:colId xmlns:a16="http://schemas.microsoft.com/office/drawing/2014/main" val="260279829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3957525621"/>
                    </a:ext>
                  </a:extLst>
                </a:gridCol>
                <a:gridCol w="1727993">
                  <a:extLst>
                    <a:ext uri="{9D8B030D-6E8A-4147-A177-3AD203B41FA5}">
                      <a16:colId xmlns:a16="http://schemas.microsoft.com/office/drawing/2014/main" val="1973816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00FF00"/>
                          </a:highlight>
                        </a:rPr>
                        <a:t>Portfolio </a:t>
                      </a:r>
                      <a:br>
                        <a:rPr lang="en-GB" dirty="0">
                          <a:highlight>
                            <a:srgbClr val="00FF00"/>
                          </a:highlight>
                        </a:rPr>
                      </a:br>
                      <a:r>
                        <a:rPr lang="en-GB" dirty="0">
                          <a:highlight>
                            <a:srgbClr val="00FF00"/>
                          </a:highlight>
                        </a:rPr>
                        <a:t>Manager</a:t>
                      </a:r>
                      <a:endParaRPr lang="en-LK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portfolios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endParaRPr lang="en-LK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levels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LK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167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Trader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orders</a:t>
                      </a:r>
                      <a:endParaRPr lang="en-LK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portfolio</a:t>
                      </a:r>
                      <a:endParaRPr lang="en-LK" dirty="0"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trades</a:t>
                      </a:r>
                      <a:endParaRPr lang="en-LK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3949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00FF00"/>
                          </a:highlight>
                        </a:rPr>
                        <a:t>Portfolio </a:t>
                      </a:r>
                      <a:br>
                        <a:rPr lang="en-GB" dirty="0">
                          <a:highlight>
                            <a:srgbClr val="00FF00"/>
                          </a:highlight>
                        </a:rPr>
                      </a:br>
                      <a:r>
                        <a:rPr lang="en-GB" dirty="0">
                          <a:highlight>
                            <a:srgbClr val="00FF00"/>
                          </a:highlight>
                        </a:rPr>
                        <a:t>Manager</a:t>
                      </a:r>
                      <a:endParaRPr lang="en-LK" dirty="0">
                        <a:highlight>
                          <a:srgbClr val="00FF00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purchase </a:t>
                      </a:r>
                      <a:br>
                        <a:rPr lang="en-GB" dirty="0"/>
                      </a:br>
                      <a:r>
                        <a:rPr lang="en-GB" dirty="0"/>
                        <a:t>method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sell order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169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trade entry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b="0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  <a:t>cash flows </a:t>
                      </a:r>
                      <a:endParaRPr lang="en-LK" b="0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trade lot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LK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59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00FF"/>
                          </a:highlight>
                        </a:rPr>
                        <a:t>system</a:t>
                      </a:r>
                      <a:endParaRPr lang="en-LK" dirty="0">
                        <a:highlight>
                          <a:srgbClr val="FF00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  <a:t>actual cash </a:t>
                      </a:r>
                      <a:br>
                        <a:rPr lang="en-GB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</a:b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  <a:t>flows</a:t>
                      </a:r>
                      <a:endParaRPr lang="en-LK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  <a:t>forecasted </a:t>
                      </a:r>
                      <a:br>
                        <a:rPr lang="en-GB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</a:b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00FFFF"/>
                          </a:highlight>
                        </a:rPr>
                        <a:t>cash flows</a:t>
                      </a:r>
                      <a:endParaRPr lang="en-LK" dirty="0">
                        <a:solidFill>
                          <a:srgbClr val="FF0000"/>
                        </a:solidFill>
                        <a:highlight>
                          <a:srgbClr val="00FF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501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00FF"/>
                          </a:highlight>
                        </a:rPr>
                        <a:t>system</a:t>
                      </a:r>
                      <a:endParaRPr lang="en-LK" dirty="0">
                        <a:highlight>
                          <a:srgbClr val="FF00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postings</a:t>
                      </a:r>
                      <a:endParaRPr lang="en-LK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General </a:t>
                      </a:r>
                      <a:br>
                        <a:rPr lang="en-GB" dirty="0"/>
                      </a:br>
                      <a:r>
                        <a:rPr lang="en-GB" dirty="0"/>
                        <a:t>Ledger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511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highlight>
                            <a:srgbClr val="FF00FF"/>
                          </a:highlight>
                        </a:rPr>
                        <a:t>system</a:t>
                      </a:r>
                      <a:endParaRPr lang="en-LK" dirty="0">
                        <a:highlight>
                          <a:srgbClr val="FF00FF"/>
                        </a:highlight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Assistant </a:t>
                      </a:r>
                      <a:br>
                        <a:rPr lang="en-GB" dirty="0"/>
                      </a:br>
                      <a:r>
                        <a:rPr lang="en-GB" dirty="0"/>
                        <a:t>Trader</a:t>
                      </a:r>
                      <a:endParaRPr lang="en-LK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b="0" dirty="0"/>
                        <a:t>trade data </a:t>
                      </a:r>
                      <a:endParaRPr lang="en-LK" b="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LK" dirty="0">
                          <a:solidFill>
                            <a:srgbClr val="FF0000"/>
                          </a:solidFill>
                        </a:rPr>
                        <a:t>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1302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14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228103"/>
            <a:ext cx="7200800" cy="543447"/>
          </a:xfrm>
        </p:spPr>
        <p:txBody>
          <a:bodyPr/>
          <a:lstStyle/>
          <a:p>
            <a:r>
              <a:rPr lang="en-US" sz="2400"/>
              <a:t>Step 02 – Noun Phrase Consolidation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9832" y="3858602"/>
            <a:ext cx="3916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</a:t>
            </a:r>
            <a:r>
              <a:rPr lang="en-US" spc="-5" dirty="0">
                <a:latin typeface="Arial" panose="020B0604020202020204" pitchFamily="34" charset="0"/>
                <a:cs typeface="Arial" panose="020B0604020202020204" pitchFamily="34" charset="0"/>
              </a:rPr>
              <a:t>the consolidating noun</a:t>
            </a:r>
            <a:r>
              <a:rPr lang="en-US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pc="-5" dirty="0">
                <a:latin typeface="Arial" panose="020B0604020202020204" pitchFamily="34" charset="0"/>
                <a:cs typeface="Arial" panose="020B0604020202020204" pitchFamily="34" charset="0"/>
              </a:rPr>
              <a:t>phrases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C3FCBD-94E1-42B9-91C6-A398D6962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720273"/>
              </p:ext>
            </p:extLst>
          </p:nvPr>
        </p:nvGraphicFramePr>
        <p:xfrm>
          <a:off x="1998323" y="915566"/>
          <a:ext cx="6881991" cy="2194560"/>
        </p:xfrm>
        <a:graphic>
          <a:graphicData uri="http://schemas.openxmlformats.org/drawingml/2006/table">
            <a:tbl>
              <a:tblPr/>
              <a:tblGrid>
                <a:gridCol w="2293997">
                  <a:extLst>
                    <a:ext uri="{9D8B030D-6E8A-4147-A177-3AD203B41FA5}">
                      <a16:colId xmlns:a16="http://schemas.microsoft.com/office/drawing/2014/main" val="1887873581"/>
                    </a:ext>
                  </a:extLst>
                </a:gridCol>
                <a:gridCol w="2293997">
                  <a:extLst>
                    <a:ext uri="{9D8B030D-6E8A-4147-A177-3AD203B41FA5}">
                      <a16:colId xmlns:a16="http://schemas.microsoft.com/office/drawing/2014/main" val="2403261340"/>
                    </a:ext>
                  </a:extLst>
                </a:gridCol>
                <a:gridCol w="2293997">
                  <a:extLst>
                    <a:ext uri="{9D8B030D-6E8A-4147-A177-3AD203B41FA5}">
                      <a16:colId xmlns:a16="http://schemas.microsoft.com/office/drawing/2014/main" val="4104563014"/>
                    </a:ext>
                  </a:extLst>
                </a:gridCol>
              </a:tblGrid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Assistant Trader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Portfolio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235709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Portfolio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115528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General Ledger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808725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Purchase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 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537946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 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852930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Sell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LK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28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81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403648" y="823020"/>
            <a:ext cx="8208912" cy="4320480"/>
          </a:xfrm>
        </p:spPr>
        <p:txBody>
          <a:bodyPr/>
          <a:lstStyle/>
          <a:p>
            <a:pPr marL="403860" lvl="1" indent="0">
              <a:spcBef>
                <a:spcPts val="550"/>
              </a:spcBef>
              <a:buSzPct val="69230"/>
              <a:buNone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Now, remove:</a:t>
            </a:r>
          </a:p>
          <a:p>
            <a:pPr marL="746760" lvl="1" indent="-342900">
              <a:spcBef>
                <a:spcPts val="550"/>
              </a:spcBef>
              <a:buSzPct val="69230"/>
              <a:buFont typeface="Arial" panose="020B0604020202020204" pitchFamily="34" charset="0"/>
              <a:buChar char="•"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References to the system itself or to its context.</a:t>
            </a:r>
          </a:p>
          <a:p>
            <a:pPr marL="746760" lvl="1" indent="-342900">
              <a:spcBef>
                <a:spcPts val="550"/>
              </a:spcBef>
              <a:buSzPct val="69230"/>
              <a:buFont typeface="Arial" panose="020B0604020202020204" pitchFamily="34" charset="0"/>
              <a:buChar char="•"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Nouns which appear out of the scope of the project.</a:t>
            </a:r>
          </a:p>
          <a:p>
            <a:pPr marL="746760" lvl="1" indent="-342900">
              <a:spcBef>
                <a:spcPts val="550"/>
              </a:spcBef>
              <a:buSzPct val="69230"/>
              <a:buFont typeface="Arial" panose="020B0604020202020204" pitchFamily="34" charset="0"/>
              <a:buChar char="•"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Nouns which are too vague.</a:t>
            </a:r>
          </a:p>
          <a:p>
            <a:pPr marL="746760" lvl="1" indent="-342900">
              <a:spcBef>
                <a:spcPts val="550"/>
              </a:spcBef>
              <a:buSzPct val="69230"/>
              <a:buFont typeface="Arial" panose="020B0604020202020204" pitchFamily="34" charset="0"/>
              <a:buChar char="•"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Nouns which represent actions.</a:t>
            </a:r>
          </a:p>
          <a:p>
            <a:pPr marL="403860" lvl="1" indent="0">
              <a:spcBef>
                <a:spcPts val="550"/>
              </a:spcBef>
              <a:buSzPct val="69230"/>
              <a:buNone/>
              <a:tabLst>
                <a:tab pos="678180" algn="l"/>
              </a:tabLst>
            </a:pPr>
            <a:endParaRPr lang="en-US" sz="2000" dirty="0">
              <a:latin typeface="Arial"/>
              <a:cs typeface="Arial"/>
            </a:endParaRPr>
          </a:p>
          <a:p>
            <a:pPr marL="746760" lvl="1" indent="-342900">
              <a:spcBef>
                <a:spcPts val="550"/>
              </a:spcBef>
              <a:buSzPct val="69230"/>
              <a:buFont typeface="Wingdings" panose="05000000000000000000" pitchFamily="2" charset="2"/>
              <a:buChar char="Ø"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Actors might be removed from our list of candidate </a:t>
            </a:r>
          </a:p>
          <a:p>
            <a:pPr marL="403860" lvl="1" indent="0">
              <a:spcBef>
                <a:spcPts val="550"/>
              </a:spcBef>
              <a:buSzPct val="69230"/>
              <a:buNone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    classes, and placed instead on the use case </a:t>
            </a:r>
          </a:p>
          <a:p>
            <a:pPr marL="403860" lvl="1" indent="0">
              <a:spcBef>
                <a:spcPts val="550"/>
              </a:spcBef>
              <a:buSzPct val="69230"/>
              <a:buNone/>
              <a:tabLst>
                <a:tab pos="678180" algn="l"/>
              </a:tabLst>
            </a:pPr>
            <a:r>
              <a:rPr lang="en-US" sz="2000" dirty="0">
                <a:latin typeface="Arial"/>
                <a:cs typeface="Arial"/>
              </a:rPr>
              <a:t>    diagrams.</a:t>
            </a:r>
          </a:p>
          <a:p>
            <a:pPr marL="403860" lvl="1" indent="0">
              <a:spcBef>
                <a:spcPts val="550"/>
              </a:spcBef>
              <a:buSzPct val="69230"/>
              <a:buNone/>
              <a:tabLst>
                <a:tab pos="678180" algn="l"/>
              </a:tabLst>
            </a:pPr>
            <a:endParaRPr lang="en-US" sz="2400" dirty="0">
              <a:latin typeface="Arial"/>
              <a:cs typeface="Arial"/>
            </a:endParaRPr>
          </a:p>
          <a:p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/>
              <a:t>Step 03 – Noun Phrase Analysis</a:t>
            </a:r>
          </a:p>
        </p:txBody>
      </p:sp>
    </p:spTree>
    <p:extLst>
      <p:ext uri="{BB962C8B-B14F-4D97-AF65-F5344CB8AC3E}">
        <p14:creationId xmlns:p14="http://schemas.microsoft.com/office/powerpoint/2010/main" val="4271400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F61AF-869B-6E72-8508-03343F9B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D99D7A-175E-823D-289D-89C01590F60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259632" y="771550"/>
            <a:ext cx="7704856" cy="4320480"/>
          </a:xfrm>
        </p:spPr>
        <p:txBody>
          <a:bodyPr/>
          <a:lstStyle/>
          <a:p>
            <a:pPr marL="403860" lvl="1" indent="0">
              <a:spcBef>
                <a:spcPts val="550"/>
              </a:spcBef>
              <a:buSzPct val="69230"/>
              <a:buNone/>
              <a:tabLst>
                <a:tab pos="678180" algn="l"/>
              </a:tabLst>
            </a:pPr>
            <a:endParaRPr lang="en-US" sz="2400">
              <a:latin typeface="Arial"/>
              <a:cs typeface="Arial"/>
            </a:endParaRPr>
          </a:p>
          <a:p>
            <a:endParaRPr lang="en-US" sz="1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B78F3C-25C7-EC0C-EF7E-C5CCD31C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 dirty="0"/>
              <a:t>Step 03 – Noun Phrase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61FBBB-DCBB-75D8-D28E-C08A9102C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916178"/>
              </p:ext>
            </p:extLst>
          </p:nvPr>
        </p:nvGraphicFramePr>
        <p:xfrm>
          <a:off x="1998323" y="915566"/>
          <a:ext cx="6881991" cy="2194560"/>
        </p:xfrm>
        <a:graphic>
          <a:graphicData uri="http://schemas.openxmlformats.org/drawingml/2006/table">
            <a:tbl>
              <a:tblPr/>
              <a:tblGrid>
                <a:gridCol w="2293997">
                  <a:extLst>
                    <a:ext uri="{9D8B030D-6E8A-4147-A177-3AD203B41FA5}">
                      <a16:colId xmlns:a16="http://schemas.microsoft.com/office/drawing/2014/main" val="1887873581"/>
                    </a:ext>
                  </a:extLst>
                </a:gridCol>
                <a:gridCol w="2293997">
                  <a:extLst>
                    <a:ext uri="{9D8B030D-6E8A-4147-A177-3AD203B41FA5}">
                      <a16:colId xmlns:a16="http://schemas.microsoft.com/office/drawing/2014/main" val="2403261340"/>
                    </a:ext>
                  </a:extLst>
                </a:gridCol>
                <a:gridCol w="2293997">
                  <a:extLst>
                    <a:ext uri="{9D8B030D-6E8A-4147-A177-3AD203B41FA5}">
                      <a16:colId xmlns:a16="http://schemas.microsoft.com/office/drawing/2014/main" val="4104563014"/>
                    </a:ext>
                  </a:extLst>
                </a:gridCol>
              </a:tblGrid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Assistant Trader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Portfolio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235709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Portfolio Manager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115528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General Ledger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Trade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808725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Purchase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Trade 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537946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Trade Lot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852930"/>
                  </a:ext>
                </a:extLst>
              </a:tr>
              <a:tr h="350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Sell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Trader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LK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6286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A224BD-D4B1-C893-F608-B07625F79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51643"/>
              </p:ext>
            </p:extLst>
          </p:nvPr>
        </p:nvGraphicFramePr>
        <p:xfrm>
          <a:off x="2195736" y="3631034"/>
          <a:ext cx="3516052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210">
                  <a:extLst>
                    <a:ext uri="{9D8B030D-6E8A-4147-A177-3AD203B41FA5}">
                      <a16:colId xmlns:a16="http://schemas.microsoft.com/office/drawing/2014/main" val="1604384203"/>
                    </a:ext>
                  </a:extLst>
                </a:gridCol>
                <a:gridCol w="3107842">
                  <a:extLst>
                    <a:ext uri="{9D8B030D-6E8A-4147-A177-3AD203B41FA5}">
                      <a16:colId xmlns:a16="http://schemas.microsoft.com/office/drawing/2014/main" val="307242662"/>
                    </a:ext>
                  </a:extLst>
                </a:gridCol>
              </a:tblGrid>
              <a:tr h="237624">
                <a:tc>
                  <a:txBody>
                    <a:bodyPr/>
                    <a:lstStyle/>
                    <a:p>
                      <a:endParaRPr lang="en-LK" sz="12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K" sz="1200" dirty="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7718529"/>
                  </a:ext>
                </a:extLst>
              </a:tr>
              <a:tr h="251336">
                <a:tc>
                  <a:txBody>
                    <a:bodyPr/>
                    <a:lstStyle/>
                    <a:p>
                      <a:endParaRPr lang="en-LK" sz="12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LK" sz="1200" dirty="0"/>
                        <a:t>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612567"/>
                  </a:ext>
                </a:extLst>
              </a:tr>
              <a:tr h="265048">
                <a:tc>
                  <a:txBody>
                    <a:bodyPr/>
                    <a:lstStyle/>
                    <a:p>
                      <a:endParaRPr lang="en-LK" sz="12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/>
                        <a:t>o</a:t>
                      </a:r>
                      <a:r>
                        <a:rPr lang="en-LK" sz="1200" dirty="0"/>
                        <a:t>ut of the scope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032904"/>
                  </a:ext>
                </a:extLst>
              </a:tr>
              <a:tr h="205988">
                <a:tc>
                  <a:txBody>
                    <a:bodyPr/>
                    <a:lstStyle/>
                    <a:p>
                      <a:endParaRPr lang="en-LK" sz="12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/>
                        <a:t>too vague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14232"/>
                  </a:ext>
                </a:extLst>
              </a:tr>
              <a:tr h="205988">
                <a:tc>
                  <a:txBody>
                    <a:bodyPr/>
                    <a:lstStyle/>
                    <a:p>
                      <a:endParaRPr lang="en-LK" sz="12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200" dirty="0"/>
                        <a:t>reference to the system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674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951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259632" y="646387"/>
            <a:ext cx="8208912" cy="449711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Draw an initial analysis class model showing only class names,</a:t>
            </a:r>
            <a:br>
              <a:rPr lang="en-GB" sz="1800" dirty="0"/>
            </a:br>
            <a:r>
              <a:rPr lang="en-GB" sz="1800" dirty="0"/>
              <a:t>generalizations (inheritance), and associations.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Just as noun phrase analysis helps identify candidate classes, verb </a:t>
            </a:r>
            <a:br>
              <a:rPr lang="en-GB" sz="1800" dirty="0"/>
            </a:br>
            <a:r>
              <a:rPr lang="en-GB" sz="1800" dirty="0"/>
              <a:t>phrase analysis helps identify relationships between classes.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The result can be represented as a table showing candidate </a:t>
            </a:r>
            <a:br>
              <a:rPr lang="en-GB" sz="1800" dirty="0"/>
            </a:br>
            <a:r>
              <a:rPr lang="en-GB" sz="1800" dirty="0"/>
              <a:t>associations among the candidate classes.</a:t>
            </a:r>
          </a:p>
          <a:p>
            <a:r>
              <a:rPr lang="en-GB" sz="1800" dirty="0"/>
              <a:t>    </a:t>
            </a:r>
          </a:p>
          <a:p>
            <a:r>
              <a:rPr lang="en-GB" sz="1800" dirty="0"/>
              <a:t>    Example:</a:t>
            </a:r>
          </a:p>
          <a:p>
            <a:r>
              <a:rPr lang="en-GB" sz="1800" b="1" dirty="0"/>
              <a:t>    Student</a:t>
            </a:r>
            <a:r>
              <a:rPr lang="en-GB" sz="1800" dirty="0"/>
              <a:t> </a:t>
            </a:r>
            <a:r>
              <a:rPr lang="en-GB" sz="1800" i="1" dirty="0" err="1"/>
              <a:t>enrolls</a:t>
            </a:r>
            <a:r>
              <a:rPr lang="en-GB" sz="1800" i="1" dirty="0"/>
              <a:t> in</a:t>
            </a:r>
            <a:r>
              <a:rPr lang="en-GB" sz="1800" dirty="0"/>
              <a:t> </a:t>
            </a:r>
            <a:r>
              <a:rPr lang="en-GB" sz="1800" b="1" dirty="0"/>
              <a:t>Course</a:t>
            </a:r>
            <a:endParaRPr lang="en-GB" sz="1800" dirty="0"/>
          </a:p>
          <a:p>
            <a:r>
              <a:rPr lang="en-GB" sz="1800" b="1" dirty="0"/>
              <a:t>    Professor</a:t>
            </a:r>
            <a:r>
              <a:rPr lang="en-GB" sz="1800" dirty="0"/>
              <a:t> </a:t>
            </a:r>
            <a:r>
              <a:rPr lang="en-GB" sz="1800" i="1" dirty="0"/>
              <a:t>teaches</a:t>
            </a:r>
            <a:r>
              <a:rPr lang="en-GB" sz="1800" dirty="0"/>
              <a:t> </a:t>
            </a:r>
            <a:r>
              <a:rPr lang="en-GB" sz="1800" b="1" dirty="0"/>
              <a:t>Course</a:t>
            </a:r>
          </a:p>
          <a:p>
            <a:endParaRPr lang="en-GB" sz="1800" dirty="0"/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 dirty="0"/>
              <a:t>Step 04 – Draw Initial Analysis Class Model</a:t>
            </a:r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13298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403648" y="843558"/>
            <a:ext cx="7776864" cy="449711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Stands for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responsibilities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collaborators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Uses the world’s most powerful analysis tool, the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sticky note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Begin by marking up some sticky notes as shown below.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/>
              <a:t>Finding classes using CRC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2234555" y="2612056"/>
            <a:ext cx="611505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403648" y="771550"/>
            <a:ext cx="7776864" cy="449711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A CRC card is divided into three compartments:</a:t>
            </a:r>
          </a:p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Top compartment: Name of the candidate class</a:t>
            </a:r>
          </a:p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Left compartment: Responsibilities of the class</a:t>
            </a:r>
          </a:p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Right compartment: Collaborators of the class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Collaborators are other classes that help a class </a:t>
            </a:r>
            <a:r>
              <a:rPr lang="en-GB" sz="1600" dirty="0" err="1"/>
              <a:t>fulfill</a:t>
            </a:r>
            <a:r>
              <a:rPr lang="en-GB" sz="1600" dirty="0"/>
              <a:t> its responsibilities.</a:t>
            </a:r>
            <a:br>
              <a:rPr lang="en-GB" sz="1600" dirty="0"/>
            </a:br>
            <a:r>
              <a:rPr lang="en-GB" sz="1600" dirty="0"/>
              <a:t>Thus, the collaborators compartment helps record the relationships between classes.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600" dirty="0"/>
              <a:t>CRC analysis is a two-phase activity:</a:t>
            </a:r>
          </a:p>
          <a:p>
            <a:pPr marL="10287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Brainstorming – gather information</a:t>
            </a:r>
          </a:p>
          <a:p>
            <a:pPr marL="1028700"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Analysis – examining and refining the information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51470"/>
            <a:ext cx="7200800" cy="543447"/>
          </a:xfrm>
        </p:spPr>
        <p:txBody>
          <a:bodyPr/>
          <a:lstStyle/>
          <a:p>
            <a:r>
              <a:rPr lang="en-US" sz="2400" dirty="0"/>
              <a:t>Finding classes using CRC analysis</a:t>
            </a:r>
          </a:p>
        </p:txBody>
      </p:sp>
    </p:spTree>
    <p:extLst>
      <p:ext uri="{BB962C8B-B14F-4D97-AF65-F5344CB8AC3E}">
        <p14:creationId xmlns:p14="http://schemas.microsoft.com/office/powerpoint/2010/main" val="1272305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3568" y="1779662"/>
            <a:ext cx="7776864" cy="1368152"/>
          </a:xfrm>
        </p:spPr>
        <p:txBody>
          <a:bodyPr/>
          <a:lstStyle/>
          <a:p>
            <a:r>
              <a:rPr lang="en-US" sz="4000"/>
              <a:t>Class Diagram Notations</a:t>
            </a:r>
          </a:p>
        </p:txBody>
      </p:sp>
    </p:spTree>
    <p:extLst>
      <p:ext uri="{BB962C8B-B14F-4D97-AF65-F5344CB8AC3E}">
        <p14:creationId xmlns:p14="http://schemas.microsoft.com/office/powerpoint/2010/main" val="1504447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259632" y="526852"/>
            <a:ext cx="8064896" cy="449711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800" dirty="0"/>
              <a:t>A class is a description (or blueprint) of a set of objects that </a:t>
            </a:r>
            <a:br>
              <a:rPr lang="en-GB" sz="1800" dirty="0"/>
            </a:br>
            <a:r>
              <a:rPr lang="en-GB" sz="1800" dirty="0"/>
              <a:t>share the same attributes, operations (methods), relationships, and </a:t>
            </a:r>
            <a:br>
              <a:rPr lang="en-GB" sz="1800" dirty="0"/>
            </a:br>
            <a:r>
              <a:rPr lang="en-GB" sz="1800" dirty="0" err="1"/>
              <a:t>behavior</a:t>
            </a:r>
            <a:r>
              <a:rPr lang="en-GB" sz="1800" dirty="0"/>
              <a:t>.</a:t>
            </a:r>
          </a:p>
          <a:p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800" dirty="0"/>
              <a:t>In a UML class diagram, each class is represented by a </a:t>
            </a:r>
            <a:br>
              <a:rPr lang="en-GB" sz="1800" dirty="0"/>
            </a:br>
            <a:r>
              <a:rPr lang="en-GB" sz="1800" dirty="0"/>
              <a:t>rectangle divided into three compartments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2" indent="-342900">
              <a:buClr>
                <a:schemeClr val="tx1"/>
              </a:buClr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Name</a:t>
            </a:r>
          </a:p>
          <a:p>
            <a:pPr marL="742950" lvl="2" indent="-342900">
              <a:buClr>
                <a:schemeClr val="tx1"/>
              </a:buClr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Attributes</a:t>
            </a:r>
          </a:p>
          <a:p>
            <a:pPr marL="742950" lvl="2" indent="-342900">
              <a:buClr>
                <a:schemeClr val="tx1"/>
              </a:buClr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Operations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sz="2400"/>
              <a:t>Classes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740" y="3356017"/>
            <a:ext cx="5868652" cy="176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01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619672" y="785541"/>
            <a:ext cx="7344816" cy="4320480"/>
          </a:xfrm>
        </p:spPr>
        <p:txBody>
          <a:bodyPr/>
          <a:lstStyle/>
          <a:p>
            <a:r>
              <a:rPr lang="en-GB" sz="2000" dirty="0"/>
              <a:t>Visibility modifiers are used to indicate the accessibility of attributes and operations in a class.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7704" y="37479"/>
            <a:ext cx="7200800" cy="543447"/>
          </a:xfrm>
        </p:spPr>
        <p:txBody>
          <a:bodyPr/>
          <a:lstStyle/>
          <a:p>
            <a:r>
              <a:rPr lang="en-GB" sz="2400" dirty="0"/>
              <a:t>Visibility Modifiers in UML Class Diagrams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2855EA-958D-D5E7-400A-662176042A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521792"/>
              </p:ext>
            </p:extLst>
          </p:nvPr>
        </p:nvGraphicFramePr>
        <p:xfrm>
          <a:off x="2411760" y="1635646"/>
          <a:ext cx="5976664" cy="32646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7560">
                  <a:extLst>
                    <a:ext uri="{9D8B030D-6E8A-4147-A177-3AD203B41FA5}">
                      <a16:colId xmlns:a16="http://schemas.microsoft.com/office/drawing/2014/main" val="464176758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557547911"/>
                    </a:ext>
                  </a:extLst>
                </a:gridCol>
                <a:gridCol w="3234928">
                  <a:extLst>
                    <a:ext uri="{9D8B030D-6E8A-4147-A177-3AD203B41FA5}">
                      <a16:colId xmlns:a16="http://schemas.microsoft.com/office/drawing/2014/main" val="2139681056"/>
                    </a:ext>
                  </a:extLst>
                </a:gridCol>
              </a:tblGrid>
              <a:tr h="260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Adornment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Visibility Name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Semantics</a:t>
                      </a:r>
                    </a:p>
                  </a:txBody>
                  <a:tcPr marL="65246" marR="65246" marT="32623" marB="32623" anchor="ctr"/>
                </a:tc>
                <a:extLst>
                  <a:ext uri="{0D108BD9-81ED-4DB2-BD59-A6C34878D82A}">
                    <a16:rowId xmlns:a16="http://schemas.microsoft.com/office/drawing/2014/main" val="558578377"/>
                  </a:ext>
                </a:extLst>
              </a:tr>
              <a:tr h="652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 sz="1300"/>
                        <a:t>+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Public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The attribute or operation is accessible </a:t>
                      </a:r>
                      <a:br>
                        <a:rPr lang="en-GB" sz="1300" dirty="0"/>
                      </a:br>
                      <a:r>
                        <a:rPr lang="en-GB" sz="1300" dirty="0"/>
                        <a:t>from any other class.</a:t>
                      </a:r>
                    </a:p>
                  </a:txBody>
                  <a:tcPr marL="65246" marR="65246" marT="32623" marB="32623" anchor="ctr"/>
                </a:tc>
                <a:extLst>
                  <a:ext uri="{0D108BD9-81ED-4DB2-BD59-A6C34878D82A}">
                    <a16:rowId xmlns:a16="http://schemas.microsoft.com/office/drawing/2014/main" val="1819211807"/>
                  </a:ext>
                </a:extLst>
              </a:tr>
              <a:tr h="652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 sz="1300"/>
                        <a:t>-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Private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The attribute or operation is accessible </a:t>
                      </a:r>
                      <a:br>
                        <a:rPr lang="en-GB" sz="1300" dirty="0"/>
                      </a:br>
                      <a:r>
                        <a:rPr lang="en-GB" sz="1300" dirty="0"/>
                        <a:t>only within the same class.</a:t>
                      </a:r>
                    </a:p>
                  </a:txBody>
                  <a:tcPr marL="65246" marR="65246" marT="32623" marB="32623" anchor="ctr"/>
                </a:tc>
                <a:extLst>
                  <a:ext uri="{0D108BD9-81ED-4DB2-BD59-A6C34878D82A}">
                    <a16:rowId xmlns:a16="http://schemas.microsoft.com/office/drawing/2014/main" val="4014489650"/>
                  </a:ext>
                </a:extLst>
              </a:tr>
              <a:tr h="848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 sz="1300"/>
                        <a:t>#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Protected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The attribute or operation is accessible within the class and its subclasses.</a:t>
                      </a:r>
                    </a:p>
                  </a:txBody>
                  <a:tcPr marL="65246" marR="65246" marT="32623" marB="32623" anchor="ctr"/>
                </a:tc>
                <a:extLst>
                  <a:ext uri="{0D108BD9-81ED-4DB2-BD59-A6C34878D82A}">
                    <a16:rowId xmlns:a16="http://schemas.microsoft.com/office/drawing/2014/main" val="536407878"/>
                  </a:ext>
                </a:extLst>
              </a:tr>
              <a:tr h="848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LK" sz="1300"/>
                        <a:t>~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Package (Default)</a:t>
                      </a:r>
                    </a:p>
                  </a:txBody>
                  <a:tcPr marL="65246" marR="65246" marT="32623" marB="326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The attribute or operation is accessible </a:t>
                      </a:r>
                      <a:br>
                        <a:rPr lang="en-GB" sz="1300" dirty="0"/>
                      </a:br>
                      <a:r>
                        <a:rPr lang="en-GB" sz="1300" dirty="0"/>
                        <a:t>only to classes within the same package.</a:t>
                      </a:r>
                    </a:p>
                  </a:txBody>
                  <a:tcPr marL="65246" marR="65246" marT="32623" marB="32623" anchor="ctr"/>
                </a:tc>
                <a:extLst>
                  <a:ext uri="{0D108BD9-81ED-4DB2-BD59-A6C34878D82A}">
                    <a16:rowId xmlns:a16="http://schemas.microsoft.com/office/drawing/2014/main" val="153336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385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0FDB-E2D0-C6B6-5979-1CE135B7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9817DC-E77E-5E71-FAAA-A28E0CDD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96" y="339502"/>
            <a:ext cx="7200800" cy="543447"/>
          </a:xfrm>
        </p:spPr>
        <p:txBody>
          <a:bodyPr/>
          <a:lstStyle/>
          <a:p>
            <a:r>
              <a:rPr lang="en-GB" sz="2400" dirty="0"/>
              <a:t>Example</a:t>
            </a:r>
            <a:endParaRPr 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B1FDCD-5885-BF3F-AC65-7CEF262F7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274713"/>
              </p:ext>
            </p:extLst>
          </p:nvPr>
        </p:nvGraphicFramePr>
        <p:xfrm>
          <a:off x="2267744" y="1131590"/>
          <a:ext cx="2736304" cy="2473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1676271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94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 </a:t>
                      </a:r>
                      <a:r>
                        <a:rPr lang="en-GB" dirty="0" err="1"/>
                        <a:t>studentID</a:t>
                      </a:r>
                      <a:r>
                        <a:rPr lang="en-GB" dirty="0"/>
                        <a:t> : Integer</a:t>
                      </a:r>
                      <a:br>
                        <a:rPr lang="en-GB" dirty="0"/>
                      </a:br>
                      <a:r>
                        <a:rPr lang="en-GB" dirty="0"/>
                        <a:t>- password : String</a:t>
                      </a:r>
                      <a:br>
                        <a:rPr lang="en-GB" dirty="0"/>
                      </a:br>
                      <a:r>
                        <a:rPr lang="en-GB" dirty="0"/>
                        <a:t># email : String</a:t>
                      </a:r>
                      <a:br>
                        <a:rPr lang="en-GB" dirty="0"/>
                      </a:br>
                      <a:r>
                        <a:rPr lang="en-GB" dirty="0"/>
                        <a:t>~ address : String</a:t>
                      </a:r>
                      <a:endParaRPr lang="en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180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+ </a:t>
                      </a:r>
                      <a:r>
                        <a:rPr lang="en-GB" dirty="0" err="1"/>
                        <a:t>registerCourse</a:t>
                      </a:r>
                      <a:r>
                        <a:rPr lang="en-GB" dirty="0"/>
                        <a:t>() : Void</a:t>
                      </a:r>
                      <a:br>
                        <a:rPr lang="en-GB" dirty="0"/>
                      </a:br>
                      <a:r>
                        <a:rPr lang="en-GB" dirty="0"/>
                        <a:t>+ </a:t>
                      </a:r>
                      <a:r>
                        <a:rPr lang="en-GB" dirty="0" err="1"/>
                        <a:t>dropCourse</a:t>
                      </a:r>
                      <a:r>
                        <a:rPr lang="en-GB" dirty="0"/>
                        <a:t>() : Void</a:t>
                      </a:r>
                      <a:br>
                        <a:rPr lang="en-GB" dirty="0"/>
                      </a:br>
                      <a:r>
                        <a:rPr lang="en-GB" dirty="0"/>
                        <a:t>- </a:t>
                      </a:r>
                      <a:r>
                        <a:rPr lang="en-GB" dirty="0" err="1"/>
                        <a:t>calculateGPA</a:t>
                      </a:r>
                      <a:r>
                        <a:rPr lang="en-GB" dirty="0"/>
                        <a:t>() : Float</a:t>
                      </a:r>
                      <a:endParaRPr lang="en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2208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250088A-A6F6-F5CD-E861-7D68F01E6643}"/>
              </a:ext>
            </a:extLst>
          </p:cNvPr>
          <p:cNvSpPr txBox="1"/>
          <p:nvPr/>
        </p:nvSpPr>
        <p:spPr>
          <a:xfrm>
            <a:off x="5364088" y="1372296"/>
            <a:ext cx="3672408" cy="1718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Courier New" panose="02070309020205020404" pitchFamily="49" charset="0"/>
              </a:rPr>
              <a:t>+</a:t>
            </a:r>
            <a:r>
              <a:rPr lang="en-GB" dirty="0"/>
              <a:t> public attribute/operation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urier New" panose="02070309020205020404" pitchFamily="49" charset="0"/>
              </a:rPr>
              <a:t>-</a:t>
            </a:r>
            <a:r>
              <a:rPr lang="en-GB" dirty="0"/>
              <a:t> private attribute/operation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urier New" panose="02070309020205020404" pitchFamily="49" charset="0"/>
              </a:rPr>
              <a:t>#</a:t>
            </a:r>
            <a:r>
              <a:rPr lang="en-GB" dirty="0"/>
              <a:t> protected attribute/operation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ourier New" panose="02070309020205020404" pitchFamily="49" charset="0"/>
              </a:rPr>
              <a:t>~</a:t>
            </a:r>
            <a:r>
              <a:rPr lang="en-GB" dirty="0"/>
              <a:t> package visibility</a:t>
            </a:r>
          </a:p>
        </p:txBody>
      </p:sp>
    </p:spTree>
    <p:extLst>
      <p:ext uri="{BB962C8B-B14F-4D97-AF65-F5344CB8AC3E}">
        <p14:creationId xmlns:p14="http://schemas.microsoft.com/office/powerpoint/2010/main" val="607400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691680" y="843558"/>
            <a:ext cx="7452320" cy="4104456"/>
          </a:xfrm>
        </p:spPr>
        <p:txBody>
          <a:bodyPr/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Attributes (fields, instance variables)</a:t>
            </a:r>
          </a:p>
          <a:p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visibility </a:t>
            </a:r>
            <a:r>
              <a:rPr lang="en-US" sz="20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data_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balance : double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/ methods</a:t>
            </a:r>
          </a:p>
          <a:p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visibility </a:t>
            </a:r>
            <a:r>
              <a:rPr lang="en-US" sz="2000" b="1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) : </a:t>
            </a:r>
            <a:r>
              <a:rPr lang="en-US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return_type</a:t>
            </a:r>
            <a:endParaRPr 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fr-FR" sz="2000" dirty="0" err="1">
                <a:latin typeface="Arial" panose="020B0604020202020204" pitchFamily="34" charset="0"/>
                <a:cs typeface="Arial" panose="020B0604020202020204" pitchFamily="34" charset="0"/>
              </a:rPr>
              <a:t>calDistance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(p1: double): double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sz="2400"/>
              <a:t>Class Attributes &amp; Methods</a:t>
            </a:r>
          </a:p>
        </p:txBody>
      </p:sp>
    </p:spTree>
    <p:extLst>
      <p:ext uri="{BB962C8B-B14F-4D97-AF65-F5344CB8AC3E}">
        <p14:creationId xmlns:p14="http://schemas.microsoft.com/office/powerpoint/2010/main" val="2419876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691680" y="771550"/>
            <a:ext cx="7452320" cy="4176464"/>
          </a:xfrm>
        </p:spPr>
        <p:txBody>
          <a:bodyPr/>
          <a:lstStyle/>
          <a:p>
            <a:r>
              <a:rPr lang="en-US" sz="2000" b="1" dirty="0"/>
              <a:t>Obj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ect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: An instance of a class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56095"/>
            <a:ext cx="7200800" cy="543447"/>
          </a:xfrm>
        </p:spPr>
        <p:txBody>
          <a:bodyPr/>
          <a:lstStyle/>
          <a:p>
            <a:r>
              <a:rPr lang="en-US" sz="2800"/>
              <a:t>Object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1299115"/>
            <a:ext cx="3953827" cy="256877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63688" y="4096112"/>
            <a:ext cx="72728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The top compartment contains the object identifier, which is </a:t>
            </a:r>
          </a:p>
          <a:p>
            <a:r>
              <a:rPr lang="en-US" sz="2000" i="1">
                <a:latin typeface="Arial" panose="020B0604020202020204" pitchFamily="34" charset="0"/>
                <a:cs typeface="Arial" panose="020B0604020202020204" pitchFamily="34" charset="0"/>
              </a:rPr>
              <a:t>always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underlined.</a:t>
            </a:r>
          </a:p>
        </p:txBody>
      </p:sp>
    </p:spTree>
    <p:extLst>
      <p:ext uri="{BB962C8B-B14F-4D97-AF65-F5344CB8AC3E}">
        <p14:creationId xmlns:p14="http://schemas.microsoft.com/office/powerpoint/2010/main" val="4621298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385900" y="915566"/>
            <a:ext cx="7812360" cy="410445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An association connects two classes and represents a meaningful </a:t>
            </a:r>
            <a:br>
              <a:rPr lang="en-GB" sz="1800" dirty="0"/>
            </a:br>
            <a:r>
              <a:rPr lang="en-GB" sz="1800" dirty="0"/>
              <a:t>relationship between them.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It is indicated by a straight line between the classes.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 class may have an association with itself, which is called a </a:t>
            </a:r>
            <a:br>
              <a:rPr lang="en-GB" sz="1800" dirty="0"/>
            </a:br>
            <a:r>
              <a:rPr lang="en-GB" sz="1800" b="1" i="1" dirty="0"/>
              <a:t>reflexive </a:t>
            </a:r>
            <a:r>
              <a:rPr lang="en-GB" sz="1800" dirty="0"/>
              <a:t>association.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dirty="0"/>
              <a:t>Associations may be further decorated with </a:t>
            </a:r>
            <a:r>
              <a:rPr lang="en-GB" sz="1800" b="1" dirty="0"/>
              <a:t>multiplicity</a:t>
            </a:r>
            <a:r>
              <a:rPr lang="en-GB" sz="1800" dirty="0"/>
              <a:t> to </a:t>
            </a:r>
            <a:br>
              <a:rPr lang="en-GB" sz="1800" dirty="0"/>
            </a:br>
            <a:r>
              <a:rPr lang="en-GB" sz="1800" dirty="0"/>
              <a:t>indicate how many objects participate in the relationship</a:t>
            </a:r>
            <a:r>
              <a:rPr lang="en-GB" sz="2000" dirty="0"/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267494"/>
            <a:ext cx="7200800" cy="543447"/>
          </a:xfrm>
        </p:spPr>
        <p:txBody>
          <a:bodyPr/>
          <a:lstStyle/>
          <a:p>
            <a:r>
              <a:rPr lang="en-US" altLang="en-US" sz="2400" dirty="0"/>
              <a:t>Relationships - Association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1219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313A7-05B8-EF83-7D33-F535EB5F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9DCF728-70CF-61C9-D85F-4B6780D7D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267494"/>
            <a:ext cx="7200800" cy="543447"/>
          </a:xfrm>
        </p:spPr>
        <p:txBody>
          <a:bodyPr/>
          <a:lstStyle/>
          <a:p>
            <a:r>
              <a:rPr lang="en-US" altLang="en-US" sz="2400" dirty="0"/>
              <a:t>Relationships - Association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AA2499-813C-8026-6E6F-7668A1509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635646"/>
            <a:ext cx="4377065" cy="2065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05E630-1A60-E48B-D6D3-B7386A3AD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896351"/>
            <a:ext cx="1293250" cy="422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5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99C3-6389-9343-DEB9-CB2B114E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C67DD-2C17-1B67-EE1A-7946BCCB8F7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30483" y="627534"/>
            <a:ext cx="7812360" cy="410445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 simple relationship where one class is linked to another with an explicit </a:t>
            </a:r>
            <a:br>
              <a:rPr lang="en-GB" sz="1600" dirty="0"/>
            </a:br>
            <a:r>
              <a:rPr lang="en-GB" sz="1600" dirty="0"/>
              <a:t>direction.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A specific type of association where one class directly knows about or </a:t>
            </a:r>
            <a:br>
              <a:rPr lang="en-GB" sz="1600" dirty="0"/>
            </a:br>
            <a:r>
              <a:rPr lang="en-GB" sz="1600" dirty="0"/>
              <a:t>uses another class.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Typically, the relationship is one-directional, meaning one class depends </a:t>
            </a:r>
            <a:br>
              <a:rPr lang="en-GB" sz="1600" dirty="0"/>
            </a:br>
            <a:r>
              <a:rPr lang="en-GB" sz="1600" dirty="0"/>
              <a:t>on or references the other.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/>
              <a:t>It is represented by a line with an arrow pointing toward the class being </a:t>
            </a:r>
            <a:br>
              <a:rPr lang="en-GB" sz="1600" dirty="0"/>
            </a:br>
            <a:r>
              <a:rPr lang="en-GB" sz="1600" dirty="0"/>
              <a:t>referenced.</a:t>
            </a:r>
          </a:p>
          <a:p>
            <a:br>
              <a:rPr lang="en-GB" sz="1600" dirty="0"/>
            </a:br>
            <a:r>
              <a:rPr lang="en-GB" sz="1600" b="1" dirty="0"/>
              <a:t>Example: </a:t>
            </a:r>
            <a:r>
              <a:rPr lang="en-GB" sz="1600" dirty="0">
                <a:solidFill>
                  <a:srgbClr val="0070C0"/>
                </a:solidFill>
              </a:rPr>
              <a:t>A Car has an Engine</a:t>
            </a:r>
          </a:p>
          <a:p>
            <a:r>
              <a:rPr lang="en-GB" sz="1600" dirty="0"/>
              <a:t>Car             Engine </a:t>
            </a:r>
          </a:p>
          <a:p>
            <a:pPr latinLnBrk="0"/>
            <a:r>
              <a:rPr lang="en-GB" sz="1600" dirty="0"/>
              <a:t>A car knows about its engine, but an engine doesn’t need to know about a specific car.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83535D-1808-4996-E614-529EC4CC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 dirty="0"/>
              <a:t>Relationships - Directed Association</a:t>
            </a:r>
            <a:endParaRPr lang="en-US" sz="24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FC7059-245E-C11A-C55D-F24EF5DEDAFE}"/>
              </a:ext>
            </a:extLst>
          </p:cNvPr>
          <p:cNvCxnSpPr/>
          <p:nvPr/>
        </p:nvCxnSpPr>
        <p:spPr>
          <a:xfrm>
            <a:off x="2123728" y="4443958"/>
            <a:ext cx="7920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960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331640" y="627534"/>
            <a:ext cx="7812360" cy="432048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How many instances of class A can be associated with one </a:t>
            </a:r>
          </a:p>
          <a:p>
            <a:r>
              <a:rPr lang="en-US" sz="2000" dirty="0">
                <a:cs typeface="Arial" panose="020B0604020202020204" pitchFamily="34" charset="0"/>
              </a:rPr>
              <a:t>    instance of class B.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A single instance of </a:t>
            </a:r>
            <a:r>
              <a:rPr lang="en-US" sz="2000" b="1" u="sng" dirty="0">
                <a:cs typeface="Arial" panose="020B0604020202020204" pitchFamily="34" charset="0"/>
              </a:rPr>
              <a:t>vehicle</a:t>
            </a:r>
            <a:r>
              <a:rPr lang="en-US" sz="2000" dirty="0">
                <a:cs typeface="Arial" panose="020B0604020202020204" pitchFamily="34" charset="0"/>
              </a:rPr>
              <a:t> can be associated with many </a:t>
            </a:r>
          </a:p>
          <a:p>
            <a:r>
              <a:rPr lang="en-US" sz="2000" dirty="0">
                <a:cs typeface="Arial" panose="020B0604020202020204" pitchFamily="34" charset="0"/>
              </a:rPr>
              <a:t>    wheel </a:t>
            </a:r>
            <a:r>
              <a:rPr lang="en-US" sz="2000" b="1" u="sng" dirty="0">
                <a:cs typeface="Arial" panose="020B0604020202020204" pitchFamily="34" charset="0"/>
              </a:rPr>
              <a:t>instances.</a:t>
            </a:r>
          </a:p>
          <a:p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sz="2400"/>
              <a:t>Multiplicity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2283718"/>
            <a:ext cx="5611658" cy="11521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91680" y="3652062"/>
            <a:ext cx="72728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Multiplicity is applied to the target end of an association and denotes the number of links between each instance 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of the source class and instances of the target class.</a:t>
            </a:r>
          </a:p>
        </p:txBody>
      </p:sp>
    </p:spTree>
    <p:extLst>
      <p:ext uri="{BB962C8B-B14F-4D97-AF65-F5344CB8AC3E}">
        <p14:creationId xmlns:p14="http://schemas.microsoft.com/office/powerpoint/2010/main" val="322622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1763688" y="915566"/>
            <a:ext cx="7244247" cy="3627434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sz="2400">
                <a:latin typeface="+mn-lt"/>
              </a:rPr>
              <a:t>Multiplicity</a:t>
            </a:r>
          </a:p>
        </p:txBody>
      </p:sp>
    </p:spTree>
    <p:extLst>
      <p:ext uri="{BB962C8B-B14F-4D97-AF65-F5344CB8AC3E}">
        <p14:creationId xmlns:p14="http://schemas.microsoft.com/office/powerpoint/2010/main" val="535131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sz="2400" dirty="0"/>
              <a:t>Multiplicities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39928-1AF4-5DC5-829B-984D2AD01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961" y="908146"/>
            <a:ext cx="1232143" cy="1880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4B6E0-EAF8-D624-A857-61E9524AA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909685"/>
            <a:ext cx="1227325" cy="1872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8554EF-E1C0-2FC0-56F5-07EB3DBEA7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88" y="903872"/>
            <a:ext cx="1234944" cy="18842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E07B0C-0D23-0462-E23A-82B641059471}"/>
              </a:ext>
            </a:extLst>
          </p:cNvPr>
          <p:cNvSpPr txBox="1"/>
          <p:nvPr/>
        </p:nvSpPr>
        <p:spPr>
          <a:xfrm>
            <a:off x="6156176" y="2843522"/>
            <a:ext cx="28620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111111"/>
                </a:solidFill>
                <a:effectLst/>
                <a:latin typeface="charter" panose="02040503050506020203" pitchFamily="18" charset="0"/>
              </a:rPr>
              <a:t>A library can have zero or more books.</a:t>
            </a:r>
            <a:endParaRPr lang="en-LK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DB08E9-F7D1-341B-FA7E-D970F6F4F0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428" y="3007321"/>
            <a:ext cx="1253097" cy="19119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23F4CC-F535-4F0C-01AE-2C394B46DE39}"/>
              </a:ext>
            </a:extLst>
          </p:cNvPr>
          <p:cNvSpPr txBox="1"/>
          <p:nvPr/>
        </p:nvSpPr>
        <p:spPr>
          <a:xfrm>
            <a:off x="3848141" y="490874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111111"/>
                </a:solidFill>
                <a:effectLst/>
                <a:latin typeface="charter" panose="02040503050506020203" pitchFamily="18" charset="0"/>
              </a:rPr>
              <a:t>A person may or may not own a car.</a:t>
            </a:r>
            <a:endParaRPr lang="en-LK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D5DB7-F168-DB75-84F6-3903A31B3285}"/>
              </a:ext>
            </a:extLst>
          </p:cNvPr>
          <p:cNvSpPr txBox="1"/>
          <p:nvPr/>
        </p:nvSpPr>
        <p:spPr>
          <a:xfrm>
            <a:off x="3563888" y="71000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111111"/>
                </a:solidFill>
                <a:effectLst/>
                <a:latin typeface="charter" panose="02040503050506020203" pitchFamily="18" charset="0"/>
              </a:rPr>
              <a:t>A teacher can teach multiple students.</a:t>
            </a:r>
            <a:endParaRPr lang="en-LK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516CF-44B3-F7FF-BF76-038CFEFDCB10}"/>
              </a:ext>
            </a:extLst>
          </p:cNvPr>
          <p:cNvSpPr txBox="1"/>
          <p:nvPr/>
        </p:nvSpPr>
        <p:spPr>
          <a:xfrm>
            <a:off x="1584176" y="277522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111111"/>
                </a:solidFill>
                <a:effectLst/>
                <a:latin typeface="charter" panose="02040503050506020203" pitchFamily="18" charset="0"/>
              </a:rPr>
              <a:t>Each person has exactly one passport.</a:t>
            </a:r>
            <a:endParaRPr lang="en-LK" sz="1200" dirty="0"/>
          </a:p>
        </p:txBody>
      </p:sp>
    </p:spTree>
    <p:extLst>
      <p:ext uri="{BB962C8B-B14F-4D97-AF65-F5344CB8AC3E}">
        <p14:creationId xmlns:p14="http://schemas.microsoft.com/office/powerpoint/2010/main" val="2933625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1331640" y="627534"/>
            <a:ext cx="4032448" cy="432048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The generalization icon </a:t>
            </a:r>
          </a:p>
          <a:p>
            <a:r>
              <a:rPr lang="en-US" sz="2000" dirty="0">
                <a:cs typeface="Arial" panose="020B0604020202020204" pitchFamily="34" charset="0"/>
              </a:rPr>
              <a:t>    denotes a generalization/</a:t>
            </a:r>
          </a:p>
          <a:p>
            <a:r>
              <a:rPr lang="en-US" sz="2000" dirty="0">
                <a:cs typeface="Arial" panose="020B0604020202020204" pitchFamily="34" charset="0"/>
              </a:rPr>
              <a:t>    specialization relationship </a:t>
            </a:r>
          </a:p>
          <a:p>
            <a:r>
              <a:rPr lang="en-US" sz="2000" dirty="0">
                <a:cs typeface="Arial" panose="020B0604020202020204" pitchFamily="34" charset="0"/>
              </a:rPr>
              <a:t>    (the “</a:t>
            </a:r>
            <a:r>
              <a:rPr lang="en-US" sz="2000" b="1" dirty="0">
                <a:cs typeface="Arial" panose="020B0604020202020204" pitchFamily="34" charset="0"/>
              </a:rPr>
              <a:t>is a</a:t>
            </a:r>
            <a:r>
              <a:rPr lang="en-US" sz="2000" dirty="0">
                <a:cs typeface="Arial" panose="020B0604020202020204" pitchFamily="34" charset="0"/>
              </a:rPr>
              <a:t>” relationship).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Appears as an association with a closed arrowhead.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cs typeface="Arial" panose="020B0604020202020204" pitchFamily="34" charset="0"/>
              </a:rPr>
              <a:t>The arrowhead points to </a:t>
            </a:r>
          </a:p>
          <a:p>
            <a:r>
              <a:rPr lang="en-US" sz="2000" dirty="0">
                <a:cs typeface="Arial" panose="020B0604020202020204" pitchFamily="34" charset="0"/>
              </a:rPr>
              <a:t>    the superclass, and the </a:t>
            </a:r>
          </a:p>
          <a:p>
            <a:r>
              <a:rPr lang="en-US" sz="2000" dirty="0">
                <a:cs typeface="Arial" panose="020B0604020202020204" pitchFamily="34" charset="0"/>
              </a:rPr>
              <a:t>    opposite end of the </a:t>
            </a:r>
          </a:p>
          <a:p>
            <a:r>
              <a:rPr lang="en-US" sz="2000" dirty="0">
                <a:cs typeface="Arial" panose="020B0604020202020204" pitchFamily="34" charset="0"/>
              </a:rPr>
              <a:t>    association designates </a:t>
            </a:r>
          </a:p>
          <a:p>
            <a:r>
              <a:rPr lang="en-US" sz="2000" dirty="0">
                <a:cs typeface="Arial" panose="020B0604020202020204" pitchFamily="34" charset="0"/>
              </a:rPr>
              <a:t>    the subclass.</a:t>
            </a:r>
          </a:p>
          <a:p>
            <a:endParaRPr lang="en-US" sz="2000" dirty="0"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/>
              <a:t>Relationships- Generalization</a:t>
            </a:r>
            <a:endParaRPr lang="en-US"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699542"/>
            <a:ext cx="3466491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40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F3BD-94A9-7085-EE6B-A399F520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B1C508-5C06-8EED-6269-04205127429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403648" y="1069842"/>
            <a:ext cx="7344816" cy="4320480"/>
          </a:xfrm>
        </p:spPr>
        <p:txBody>
          <a:bodyPr/>
          <a:lstStyle/>
          <a:p>
            <a:pPr marL="342900" indent="-342900" latinLnBrk="0">
              <a:buFont typeface="Wingdings" panose="05000000000000000000" pitchFamily="2" charset="2"/>
              <a:buChar char="Ø"/>
            </a:pPr>
            <a:r>
              <a:rPr lang="en-GB" sz="2000" dirty="0">
                <a:cs typeface="Arial" panose="020B0604020202020204" pitchFamily="34" charset="0"/>
              </a:rPr>
              <a:t>A temporary or weak relationship where one class depends on another but does not own it.</a:t>
            </a:r>
          </a:p>
          <a:p>
            <a:pPr latinLnBrk="0"/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8F3298-77CC-2839-2A32-5FAA7960E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489" y="268565"/>
            <a:ext cx="7200800" cy="543447"/>
          </a:xfrm>
        </p:spPr>
        <p:txBody>
          <a:bodyPr/>
          <a:lstStyle/>
          <a:p>
            <a:r>
              <a:rPr lang="en-US" altLang="en-US" sz="2400" dirty="0"/>
              <a:t>Relationships - Dependency</a:t>
            </a:r>
            <a:endParaRPr lang="en-US" sz="24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709841-8781-9DD8-296D-D2DCA5E81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042213"/>
              </p:ext>
            </p:extLst>
          </p:nvPr>
        </p:nvGraphicFramePr>
        <p:xfrm>
          <a:off x="1907704" y="2139702"/>
          <a:ext cx="239992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9928">
                  <a:extLst>
                    <a:ext uri="{9D8B030D-6E8A-4147-A177-3AD203B41FA5}">
                      <a16:colId xmlns:a16="http://schemas.microsoft.com/office/drawing/2014/main" val="18494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LK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7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L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7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76222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A79CD3-C163-FB48-00E8-3C1353A69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34286"/>
              </p:ext>
            </p:extLst>
          </p:nvPr>
        </p:nvGraphicFramePr>
        <p:xfrm>
          <a:off x="6036332" y="2132802"/>
          <a:ext cx="2399928" cy="1097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99928">
                  <a:extLst>
                    <a:ext uri="{9D8B030D-6E8A-4147-A177-3AD203B41FA5}">
                      <a16:colId xmlns:a16="http://schemas.microsoft.com/office/drawing/2014/main" val="18494365"/>
                    </a:ext>
                  </a:extLst>
                </a:gridCol>
              </a:tblGrid>
              <a:tr h="219325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LK" sz="1800" b="0" i="0" kern="1200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Library 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70909"/>
                  </a:ext>
                </a:extLst>
              </a:tr>
              <a:tr h="216321">
                <a:tc>
                  <a:txBody>
                    <a:bodyPr/>
                    <a:lstStyle/>
                    <a:p>
                      <a:endParaRPr lang="en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75122"/>
                  </a:ext>
                </a:extLst>
              </a:tr>
              <a:tr h="219325">
                <a:tc>
                  <a:txBody>
                    <a:bodyPr/>
                    <a:lstStyle/>
                    <a:p>
                      <a:endParaRPr lang="en-L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7622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475747-4BB7-F171-57B7-C711F4D64C83}"/>
              </a:ext>
            </a:extLst>
          </p:cNvPr>
          <p:cNvSpPr txBox="1"/>
          <p:nvPr/>
        </p:nvSpPr>
        <p:spPr>
          <a:xfrm>
            <a:off x="2555777" y="3451704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dirty="0"/>
              <a:t>Client Class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225B00-73F3-B86A-920D-BF76B5D2E00F}"/>
              </a:ext>
            </a:extLst>
          </p:cNvPr>
          <p:cNvSpPr txBox="1"/>
          <p:nvPr/>
        </p:nvSpPr>
        <p:spPr>
          <a:xfrm>
            <a:off x="6588224" y="3397695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dirty="0"/>
              <a:t>Supplier Class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FDCFF-62D6-33C7-697C-8F6C20A88C0A}"/>
              </a:ext>
            </a:extLst>
          </p:cNvPr>
          <p:cNvSpPr txBox="1"/>
          <p:nvPr/>
        </p:nvSpPr>
        <p:spPr>
          <a:xfrm>
            <a:off x="1927525" y="3745741"/>
            <a:ext cx="65527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0">
              <a:buFont typeface="Arial" panose="020B0604020202020204" pitchFamily="34" charset="0"/>
              <a:buChar char="•"/>
            </a:pPr>
            <a:endParaRPr lang="en-GB" sz="1400" dirty="0"/>
          </a:p>
          <a:p>
            <a:pPr lvl="1" algn="just" latinLnBrk="0"/>
            <a:r>
              <a:rPr lang="en-GB" sz="1400" dirty="0"/>
              <a:t>A </a:t>
            </a:r>
            <a:r>
              <a:rPr lang="en-GB" sz="1400" b="1" dirty="0"/>
              <a:t>Student</a:t>
            </a:r>
            <a:r>
              <a:rPr lang="en-GB" sz="1400" dirty="0"/>
              <a:t> depends on a </a:t>
            </a:r>
            <a:r>
              <a:rPr lang="en-GB" sz="1400" b="1" dirty="0"/>
              <a:t>Library Card to access books and other library resources. </a:t>
            </a:r>
            <a:r>
              <a:rPr lang="en-GB" sz="1400" dirty="0"/>
              <a:t>However</a:t>
            </a:r>
            <a:r>
              <a:rPr lang="en-GB" sz="1400" b="1" dirty="0"/>
              <a:t>, the Library Card</a:t>
            </a:r>
            <a:r>
              <a:rPr lang="en-GB" sz="1400" dirty="0"/>
              <a:t> does not depend on the </a:t>
            </a:r>
            <a:r>
              <a:rPr lang="en-GB" sz="1400" b="1" dirty="0"/>
              <a:t>Student, </a:t>
            </a:r>
            <a:r>
              <a:rPr lang="en-GB" sz="1400" dirty="0"/>
              <a:t>it exists independently and can be reassigned to another student if needed.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06882-7328-CD40-56B3-04829C854357}"/>
              </a:ext>
            </a:extLst>
          </p:cNvPr>
          <p:cNvSpPr txBox="1"/>
          <p:nvPr/>
        </p:nvSpPr>
        <p:spPr>
          <a:xfrm>
            <a:off x="4211960" y="2418442"/>
            <a:ext cx="5508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dirty="0"/>
              <a:t>- - - - - - - - - &gt;</a:t>
            </a:r>
          </a:p>
        </p:txBody>
      </p:sp>
    </p:spTree>
    <p:extLst>
      <p:ext uri="{BB962C8B-B14F-4D97-AF65-F5344CB8AC3E}">
        <p14:creationId xmlns:p14="http://schemas.microsoft.com/office/powerpoint/2010/main" val="2868853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886664" y="594917"/>
            <a:ext cx="8077823" cy="4536504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 constrained form of the association relationship </a:t>
            </a: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“has-a” relationship.</a:t>
            </a:r>
            <a:endParaRPr lang="en-US" altLang="en-US" sz="2000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An association where one class belongs to a collection.</a:t>
            </a:r>
          </a:p>
          <a:p>
            <a:pPr marL="457200" lvl="1" indent="0">
              <a:buNone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      e.g. Instructor is part of the Faculty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Indicated by an empty diamond on the side of the </a:t>
            </a:r>
            <a:b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collection to denote the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aggregate (the whole).</a:t>
            </a:r>
          </a:p>
          <a:p>
            <a:pPr marL="457200" lvl="1" indent="0"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 dirty="0"/>
              <a:t>Relationships - Aggregation</a:t>
            </a:r>
            <a:endParaRPr lang="en-US" sz="2400" dirty="0"/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3DD310E9-CB80-48EE-9887-CC3A43E763C7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1" y="2733464"/>
            <a:ext cx="4968552" cy="235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539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827584" y="555526"/>
            <a:ext cx="8208912" cy="4392488"/>
          </a:xfrm>
        </p:spPr>
        <p:txBody>
          <a:bodyPr/>
          <a:lstStyle/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Strong form of Aggregation.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Components cannot exist without the aggregate.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Indicated by a solid diamond on the side of the collection.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The multiplicity at this end is 1 because the parts are 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defined as having no meaning outside the whole, which </a:t>
            </a:r>
            <a:b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</a:b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owns the parts.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“is entirely made of” relationship</a:t>
            </a:r>
            <a:endParaRPr lang="en-US" altLang="en-US" sz="2000" b="1" dirty="0">
              <a:solidFill>
                <a:schemeClr val="tx1">
                  <a:lumMod val="85000"/>
                  <a:lumOff val="15000"/>
                </a:schemeClr>
              </a:solidFill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/>
              <a:t>Relationships - Composition</a:t>
            </a: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B060A-B08A-4209-A48D-6B58C869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710" y="2951731"/>
            <a:ext cx="2340874" cy="219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77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/>
              <a:t>Relationships - Composition</a:t>
            </a:r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1AD92-370F-20B3-B629-395E0CEA7D40}"/>
              </a:ext>
            </a:extLst>
          </p:cNvPr>
          <p:cNvSpPr/>
          <p:nvPr/>
        </p:nvSpPr>
        <p:spPr>
          <a:xfrm>
            <a:off x="2483768" y="1392196"/>
            <a:ext cx="1584176" cy="5760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K" dirty="0">
                <a:solidFill>
                  <a:sysClr val="windowText" lastClr="000000"/>
                </a:solidFill>
              </a:rPr>
              <a:t>House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2D65E0-35B7-B67B-CDA1-FADB5DE55B60}"/>
              </a:ext>
            </a:extLst>
          </p:cNvPr>
          <p:cNvSpPr/>
          <p:nvPr/>
        </p:nvSpPr>
        <p:spPr>
          <a:xfrm>
            <a:off x="6084168" y="1333901"/>
            <a:ext cx="1584176" cy="5760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LK" dirty="0">
                <a:solidFill>
                  <a:sysClr val="windowText" lastClr="000000"/>
                </a:solidFill>
              </a:rPr>
              <a:t>Room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A65E70C-B9F4-ED8E-C300-FBD482205C63}"/>
              </a:ext>
            </a:extLst>
          </p:cNvPr>
          <p:cNvSpPr/>
          <p:nvPr/>
        </p:nvSpPr>
        <p:spPr>
          <a:xfrm>
            <a:off x="4067944" y="1563638"/>
            <a:ext cx="216024" cy="116590"/>
          </a:xfrm>
          <a:prstGeom prst="diamond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78EA95-0BC3-6E95-C968-E80D159A981D}"/>
              </a:ext>
            </a:extLst>
          </p:cNvPr>
          <p:cNvCxnSpPr>
            <a:stCxn id="9" idx="3"/>
            <a:endCxn id="6" idx="1"/>
          </p:cNvCxnSpPr>
          <p:nvPr/>
        </p:nvCxnSpPr>
        <p:spPr>
          <a:xfrm>
            <a:off x="4283968" y="1621933"/>
            <a:ext cx="1800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CD6138-33ED-D934-0CE9-B20763277324}"/>
              </a:ext>
            </a:extLst>
          </p:cNvPr>
          <p:cNvSpPr txBox="1"/>
          <p:nvPr/>
        </p:nvSpPr>
        <p:spPr>
          <a:xfrm>
            <a:off x="4051563" y="1276780"/>
            <a:ext cx="2487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900" dirty="0"/>
              <a:t>1</a:t>
            </a:r>
            <a:endParaRPr lang="en-L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4207EE-4ECC-E434-1268-0CEDBAF15DCA}"/>
              </a:ext>
            </a:extLst>
          </p:cNvPr>
          <p:cNvSpPr txBox="1"/>
          <p:nvPr/>
        </p:nvSpPr>
        <p:spPr>
          <a:xfrm>
            <a:off x="5676875" y="1328233"/>
            <a:ext cx="3497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900" dirty="0"/>
              <a:t>1..*</a:t>
            </a:r>
            <a:endParaRPr lang="en-L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813D54-7306-CF29-FCB5-0412F192BCCE}"/>
              </a:ext>
            </a:extLst>
          </p:cNvPr>
          <p:cNvSpPr txBox="1"/>
          <p:nvPr/>
        </p:nvSpPr>
        <p:spPr>
          <a:xfrm>
            <a:off x="2339752" y="2571750"/>
            <a:ext cx="6192688" cy="1522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The diamond is placed at the whole/owner side (House).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 House is composed of one or more Rooms.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Each Room belongs to exactly one House.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If the House is destroyed, the Rooms also cease to exist.</a:t>
            </a:r>
          </a:p>
        </p:txBody>
      </p:sp>
    </p:spTree>
    <p:extLst>
      <p:ext uri="{BB962C8B-B14F-4D97-AF65-F5344CB8AC3E}">
        <p14:creationId xmlns:p14="http://schemas.microsoft.com/office/powerpoint/2010/main" val="4207609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>
          <a:xfrm>
            <a:off x="827584" y="555526"/>
            <a:ext cx="8208912" cy="4392488"/>
          </a:xfrm>
        </p:spPr>
        <p:txBody>
          <a:bodyPr/>
          <a:lstStyle/>
          <a:p>
            <a:pPr marL="457200" lvl="1" indent="0">
              <a:buNone/>
            </a:pPr>
            <a:endParaRPr lang="en-US" sz="20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sz="2400"/>
              <a:t>Composition / Aggregation Example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C31382C3-3CE7-47CC-9117-CEA8B1484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5736" y="610115"/>
            <a:ext cx="6302450" cy="424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0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35CB-6645-7331-E8E2-06783037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FBD046-F89A-8F2B-BBE5-6BF8FD5A26B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475656" y="483518"/>
            <a:ext cx="7560840" cy="4392488"/>
          </a:xfrm>
        </p:spPr>
        <p:txBody>
          <a:bodyPr/>
          <a:lstStyle/>
          <a:p>
            <a:pPr algn="just" latinLnBrk="0"/>
            <a:r>
              <a:rPr lang="en-US" sz="1600" dirty="0"/>
              <a:t>Draw a UML Class Diagram representing the following elements from the problem domain of a hockey league. Make sure to label all associations with appropriate multiplicities.</a:t>
            </a:r>
          </a:p>
          <a:p>
            <a:pPr algn="just" latinLnBrk="0"/>
            <a:endParaRPr lang="en-US" sz="1600" dirty="0"/>
          </a:p>
          <a:p>
            <a:pPr algn="just" latinLnBrk="0"/>
            <a:r>
              <a:rPr lang="en-US" sz="1600" dirty="0"/>
              <a:t>A hockey league is made up of at least four hockey teams. Each hockey team comprises six to twelve players, and one player captains the team. A team has a name and a record. Players have a number and a position. Hockey teams play games against each other. Each game has a score and a location. Teams are sometimes led by a coach. A coach has a level of accreditation and several years of experience and can coach multiple teams. Coaches and players are people, and people have names and addresses. </a:t>
            </a:r>
          </a:p>
          <a:p>
            <a:pPr algn="just" latinLnBrk="0"/>
            <a:endParaRPr lang="en-US" sz="1600" dirty="0"/>
          </a:p>
          <a:p>
            <a:pPr algn="just" latinLnBrk="0"/>
            <a:r>
              <a:rPr lang="en-US" sz="1600" dirty="0"/>
              <a:t>Assumptions: </a:t>
            </a:r>
          </a:p>
          <a:p>
            <a:pPr marL="0" lvl="1" indent="0" algn="just" latinLnBrk="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each player only plays on one team</a:t>
            </a:r>
          </a:p>
          <a:p>
            <a:pPr marL="0" lvl="1" indent="0" algn="just" latinLnBrk="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each captain only captains one team</a:t>
            </a:r>
          </a:p>
          <a:p>
            <a:pPr marL="0" lvl="1" indent="0" algn="just" latinLnBrk="0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each team only plays in one league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5510CE-03F9-1A17-50E7-5AD2AF369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/>
              <a:t>Exercise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48147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91680" y="12079"/>
            <a:ext cx="7200800" cy="543447"/>
          </a:xfrm>
        </p:spPr>
        <p:txBody>
          <a:bodyPr/>
          <a:lstStyle/>
          <a:p>
            <a:r>
              <a:rPr lang="en-US" altLang="en-US" sz="2400"/>
              <a:t>Answer</a:t>
            </a:r>
            <a:endParaRPr lang="en-US" sz="24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B88965-DC42-49A3-861A-C62A408486A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2264127" y="556989"/>
            <a:ext cx="6052289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764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3568" y="1779662"/>
            <a:ext cx="7776864" cy="1368152"/>
          </a:xfrm>
        </p:spPr>
        <p:txBody>
          <a:bodyPr/>
          <a:lstStyle/>
          <a:p>
            <a:r>
              <a:rPr lang="en-US" sz="400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926609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21301</TotalTime>
  <Words>2596</Words>
  <Application>Microsoft Office PowerPoint</Application>
  <PresentationFormat>On-screen Show (16:9)</PresentationFormat>
  <Paragraphs>393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맑은 고딕</vt:lpstr>
      <vt:lpstr>Arial</vt:lpstr>
      <vt:lpstr>Calibri</vt:lpstr>
      <vt:lpstr>charter</vt:lpstr>
      <vt:lpstr>Courier New</vt:lpstr>
      <vt:lpstr>Times New Roman</vt:lpstr>
      <vt:lpstr>Wingdings</vt:lpstr>
      <vt:lpstr>Office Theme</vt:lpstr>
      <vt:lpstr>Custom Design</vt:lpstr>
      <vt:lpstr>PowerPoint Presentation</vt:lpstr>
      <vt:lpstr>LECTURE 07 : Class Diagrams</vt:lpstr>
      <vt:lpstr>PowerPoint Presentation</vt:lpstr>
      <vt:lpstr>Domain Class Diagram vs Design Class Diagram</vt:lpstr>
      <vt:lpstr>Design Class Models</vt:lpstr>
      <vt:lpstr>Class Diagrams</vt:lpstr>
      <vt:lpstr>Class Diagrams</vt:lpstr>
      <vt:lpstr>Finding Classes </vt:lpstr>
      <vt:lpstr>Finding classes using noun/verb analysis</vt:lpstr>
      <vt:lpstr>Finding classes using noun/verb analysis</vt:lpstr>
      <vt:lpstr>Step 01 – Noun Phrase Identification</vt:lpstr>
      <vt:lpstr>Step 0 – Noun Phrase Identification</vt:lpstr>
      <vt:lpstr>Step 02 – Noun Phrase Consolidation</vt:lpstr>
      <vt:lpstr>Step 02 – Noun Phrase Consolidation</vt:lpstr>
      <vt:lpstr>Step 02 – Noun Phrase Consolidation</vt:lpstr>
      <vt:lpstr>Step 03 – Noun Phrase Analysis</vt:lpstr>
      <vt:lpstr>Step 03 – Noun Phrase Analysis</vt:lpstr>
      <vt:lpstr>Step 04 – Draw Initial Analysis Class Model</vt:lpstr>
      <vt:lpstr>Finding classes using CRC analysis</vt:lpstr>
      <vt:lpstr>Finding classes using CRC analysis</vt:lpstr>
      <vt:lpstr>Class Diagram Notations</vt:lpstr>
      <vt:lpstr>Classes</vt:lpstr>
      <vt:lpstr>Visibility Modifiers in UML Class Diagrams</vt:lpstr>
      <vt:lpstr>Example</vt:lpstr>
      <vt:lpstr>Class Attributes &amp; Methods</vt:lpstr>
      <vt:lpstr>Object</vt:lpstr>
      <vt:lpstr>Relationships - Association</vt:lpstr>
      <vt:lpstr>Relationships - Association</vt:lpstr>
      <vt:lpstr>Relationships - Directed Association</vt:lpstr>
      <vt:lpstr>Multiplicity</vt:lpstr>
      <vt:lpstr>Multiplicity</vt:lpstr>
      <vt:lpstr>Multiplicities</vt:lpstr>
      <vt:lpstr>Relationships- Generalization</vt:lpstr>
      <vt:lpstr>Relationships - Dependency</vt:lpstr>
      <vt:lpstr>Relationships - Aggregation</vt:lpstr>
      <vt:lpstr>Relationships - Composition</vt:lpstr>
      <vt:lpstr>Relationships - Composition</vt:lpstr>
      <vt:lpstr>Composition / Aggregation Example</vt:lpstr>
      <vt:lpstr>Exercise </vt:lpstr>
      <vt:lpstr>Answer</vt:lpstr>
      <vt:lpstr>THANK YOU!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Sandaruwani</cp:lastModifiedBy>
  <cp:revision>688</cp:revision>
  <dcterms:created xsi:type="dcterms:W3CDTF">2014-04-01T16:27:38Z</dcterms:created>
  <dcterms:modified xsi:type="dcterms:W3CDTF">2026-09-24T05:03:03Z</dcterms:modified>
</cp:coreProperties>
</file>