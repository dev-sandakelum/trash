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7"/>
  </p:notesMasterIdLst>
  <p:sldIdLst>
    <p:sldId id="256" r:id="rId3"/>
    <p:sldId id="257" r:id="rId4"/>
    <p:sldId id="259" r:id="rId5"/>
    <p:sldId id="330" r:id="rId6"/>
    <p:sldId id="264" r:id="rId7"/>
    <p:sldId id="295" r:id="rId8"/>
    <p:sldId id="323" r:id="rId9"/>
    <p:sldId id="358" r:id="rId10"/>
    <p:sldId id="360" r:id="rId11"/>
    <p:sldId id="359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82" r:id="rId21"/>
    <p:sldId id="383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9" r:id="rId31"/>
    <p:sldId id="378" r:id="rId32"/>
    <p:sldId id="377" r:id="rId33"/>
    <p:sldId id="380" r:id="rId34"/>
    <p:sldId id="381" r:id="rId35"/>
    <p:sldId id="324" r:id="rId3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F6FF3-FACD-4D67-B62B-ED71E1E82F1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60A4B-000A-4923-8582-4C2CCF0E4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0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47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3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86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purpose of an activity diagram is to model the flow of activities and actions within a system or process. 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70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38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92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00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52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31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11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5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6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97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81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56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18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13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4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3748-5950-3EFF-D1EB-DD67828C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36BDE-0B19-1CD8-0644-2857E49EC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6D9BD-E6F4-9495-25FA-E6052F38F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5E06A-D6D8-6F19-C887-D0F382ADA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27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6B24-8CFE-D37F-7706-173350EB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2AD10-2804-67B1-DF8E-2B0DD8CAC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44983-2CE0-9A2D-3DC9-66070CF8E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713B1-B807-F742-636A-7B8A21F4F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948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32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316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35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794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716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26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74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24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3ED5-8E82-D31B-041C-AB9DE797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8FE89-107C-EA3D-53D8-AB96ED9B9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B21B5-407D-409A-A9B1-9D5B7C6EA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BE41C-F744-31C7-DB81-8B124757C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25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93C99-E782-47E1-DA60-31F137D3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9CA0A-3ECB-449E-A606-AD30C485C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10166-EE91-2842-6343-3D06C1686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E16CB-EB10-53BD-7B2B-5C1931113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053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662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2E7E2-BBD1-F796-B4BE-D381825E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7E3DC-3FF8-8E3B-2BC3-83370CE2C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47AF5-3BB9-8DB8-60FD-4D86A5CD5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your scenario, the client:</a:t>
            </a:r>
          </a:p>
          <a:p>
            <a:r>
              <a:rPr lang="en-US" dirty="0"/>
              <a:t>✔ Does not perform modeled actions</a:t>
            </a:r>
            <a:br>
              <a:rPr lang="en-US" dirty="0"/>
            </a:br>
            <a:r>
              <a:rPr lang="en-US" dirty="0"/>
              <a:t>✔ Only triggers conditions (e.g., provides statement of problem)</a:t>
            </a:r>
            <a:br>
              <a:rPr lang="en-US" dirty="0"/>
            </a:br>
            <a:r>
              <a:rPr lang="en-US" dirty="0"/>
              <a:t>✔ Acts as an external participant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B7BC3-946D-C5F9-04B0-F3058F2D4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69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9B63-4B7F-E8C7-285E-C2AA81AC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EDD37-0F6B-E37C-CB30-CFD5F861E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F460A-B9EC-CB3C-0C12-A0D703384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396A1-44CC-BE04-FFD0-26582FA3C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4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0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131590"/>
            <a:ext cx="849694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987574"/>
            <a:ext cx="6912768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1664245"/>
            <a:ext cx="6912768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0965-FB93-465E-B499-1BBBC430AEF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0EF3-DBE1-4865-ACFA-1268AD39FF1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A37F-3AB0-4DE7-B82E-C6730DB20D2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712A0-B2C2-4B16-833C-F03ABB3B815B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D4AB8-4F35-4B0C-9317-A25915C808AE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19D14-DAD6-4FC5-A70C-C47FB21D8C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7474-33C7-476A-A70A-5D3D85FFCDED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2F68-3055-4322-BCE5-7A92BCC85E3D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B5875-D1AA-4023-BF92-FF39B10F16C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A4F0B-181D-4729-BA3F-FC87458BDE3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D454-BA9D-430E-A0BF-E996572132C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/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574FA-4B4A-45A3-8E23-EC8E73BCABD8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-powerpoint-templates-design.com/free-powerpoint-templates-desig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hlinkClick r:id="rId3"/>
          </p:cNvPr>
          <p:cNvSpPr txBox="1"/>
          <p:nvPr/>
        </p:nvSpPr>
        <p:spPr>
          <a:xfrm>
            <a:off x="0" y="4844068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 Same Side Corner Rectangle 7"/>
          <p:cNvSpPr/>
          <p:nvPr/>
        </p:nvSpPr>
        <p:spPr>
          <a:xfrm rot="5400000">
            <a:off x="970509" y="521121"/>
            <a:ext cx="2847005" cy="4788024"/>
          </a:xfrm>
          <a:prstGeom prst="round2SameRect">
            <a:avLst/>
          </a:prstGeom>
          <a:solidFill>
            <a:srgbClr val="FF000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254" y="3035032"/>
            <a:ext cx="47880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Sandaruwani Pathirage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Dept. of ICT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Faculty of Technology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University of </a:t>
            </a:r>
            <a:r>
              <a:rPr lang="en-US" altLang="ko-KR" sz="1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Ruhuna</a:t>
            </a:r>
            <a:endPara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160151" y="1546763"/>
            <a:ext cx="478802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 Oriented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Analysis and Design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ICT2142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1560" y="411510"/>
            <a:ext cx="7776864" cy="2304256"/>
          </a:xfrm>
        </p:spPr>
        <p:txBody>
          <a:bodyPr/>
          <a:lstStyle/>
          <a:p>
            <a:r>
              <a:rPr lang="en-US" altLang="ko-KR" dirty="0"/>
              <a:t>LECTURE 06:</a:t>
            </a:r>
            <a:br>
              <a:rPr lang="en-US" altLang="ko-KR" dirty="0"/>
            </a:br>
            <a:r>
              <a:rPr lang="en-US" dirty="0"/>
              <a:t>Activity Diagrams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283718"/>
            <a:ext cx="3168352" cy="23042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0594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63688" y="987574"/>
            <a:ext cx="7200800" cy="607164"/>
          </a:xfrm>
        </p:spPr>
        <p:txBody>
          <a:bodyPr/>
          <a:lstStyle/>
          <a:p>
            <a:r>
              <a:rPr lang="en-US" sz="2800" b="1" dirty="0"/>
              <a:t>Objectives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907704" y="1923678"/>
            <a:ext cx="6912768" cy="2664296"/>
          </a:xfrm>
        </p:spPr>
        <p:txBody>
          <a:bodyPr/>
          <a:lstStyle/>
          <a:p>
            <a:r>
              <a:rPr lang="en-US" altLang="ko-KR" sz="2400" b="1" dirty="0">
                <a:latin typeface="Arial" pitchFamily="34" charset="0"/>
                <a:cs typeface="Arial" pitchFamily="34" charset="0"/>
              </a:rPr>
              <a:t>After successful completion of this lecture, students should be able to:</a:t>
            </a:r>
          </a:p>
          <a:p>
            <a:endParaRPr lang="en-US" altLang="ko-KR" sz="2400" b="1" dirty="0">
              <a:latin typeface="Arial" pitchFamily="34" charset="0"/>
              <a:cs typeface="Arial" pitchFamily="34" charset="0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notations in activity diagrams.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 activity diagrams for the given scenarios.</a:t>
            </a:r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403648" y="1131590"/>
            <a:ext cx="7740352" cy="3600400"/>
          </a:xfrm>
        </p:spPr>
        <p:txBody>
          <a:bodyPr/>
          <a:lstStyle/>
          <a:p>
            <a:pPr marL="343620" indent="-342900">
              <a:spcBef>
                <a:spcPts val="100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Activity diagrams are “OO flowcharts”</a:t>
            </a:r>
          </a:p>
          <a:p>
            <a:pPr marL="800820" lvl="1" indent="-342900"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Can show both data flow &amp; control flow</a:t>
            </a:r>
          </a:p>
          <a:p>
            <a:pPr marL="343620" indent="-342900">
              <a:spcBef>
                <a:spcPts val="100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Allow to model a process as a collection of activities and </a:t>
            </a:r>
          </a:p>
          <a:p>
            <a:pPr marL="72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transitions between those activities.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Activity diagrams are particularly useful for process modeling, behavior visualization, requirement analysis, process </a:t>
            </a:r>
            <a:b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improvement, and communication among stakeholders.</a:t>
            </a:r>
          </a:p>
          <a:p>
            <a:b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spc="-1" dirty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63688" y="202630"/>
            <a:ext cx="7200800" cy="568920"/>
          </a:xfrm>
        </p:spPr>
        <p:txBody>
          <a:bodyPr/>
          <a:lstStyle/>
          <a:p>
            <a:r>
              <a:rPr lang="en-US" sz="2400" dirty="0"/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8264" y="4731990"/>
            <a:ext cx="1673158" cy="183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2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187624" y="699542"/>
            <a:ext cx="7848872" cy="4680520"/>
          </a:xfrm>
        </p:spPr>
        <p:txBody>
          <a:bodyPr/>
          <a:lstStyle/>
          <a:p>
            <a:pPr marL="10836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45000"/>
            </a:pPr>
            <a:endParaRPr lang="en-US" sz="2000" spc="-1" dirty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126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The elements of an activity diagram are,</a:t>
            </a:r>
          </a:p>
          <a:p>
            <a:pPr marL="864000" lvl="1" indent="-32364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action nodes</a:t>
            </a:r>
          </a:p>
          <a:p>
            <a:pPr marL="864000" lvl="1" indent="-32364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control nodes</a:t>
            </a:r>
          </a:p>
          <a:p>
            <a:pPr marL="1296000" lvl="2" indent="-28764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Initial and final (final nodes have two varieties, activity final and flow final)</a:t>
            </a:r>
          </a:p>
          <a:p>
            <a:pPr marL="1296000" lvl="2" indent="-28764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Decision and merge</a:t>
            </a:r>
          </a:p>
          <a:p>
            <a:pPr marL="1296000" lvl="2" indent="-28764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Fork and join</a:t>
            </a:r>
          </a:p>
          <a:p>
            <a:pPr marL="864000" lvl="1" indent="-32364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object nodes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63688" y="202630"/>
            <a:ext cx="7200800" cy="568920"/>
          </a:xfrm>
        </p:spPr>
        <p:txBody>
          <a:bodyPr/>
          <a:lstStyle/>
          <a:p>
            <a:r>
              <a:rPr lang="en-US" sz="2400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8753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187624" y="1059582"/>
            <a:ext cx="7848872" cy="3528392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Activity diagrams model flows of actions, decisions, and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control logic.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Activity diagrams can illustrate how actions are distributed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across actors or components using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swimlanes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274638"/>
            <a:ext cx="7200800" cy="568920"/>
          </a:xfrm>
        </p:spPr>
        <p:txBody>
          <a:bodyPr/>
          <a:lstStyle/>
          <a:p>
            <a:r>
              <a:rPr lang="en-US" sz="2400" dirty="0"/>
              <a:t>When to use Activity Diagrams?</a:t>
            </a:r>
          </a:p>
        </p:txBody>
      </p:sp>
    </p:spTree>
    <p:extLst>
      <p:ext uri="{BB962C8B-B14F-4D97-AF65-F5344CB8AC3E}">
        <p14:creationId xmlns:p14="http://schemas.microsoft.com/office/powerpoint/2010/main" val="254529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779662"/>
            <a:ext cx="7776864" cy="1296144"/>
          </a:xfrm>
        </p:spPr>
        <p:txBody>
          <a:bodyPr/>
          <a:lstStyle/>
          <a:p>
            <a:r>
              <a:rPr lang="en-US" sz="4000" dirty="0"/>
              <a:t>Activity Diagram Notations</a:t>
            </a: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73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123478"/>
            <a:ext cx="7200800" cy="568920"/>
          </a:xfrm>
        </p:spPr>
        <p:txBody>
          <a:bodyPr/>
          <a:lstStyle/>
          <a:p>
            <a:r>
              <a:rPr lang="en-US" sz="2400" dirty="0"/>
              <a:t>Activity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78068B-C8F4-86DD-2256-6CE14A44F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431747"/>
            <a:ext cx="6768752" cy="4752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represents a behavior composed of one or more actions.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 consist of a network of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connected by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 can be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nodes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nodes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nodes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nodes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 executable steps.</a:t>
            </a:r>
          </a:p>
          <a:p>
            <a:pPr marL="742950" lvl="1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nodes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 the flow of execution (e.g., decisions, forks).</a:t>
            </a:r>
          </a:p>
          <a:p>
            <a:pPr marL="742950" lvl="1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nodes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 objects or data used within the activity.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 paths or flows of execution between nodes.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activity begins with 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node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ends with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node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5666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267494"/>
            <a:ext cx="7200800" cy="568920"/>
          </a:xfrm>
        </p:spPr>
        <p:txBody>
          <a:bodyPr/>
          <a:lstStyle/>
          <a:p>
            <a:r>
              <a:rPr lang="en-US" sz="2400" dirty="0"/>
              <a:t>Actions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tretch/>
        </p:blipFill>
        <p:spPr>
          <a:xfrm>
            <a:off x="6876256" y="61876"/>
            <a:ext cx="1646344" cy="1141722"/>
          </a:xfrm>
          <a:prstGeom prst="rect">
            <a:avLst/>
          </a:prstGeom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7991088" y="793554"/>
            <a:ext cx="181312" cy="194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A64338-A99A-AD43-BABA-635FBC2E7037}"/>
              </a:ext>
            </a:extLst>
          </p:cNvPr>
          <p:cNvSpPr txBox="1"/>
          <p:nvPr/>
        </p:nvSpPr>
        <p:spPr>
          <a:xfrm>
            <a:off x="2051720" y="1213740"/>
            <a:ext cx="6750496" cy="2947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Actions</a:t>
            </a:r>
            <a:r>
              <a:rPr lang="en-US" dirty="0"/>
              <a:t> are the fundamental units of behavior in an activity diagram.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Actions are represented as </a:t>
            </a:r>
            <a:r>
              <a:rPr lang="en-US" b="1" dirty="0"/>
              <a:t>rounded rectangles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An action’s label may be written in </a:t>
            </a:r>
            <a:r>
              <a:rPr lang="en-US" b="1" dirty="0"/>
              <a:t>plain English</a:t>
            </a:r>
            <a:r>
              <a:rPr lang="en-US" dirty="0"/>
              <a:t> or </a:t>
            </a:r>
            <a:r>
              <a:rPr lang="en-US" b="1" dirty="0"/>
              <a:t>pseudo-code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When written in English, the label should be a </a:t>
            </a:r>
            <a:r>
              <a:rPr lang="en-US" b="1" dirty="0"/>
              <a:t>verb</a:t>
            </a:r>
            <a:r>
              <a:rPr lang="en-US" dirty="0"/>
              <a:t> or </a:t>
            </a:r>
            <a:r>
              <a:rPr lang="en-US" b="1" dirty="0"/>
              <a:t>verb phrase</a:t>
            </a:r>
            <a:r>
              <a:rPr lang="en-US" dirty="0"/>
              <a:t>, since actions denote something being performed.</a:t>
            </a:r>
          </a:p>
        </p:txBody>
      </p:sp>
    </p:spTree>
    <p:extLst>
      <p:ext uri="{BB962C8B-B14F-4D97-AF65-F5344CB8AC3E}">
        <p14:creationId xmlns:p14="http://schemas.microsoft.com/office/powerpoint/2010/main" val="1733271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187624" y="699542"/>
            <a:ext cx="7848872" cy="3528392"/>
          </a:xfrm>
        </p:spPr>
        <p:txBody>
          <a:bodyPr/>
          <a:lstStyle/>
          <a:p>
            <a:pPr marL="1083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Actions are,</a:t>
            </a:r>
          </a:p>
          <a:p>
            <a:pPr marL="908460" lvl="1" indent="-342900">
              <a:spcBef>
                <a:spcPts val="1417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ü"/>
            </a:pPr>
            <a:r>
              <a:rPr lang="en-US" sz="2000" b="1" spc="-1" dirty="0"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  <a:r>
              <a:rPr lang="en-US" sz="2000" spc="-1" dirty="0"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dirty="0"/>
              <a:t>An action is not decomposed within the </a:t>
            </a:r>
            <a:br>
              <a:rPr lang="en-US" sz="2000" dirty="0"/>
            </a:br>
            <a:r>
              <a:rPr lang="en-US" sz="2000" dirty="0"/>
              <a:t>activity; it is treated as a single step.</a:t>
            </a:r>
            <a:endParaRPr lang="en-US" sz="2000" spc="-1" dirty="0"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460" lvl="1" indent="-342900">
              <a:spcBef>
                <a:spcPts val="1417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ü"/>
            </a:pPr>
            <a:r>
              <a:rPr lang="en-US" sz="2000" b="1" spc="-1" dirty="0"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Uninterruptible</a:t>
            </a:r>
            <a:r>
              <a:rPr lang="en-US" sz="2000" spc="-1" dirty="0"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dirty="0"/>
              <a:t>Once an action begins execution, it </a:t>
            </a:r>
            <a:br>
              <a:rPr lang="en-US" sz="2000" dirty="0"/>
            </a:br>
            <a:r>
              <a:rPr lang="en-US" sz="2000" dirty="0"/>
              <a:t>runs to completion.</a:t>
            </a:r>
          </a:p>
          <a:p>
            <a:pPr marL="908460" lvl="1" indent="-342900">
              <a:spcBef>
                <a:spcPts val="1417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ü"/>
            </a:pPr>
            <a:r>
              <a:rPr lang="en-US" sz="2000" b="1" spc="-1" dirty="0"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Instantaneous</a:t>
            </a:r>
            <a:r>
              <a:rPr lang="en-US" sz="2000" spc="-1" dirty="0"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dirty="0"/>
              <a:t>An action is assumed to take </a:t>
            </a:r>
            <a:br>
              <a:rPr lang="en-US" sz="2000" dirty="0"/>
            </a:br>
            <a:r>
              <a:rPr lang="en-US" sz="2000" dirty="0"/>
              <a:t>negligible time relative to the overall activity.</a:t>
            </a:r>
            <a:endParaRPr lang="en-US" sz="2000" spc="-1" dirty="0"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40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403648" y="1203598"/>
            <a:ext cx="7632848" cy="3528392"/>
          </a:xfrm>
        </p:spPr>
        <p:txBody>
          <a:bodyPr/>
          <a:lstStyle/>
          <a:p>
            <a:pPr marL="450900" indent="-342900">
              <a:spcBef>
                <a:spcPts val="1417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Also called as </a:t>
            </a: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edges and paths.</a:t>
            </a:r>
          </a:p>
          <a:p>
            <a:pPr marL="450900" indent="-342900">
              <a:spcBef>
                <a:spcPts val="1417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Illustrate the transitions from one action state to another.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26749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Action Flow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/>
        </p:blipFill>
        <p:spPr>
          <a:xfrm>
            <a:off x="2483768" y="2643758"/>
            <a:ext cx="5832648" cy="15192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320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403648" y="787027"/>
            <a:ext cx="7632848" cy="3895576"/>
          </a:xfrm>
        </p:spPr>
        <p:txBody>
          <a:bodyPr/>
          <a:lstStyle/>
          <a:p>
            <a:pPr marL="451260" indent="-3429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/>
              <a:t>The </a:t>
            </a:r>
            <a:r>
              <a:rPr lang="en-US" sz="2000" b="1" dirty="0"/>
              <a:t>initial node</a:t>
            </a:r>
            <a:r>
              <a:rPr lang="en-US" sz="2000" dirty="0"/>
              <a:t> (starting point of an activity) is </a:t>
            </a:r>
            <a:br>
              <a:rPr lang="en-US" sz="2000" dirty="0"/>
            </a:br>
            <a:r>
              <a:rPr lang="en-US" sz="2000" dirty="0"/>
              <a:t>represented by a </a:t>
            </a:r>
            <a:r>
              <a:rPr lang="en-US" sz="2000" b="1" dirty="0"/>
              <a:t>solid filled circle</a:t>
            </a:r>
            <a:r>
              <a:rPr lang="en-US" sz="2000" dirty="0"/>
              <a:t>.</a:t>
            </a:r>
          </a:p>
          <a:p>
            <a:pPr marL="451260" indent="-3429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/>
              <a:t>The </a:t>
            </a:r>
            <a:r>
              <a:rPr lang="en-US" sz="2000" b="1" dirty="0"/>
              <a:t>activity final node</a:t>
            </a:r>
            <a:r>
              <a:rPr lang="en-US" sz="2000" dirty="0"/>
              <a:t> (termination of the entire activity) is represented by a </a:t>
            </a:r>
            <a:r>
              <a:rPr lang="en-US" sz="2000" b="1" dirty="0"/>
              <a:t>bull’s-eye symbol</a:t>
            </a:r>
            <a:r>
              <a:rPr lang="en-US" sz="2000" dirty="0"/>
              <a:t> (filled circle inside an outer circle).</a:t>
            </a:r>
          </a:p>
          <a:p>
            <a:pPr marL="451260" indent="-3429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/>
              <a:t>A </a:t>
            </a:r>
            <a:r>
              <a:rPr lang="en-US" sz="2000" b="1" dirty="0"/>
              <a:t>flow final node</a:t>
            </a:r>
            <a:r>
              <a:rPr lang="en-US" sz="2000" dirty="0"/>
              <a:t> is represented by a </a:t>
            </a:r>
            <a:r>
              <a:rPr lang="en-US" sz="2000" b="1" dirty="0"/>
              <a:t>circle containing an “X”</a:t>
            </a:r>
            <a:r>
              <a:rPr lang="en-US" sz="2000" dirty="0"/>
              <a:t>.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1260" indent="-342900"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/>
              <a:t>The </a:t>
            </a:r>
            <a:r>
              <a:rPr lang="en-US" sz="2000" b="1" dirty="0"/>
              <a:t>flow final node</a:t>
            </a:r>
            <a:r>
              <a:rPr lang="en-US" sz="2000" dirty="0"/>
              <a:t> terminates </a:t>
            </a:r>
            <a:r>
              <a:rPr lang="en-US" sz="2000" b="1" dirty="0"/>
              <a:t>only the specific flow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reaching it, without ending the entire activity.</a:t>
            </a:r>
            <a:endParaRPr lang="en-US" sz="2000" spc="-1" dirty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dirty="0"/>
              <a:t>Starting &amp; Stopping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/>
        </p:blipFill>
        <p:spPr>
          <a:xfrm>
            <a:off x="1763688" y="3771957"/>
            <a:ext cx="4042840" cy="1094936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24" y="3682807"/>
            <a:ext cx="1920004" cy="143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8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511152" y="544427"/>
            <a:ext cx="7632848" cy="3895576"/>
          </a:xfrm>
        </p:spPr>
        <p:txBody>
          <a:bodyPr/>
          <a:lstStyle/>
          <a:p>
            <a:pPr marL="451260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/>
              <a:t>Decision and Merge nodes are represented by a </a:t>
            </a:r>
            <a:br>
              <a:rPr lang="en-US" sz="2000" dirty="0"/>
            </a:br>
            <a:r>
              <a:rPr lang="en-US" sz="2000" dirty="0"/>
              <a:t>diamond shape.</a:t>
            </a:r>
          </a:p>
          <a:p>
            <a:pPr marL="451260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/>
              <a:t>These nodes control alternative flows within an activity.</a:t>
            </a:r>
          </a:p>
          <a:p>
            <a:pPr marL="451260" indent="-3429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/>
              <a:t>Two types:</a:t>
            </a:r>
          </a:p>
          <a:p>
            <a:pPr lvl="1"/>
            <a:r>
              <a:rPr lang="en-US" sz="1800" b="1" dirty="0"/>
              <a:t>Decision node</a:t>
            </a:r>
            <a:endParaRPr lang="en-US" sz="1800" dirty="0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Has one incoming flow and multiple outgoing flows.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Each outgoing flow is guarded by a condition (guard).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Only one path is selected at runtime.</a:t>
            </a:r>
          </a:p>
          <a:p>
            <a:pPr lvl="1" indent="0">
              <a:buNone/>
            </a:pPr>
            <a:endParaRPr lang="en-US" sz="1800" dirty="0"/>
          </a:p>
          <a:p>
            <a:pPr lvl="1"/>
            <a:r>
              <a:rPr lang="en-US" sz="1800" b="1" dirty="0"/>
              <a:t>Merge node</a:t>
            </a:r>
            <a:endParaRPr lang="en-US" sz="1800" dirty="0"/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Has multiple incoming flows and one outgoing flow.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Combines alternative paths without synchronization.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Any one incoming flow can continue execution.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619672" y="-24493"/>
            <a:ext cx="7200800" cy="568920"/>
          </a:xfrm>
        </p:spPr>
        <p:txBody>
          <a:bodyPr/>
          <a:lstStyle/>
          <a:p>
            <a:r>
              <a:rPr lang="en-US" sz="2400" dirty="0"/>
              <a:t>Decision &amp; Merge Nodes</a:t>
            </a:r>
          </a:p>
        </p:txBody>
      </p:sp>
    </p:spTree>
    <p:extLst>
      <p:ext uri="{BB962C8B-B14F-4D97-AF65-F5344CB8AC3E}">
        <p14:creationId xmlns:p14="http://schemas.microsoft.com/office/powerpoint/2010/main" val="2700686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dirty="0"/>
              <a:t>Decision &amp; Merge Nodes</a:t>
            </a:r>
          </a:p>
        </p:txBody>
      </p:sp>
      <p:sp>
        <p:nvSpPr>
          <p:cNvPr id="6" name="AutoShape 4" descr="Generated image">
            <a:extLst>
              <a:ext uri="{FF2B5EF4-FFF2-40B4-BE49-F238E27FC236}">
                <a16:creationId xmlns:a16="http://schemas.microsoft.com/office/drawing/2014/main" id="{0B2BAD8F-E2CE-3DD0-0E25-6EE5B5C2F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788A0-28D8-E4AB-B2AE-A59F494B2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771550"/>
            <a:ext cx="6336704" cy="42244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E1B2D3-5442-EA38-031D-D7892427A643}"/>
              </a:ext>
            </a:extLst>
          </p:cNvPr>
          <p:cNvSpPr/>
          <p:nvPr/>
        </p:nvSpPr>
        <p:spPr>
          <a:xfrm>
            <a:off x="4444245" y="2578985"/>
            <a:ext cx="1952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11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403648" y="627534"/>
            <a:ext cx="7632848" cy="3895576"/>
          </a:xfrm>
        </p:spPr>
        <p:txBody>
          <a:bodyPr/>
          <a:lstStyle/>
          <a:p>
            <a:pPr marL="108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</a:pPr>
            <a:r>
              <a:rPr lang="en-US" sz="2000" spc="-1" dirty="0">
                <a:uFill>
                  <a:solidFill>
                    <a:srgbClr val="FFFFFF"/>
                  </a:solidFill>
                </a:uFill>
                <a:latin typeface="Arial"/>
              </a:rPr>
              <a:t>Draw the activity diagram for posting a letter using </a:t>
            </a:r>
          </a:p>
          <a:p>
            <a:pPr marL="108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</a:pPr>
            <a:r>
              <a:rPr lang="en-US" sz="2000" spc="-1" dirty="0">
                <a:uFill>
                  <a:solidFill>
                    <a:srgbClr val="FFFFFF"/>
                  </a:solidFill>
                </a:uFill>
                <a:latin typeface="Arial"/>
              </a:rPr>
              <a:t>the given actions.</a:t>
            </a:r>
          </a:p>
          <a:p>
            <a:pPr marL="889200" lvl="1" indent="-324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75000"/>
                    <a:lumOff val="2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Actions</a:t>
            </a:r>
          </a:p>
          <a:p>
            <a:pPr marL="1346400" lvl="2" indent="-324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75000"/>
                    <a:lumOff val="2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Write letter</a:t>
            </a:r>
          </a:p>
          <a:p>
            <a:pPr marL="1346400" lvl="2" indent="-324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75000"/>
                    <a:lumOff val="2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Address letter</a:t>
            </a:r>
          </a:p>
          <a:p>
            <a:pPr marL="1346400" lvl="2" indent="-324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75000"/>
                    <a:lumOff val="2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Post letter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1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tretch/>
        </p:blipFill>
        <p:spPr>
          <a:xfrm>
            <a:off x="5580112" y="1203598"/>
            <a:ext cx="2681998" cy="36889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692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259632" y="980430"/>
            <a:ext cx="7776864" cy="3895576"/>
          </a:xfrm>
        </p:spPr>
        <p:txBody>
          <a:bodyPr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activity starts with “</a:t>
            </a: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Get mail</a:t>
            </a: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” action.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When this state finishes its work, If the mail is junk mail, then [is junk] evaluates to true, then go into the state Bin mail, and then to the stop state.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Otherwise, go into the state Open mail, and then to the stop state.</a:t>
            </a:r>
          </a:p>
          <a:p>
            <a:pPr marL="108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</a:pPr>
            <a:endParaRPr lang="en-US" sz="2000" spc="-1" dirty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2</a:t>
            </a:r>
          </a:p>
        </p:txBody>
      </p:sp>
    </p:spTree>
    <p:extLst>
      <p:ext uri="{BB962C8B-B14F-4D97-AF65-F5344CB8AC3E}">
        <p14:creationId xmlns:p14="http://schemas.microsoft.com/office/powerpoint/2010/main" val="322751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2 - Answer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0"/>
          </p:nvPr>
        </p:nvPicPr>
        <p:blipFill>
          <a:blip r:embed="rId3"/>
          <a:stretch/>
        </p:blipFill>
        <p:spPr>
          <a:xfrm>
            <a:off x="3275856" y="771550"/>
            <a:ext cx="4118368" cy="38941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624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Partitions/</a:t>
            </a:r>
            <a:r>
              <a:rPr lang="en-US" sz="2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swimlanes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CF8711-E6C3-DF06-2611-CCB84088A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9" y="608077"/>
            <a:ext cx="6912768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 in an activity diagram can be organized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(also called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swimlanes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partition indicates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performing actions within the activity.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partitions may represent: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units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Departments or divisions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actors or roles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modeling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partitions may represent: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Subsystems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systems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modeling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partitions may represent: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</a:t>
            </a:r>
          </a:p>
          <a:p>
            <a:pPr marL="742950" lvl="1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entities within the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08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3737-8552-24E3-93D3-079AF705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ACDF2D4-81C6-C04B-BCCF-63D7A3D8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Partitions -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4AFFD-5A2C-83DC-D228-2D7C6ECA4B22}"/>
              </a:ext>
            </a:extLst>
          </p:cNvPr>
          <p:cNvSpPr txBox="1"/>
          <p:nvPr/>
        </p:nvSpPr>
        <p:spPr>
          <a:xfrm>
            <a:off x="1979712" y="638842"/>
            <a:ext cx="6534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Actions in the Diagram </a:t>
            </a:r>
          </a:p>
          <a:p>
            <a:pPr>
              <a:buNone/>
            </a:pPr>
            <a:endParaRPr lang="en-US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643058-39CF-72EE-6DE0-BDB3D70E0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989415"/>
            <a:ext cx="4208230" cy="415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87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1304-3D44-3D55-3E92-6F7F58BF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9CF54AC-270A-4B3F-7709-D0B94D4B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Partitions -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4FFE2-E8E1-27FD-8C7F-CDDFF944E364}"/>
              </a:ext>
            </a:extLst>
          </p:cNvPr>
          <p:cNvSpPr txBox="1"/>
          <p:nvPr/>
        </p:nvSpPr>
        <p:spPr>
          <a:xfrm>
            <a:off x="1787826" y="627534"/>
            <a:ext cx="653447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How </a:t>
            </a:r>
            <a:r>
              <a:rPr lang="en-US" sz="1600" b="1" dirty="0" err="1"/>
              <a:t>Swimlanes</a:t>
            </a:r>
            <a:r>
              <a:rPr lang="en-US" sz="1600" b="1" dirty="0"/>
              <a:t> Are Determined</a:t>
            </a:r>
          </a:p>
          <a:p>
            <a:pPr>
              <a:buNone/>
            </a:pPr>
            <a:endParaRPr lang="en-US" sz="1600" b="1" dirty="0"/>
          </a:p>
          <a:p>
            <a:r>
              <a:rPr lang="en-US" sz="1600" b="1" u="sng" dirty="0"/>
              <a:t>Swimlane: Passenger</a:t>
            </a:r>
          </a:p>
          <a:p>
            <a:endParaRPr lang="en-US" sz="1600" b="1" u="sng" dirty="0"/>
          </a:p>
          <a:p>
            <a:r>
              <a:rPr lang="en-US" sz="1600" dirty="0"/>
              <a:t>Actions performed by the passenger: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Showing ticket at check-in counter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Checking luggage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Paying fee</a:t>
            </a:r>
          </a:p>
          <a:p>
            <a:r>
              <a:rPr lang="en-US" sz="1600" dirty="0"/>
              <a:t>These are user / actor behaviors.</a:t>
            </a:r>
          </a:p>
          <a:p>
            <a:pPr>
              <a:buNone/>
            </a:pPr>
            <a:endParaRPr lang="en-US" sz="1600" b="1" dirty="0"/>
          </a:p>
          <a:p>
            <a:r>
              <a:rPr lang="en-US" sz="1600" b="1" u="sng" dirty="0"/>
              <a:t>Swimlane: Passenger Services</a:t>
            </a:r>
          </a:p>
          <a:p>
            <a:endParaRPr lang="en-US" sz="1600" dirty="0"/>
          </a:p>
          <a:p>
            <a:r>
              <a:rPr lang="en-US" sz="1600" dirty="0"/>
              <a:t>Actions performed by airline staff/system: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Verifying ticket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Referring passenger to customer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Accepting luggage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Issuing boarding pass</a:t>
            </a:r>
          </a:p>
          <a:p>
            <a:r>
              <a:rPr lang="en-US" sz="1600" dirty="0"/>
              <a:t>These are service / system responsibilities.</a:t>
            </a:r>
          </a:p>
          <a:p>
            <a:pPr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84578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Partitions - Example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699542"/>
            <a:ext cx="4032448" cy="4176464"/>
          </a:xfrm>
        </p:spPr>
      </p:pic>
    </p:spTree>
    <p:extLst>
      <p:ext uri="{BB962C8B-B14F-4D97-AF65-F5344CB8AC3E}">
        <p14:creationId xmlns:p14="http://schemas.microsoft.com/office/powerpoint/2010/main" val="1830013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475656" y="843558"/>
            <a:ext cx="7632848" cy="4392488"/>
          </a:xfrm>
        </p:spPr>
        <p:txBody>
          <a:bodyPr/>
          <a:lstStyle/>
          <a:p>
            <a:pPr marL="342900" indent="-342900">
              <a:spcBef>
                <a:spcPts val="1417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Concurrent threads.</a:t>
            </a:r>
          </a:p>
          <a:p>
            <a:pPr marL="342900" indent="-342900">
              <a:spcBef>
                <a:spcPts val="1417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Activity diagrams support modeling of concurrent flows of </a:t>
            </a:r>
            <a:b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execution.</a:t>
            </a:r>
          </a:p>
          <a:p>
            <a:pPr marL="342900" indent="-342900">
              <a:spcBef>
                <a:spcPts val="1417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Concurrency represents activities that can proceed in </a:t>
            </a:r>
            <a:b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parallel.</a:t>
            </a:r>
          </a:p>
          <a:p>
            <a:pPr marL="342900" indent="-342900">
              <a:spcBef>
                <a:spcPts val="1417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 fork node is used to split one flow into multiple concurrent flows.</a:t>
            </a:r>
          </a:p>
          <a:p>
            <a:pPr marL="342900" indent="-342900">
              <a:spcBef>
                <a:spcPts val="1417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 join node is used to synchronize concurrent flows back into a single flow.</a:t>
            </a:r>
            <a:b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spc="-1" dirty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417"/>
              </a:spcBef>
              <a:buFont typeface="Wingdings" panose="05000000000000000000" pitchFamily="2" charset="2"/>
              <a:buChar char="Ø"/>
            </a:pP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Forks &amp; Joins </a:t>
            </a:r>
          </a:p>
        </p:txBody>
      </p:sp>
    </p:spTree>
    <p:extLst>
      <p:ext uri="{BB962C8B-B14F-4D97-AF65-F5344CB8AC3E}">
        <p14:creationId xmlns:p14="http://schemas.microsoft.com/office/powerpoint/2010/main" val="3474195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187624" y="627534"/>
            <a:ext cx="7992888" cy="43924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Fork and join nodes are analogous to decision and merge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nodes, respectively.</a:t>
            </a:r>
          </a:p>
          <a:p>
            <a:pPr marL="342900" indent="-342900">
              <a:lnSpc>
                <a:spcPct val="150000"/>
              </a:lnSpc>
              <a:spcBef>
                <a:spcPts val="1417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The critical difference is </a:t>
            </a: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concurrency</a:t>
            </a: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1417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Forks have </a:t>
            </a: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one flow in </a:t>
            </a: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multiple flows out</a:t>
            </a: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 as do decision nodes.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The difference is, where a decision node selects a </a:t>
            </a: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single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outbound </a:t>
            </a: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flow, a single flow into a </a:t>
            </a:r>
            <a:r>
              <a:rPr lang="en-US" sz="20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results in multiple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outbound flows which occur concurrently.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Forks &amp; Joins </a:t>
            </a:r>
          </a:p>
        </p:txBody>
      </p:sp>
    </p:spTree>
    <p:extLst>
      <p:ext uri="{BB962C8B-B14F-4D97-AF65-F5344CB8AC3E}">
        <p14:creationId xmlns:p14="http://schemas.microsoft.com/office/powerpoint/2010/main" val="3062424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403648" y="987574"/>
            <a:ext cx="7560840" cy="403244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All the outbound flows occur concurrently.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 join has multiple incoming flows and a single outbound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flow, similar to merge nodes.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With a join, all the incoming flows must be completed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before the outbound flow begins. </a:t>
            </a:r>
          </a:p>
          <a:p>
            <a:pPr marL="108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</a:pP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Forks &amp; Joins </a:t>
            </a:r>
          </a:p>
        </p:txBody>
      </p:sp>
    </p:spTree>
    <p:extLst>
      <p:ext uri="{BB962C8B-B14F-4D97-AF65-F5344CB8AC3E}">
        <p14:creationId xmlns:p14="http://schemas.microsoft.com/office/powerpoint/2010/main" val="4254119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Forks &amp; Joins -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47" y="771550"/>
            <a:ext cx="3267068" cy="403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9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403648" y="987574"/>
            <a:ext cx="7560840" cy="4032448"/>
          </a:xfrm>
        </p:spPr>
        <p:txBody>
          <a:bodyPr/>
          <a:lstStyle/>
          <a:p>
            <a:pPr marL="4509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Object flow refers to the </a:t>
            </a:r>
            <a:r>
              <a:rPr lang="en-US" sz="18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creation and modification of objects </a:t>
            </a:r>
          </a:p>
          <a:p>
            <a:pPr marL="1080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</a:pPr>
            <a:r>
              <a:rPr lang="en-US" sz="1800" b="1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     by activities.</a:t>
            </a:r>
          </a:p>
          <a:p>
            <a:pPr marL="4509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An object flow arrow from,</a:t>
            </a:r>
          </a:p>
          <a:p>
            <a:pPr marL="850950" lvl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An action  → object  </a:t>
            </a:r>
          </a:p>
          <a:p>
            <a:pPr marL="1022400" lvl="2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None/>
            </a:pPr>
            <a:r>
              <a:rPr lang="en-US" sz="18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The action produces, creates or updates the object.</a:t>
            </a:r>
          </a:p>
          <a:p>
            <a:pPr marL="850950" lvl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An object  → action </a:t>
            </a:r>
          </a:p>
          <a:p>
            <a:pPr marL="1022400" lvl="2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None/>
            </a:pPr>
            <a:r>
              <a:rPr lang="en-US" sz="1800" spc="-1" dirty="0">
                <a:solidFill>
                  <a:schemeClr val="tx1">
                    <a:lumMod val="65000"/>
                    <a:lumOff val="35000"/>
                  </a:schemeClr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The action uses, reads, or requires the object.</a:t>
            </a:r>
          </a:p>
          <a:p>
            <a:pPr marL="4509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should only show the important objects on an object flow.</a:t>
            </a:r>
          </a:p>
          <a:p>
            <a:pPr marL="4509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en-US" sz="1600" spc="-1" dirty="0">
              <a:solidFill>
                <a:schemeClr val="tx1">
                  <a:lumMod val="65000"/>
                  <a:lumOff val="35000"/>
                </a:schemeClr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Object Flow</a:t>
            </a:r>
          </a:p>
        </p:txBody>
      </p:sp>
    </p:spTree>
    <p:extLst>
      <p:ext uri="{BB962C8B-B14F-4D97-AF65-F5344CB8AC3E}">
        <p14:creationId xmlns:p14="http://schemas.microsoft.com/office/powerpoint/2010/main" val="565649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Object Flow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3203848" y="627534"/>
            <a:ext cx="3619500" cy="28289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55776" y="3572311"/>
            <a:ext cx="6120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show the object’s state, by writing the name of the state in square brackets below the object’s 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Name.</a:t>
            </a:r>
            <a:endParaRPr lang="en-US" sz="2000" spc="-1" dirty="0">
              <a:solidFill>
                <a:schemeClr val="tx1">
                  <a:lumMod val="75000"/>
                  <a:lumOff val="25000"/>
                </a:schemeClr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691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403648" y="987574"/>
            <a:ext cx="7560840" cy="4032448"/>
          </a:xfrm>
        </p:spPr>
        <p:txBody>
          <a:bodyPr/>
          <a:lstStyle/>
          <a:p>
            <a:r>
              <a:rPr lang="en-US" sz="1800" dirty="0"/>
              <a:t>Draw an activity diagram that represents the workflow of creating a document using a word processing package. This goes through the following steps: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the word processing package.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file under a unique name within its directory.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graphics are necessary, open the graphics package, create the graphics, and paste the graphics into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spreadsheet is necessary, open the spreadsheet package, create the spreadsheet, and paste the spreadsheet into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a hard copy of the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Exit the word processing package.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1600" spc="-1" dirty="0"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3</a:t>
            </a:r>
          </a:p>
        </p:txBody>
      </p:sp>
    </p:spTree>
    <p:extLst>
      <p:ext uri="{BB962C8B-B14F-4D97-AF65-F5344CB8AC3E}">
        <p14:creationId xmlns:p14="http://schemas.microsoft.com/office/powerpoint/2010/main" val="382844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9980-14EC-138C-1150-ACF9C3BE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52FDDB9-52AE-FF9E-6F3D-1BB792B3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23A116-605F-E99B-F438-983E741F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-19348"/>
            <a:ext cx="2448274" cy="516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97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09C2-A22B-DD70-4098-5D11DCC5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5FCF56-FC0F-B1DB-B98E-61B35DFE264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403648" y="987574"/>
            <a:ext cx="7560840" cy="4032448"/>
          </a:xfrm>
        </p:spPr>
        <p:txBody>
          <a:bodyPr/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Draw the activity diagram of order processing.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Requested order is the input parameter of receiving the order.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If the order is accepted, all required information is filled in, the 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     invoice is sent and then the payment is accepted.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When the payment is accepted, the order is shipped.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Note, that this business flow allows </a:t>
            </a:r>
            <a:r>
              <a:rPr lang="en-US" sz="1800" b="1" spc="-1" dirty="0">
                <a:uFill>
                  <a:solidFill>
                    <a:srgbClr val="FFFFFF"/>
                  </a:solidFill>
                </a:uFill>
                <a:latin typeface="Arial"/>
              </a:rPr>
              <a:t>order shipment during 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spc="-1" dirty="0">
                <a:uFill>
                  <a:solidFill>
                    <a:srgbClr val="FFFFFF"/>
                  </a:solidFill>
                </a:uFill>
                <a:latin typeface="Arial"/>
              </a:rPr>
              <a:t>     sending the invoice and confirmation of payment actions</a:t>
            </a: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.</a:t>
            </a:r>
          </a:p>
          <a:p>
            <a:pPr marL="393750" indent="-28575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800" spc="-1" dirty="0">
                <a:uFill>
                  <a:solidFill>
                    <a:srgbClr val="FFFFFF"/>
                  </a:solidFill>
                </a:uFill>
                <a:latin typeface="Arial"/>
              </a:rPr>
              <a:t>Finally, the order is closed.</a:t>
            </a:r>
          </a:p>
          <a:p>
            <a:pPr marL="450900" indent="-34290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Ø"/>
            </a:pPr>
            <a:endParaRPr lang="en-US" sz="1600" spc="-1" dirty="0"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0CC984C-35BF-CF7D-5397-80D9D886D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4</a:t>
            </a:r>
          </a:p>
        </p:txBody>
      </p:sp>
    </p:spTree>
    <p:extLst>
      <p:ext uri="{BB962C8B-B14F-4D97-AF65-F5344CB8AC3E}">
        <p14:creationId xmlns:p14="http://schemas.microsoft.com/office/powerpoint/2010/main" val="2733405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131590"/>
            <a:ext cx="6984901" cy="3494136"/>
          </a:xfr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4</a:t>
            </a:r>
          </a:p>
        </p:txBody>
      </p:sp>
    </p:spTree>
    <p:extLst>
      <p:ext uri="{BB962C8B-B14F-4D97-AF65-F5344CB8AC3E}">
        <p14:creationId xmlns:p14="http://schemas.microsoft.com/office/powerpoint/2010/main" val="476071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BD79-B85A-673A-3986-41DE3FFA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8D5AEA7-1A55-C01E-29C3-E1E5E4FB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58DCC-C74B-BEC1-5004-FBBB97B811EE}"/>
              </a:ext>
            </a:extLst>
          </p:cNvPr>
          <p:cNvSpPr txBox="1"/>
          <p:nvPr/>
        </p:nvSpPr>
        <p:spPr>
          <a:xfrm>
            <a:off x="1835696" y="1176123"/>
            <a:ext cx="7056784" cy="3539430"/>
          </a:xfrm>
          <a:prstGeom prst="rect">
            <a:avLst/>
          </a:prstGeom>
          <a:noFill/>
        </p:spPr>
        <p:txBody>
          <a:bodyPr wrap="square" spcCol="91440" rtlCol="0" anchor="ctr" anchorCtr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follows a structured process when engaging with prospective clients.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starts when a sales person contacts a client to schedule an appointment. Depending on the appointment arrangement, different preparation activities occur: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onsite meetings, a corporate technician prepares the meeting facilities.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offsite meetings, a consultant prepares the required equipment.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necessary preparation is completed, the consultant meets with the client.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the meeting, the sales person sends a follow-up letter.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client provides a statement of the problem, the consultant creates a proposal and sends it to the client.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client does not provide a problem statement, the process ends.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UML activity diagram representing this workflow.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376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E4F50-8193-0009-0AC8-02E2AB90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1A5BC95-15B0-02B3-BA47-58BEC8643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58614"/>
            <a:ext cx="7200800" cy="568920"/>
          </a:xfrm>
        </p:spPr>
        <p:txBody>
          <a:bodyPr/>
          <a:lstStyle/>
          <a:p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Exercise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46C2A-BD8C-36F4-7FEF-5B3A5B6A1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396613"/>
            <a:ext cx="3888432" cy="469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30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3568" y="1779662"/>
            <a:ext cx="7776864" cy="1368152"/>
          </a:xfrm>
        </p:spPr>
        <p:txBody>
          <a:bodyPr/>
          <a:lstStyle/>
          <a:p>
            <a:r>
              <a:rPr lang="en-US" sz="4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04447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12432</TotalTime>
  <Words>1519</Words>
  <Application>Microsoft Office PowerPoint</Application>
  <PresentationFormat>On-screen Show (16:9)</PresentationFormat>
  <Paragraphs>223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Symbol</vt:lpstr>
      <vt:lpstr>Times New Roman</vt:lpstr>
      <vt:lpstr>Wingdings</vt:lpstr>
      <vt:lpstr>Office Theme</vt:lpstr>
      <vt:lpstr>Custom Design</vt:lpstr>
      <vt:lpstr>PowerPoint Presentation</vt:lpstr>
      <vt:lpstr>LECTURE 06: Activity Diagrams</vt:lpstr>
      <vt:lpstr>PowerPoint Presentation</vt:lpstr>
      <vt:lpstr>Introduction</vt:lpstr>
      <vt:lpstr>Introduction</vt:lpstr>
      <vt:lpstr>When to use Activity Diagrams?</vt:lpstr>
      <vt:lpstr>Activity Diagram Notations</vt:lpstr>
      <vt:lpstr>Activity</vt:lpstr>
      <vt:lpstr>Actions</vt:lpstr>
      <vt:lpstr>PowerPoint Presentation</vt:lpstr>
      <vt:lpstr>Action Flow</vt:lpstr>
      <vt:lpstr>Starting &amp; Stopping</vt:lpstr>
      <vt:lpstr>Decision &amp; Merge Nodes</vt:lpstr>
      <vt:lpstr>Decision &amp; Merge Nodes</vt:lpstr>
      <vt:lpstr>Exercise 1</vt:lpstr>
      <vt:lpstr>Exercise 2</vt:lpstr>
      <vt:lpstr>Exercise 2 - Answer</vt:lpstr>
      <vt:lpstr>Partitions/swimlanes</vt:lpstr>
      <vt:lpstr>Partitions - Example</vt:lpstr>
      <vt:lpstr>Partitions - Example</vt:lpstr>
      <vt:lpstr>Partitions - Example</vt:lpstr>
      <vt:lpstr>Forks &amp; Joins </vt:lpstr>
      <vt:lpstr>Forks &amp; Joins </vt:lpstr>
      <vt:lpstr>Forks &amp; Joins </vt:lpstr>
      <vt:lpstr>Forks &amp; Joins - Example</vt:lpstr>
      <vt:lpstr>Object Flow</vt:lpstr>
      <vt:lpstr>Object Flow</vt:lpstr>
      <vt:lpstr>Exercise 3</vt:lpstr>
      <vt:lpstr>Exercise 3</vt:lpstr>
      <vt:lpstr>Exercise 4</vt:lpstr>
      <vt:lpstr>Exercise 4</vt:lpstr>
      <vt:lpstr>Exercise 5</vt:lpstr>
      <vt:lpstr>Exercise 5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Sandaruwani</cp:lastModifiedBy>
  <cp:revision>474</cp:revision>
  <dcterms:created xsi:type="dcterms:W3CDTF">2014-04-01T16:27:38Z</dcterms:created>
  <dcterms:modified xsi:type="dcterms:W3CDTF">2026-09-24T05:03:34Z</dcterms:modified>
</cp:coreProperties>
</file>