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19" r:id="rId64"/>
    <p:sldId id="320" r:id="rId65"/>
    <p:sldId id="321" r:id="rId66"/>
    <p:sldId id="317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2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38236-2E24-4B17-B214-22739AEA3F8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6912A-E806-413E-8050-C5AB5BDB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4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D6912A-E806-413E-8050-C5AB5BDBA9C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7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E801-DF01-9DF7-F9CE-16347AC5A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685E8-9ECA-A6B9-BB21-B285D472F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9F0CE-B8DF-BBA8-1DD4-6B4BA7D7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C02AA-8B97-DFD5-45B8-E6EB059C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7D6A6-E1BC-1389-874E-632339CF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7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F96A-0F16-6B94-1638-C157BF9C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9187-3381-424C-4575-16C62943E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9CCE-DF88-532E-DE1E-E399B995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D70F-CAC9-3F8B-12F2-D66E81D6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5495-4041-B200-D7AB-EDF9463D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1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0E96-DBBA-8C0D-B8F0-961F909C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1904C-C4C8-265E-7C48-140FD4B1B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5100F-88D8-7F92-B4CA-524F3925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7C9B8-C634-16A5-1743-9DA5D5DA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18B38-1E3F-565F-6D5C-EE491E8C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8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447-AEB7-0C82-8E98-7428AA37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576D-EB37-3D41-652B-FE732DA13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422D6-46B9-C696-6A65-D3128ACBC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1F053-7DC9-C510-40E1-1390C6D8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4AF0D-45EB-C391-4656-D17B2F6C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2547F-3FBC-6A59-E501-20A44281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0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3299-ECB3-7510-842E-5304246F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85419-39BE-557F-8595-DCFB059F9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EA5E1-45F3-FA6A-5682-1265C2CA0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054E1-BD65-9465-6509-52AD7C95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21243-F9CB-E63E-52E7-8D2A8F3D7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D70E8-ECAD-D1E6-1ACC-6F8E1811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C5A3C-4C2F-2B37-9C95-B3CD8176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F004A-D3E5-1224-8569-880E551C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4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6212-93FD-F571-DD2F-6E2698F5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46188-93A7-784C-04D2-74D70702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E4828-0211-7858-E37B-1060F928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69E44-D50C-5E45-7C0A-F6AD8AC2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7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12F9E-9BD3-6FF1-EAD7-3426A0EA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D8ACF-DBBE-2457-D8AB-67EC92D1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FA49F-CC87-3B2A-2029-C1F8285B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2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D72F-4057-974F-E034-05881371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F44F-D4F5-2D1D-1FEA-94C6210C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96F1C-F860-C623-A669-7657ED118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468A7-032E-DA5D-377F-4741261B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329E6-1D69-6027-C2CE-CC6FBA04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156DA-AE9C-CE0E-EB59-73A8BC5D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38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934D-22A0-9316-7F9F-80DA348E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A9FC6-220C-2694-3003-541BC3F50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999AA-EC73-2881-8AE7-8AD78B19A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1A563-59EF-666D-D89C-5C580CF6F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DC4F4-6A68-D685-F9A5-F7F5CAEE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1D77E-502A-7F67-575A-93549628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1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6167-7085-DEB5-89DE-24D312BE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74129-C900-A584-0C3C-2925C20FA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0AB1-8F70-9D12-3C48-F0A2CAE5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8133C-595C-C955-2B36-96A5C785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E02E-D97D-A78D-CBFF-B62C69AF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9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4E900-B79F-7A8E-8437-76260982D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90D8A-DEBE-CF04-4774-C4E92B8AC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F7772-67E6-5CDC-AFD3-CC7EBDCA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F33F2-0AC0-4AC5-C9CE-CE7DE69F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27B3B-116C-CBBD-BF63-5802F063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B6BE0-D579-3E6F-DEEA-6A810F47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7C442-0DF3-0388-2740-B1320B743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52D4-C5B9-2C13-7A46-AC30A81AB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67427-44B9-4566-A01E-C0A82ACFB23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08217-28E7-6E64-5817-F568A3D3A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9F8E-2703-4FF4-E085-EF32F37E1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A7DB3-54B7-4557-9602-3D18A8B17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4EE5-AFD2-CB3E-1CF5-622E7CEB3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642" y="152349"/>
            <a:ext cx="11682919" cy="179789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 and Design Basic Concepts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6B2F3F-0AD8-1A67-E3F6-1602D1A7F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643" y="490775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Sandaruwani Pathirage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 (Probationary), FOT, UOR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in Information Technology, University of Moratuwa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 in Management and Information Technology, University of Kelaniya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0CA3A-829D-9442-6225-38183BA16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47" y="1986208"/>
            <a:ext cx="4130507" cy="288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2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69E79-45F8-74BE-E045-3B051BEFD439}"/>
              </a:ext>
            </a:extLst>
          </p:cNvPr>
          <p:cNvSpPr txBox="1"/>
          <p:nvPr/>
        </p:nvSpPr>
        <p:spPr>
          <a:xfrm>
            <a:off x="625001" y="468734"/>
            <a:ext cx="10124062" cy="559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indent="-514350">
              <a:lnSpc>
                <a:spcPct val="107000"/>
              </a:lnSpc>
              <a:spcAft>
                <a:spcPts val="800"/>
              </a:spcAft>
              <a:buAutoNum type="arabicPeriod"/>
            </a:pPr>
            <a:r>
              <a:rPr lang="en-US" sz="2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Learning Objectives</a:t>
            </a:r>
          </a:p>
          <a:p>
            <a:pPr marR="0">
              <a:lnSpc>
                <a:spcPct val="107000"/>
              </a:lnSpc>
              <a:spcAft>
                <a:spcPts val="800"/>
              </a:spcAft>
            </a:pP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completing this lecture, students should be able to: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Orientation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Describe the main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principles of Object Orientation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concept of a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concept of an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and instance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message passing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between objects.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 and low coupling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these concepts in a real-world software system. </a:t>
            </a:r>
          </a:p>
        </p:txBody>
      </p:sp>
    </p:spTree>
    <p:extLst>
      <p:ext uri="{BB962C8B-B14F-4D97-AF65-F5344CB8AC3E}">
        <p14:creationId xmlns:p14="http://schemas.microsoft.com/office/powerpoint/2010/main" val="324648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C46427-7A9A-C1B5-CA3C-E13DC0E4E967}"/>
              </a:ext>
            </a:extLst>
          </p:cNvPr>
          <p:cNvSpPr txBox="1"/>
          <p:nvPr/>
        </p:nvSpPr>
        <p:spPr>
          <a:xfrm>
            <a:off x="479492" y="494104"/>
            <a:ext cx="11233016" cy="291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System Development Life Cycle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Before understanding Object-Oriented Analysis and Design, we need to understand where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and design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fit into software development.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typical software development process includes: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→ Design → Development → Testing → Deployment → Maintenance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01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BEBE8-B88A-A283-B695-22D18569BABF}"/>
              </a:ext>
            </a:extLst>
          </p:cNvPr>
          <p:cNvSpPr txBox="1"/>
          <p:nvPr/>
        </p:nvSpPr>
        <p:spPr>
          <a:xfrm>
            <a:off x="381809" y="203790"/>
            <a:ext cx="5182411" cy="255897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goal is to understand: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problem are we solving?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Who are the users?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does the user actually need?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should the system do?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C97F4-A3F6-F558-3E87-8CDB7A6ADD96}"/>
              </a:ext>
            </a:extLst>
          </p:cNvPr>
          <p:cNvSpPr txBox="1"/>
          <p:nvPr/>
        </p:nvSpPr>
        <p:spPr>
          <a:xfrm>
            <a:off x="6811792" y="152273"/>
            <a:ext cx="6094378" cy="42866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is planned before implementation.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During design, we decide: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Overall system architecture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structure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flow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Components/modules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Technologies to be used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design acts as 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blueprint for development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66361-A48A-3DA3-BA35-C5E97F6ECCFE}"/>
              </a:ext>
            </a:extLst>
          </p:cNvPr>
          <p:cNvSpPr txBox="1"/>
          <p:nvPr/>
        </p:nvSpPr>
        <p:spPr>
          <a:xfrm>
            <a:off x="2282350" y="4817837"/>
            <a:ext cx="8135973" cy="11606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designed solution is implemented using a programming language and appropriate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54612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871FBC-4CDD-C230-3D8A-338D4F201141}"/>
              </a:ext>
            </a:extLst>
          </p:cNvPr>
          <p:cNvSpPr txBox="1"/>
          <p:nvPr/>
        </p:nvSpPr>
        <p:spPr>
          <a:xfrm>
            <a:off x="196984" y="174482"/>
            <a:ext cx="4841943" cy="288829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Testing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developed system is checked to determine whether it: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Works correctly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Satisfies requirements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Handles errors appropriately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Meets quality expectations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424E4-791A-A3DE-36AE-592016C072AF}"/>
              </a:ext>
            </a:extLst>
          </p:cNvPr>
          <p:cNvSpPr txBox="1"/>
          <p:nvPr/>
        </p:nvSpPr>
        <p:spPr>
          <a:xfrm>
            <a:off x="5982108" y="174482"/>
            <a:ext cx="5798088" cy="3422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completed system is released for users.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deployment may involve: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 platforms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Containers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CI/CD pipelines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stores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hosting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F22F1-ECB6-BCED-55C7-9EA55B9CE78A}"/>
              </a:ext>
            </a:extLst>
          </p:cNvPr>
          <p:cNvSpPr txBox="1"/>
          <p:nvPr/>
        </p:nvSpPr>
        <p:spPr>
          <a:xfrm>
            <a:off x="3300107" y="3859487"/>
            <a:ext cx="7536505" cy="2990883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Maintenance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deployment, the system may need: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Bug fixes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updates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improvements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features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Compatibility updates </a:t>
            </a:r>
          </a:p>
        </p:txBody>
      </p:sp>
    </p:spTree>
    <p:extLst>
      <p:ext uri="{BB962C8B-B14F-4D97-AF65-F5344CB8AC3E}">
        <p14:creationId xmlns:p14="http://schemas.microsoft.com/office/powerpoint/2010/main" val="117216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806623-4625-3B3C-92C7-10C664BD4409}"/>
              </a:ext>
            </a:extLst>
          </p:cNvPr>
          <p:cNvSpPr txBox="1"/>
          <p:nvPr/>
        </p:nvSpPr>
        <p:spPr>
          <a:xfrm>
            <a:off x="2852636" y="1357447"/>
            <a:ext cx="6094378" cy="3218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</a:t>
            </a:r>
            <a:r>
              <a:rPr lang="en-US" sz="32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software development is often iterative. Analysis, design, development and testing may happen repeatedly rather than only once in a strict sequence.</a:t>
            </a:r>
          </a:p>
        </p:txBody>
      </p:sp>
    </p:spTree>
    <p:extLst>
      <p:ext uri="{BB962C8B-B14F-4D97-AF65-F5344CB8AC3E}">
        <p14:creationId xmlns:p14="http://schemas.microsoft.com/office/powerpoint/2010/main" val="125030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E56AD-288F-83F4-D561-6FD890B55B45}"/>
              </a:ext>
            </a:extLst>
          </p:cNvPr>
          <p:cNvSpPr txBox="1"/>
          <p:nvPr/>
        </p:nvSpPr>
        <p:spPr>
          <a:xfrm>
            <a:off x="975198" y="554890"/>
            <a:ext cx="10328342" cy="579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What is Object Orientation?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Idea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Orientation (OO)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way of thinking about and designing software as a collection of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that interact with one another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 thinking only in terms of: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"What functions should the program perform?“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also ask: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"What objects exist in this system, what do they know, what can they do, and how do they interact?"</a:t>
            </a:r>
          </a:p>
        </p:txBody>
      </p:sp>
    </p:spTree>
    <p:extLst>
      <p:ext uri="{BB962C8B-B14F-4D97-AF65-F5344CB8AC3E}">
        <p14:creationId xmlns:p14="http://schemas.microsoft.com/office/powerpoint/2010/main" val="142242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E19900-15DA-77D4-D145-383BEC3A3591}"/>
              </a:ext>
            </a:extLst>
          </p:cNvPr>
          <p:cNvSpPr txBox="1"/>
          <p:nvPr/>
        </p:nvSpPr>
        <p:spPr>
          <a:xfrm>
            <a:off x="1160022" y="629115"/>
            <a:ext cx="10542351" cy="593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an object-oriented system: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is organized around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contain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provide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interact with other objects.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may represent real-world entities, concepts, or software responsibilities.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example, in a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Library Management System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we may identify: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Member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Librarian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Loan </a:t>
            </a:r>
          </a:p>
        </p:txBody>
      </p:sp>
    </p:spTree>
    <p:extLst>
      <p:ext uri="{BB962C8B-B14F-4D97-AF65-F5344CB8AC3E}">
        <p14:creationId xmlns:p14="http://schemas.microsoft.com/office/powerpoint/2010/main" val="196439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3CAF1F-483B-BCEE-1170-9E18EEBF3AFE}"/>
              </a:ext>
            </a:extLst>
          </p:cNvPr>
          <p:cNvSpPr txBox="1"/>
          <p:nvPr/>
        </p:nvSpPr>
        <p:spPr>
          <a:xfrm>
            <a:off x="3048811" y="1734953"/>
            <a:ext cx="60943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Orientation is viewing a system as a set of interacting and interrelated objects, with each object encapsulating its data and behavior. </a:t>
            </a:r>
          </a:p>
        </p:txBody>
      </p:sp>
    </p:spTree>
    <p:extLst>
      <p:ext uri="{BB962C8B-B14F-4D97-AF65-F5344CB8AC3E}">
        <p14:creationId xmlns:p14="http://schemas.microsoft.com/office/powerpoint/2010/main" val="365669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7615C-83C1-A442-F888-D680369A13DD}"/>
              </a:ext>
            </a:extLst>
          </p:cNvPr>
          <p:cNvSpPr txBox="1"/>
          <p:nvPr/>
        </p:nvSpPr>
        <p:spPr>
          <a:xfrm>
            <a:off x="459632" y="140054"/>
            <a:ext cx="10445074" cy="6577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as Self-Contained Components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object can be considered a relatively self-contained software component.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object: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Has its own data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author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ISBN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availability </a:t>
            </a:r>
          </a:p>
          <a:p>
            <a:pPr marR="0"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Has its own functionality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checkAvailability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reserve() </a:t>
            </a:r>
          </a:p>
        </p:txBody>
      </p:sp>
    </p:spTree>
    <p:extLst>
      <p:ext uri="{BB962C8B-B14F-4D97-AF65-F5344CB8AC3E}">
        <p14:creationId xmlns:p14="http://schemas.microsoft.com/office/powerpoint/2010/main" val="96708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BD1037-9BB2-4E24-87D4-7AE9F29EF355}"/>
              </a:ext>
            </a:extLst>
          </p:cNvPr>
          <p:cNvSpPr txBox="1"/>
          <p:nvPr/>
        </p:nvSpPr>
        <p:spPr>
          <a:xfrm>
            <a:off x="1033563" y="361729"/>
            <a:ext cx="10026785" cy="490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Interacts with other objects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Member → borrows → Book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Because responsibilities are organized into objects, components can potentially be: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Reused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Modified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Replaced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Tested independently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703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7A369-B846-2952-80AB-D4ED524A0B36}"/>
              </a:ext>
            </a:extLst>
          </p:cNvPr>
          <p:cNvSpPr txBox="1"/>
          <p:nvPr/>
        </p:nvSpPr>
        <p:spPr>
          <a:xfrm>
            <a:off x="2716449" y="1358484"/>
            <a:ext cx="6094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today's software engineering, we usually think of objects as software abstractions rather than literally "real-world things." For example, </a:t>
            </a:r>
            <a:r>
              <a:rPr lang="en-US" sz="3200" b="1" kern="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PaymentService</a:t>
            </a:r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 be an object even though it is not a physical object.</a:t>
            </a:r>
          </a:p>
        </p:txBody>
      </p:sp>
    </p:spTree>
    <p:extLst>
      <p:ext uri="{BB962C8B-B14F-4D97-AF65-F5344CB8AC3E}">
        <p14:creationId xmlns:p14="http://schemas.microsoft.com/office/powerpoint/2010/main" val="352659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69C98-D02C-FE95-0D3A-686CC7A5A0F0}"/>
              </a:ext>
            </a:extLst>
          </p:cNvPr>
          <p:cNvSpPr txBox="1"/>
          <p:nvPr/>
        </p:nvSpPr>
        <p:spPr>
          <a:xfrm>
            <a:off x="248867" y="427922"/>
            <a:ext cx="10007330" cy="600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OOA, OOD and OOP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three terms are very important.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OOA — Object-Oriented Analysis</a:t>
            </a:r>
            <a:endParaRPr lang="en-US" sz="24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 What exists in the problem domain?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OOA focuses on identifying: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668D0-3D0B-0A5A-0975-5097D249DEEA}"/>
              </a:ext>
            </a:extLst>
          </p:cNvPr>
          <p:cNvSpPr txBox="1"/>
          <p:nvPr/>
        </p:nvSpPr>
        <p:spPr>
          <a:xfrm>
            <a:off x="6821521" y="1324638"/>
            <a:ext cx="4734940" cy="43476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look at the problem from the perspective of the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domain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— Library System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may identify: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Member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Librarian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Loan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Library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733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04BBBF-9C2F-7BDC-36B3-FDA1F6BC6B2A}"/>
              </a:ext>
            </a:extLst>
          </p:cNvPr>
          <p:cNvSpPr txBox="1"/>
          <p:nvPr/>
        </p:nvSpPr>
        <p:spPr>
          <a:xfrm>
            <a:off x="352628" y="214373"/>
            <a:ext cx="6094378" cy="613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OOD — Object-Oriented Design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 How should the software objects work together?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OOD takes the concepts identified during analysis and designs software structures that satisfy the requirements.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determine: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classes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interactions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Responsibilities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89C13-864C-8270-F1A6-301021AEE39D}"/>
              </a:ext>
            </a:extLst>
          </p:cNvPr>
          <p:cNvSpPr txBox="1"/>
          <p:nvPr/>
        </p:nvSpPr>
        <p:spPr>
          <a:xfrm>
            <a:off x="7794287" y="1480410"/>
            <a:ext cx="3801084" cy="444301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author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ISBN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checkAvailability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reserve()</a:t>
            </a:r>
          </a:p>
        </p:txBody>
      </p:sp>
    </p:spTree>
    <p:extLst>
      <p:ext uri="{BB962C8B-B14F-4D97-AF65-F5344CB8AC3E}">
        <p14:creationId xmlns:p14="http://schemas.microsoft.com/office/powerpoint/2010/main" val="2967155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D308B7-4E44-EFEA-829F-AE265CE4FEB4}"/>
              </a:ext>
            </a:extLst>
          </p:cNvPr>
          <p:cNvSpPr txBox="1"/>
          <p:nvPr/>
        </p:nvSpPr>
        <p:spPr>
          <a:xfrm>
            <a:off x="3232014" y="1944127"/>
            <a:ext cx="6094378" cy="216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OOD focuses on defining software objects and how those objects collaborate to fulfill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2175013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D2A42-644C-909A-7C3A-8F4E87C96F65}"/>
              </a:ext>
            </a:extLst>
          </p:cNvPr>
          <p:cNvSpPr txBox="1"/>
          <p:nvPr/>
        </p:nvSpPr>
        <p:spPr>
          <a:xfrm>
            <a:off x="1646406" y="525469"/>
            <a:ext cx="8742734" cy="511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— Object-Oriented Programming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 How do we implement the design?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OOP is the implementation of object-oriented concepts using a programming language.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OO languages include: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C#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C++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Kotlin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Swift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TypeScript </a:t>
            </a:r>
          </a:p>
        </p:txBody>
      </p:sp>
    </p:spTree>
    <p:extLst>
      <p:ext uri="{BB962C8B-B14F-4D97-AF65-F5344CB8AC3E}">
        <p14:creationId xmlns:p14="http://schemas.microsoft.com/office/powerpoint/2010/main" val="3523548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FE013-B7FE-916D-E556-C767FF977C74}"/>
              </a:ext>
            </a:extLst>
          </p:cNvPr>
          <p:cNvSpPr txBox="1"/>
          <p:nvPr/>
        </p:nvSpPr>
        <p:spPr>
          <a:xfrm>
            <a:off x="2609444" y="2436688"/>
            <a:ext cx="6485917" cy="1637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is the implementation/coding/construction stage of the designed objects. </a:t>
            </a:r>
          </a:p>
        </p:txBody>
      </p:sp>
    </p:spTree>
    <p:extLst>
      <p:ext uri="{BB962C8B-B14F-4D97-AF65-F5344CB8AC3E}">
        <p14:creationId xmlns:p14="http://schemas.microsoft.com/office/powerpoint/2010/main" val="523349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6CFED-93D4-E4B5-C14C-B6B544A5B251}"/>
              </a:ext>
            </a:extLst>
          </p:cNvPr>
          <p:cNvSpPr txBox="1"/>
          <p:nvPr/>
        </p:nvSpPr>
        <p:spPr>
          <a:xfrm>
            <a:off x="2541350" y="840804"/>
            <a:ext cx="6094378" cy="515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relationship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OOA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problem-domain objects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software objects and their interactions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OOP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those objects using a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1067653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3C1AD9-0E99-67A0-2038-A27A05F31502}"/>
              </a:ext>
            </a:extLst>
          </p:cNvPr>
          <p:cNvSpPr/>
          <p:nvPr/>
        </p:nvSpPr>
        <p:spPr>
          <a:xfrm>
            <a:off x="301557" y="4435812"/>
            <a:ext cx="4747098" cy="24221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200F9-7A13-67B3-1FF9-EF6D165B5B30}"/>
              </a:ext>
            </a:extLst>
          </p:cNvPr>
          <p:cNvSpPr txBox="1"/>
          <p:nvPr/>
        </p:nvSpPr>
        <p:spPr>
          <a:xfrm>
            <a:off x="321013" y="0"/>
            <a:ext cx="8917831" cy="7160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Traditional Development vs Object-Oriented Development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 traditional approach, we often think primarily about: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 + Data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OO development, we try to keep the: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+ Behavior that operates on that data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together within appropriate objects/classes.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 having: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customerData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calculateCustomerBill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updateCustomer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spread throughout the system</a:t>
            </a:r>
            <a:b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</a:b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290D2-C813-02E6-F399-589943C00F62}"/>
              </a:ext>
            </a:extLst>
          </p:cNvPr>
          <p:cNvSpPr txBox="1"/>
          <p:nvPr/>
        </p:nvSpPr>
        <p:spPr>
          <a:xfrm>
            <a:off x="8368219" y="2898646"/>
            <a:ext cx="3411977" cy="39593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may have: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calculateBill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updateDetails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related to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1CF2D5A-9F1D-77FC-202F-0307EF3EC46F}"/>
              </a:ext>
            </a:extLst>
          </p:cNvPr>
          <p:cNvSpPr/>
          <p:nvPr/>
        </p:nvSpPr>
        <p:spPr>
          <a:xfrm>
            <a:off x="5914417" y="5243209"/>
            <a:ext cx="1128409" cy="86576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0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40744-3E3D-DD83-4A86-2DC2C9AB153A}"/>
              </a:ext>
            </a:extLst>
          </p:cNvPr>
          <p:cNvSpPr txBox="1"/>
          <p:nvPr/>
        </p:nvSpPr>
        <p:spPr>
          <a:xfrm>
            <a:off x="2969367" y="2397948"/>
            <a:ext cx="60943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 development combines data/state and behavior/functions within objects and groups similar objects into classes. </a:t>
            </a:r>
          </a:p>
        </p:txBody>
      </p:sp>
    </p:spTree>
    <p:extLst>
      <p:ext uri="{BB962C8B-B14F-4D97-AF65-F5344CB8AC3E}">
        <p14:creationId xmlns:p14="http://schemas.microsoft.com/office/powerpoint/2010/main" val="2271620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B97F8-EF98-FBC9-B585-1DE5AF44756E}"/>
              </a:ext>
            </a:extLst>
          </p:cNvPr>
          <p:cNvSpPr txBox="1"/>
          <p:nvPr/>
        </p:nvSpPr>
        <p:spPr>
          <a:xfrm>
            <a:off x="1121112" y="336594"/>
            <a:ext cx="10201883" cy="428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Why Object Orientation?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Object-oriented development can provide several advantages: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Simplicity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Complex systems can be divided into understandable objects.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Reusability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classes/components can potentially be reused.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Increased Quality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 designs can make testing and maintenance easier.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Faster Development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components can reduce development effort.</a:t>
            </a:r>
          </a:p>
        </p:txBody>
      </p:sp>
    </p:spTree>
    <p:extLst>
      <p:ext uri="{BB962C8B-B14F-4D97-AF65-F5344CB8AC3E}">
        <p14:creationId xmlns:p14="http://schemas.microsoft.com/office/powerpoint/2010/main" val="1700424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5AE43-C657-FB5C-70C7-2B4EF6FAFD4A}"/>
              </a:ext>
            </a:extLst>
          </p:cNvPr>
          <p:cNvSpPr txBox="1"/>
          <p:nvPr/>
        </p:nvSpPr>
        <p:spPr>
          <a:xfrm>
            <a:off x="868194" y="240948"/>
            <a:ext cx="8917832" cy="3161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Maintainability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Changes can often be localized to particular classes/components.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Scalability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 systems can be divided into smaller components.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Modularity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class can have a clear responsibility.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Modifiability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Well-designed systems can accommodate changes more easily.</a:t>
            </a:r>
          </a:p>
        </p:txBody>
      </p:sp>
    </p:spTree>
    <p:extLst>
      <p:ext uri="{BB962C8B-B14F-4D97-AF65-F5344CB8AC3E}">
        <p14:creationId xmlns:p14="http://schemas.microsoft.com/office/powerpoint/2010/main" val="4141482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D0063-F13B-AE48-39A1-99CE292923E4}"/>
              </a:ext>
            </a:extLst>
          </p:cNvPr>
          <p:cNvSpPr txBox="1"/>
          <p:nvPr/>
        </p:nvSpPr>
        <p:spPr>
          <a:xfrm>
            <a:off x="751461" y="649509"/>
            <a:ext cx="10201884" cy="5492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perspective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benefits are strongest when OO design is combined with principles such as: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coupling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Responsibility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Composition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Dependency Injection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Interface-based design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371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F788D-862F-EED2-D288-983D36A43435}"/>
              </a:ext>
            </a:extLst>
          </p:cNvPr>
          <p:cNvSpPr txBox="1"/>
          <p:nvPr/>
        </p:nvSpPr>
        <p:spPr>
          <a:xfrm>
            <a:off x="644458" y="367358"/>
            <a:ext cx="6094378" cy="4801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What is an Object?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of objects in programming has historical roots in languages such as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object can be thought of as a software entity that: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Knows things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its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attributes/state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Does things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its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methods/behavior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14F9D-0271-960A-5A70-FF268DCC1AA7}"/>
              </a:ext>
            </a:extLst>
          </p:cNvPr>
          <p:cNvSpPr txBox="1"/>
          <p:nvPr/>
        </p:nvSpPr>
        <p:spPr>
          <a:xfrm>
            <a:off x="8122596" y="367358"/>
            <a:ext cx="3579779" cy="643406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 Object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Knows: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Manufacturer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Owner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do: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Lock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Carry passengers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1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8A740E-5CEF-CD9A-D9A3-8571C40300D3}"/>
              </a:ext>
            </a:extLst>
          </p:cNvPr>
          <p:cNvSpPr txBox="1"/>
          <p:nvPr/>
        </p:nvSpPr>
        <p:spPr>
          <a:xfrm>
            <a:off x="420721" y="660817"/>
            <a:ext cx="6094378" cy="629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Attributes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represents a piece of data or property of an object.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 describe the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an object.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— Car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manufacturer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owner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objects of the same class can have different attribute values.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FC21A-CCA0-5928-3479-80D952014E18}"/>
              </a:ext>
            </a:extLst>
          </p:cNvPr>
          <p:cNvSpPr txBox="1"/>
          <p:nvPr/>
        </p:nvSpPr>
        <p:spPr>
          <a:xfrm>
            <a:off x="8387674" y="1973700"/>
            <a:ext cx="2040377" cy="339214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 1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= Red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= Toyota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 2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= Blue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= Honda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42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FADEB6-BDBD-0236-2936-959F6A13A421}"/>
              </a:ext>
            </a:extLst>
          </p:cNvPr>
          <p:cNvSpPr txBox="1"/>
          <p:nvPr/>
        </p:nvSpPr>
        <p:spPr>
          <a:xfrm>
            <a:off x="712551" y="283530"/>
            <a:ext cx="6094378" cy="595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Methods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represents what an object can do.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method implements some behavior of the object.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— Car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lock()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openDoor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Therefore:</a:t>
            </a:r>
          </a:p>
        </p:txBody>
      </p:sp>
    </p:spTree>
    <p:extLst>
      <p:ext uri="{BB962C8B-B14F-4D97-AF65-F5344CB8AC3E}">
        <p14:creationId xmlns:p14="http://schemas.microsoft.com/office/powerpoint/2010/main" val="2007666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29FEE0-5574-0984-2448-07790B7AC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853182"/>
              </p:ext>
            </p:extLst>
          </p:nvPr>
        </p:nvGraphicFramePr>
        <p:xfrm>
          <a:off x="390728" y="1217561"/>
          <a:ext cx="10515600" cy="254469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36490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202441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1102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Attributes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5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color, model, cost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drive(), stop()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1164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name, age, ID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study(), attendClass()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44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BankAccount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accountNo, balance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deposit(), withdraw()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714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123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B3D94-EADB-9E1F-C442-74C9A414175B}"/>
              </a:ext>
            </a:extLst>
          </p:cNvPr>
          <p:cNvSpPr txBox="1"/>
          <p:nvPr/>
        </p:nvSpPr>
        <p:spPr>
          <a:xfrm>
            <a:off x="294262" y="299264"/>
            <a:ext cx="6456734" cy="5504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State and Behavior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very important distinction.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the object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/ knows at a particular time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Represented by attributes.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= Red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manufacturer = Toyota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= 8,000,000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EE7DA-AEDF-D4C0-FAD1-00208B5E2E33}"/>
              </a:ext>
            </a:extLst>
          </p:cNvPr>
          <p:cNvSpPr txBox="1"/>
          <p:nvPr/>
        </p:nvSpPr>
        <p:spPr>
          <a:xfrm>
            <a:off x="7502457" y="512143"/>
            <a:ext cx="4485262" cy="583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the object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do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Represented by methods.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openDoor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Easy way to remember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 → What does it know?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Methods → What can it do?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760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757D6-CD5C-F435-81E8-87D885914928}"/>
              </a:ext>
            </a:extLst>
          </p:cNvPr>
          <p:cNvSpPr txBox="1"/>
          <p:nvPr/>
        </p:nvSpPr>
        <p:spPr>
          <a:xfrm>
            <a:off x="430449" y="300893"/>
            <a:ext cx="6094378" cy="345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Classes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blueprint/template used to describe a group of similar objects.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class defines: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behavior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C900E-D8AC-A353-D789-F6C941BFD80C}"/>
              </a:ext>
            </a:extLst>
          </p:cNvPr>
          <p:cNvSpPr txBox="1"/>
          <p:nvPr/>
        </p:nvSpPr>
        <p:spPr>
          <a:xfrm>
            <a:off x="6986892" y="496510"/>
            <a:ext cx="4559840" cy="580909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Employee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employeeID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salary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calculateSalary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displayDetails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class does not represent one particular employee.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describes what an Employee object should contain and what it can do.</a:t>
            </a:r>
          </a:p>
        </p:txBody>
      </p:sp>
    </p:spTree>
    <p:extLst>
      <p:ext uri="{BB962C8B-B14F-4D97-AF65-F5344CB8AC3E}">
        <p14:creationId xmlns:p14="http://schemas.microsoft.com/office/powerpoint/2010/main" val="1605613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B95CE2-C727-0419-4F42-B8E5F93BAF7A}"/>
              </a:ext>
            </a:extLst>
          </p:cNvPr>
          <p:cNvSpPr txBox="1"/>
          <p:nvPr/>
        </p:nvSpPr>
        <p:spPr>
          <a:xfrm>
            <a:off x="3202831" y="2590987"/>
            <a:ext cx="60943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is a template/description for objects that share common attributes, methods, operations and relationships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38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F866C-A8AF-D84E-52EF-25FCBAEB5FAD}"/>
              </a:ext>
            </a:extLst>
          </p:cNvPr>
          <p:cNvSpPr txBox="1"/>
          <p:nvPr/>
        </p:nvSpPr>
        <p:spPr>
          <a:xfrm>
            <a:off x="372082" y="278418"/>
            <a:ext cx="6094378" cy="441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Class vs Object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one of the most important concepts in OOAD.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blueprint/template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actual instance created from the class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a house: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House Blueprint = Class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Actual House =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5B9D7-F8C5-65A6-9683-6355E61A73C9}"/>
              </a:ext>
            </a:extLst>
          </p:cNvPr>
          <p:cNvSpPr txBox="1"/>
          <p:nvPr/>
        </p:nvSpPr>
        <p:spPr>
          <a:xfrm>
            <a:off x="6597785" y="853260"/>
            <a:ext cx="5347781" cy="408143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Class: Employee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Possible objects: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employee1 → John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employee2 → Jane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employee3 → Mark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belong to the Employee class but have different values.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016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1FFC0F-BD3B-B587-3E94-68600BAD8588}"/>
              </a:ext>
            </a:extLst>
          </p:cNvPr>
          <p:cNvSpPr txBox="1"/>
          <p:nvPr/>
        </p:nvSpPr>
        <p:spPr>
          <a:xfrm>
            <a:off x="391538" y="298474"/>
            <a:ext cx="6094378" cy="6577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Instance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particular object created from a class.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instance: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= Peter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 = 15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walk()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Peter is an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 of the Student class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instance has its own state.</a:t>
            </a:r>
          </a:p>
        </p:txBody>
      </p:sp>
    </p:spTree>
    <p:extLst>
      <p:ext uri="{BB962C8B-B14F-4D97-AF65-F5344CB8AC3E}">
        <p14:creationId xmlns:p14="http://schemas.microsoft.com/office/powerpoint/2010/main" val="1023068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1FED92-4C1B-9D99-44A8-16FC50DF95D2}"/>
              </a:ext>
            </a:extLst>
          </p:cNvPr>
          <p:cNvSpPr txBox="1"/>
          <p:nvPr/>
        </p:nvSpPr>
        <p:spPr>
          <a:xfrm>
            <a:off x="3047189" y="3213557"/>
            <a:ext cx="60943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is a single person, thing or concept in the application domain and another word for a single object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60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9DA73-69BB-8F3F-0048-354C08DAE45B}"/>
              </a:ext>
            </a:extLst>
          </p:cNvPr>
          <p:cNvSpPr txBox="1"/>
          <p:nvPr/>
        </p:nvSpPr>
        <p:spPr>
          <a:xfrm>
            <a:off x="605546" y="616277"/>
            <a:ext cx="9452854" cy="4011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Message Passing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Objects need to communicate with one another.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communication is called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message passing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message is essentially a request to an object to perform some operation.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→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placeOrder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→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OrderService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receiving object executes the appropriate method.</a:t>
            </a:r>
          </a:p>
        </p:txBody>
      </p:sp>
    </p:spTree>
    <p:extLst>
      <p:ext uri="{BB962C8B-B14F-4D97-AF65-F5344CB8AC3E}">
        <p14:creationId xmlns:p14="http://schemas.microsoft.com/office/powerpoint/2010/main" val="3719155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14D66D-6291-449C-7284-03153EC3205E}"/>
              </a:ext>
            </a:extLst>
          </p:cNvPr>
          <p:cNvSpPr txBox="1"/>
          <p:nvPr/>
        </p:nvSpPr>
        <p:spPr>
          <a:xfrm>
            <a:off x="1082202" y="809201"/>
            <a:ext cx="6094378" cy="444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analogy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person says: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"Prepare the soup."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chef receives the request and performs: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prepareSoup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Message → "Prepare soup"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 →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prepareSoup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E3703-F8BD-7D09-FB90-EC81BF277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580" y="1334006"/>
            <a:ext cx="4189987" cy="41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431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078E7-823F-3341-B107-829622D1D2CD}"/>
              </a:ext>
            </a:extLst>
          </p:cNvPr>
          <p:cNvSpPr txBox="1"/>
          <p:nvPr/>
        </p:nvSpPr>
        <p:spPr>
          <a:xfrm>
            <a:off x="255351" y="573932"/>
            <a:ext cx="6094378" cy="441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How Message Passing Works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normally three steps: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 — Sender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object sends a message.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 — Receiver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Another object receives the message.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 — Method execution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receiver executes the corresponding method.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result may then be returned.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A5BA0-0ED7-31BA-13B9-0517A47BE999}"/>
              </a:ext>
            </a:extLst>
          </p:cNvPr>
          <p:cNvSpPr txBox="1"/>
          <p:nvPr/>
        </p:nvSpPr>
        <p:spPr>
          <a:xfrm>
            <a:off x="7171717" y="459547"/>
            <a:ext cx="3908087" cy="461594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 message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Receiver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 executes method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 value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5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11732-3613-9784-42CC-F736B452BAA2}"/>
              </a:ext>
            </a:extLst>
          </p:cNvPr>
          <p:cNvSpPr txBox="1"/>
          <p:nvPr/>
        </p:nvSpPr>
        <p:spPr>
          <a:xfrm>
            <a:off x="401265" y="435452"/>
            <a:ext cx="6094378" cy="3986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Components of a Message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message can contain: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Object reference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object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should receive the message.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Method name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operation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should be performed.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Parameters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 the required input values.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4B96-4388-2CF2-C16B-CA575759C017}"/>
              </a:ext>
            </a:extLst>
          </p:cNvPr>
          <p:cNvSpPr txBox="1"/>
          <p:nvPr/>
        </p:nvSpPr>
        <p:spPr>
          <a:xfrm>
            <a:off x="6364321" y="182567"/>
            <a:ext cx="5581245" cy="558236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lawrence.takeOrder</a:t>
            </a: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"sofa",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"1 Robinson Rd",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120799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reference →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lawrence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 name →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takeOrder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Parameters → "sofa", "1 Robinson Rd", 120799</a:t>
            </a:r>
          </a:p>
        </p:txBody>
      </p:sp>
    </p:spTree>
    <p:extLst>
      <p:ext uri="{BB962C8B-B14F-4D97-AF65-F5344CB8AC3E}">
        <p14:creationId xmlns:p14="http://schemas.microsoft.com/office/powerpoint/2010/main" val="4101211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2F90A3-2C9C-8DFF-9427-D51A5F0FF0FF}"/>
              </a:ext>
            </a:extLst>
          </p:cNvPr>
          <p:cNvSpPr txBox="1"/>
          <p:nvPr/>
        </p:nvSpPr>
        <p:spPr>
          <a:xfrm>
            <a:off x="284939" y="-76255"/>
            <a:ext cx="11622121" cy="701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Client and Server Objects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object interaction: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Message Sender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Acts as the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Message Receiver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Acts as the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that particular request.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placeOrder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SalesPerson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Customer requests a service.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SalesPerson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provides the service.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Alex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customer/client and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Lawrence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receiving/server object.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70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64EAF-2DE8-27B6-352A-08B6BE487397}"/>
              </a:ext>
            </a:extLst>
          </p:cNvPr>
          <p:cNvSpPr txBox="1"/>
          <p:nvPr/>
        </p:nvSpPr>
        <p:spPr>
          <a:xfrm>
            <a:off x="449904" y="124643"/>
            <a:ext cx="9832232" cy="713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 Method Signature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method has 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signature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identifies the operation.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getMyFundsFromBank</a:t>
            </a: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(String </a:t>
            </a:r>
            <a:r>
              <a:rPr lang="en-US" sz="2000" kern="100" dirty="0" err="1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bankName</a:t>
            </a:r>
            <a:r>
              <a:rPr lang="en-US" sz="20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signature concept focuses on: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 name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Parameter list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getMyFundsFromBank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(String)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programming languages define the exact rules for what constitutes a method signature.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original lecture specifically explains the signature as the combination of method name and parameter list. 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348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2C823-EDF2-3C3E-00C1-972AC64AE689}"/>
              </a:ext>
            </a:extLst>
          </p:cNvPr>
          <p:cNvSpPr txBox="1"/>
          <p:nvPr/>
        </p:nvSpPr>
        <p:spPr>
          <a:xfrm>
            <a:off x="897376" y="588123"/>
            <a:ext cx="6094378" cy="440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 Principles of Object Orientation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four major principles: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Inheritance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Polymorphism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often called the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 pillars of OOP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643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A054B-EAA4-94F9-0C08-D549ADFA3EB0}"/>
              </a:ext>
            </a:extLst>
          </p:cNvPr>
          <p:cNvSpPr txBox="1"/>
          <p:nvPr/>
        </p:nvSpPr>
        <p:spPr>
          <a:xfrm>
            <a:off x="255352" y="321425"/>
            <a:ext cx="5415874" cy="430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 Abstraction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means focusing on the important aspects of something while ignoring unnecessary details.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answers: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does this object do?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rather than: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exactly does it do it?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6FDF3-111B-4B5C-25CC-8EF5BFD0E4EA}"/>
              </a:ext>
            </a:extLst>
          </p:cNvPr>
          <p:cNvSpPr txBox="1"/>
          <p:nvPr/>
        </p:nvSpPr>
        <p:spPr>
          <a:xfrm>
            <a:off x="6096000" y="152560"/>
            <a:ext cx="5937115" cy="654685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Example — Map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map is an abstraction.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maps show different information depending on the purpose.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Road map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Roads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Cities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Distances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Geological map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Rock types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Geological structures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Geological boundaries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same geographical area can be represented differently depending on what information is important.</a:t>
            </a:r>
          </a:p>
        </p:txBody>
      </p:sp>
    </p:spTree>
    <p:extLst>
      <p:ext uri="{BB962C8B-B14F-4D97-AF65-F5344CB8AC3E}">
        <p14:creationId xmlns:p14="http://schemas.microsoft.com/office/powerpoint/2010/main" val="3402593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9E3088-3527-3565-674B-2E9926360A96}"/>
              </a:ext>
            </a:extLst>
          </p:cNvPr>
          <p:cNvSpPr txBox="1"/>
          <p:nvPr/>
        </p:nvSpPr>
        <p:spPr>
          <a:xfrm>
            <a:off x="284532" y="67983"/>
            <a:ext cx="9005381" cy="6722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 Software Example of Abstraction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 smartphone call.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sees: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Incoming Call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Accept ]   [ Reject ]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does not need to know: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the network identifies the phone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signalling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works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audio packets are transmitted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the operating system manages the call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the network establishes the connection </a:t>
            </a:r>
          </a:p>
        </p:txBody>
      </p:sp>
    </p:spTree>
    <p:extLst>
      <p:ext uri="{BB962C8B-B14F-4D97-AF65-F5344CB8AC3E}">
        <p14:creationId xmlns:p14="http://schemas.microsoft.com/office/powerpoint/2010/main" val="2086147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021F66-E306-7031-395C-E6C63531A7E0}"/>
              </a:ext>
            </a:extLst>
          </p:cNvPr>
          <p:cNvSpPr txBox="1"/>
          <p:nvPr/>
        </p:nvSpPr>
        <p:spPr>
          <a:xfrm>
            <a:off x="2920729" y="2287015"/>
            <a:ext cx="6094378" cy="202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complexity is hidden.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interacts with a simple interface.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Therefore: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hides unnecessary complexity and exposes the essential functionality.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847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D429F-3B90-87B0-CE77-AA321B9B393B}"/>
              </a:ext>
            </a:extLst>
          </p:cNvPr>
          <p:cNvSpPr txBox="1"/>
          <p:nvPr/>
        </p:nvSpPr>
        <p:spPr>
          <a:xfrm>
            <a:off x="517998" y="416572"/>
            <a:ext cx="3820538" cy="314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21. Encapsulation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 means packaging data and the operations that work on that data together inside an object/class.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also involves controlling access to the object's internal state.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08BB5-261C-44A2-F606-EC79B2309744}"/>
              </a:ext>
            </a:extLst>
          </p:cNvPr>
          <p:cNvSpPr txBox="1"/>
          <p:nvPr/>
        </p:nvSpPr>
        <p:spPr>
          <a:xfrm>
            <a:off x="5819572" y="0"/>
            <a:ext cx="6094378" cy="677550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BankAccount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balance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accountNumber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withdraw()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getBalance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Outside code should not normally manipulate balance directly.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withdraw()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 how the balance changes.</a:t>
            </a:r>
          </a:p>
        </p:txBody>
      </p:sp>
    </p:spTree>
    <p:extLst>
      <p:ext uri="{BB962C8B-B14F-4D97-AF65-F5344CB8AC3E}">
        <p14:creationId xmlns:p14="http://schemas.microsoft.com/office/powerpoint/2010/main" val="16182858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BF3A4D-12B4-EB6E-192A-EC429E385E60}"/>
              </a:ext>
            </a:extLst>
          </p:cNvPr>
          <p:cNvSpPr txBox="1"/>
          <p:nvPr/>
        </p:nvSpPr>
        <p:spPr>
          <a:xfrm>
            <a:off x="644456" y="634104"/>
            <a:ext cx="9929509" cy="485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 Data Hiding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hiding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means restricting direct access to internal data or implementation details.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double balance;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account.balance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-500000;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provide controlled operations: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account.deposit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(5000);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account.withdraw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(1000);</a:t>
            </a:r>
          </a:p>
        </p:txBody>
      </p:sp>
    </p:spTree>
    <p:extLst>
      <p:ext uri="{BB962C8B-B14F-4D97-AF65-F5344CB8AC3E}">
        <p14:creationId xmlns:p14="http://schemas.microsoft.com/office/powerpoint/2010/main" val="806473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3D44FF-FB58-F385-2B2E-54CEF5B57E87}"/>
              </a:ext>
            </a:extLst>
          </p:cNvPr>
          <p:cNvSpPr txBox="1"/>
          <p:nvPr/>
        </p:nvSpPr>
        <p:spPr>
          <a:xfrm>
            <a:off x="2755359" y="1106709"/>
            <a:ext cx="6094378" cy="394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allows the class to enforce rules.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withdraw(amount)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amount &lt;= balance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perform withdrawal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reject transaction</a:t>
            </a:r>
          </a:p>
        </p:txBody>
      </p:sp>
    </p:spTree>
    <p:extLst>
      <p:ext uri="{BB962C8B-B14F-4D97-AF65-F5344CB8AC3E}">
        <p14:creationId xmlns:p14="http://schemas.microsoft.com/office/powerpoint/2010/main" val="1143851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51BE2-AC95-F82E-9359-0B37A7C27707}"/>
              </a:ext>
            </a:extLst>
          </p:cNvPr>
          <p:cNvSpPr txBox="1"/>
          <p:nvPr/>
        </p:nvSpPr>
        <p:spPr>
          <a:xfrm>
            <a:off x="2842908" y="1428561"/>
            <a:ext cx="6094378" cy="268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40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ncapsulation </a:t>
            </a:r>
            <a:r>
              <a:rPr lang="en-US" sz="4000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40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separating an object's external interface from its hidden internal implementation. </a:t>
            </a:r>
          </a:p>
        </p:txBody>
      </p:sp>
    </p:spTree>
    <p:extLst>
      <p:ext uri="{BB962C8B-B14F-4D97-AF65-F5344CB8AC3E}">
        <p14:creationId xmlns:p14="http://schemas.microsoft.com/office/powerpoint/2010/main" val="36723859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FA590B-3237-9FDB-4B43-E27102F05202}"/>
              </a:ext>
            </a:extLst>
          </p:cNvPr>
          <p:cNvSpPr txBox="1"/>
          <p:nvPr/>
        </p:nvSpPr>
        <p:spPr>
          <a:xfrm>
            <a:off x="265078" y="459300"/>
            <a:ext cx="12254420" cy="600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23. Advantages of Encapsulation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Data Integrity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can only be modified through controlled operations.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Security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Sensitive internal information can be protected.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Control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class decides which operations are allowed.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Flexibility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 implementation can change without necessarily affecting users of the class.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Reduced Complexity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 do not need to understand internal implementation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4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F4EA37-34A9-4CDF-01B4-E63B518FBDC1}"/>
              </a:ext>
            </a:extLst>
          </p:cNvPr>
          <p:cNvSpPr txBox="1"/>
          <p:nvPr/>
        </p:nvSpPr>
        <p:spPr>
          <a:xfrm>
            <a:off x="576363" y="493866"/>
            <a:ext cx="9861415" cy="5492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 Encapsulation vs Abstraction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Focuses on: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do we package and protect the data and implementation?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Focuses on: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should we expose and what unnecessary complexity should we hide?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2642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55067E-C921-D661-1DA9-44FB16BF0F22}"/>
              </a:ext>
            </a:extLst>
          </p:cNvPr>
          <p:cNvSpPr txBox="1"/>
          <p:nvPr/>
        </p:nvSpPr>
        <p:spPr>
          <a:xfrm>
            <a:off x="605547" y="321978"/>
            <a:ext cx="9705772" cy="6353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 Account Example</a:t>
            </a:r>
            <a:endParaRPr lang="en-US" kern="10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BankAccount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balance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withdraw()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getBalance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balance is protected from direct access.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only needs to know: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withdraw()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getBalance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do not need to know exactly how the bank internally updates the balance.</a:t>
            </a:r>
          </a:p>
        </p:txBody>
      </p:sp>
    </p:spTree>
    <p:extLst>
      <p:ext uri="{BB962C8B-B14F-4D97-AF65-F5344CB8AC3E}">
        <p14:creationId xmlns:p14="http://schemas.microsoft.com/office/powerpoint/2010/main" val="26870898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76C4E8-DDBC-2218-EBC6-1FDB072ADBDF}"/>
              </a:ext>
            </a:extLst>
          </p:cNvPr>
          <p:cNvSpPr txBox="1"/>
          <p:nvPr/>
        </p:nvSpPr>
        <p:spPr>
          <a:xfrm>
            <a:off x="226169" y="0"/>
            <a:ext cx="10104606" cy="691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25. Inheritance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Inheritance is a relationship between classes where one class derives from another class.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existing class is usually called: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Parent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Superclass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new class is called: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Child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Derived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Subclass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|        |     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Car      Bike     Truck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child classes can inherit common attributes and behavior from Vehicle.</a:t>
            </a:r>
          </a:p>
        </p:txBody>
      </p:sp>
    </p:spTree>
    <p:extLst>
      <p:ext uri="{BB962C8B-B14F-4D97-AF65-F5344CB8AC3E}">
        <p14:creationId xmlns:p14="http://schemas.microsoft.com/office/powerpoint/2010/main" val="25367070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075C58-7EE7-EC12-A86F-401B50910476}"/>
              </a:ext>
            </a:extLst>
          </p:cNvPr>
          <p:cNvSpPr txBox="1"/>
          <p:nvPr/>
        </p:nvSpPr>
        <p:spPr>
          <a:xfrm>
            <a:off x="3048811" y="1691208"/>
            <a:ext cx="6094378" cy="202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40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nheritance </a:t>
            </a:r>
            <a:r>
              <a:rPr lang="en-US" sz="4000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40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a mechanism for sharing and reusing attributes and behaviors. </a:t>
            </a:r>
          </a:p>
        </p:txBody>
      </p:sp>
    </p:spTree>
    <p:extLst>
      <p:ext uri="{BB962C8B-B14F-4D97-AF65-F5344CB8AC3E}">
        <p14:creationId xmlns:p14="http://schemas.microsoft.com/office/powerpoint/2010/main" val="3945810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058FBF-A904-E9D0-D486-759AD0514DB7}"/>
              </a:ext>
            </a:extLst>
          </p:cNvPr>
          <p:cNvSpPr txBox="1"/>
          <p:nvPr/>
        </p:nvSpPr>
        <p:spPr>
          <a:xfrm>
            <a:off x="556909" y="369826"/>
            <a:ext cx="6094378" cy="600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26. Why Use Inheritance?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Suppose: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Bike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Truck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have: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vehicleNumber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speed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stop()</a:t>
            </a:r>
          </a:p>
        </p:txBody>
      </p:sp>
    </p:spTree>
    <p:extLst>
      <p:ext uri="{BB962C8B-B14F-4D97-AF65-F5344CB8AC3E}">
        <p14:creationId xmlns:p14="http://schemas.microsoft.com/office/powerpoint/2010/main" val="22574170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0A906A-30C9-5A69-A111-F7F57D95F985}"/>
              </a:ext>
            </a:extLst>
          </p:cNvPr>
          <p:cNvSpPr txBox="1"/>
          <p:nvPr/>
        </p:nvSpPr>
        <p:spPr>
          <a:xfrm>
            <a:off x="177529" y="411157"/>
            <a:ext cx="6094378" cy="595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 repeating these in every class: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vehicleNumber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speed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 extends 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Bike extends 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Truck extends 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common functionality can be reused.</a:t>
            </a:r>
          </a:p>
        </p:txBody>
      </p:sp>
    </p:spTree>
    <p:extLst>
      <p:ext uri="{BB962C8B-B14F-4D97-AF65-F5344CB8AC3E}">
        <p14:creationId xmlns:p14="http://schemas.microsoft.com/office/powerpoint/2010/main" val="6662095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9D91E-8D6E-8FBB-FC0C-60F3A1414777}"/>
              </a:ext>
            </a:extLst>
          </p:cNvPr>
          <p:cNvSpPr txBox="1"/>
          <p:nvPr/>
        </p:nvSpPr>
        <p:spPr>
          <a:xfrm>
            <a:off x="2492712" y="1095346"/>
            <a:ext cx="8188258" cy="305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Inheritance is useful when there is a genuine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"is-a" relationship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Car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Vehicle.</a:t>
            </a:r>
          </a:p>
          <a:p>
            <a:pPr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However, modern OO design often prefers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composition over inheritance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appropriate, because excessive inheritance can create rigid class hierarchies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4753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1D0CE-B652-4623-D7BF-255ED72E22C8}"/>
              </a:ext>
            </a:extLst>
          </p:cNvPr>
          <p:cNvSpPr txBox="1"/>
          <p:nvPr/>
        </p:nvSpPr>
        <p:spPr>
          <a:xfrm>
            <a:off x="732006" y="599480"/>
            <a:ext cx="9598767" cy="440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27. Polymorphism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word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polymorphism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 forms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Poly = many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Morph = form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OO systems, polymorphism allows the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same operation/interface to produce different behavior depending on the object involved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6431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0EF49-1875-4A84-6B79-D728C2EB69D2}"/>
              </a:ext>
            </a:extLst>
          </p:cNvPr>
          <p:cNvSpPr txBox="1"/>
          <p:nvPr/>
        </p:nvSpPr>
        <p:spPr>
          <a:xfrm>
            <a:off x="391538" y="458166"/>
            <a:ext cx="9501492" cy="6353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Example of Polymorphism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       |     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     Bike     Truck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Suppose every vehicle has: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calculateParkingFee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Car may calculate the fee one way.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Bike may calculate it another way.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Truck may calculate it differently.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caller can use the same operation: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vehicle.calculateParkingFee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 the behavior depends on the actual vehicle type.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polymorphism.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691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6D0124-2BE4-084E-3FD1-C89CCEE9BCA4}"/>
              </a:ext>
            </a:extLst>
          </p:cNvPr>
          <p:cNvSpPr txBox="1"/>
          <p:nvPr/>
        </p:nvSpPr>
        <p:spPr>
          <a:xfrm>
            <a:off x="586091" y="422514"/>
            <a:ext cx="6094378" cy="558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Example — Payment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           |            |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Card       PayPal      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BankTransfer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payment type can implement: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application can call: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payment.pay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without needing to know the detailed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7205519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00549F-470B-F349-3F45-A90BBD0D20F4}"/>
              </a:ext>
            </a:extLst>
          </p:cNvPr>
          <p:cNvSpPr txBox="1"/>
          <p:nvPr/>
        </p:nvSpPr>
        <p:spPr>
          <a:xfrm>
            <a:off x="313716" y="240104"/>
            <a:ext cx="10834181" cy="643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28. Cohesion and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b="1" kern="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very important OO design concepts are: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Cohesion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closely related the responsibilities inside a module/class are.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Coupling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strongly one module/class depends on another.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good OO design generally aims for: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 + Low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ohesion and coupling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measures of relationships within and between software modules.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6538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0DE5D3-B982-D743-CF81-3D05090B473D}"/>
              </a:ext>
            </a:extLst>
          </p:cNvPr>
          <p:cNvSpPr txBox="1"/>
          <p:nvPr/>
        </p:nvSpPr>
        <p:spPr>
          <a:xfrm>
            <a:off x="352628" y="190998"/>
            <a:ext cx="10308888" cy="647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29. Cohesion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Cohesion?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Cohesion measures how strongly the responsibilities, methods and data of a class belong together around 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meaningful purpose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</a:t>
            </a:r>
            <a:endParaRPr lang="en-US" sz="2000" kern="100" dirty="0">
              <a:effectLst/>
              <a:highlight>
                <a:srgbClr val="00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class has a clear and focused responsibility.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EmailService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validateEmail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operations are related.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Therefore:</a:t>
            </a:r>
          </a:p>
          <a:p>
            <a:pPr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 = focused class with closely related responsibilities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103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F78013-4D8A-E1B9-6B2D-E0BA824078FF}"/>
              </a:ext>
            </a:extLst>
          </p:cNvPr>
          <p:cNvSpPr txBox="1"/>
          <p:nvPr/>
        </p:nvSpPr>
        <p:spPr>
          <a:xfrm>
            <a:off x="430449" y="372245"/>
            <a:ext cx="6094378" cy="644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Low Cohesion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UserManager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createUser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deleteUser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validateEmail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sendWelcomeEmail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generateReport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printReport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calculateTax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playMusic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class is doing too many unrelated things.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has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cohesion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4D78D-DFEA-12C8-48B4-6288B40A070B}"/>
              </a:ext>
            </a:extLst>
          </p:cNvPr>
          <p:cNvSpPr txBox="1"/>
          <p:nvPr/>
        </p:nvSpPr>
        <p:spPr>
          <a:xfrm>
            <a:off x="8105572" y="2334024"/>
            <a:ext cx="2993688" cy="2363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could separate it into: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UserService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EmailService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ReportService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TaxService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MusicService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184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4D770-0FDF-01FE-AC75-5BDEA1AEEDE5}"/>
              </a:ext>
            </a:extLst>
          </p:cNvPr>
          <p:cNvSpPr txBox="1"/>
          <p:nvPr/>
        </p:nvSpPr>
        <p:spPr>
          <a:xfrm>
            <a:off x="2842909" y="1394490"/>
            <a:ext cx="6094378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"Does this class have one clear purpose?"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YES: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NO: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Cohesion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8416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AE5FCF-D8AA-A6EE-B480-B8ABC547FF88}"/>
              </a:ext>
            </a:extLst>
          </p:cNvPr>
          <p:cNvSpPr txBox="1"/>
          <p:nvPr/>
        </p:nvSpPr>
        <p:spPr>
          <a:xfrm>
            <a:off x="1198933" y="1268030"/>
            <a:ext cx="6094378" cy="38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StudentService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responsible for: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registerStudent()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updateStudent()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removeStudent()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High cohesion.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70B07-8DEE-C29F-6E81-398010C36AC3}"/>
              </a:ext>
            </a:extLst>
          </p:cNvPr>
          <p:cNvSpPr txBox="1"/>
          <p:nvPr/>
        </p:nvSpPr>
        <p:spPr>
          <a:xfrm>
            <a:off x="6578330" y="1667893"/>
            <a:ext cx="4414737" cy="418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StudentService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printInvoice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sendEmail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calculateSalary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playVideo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Low cohesion.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433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F5F3F3-8154-A474-D147-51EA8D875286}"/>
              </a:ext>
            </a:extLst>
          </p:cNvPr>
          <p:cNvSpPr txBox="1"/>
          <p:nvPr/>
        </p:nvSpPr>
        <p:spPr>
          <a:xfrm>
            <a:off x="586091" y="330420"/>
            <a:ext cx="10999552" cy="541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30.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800" b="1" kern="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Coupling?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Coupling refers to the degree of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dependency between software modules/classes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two classes depend heavily on each other: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they are relatively independent: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oupling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the degree of interdependence and strength of connections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084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BE4347-5564-9389-333C-78A5EDE37B31}"/>
              </a:ext>
            </a:extLst>
          </p:cNvPr>
          <p:cNvSpPr txBox="1"/>
          <p:nvPr/>
        </p:nvSpPr>
        <p:spPr>
          <a:xfrm>
            <a:off x="294261" y="205906"/>
            <a:ext cx="9238846" cy="644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Imagine: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A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B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C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↓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D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changing Class B requires changes in A, C and D, the system is highly dependent.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makes the system: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 to maintain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 to test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 to modify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vulnerable to changes </a:t>
            </a:r>
          </a:p>
        </p:txBody>
      </p:sp>
    </p:spTree>
    <p:extLst>
      <p:ext uri="{BB962C8B-B14F-4D97-AF65-F5344CB8AC3E}">
        <p14:creationId xmlns:p14="http://schemas.microsoft.com/office/powerpoint/2010/main" val="1881509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AD2848-7AD1-3077-E74B-4DF71278E4E1}"/>
              </a:ext>
            </a:extLst>
          </p:cNvPr>
          <p:cNvSpPr txBox="1"/>
          <p:nvPr/>
        </p:nvSpPr>
        <p:spPr>
          <a:xfrm>
            <a:off x="469357" y="279218"/>
            <a:ext cx="8577365" cy="558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Low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 loosely coupled system: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A → Interface ← Class B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Classes depend less directly on implementation details.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include: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Easier maintenance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Easier testing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Easier replacement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Easier modification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flexibility </a:t>
            </a:r>
          </a:p>
        </p:txBody>
      </p:sp>
    </p:spTree>
    <p:extLst>
      <p:ext uri="{BB962C8B-B14F-4D97-AF65-F5344CB8AC3E}">
        <p14:creationId xmlns:p14="http://schemas.microsoft.com/office/powerpoint/2010/main" val="9625574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592146-BBE0-475E-D767-6AAE06C96E51}"/>
              </a:ext>
            </a:extLst>
          </p:cNvPr>
          <p:cNvSpPr txBox="1"/>
          <p:nvPr/>
        </p:nvSpPr>
        <p:spPr>
          <a:xfrm>
            <a:off x="167802" y="102300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Example: Online Order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4210C-5413-967A-89B2-0845C1C6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28" y="948041"/>
            <a:ext cx="6191844" cy="5657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9F70CD-1698-2E9E-75BD-8CD5F644787A}"/>
              </a:ext>
            </a:extLst>
          </p:cNvPr>
          <p:cNvSpPr txBox="1"/>
          <p:nvPr/>
        </p:nvSpPr>
        <p:spPr>
          <a:xfrm>
            <a:off x="7590006" y="563965"/>
            <a:ext cx="418046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Here, </a:t>
            </a:r>
            <a:r>
              <a:rPr lang="en-US" sz="2800" dirty="0">
                <a:latin typeface="Courier New" panose="02070309020205020404" pitchFamily="49" charset="0"/>
              </a:rPr>
              <a:t>Order</a:t>
            </a:r>
            <a:r>
              <a:rPr lang="en-US" sz="2800" dirty="0"/>
              <a:t> is </a:t>
            </a:r>
            <a:r>
              <a:rPr lang="en-US" sz="2800" b="1" dirty="0"/>
              <a:t>directly dependent on </a:t>
            </a:r>
            <a:r>
              <a:rPr lang="en-US" sz="2800" b="1" dirty="0" err="1">
                <a:latin typeface="Courier New" panose="02070309020205020404" pitchFamily="49" charset="0"/>
              </a:rPr>
              <a:t>MySQLDatabase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If we change from MySQL to MongoDB: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Order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  ↓</a:t>
            </a:r>
          </a:p>
          <a:p>
            <a:pPr rtl="0">
              <a:buNone/>
            </a:pPr>
            <a:r>
              <a:rPr lang="en-US" sz="2800" dirty="0" err="1">
                <a:latin typeface="Courier New" panose="02070309020205020404" pitchFamily="49" charset="0"/>
              </a:rPr>
              <a:t>MySQLDatabase</a:t>
            </a:r>
            <a:endParaRPr lang="en-US" sz="28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28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/>
              <a:t>We have to modify the </a:t>
            </a:r>
            <a:r>
              <a:rPr lang="en-US" sz="2800" dirty="0">
                <a:latin typeface="Courier New" panose="02070309020205020404" pitchFamily="49" charset="0"/>
              </a:rPr>
              <a:t>Order</a:t>
            </a:r>
            <a:r>
              <a:rPr lang="en-US" sz="2800" dirty="0"/>
              <a:t> class.</a:t>
            </a:r>
          </a:p>
          <a:p>
            <a:pPr>
              <a:buNone/>
            </a:pPr>
            <a:r>
              <a:rPr lang="en-US" sz="2800" dirty="0"/>
              <a:t>➡️ </a:t>
            </a:r>
            <a:r>
              <a:rPr lang="en-US" sz="2800" b="1" dirty="0"/>
              <a:t>High coupling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7995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3A1E4-3285-5D38-8565-F54804D42955}"/>
              </a:ext>
            </a:extLst>
          </p:cNvPr>
          <p:cNvSpPr txBox="1"/>
          <p:nvPr/>
        </p:nvSpPr>
        <p:spPr>
          <a:xfrm>
            <a:off x="7120647" y="126859"/>
            <a:ext cx="3998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Loose Coupling 🟢</a:t>
            </a:r>
          </a:p>
          <a:p>
            <a:pPr>
              <a:buNone/>
            </a:pPr>
            <a:r>
              <a:rPr lang="en-US" b="1" dirty="0"/>
              <a:t>Loose coupling</a:t>
            </a:r>
            <a:r>
              <a:rPr lang="en-US" dirty="0"/>
              <a:t> means classes depend on an </a:t>
            </a:r>
            <a:r>
              <a:rPr lang="en-US" b="1" dirty="0"/>
              <a:t>abstraction/interface</a:t>
            </a:r>
            <a:r>
              <a:rPr lang="en-US" dirty="0"/>
              <a:t>, rather than a specific implementation.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986DC-A61E-1ABB-EE1F-6B4D654C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02" y="0"/>
            <a:ext cx="487655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362DDD-620A-B687-3120-5641C36724EA}"/>
              </a:ext>
            </a:extLst>
          </p:cNvPr>
          <p:cNvSpPr txBox="1"/>
          <p:nvPr/>
        </p:nvSpPr>
        <p:spPr>
          <a:xfrm>
            <a:off x="5787957" y="2546733"/>
            <a:ext cx="63789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┌── </a:t>
            </a:r>
            <a:r>
              <a:rPr lang="en-US" dirty="0" err="1">
                <a:latin typeface="Courier New" panose="02070309020205020404" pitchFamily="49" charset="0"/>
              </a:rPr>
              <a:t>MySQLDatabase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Order → Database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└── </a:t>
            </a:r>
            <a:r>
              <a:rPr lang="en-US" dirty="0" err="1">
                <a:latin typeface="Courier New" panose="02070309020205020404" pitchFamily="49" charset="0"/>
              </a:rPr>
              <a:t>MongoDatabase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Order</a:t>
            </a:r>
            <a:r>
              <a:rPr lang="en-US" dirty="0"/>
              <a:t> class doesn't care </a:t>
            </a:r>
            <a:r>
              <a:rPr lang="en-US" b="1" dirty="0"/>
              <a:t>which database</a:t>
            </a:r>
            <a:r>
              <a:rPr lang="en-US" dirty="0"/>
              <a:t> is being used.</a:t>
            </a:r>
          </a:p>
        </p:txBody>
      </p:sp>
    </p:spTree>
    <p:extLst>
      <p:ext uri="{BB962C8B-B14F-4D97-AF65-F5344CB8AC3E}">
        <p14:creationId xmlns:p14="http://schemas.microsoft.com/office/powerpoint/2010/main" val="4576906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A34FB-7297-4D21-ECD4-57F2A4C3C70A}"/>
              </a:ext>
            </a:extLst>
          </p:cNvPr>
          <p:cNvSpPr txBox="1"/>
          <p:nvPr/>
        </p:nvSpPr>
        <p:spPr>
          <a:xfrm>
            <a:off x="817123" y="700392"/>
            <a:ext cx="100097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Real-world analogy: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🔴 High coupling → A phone charger that works </a:t>
            </a:r>
            <a:r>
              <a:rPr lang="en-US" sz="2400" b="1" dirty="0"/>
              <a:t>only with one specific phone model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🟢 Loose coupling → A </a:t>
            </a:r>
            <a:r>
              <a:rPr lang="en-US" sz="2400" b="1" dirty="0"/>
              <a:t>USB-C standard charger</a:t>
            </a:r>
            <a:r>
              <a:rPr lang="en-US" sz="2400" dirty="0"/>
              <a:t> that can work with many compatible devices.</a:t>
            </a:r>
          </a:p>
        </p:txBody>
      </p:sp>
    </p:spTree>
    <p:extLst>
      <p:ext uri="{BB962C8B-B14F-4D97-AF65-F5344CB8AC3E}">
        <p14:creationId xmlns:p14="http://schemas.microsoft.com/office/powerpoint/2010/main" val="35528487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5F895-7538-7EDD-7959-43949C6B5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21" y="526205"/>
            <a:ext cx="6737775" cy="58843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79619-2BEA-CD2D-EFC9-41E7FA1A2C52}"/>
              </a:ext>
            </a:extLst>
          </p:cNvPr>
          <p:cNvSpPr txBox="1"/>
          <p:nvPr/>
        </p:nvSpPr>
        <p:spPr>
          <a:xfrm>
            <a:off x="8125028" y="1075066"/>
            <a:ext cx="3567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Is this </a:t>
            </a:r>
            <a:r>
              <a:rPr lang="en-US" sz="2800" b="1" dirty="0"/>
              <a:t>high coupling or loose coupling</a:t>
            </a:r>
            <a:r>
              <a:rPr lang="en-US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14328972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41D94-CA44-1E88-B8AD-0691FE0B9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98" y="327387"/>
            <a:ext cx="5141981" cy="6203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75F419-2F4D-0F4A-2167-DE1F34B67AC3}"/>
              </a:ext>
            </a:extLst>
          </p:cNvPr>
          <p:cNvSpPr txBox="1"/>
          <p:nvPr/>
        </p:nvSpPr>
        <p:spPr>
          <a:xfrm>
            <a:off x="8202849" y="2981687"/>
            <a:ext cx="3567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Is this </a:t>
            </a:r>
            <a:r>
              <a:rPr lang="en-US" sz="2800" b="1" dirty="0"/>
              <a:t>high coupling or loose coupling</a:t>
            </a:r>
            <a:r>
              <a:rPr lang="en-US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11664466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6F948-4E3E-A088-5B84-01EBC9BC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83" y="846408"/>
            <a:ext cx="5541589" cy="3813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C9E52-2BEB-ADDC-55F6-5A0212282B32}"/>
              </a:ext>
            </a:extLst>
          </p:cNvPr>
          <p:cNvSpPr txBox="1"/>
          <p:nvPr/>
        </p:nvSpPr>
        <p:spPr>
          <a:xfrm>
            <a:off x="7862381" y="1026427"/>
            <a:ext cx="3567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Is this </a:t>
            </a:r>
            <a:r>
              <a:rPr lang="en-US" sz="2800" b="1" dirty="0"/>
              <a:t>high coupling or loose coupling</a:t>
            </a:r>
            <a:r>
              <a:rPr lang="en-US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37621776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90247-CD0F-5DD3-9FE1-D5B0503A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188" y="320607"/>
            <a:ext cx="4033838" cy="6268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C0A47-AF6A-004C-C64D-AC1A72568481}"/>
              </a:ext>
            </a:extLst>
          </p:cNvPr>
          <p:cNvSpPr txBox="1"/>
          <p:nvPr/>
        </p:nvSpPr>
        <p:spPr>
          <a:xfrm>
            <a:off x="7862381" y="1026427"/>
            <a:ext cx="3567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Is this </a:t>
            </a:r>
            <a:r>
              <a:rPr lang="en-US" sz="2800" b="1" dirty="0"/>
              <a:t>high coupling or loose coupling</a:t>
            </a:r>
            <a:r>
              <a:rPr lang="en-US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33517974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76812F-2342-748F-8B52-258D9A1F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46" y="1368560"/>
            <a:ext cx="5959278" cy="3767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4ACA4-CAAB-EA69-A2EF-60407331FC86}"/>
              </a:ext>
            </a:extLst>
          </p:cNvPr>
          <p:cNvSpPr txBox="1"/>
          <p:nvPr/>
        </p:nvSpPr>
        <p:spPr>
          <a:xfrm>
            <a:off x="7862381" y="1026427"/>
            <a:ext cx="3567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Is this </a:t>
            </a:r>
            <a:r>
              <a:rPr lang="en-US" sz="2800" b="1" dirty="0"/>
              <a:t>high coupling or loose coupling</a:t>
            </a:r>
            <a:r>
              <a:rPr lang="en-US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17641337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21C402-EDA7-3B4B-A09A-281F4DB3C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04284"/>
              </p:ext>
            </p:extLst>
          </p:nvPr>
        </p:nvGraphicFramePr>
        <p:xfrm>
          <a:off x="440176" y="1832432"/>
          <a:ext cx="10515600" cy="268065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876513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8522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Cohesion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Coupling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128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Concerned with one class/module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Concerned with relationships between classes/modules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179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internal relatedness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external dependency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2141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want high cohesion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want low coupling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129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clear responsibility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 unnecessary dependency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77872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3E3E6C-B2C3-A8B6-385F-D2F2741AED2B}"/>
              </a:ext>
            </a:extLst>
          </p:cNvPr>
          <p:cNvSpPr txBox="1"/>
          <p:nvPr/>
        </p:nvSpPr>
        <p:spPr>
          <a:xfrm>
            <a:off x="440176" y="500440"/>
            <a:ext cx="9744683" cy="682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 Cohesion vs Coupling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Remember: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Cohesion + Low Coupling = Good OO Design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7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3348</Words>
  <Application>Microsoft Office PowerPoint</Application>
  <PresentationFormat>Widescreen</PresentationFormat>
  <Paragraphs>819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Object Oriented Analysis and Design Basic Concepts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Sandaruwani</dc:creator>
  <cp:lastModifiedBy>Sandaruwani</cp:lastModifiedBy>
  <cp:revision>3</cp:revision>
  <dcterms:created xsi:type="dcterms:W3CDTF">2026-08-08T11:23:43Z</dcterms:created>
  <dcterms:modified xsi:type="dcterms:W3CDTF">2026-08-10T08:05:00Z</dcterms:modified>
</cp:coreProperties>
</file>