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68" r:id="rId6"/>
    <p:sldId id="276" r:id="rId7"/>
    <p:sldId id="275" r:id="rId8"/>
    <p:sldId id="277" r:id="rId9"/>
    <p:sldId id="278" r:id="rId10"/>
    <p:sldId id="279" r:id="rId11"/>
    <p:sldId id="280" r:id="rId12"/>
    <p:sldId id="281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786" autoAdjust="0"/>
  </p:normalViewPr>
  <p:slideViewPr>
    <p:cSldViewPr>
      <p:cViewPr varScale="1">
        <p:scale>
          <a:sx n="110" d="100"/>
          <a:sy n="110" d="100"/>
        </p:scale>
        <p:origin x="6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78B84-73CD-4A7B-B4A9-2046878F022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0F4B7-5C7B-403F-BA27-032A21F8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4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Programming paradigm based on </a:t>
            </a:r>
            <a:r>
              <a:rPr lang="en-US" b="1" dirty="0"/>
              <a:t>objects</a:t>
            </a:r>
            <a:r>
              <a:rPr lang="en-US" dirty="0"/>
              <a:t> (data + behavior)</a:t>
            </a:r>
          </a:p>
          <a:p>
            <a:r>
              <a:rPr lang="en-US" dirty="0"/>
              <a:t>Objects represent </a:t>
            </a:r>
            <a:r>
              <a:rPr lang="en-US" b="1" dirty="0"/>
              <a:t>real-world entities</a:t>
            </a:r>
            <a:endParaRPr lang="en-US" dirty="0"/>
          </a:p>
          <a:p>
            <a:r>
              <a:rPr lang="en-US" dirty="0"/>
              <a:t>Example: Car → Object</a:t>
            </a:r>
          </a:p>
          <a:p>
            <a:r>
              <a:rPr lang="en-US" dirty="0"/>
              <a:t>Attributes: color, model, speed</a:t>
            </a:r>
          </a:p>
          <a:p>
            <a:r>
              <a:rPr lang="en-US" dirty="0"/>
              <a:t>Methods: start(), stop(), accelerate()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9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b="1" dirty="0"/>
              <a:t>Verbose code</a:t>
            </a:r>
            <a:r>
              <a:rPr lang="en-US" dirty="0"/>
              <a:t>” simply means </a:t>
            </a:r>
            <a:r>
              <a:rPr lang="en-US" b="1" dirty="0"/>
              <a:t>writing more lines of code or more detailed code to achieve something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76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D4D4-4583-C993-D1D9-A77562AF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CBF63-0869-7F57-3DB4-5CE300A92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818E8-CF22-66FB-10B0-C84BB5361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Automatic process of </a:t>
            </a:r>
            <a:r>
              <a:rPr lang="en-US" b="1" dirty="0"/>
              <a:t>freeing memory occupied by objects that are no longer used</a:t>
            </a:r>
            <a:r>
              <a:rPr lang="en-US" dirty="0"/>
              <a:t> by the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Helps prevent </a:t>
            </a:r>
            <a:r>
              <a:rPr lang="en-US" b="1" dirty="0"/>
              <a:t>memory leaks</a:t>
            </a:r>
            <a:r>
              <a:rPr lang="en-US" dirty="0"/>
              <a:t> and </a:t>
            </a:r>
            <a:r>
              <a:rPr lang="en-US" b="1" dirty="0"/>
              <a:t>out-of-memory errors</a:t>
            </a:r>
            <a:r>
              <a:rPr lang="en-US" dirty="0"/>
              <a:t> in long-running programs.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Java, objects are stored in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 memory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E6A64-58ED-474A-7790-629D84988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63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C826-7599-259B-736D-F9132743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BD07D-378A-47B2-0598-0019FD7BF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A80CC-153E-96CD-71F8-026B4DE0C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Automatic process of </a:t>
            </a:r>
            <a:r>
              <a:rPr lang="en-US" b="1" dirty="0"/>
              <a:t>freeing memory occupied by objects that are no longer used</a:t>
            </a:r>
            <a:r>
              <a:rPr lang="en-US" dirty="0"/>
              <a:t> by the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Helps prevent </a:t>
            </a:r>
            <a:r>
              <a:rPr lang="en-US" b="1" dirty="0"/>
              <a:t>memory leaks</a:t>
            </a:r>
            <a:r>
              <a:rPr lang="en-US" dirty="0"/>
              <a:t> and </a:t>
            </a:r>
            <a:r>
              <a:rPr lang="en-US" b="1" dirty="0"/>
              <a:t>out-of-memory errors</a:t>
            </a:r>
            <a:r>
              <a:rPr lang="en-US" dirty="0"/>
              <a:t> in long-running programs.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B8F7E-00DE-DB17-1AD2-EFEE9F0FE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04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F09E-7AFD-AB76-7B3C-B2C0BAE2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78561-046E-8C1F-0E15-133E2ECEA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0A61F-D94D-C3C0-4CAD-68430F5A6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Automatic process of </a:t>
            </a:r>
            <a:r>
              <a:rPr lang="en-US" b="1" dirty="0"/>
              <a:t>freeing memory occupied by objects that are no longer used</a:t>
            </a:r>
            <a:r>
              <a:rPr lang="en-US" dirty="0"/>
              <a:t> by the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Helps prevent </a:t>
            </a:r>
            <a:r>
              <a:rPr lang="en-US" b="1" dirty="0"/>
              <a:t>memory leaks</a:t>
            </a:r>
            <a:r>
              <a:rPr lang="en-US" dirty="0"/>
              <a:t> and </a:t>
            </a:r>
            <a:r>
              <a:rPr lang="en-US" b="1" dirty="0"/>
              <a:t>out-of-memory errors</a:t>
            </a:r>
            <a:r>
              <a:rPr lang="en-US" dirty="0"/>
              <a:t> in long-running programs.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8E632-E0EA-420C-70A5-4BD1F0C38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77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Features</a:t>
            </a:r>
          </a:p>
          <a:p>
            <a:r>
              <a:rPr lang="en-US" b="1" dirty="0"/>
              <a:t>Cross-platform compatibility:</a:t>
            </a:r>
            <a:r>
              <a:rPr lang="en-US" dirty="0"/>
              <a:t> Works on any OS where Java runs</a:t>
            </a:r>
          </a:p>
          <a:p>
            <a:r>
              <a:rPr lang="en-US" b="1" dirty="0"/>
              <a:t>Pre-tested and reliable:</a:t>
            </a:r>
            <a:r>
              <a:rPr lang="en-US" dirty="0"/>
              <a:t> Reduces errors and development time</a:t>
            </a:r>
          </a:p>
          <a:p>
            <a:r>
              <a:rPr lang="en-US" b="1" dirty="0"/>
              <a:t>Object-Oriented:</a:t>
            </a:r>
            <a:r>
              <a:rPr lang="en-US" dirty="0"/>
              <a:t> Libraries provide ready-to-use </a:t>
            </a:r>
            <a:r>
              <a:rPr lang="en-US" b="1" dirty="0"/>
              <a:t>classes, objects, and methods</a:t>
            </a:r>
            <a:endParaRPr lang="en-US" dirty="0"/>
          </a:p>
          <a:p>
            <a:r>
              <a:rPr lang="en-US" b="1" dirty="0"/>
              <a:t>Consistent naming and usage conventions</a:t>
            </a:r>
            <a:r>
              <a:rPr lang="en-US" dirty="0"/>
              <a:t> across libraries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Classes are </a:t>
            </a:r>
            <a:r>
              <a:rPr lang="en-US" b="1" dirty="0"/>
              <a:t>loaded only when needed</a:t>
            </a:r>
            <a:r>
              <a:rPr lang="en-US" dirty="0"/>
              <a:t>, improving memory usage and flexibility.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5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where the main operations are </a:t>
            </a:r>
            <a:r>
              <a:rPr lang="en-US" b="1" dirty="0"/>
              <a:t>CRUD (Create, Read, Update, Delete)</a:t>
            </a:r>
            <a:r>
              <a:rPr lang="en-US" dirty="0"/>
              <a:t> on structured records</a:t>
            </a:r>
          </a:p>
          <a:p>
            <a:r>
              <a:rPr lang="en-US" b="1" dirty="0"/>
              <a:t>Relational Database Management Systems (RDBMS)</a:t>
            </a:r>
            <a:r>
              <a:rPr lang="en-US" dirty="0"/>
              <a:t> are often more natural for these applications</a:t>
            </a:r>
          </a:p>
          <a:p>
            <a:r>
              <a:rPr lang="en-US" dirty="0"/>
              <a:t>OO approach may add </a:t>
            </a:r>
            <a:r>
              <a:rPr lang="en-US" b="1" dirty="0"/>
              <a:t>extra overhead</a:t>
            </a:r>
            <a:r>
              <a:rPr lang="en-US" dirty="0"/>
              <a:t> for mapping objects to tables (e.g., using ORM frameworks)</a:t>
            </a:r>
          </a:p>
          <a:p>
            <a:r>
              <a:rPr lang="en-US" b="1" dirty="0"/>
              <a:t>Example:</a:t>
            </a:r>
            <a:r>
              <a:rPr lang="en-US" dirty="0"/>
              <a:t> Banking system or accounting software where most operations are database transactions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04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with </a:t>
            </a:r>
            <a:r>
              <a:rPr lang="en-US" b="1" dirty="0"/>
              <a:t>complex mathematical or scientific calculations</a:t>
            </a:r>
            <a:endParaRPr lang="en-US" dirty="0"/>
          </a:p>
          <a:p>
            <a:r>
              <a:rPr lang="en-US" dirty="0"/>
              <a:t>Splitting calculations into objects may </a:t>
            </a:r>
            <a:r>
              <a:rPr lang="en-US" b="1" dirty="0"/>
              <a:t>increase complexity</a:t>
            </a:r>
            <a:r>
              <a:rPr lang="en-US" dirty="0"/>
              <a:t> and </a:t>
            </a:r>
            <a:r>
              <a:rPr lang="en-US" b="1" dirty="0"/>
              <a:t>reduce performance</a:t>
            </a:r>
            <a:endParaRPr lang="en-US" dirty="0"/>
          </a:p>
          <a:p>
            <a:r>
              <a:rPr lang="en-US" dirty="0"/>
              <a:t>OO design might result in </a:t>
            </a:r>
            <a:r>
              <a:rPr lang="en-US" b="1" dirty="0"/>
              <a:t>many small objects</a:t>
            </a:r>
            <a:r>
              <a:rPr lang="en-US" dirty="0"/>
              <a:t> with unnecessary overhead</a:t>
            </a:r>
          </a:p>
          <a:p>
            <a:r>
              <a:rPr lang="en-US" b="1" dirty="0"/>
              <a:t>Example:</a:t>
            </a:r>
            <a:r>
              <a:rPr lang="en-US" dirty="0"/>
              <a:t> Satellite orbit calculations, numerical simulations, weather prediction models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0F4B7-5C7B-403F-BA27-032A21F83B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68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0167" y="1483867"/>
            <a:ext cx="292862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0167" y="2581148"/>
            <a:ext cx="3183254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560576" cy="51434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2261" y="225044"/>
            <a:ext cx="6899909" cy="760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02027" y="1257300"/>
            <a:ext cx="6630670" cy="3314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4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491996"/>
              <a:ext cx="4788535" cy="2846705"/>
            </a:xfrm>
            <a:custGeom>
              <a:avLst/>
              <a:gdLst/>
              <a:ahLst/>
              <a:cxnLst/>
              <a:rect l="l" t="t" r="r" b="b"/>
              <a:pathLst>
                <a:path w="4788535" h="2846704">
                  <a:moveTo>
                    <a:pt x="4313809" y="0"/>
                  </a:moveTo>
                  <a:lnTo>
                    <a:pt x="0" y="0"/>
                  </a:lnTo>
                  <a:lnTo>
                    <a:pt x="0" y="2846323"/>
                  </a:lnTo>
                  <a:lnTo>
                    <a:pt x="4313809" y="2846323"/>
                  </a:lnTo>
                  <a:lnTo>
                    <a:pt x="4362323" y="2843872"/>
                  </a:lnTo>
                  <a:lnTo>
                    <a:pt x="4409440" y="2836684"/>
                  </a:lnTo>
                  <a:lnTo>
                    <a:pt x="4454906" y="2825000"/>
                  </a:lnTo>
                  <a:lnTo>
                    <a:pt x="4498467" y="2809036"/>
                  </a:lnTo>
                  <a:lnTo>
                    <a:pt x="4539996" y="2789059"/>
                  </a:lnTo>
                  <a:lnTo>
                    <a:pt x="4579112" y="2765297"/>
                  </a:lnTo>
                  <a:lnTo>
                    <a:pt x="4615561" y="2737992"/>
                  </a:lnTo>
                  <a:lnTo>
                    <a:pt x="4649343" y="2707373"/>
                  </a:lnTo>
                  <a:lnTo>
                    <a:pt x="4679950" y="2673692"/>
                  </a:lnTo>
                  <a:lnTo>
                    <a:pt x="4707255" y="2637167"/>
                  </a:lnTo>
                  <a:lnTo>
                    <a:pt x="4731004" y="2598051"/>
                  </a:lnTo>
                  <a:lnTo>
                    <a:pt x="4750943" y="2556587"/>
                  </a:lnTo>
                  <a:lnTo>
                    <a:pt x="4766945" y="2512999"/>
                  </a:lnTo>
                  <a:lnTo>
                    <a:pt x="4778629" y="2467546"/>
                  </a:lnTo>
                  <a:lnTo>
                    <a:pt x="4785868" y="2420442"/>
                  </a:lnTo>
                  <a:lnTo>
                    <a:pt x="4788281" y="2371979"/>
                  </a:lnTo>
                  <a:lnTo>
                    <a:pt x="4788281" y="474344"/>
                  </a:lnTo>
                  <a:lnTo>
                    <a:pt x="4785868" y="425830"/>
                  </a:lnTo>
                  <a:lnTo>
                    <a:pt x="4778629" y="378840"/>
                  </a:lnTo>
                  <a:lnTo>
                    <a:pt x="4766945" y="333375"/>
                  </a:lnTo>
                  <a:lnTo>
                    <a:pt x="4750943" y="289813"/>
                  </a:lnTo>
                  <a:lnTo>
                    <a:pt x="4731004" y="248284"/>
                  </a:lnTo>
                  <a:lnTo>
                    <a:pt x="4707255" y="209168"/>
                  </a:lnTo>
                  <a:lnTo>
                    <a:pt x="4679950" y="172592"/>
                  </a:lnTo>
                  <a:lnTo>
                    <a:pt x="4649343" y="138937"/>
                  </a:lnTo>
                  <a:lnTo>
                    <a:pt x="4615561" y="108330"/>
                  </a:lnTo>
                  <a:lnTo>
                    <a:pt x="4579112" y="81025"/>
                  </a:lnTo>
                  <a:lnTo>
                    <a:pt x="4539996" y="57276"/>
                  </a:lnTo>
                  <a:lnTo>
                    <a:pt x="4498467" y="37337"/>
                  </a:lnTo>
                  <a:lnTo>
                    <a:pt x="4454906" y="21336"/>
                  </a:lnTo>
                  <a:lnTo>
                    <a:pt x="4409440" y="9651"/>
                  </a:lnTo>
                  <a:lnTo>
                    <a:pt x="4362323" y="2412"/>
                  </a:lnTo>
                  <a:lnTo>
                    <a:pt x="4313809" y="0"/>
                  </a:lnTo>
                  <a:close/>
                </a:path>
              </a:pathLst>
            </a:custGeom>
            <a:solidFill>
              <a:srgbClr val="FF0000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2299" y="3036315"/>
            <a:ext cx="3363595" cy="103348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321945">
              <a:lnSpc>
                <a:spcPct val="103699"/>
              </a:lnSpc>
              <a:spcBef>
                <a:spcPts val="25"/>
              </a:spcBef>
            </a:pPr>
            <a:r>
              <a:rPr lang="en-US" sz="1600" b="1" spc="-10" dirty="0">
                <a:solidFill>
                  <a:srgbClr val="FFFFFF"/>
                </a:solidFill>
                <a:latin typeface="Arial"/>
                <a:cs typeface="Arial"/>
              </a:rPr>
              <a:t>Sandaruwani Pathirage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US" sz="16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321945">
              <a:lnSpc>
                <a:spcPct val="103699"/>
              </a:lnSpc>
              <a:spcBef>
                <a:spcPts val="2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Dept.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ICT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Faculty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Technology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Ruhuna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8455" y="1551938"/>
            <a:ext cx="3363595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sz="2800" dirty="0">
                <a:solidFill>
                  <a:srgbClr val="FFFFFF"/>
                </a:solidFill>
              </a:rPr>
              <a:t>Object</a:t>
            </a:r>
            <a:r>
              <a:rPr sz="2800" spc="-19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Oriented </a:t>
            </a:r>
            <a:r>
              <a:rPr sz="2800" spc="-114" dirty="0">
                <a:solidFill>
                  <a:srgbClr val="FFFFFF"/>
                </a:solidFill>
              </a:rPr>
              <a:t>Analysis</a:t>
            </a:r>
            <a:r>
              <a:rPr sz="2800" spc="-2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and </a:t>
            </a:r>
            <a:r>
              <a:rPr sz="2800" spc="-10" dirty="0">
                <a:solidFill>
                  <a:srgbClr val="FFFFFF"/>
                </a:solidFill>
              </a:rPr>
              <a:t>Design ICT21</a:t>
            </a:r>
            <a:r>
              <a:rPr lang="en-US" sz="2800" spc="-10" dirty="0">
                <a:solidFill>
                  <a:srgbClr val="FFFFFF"/>
                </a:solidFill>
              </a:rPr>
              <a:t>5</a:t>
            </a:r>
            <a:r>
              <a:rPr sz="2800" spc="-10" dirty="0">
                <a:solidFill>
                  <a:srgbClr val="FFFFFF"/>
                </a:solidFill>
              </a:rPr>
              <a:t>2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90167" y="1733550"/>
            <a:ext cx="292862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LECTURE</a:t>
            </a:r>
            <a:r>
              <a:rPr sz="3600" spc="-204" dirty="0"/>
              <a:t> </a:t>
            </a:r>
            <a:r>
              <a:rPr sz="3600" spc="-25" dirty="0"/>
              <a:t>0</a:t>
            </a:r>
            <a:r>
              <a:rPr lang="en-US" sz="3600" spc="-25" dirty="0"/>
              <a:t>2:</a:t>
            </a:r>
            <a:endParaRPr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E393391-C99F-F203-22B7-418CCEFC007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0166" y="2581148"/>
            <a:ext cx="5939234" cy="492443"/>
          </a:xfrm>
        </p:spPr>
        <p:txBody>
          <a:bodyPr/>
          <a:lstStyle/>
          <a:p>
            <a:r>
              <a:rPr lang="en-US" sz="3200" dirty="0"/>
              <a:t>Object</a:t>
            </a:r>
            <a:r>
              <a:rPr lang="en-US" sz="3200" spc="-130" dirty="0"/>
              <a:t>-</a:t>
            </a:r>
            <a:r>
              <a:rPr lang="en-US" sz="3200" dirty="0"/>
              <a:t>Oriented</a:t>
            </a:r>
            <a:r>
              <a:rPr lang="en-US" sz="3200" spc="-110" dirty="0"/>
              <a:t> </a:t>
            </a:r>
            <a:r>
              <a:rPr lang="en-US" sz="3200" dirty="0"/>
              <a:t>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2261" y="1036827"/>
            <a:ext cx="17691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291333" y="1928876"/>
            <a:ext cx="6211570" cy="243310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After</a:t>
            </a:r>
            <a:r>
              <a:rPr sz="2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Arial"/>
                <a:cs typeface="Arial"/>
              </a:rPr>
              <a:t>successful</a:t>
            </a:r>
            <a:r>
              <a:rPr sz="24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completion</a:t>
            </a:r>
            <a:r>
              <a:rPr sz="24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this</a:t>
            </a:r>
            <a:r>
              <a:rPr sz="2400" b="1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lecture,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students</a:t>
            </a:r>
            <a:r>
              <a:rPr sz="24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should</a:t>
            </a:r>
            <a:r>
              <a:rPr sz="24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be</a:t>
            </a:r>
            <a:r>
              <a:rPr sz="2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able</a:t>
            </a:r>
            <a:r>
              <a:rPr sz="2400" b="1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404040"/>
                </a:solidFill>
                <a:latin typeface="Arial"/>
                <a:cs typeface="Arial"/>
              </a:rPr>
              <a:t>to: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2400" dirty="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spcBef>
                <a:spcPts val="219"/>
              </a:spcBef>
              <a:buSzPct val="90000"/>
              <a:buFont typeface="Wingdings"/>
              <a:buChar char=""/>
              <a:tabLst>
                <a:tab pos="220979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Identify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object-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oriented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languages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features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lang="en-US"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000" spc="-20" dirty="0">
                <a:solidFill>
                  <a:srgbClr val="404040"/>
                </a:solidFill>
                <a:latin typeface="Arial"/>
                <a:cs typeface="Arial"/>
              </a:rPr>
              <a:t>them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214629" indent="-201930">
              <a:lnSpc>
                <a:spcPct val="100000"/>
              </a:lnSpc>
              <a:spcBef>
                <a:spcPts val="815"/>
              </a:spcBef>
              <a:buSzPct val="90000"/>
              <a:buFont typeface="Wingdings"/>
              <a:buChar char=""/>
              <a:tabLst>
                <a:tab pos="214629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Explain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limitations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object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orientation.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3298" y="593851"/>
            <a:ext cx="638365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 algn="just">
              <a:lnSpc>
                <a:spcPct val="12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203200" algn="l"/>
              </a:tabLst>
            </a:pP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number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OOP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languages</a:t>
            </a:r>
            <a:r>
              <a:rPr sz="1800" spc="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are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available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today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18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some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differences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between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their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capabilities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extent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which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they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in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accordance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OO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paradigm.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2261" y="191515"/>
            <a:ext cx="178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1967" y="1851660"/>
            <a:ext cx="5524500" cy="2892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698" y="942594"/>
            <a:ext cx="6323965" cy="33143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Strong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typing</a:t>
            </a:r>
            <a:endParaRPr sz="2000" dirty="0">
              <a:latin typeface="Arial"/>
              <a:cs typeface="Arial"/>
            </a:endParaRPr>
          </a:p>
          <a:p>
            <a:pPr marL="755650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degree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discipline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language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enforces</a:t>
            </a:r>
            <a:endParaRPr sz="2000" dirty="0">
              <a:latin typeface="Arial"/>
              <a:cs typeface="Arial"/>
            </a:endParaRPr>
          </a:p>
          <a:p>
            <a:pPr marL="74803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Arial"/>
                <a:cs typeface="Arial"/>
              </a:rPr>
              <a:t>on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programmer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declaring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variables.</a:t>
            </a:r>
            <a:endParaRPr sz="2000" dirty="0">
              <a:latin typeface="Arial"/>
              <a:cs typeface="Arial"/>
            </a:endParaRPr>
          </a:p>
          <a:p>
            <a:pPr marL="782955" marR="5080" indent="-285750">
              <a:lnSpc>
                <a:spcPct val="120000"/>
              </a:lnSpc>
              <a:spcBef>
                <a:spcPts val="335"/>
              </a:spcBef>
              <a:buChar char="–"/>
              <a:tabLst>
                <a:tab pos="845819" algn="l"/>
              </a:tabLst>
            </a:pPr>
            <a:r>
              <a:rPr sz="2000" dirty="0">
                <a:latin typeface="Arial"/>
                <a:cs typeface="Arial"/>
              </a:rPr>
              <a:t>“</a:t>
            </a:r>
            <a:r>
              <a:rPr sz="2000" b="1" dirty="0">
                <a:latin typeface="Arial"/>
                <a:cs typeface="Arial"/>
              </a:rPr>
              <a:t>Every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value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object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used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must 	</a:t>
            </a:r>
            <a:r>
              <a:rPr sz="2000" b="1" dirty="0">
                <a:latin typeface="Arial"/>
                <a:cs typeface="Arial"/>
              </a:rPr>
              <a:t>belong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appropriate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type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its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context</a:t>
            </a:r>
            <a:r>
              <a:rPr sz="2000" spc="-10" dirty="0">
                <a:latin typeface="Arial"/>
                <a:cs typeface="Arial"/>
              </a:rPr>
              <a:t>”.</a:t>
            </a:r>
            <a:endParaRPr sz="2000" dirty="0">
              <a:latin typeface="Arial"/>
              <a:cs typeface="Arial"/>
            </a:endParaRPr>
          </a:p>
          <a:p>
            <a:pPr marL="826769" indent="-356870">
              <a:lnSpc>
                <a:spcPct val="100000"/>
              </a:lnSpc>
              <a:spcBef>
                <a:spcPts val="505"/>
              </a:spcBef>
              <a:buChar char="–"/>
              <a:tabLst>
                <a:tab pos="826769" algn="l"/>
              </a:tabLst>
            </a:pPr>
            <a:r>
              <a:rPr sz="2000" dirty="0">
                <a:latin typeface="Arial"/>
                <a:cs typeface="Arial"/>
              </a:rPr>
              <a:t>Most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modern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languages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strongly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typed.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"/>
              <a:buChar char="–"/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int x = "Hello"; </a:t>
            </a:r>
            <a:r>
              <a:rPr lang="en-US" sz="2000" dirty="0">
                <a:latin typeface="Arial"/>
                <a:cs typeface="Arial"/>
              </a:rPr>
              <a:t>// Compile-time error in Java</a:t>
            </a:r>
          </a:p>
          <a:p>
            <a:pPr marL="12700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2261" y="191515"/>
            <a:ext cx="696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65" dirty="0"/>
              <a:t> </a:t>
            </a:r>
            <a:r>
              <a:rPr spc="-10" dirty="0"/>
              <a:t>Features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Object-</a:t>
            </a:r>
            <a:r>
              <a:rPr spc="-10" dirty="0"/>
              <a:t>Oriented</a:t>
            </a:r>
            <a:r>
              <a:rPr spc="-13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6F647E-8B86-DA1B-258F-29F5F7A9E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77385"/>
            <a:ext cx="36022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type mismatch errors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runtime bugs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B585-9ABD-E63E-EB32-C34CE3B7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0BA3C2E-740F-1D4F-024D-98FAE2D28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2261" y="191515"/>
            <a:ext cx="696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65" dirty="0"/>
              <a:t> </a:t>
            </a:r>
            <a:r>
              <a:rPr spc="-10" dirty="0"/>
              <a:t>Features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Object-</a:t>
            </a:r>
            <a:r>
              <a:rPr spc="-10" dirty="0"/>
              <a:t>Oriented</a:t>
            </a:r>
            <a:r>
              <a:rPr spc="-130" dirty="0"/>
              <a:t> </a:t>
            </a:r>
            <a:r>
              <a:rPr spc="-10" dirty="0"/>
              <a:t>Programming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075C68-7A8F-F628-1FC3-8DFF04940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74" y="698272"/>
            <a:ext cx="6763098" cy="44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0058-17F7-20F3-427B-0E74A1EA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698395-ADA5-9836-263E-76AED4459AEC}"/>
              </a:ext>
            </a:extLst>
          </p:cNvPr>
          <p:cNvSpPr txBox="1"/>
          <p:nvPr/>
        </p:nvSpPr>
        <p:spPr>
          <a:xfrm>
            <a:off x="2003298" y="885444"/>
            <a:ext cx="6323965" cy="147283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Static/</a:t>
            </a:r>
            <a:r>
              <a:rPr sz="20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Dynamic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typing</a:t>
            </a:r>
            <a:endParaRPr sz="2000" dirty="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05"/>
              </a:spcBef>
              <a:buChar char="–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Static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typed: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Check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types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compile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time.</a:t>
            </a:r>
            <a:endParaRPr sz="2000" dirty="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Dynamic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type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Check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types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time.</a:t>
            </a:r>
            <a:endParaRPr sz="2000" dirty="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05"/>
              </a:spcBef>
              <a:buChar char="–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Some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languages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offer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hybrid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approach.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29165DE-A747-D0B6-B83C-5F28A0964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2261" y="191515"/>
            <a:ext cx="696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65" dirty="0"/>
              <a:t> </a:t>
            </a:r>
            <a:r>
              <a:rPr spc="-10" dirty="0"/>
              <a:t>Features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Object-</a:t>
            </a:r>
            <a:r>
              <a:rPr spc="-10" dirty="0"/>
              <a:t>Oriented</a:t>
            </a:r>
            <a:r>
              <a:rPr spc="-13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80F73-A8C9-9996-CFAD-8A6D717B116B}"/>
              </a:ext>
            </a:extLst>
          </p:cNvPr>
          <p:cNvSpPr txBox="1"/>
          <p:nvPr/>
        </p:nvSpPr>
        <p:spPr>
          <a:xfrm>
            <a:off x="2016905" y="249555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Examples of Languages: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Static: Java, C++, C#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Dynamic: Python, Ruby,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Hybrid: TypeScript, Kotlin</a:t>
            </a:r>
          </a:p>
        </p:txBody>
      </p:sp>
    </p:spTree>
    <p:extLst>
      <p:ext uri="{BB962C8B-B14F-4D97-AF65-F5344CB8AC3E}">
        <p14:creationId xmlns:p14="http://schemas.microsoft.com/office/powerpoint/2010/main" val="54672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7763-309E-E897-2288-A5A3FF3E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D8FB9D-7BCA-9539-9FC9-96D632C46BA0}"/>
              </a:ext>
            </a:extLst>
          </p:cNvPr>
          <p:cNvSpPr txBox="1"/>
          <p:nvPr/>
        </p:nvSpPr>
        <p:spPr>
          <a:xfrm>
            <a:off x="2003298" y="885444"/>
            <a:ext cx="6323965" cy="35714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Static/</a:t>
            </a:r>
            <a:r>
              <a:rPr sz="20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Dynamic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typing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A36DB25-1B8C-CC6C-E70B-08FAD93BD3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2261" y="191515"/>
            <a:ext cx="696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65" dirty="0"/>
              <a:t> </a:t>
            </a:r>
            <a:r>
              <a:rPr spc="-10" dirty="0"/>
              <a:t>Features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Object-</a:t>
            </a:r>
            <a:r>
              <a:rPr spc="-10" dirty="0"/>
              <a:t>Oriented</a:t>
            </a:r>
            <a:r>
              <a:rPr spc="-130" dirty="0"/>
              <a:t> </a:t>
            </a:r>
            <a:r>
              <a:rPr spc="-10" dirty="0"/>
              <a:t>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51E9F9-23A2-8414-D4A6-17B28D922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790590"/>
              </p:ext>
            </p:extLst>
          </p:nvPr>
        </p:nvGraphicFramePr>
        <p:xfrm>
          <a:off x="2001838" y="1543050"/>
          <a:ext cx="6630987" cy="2743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10329">
                  <a:extLst>
                    <a:ext uri="{9D8B030D-6E8A-4147-A177-3AD203B41FA5}">
                      <a16:colId xmlns:a16="http://schemas.microsoft.com/office/drawing/2014/main" val="2398732060"/>
                    </a:ext>
                  </a:extLst>
                </a:gridCol>
                <a:gridCol w="2210329">
                  <a:extLst>
                    <a:ext uri="{9D8B030D-6E8A-4147-A177-3AD203B41FA5}">
                      <a16:colId xmlns:a16="http://schemas.microsoft.com/office/drawing/2014/main" val="2693291632"/>
                    </a:ext>
                  </a:extLst>
                </a:gridCol>
                <a:gridCol w="2210329">
                  <a:extLst>
                    <a:ext uri="{9D8B030D-6E8A-4147-A177-3AD203B41FA5}">
                      <a16:colId xmlns:a16="http://schemas.microsoft.com/office/drawing/2014/main" val="227798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93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Errors caught at compile time, better performance, easier IDE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flexible, verbose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010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Flexible, faster to write, less verbose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Errors occur at runtime, harder to debug, slower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63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77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114C-B580-8A69-1CC3-64E76B8C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7FF525-9D97-9A9C-82CE-34A6A19B835A}"/>
              </a:ext>
            </a:extLst>
          </p:cNvPr>
          <p:cNvSpPr txBox="1"/>
          <p:nvPr/>
        </p:nvSpPr>
        <p:spPr>
          <a:xfrm>
            <a:off x="2003298" y="885444"/>
            <a:ext cx="6323965" cy="3127138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Static/</a:t>
            </a:r>
            <a:r>
              <a:rPr sz="20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Dynamic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typing</a:t>
            </a:r>
            <a:endParaRPr lang="en-US" sz="2000" b="1" spc="-1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2000" b="1" spc="-1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2000" dirty="0"/>
              <a:t>Static Typed (Java) – Verbose</a:t>
            </a:r>
          </a:p>
          <a:p>
            <a:pPr marL="12700">
              <a:lnSpc>
                <a:spcPct val="100000"/>
              </a:lnSpc>
            </a:pP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2000" dirty="0">
              <a:latin typeface="Arial"/>
              <a:cs typeface="Arial"/>
            </a:endParaRPr>
          </a:p>
          <a:p>
            <a:pPr marL="12700"/>
            <a:r>
              <a:rPr lang="en-US" sz="2000" dirty="0"/>
              <a:t>Dynamic Typed (Python) – Less Verbose</a:t>
            </a:r>
          </a:p>
          <a:p>
            <a:pPr marL="12700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D519DB-312F-F703-D5F0-C813FADF4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2261" y="191515"/>
            <a:ext cx="696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65" dirty="0"/>
              <a:t> </a:t>
            </a:r>
            <a:r>
              <a:rPr spc="-10" dirty="0"/>
              <a:t>Features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Object-</a:t>
            </a:r>
            <a:r>
              <a:rPr spc="-10" dirty="0"/>
              <a:t>Oriented</a:t>
            </a:r>
            <a:r>
              <a:rPr spc="-130" dirty="0"/>
              <a:t> </a:t>
            </a:r>
            <a:r>
              <a:rPr spc="-10" dirty="0"/>
              <a:t>Programming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68C30-DBF4-C64A-BA5F-C7656762D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298" y="2038350"/>
            <a:ext cx="61255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166E20-5F15-F0AA-8C4E-AA813E6A6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298" y="3815930"/>
            <a:ext cx="5371120" cy="9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3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DBD9-21D7-A518-1F66-D405C744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A26633-D987-F1C8-7EB4-5FA61D599350}"/>
              </a:ext>
            </a:extLst>
          </p:cNvPr>
          <p:cNvSpPr txBox="1"/>
          <p:nvPr/>
        </p:nvSpPr>
        <p:spPr>
          <a:xfrm>
            <a:off x="2003298" y="153923"/>
            <a:ext cx="6750684" cy="260071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en-US" sz="2000" b="1" spc="-10" dirty="0">
                <a:solidFill>
                  <a:srgbClr val="404040"/>
                </a:solidFill>
                <a:latin typeface="Arial"/>
                <a:cs typeface="Arial"/>
              </a:rPr>
              <a:t>Garbage</a:t>
            </a:r>
            <a:r>
              <a:rPr lang="en-US"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000" b="1" spc="-10" dirty="0">
                <a:solidFill>
                  <a:srgbClr val="404040"/>
                </a:solidFill>
                <a:latin typeface="Arial"/>
                <a:cs typeface="Arial"/>
              </a:rPr>
              <a:t>Collection</a:t>
            </a:r>
            <a:endParaRPr lang="en-US" sz="2000" dirty="0">
              <a:latin typeface="Arial"/>
              <a:cs typeface="Arial"/>
            </a:endParaRPr>
          </a:p>
          <a:p>
            <a:pPr marL="748030" marR="203200" indent="-279400">
              <a:lnSpc>
                <a:spcPts val="2900"/>
              </a:lnSpc>
              <a:spcBef>
                <a:spcPts val="65"/>
              </a:spcBef>
              <a:buChar char="–"/>
              <a:tabLst>
                <a:tab pos="748030" algn="l"/>
              </a:tabLst>
            </a:pPr>
            <a:r>
              <a:rPr lang="en-US" sz="2000" spc="-10" dirty="0">
                <a:latin typeface="Arial"/>
                <a:cs typeface="Arial"/>
              </a:rPr>
              <a:t>Important</a:t>
            </a:r>
            <a:r>
              <a:rPr lang="en-US" sz="2000" spc="-9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for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memory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management</a:t>
            </a:r>
            <a:r>
              <a:rPr lang="en-US" sz="2000" spc="-8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in</a:t>
            </a:r>
            <a:r>
              <a:rPr lang="en-US" sz="2000" spc="-4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systems</a:t>
            </a:r>
            <a:r>
              <a:rPr lang="en-US" sz="2000" spc="-75" dirty="0">
                <a:latin typeface="Arial"/>
                <a:cs typeface="Arial"/>
              </a:rPr>
              <a:t> </a:t>
            </a:r>
            <a:r>
              <a:rPr lang="en-US" sz="2000" spc="-20" dirty="0">
                <a:latin typeface="Arial"/>
                <a:cs typeface="Arial"/>
              </a:rPr>
              <a:t>that </a:t>
            </a:r>
            <a:r>
              <a:rPr lang="en-US" sz="2000" dirty="0">
                <a:latin typeface="Arial"/>
                <a:cs typeface="Arial"/>
              </a:rPr>
              <a:t>create</a:t>
            </a:r>
            <a:r>
              <a:rPr lang="en-US" sz="2000" spc="-9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&amp;</a:t>
            </a:r>
            <a:r>
              <a:rPr lang="en-US" sz="2000" spc="-5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delete</a:t>
            </a:r>
            <a:r>
              <a:rPr lang="en-US" sz="2000" spc="-7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many</a:t>
            </a:r>
            <a:r>
              <a:rPr lang="en-US" sz="2000" spc="-7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objects</a:t>
            </a:r>
            <a:r>
              <a:rPr lang="en-US" sz="2000" spc="-8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during</a:t>
            </a:r>
            <a:r>
              <a:rPr lang="en-US" sz="2000" spc="-7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their</a:t>
            </a:r>
            <a:r>
              <a:rPr lang="en-US" sz="2000" spc="-13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execution.</a:t>
            </a:r>
            <a:endParaRPr lang="en-US" sz="2000" dirty="0">
              <a:latin typeface="Arial"/>
              <a:cs typeface="Arial"/>
            </a:endParaRPr>
          </a:p>
          <a:p>
            <a:pPr marL="748030" marR="5080" indent="-278765">
              <a:lnSpc>
                <a:spcPts val="2900"/>
              </a:lnSpc>
              <a:spcBef>
                <a:spcPts val="10"/>
              </a:spcBef>
              <a:buChar char="–"/>
              <a:tabLst>
                <a:tab pos="748030" algn="l"/>
              </a:tabLst>
            </a:pPr>
            <a:r>
              <a:rPr lang="en-US" sz="2000" dirty="0">
                <a:latin typeface="Arial"/>
                <a:cs typeface="Arial"/>
              </a:rPr>
              <a:t>Objects</a:t>
            </a:r>
            <a:r>
              <a:rPr lang="en-US" sz="2000" spc="-10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are</a:t>
            </a:r>
            <a:r>
              <a:rPr lang="en-US" sz="2000" spc="-5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removed</a:t>
            </a:r>
            <a:r>
              <a:rPr lang="en-US" sz="2000" spc="-10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from</a:t>
            </a:r>
            <a:r>
              <a:rPr lang="en-US" sz="2000" spc="-8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memory</a:t>
            </a:r>
            <a:r>
              <a:rPr lang="en-US" sz="2000" spc="-8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when</a:t>
            </a:r>
            <a:r>
              <a:rPr lang="en-US" sz="2000" spc="-7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they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25" dirty="0">
                <a:latin typeface="Arial"/>
                <a:cs typeface="Arial"/>
              </a:rPr>
              <a:t>are </a:t>
            </a:r>
            <a:r>
              <a:rPr lang="en-US" sz="2000" dirty="0">
                <a:latin typeface="Arial"/>
                <a:cs typeface="Arial"/>
              </a:rPr>
              <a:t>deleted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(otherwise</a:t>
            </a:r>
            <a:r>
              <a:rPr lang="en-US" sz="2000" spc="-9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the</a:t>
            </a:r>
            <a:r>
              <a:rPr lang="en-US" sz="2000" spc="-5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system</a:t>
            </a:r>
            <a:r>
              <a:rPr lang="en-US" sz="2000" spc="-7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may</a:t>
            </a:r>
            <a:r>
              <a:rPr lang="en-US" sz="2000" spc="-4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run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out</a:t>
            </a:r>
            <a:r>
              <a:rPr lang="en-US" sz="2000" spc="-6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of</a:t>
            </a:r>
            <a:r>
              <a:rPr lang="en-US" sz="2000" spc="-14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memory</a:t>
            </a:r>
            <a:endParaRPr lang="en-US" sz="2000" dirty="0">
              <a:latin typeface="Arial"/>
              <a:cs typeface="Arial"/>
            </a:endParaRPr>
          </a:p>
          <a:p>
            <a:pPr marL="748030">
              <a:lnSpc>
                <a:spcPct val="100000"/>
              </a:lnSpc>
              <a:spcBef>
                <a:spcPts val="425"/>
              </a:spcBef>
            </a:pPr>
            <a:r>
              <a:rPr lang="en-US" sz="2000" dirty="0">
                <a:latin typeface="Arial"/>
                <a:cs typeface="Arial"/>
              </a:rPr>
              <a:t>in</a:t>
            </a:r>
            <a:r>
              <a:rPr lang="en-US" sz="2000" spc="-5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which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to</a:t>
            </a:r>
            <a:r>
              <a:rPr lang="en-US" sz="2000" spc="-75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execute).</a:t>
            </a: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spc="-10" dirty="0">
                <a:latin typeface="Arial"/>
                <a:cs typeface="Arial"/>
              </a:rPr>
              <a:t>.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9E21CC-FDA3-9E54-78C6-E0914C44D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559" y="2571750"/>
            <a:ext cx="34804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problem without GC: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CCCC2-4B83-93C5-93A0-56FCD54154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66"/>
          <a:stretch>
            <a:fillRect/>
          </a:stretch>
        </p:blipFill>
        <p:spPr>
          <a:xfrm>
            <a:off x="1664532" y="3409950"/>
            <a:ext cx="7428216" cy="97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6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8712-5AF2-5847-0419-FC0FDD56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9CCA1D-B102-B428-3C17-8BD73B65C2C8}"/>
              </a:ext>
            </a:extLst>
          </p:cNvPr>
          <p:cNvSpPr txBox="1"/>
          <p:nvPr/>
        </p:nvSpPr>
        <p:spPr>
          <a:xfrm>
            <a:off x="2003298" y="153923"/>
            <a:ext cx="6750684" cy="371640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en-US" sz="2000" b="1" dirty="0"/>
              <a:t>Types of Garbage Objects in Java</a:t>
            </a:r>
            <a:endParaRPr lang="en-US" sz="20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Arial"/>
                <a:cs typeface="Arial"/>
              </a:rPr>
              <a:t>.</a:t>
            </a:r>
            <a:endParaRPr lang="en-US" sz="20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dirty="0"/>
              <a:t>Nullified Objects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dirty="0"/>
              <a:t>Out of Scope Objects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sz="200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1F31D-B10C-8155-C685-49A5F0ADF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04" y="1428750"/>
            <a:ext cx="5837762" cy="10604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978F3-21CD-6EC9-EDD8-AF84A6321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004" y="3398769"/>
            <a:ext cx="5707582" cy="116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1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2D52-BB5C-C454-3F84-49F24A44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1124E0-95C4-B12C-D75A-3F8193CAA97F}"/>
              </a:ext>
            </a:extLst>
          </p:cNvPr>
          <p:cNvSpPr txBox="1"/>
          <p:nvPr/>
        </p:nvSpPr>
        <p:spPr>
          <a:xfrm>
            <a:off x="2003298" y="153923"/>
            <a:ext cx="6750684" cy="33445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en-US" sz="2000" b="1" dirty="0"/>
              <a:t>Types of Garbage Objects in Java</a:t>
            </a:r>
            <a:endParaRPr lang="en-US" sz="20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Arial"/>
                <a:cs typeface="Arial"/>
              </a:rPr>
              <a:t>.</a:t>
            </a:r>
            <a:endParaRPr lang="en-US" sz="20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dirty="0"/>
              <a:t>Unreachable Objects via Reassignment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sz="20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73E09-EB98-352D-BA4D-5AD18D68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87" y="1581150"/>
            <a:ext cx="6084972" cy="134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98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200" y="133350"/>
            <a:ext cx="6750684" cy="43960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Standardized</a:t>
            </a:r>
            <a:r>
              <a:rPr sz="20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class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libraries</a:t>
            </a:r>
            <a:endParaRPr sz="2000" dirty="0">
              <a:latin typeface="Arial"/>
              <a:cs typeface="Arial"/>
            </a:endParaRPr>
          </a:p>
          <a:p>
            <a:pPr marL="748030" indent="-278130">
              <a:lnSpc>
                <a:spcPct val="100000"/>
              </a:lnSpc>
              <a:spcBef>
                <a:spcPts val="190"/>
              </a:spcBef>
              <a:buChar char="–"/>
              <a:tabLst>
                <a:tab pos="748030" algn="l"/>
              </a:tabLst>
            </a:pPr>
            <a:r>
              <a:rPr lang="en-US" sz="2000" dirty="0">
                <a:latin typeface="Arial"/>
                <a:cs typeface="Arial"/>
              </a:rPr>
              <a:t>A standardized class library is a collection of predefined classes and interfaces provided by the language so programmers can reuse tested code instead of writing everything from scratch.</a:t>
            </a:r>
          </a:p>
          <a:p>
            <a:pPr marL="748030" indent="-278130">
              <a:lnSpc>
                <a:spcPct val="100000"/>
              </a:lnSpc>
              <a:spcBef>
                <a:spcPts val="190"/>
              </a:spcBef>
              <a:buChar char="–"/>
              <a:tabLst>
                <a:tab pos="748030" algn="l"/>
              </a:tabLst>
            </a:pPr>
            <a:r>
              <a:rPr lang="en-US" sz="2000" dirty="0"/>
              <a:t>Key Features:</a:t>
            </a:r>
          </a:p>
          <a:p>
            <a:pPr marL="812800" lvl="1" indent="-342900">
              <a:spcBef>
                <a:spcPts val="190"/>
              </a:spcBef>
              <a:buFont typeface="Arial" panose="020B0604020202020204" pitchFamily="34" charset="0"/>
              <a:buChar char="•"/>
              <a:tabLst>
                <a:tab pos="748030" algn="l"/>
              </a:tabLst>
            </a:pPr>
            <a:r>
              <a:rPr lang="en-US" sz="2000" dirty="0"/>
              <a:t>Cross-platform compatibility</a:t>
            </a:r>
          </a:p>
          <a:p>
            <a:pPr marL="812800" lvl="1" indent="-342900">
              <a:spcBef>
                <a:spcPts val="190"/>
              </a:spcBef>
              <a:buFont typeface="Arial" panose="020B0604020202020204" pitchFamily="34" charset="0"/>
              <a:buChar char="•"/>
              <a:tabLst>
                <a:tab pos="748030" algn="l"/>
              </a:tabLst>
            </a:pPr>
            <a:r>
              <a:rPr lang="en-US" sz="2000" dirty="0"/>
              <a:t>Pre-tested and reliable</a:t>
            </a:r>
          </a:p>
          <a:p>
            <a:pPr marL="469900" lvl="2">
              <a:spcBef>
                <a:spcPts val="190"/>
              </a:spcBef>
              <a:tabLst>
                <a:tab pos="748030" algn="l"/>
              </a:tabLst>
            </a:pPr>
            <a:r>
              <a:rPr lang="en-US" sz="2000" dirty="0">
                <a:latin typeface="Arial"/>
                <a:cs typeface="Arial"/>
              </a:rPr>
              <a:t>	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Dynamic</a:t>
            </a:r>
            <a:r>
              <a:rPr sz="2000" b="1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Loading</a:t>
            </a:r>
            <a:endParaRPr lang="en-US" sz="2000" b="1" spc="-1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748030" indent="-278130">
              <a:spcBef>
                <a:spcPts val="190"/>
              </a:spcBef>
              <a:buChar char="–"/>
              <a:tabLst>
                <a:tab pos="748030" algn="l"/>
              </a:tabLst>
            </a:pPr>
            <a:r>
              <a:rPr lang="en-US" sz="2000" dirty="0">
                <a:latin typeface="Arial"/>
                <a:cs typeface="Arial"/>
              </a:rPr>
              <a:t>Dynamic loading is the ability of a program to load classes or libraries into memory at runtime, rather than at compile time.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100" y="2142235"/>
            <a:ext cx="7103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Limitations</a:t>
            </a:r>
            <a:r>
              <a:rPr sz="3600" spc="-155" dirty="0"/>
              <a:t> </a:t>
            </a:r>
            <a:r>
              <a:rPr sz="3600" dirty="0"/>
              <a:t>of</a:t>
            </a:r>
            <a:r>
              <a:rPr sz="3600" spc="-90" dirty="0"/>
              <a:t> </a:t>
            </a:r>
            <a:r>
              <a:rPr sz="3600" dirty="0"/>
              <a:t>Object</a:t>
            </a:r>
            <a:r>
              <a:rPr sz="3600" spc="-125" dirty="0"/>
              <a:t> </a:t>
            </a:r>
            <a:r>
              <a:rPr sz="3600" spc="-10" dirty="0"/>
              <a:t>Orientation</a:t>
            </a:r>
            <a:endParaRPr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4926" y="1306067"/>
            <a:ext cx="6420485" cy="21958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64184" indent="-451484" algn="just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464184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Systems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that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are</a:t>
            </a:r>
            <a:r>
              <a:rPr sz="20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strongly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database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oriented</a:t>
            </a:r>
            <a:endParaRPr sz="2000" dirty="0">
              <a:latin typeface="Arial"/>
              <a:cs typeface="Arial"/>
            </a:endParaRPr>
          </a:p>
          <a:p>
            <a:pPr marL="744220" marR="223520" lvl="1" indent="-274955" algn="just">
              <a:lnSpc>
                <a:spcPct val="114999"/>
              </a:lnSpc>
              <a:spcBef>
                <a:spcPts val="20"/>
              </a:spcBef>
              <a:buChar char="–"/>
              <a:tabLst>
                <a:tab pos="748665" algn="l"/>
              </a:tabLst>
            </a:pPr>
            <a:r>
              <a:rPr sz="2000" dirty="0">
                <a:latin typeface="Arial"/>
                <a:cs typeface="Arial"/>
              </a:rPr>
              <a:t>Systems which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record based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	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appropriate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Relational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Database 	</a:t>
            </a:r>
            <a:r>
              <a:rPr sz="2000" dirty="0">
                <a:latin typeface="Arial"/>
                <a:cs typeface="Arial"/>
              </a:rPr>
              <a:t>Management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System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(RDBMS).</a:t>
            </a:r>
            <a:endParaRPr sz="2000" dirty="0">
              <a:latin typeface="Arial"/>
              <a:cs typeface="Arial"/>
            </a:endParaRPr>
          </a:p>
          <a:p>
            <a:pPr marL="744220" marR="5080" lvl="1" indent="-274955" algn="just">
              <a:lnSpc>
                <a:spcPct val="121000"/>
              </a:lnSpc>
              <a:spcBef>
                <a:spcPts val="195"/>
              </a:spcBef>
              <a:buChar char="–"/>
              <a:tabLst>
                <a:tab pos="748665" algn="l"/>
              </a:tabLst>
            </a:pPr>
            <a:r>
              <a:rPr sz="2000" dirty="0">
                <a:latin typeface="Arial"/>
                <a:cs typeface="Arial"/>
              </a:rPr>
              <a:t>Also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their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processing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requirement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center 	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storage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retrieval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data.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pc="-10" dirty="0"/>
              <a:t>Applications</a:t>
            </a:r>
            <a:r>
              <a:rPr spc="-105" dirty="0"/>
              <a:t> </a:t>
            </a:r>
            <a:r>
              <a:rPr dirty="0"/>
              <a:t>Which</a:t>
            </a:r>
            <a:r>
              <a:rPr spc="-90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Not</a:t>
            </a:r>
            <a:r>
              <a:rPr spc="-85" dirty="0"/>
              <a:t> </a:t>
            </a:r>
            <a:r>
              <a:rPr dirty="0"/>
              <a:t>Ideally</a:t>
            </a:r>
            <a:r>
              <a:rPr spc="-85" dirty="0"/>
              <a:t> </a:t>
            </a:r>
            <a:r>
              <a:rPr dirty="0"/>
              <a:t>Suited</a:t>
            </a:r>
            <a:r>
              <a:rPr spc="-75" dirty="0"/>
              <a:t> </a:t>
            </a:r>
            <a:r>
              <a:rPr dirty="0"/>
              <a:t>to</a:t>
            </a:r>
            <a:r>
              <a:rPr spc="-155" dirty="0"/>
              <a:t> </a:t>
            </a:r>
            <a:r>
              <a:rPr spc="-25" dirty="0"/>
              <a:t>OO </a:t>
            </a:r>
            <a:r>
              <a:rPr spc="-10" dirty="0"/>
              <a:t>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195" marR="458470" indent="-277495">
              <a:lnSpc>
                <a:spcPct val="121000"/>
              </a:lnSpc>
              <a:spcBef>
                <a:spcPts val="100"/>
              </a:spcBef>
              <a:buAutoNum type="arabicPeriod" startAt="2"/>
              <a:tabLst>
                <a:tab pos="292735" algn="l"/>
              </a:tabLst>
            </a:pPr>
            <a:r>
              <a:rPr spc="-10" dirty="0"/>
              <a:t>Applications</a:t>
            </a:r>
            <a:r>
              <a:rPr spc="-125" dirty="0"/>
              <a:t> </a:t>
            </a:r>
            <a:r>
              <a:rPr dirty="0"/>
              <a:t>that</a:t>
            </a:r>
            <a:r>
              <a:rPr spc="-85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strongly</a:t>
            </a:r>
            <a:r>
              <a:rPr spc="-85" dirty="0"/>
              <a:t> </a:t>
            </a:r>
            <a:r>
              <a:rPr dirty="0"/>
              <a:t>algorithmic</a:t>
            </a:r>
            <a:r>
              <a:rPr spc="-80" dirty="0"/>
              <a:t> </a:t>
            </a:r>
            <a:r>
              <a:rPr spc="-10" dirty="0"/>
              <a:t>in</a:t>
            </a:r>
            <a:r>
              <a:rPr spc="-200" dirty="0"/>
              <a:t> </a:t>
            </a:r>
            <a:r>
              <a:rPr spc="-10" dirty="0"/>
              <a:t>their 	operation</a:t>
            </a:r>
          </a:p>
          <a:p>
            <a:pPr marL="749935" marR="281305" lvl="1" indent="-280670">
              <a:lnSpc>
                <a:spcPts val="2810"/>
              </a:lnSpc>
              <a:spcBef>
                <a:spcPts val="40"/>
              </a:spcBef>
              <a:buChar char="–"/>
              <a:tabLst>
                <a:tab pos="749935" algn="l"/>
              </a:tabLst>
            </a:pPr>
            <a:r>
              <a:rPr sz="2000" dirty="0">
                <a:latin typeface="Arial"/>
                <a:cs typeface="Arial"/>
              </a:rPr>
              <a:t>Some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scientific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applications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involve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large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 </a:t>
            </a:r>
            <a:r>
              <a:rPr sz="2000" dirty="0">
                <a:latin typeface="Arial"/>
                <a:cs typeface="Arial"/>
              </a:rPr>
              <a:t>complex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calculations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neither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desirable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nor</a:t>
            </a:r>
            <a:endParaRPr sz="2000" dirty="0">
              <a:latin typeface="Arial"/>
              <a:cs typeface="Arial"/>
            </a:endParaRPr>
          </a:p>
          <a:p>
            <a:pPr marL="749935" marR="493395">
              <a:lnSpc>
                <a:spcPts val="2900"/>
              </a:lnSpc>
              <a:spcBef>
                <a:spcPts val="2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feasible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split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calculation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down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into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smaller parts.</a:t>
            </a:r>
          </a:p>
          <a:p>
            <a:pPr marL="757555" marR="5080" lvl="1" indent="-288290">
              <a:lnSpc>
                <a:spcPct val="100000"/>
              </a:lnSpc>
              <a:spcBef>
                <a:spcPts val="900"/>
              </a:spcBef>
              <a:buChar char="–"/>
              <a:tabLst>
                <a:tab pos="757555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such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implemented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OOP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there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might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objects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very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complex.</a:t>
            </a:r>
            <a:endParaRPr sz="2000" dirty="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spcBef>
                <a:spcPts val="505"/>
              </a:spcBef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Ex: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Satellite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orbit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calculations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pc="-10" dirty="0"/>
              <a:t>Applications</a:t>
            </a:r>
            <a:r>
              <a:rPr spc="-105" dirty="0"/>
              <a:t> </a:t>
            </a:r>
            <a:r>
              <a:rPr dirty="0"/>
              <a:t>Which</a:t>
            </a:r>
            <a:r>
              <a:rPr spc="-90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Not</a:t>
            </a:r>
            <a:r>
              <a:rPr spc="-85" dirty="0"/>
              <a:t> </a:t>
            </a:r>
            <a:r>
              <a:rPr dirty="0"/>
              <a:t>Ideally</a:t>
            </a:r>
            <a:r>
              <a:rPr spc="-85" dirty="0"/>
              <a:t> </a:t>
            </a:r>
            <a:r>
              <a:rPr dirty="0"/>
              <a:t>Suited</a:t>
            </a:r>
            <a:r>
              <a:rPr spc="-75" dirty="0"/>
              <a:t> </a:t>
            </a:r>
            <a:r>
              <a:rPr dirty="0"/>
              <a:t>to</a:t>
            </a:r>
            <a:r>
              <a:rPr spc="-155" dirty="0"/>
              <a:t> </a:t>
            </a:r>
            <a:r>
              <a:rPr spc="-25" dirty="0"/>
              <a:t>OO </a:t>
            </a:r>
            <a:r>
              <a:rPr spc="-10" dirty="0"/>
              <a:t>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2027" y="1321308"/>
            <a:ext cx="668464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In</a:t>
            </a:r>
            <a:r>
              <a:rPr sz="2000" spc="385" dirty="0">
                <a:solidFill>
                  <a:srgbClr val="404040"/>
                </a:solidFill>
                <a:latin typeface="Arial"/>
                <a:cs typeface="Arial"/>
              </a:rPr>
              <a:t>  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what</a:t>
            </a:r>
            <a:r>
              <a:rPr sz="2000" spc="395" dirty="0">
                <a:solidFill>
                  <a:srgbClr val="404040"/>
                </a:solidFill>
                <a:latin typeface="Arial"/>
                <a:cs typeface="Arial"/>
              </a:rPr>
              <a:t>  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scenarios</a:t>
            </a:r>
            <a:r>
              <a:rPr sz="2000" spc="400" dirty="0">
                <a:solidFill>
                  <a:srgbClr val="404040"/>
                </a:solidFill>
                <a:latin typeface="Arial"/>
                <a:cs typeface="Arial"/>
              </a:rPr>
              <a:t>  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might</a:t>
            </a:r>
            <a:r>
              <a:rPr sz="2000" spc="395" dirty="0">
                <a:solidFill>
                  <a:srgbClr val="404040"/>
                </a:solidFill>
                <a:latin typeface="Arial"/>
                <a:cs typeface="Arial"/>
              </a:rPr>
              <a:t>  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Object-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Oriented</a:t>
            </a:r>
            <a:r>
              <a:rPr sz="2000" spc="400" dirty="0">
                <a:solidFill>
                  <a:srgbClr val="404040"/>
                </a:solidFill>
                <a:latin typeface="Arial"/>
                <a:cs typeface="Arial"/>
              </a:rPr>
              <a:t>  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(OO)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development</a:t>
            </a:r>
            <a:r>
              <a:rPr sz="2000" spc="4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not</a:t>
            </a:r>
            <a:r>
              <a:rPr sz="2000" spc="4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be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best</a:t>
            </a:r>
            <a:r>
              <a:rPr sz="2000" spc="4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choice,</a:t>
            </a:r>
            <a:r>
              <a:rPr sz="2000" spc="4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what</a:t>
            </a:r>
            <a:r>
              <a:rPr sz="2000" spc="4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are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  the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limitations</a:t>
            </a:r>
            <a:r>
              <a:rPr sz="2000" spc="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or</a:t>
            </a:r>
            <a:r>
              <a:rPr sz="2000" spc="3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mismatches</a:t>
            </a:r>
            <a:r>
              <a:rPr sz="2000" spc="3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2000" spc="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nature</a:t>
            </a:r>
            <a:r>
              <a:rPr sz="2000" spc="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spc="3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3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problem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being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solved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that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contribute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this?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0067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Exercise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100" y="2106675"/>
            <a:ext cx="31826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THANK</a:t>
            </a:r>
            <a:r>
              <a:rPr sz="4000" spc="-200" dirty="0"/>
              <a:t> </a:t>
            </a:r>
            <a:r>
              <a:rPr sz="4000" spc="-20" dirty="0"/>
              <a:t>YOU!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907</Words>
  <Application>Microsoft Office PowerPoint</Application>
  <PresentationFormat>On-screen Show (16:9)</PresentationFormat>
  <Paragraphs>133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Wingdings</vt:lpstr>
      <vt:lpstr>Office Theme</vt:lpstr>
      <vt:lpstr>Object Oriented Analysis and Design ICT2152</vt:lpstr>
      <vt:lpstr>LECTURE 02:</vt:lpstr>
      <vt:lpstr>Objectives</vt:lpstr>
      <vt:lpstr>Introduction</vt:lpstr>
      <vt:lpstr>Some Features of Object-Oriented Programming</vt:lpstr>
      <vt:lpstr>Some Features of Object-Oriented Programming</vt:lpstr>
      <vt:lpstr>Some Features of Object-Oriented Programming</vt:lpstr>
      <vt:lpstr>Some Features of Object-Oriented Programming</vt:lpstr>
      <vt:lpstr>Some Features of Object-Oriented Programming</vt:lpstr>
      <vt:lpstr>PowerPoint Presentation</vt:lpstr>
      <vt:lpstr>PowerPoint Presentation</vt:lpstr>
      <vt:lpstr>PowerPoint Presentation</vt:lpstr>
      <vt:lpstr>PowerPoint Presentation</vt:lpstr>
      <vt:lpstr>Limitations of Object Orientation</vt:lpstr>
      <vt:lpstr>Applications Which are Not Ideally Suited to OO Development</vt:lpstr>
      <vt:lpstr>Applications Which are Not Ideally Suited to OO Development</vt:lpstr>
      <vt:lpstr>Exercise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Sandaruwani</cp:lastModifiedBy>
  <cp:revision>3</cp:revision>
  <dcterms:created xsi:type="dcterms:W3CDTF">2026-02-02T05:47:00Z</dcterms:created>
  <dcterms:modified xsi:type="dcterms:W3CDTF">2026-08-11T09:31:36Z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2025-01-28T00:00:00Z</vt:filetime>
  </property>
  <property fmtid="{D5CDD505-2E9C-101B-9397-08002B2CF9AE}" pid="3" name="LastSaved">
    <vt:filetime>2026-02-02T00:00:00Z</vt:filetime>
  </property>
  <property fmtid="{D5CDD505-2E9C-101B-9397-08002B2CF9AE}" pid="4" name="Producer">
    <vt:lpwstr>3-Heights(TM) PDF Security Shell 4.8.25.2 (http://www.pdf-tools.com)</vt:lpwstr>
  </property>
</Properties>
</file>